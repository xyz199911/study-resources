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9" r:id="rId1"/>
  </p:sldMasterIdLst>
  <p:notesMasterIdLst>
    <p:notesMasterId r:id="rId45"/>
  </p:notesMasterIdLst>
  <p:sldIdLst>
    <p:sldId id="256" r:id="rId2"/>
    <p:sldId id="561" r:id="rId3"/>
    <p:sldId id="257" r:id="rId4"/>
    <p:sldId id="262" r:id="rId5"/>
    <p:sldId id="258" r:id="rId6"/>
    <p:sldId id="259" r:id="rId7"/>
    <p:sldId id="260" r:id="rId8"/>
    <p:sldId id="264" r:id="rId9"/>
    <p:sldId id="265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69" r:id="rId18"/>
    <p:sldId id="275" r:id="rId19"/>
    <p:sldId id="276" r:id="rId20"/>
    <p:sldId id="277" r:id="rId21"/>
    <p:sldId id="278" r:id="rId22"/>
    <p:sldId id="557" r:id="rId23"/>
    <p:sldId id="558" r:id="rId24"/>
    <p:sldId id="559" r:id="rId25"/>
    <p:sldId id="279" r:id="rId26"/>
    <p:sldId id="280" r:id="rId27"/>
    <p:sldId id="282" r:id="rId28"/>
    <p:sldId id="284" r:id="rId29"/>
    <p:sldId id="285" r:id="rId30"/>
    <p:sldId id="286" r:id="rId31"/>
    <p:sldId id="289" r:id="rId32"/>
    <p:sldId id="288" r:id="rId33"/>
    <p:sldId id="290" r:id="rId34"/>
    <p:sldId id="291" r:id="rId35"/>
    <p:sldId id="287" r:id="rId36"/>
    <p:sldId id="295" r:id="rId37"/>
    <p:sldId id="296" r:id="rId38"/>
    <p:sldId id="297" r:id="rId39"/>
    <p:sldId id="298" r:id="rId40"/>
    <p:sldId id="299" r:id="rId41"/>
    <p:sldId id="301" r:id="rId42"/>
    <p:sldId id="302" r:id="rId43"/>
    <p:sldId id="292" r:id="rId44"/>
  </p:sldIdLst>
  <p:sldSz cx="9144000" cy="6858000" type="screen4x3"/>
  <p:notesSz cx="6858000" cy="9144000"/>
  <p:custShowLst>
    <p:custShow name="自定义放映 2" id="0">
      <p:sldLst/>
    </p:custShow>
    <p:custShow name="自定义放映 1" id="1">
      <p:sldLst/>
    </p:custShow>
    <p:custShow name="11111" id="2">
      <p:sldLst/>
    </p:custShow>
    <p:custShow name="2222222" id="3">
      <p:sldLst/>
    </p:custShow>
  </p:custShowLst>
  <p:defaultTextStyle>
    <a:defPPr>
      <a:defRPr lang="zh-CN"/>
    </a:defPPr>
    <a:lvl1pPr algn="l" rtl="0" fontAlgn="base">
      <a:lnSpc>
        <a:spcPct val="120000"/>
      </a:lnSpc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lnSpc>
        <a:spcPct val="120000"/>
      </a:lnSpc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lnSpc>
        <a:spcPct val="120000"/>
      </a:lnSpc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lnSpc>
        <a:spcPct val="120000"/>
      </a:lnSpc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lnSpc>
        <a:spcPct val="120000"/>
      </a:lnSpc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2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0000"/>
    <a:srgbClr val="CC3399"/>
    <a:srgbClr val="FF00FF"/>
    <a:srgbClr val="FF3300"/>
    <a:srgbClr val="9900CC"/>
    <a:srgbClr val="66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3" autoAdjust="0"/>
    <p:restoredTop sz="94671" autoAdjust="0"/>
  </p:normalViewPr>
  <p:slideViewPr>
    <p:cSldViewPr>
      <p:cViewPr varScale="1">
        <p:scale>
          <a:sx n="156" d="100"/>
          <a:sy n="156" d="100"/>
        </p:scale>
        <p:origin x="792" y="69"/>
      </p:cViewPr>
      <p:guideLst>
        <p:guide orient="horz" pos="422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D67779-8487-4ED6-9AA0-27EF3CB91A21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68B662BD-BBC3-4CBB-B02C-03BC32CF5551}">
      <dgm:prSet phldrT="[文本]"/>
      <dgm:spPr/>
      <dgm:t>
        <a:bodyPr/>
        <a:lstStyle/>
        <a:p>
          <a:r>
            <a:rPr lang="zh-CN" altLang="en-US" b="1" dirty="0"/>
            <a:t>调制与解调</a:t>
          </a:r>
        </a:p>
      </dgm:t>
    </dgm:pt>
    <dgm:pt modelId="{738F2C26-4D17-4EDF-9393-406339FFCA5B}" type="parTrans" cxnId="{6BD09443-2681-471B-86A8-FE5C69200676}">
      <dgm:prSet/>
      <dgm:spPr/>
      <dgm:t>
        <a:bodyPr/>
        <a:lstStyle/>
        <a:p>
          <a:endParaRPr lang="zh-CN" altLang="en-US" b="1"/>
        </a:p>
      </dgm:t>
    </dgm:pt>
    <dgm:pt modelId="{67A8C7B1-C432-4580-BB14-4645DD83CFE0}" type="sibTrans" cxnId="{6BD09443-2681-471B-86A8-FE5C69200676}">
      <dgm:prSet/>
      <dgm:spPr/>
      <dgm:t>
        <a:bodyPr/>
        <a:lstStyle/>
        <a:p>
          <a:endParaRPr lang="zh-CN" altLang="en-US" b="1"/>
        </a:p>
      </dgm:t>
    </dgm:pt>
    <dgm:pt modelId="{C2F8FE3D-FDBE-40EB-9D5A-9DC04FCEBE2C}">
      <dgm:prSet phldrT="[文本]"/>
      <dgm:spPr/>
      <dgm:t>
        <a:bodyPr/>
        <a:lstStyle/>
        <a:p>
          <a:r>
            <a:rPr lang="zh-CN" altLang="en-US" b="1" dirty="0"/>
            <a:t>调幅</a:t>
          </a:r>
        </a:p>
      </dgm:t>
    </dgm:pt>
    <dgm:pt modelId="{4A86F3DC-5358-42CC-BF17-83A51004D32B}" type="parTrans" cxnId="{780814B3-2D26-483D-AFA1-DCD216719208}">
      <dgm:prSet/>
      <dgm:spPr/>
      <dgm:t>
        <a:bodyPr/>
        <a:lstStyle/>
        <a:p>
          <a:endParaRPr lang="zh-CN" altLang="en-US" b="1"/>
        </a:p>
      </dgm:t>
    </dgm:pt>
    <dgm:pt modelId="{E0F2FFB4-E195-450B-A361-9FFD3D6255C1}" type="sibTrans" cxnId="{780814B3-2D26-483D-AFA1-DCD216719208}">
      <dgm:prSet/>
      <dgm:spPr/>
      <dgm:t>
        <a:bodyPr/>
        <a:lstStyle/>
        <a:p>
          <a:endParaRPr lang="zh-CN" altLang="en-US" b="1"/>
        </a:p>
      </dgm:t>
    </dgm:pt>
    <dgm:pt modelId="{EB5B12FC-EBE1-476C-B687-7564BFF30084}">
      <dgm:prSet phldrT="[文本]"/>
      <dgm:spPr/>
      <dgm:t>
        <a:bodyPr/>
        <a:lstStyle/>
        <a:p>
          <a:r>
            <a:rPr lang="zh-CN" altLang="en-US" b="1" dirty="0"/>
            <a:t>调角</a:t>
          </a:r>
        </a:p>
      </dgm:t>
    </dgm:pt>
    <dgm:pt modelId="{1DC27441-E974-47EC-9205-3AF36813A464}" type="parTrans" cxnId="{08F47CFE-3C92-4FEC-9080-8251357FCDBF}">
      <dgm:prSet/>
      <dgm:spPr/>
      <dgm:t>
        <a:bodyPr/>
        <a:lstStyle/>
        <a:p>
          <a:endParaRPr lang="zh-CN" altLang="en-US" b="1"/>
        </a:p>
      </dgm:t>
    </dgm:pt>
    <dgm:pt modelId="{02FEAEA7-FD7C-4D1F-9049-E68AD5AAA8F2}" type="sibTrans" cxnId="{08F47CFE-3C92-4FEC-9080-8251357FCDBF}">
      <dgm:prSet/>
      <dgm:spPr/>
      <dgm:t>
        <a:bodyPr/>
        <a:lstStyle/>
        <a:p>
          <a:endParaRPr lang="zh-CN" altLang="en-US" b="1"/>
        </a:p>
      </dgm:t>
    </dgm:pt>
    <dgm:pt modelId="{191FDB45-61F0-4850-9C1F-FE1056699F94}">
      <dgm:prSet phldrT="[文本]"/>
      <dgm:spPr/>
      <dgm:t>
        <a:bodyPr/>
        <a:lstStyle/>
        <a:p>
          <a:r>
            <a:rPr lang="en-US" altLang="zh-CN" b="1" dirty="0"/>
            <a:t>AM</a:t>
          </a:r>
          <a:endParaRPr lang="zh-CN" altLang="en-US" b="1" dirty="0"/>
        </a:p>
      </dgm:t>
    </dgm:pt>
    <dgm:pt modelId="{2AC05A29-D3A6-41D1-977D-F508DF302965}" type="parTrans" cxnId="{528DD78A-42E3-4F78-8A2F-78C0593C8B16}">
      <dgm:prSet/>
      <dgm:spPr/>
      <dgm:t>
        <a:bodyPr/>
        <a:lstStyle/>
        <a:p>
          <a:endParaRPr lang="zh-CN" altLang="en-US" b="1"/>
        </a:p>
      </dgm:t>
    </dgm:pt>
    <dgm:pt modelId="{9C4ED287-C3FF-4406-8FE8-264602384A83}" type="sibTrans" cxnId="{528DD78A-42E3-4F78-8A2F-78C0593C8B16}">
      <dgm:prSet/>
      <dgm:spPr/>
      <dgm:t>
        <a:bodyPr/>
        <a:lstStyle/>
        <a:p>
          <a:endParaRPr lang="zh-CN" altLang="en-US" b="1"/>
        </a:p>
      </dgm:t>
    </dgm:pt>
    <dgm:pt modelId="{E2B0BA15-BABD-483A-977B-4D4A6AAE137F}">
      <dgm:prSet phldrT="[文本]"/>
      <dgm:spPr/>
      <dgm:t>
        <a:bodyPr/>
        <a:lstStyle/>
        <a:p>
          <a:r>
            <a:rPr lang="en-US" altLang="zh-CN" b="1" dirty="0"/>
            <a:t>DSB</a:t>
          </a:r>
          <a:endParaRPr lang="zh-CN" altLang="en-US" b="1" dirty="0"/>
        </a:p>
      </dgm:t>
    </dgm:pt>
    <dgm:pt modelId="{0D8DF19E-A9D5-49E4-91D3-DAB79B7006BD}" type="parTrans" cxnId="{8EF8348B-6830-4598-B382-61D4604E2B3E}">
      <dgm:prSet/>
      <dgm:spPr/>
      <dgm:t>
        <a:bodyPr/>
        <a:lstStyle/>
        <a:p>
          <a:endParaRPr lang="zh-CN" altLang="en-US" b="1"/>
        </a:p>
      </dgm:t>
    </dgm:pt>
    <dgm:pt modelId="{516B9C97-650F-4ACC-91C9-1BA547CC1697}" type="sibTrans" cxnId="{8EF8348B-6830-4598-B382-61D4604E2B3E}">
      <dgm:prSet/>
      <dgm:spPr/>
      <dgm:t>
        <a:bodyPr/>
        <a:lstStyle/>
        <a:p>
          <a:endParaRPr lang="zh-CN" altLang="en-US" b="1"/>
        </a:p>
      </dgm:t>
    </dgm:pt>
    <dgm:pt modelId="{91CE56F7-B21E-4AB2-ACD3-CBC0A459AA0B}">
      <dgm:prSet phldrT="[文本]"/>
      <dgm:spPr/>
      <dgm:t>
        <a:bodyPr/>
        <a:lstStyle/>
        <a:p>
          <a:r>
            <a:rPr lang="en-US" altLang="zh-CN" b="1" dirty="0"/>
            <a:t>SSB</a:t>
          </a:r>
          <a:endParaRPr lang="zh-CN" altLang="en-US" b="1" dirty="0"/>
        </a:p>
      </dgm:t>
    </dgm:pt>
    <dgm:pt modelId="{6001A3B1-9519-45E0-AFB5-0C3A200B7A9D}" type="parTrans" cxnId="{EC1CE247-87F5-4DE2-8C00-01DC2EB71C55}">
      <dgm:prSet/>
      <dgm:spPr/>
      <dgm:t>
        <a:bodyPr/>
        <a:lstStyle/>
        <a:p>
          <a:endParaRPr lang="zh-CN" altLang="en-US" b="1"/>
        </a:p>
      </dgm:t>
    </dgm:pt>
    <dgm:pt modelId="{FAFB55F5-D955-4E41-A7A5-B7F9DA900D64}" type="sibTrans" cxnId="{EC1CE247-87F5-4DE2-8C00-01DC2EB71C55}">
      <dgm:prSet/>
      <dgm:spPr/>
      <dgm:t>
        <a:bodyPr/>
        <a:lstStyle/>
        <a:p>
          <a:endParaRPr lang="zh-CN" altLang="en-US" b="1"/>
        </a:p>
      </dgm:t>
    </dgm:pt>
    <dgm:pt modelId="{92EA07B4-41E1-4BF0-AE70-96621D06FBB7}">
      <dgm:prSet phldrT="[文本]"/>
      <dgm:spPr/>
      <dgm:t>
        <a:bodyPr/>
        <a:lstStyle/>
        <a:p>
          <a:r>
            <a:rPr lang="en-US" altLang="zh-CN" b="1" dirty="0"/>
            <a:t>FM</a:t>
          </a:r>
          <a:endParaRPr lang="zh-CN" altLang="en-US" b="1" dirty="0"/>
        </a:p>
      </dgm:t>
    </dgm:pt>
    <dgm:pt modelId="{9AEED947-FDCC-480B-918E-8CBB361D059A}" type="parTrans" cxnId="{2AC36E2D-C157-4072-A972-B3DEC23B844C}">
      <dgm:prSet/>
      <dgm:spPr/>
      <dgm:t>
        <a:bodyPr/>
        <a:lstStyle/>
        <a:p>
          <a:endParaRPr lang="zh-CN" altLang="en-US" b="1"/>
        </a:p>
      </dgm:t>
    </dgm:pt>
    <dgm:pt modelId="{44BB6645-FD6E-4F8B-BC2A-A352B6A65A9B}" type="sibTrans" cxnId="{2AC36E2D-C157-4072-A972-B3DEC23B844C}">
      <dgm:prSet/>
      <dgm:spPr/>
      <dgm:t>
        <a:bodyPr/>
        <a:lstStyle/>
        <a:p>
          <a:endParaRPr lang="zh-CN" altLang="en-US" b="1"/>
        </a:p>
      </dgm:t>
    </dgm:pt>
    <dgm:pt modelId="{E37B3C0D-0AE5-4F9C-B392-15212C0B1B3C}">
      <dgm:prSet phldrT="[文本]"/>
      <dgm:spPr/>
      <dgm:t>
        <a:bodyPr/>
        <a:lstStyle/>
        <a:p>
          <a:r>
            <a:rPr lang="en-US" altLang="zh-CN" b="1" dirty="0"/>
            <a:t>PM</a:t>
          </a:r>
          <a:endParaRPr lang="zh-CN" altLang="en-US" b="1" dirty="0"/>
        </a:p>
      </dgm:t>
    </dgm:pt>
    <dgm:pt modelId="{1DADB2F7-9DF1-4A27-934C-F3D4D9B7CADD}" type="parTrans" cxnId="{CF7DEFEF-92EB-4685-89BC-5704D6D9C5C9}">
      <dgm:prSet/>
      <dgm:spPr/>
      <dgm:t>
        <a:bodyPr/>
        <a:lstStyle/>
        <a:p>
          <a:endParaRPr lang="zh-CN" altLang="en-US" b="1"/>
        </a:p>
      </dgm:t>
    </dgm:pt>
    <dgm:pt modelId="{E18417A4-3D03-4D3E-B186-056D562B5661}" type="sibTrans" cxnId="{CF7DEFEF-92EB-4685-89BC-5704D6D9C5C9}">
      <dgm:prSet/>
      <dgm:spPr/>
      <dgm:t>
        <a:bodyPr/>
        <a:lstStyle/>
        <a:p>
          <a:endParaRPr lang="zh-CN" altLang="en-US" b="1"/>
        </a:p>
      </dgm:t>
    </dgm:pt>
    <dgm:pt modelId="{928AF1C1-7C3D-408C-B96D-467D8EB08AB6}" type="pres">
      <dgm:prSet presAssocID="{2CD67779-8487-4ED6-9AA0-27EF3CB91A2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7B73065-8151-427F-907B-DC1C9AFFE1D6}" type="pres">
      <dgm:prSet presAssocID="{68B662BD-BBC3-4CBB-B02C-03BC32CF5551}" presName="root1" presStyleCnt="0"/>
      <dgm:spPr/>
    </dgm:pt>
    <dgm:pt modelId="{612C1903-0E9A-41A2-970D-946EB61EDB4A}" type="pres">
      <dgm:prSet presAssocID="{68B662BD-BBC3-4CBB-B02C-03BC32CF5551}" presName="LevelOneTextNode" presStyleLbl="node0" presStyleIdx="0" presStyleCnt="1" custScaleX="118486">
        <dgm:presLayoutVars>
          <dgm:chPref val="3"/>
        </dgm:presLayoutVars>
      </dgm:prSet>
      <dgm:spPr/>
    </dgm:pt>
    <dgm:pt modelId="{8A63606B-C4EF-415A-9925-792535E92169}" type="pres">
      <dgm:prSet presAssocID="{68B662BD-BBC3-4CBB-B02C-03BC32CF5551}" presName="level2hierChild" presStyleCnt="0"/>
      <dgm:spPr/>
    </dgm:pt>
    <dgm:pt modelId="{5A8C4C03-DA38-4A25-B3AD-9AAB33007470}" type="pres">
      <dgm:prSet presAssocID="{4A86F3DC-5358-42CC-BF17-83A51004D32B}" presName="conn2-1" presStyleLbl="parChTrans1D2" presStyleIdx="0" presStyleCnt="2"/>
      <dgm:spPr/>
    </dgm:pt>
    <dgm:pt modelId="{413839F1-3E35-4F45-BB17-21717741C63E}" type="pres">
      <dgm:prSet presAssocID="{4A86F3DC-5358-42CC-BF17-83A51004D32B}" presName="connTx" presStyleLbl="parChTrans1D2" presStyleIdx="0" presStyleCnt="2"/>
      <dgm:spPr/>
    </dgm:pt>
    <dgm:pt modelId="{0ED97F49-A0EE-476A-8644-978F91751E45}" type="pres">
      <dgm:prSet presAssocID="{C2F8FE3D-FDBE-40EB-9D5A-9DC04FCEBE2C}" presName="root2" presStyleCnt="0"/>
      <dgm:spPr/>
    </dgm:pt>
    <dgm:pt modelId="{7B9E59A3-351F-4FF5-ADC6-59F6D10E816E}" type="pres">
      <dgm:prSet presAssocID="{C2F8FE3D-FDBE-40EB-9D5A-9DC04FCEBE2C}" presName="LevelTwoTextNode" presStyleLbl="node2" presStyleIdx="0" presStyleCnt="2">
        <dgm:presLayoutVars>
          <dgm:chPref val="3"/>
        </dgm:presLayoutVars>
      </dgm:prSet>
      <dgm:spPr/>
    </dgm:pt>
    <dgm:pt modelId="{558D0019-09D9-4E3A-8479-FA6A571871B3}" type="pres">
      <dgm:prSet presAssocID="{C2F8FE3D-FDBE-40EB-9D5A-9DC04FCEBE2C}" presName="level3hierChild" presStyleCnt="0"/>
      <dgm:spPr/>
    </dgm:pt>
    <dgm:pt modelId="{BEF43980-A128-43CA-8BE5-7EF23FD8A3EB}" type="pres">
      <dgm:prSet presAssocID="{2AC05A29-D3A6-41D1-977D-F508DF302965}" presName="conn2-1" presStyleLbl="parChTrans1D3" presStyleIdx="0" presStyleCnt="5"/>
      <dgm:spPr/>
    </dgm:pt>
    <dgm:pt modelId="{F11312DA-D05D-4B63-85A1-430083D84831}" type="pres">
      <dgm:prSet presAssocID="{2AC05A29-D3A6-41D1-977D-F508DF302965}" presName="connTx" presStyleLbl="parChTrans1D3" presStyleIdx="0" presStyleCnt="5"/>
      <dgm:spPr/>
    </dgm:pt>
    <dgm:pt modelId="{78DAB5DF-4168-492B-860B-3DC505925447}" type="pres">
      <dgm:prSet presAssocID="{191FDB45-61F0-4850-9C1F-FE1056699F94}" presName="root2" presStyleCnt="0"/>
      <dgm:spPr/>
    </dgm:pt>
    <dgm:pt modelId="{8055323F-590E-4C6C-A702-B36EF552FA4F}" type="pres">
      <dgm:prSet presAssocID="{191FDB45-61F0-4850-9C1F-FE1056699F94}" presName="LevelTwoTextNode" presStyleLbl="node3" presStyleIdx="0" presStyleCnt="5">
        <dgm:presLayoutVars>
          <dgm:chPref val="3"/>
        </dgm:presLayoutVars>
      </dgm:prSet>
      <dgm:spPr/>
    </dgm:pt>
    <dgm:pt modelId="{74D5B579-D6F5-4C78-B8D5-BB22FEB6FEFD}" type="pres">
      <dgm:prSet presAssocID="{191FDB45-61F0-4850-9C1F-FE1056699F94}" presName="level3hierChild" presStyleCnt="0"/>
      <dgm:spPr/>
    </dgm:pt>
    <dgm:pt modelId="{14C78124-3FD2-4BAA-A2FB-372F7BF39C02}" type="pres">
      <dgm:prSet presAssocID="{0D8DF19E-A9D5-49E4-91D3-DAB79B7006BD}" presName="conn2-1" presStyleLbl="parChTrans1D3" presStyleIdx="1" presStyleCnt="5"/>
      <dgm:spPr/>
    </dgm:pt>
    <dgm:pt modelId="{C7329B91-A58C-4805-99E8-9E684153DB16}" type="pres">
      <dgm:prSet presAssocID="{0D8DF19E-A9D5-49E4-91D3-DAB79B7006BD}" presName="connTx" presStyleLbl="parChTrans1D3" presStyleIdx="1" presStyleCnt="5"/>
      <dgm:spPr/>
    </dgm:pt>
    <dgm:pt modelId="{05F4A5DA-9659-4B36-A885-704B8373DCBC}" type="pres">
      <dgm:prSet presAssocID="{E2B0BA15-BABD-483A-977B-4D4A6AAE137F}" presName="root2" presStyleCnt="0"/>
      <dgm:spPr/>
    </dgm:pt>
    <dgm:pt modelId="{29EF9D3E-A468-49DB-A922-E4B5C2EF4B1C}" type="pres">
      <dgm:prSet presAssocID="{E2B0BA15-BABD-483A-977B-4D4A6AAE137F}" presName="LevelTwoTextNode" presStyleLbl="node3" presStyleIdx="1" presStyleCnt="5">
        <dgm:presLayoutVars>
          <dgm:chPref val="3"/>
        </dgm:presLayoutVars>
      </dgm:prSet>
      <dgm:spPr/>
    </dgm:pt>
    <dgm:pt modelId="{50CB3406-C29A-436D-B378-EA7BE1AFF9BE}" type="pres">
      <dgm:prSet presAssocID="{E2B0BA15-BABD-483A-977B-4D4A6AAE137F}" presName="level3hierChild" presStyleCnt="0"/>
      <dgm:spPr/>
    </dgm:pt>
    <dgm:pt modelId="{C4B0FE83-6D67-436B-9D98-FDDEC8CC8523}" type="pres">
      <dgm:prSet presAssocID="{6001A3B1-9519-45E0-AFB5-0C3A200B7A9D}" presName="conn2-1" presStyleLbl="parChTrans1D3" presStyleIdx="2" presStyleCnt="5"/>
      <dgm:spPr/>
    </dgm:pt>
    <dgm:pt modelId="{C4E6E230-7C94-4A0F-9A10-79E5E1B2EDAB}" type="pres">
      <dgm:prSet presAssocID="{6001A3B1-9519-45E0-AFB5-0C3A200B7A9D}" presName="connTx" presStyleLbl="parChTrans1D3" presStyleIdx="2" presStyleCnt="5"/>
      <dgm:spPr/>
    </dgm:pt>
    <dgm:pt modelId="{A2B64B13-32AD-4739-A175-1AA62CB82DAC}" type="pres">
      <dgm:prSet presAssocID="{91CE56F7-B21E-4AB2-ACD3-CBC0A459AA0B}" presName="root2" presStyleCnt="0"/>
      <dgm:spPr/>
    </dgm:pt>
    <dgm:pt modelId="{F6CA631D-56E0-4E65-B1B8-743EE500C890}" type="pres">
      <dgm:prSet presAssocID="{91CE56F7-B21E-4AB2-ACD3-CBC0A459AA0B}" presName="LevelTwoTextNode" presStyleLbl="node3" presStyleIdx="2" presStyleCnt="5">
        <dgm:presLayoutVars>
          <dgm:chPref val="3"/>
        </dgm:presLayoutVars>
      </dgm:prSet>
      <dgm:spPr/>
    </dgm:pt>
    <dgm:pt modelId="{30A51419-AC7C-48A3-807E-25B6B2EBD1FC}" type="pres">
      <dgm:prSet presAssocID="{91CE56F7-B21E-4AB2-ACD3-CBC0A459AA0B}" presName="level3hierChild" presStyleCnt="0"/>
      <dgm:spPr/>
    </dgm:pt>
    <dgm:pt modelId="{38D602DB-10C0-4AF7-BD62-6EC69C48A102}" type="pres">
      <dgm:prSet presAssocID="{1DC27441-E974-47EC-9205-3AF36813A464}" presName="conn2-1" presStyleLbl="parChTrans1D2" presStyleIdx="1" presStyleCnt="2"/>
      <dgm:spPr/>
    </dgm:pt>
    <dgm:pt modelId="{E09B69B5-F693-4FD6-B22F-64CD020A9B8A}" type="pres">
      <dgm:prSet presAssocID="{1DC27441-E974-47EC-9205-3AF36813A464}" presName="connTx" presStyleLbl="parChTrans1D2" presStyleIdx="1" presStyleCnt="2"/>
      <dgm:spPr/>
    </dgm:pt>
    <dgm:pt modelId="{6416D58F-2025-43F9-9865-1E33FCBBD99F}" type="pres">
      <dgm:prSet presAssocID="{EB5B12FC-EBE1-476C-B687-7564BFF30084}" presName="root2" presStyleCnt="0"/>
      <dgm:spPr/>
    </dgm:pt>
    <dgm:pt modelId="{A5A88A93-8916-4F95-B512-7CC5611DE981}" type="pres">
      <dgm:prSet presAssocID="{EB5B12FC-EBE1-476C-B687-7564BFF30084}" presName="LevelTwoTextNode" presStyleLbl="node2" presStyleIdx="1" presStyleCnt="2">
        <dgm:presLayoutVars>
          <dgm:chPref val="3"/>
        </dgm:presLayoutVars>
      </dgm:prSet>
      <dgm:spPr/>
    </dgm:pt>
    <dgm:pt modelId="{1B0CE51F-8B93-4D2B-BF7C-77756EAE2E15}" type="pres">
      <dgm:prSet presAssocID="{EB5B12FC-EBE1-476C-B687-7564BFF30084}" presName="level3hierChild" presStyleCnt="0"/>
      <dgm:spPr/>
    </dgm:pt>
    <dgm:pt modelId="{39F05F2D-1C2F-4E12-A531-DCCE036991EE}" type="pres">
      <dgm:prSet presAssocID="{9AEED947-FDCC-480B-918E-8CBB361D059A}" presName="conn2-1" presStyleLbl="parChTrans1D3" presStyleIdx="3" presStyleCnt="5"/>
      <dgm:spPr/>
    </dgm:pt>
    <dgm:pt modelId="{ACE77F97-E34F-4742-A3FF-6E80173B55E3}" type="pres">
      <dgm:prSet presAssocID="{9AEED947-FDCC-480B-918E-8CBB361D059A}" presName="connTx" presStyleLbl="parChTrans1D3" presStyleIdx="3" presStyleCnt="5"/>
      <dgm:spPr/>
    </dgm:pt>
    <dgm:pt modelId="{ACB0C80B-5907-49D3-A415-E3177A34AFDA}" type="pres">
      <dgm:prSet presAssocID="{92EA07B4-41E1-4BF0-AE70-96621D06FBB7}" presName="root2" presStyleCnt="0"/>
      <dgm:spPr/>
    </dgm:pt>
    <dgm:pt modelId="{7E0106BE-8C11-486F-96F6-AD47DF541601}" type="pres">
      <dgm:prSet presAssocID="{92EA07B4-41E1-4BF0-AE70-96621D06FBB7}" presName="LevelTwoTextNode" presStyleLbl="node3" presStyleIdx="3" presStyleCnt="5">
        <dgm:presLayoutVars>
          <dgm:chPref val="3"/>
        </dgm:presLayoutVars>
      </dgm:prSet>
      <dgm:spPr/>
    </dgm:pt>
    <dgm:pt modelId="{21F1EA36-9FFA-4BE8-AF1A-B2D4E61D13EF}" type="pres">
      <dgm:prSet presAssocID="{92EA07B4-41E1-4BF0-AE70-96621D06FBB7}" presName="level3hierChild" presStyleCnt="0"/>
      <dgm:spPr/>
    </dgm:pt>
    <dgm:pt modelId="{51967A5C-67A5-4DD5-8EB6-2017C2B063E5}" type="pres">
      <dgm:prSet presAssocID="{1DADB2F7-9DF1-4A27-934C-F3D4D9B7CADD}" presName="conn2-1" presStyleLbl="parChTrans1D3" presStyleIdx="4" presStyleCnt="5"/>
      <dgm:spPr/>
    </dgm:pt>
    <dgm:pt modelId="{6167FE0E-2442-43BA-9DEA-93464FA9B197}" type="pres">
      <dgm:prSet presAssocID="{1DADB2F7-9DF1-4A27-934C-F3D4D9B7CADD}" presName="connTx" presStyleLbl="parChTrans1D3" presStyleIdx="4" presStyleCnt="5"/>
      <dgm:spPr/>
    </dgm:pt>
    <dgm:pt modelId="{2A9AB4A4-7F98-417A-9361-23A736365BB0}" type="pres">
      <dgm:prSet presAssocID="{E37B3C0D-0AE5-4F9C-B392-15212C0B1B3C}" presName="root2" presStyleCnt="0"/>
      <dgm:spPr/>
    </dgm:pt>
    <dgm:pt modelId="{A1007826-E0D7-4B47-9B4A-C7167C15DCE5}" type="pres">
      <dgm:prSet presAssocID="{E37B3C0D-0AE5-4F9C-B392-15212C0B1B3C}" presName="LevelTwoTextNode" presStyleLbl="node3" presStyleIdx="4" presStyleCnt="5">
        <dgm:presLayoutVars>
          <dgm:chPref val="3"/>
        </dgm:presLayoutVars>
      </dgm:prSet>
      <dgm:spPr/>
    </dgm:pt>
    <dgm:pt modelId="{47EC88BC-4323-4B84-9E5D-BEABBCCDDA1D}" type="pres">
      <dgm:prSet presAssocID="{E37B3C0D-0AE5-4F9C-B392-15212C0B1B3C}" presName="level3hierChild" presStyleCnt="0"/>
      <dgm:spPr/>
    </dgm:pt>
  </dgm:ptLst>
  <dgm:cxnLst>
    <dgm:cxn modelId="{25E35B0E-AD2A-45E2-93CC-8ADF8D56524A}" type="presOf" srcId="{1DC27441-E974-47EC-9205-3AF36813A464}" destId="{38D602DB-10C0-4AF7-BD62-6EC69C48A102}" srcOrd="0" destOrd="0" presId="urn:microsoft.com/office/officeart/2005/8/layout/hierarchy2"/>
    <dgm:cxn modelId="{6570651A-B89F-42F1-AC0D-3C9596D3BF89}" type="presOf" srcId="{9AEED947-FDCC-480B-918E-8CBB361D059A}" destId="{ACE77F97-E34F-4742-A3FF-6E80173B55E3}" srcOrd="1" destOrd="0" presId="urn:microsoft.com/office/officeart/2005/8/layout/hierarchy2"/>
    <dgm:cxn modelId="{D5C84D23-78E0-4B9C-A797-881FABF9AD00}" type="presOf" srcId="{4A86F3DC-5358-42CC-BF17-83A51004D32B}" destId="{413839F1-3E35-4F45-BB17-21717741C63E}" srcOrd="1" destOrd="0" presId="urn:microsoft.com/office/officeart/2005/8/layout/hierarchy2"/>
    <dgm:cxn modelId="{97708524-7099-452B-8B84-BA343FC9A250}" type="presOf" srcId="{EB5B12FC-EBE1-476C-B687-7564BFF30084}" destId="{A5A88A93-8916-4F95-B512-7CC5611DE981}" srcOrd="0" destOrd="0" presId="urn:microsoft.com/office/officeart/2005/8/layout/hierarchy2"/>
    <dgm:cxn modelId="{2AC36E2D-C157-4072-A972-B3DEC23B844C}" srcId="{EB5B12FC-EBE1-476C-B687-7564BFF30084}" destId="{92EA07B4-41E1-4BF0-AE70-96621D06FBB7}" srcOrd="0" destOrd="0" parTransId="{9AEED947-FDCC-480B-918E-8CBB361D059A}" sibTransId="{44BB6645-FD6E-4F8B-BC2A-A352B6A65A9B}"/>
    <dgm:cxn modelId="{2B458F30-3019-4065-A6A5-556D4F993388}" type="presOf" srcId="{1DC27441-E974-47EC-9205-3AF36813A464}" destId="{E09B69B5-F693-4FD6-B22F-64CD020A9B8A}" srcOrd="1" destOrd="0" presId="urn:microsoft.com/office/officeart/2005/8/layout/hierarchy2"/>
    <dgm:cxn modelId="{2854DD3B-27E1-4C77-850E-43DF72517EBB}" type="presOf" srcId="{68B662BD-BBC3-4CBB-B02C-03BC32CF5551}" destId="{612C1903-0E9A-41A2-970D-946EB61EDB4A}" srcOrd="0" destOrd="0" presId="urn:microsoft.com/office/officeart/2005/8/layout/hierarchy2"/>
    <dgm:cxn modelId="{6BD09443-2681-471B-86A8-FE5C69200676}" srcId="{2CD67779-8487-4ED6-9AA0-27EF3CB91A21}" destId="{68B662BD-BBC3-4CBB-B02C-03BC32CF5551}" srcOrd="0" destOrd="0" parTransId="{738F2C26-4D17-4EDF-9393-406339FFCA5B}" sibTransId="{67A8C7B1-C432-4580-BB14-4645DD83CFE0}"/>
    <dgm:cxn modelId="{EC1CE247-87F5-4DE2-8C00-01DC2EB71C55}" srcId="{C2F8FE3D-FDBE-40EB-9D5A-9DC04FCEBE2C}" destId="{91CE56F7-B21E-4AB2-ACD3-CBC0A459AA0B}" srcOrd="2" destOrd="0" parTransId="{6001A3B1-9519-45E0-AFB5-0C3A200B7A9D}" sibTransId="{FAFB55F5-D955-4E41-A7A5-B7F9DA900D64}"/>
    <dgm:cxn modelId="{85E92E48-31CB-4237-99F3-532B3AD855AB}" type="presOf" srcId="{0D8DF19E-A9D5-49E4-91D3-DAB79B7006BD}" destId="{C7329B91-A58C-4805-99E8-9E684153DB16}" srcOrd="1" destOrd="0" presId="urn:microsoft.com/office/officeart/2005/8/layout/hierarchy2"/>
    <dgm:cxn modelId="{C04C3B49-738E-441F-9207-0DAD58F2C27D}" type="presOf" srcId="{191FDB45-61F0-4850-9C1F-FE1056699F94}" destId="{8055323F-590E-4C6C-A702-B36EF552FA4F}" srcOrd="0" destOrd="0" presId="urn:microsoft.com/office/officeart/2005/8/layout/hierarchy2"/>
    <dgm:cxn modelId="{2508A756-FEFA-41A6-AC29-A033A7C123C3}" type="presOf" srcId="{C2F8FE3D-FDBE-40EB-9D5A-9DC04FCEBE2C}" destId="{7B9E59A3-351F-4FF5-ADC6-59F6D10E816E}" srcOrd="0" destOrd="0" presId="urn:microsoft.com/office/officeart/2005/8/layout/hierarchy2"/>
    <dgm:cxn modelId="{6C3B8F7D-132E-409E-86D3-E6E49922A183}" type="presOf" srcId="{6001A3B1-9519-45E0-AFB5-0C3A200B7A9D}" destId="{C4B0FE83-6D67-436B-9D98-FDDEC8CC8523}" srcOrd="0" destOrd="0" presId="urn:microsoft.com/office/officeart/2005/8/layout/hierarchy2"/>
    <dgm:cxn modelId="{83F88183-2263-4967-B7A6-8B754F7AAF58}" type="presOf" srcId="{E37B3C0D-0AE5-4F9C-B392-15212C0B1B3C}" destId="{A1007826-E0D7-4B47-9B4A-C7167C15DCE5}" srcOrd="0" destOrd="0" presId="urn:microsoft.com/office/officeart/2005/8/layout/hierarchy2"/>
    <dgm:cxn modelId="{F3E3F483-9AC5-4855-8BA2-C86BBD275EC9}" type="presOf" srcId="{1DADB2F7-9DF1-4A27-934C-F3D4D9B7CADD}" destId="{6167FE0E-2442-43BA-9DEA-93464FA9B197}" srcOrd="1" destOrd="0" presId="urn:microsoft.com/office/officeart/2005/8/layout/hierarchy2"/>
    <dgm:cxn modelId="{528DD78A-42E3-4F78-8A2F-78C0593C8B16}" srcId="{C2F8FE3D-FDBE-40EB-9D5A-9DC04FCEBE2C}" destId="{191FDB45-61F0-4850-9C1F-FE1056699F94}" srcOrd="0" destOrd="0" parTransId="{2AC05A29-D3A6-41D1-977D-F508DF302965}" sibTransId="{9C4ED287-C3FF-4406-8FE8-264602384A83}"/>
    <dgm:cxn modelId="{8EF8348B-6830-4598-B382-61D4604E2B3E}" srcId="{C2F8FE3D-FDBE-40EB-9D5A-9DC04FCEBE2C}" destId="{E2B0BA15-BABD-483A-977B-4D4A6AAE137F}" srcOrd="1" destOrd="0" parTransId="{0D8DF19E-A9D5-49E4-91D3-DAB79B7006BD}" sibTransId="{516B9C97-650F-4ACC-91C9-1BA547CC1697}"/>
    <dgm:cxn modelId="{C89D22AA-D3D2-459B-B6EB-CD35F00F0C10}" type="presOf" srcId="{91CE56F7-B21E-4AB2-ACD3-CBC0A459AA0B}" destId="{F6CA631D-56E0-4E65-B1B8-743EE500C890}" srcOrd="0" destOrd="0" presId="urn:microsoft.com/office/officeart/2005/8/layout/hierarchy2"/>
    <dgm:cxn modelId="{75DCC8AA-C4B4-422E-9C46-A410C5C2D724}" type="presOf" srcId="{2CD67779-8487-4ED6-9AA0-27EF3CB91A21}" destId="{928AF1C1-7C3D-408C-B96D-467D8EB08AB6}" srcOrd="0" destOrd="0" presId="urn:microsoft.com/office/officeart/2005/8/layout/hierarchy2"/>
    <dgm:cxn modelId="{780814B3-2D26-483D-AFA1-DCD216719208}" srcId="{68B662BD-BBC3-4CBB-B02C-03BC32CF5551}" destId="{C2F8FE3D-FDBE-40EB-9D5A-9DC04FCEBE2C}" srcOrd="0" destOrd="0" parTransId="{4A86F3DC-5358-42CC-BF17-83A51004D32B}" sibTransId="{E0F2FFB4-E195-450B-A361-9FFD3D6255C1}"/>
    <dgm:cxn modelId="{2C9688B7-1D2F-411B-937A-CB125834CF73}" type="presOf" srcId="{2AC05A29-D3A6-41D1-977D-F508DF302965}" destId="{BEF43980-A128-43CA-8BE5-7EF23FD8A3EB}" srcOrd="0" destOrd="0" presId="urn:microsoft.com/office/officeart/2005/8/layout/hierarchy2"/>
    <dgm:cxn modelId="{D71629BA-77BC-4011-BAF7-A80B6BF5BAF1}" type="presOf" srcId="{2AC05A29-D3A6-41D1-977D-F508DF302965}" destId="{F11312DA-D05D-4B63-85A1-430083D84831}" srcOrd="1" destOrd="0" presId="urn:microsoft.com/office/officeart/2005/8/layout/hierarchy2"/>
    <dgm:cxn modelId="{A7C48DBA-5539-4241-9986-AC03747722FD}" type="presOf" srcId="{92EA07B4-41E1-4BF0-AE70-96621D06FBB7}" destId="{7E0106BE-8C11-486F-96F6-AD47DF541601}" srcOrd="0" destOrd="0" presId="urn:microsoft.com/office/officeart/2005/8/layout/hierarchy2"/>
    <dgm:cxn modelId="{95359BBC-A3E9-46FA-8CE6-9D6D44FDE65A}" type="presOf" srcId="{E2B0BA15-BABD-483A-977B-4D4A6AAE137F}" destId="{29EF9D3E-A468-49DB-A922-E4B5C2EF4B1C}" srcOrd="0" destOrd="0" presId="urn:microsoft.com/office/officeart/2005/8/layout/hierarchy2"/>
    <dgm:cxn modelId="{C6A6ACCB-377D-421F-912B-2804BEE71158}" type="presOf" srcId="{6001A3B1-9519-45E0-AFB5-0C3A200B7A9D}" destId="{C4E6E230-7C94-4A0F-9A10-79E5E1B2EDAB}" srcOrd="1" destOrd="0" presId="urn:microsoft.com/office/officeart/2005/8/layout/hierarchy2"/>
    <dgm:cxn modelId="{74EC19D6-7810-4DA5-B440-F85029B122AE}" type="presOf" srcId="{0D8DF19E-A9D5-49E4-91D3-DAB79B7006BD}" destId="{14C78124-3FD2-4BAA-A2FB-372F7BF39C02}" srcOrd="0" destOrd="0" presId="urn:microsoft.com/office/officeart/2005/8/layout/hierarchy2"/>
    <dgm:cxn modelId="{796E71DA-31B8-4B5F-97DB-2E698FE49075}" type="presOf" srcId="{1DADB2F7-9DF1-4A27-934C-F3D4D9B7CADD}" destId="{51967A5C-67A5-4DD5-8EB6-2017C2B063E5}" srcOrd="0" destOrd="0" presId="urn:microsoft.com/office/officeart/2005/8/layout/hierarchy2"/>
    <dgm:cxn modelId="{528F9FDE-9696-41F3-81D4-16FC358A5CC6}" type="presOf" srcId="{4A86F3DC-5358-42CC-BF17-83A51004D32B}" destId="{5A8C4C03-DA38-4A25-B3AD-9AAB33007470}" srcOrd="0" destOrd="0" presId="urn:microsoft.com/office/officeart/2005/8/layout/hierarchy2"/>
    <dgm:cxn modelId="{CF7DEFEF-92EB-4685-89BC-5704D6D9C5C9}" srcId="{EB5B12FC-EBE1-476C-B687-7564BFF30084}" destId="{E37B3C0D-0AE5-4F9C-B392-15212C0B1B3C}" srcOrd="1" destOrd="0" parTransId="{1DADB2F7-9DF1-4A27-934C-F3D4D9B7CADD}" sibTransId="{E18417A4-3D03-4D3E-B186-056D562B5661}"/>
    <dgm:cxn modelId="{59E3F7F3-F764-438E-968B-5B3A3588BB74}" type="presOf" srcId="{9AEED947-FDCC-480B-918E-8CBB361D059A}" destId="{39F05F2D-1C2F-4E12-A531-DCCE036991EE}" srcOrd="0" destOrd="0" presId="urn:microsoft.com/office/officeart/2005/8/layout/hierarchy2"/>
    <dgm:cxn modelId="{08F47CFE-3C92-4FEC-9080-8251357FCDBF}" srcId="{68B662BD-BBC3-4CBB-B02C-03BC32CF5551}" destId="{EB5B12FC-EBE1-476C-B687-7564BFF30084}" srcOrd="1" destOrd="0" parTransId="{1DC27441-E974-47EC-9205-3AF36813A464}" sibTransId="{02FEAEA7-FD7C-4D1F-9049-E68AD5AAA8F2}"/>
    <dgm:cxn modelId="{0ED22736-5122-4BA8-A59F-7FD45D3A5844}" type="presParOf" srcId="{928AF1C1-7C3D-408C-B96D-467D8EB08AB6}" destId="{F7B73065-8151-427F-907B-DC1C9AFFE1D6}" srcOrd="0" destOrd="0" presId="urn:microsoft.com/office/officeart/2005/8/layout/hierarchy2"/>
    <dgm:cxn modelId="{6D54CB87-20A9-4997-BDBC-EBBF4966CABC}" type="presParOf" srcId="{F7B73065-8151-427F-907B-DC1C9AFFE1D6}" destId="{612C1903-0E9A-41A2-970D-946EB61EDB4A}" srcOrd="0" destOrd="0" presId="urn:microsoft.com/office/officeart/2005/8/layout/hierarchy2"/>
    <dgm:cxn modelId="{1BA3EBBB-6A35-45AB-A6E8-75568FC63237}" type="presParOf" srcId="{F7B73065-8151-427F-907B-DC1C9AFFE1D6}" destId="{8A63606B-C4EF-415A-9925-792535E92169}" srcOrd="1" destOrd="0" presId="urn:microsoft.com/office/officeart/2005/8/layout/hierarchy2"/>
    <dgm:cxn modelId="{5DA6AB24-75ED-41C4-B7F3-A5959A1CF9F7}" type="presParOf" srcId="{8A63606B-C4EF-415A-9925-792535E92169}" destId="{5A8C4C03-DA38-4A25-B3AD-9AAB33007470}" srcOrd="0" destOrd="0" presId="urn:microsoft.com/office/officeart/2005/8/layout/hierarchy2"/>
    <dgm:cxn modelId="{0D3FC17E-8CF2-4212-B62D-7E65EBD0E724}" type="presParOf" srcId="{5A8C4C03-DA38-4A25-B3AD-9AAB33007470}" destId="{413839F1-3E35-4F45-BB17-21717741C63E}" srcOrd="0" destOrd="0" presId="urn:microsoft.com/office/officeart/2005/8/layout/hierarchy2"/>
    <dgm:cxn modelId="{1D91CFD7-EE4A-4104-976E-7F9DA7D8D05C}" type="presParOf" srcId="{8A63606B-C4EF-415A-9925-792535E92169}" destId="{0ED97F49-A0EE-476A-8644-978F91751E45}" srcOrd="1" destOrd="0" presId="urn:microsoft.com/office/officeart/2005/8/layout/hierarchy2"/>
    <dgm:cxn modelId="{7D8DF94D-5DB8-4837-8C3B-E7D721ECC070}" type="presParOf" srcId="{0ED97F49-A0EE-476A-8644-978F91751E45}" destId="{7B9E59A3-351F-4FF5-ADC6-59F6D10E816E}" srcOrd="0" destOrd="0" presId="urn:microsoft.com/office/officeart/2005/8/layout/hierarchy2"/>
    <dgm:cxn modelId="{36C510BC-2A20-42C5-A411-98F20EE79B0E}" type="presParOf" srcId="{0ED97F49-A0EE-476A-8644-978F91751E45}" destId="{558D0019-09D9-4E3A-8479-FA6A571871B3}" srcOrd="1" destOrd="0" presId="urn:microsoft.com/office/officeart/2005/8/layout/hierarchy2"/>
    <dgm:cxn modelId="{7AA19CE5-6D54-4DBA-9F68-7979D9FF5F99}" type="presParOf" srcId="{558D0019-09D9-4E3A-8479-FA6A571871B3}" destId="{BEF43980-A128-43CA-8BE5-7EF23FD8A3EB}" srcOrd="0" destOrd="0" presId="urn:microsoft.com/office/officeart/2005/8/layout/hierarchy2"/>
    <dgm:cxn modelId="{C65C8F10-690A-4DFD-BA60-F37C435F61F2}" type="presParOf" srcId="{BEF43980-A128-43CA-8BE5-7EF23FD8A3EB}" destId="{F11312DA-D05D-4B63-85A1-430083D84831}" srcOrd="0" destOrd="0" presId="urn:microsoft.com/office/officeart/2005/8/layout/hierarchy2"/>
    <dgm:cxn modelId="{31C24578-FF1D-4FDD-B728-F016FD1EE28D}" type="presParOf" srcId="{558D0019-09D9-4E3A-8479-FA6A571871B3}" destId="{78DAB5DF-4168-492B-860B-3DC505925447}" srcOrd="1" destOrd="0" presId="urn:microsoft.com/office/officeart/2005/8/layout/hierarchy2"/>
    <dgm:cxn modelId="{1E97AEB1-1EA8-403D-BBBE-4441DBF93481}" type="presParOf" srcId="{78DAB5DF-4168-492B-860B-3DC505925447}" destId="{8055323F-590E-4C6C-A702-B36EF552FA4F}" srcOrd="0" destOrd="0" presId="urn:microsoft.com/office/officeart/2005/8/layout/hierarchy2"/>
    <dgm:cxn modelId="{4BDC19BB-5029-40ED-AF13-DC96F3F88EEF}" type="presParOf" srcId="{78DAB5DF-4168-492B-860B-3DC505925447}" destId="{74D5B579-D6F5-4C78-B8D5-BB22FEB6FEFD}" srcOrd="1" destOrd="0" presId="urn:microsoft.com/office/officeart/2005/8/layout/hierarchy2"/>
    <dgm:cxn modelId="{D6FA6378-2257-4664-AF84-44D573C94D1C}" type="presParOf" srcId="{558D0019-09D9-4E3A-8479-FA6A571871B3}" destId="{14C78124-3FD2-4BAA-A2FB-372F7BF39C02}" srcOrd="2" destOrd="0" presId="urn:microsoft.com/office/officeart/2005/8/layout/hierarchy2"/>
    <dgm:cxn modelId="{A91E78D2-109F-446F-B0F7-3CE615FA8F3E}" type="presParOf" srcId="{14C78124-3FD2-4BAA-A2FB-372F7BF39C02}" destId="{C7329B91-A58C-4805-99E8-9E684153DB16}" srcOrd="0" destOrd="0" presId="urn:microsoft.com/office/officeart/2005/8/layout/hierarchy2"/>
    <dgm:cxn modelId="{86234C88-F069-457A-804B-78693FA9E626}" type="presParOf" srcId="{558D0019-09D9-4E3A-8479-FA6A571871B3}" destId="{05F4A5DA-9659-4B36-A885-704B8373DCBC}" srcOrd="3" destOrd="0" presId="urn:microsoft.com/office/officeart/2005/8/layout/hierarchy2"/>
    <dgm:cxn modelId="{16B96C11-9584-4FD3-BBED-7D5FFCD8220A}" type="presParOf" srcId="{05F4A5DA-9659-4B36-A885-704B8373DCBC}" destId="{29EF9D3E-A468-49DB-A922-E4B5C2EF4B1C}" srcOrd="0" destOrd="0" presId="urn:microsoft.com/office/officeart/2005/8/layout/hierarchy2"/>
    <dgm:cxn modelId="{5FD3FA58-8EF4-4B95-B0F7-27B7282ED47A}" type="presParOf" srcId="{05F4A5DA-9659-4B36-A885-704B8373DCBC}" destId="{50CB3406-C29A-436D-B378-EA7BE1AFF9BE}" srcOrd="1" destOrd="0" presId="urn:microsoft.com/office/officeart/2005/8/layout/hierarchy2"/>
    <dgm:cxn modelId="{1DE7B68B-B6AB-4D00-BCDF-B4DB191B5F88}" type="presParOf" srcId="{558D0019-09D9-4E3A-8479-FA6A571871B3}" destId="{C4B0FE83-6D67-436B-9D98-FDDEC8CC8523}" srcOrd="4" destOrd="0" presId="urn:microsoft.com/office/officeart/2005/8/layout/hierarchy2"/>
    <dgm:cxn modelId="{48FEF12D-C919-4040-8A40-974ECD193DF0}" type="presParOf" srcId="{C4B0FE83-6D67-436B-9D98-FDDEC8CC8523}" destId="{C4E6E230-7C94-4A0F-9A10-79E5E1B2EDAB}" srcOrd="0" destOrd="0" presId="urn:microsoft.com/office/officeart/2005/8/layout/hierarchy2"/>
    <dgm:cxn modelId="{897BA649-CF13-4793-B2F8-ABED7974C138}" type="presParOf" srcId="{558D0019-09D9-4E3A-8479-FA6A571871B3}" destId="{A2B64B13-32AD-4739-A175-1AA62CB82DAC}" srcOrd="5" destOrd="0" presId="urn:microsoft.com/office/officeart/2005/8/layout/hierarchy2"/>
    <dgm:cxn modelId="{DF69FF96-EB48-42F5-A8FC-9184CCB1BA89}" type="presParOf" srcId="{A2B64B13-32AD-4739-A175-1AA62CB82DAC}" destId="{F6CA631D-56E0-4E65-B1B8-743EE500C890}" srcOrd="0" destOrd="0" presId="urn:microsoft.com/office/officeart/2005/8/layout/hierarchy2"/>
    <dgm:cxn modelId="{72E77558-F808-4B3A-839A-C43805AD3E8A}" type="presParOf" srcId="{A2B64B13-32AD-4739-A175-1AA62CB82DAC}" destId="{30A51419-AC7C-48A3-807E-25B6B2EBD1FC}" srcOrd="1" destOrd="0" presId="urn:microsoft.com/office/officeart/2005/8/layout/hierarchy2"/>
    <dgm:cxn modelId="{16AC6AFF-749B-4C67-958D-67F7432DB7D2}" type="presParOf" srcId="{8A63606B-C4EF-415A-9925-792535E92169}" destId="{38D602DB-10C0-4AF7-BD62-6EC69C48A102}" srcOrd="2" destOrd="0" presId="urn:microsoft.com/office/officeart/2005/8/layout/hierarchy2"/>
    <dgm:cxn modelId="{D23F6B5B-CF59-48A0-B217-5FE59ED2B954}" type="presParOf" srcId="{38D602DB-10C0-4AF7-BD62-6EC69C48A102}" destId="{E09B69B5-F693-4FD6-B22F-64CD020A9B8A}" srcOrd="0" destOrd="0" presId="urn:microsoft.com/office/officeart/2005/8/layout/hierarchy2"/>
    <dgm:cxn modelId="{3A663543-599A-4C81-8DB4-7611D0FB3401}" type="presParOf" srcId="{8A63606B-C4EF-415A-9925-792535E92169}" destId="{6416D58F-2025-43F9-9865-1E33FCBBD99F}" srcOrd="3" destOrd="0" presId="urn:microsoft.com/office/officeart/2005/8/layout/hierarchy2"/>
    <dgm:cxn modelId="{DB1EBC75-C698-431A-AE58-C9B5D1B505BD}" type="presParOf" srcId="{6416D58F-2025-43F9-9865-1E33FCBBD99F}" destId="{A5A88A93-8916-4F95-B512-7CC5611DE981}" srcOrd="0" destOrd="0" presId="urn:microsoft.com/office/officeart/2005/8/layout/hierarchy2"/>
    <dgm:cxn modelId="{C1BCA6F4-6393-4AC0-B52B-73F8DECE82FD}" type="presParOf" srcId="{6416D58F-2025-43F9-9865-1E33FCBBD99F}" destId="{1B0CE51F-8B93-4D2B-BF7C-77756EAE2E15}" srcOrd="1" destOrd="0" presId="urn:microsoft.com/office/officeart/2005/8/layout/hierarchy2"/>
    <dgm:cxn modelId="{AA6A0E83-9FAA-4A04-9D25-7AB387719A03}" type="presParOf" srcId="{1B0CE51F-8B93-4D2B-BF7C-77756EAE2E15}" destId="{39F05F2D-1C2F-4E12-A531-DCCE036991EE}" srcOrd="0" destOrd="0" presId="urn:microsoft.com/office/officeart/2005/8/layout/hierarchy2"/>
    <dgm:cxn modelId="{765A2754-1033-41E2-86B5-357D39D57D6E}" type="presParOf" srcId="{39F05F2D-1C2F-4E12-A531-DCCE036991EE}" destId="{ACE77F97-E34F-4742-A3FF-6E80173B55E3}" srcOrd="0" destOrd="0" presId="urn:microsoft.com/office/officeart/2005/8/layout/hierarchy2"/>
    <dgm:cxn modelId="{EBA512D9-CB1B-4169-B60E-23110C67631D}" type="presParOf" srcId="{1B0CE51F-8B93-4D2B-BF7C-77756EAE2E15}" destId="{ACB0C80B-5907-49D3-A415-E3177A34AFDA}" srcOrd="1" destOrd="0" presId="urn:microsoft.com/office/officeart/2005/8/layout/hierarchy2"/>
    <dgm:cxn modelId="{9304BB9E-1302-4983-83E0-5C5F3E95BA6A}" type="presParOf" srcId="{ACB0C80B-5907-49D3-A415-E3177A34AFDA}" destId="{7E0106BE-8C11-486F-96F6-AD47DF541601}" srcOrd="0" destOrd="0" presId="urn:microsoft.com/office/officeart/2005/8/layout/hierarchy2"/>
    <dgm:cxn modelId="{88BF271F-72BC-42D4-AEBF-40CECF5E393A}" type="presParOf" srcId="{ACB0C80B-5907-49D3-A415-E3177A34AFDA}" destId="{21F1EA36-9FFA-4BE8-AF1A-B2D4E61D13EF}" srcOrd="1" destOrd="0" presId="urn:microsoft.com/office/officeart/2005/8/layout/hierarchy2"/>
    <dgm:cxn modelId="{6C4516D6-0E98-4ACE-A05E-FD878562C7C0}" type="presParOf" srcId="{1B0CE51F-8B93-4D2B-BF7C-77756EAE2E15}" destId="{51967A5C-67A5-4DD5-8EB6-2017C2B063E5}" srcOrd="2" destOrd="0" presId="urn:microsoft.com/office/officeart/2005/8/layout/hierarchy2"/>
    <dgm:cxn modelId="{EEBAA850-4CD5-4EEB-A9A7-B709808592CB}" type="presParOf" srcId="{51967A5C-67A5-4DD5-8EB6-2017C2B063E5}" destId="{6167FE0E-2442-43BA-9DEA-93464FA9B197}" srcOrd="0" destOrd="0" presId="urn:microsoft.com/office/officeart/2005/8/layout/hierarchy2"/>
    <dgm:cxn modelId="{8A9A4BAF-35DA-4D70-861F-A59E0B6CB91F}" type="presParOf" srcId="{1B0CE51F-8B93-4D2B-BF7C-77756EAE2E15}" destId="{2A9AB4A4-7F98-417A-9361-23A736365BB0}" srcOrd="3" destOrd="0" presId="urn:microsoft.com/office/officeart/2005/8/layout/hierarchy2"/>
    <dgm:cxn modelId="{B453524E-929C-4DE0-BC1A-8A66FBC98338}" type="presParOf" srcId="{2A9AB4A4-7F98-417A-9361-23A736365BB0}" destId="{A1007826-E0D7-4B47-9B4A-C7167C15DCE5}" srcOrd="0" destOrd="0" presId="urn:microsoft.com/office/officeart/2005/8/layout/hierarchy2"/>
    <dgm:cxn modelId="{5A9DDCFF-5F9A-418A-A8BA-AE8A9C0FFFB8}" type="presParOf" srcId="{2A9AB4A4-7F98-417A-9361-23A736365BB0}" destId="{47EC88BC-4323-4B84-9E5D-BEABBCCDDA1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D67779-8487-4ED6-9AA0-27EF3CB91A21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68B662BD-BBC3-4CBB-B02C-03BC32CF5551}">
      <dgm:prSet phldrT="[文本]"/>
      <dgm:spPr/>
      <dgm:t>
        <a:bodyPr/>
        <a:lstStyle/>
        <a:p>
          <a:r>
            <a:rPr lang="zh-CN" altLang="en-US" b="1" dirty="0"/>
            <a:t>乘法器电路</a:t>
          </a:r>
        </a:p>
      </dgm:t>
    </dgm:pt>
    <dgm:pt modelId="{738F2C26-4D17-4EDF-9393-406339FFCA5B}" type="parTrans" cxnId="{6BD09443-2681-471B-86A8-FE5C69200676}">
      <dgm:prSet/>
      <dgm:spPr/>
      <dgm:t>
        <a:bodyPr/>
        <a:lstStyle/>
        <a:p>
          <a:endParaRPr lang="zh-CN" altLang="en-US" b="1"/>
        </a:p>
      </dgm:t>
    </dgm:pt>
    <dgm:pt modelId="{67A8C7B1-C432-4580-BB14-4645DD83CFE0}" type="sibTrans" cxnId="{6BD09443-2681-471B-86A8-FE5C69200676}">
      <dgm:prSet/>
      <dgm:spPr/>
      <dgm:t>
        <a:bodyPr/>
        <a:lstStyle/>
        <a:p>
          <a:endParaRPr lang="zh-CN" altLang="en-US" b="1"/>
        </a:p>
      </dgm:t>
    </dgm:pt>
    <dgm:pt modelId="{C2F8FE3D-FDBE-40EB-9D5A-9DC04FCEBE2C}">
      <dgm:prSet phldrT="[文本]"/>
      <dgm:spPr/>
      <dgm:t>
        <a:bodyPr/>
        <a:lstStyle/>
        <a:p>
          <a:r>
            <a:rPr lang="zh-CN" altLang="en-US" b="1" dirty="0"/>
            <a:t>由二极管构成的乘法器</a:t>
          </a:r>
        </a:p>
      </dgm:t>
    </dgm:pt>
    <dgm:pt modelId="{4A86F3DC-5358-42CC-BF17-83A51004D32B}" type="parTrans" cxnId="{780814B3-2D26-483D-AFA1-DCD216719208}">
      <dgm:prSet/>
      <dgm:spPr/>
      <dgm:t>
        <a:bodyPr/>
        <a:lstStyle/>
        <a:p>
          <a:endParaRPr lang="zh-CN" altLang="en-US" b="1"/>
        </a:p>
      </dgm:t>
    </dgm:pt>
    <dgm:pt modelId="{E0F2FFB4-E195-450B-A361-9FFD3D6255C1}" type="sibTrans" cxnId="{780814B3-2D26-483D-AFA1-DCD216719208}">
      <dgm:prSet/>
      <dgm:spPr/>
      <dgm:t>
        <a:bodyPr/>
        <a:lstStyle/>
        <a:p>
          <a:endParaRPr lang="zh-CN" altLang="en-US" b="1"/>
        </a:p>
      </dgm:t>
    </dgm:pt>
    <dgm:pt modelId="{EB5B12FC-EBE1-476C-B687-7564BFF30084}">
      <dgm:prSet phldrT="[文本]"/>
      <dgm:spPr/>
      <dgm:t>
        <a:bodyPr/>
        <a:lstStyle/>
        <a:p>
          <a:r>
            <a:rPr lang="zh-CN" altLang="en-US" b="1" dirty="0"/>
            <a:t>由差分对构成的乘法器</a:t>
          </a:r>
        </a:p>
      </dgm:t>
    </dgm:pt>
    <dgm:pt modelId="{1DC27441-E974-47EC-9205-3AF36813A464}" type="parTrans" cxnId="{08F47CFE-3C92-4FEC-9080-8251357FCDBF}">
      <dgm:prSet/>
      <dgm:spPr/>
      <dgm:t>
        <a:bodyPr/>
        <a:lstStyle/>
        <a:p>
          <a:endParaRPr lang="zh-CN" altLang="en-US" b="1"/>
        </a:p>
      </dgm:t>
    </dgm:pt>
    <dgm:pt modelId="{02FEAEA7-FD7C-4D1F-9049-E68AD5AAA8F2}" type="sibTrans" cxnId="{08F47CFE-3C92-4FEC-9080-8251357FCDBF}">
      <dgm:prSet/>
      <dgm:spPr/>
      <dgm:t>
        <a:bodyPr/>
        <a:lstStyle/>
        <a:p>
          <a:endParaRPr lang="zh-CN" altLang="en-US" b="1"/>
        </a:p>
      </dgm:t>
    </dgm:pt>
    <dgm:pt modelId="{191FDB45-61F0-4850-9C1F-FE1056699F94}">
      <dgm:prSet phldrT="[文本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b="1" dirty="0"/>
            <a:t>单个二极管</a:t>
          </a:r>
        </a:p>
      </dgm:t>
    </dgm:pt>
    <dgm:pt modelId="{2AC05A29-D3A6-41D1-977D-F508DF302965}" type="parTrans" cxnId="{528DD78A-42E3-4F78-8A2F-78C0593C8B16}">
      <dgm:prSet/>
      <dgm:spPr/>
      <dgm:t>
        <a:bodyPr/>
        <a:lstStyle/>
        <a:p>
          <a:endParaRPr lang="zh-CN" altLang="en-US" b="1"/>
        </a:p>
      </dgm:t>
    </dgm:pt>
    <dgm:pt modelId="{9C4ED287-C3FF-4406-8FE8-264602384A83}" type="sibTrans" cxnId="{528DD78A-42E3-4F78-8A2F-78C0593C8B16}">
      <dgm:prSet/>
      <dgm:spPr/>
      <dgm:t>
        <a:bodyPr/>
        <a:lstStyle/>
        <a:p>
          <a:endParaRPr lang="zh-CN" altLang="en-US" b="1"/>
        </a:p>
      </dgm:t>
    </dgm:pt>
    <dgm:pt modelId="{E2B0BA15-BABD-483A-977B-4D4A6AAE137F}">
      <dgm:prSet phldrT="[文本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b="1" dirty="0"/>
            <a:t>二极管单平衡电路</a:t>
          </a:r>
        </a:p>
      </dgm:t>
    </dgm:pt>
    <dgm:pt modelId="{0D8DF19E-A9D5-49E4-91D3-DAB79B7006BD}" type="parTrans" cxnId="{8EF8348B-6830-4598-B382-61D4604E2B3E}">
      <dgm:prSet/>
      <dgm:spPr/>
      <dgm:t>
        <a:bodyPr/>
        <a:lstStyle/>
        <a:p>
          <a:endParaRPr lang="zh-CN" altLang="en-US" b="1"/>
        </a:p>
      </dgm:t>
    </dgm:pt>
    <dgm:pt modelId="{516B9C97-650F-4ACC-91C9-1BA547CC1697}" type="sibTrans" cxnId="{8EF8348B-6830-4598-B382-61D4604E2B3E}">
      <dgm:prSet/>
      <dgm:spPr/>
      <dgm:t>
        <a:bodyPr/>
        <a:lstStyle/>
        <a:p>
          <a:endParaRPr lang="zh-CN" altLang="en-US" b="1"/>
        </a:p>
      </dgm:t>
    </dgm:pt>
    <dgm:pt modelId="{91CE56F7-B21E-4AB2-ACD3-CBC0A459AA0B}">
      <dgm:prSet phldrT="[文本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b="1" dirty="0"/>
            <a:t>二极管双平衡电路</a:t>
          </a:r>
        </a:p>
      </dgm:t>
    </dgm:pt>
    <dgm:pt modelId="{6001A3B1-9519-45E0-AFB5-0C3A200B7A9D}" type="parTrans" cxnId="{EC1CE247-87F5-4DE2-8C00-01DC2EB71C55}">
      <dgm:prSet/>
      <dgm:spPr/>
      <dgm:t>
        <a:bodyPr/>
        <a:lstStyle/>
        <a:p>
          <a:endParaRPr lang="zh-CN" altLang="en-US" b="1"/>
        </a:p>
      </dgm:t>
    </dgm:pt>
    <dgm:pt modelId="{FAFB55F5-D955-4E41-A7A5-B7F9DA900D64}" type="sibTrans" cxnId="{EC1CE247-87F5-4DE2-8C00-01DC2EB71C55}">
      <dgm:prSet/>
      <dgm:spPr/>
      <dgm:t>
        <a:bodyPr/>
        <a:lstStyle/>
        <a:p>
          <a:endParaRPr lang="zh-CN" altLang="en-US" b="1"/>
        </a:p>
      </dgm:t>
    </dgm:pt>
    <dgm:pt modelId="{92EA07B4-41E1-4BF0-AE70-96621D06FBB7}">
      <dgm:prSet phldrT="[文本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b="1" dirty="0"/>
            <a:t>单差分对电路</a:t>
          </a:r>
        </a:p>
      </dgm:t>
    </dgm:pt>
    <dgm:pt modelId="{9AEED947-FDCC-480B-918E-8CBB361D059A}" type="parTrans" cxnId="{2AC36E2D-C157-4072-A972-B3DEC23B844C}">
      <dgm:prSet/>
      <dgm:spPr/>
      <dgm:t>
        <a:bodyPr/>
        <a:lstStyle/>
        <a:p>
          <a:endParaRPr lang="zh-CN" altLang="en-US" b="1"/>
        </a:p>
      </dgm:t>
    </dgm:pt>
    <dgm:pt modelId="{44BB6645-FD6E-4F8B-BC2A-A352B6A65A9B}" type="sibTrans" cxnId="{2AC36E2D-C157-4072-A972-B3DEC23B844C}">
      <dgm:prSet/>
      <dgm:spPr/>
      <dgm:t>
        <a:bodyPr/>
        <a:lstStyle/>
        <a:p>
          <a:endParaRPr lang="zh-CN" altLang="en-US" b="1"/>
        </a:p>
      </dgm:t>
    </dgm:pt>
    <dgm:pt modelId="{E37B3C0D-0AE5-4F9C-B392-15212C0B1B3C}">
      <dgm:prSet phldrT="[文本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b="1" dirty="0"/>
            <a:t>双差分对电路</a:t>
          </a:r>
        </a:p>
      </dgm:t>
    </dgm:pt>
    <dgm:pt modelId="{1DADB2F7-9DF1-4A27-934C-F3D4D9B7CADD}" type="parTrans" cxnId="{CF7DEFEF-92EB-4685-89BC-5704D6D9C5C9}">
      <dgm:prSet/>
      <dgm:spPr/>
      <dgm:t>
        <a:bodyPr/>
        <a:lstStyle/>
        <a:p>
          <a:endParaRPr lang="zh-CN" altLang="en-US" b="1"/>
        </a:p>
      </dgm:t>
    </dgm:pt>
    <dgm:pt modelId="{E18417A4-3D03-4D3E-B186-056D562B5661}" type="sibTrans" cxnId="{CF7DEFEF-92EB-4685-89BC-5704D6D9C5C9}">
      <dgm:prSet/>
      <dgm:spPr/>
      <dgm:t>
        <a:bodyPr/>
        <a:lstStyle/>
        <a:p>
          <a:endParaRPr lang="zh-CN" altLang="en-US" b="1"/>
        </a:p>
      </dgm:t>
    </dgm:pt>
    <dgm:pt modelId="{928AF1C1-7C3D-408C-B96D-467D8EB08AB6}" type="pres">
      <dgm:prSet presAssocID="{2CD67779-8487-4ED6-9AA0-27EF3CB91A2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7B73065-8151-427F-907B-DC1C9AFFE1D6}" type="pres">
      <dgm:prSet presAssocID="{68B662BD-BBC3-4CBB-B02C-03BC32CF5551}" presName="root1" presStyleCnt="0"/>
      <dgm:spPr/>
    </dgm:pt>
    <dgm:pt modelId="{612C1903-0E9A-41A2-970D-946EB61EDB4A}" type="pres">
      <dgm:prSet presAssocID="{68B662BD-BBC3-4CBB-B02C-03BC32CF5551}" presName="LevelOneTextNode" presStyleLbl="node0" presStyleIdx="0" presStyleCnt="1" custScaleX="118486">
        <dgm:presLayoutVars>
          <dgm:chPref val="3"/>
        </dgm:presLayoutVars>
      </dgm:prSet>
      <dgm:spPr/>
    </dgm:pt>
    <dgm:pt modelId="{8A63606B-C4EF-415A-9925-792535E92169}" type="pres">
      <dgm:prSet presAssocID="{68B662BD-BBC3-4CBB-B02C-03BC32CF5551}" presName="level2hierChild" presStyleCnt="0"/>
      <dgm:spPr/>
    </dgm:pt>
    <dgm:pt modelId="{5A8C4C03-DA38-4A25-B3AD-9AAB33007470}" type="pres">
      <dgm:prSet presAssocID="{4A86F3DC-5358-42CC-BF17-83A51004D32B}" presName="conn2-1" presStyleLbl="parChTrans1D2" presStyleIdx="0" presStyleCnt="2"/>
      <dgm:spPr/>
    </dgm:pt>
    <dgm:pt modelId="{413839F1-3E35-4F45-BB17-21717741C63E}" type="pres">
      <dgm:prSet presAssocID="{4A86F3DC-5358-42CC-BF17-83A51004D32B}" presName="connTx" presStyleLbl="parChTrans1D2" presStyleIdx="0" presStyleCnt="2"/>
      <dgm:spPr/>
    </dgm:pt>
    <dgm:pt modelId="{0ED97F49-A0EE-476A-8644-978F91751E45}" type="pres">
      <dgm:prSet presAssocID="{C2F8FE3D-FDBE-40EB-9D5A-9DC04FCEBE2C}" presName="root2" presStyleCnt="0"/>
      <dgm:spPr/>
    </dgm:pt>
    <dgm:pt modelId="{7B9E59A3-351F-4FF5-ADC6-59F6D10E816E}" type="pres">
      <dgm:prSet presAssocID="{C2F8FE3D-FDBE-40EB-9D5A-9DC04FCEBE2C}" presName="LevelTwoTextNode" presStyleLbl="node2" presStyleIdx="0" presStyleCnt="2" custScaleX="119126">
        <dgm:presLayoutVars>
          <dgm:chPref val="3"/>
        </dgm:presLayoutVars>
      </dgm:prSet>
      <dgm:spPr/>
    </dgm:pt>
    <dgm:pt modelId="{558D0019-09D9-4E3A-8479-FA6A571871B3}" type="pres">
      <dgm:prSet presAssocID="{C2F8FE3D-FDBE-40EB-9D5A-9DC04FCEBE2C}" presName="level3hierChild" presStyleCnt="0"/>
      <dgm:spPr/>
    </dgm:pt>
    <dgm:pt modelId="{BEF43980-A128-43CA-8BE5-7EF23FD8A3EB}" type="pres">
      <dgm:prSet presAssocID="{2AC05A29-D3A6-41D1-977D-F508DF302965}" presName="conn2-1" presStyleLbl="parChTrans1D3" presStyleIdx="0" presStyleCnt="5"/>
      <dgm:spPr/>
    </dgm:pt>
    <dgm:pt modelId="{F11312DA-D05D-4B63-85A1-430083D84831}" type="pres">
      <dgm:prSet presAssocID="{2AC05A29-D3A6-41D1-977D-F508DF302965}" presName="connTx" presStyleLbl="parChTrans1D3" presStyleIdx="0" presStyleCnt="5"/>
      <dgm:spPr/>
    </dgm:pt>
    <dgm:pt modelId="{78DAB5DF-4168-492B-860B-3DC505925447}" type="pres">
      <dgm:prSet presAssocID="{191FDB45-61F0-4850-9C1F-FE1056699F94}" presName="root2" presStyleCnt="0"/>
      <dgm:spPr/>
    </dgm:pt>
    <dgm:pt modelId="{8055323F-590E-4C6C-A702-B36EF552FA4F}" type="pres">
      <dgm:prSet presAssocID="{191FDB45-61F0-4850-9C1F-FE1056699F94}" presName="LevelTwoTextNode" presStyleLbl="node3" presStyleIdx="0" presStyleCnt="5" custScaleX="127067">
        <dgm:presLayoutVars>
          <dgm:chPref val="3"/>
        </dgm:presLayoutVars>
      </dgm:prSet>
      <dgm:spPr/>
    </dgm:pt>
    <dgm:pt modelId="{74D5B579-D6F5-4C78-B8D5-BB22FEB6FEFD}" type="pres">
      <dgm:prSet presAssocID="{191FDB45-61F0-4850-9C1F-FE1056699F94}" presName="level3hierChild" presStyleCnt="0"/>
      <dgm:spPr/>
    </dgm:pt>
    <dgm:pt modelId="{14C78124-3FD2-4BAA-A2FB-372F7BF39C02}" type="pres">
      <dgm:prSet presAssocID="{0D8DF19E-A9D5-49E4-91D3-DAB79B7006BD}" presName="conn2-1" presStyleLbl="parChTrans1D3" presStyleIdx="1" presStyleCnt="5"/>
      <dgm:spPr/>
    </dgm:pt>
    <dgm:pt modelId="{C7329B91-A58C-4805-99E8-9E684153DB16}" type="pres">
      <dgm:prSet presAssocID="{0D8DF19E-A9D5-49E4-91D3-DAB79B7006BD}" presName="connTx" presStyleLbl="parChTrans1D3" presStyleIdx="1" presStyleCnt="5"/>
      <dgm:spPr/>
    </dgm:pt>
    <dgm:pt modelId="{05F4A5DA-9659-4B36-A885-704B8373DCBC}" type="pres">
      <dgm:prSet presAssocID="{E2B0BA15-BABD-483A-977B-4D4A6AAE137F}" presName="root2" presStyleCnt="0"/>
      <dgm:spPr/>
    </dgm:pt>
    <dgm:pt modelId="{29EF9D3E-A468-49DB-A922-E4B5C2EF4B1C}" type="pres">
      <dgm:prSet presAssocID="{E2B0BA15-BABD-483A-977B-4D4A6AAE137F}" presName="LevelTwoTextNode" presStyleLbl="node3" presStyleIdx="1" presStyleCnt="5" custScaleX="173103">
        <dgm:presLayoutVars>
          <dgm:chPref val="3"/>
        </dgm:presLayoutVars>
      </dgm:prSet>
      <dgm:spPr/>
    </dgm:pt>
    <dgm:pt modelId="{50CB3406-C29A-436D-B378-EA7BE1AFF9BE}" type="pres">
      <dgm:prSet presAssocID="{E2B0BA15-BABD-483A-977B-4D4A6AAE137F}" presName="level3hierChild" presStyleCnt="0"/>
      <dgm:spPr/>
    </dgm:pt>
    <dgm:pt modelId="{C4B0FE83-6D67-436B-9D98-FDDEC8CC8523}" type="pres">
      <dgm:prSet presAssocID="{6001A3B1-9519-45E0-AFB5-0C3A200B7A9D}" presName="conn2-1" presStyleLbl="parChTrans1D3" presStyleIdx="2" presStyleCnt="5"/>
      <dgm:spPr/>
    </dgm:pt>
    <dgm:pt modelId="{C4E6E230-7C94-4A0F-9A10-79E5E1B2EDAB}" type="pres">
      <dgm:prSet presAssocID="{6001A3B1-9519-45E0-AFB5-0C3A200B7A9D}" presName="connTx" presStyleLbl="parChTrans1D3" presStyleIdx="2" presStyleCnt="5"/>
      <dgm:spPr/>
    </dgm:pt>
    <dgm:pt modelId="{A2B64B13-32AD-4739-A175-1AA62CB82DAC}" type="pres">
      <dgm:prSet presAssocID="{91CE56F7-B21E-4AB2-ACD3-CBC0A459AA0B}" presName="root2" presStyleCnt="0"/>
      <dgm:spPr/>
    </dgm:pt>
    <dgm:pt modelId="{F6CA631D-56E0-4E65-B1B8-743EE500C890}" type="pres">
      <dgm:prSet presAssocID="{91CE56F7-B21E-4AB2-ACD3-CBC0A459AA0B}" presName="LevelTwoTextNode" presStyleLbl="node3" presStyleIdx="2" presStyleCnt="5" custScaleX="163175">
        <dgm:presLayoutVars>
          <dgm:chPref val="3"/>
        </dgm:presLayoutVars>
      </dgm:prSet>
      <dgm:spPr/>
    </dgm:pt>
    <dgm:pt modelId="{30A51419-AC7C-48A3-807E-25B6B2EBD1FC}" type="pres">
      <dgm:prSet presAssocID="{91CE56F7-B21E-4AB2-ACD3-CBC0A459AA0B}" presName="level3hierChild" presStyleCnt="0"/>
      <dgm:spPr/>
    </dgm:pt>
    <dgm:pt modelId="{38D602DB-10C0-4AF7-BD62-6EC69C48A102}" type="pres">
      <dgm:prSet presAssocID="{1DC27441-E974-47EC-9205-3AF36813A464}" presName="conn2-1" presStyleLbl="parChTrans1D2" presStyleIdx="1" presStyleCnt="2"/>
      <dgm:spPr/>
    </dgm:pt>
    <dgm:pt modelId="{E09B69B5-F693-4FD6-B22F-64CD020A9B8A}" type="pres">
      <dgm:prSet presAssocID="{1DC27441-E974-47EC-9205-3AF36813A464}" presName="connTx" presStyleLbl="parChTrans1D2" presStyleIdx="1" presStyleCnt="2"/>
      <dgm:spPr/>
    </dgm:pt>
    <dgm:pt modelId="{6416D58F-2025-43F9-9865-1E33FCBBD99F}" type="pres">
      <dgm:prSet presAssocID="{EB5B12FC-EBE1-476C-B687-7564BFF30084}" presName="root2" presStyleCnt="0"/>
      <dgm:spPr/>
    </dgm:pt>
    <dgm:pt modelId="{A5A88A93-8916-4F95-B512-7CC5611DE981}" type="pres">
      <dgm:prSet presAssocID="{EB5B12FC-EBE1-476C-B687-7564BFF30084}" presName="LevelTwoTextNode" presStyleLbl="node2" presStyleIdx="1" presStyleCnt="2" custScaleX="119856">
        <dgm:presLayoutVars>
          <dgm:chPref val="3"/>
        </dgm:presLayoutVars>
      </dgm:prSet>
      <dgm:spPr/>
    </dgm:pt>
    <dgm:pt modelId="{1B0CE51F-8B93-4D2B-BF7C-77756EAE2E15}" type="pres">
      <dgm:prSet presAssocID="{EB5B12FC-EBE1-476C-B687-7564BFF30084}" presName="level3hierChild" presStyleCnt="0"/>
      <dgm:spPr/>
    </dgm:pt>
    <dgm:pt modelId="{39F05F2D-1C2F-4E12-A531-DCCE036991EE}" type="pres">
      <dgm:prSet presAssocID="{9AEED947-FDCC-480B-918E-8CBB361D059A}" presName="conn2-1" presStyleLbl="parChTrans1D3" presStyleIdx="3" presStyleCnt="5"/>
      <dgm:spPr/>
    </dgm:pt>
    <dgm:pt modelId="{ACE77F97-E34F-4742-A3FF-6E80173B55E3}" type="pres">
      <dgm:prSet presAssocID="{9AEED947-FDCC-480B-918E-8CBB361D059A}" presName="connTx" presStyleLbl="parChTrans1D3" presStyleIdx="3" presStyleCnt="5"/>
      <dgm:spPr/>
    </dgm:pt>
    <dgm:pt modelId="{ACB0C80B-5907-49D3-A415-E3177A34AFDA}" type="pres">
      <dgm:prSet presAssocID="{92EA07B4-41E1-4BF0-AE70-96621D06FBB7}" presName="root2" presStyleCnt="0"/>
      <dgm:spPr/>
    </dgm:pt>
    <dgm:pt modelId="{7E0106BE-8C11-486F-96F6-AD47DF541601}" type="pres">
      <dgm:prSet presAssocID="{92EA07B4-41E1-4BF0-AE70-96621D06FBB7}" presName="LevelTwoTextNode" presStyleLbl="node3" presStyleIdx="3" presStyleCnt="5" custScaleX="156852">
        <dgm:presLayoutVars>
          <dgm:chPref val="3"/>
        </dgm:presLayoutVars>
      </dgm:prSet>
      <dgm:spPr/>
    </dgm:pt>
    <dgm:pt modelId="{21F1EA36-9FFA-4BE8-AF1A-B2D4E61D13EF}" type="pres">
      <dgm:prSet presAssocID="{92EA07B4-41E1-4BF0-AE70-96621D06FBB7}" presName="level3hierChild" presStyleCnt="0"/>
      <dgm:spPr/>
    </dgm:pt>
    <dgm:pt modelId="{51967A5C-67A5-4DD5-8EB6-2017C2B063E5}" type="pres">
      <dgm:prSet presAssocID="{1DADB2F7-9DF1-4A27-934C-F3D4D9B7CADD}" presName="conn2-1" presStyleLbl="parChTrans1D3" presStyleIdx="4" presStyleCnt="5"/>
      <dgm:spPr/>
    </dgm:pt>
    <dgm:pt modelId="{6167FE0E-2442-43BA-9DEA-93464FA9B197}" type="pres">
      <dgm:prSet presAssocID="{1DADB2F7-9DF1-4A27-934C-F3D4D9B7CADD}" presName="connTx" presStyleLbl="parChTrans1D3" presStyleIdx="4" presStyleCnt="5"/>
      <dgm:spPr/>
    </dgm:pt>
    <dgm:pt modelId="{2A9AB4A4-7F98-417A-9361-23A736365BB0}" type="pres">
      <dgm:prSet presAssocID="{E37B3C0D-0AE5-4F9C-B392-15212C0B1B3C}" presName="root2" presStyleCnt="0"/>
      <dgm:spPr/>
    </dgm:pt>
    <dgm:pt modelId="{A1007826-E0D7-4B47-9B4A-C7167C15DCE5}" type="pres">
      <dgm:prSet presAssocID="{E37B3C0D-0AE5-4F9C-B392-15212C0B1B3C}" presName="LevelTwoTextNode" presStyleLbl="node3" presStyleIdx="4" presStyleCnt="5" custScaleX="156852">
        <dgm:presLayoutVars>
          <dgm:chPref val="3"/>
        </dgm:presLayoutVars>
      </dgm:prSet>
      <dgm:spPr/>
    </dgm:pt>
    <dgm:pt modelId="{47EC88BC-4323-4B84-9E5D-BEABBCCDDA1D}" type="pres">
      <dgm:prSet presAssocID="{E37B3C0D-0AE5-4F9C-B392-15212C0B1B3C}" presName="level3hierChild" presStyleCnt="0"/>
      <dgm:spPr/>
    </dgm:pt>
  </dgm:ptLst>
  <dgm:cxnLst>
    <dgm:cxn modelId="{2CD47B07-EA80-48AD-B641-4D25E2619031}" type="presOf" srcId="{2AC05A29-D3A6-41D1-977D-F508DF302965}" destId="{BEF43980-A128-43CA-8BE5-7EF23FD8A3EB}" srcOrd="0" destOrd="0" presId="urn:microsoft.com/office/officeart/2005/8/layout/hierarchy2"/>
    <dgm:cxn modelId="{DC3ED514-86AE-48D5-9531-3C41E079217B}" type="presOf" srcId="{1DC27441-E974-47EC-9205-3AF36813A464}" destId="{E09B69B5-F693-4FD6-B22F-64CD020A9B8A}" srcOrd="1" destOrd="0" presId="urn:microsoft.com/office/officeart/2005/8/layout/hierarchy2"/>
    <dgm:cxn modelId="{1F0AC117-8121-4CC4-BDEC-B630F0B16346}" type="presOf" srcId="{1DADB2F7-9DF1-4A27-934C-F3D4D9B7CADD}" destId="{51967A5C-67A5-4DD5-8EB6-2017C2B063E5}" srcOrd="0" destOrd="0" presId="urn:microsoft.com/office/officeart/2005/8/layout/hierarchy2"/>
    <dgm:cxn modelId="{646F8C29-3926-4711-8754-08877A4ED38B}" type="presOf" srcId="{EB5B12FC-EBE1-476C-B687-7564BFF30084}" destId="{A5A88A93-8916-4F95-B512-7CC5611DE981}" srcOrd="0" destOrd="0" presId="urn:microsoft.com/office/officeart/2005/8/layout/hierarchy2"/>
    <dgm:cxn modelId="{36CD852B-EA3F-48D4-A84F-19D2FCE91BAD}" type="presOf" srcId="{C2F8FE3D-FDBE-40EB-9D5A-9DC04FCEBE2C}" destId="{7B9E59A3-351F-4FF5-ADC6-59F6D10E816E}" srcOrd="0" destOrd="0" presId="urn:microsoft.com/office/officeart/2005/8/layout/hierarchy2"/>
    <dgm:cxn modelId="{2AC36E2D-C157-4072-A972-B3DEC23B844C}" srcId="{EB5B12FC-EBE1-476C-B687-7564BFF30084}" destId="{92EA07B4-41E1-4BF0-AE70-96621D06FBB7}" srcOrd="0" destOrd="0" parTransId="{9AEED947-FDCC-480B-918E-8CBB361D059A}" sibTransId="{44BB6645-FD6E-4F8B-BC2A-A352B6A65A9B}"/>
    <dgm:cxn modelId="{7CC14431-F7BF-40CC-90EB-0EFA18A8B234}" type="presOf" srcId="{6001A3B1-9519-45E0-AFB5-0C3A200B7A9D}" destId="{C4B0FE83-6D67-436B-9D98-FDDEC8CC8523}" srcOrd="0" destOrd="0" presId="urn:microsoft.com/office/officeart/2005/8/layout/hierarchy2"/>
    <dgm:cxn modelId="{6BD09443-2681-471B-86A8-FE5C69200676}" srcId="{2CD67779-8487-4ED6-9AA0-27EF3CB91A21}" destId="{68B662BD-BBC3-4CBB-B02C-03BC32CF5551}" srcOrd="0" destOrd="0" parTransId="{738F2C26-4D17-4EDF-9393-406339FFCA5B}" sibTransId="{67A8C7B1-C432-4580-BB14-4645DD83CFE0}"/>
    <dgm:cxn modelId="{B4264965-B4C8-43E0-81C1-0DDCA434C6E7}" type="presOf" srcId="{2CD67779-8487-4ED6-9AA0-27EF3CB91A21}" destId="{928AF1C1-7C3D-408C-B96D-467D8EB08AB6}" srcOrd="0" destOrd="0" presId="urn:microsoft.com/office/officeart/2005/8/layout/hierarchy2"/>
    <dgm:cxn modelId="{EC1CE247-87F5-4DE2-8C00-01DC2EB71C55}" srcId="{C2F8FE3D-FDBE-40EB-9D5A-9DC04FCEBE2C}" destId="{91CE56F7-B21E-4AB2-ACD3-CBC0A459AA0B}" srcOrd="2" destOrd="0" parTransId="{6001A3B1-9519-45E0-AFB5-0C3A200B7A9D}" sibTransId="{FAFB55F5-D955-4E41-A7A5-B7F9DA900D64}"/>
    <dgm:cxn modelId="{7176BC69-5881-4E89-92A6-3C432BCB79D8}" type="presOf" srcId="{4A86F3DC-5358-42CC-BF17-83A51004D32B}" destId="{5A8C4C03-DA38-4A25-B3AD-9AAB33007470}" srcOrd="0" destOrd="0" presId="urn:microsoft.com/office/officeart/2005/8/layout/hierarchy2"/>
    <dgm:cxn modelId="{1810494F-2CB3-48D9-B6DB-DCC1E5BE9076}" type="presOf" srcId="{E37B3C0D-0AE5-4F9C-B392-15212C0B1B3C}" destId="{A1007826-E0D7-4B47-9B4A-C7167C15DCE5}" srcOrd="0" destOrd="0" presId="urn:microsoft.com/office/officeart/2005/8/layout/hierarchy2"/>
    <dgm:cxn modelId="{E2382054-A977-4B63-B3BE-3E877F8C5303}" type="presOf" srcId="{1DADB2F7-9DF1-4A27-934C-F3D4D9B7CADD}" destId="{6167FE0E-2442-43BA-9DEA-93464FA9B197}" srcOrd="1" destOrd="0" presId="urn:microsoft.com/office/officeart/2005/8/layout/hierarchy2"/>
    <dgm:cxn modelId="{43C01655-1680-4540-B022-717863D4FC79}" type="presOf" srcId="{6001A3B1-9519-45E0-AFB5-0C3A200B7A9D}" destId="{C4E6E230-7C94-4A0F-9A10-79E5E1B2EDAB}" srcOrd="1" destOrd="0" presId="urn:microsoft.com/office/officeart/2005/8/layout/hierarchy2"/>
    <dgm:cxn modelId="{6C20EC5A-FE2A-4BBA-AE07-DC927B75425F}" type="presOf" srcId="{191FDB45-61F0-4850-9C1F-FE1056699F94}" destId="{8055323F-590E-4C6C-A702-B36EF552FA4F}" srcOrd="0" destOrd="0" presId="urn:microsoft.com/office/officeart/2005/8/layout/hierarchy2"/>
    <dgm:cxn modelId="{C9F96881-8E01-44C8-A06E-C026BB5BFE0D}" type="presOf" srcId="{92EA07B4-41E1-4BF0-AE70-96621D06FBB7}" destId="{7E0106BE-8C11-486F-96F6-AD47DF541601}" srcOrd="0" destOrd="0" presId="urn:microsoft.com/office/officeart/2005/8/layout/hierarchy2"/>
    <dgm:cxn modelId="{4B37BB87-8264-46B8-A093-47E67656ED2E}" type="presOf" srcId="{0D8DF19E-A9D5-49E4-91D3-DAB79B7006BD}" destId="{C7329B91-A58C-4805-99E8-9E684153DB16}" srcOrd="1" destOrd="0" presId="urn:microsoft.com/office/officeart/2005/8/layout/hierarchy2"/>
    <dgm:cxn modelId="{7951C58A-5369-4E84-9C4F-0C0ED1E1632F}" type="presOf" srcId="{9AEED947-FDCC-480B-918E-8CBB361D059A}" destId="{ACE77F97-E34F-4742-A3FF-6E80173B55E3}" srcOrd="1" destOrd="0" presId="urn:microsoft.com/office/officeart/2005/8/layout/hierarchy2"/>
    <dgm:cxn modelId="{528DD78A-42E3-4F78-8A2F-78C0593C8B16}" srcId="{C2F8FE3D-FDBE-40EB-9D5A-9DC04FCEBE2C}" destId="{191FDB45-61F0-4850-9C1F-FE1056699F94}" srcOrd="0" destOrd="0" parTransId="{2AC05A29-D3A6-41D1-977D-F508DF302965}" sibTransId="{9C4ED287-C3FF-4406-8FE8-264602384A83}"/>
    <dgm:cxn modelId="{8EF8348B-6830-4598-B382-61D4604E2B3E}" srcId="{C2F8FE3D-FDBE-40EB-9D5A-9DC04FCEBE2C}" destId="{E2B0BA15-BABD-483A-977B-4D4A6AAE137F}" srcOrd="1" destOrd="0" parTransId="{0D8DF19E-A9D5-49E4-91D3-DAB79B7006BD}" sibTransId="{516B9C97-650F-4ACC-91C9-1BA547CC1697}"/>
    <dgm:cxn modelId="{AF0DC38D-B581-48A3-8B58-B124D14980CE}" type="presOf" srcId="{1DC27441-E974-47EC-9205-3AF36813A464}" destId="{38D602DB-10C0-4AF7-BD62-6EC69C48A102}" srcOrd="0" destOrd="0" presId="urn:microsoft.com/office/officeart/2005/8/layout/hierarchy2"/>
    <dgm:cxn modelId="{64CBDA91-86EA-4FA7-9817-57C7FAC467BA}" type="presOf" srcId="{0D8DF19E-A9D5-49E4-91D3-DAB79B7006BD}" destId="{14C78124-3FD2-4BAA-A2FB-372F7BF39C02}" srcOrd="0" destOrd="0" presId="urn:microsoft.com/office/officeart/2005/8/layout/hierarchy2"/>
    <dgm:cxn modelId="{413B6996-D03D-4DC9-B00B-D3B9610FB9D8}" type="presOf" srcId="{2AC05A29-D3A6-41D1-977D-F508DF302965}" destId="{F11312DA-D05D-4B63-85A1-430083D84831}" srcOrd="1" destOrd="0" presId="urn:microsoft.com/office/officeart/2005/8/layout/hierarchy2"/>
    <dgm:cxn modelId="{780814B3-2D26-483D-AFA1-DCD216719208}" srcId="{68B662BD-BBC3-4CBB-B02C-03BC32CF5551}" destId="{C2F8FE3D-FDBE-40EB-9D5A-9DC04FCEBE2C}" srcOrd="0" destOrd="0" parTransId="{4A86F3DC-5358-42CC-BF17-83A51004D32B}" sibTransId="{E0F2FFB4-E195-450B-A361-9FFD3D6255C1}"/>
    <dgm:cxn modelId="{59E42AC0-F5D1-41B8-8AEE-B0C556EA7F31}" type="presOf" srcId="{68B662BD-BBC3-4CBB-B02C-03BC32CF5551}" destId="{612C1903-0E9A-41A2-970D-946EB61EDB4A}" srcOrd="0" destOrd="0" presId="urn:microsoft.com/office/officeart/2005/8/layout/hierarchy2"/>
    <dgm:cxn modelId="{0178B0DD-B945-4B83-98A3-C2AEF7A2E1CF}" type="presOf" srcId="{4A86F3DC-5358-42CC-BF17-83A51004D32B}" destId="{413839F1-3E35-4F45-BB17-21717741C63E}" srcOrd="1" destOrd="0" presId="urn:microsoft.com/office/officeart/2005/8/layout/hierarchy2"/>
    <dgm:cxn modelId="{A42370E8-287C-47B0-9C74-7EE3BBA4EC3F}" type="presOf" srcId="{9AEED947-FDCC-480B-918E-8CBB361D059A}" destId="{39F05F2D-1C2F-4E12-A531-DCCE036991EE}" srcOrd="0" destOrd="0" presId="urn:microsoft.com/office/officeart/2005/8/layout/hierarchy2"/>
    <dgm:cxn modelId="{CF7DEFEF-92EB-4685-89BC-5704D6D9C5C9}" srcId="{EB5B12FC-EBE1-476C-B687-7564BFF30084}" destId="{E37B3C0D-0AE5-4F9C-B392-15212C0B1B3C}" srcOrd="1" destOrd="0" parTransId="{1DADB2F7-9DF1-4A27-934C-F3D4D9B7CADD}" sibTransId="{E18417A4-3D03-4D3E-B186-056D562B5661}"/>
    <dgm:cxn modelId="{65A0B0F3-150E-41A0-BCA0-39DD399C065F}" type="presOf" srcId="{E2B0BA15-BABD-483A-977B-4D4A6AAE137F}" destId="{29EF9D3E-A468-49DB-A922-E4B5C2EF4B1C}" srcOrd="0" destOrd="0" presId="urn:microsoft.com/office/officeart/2005/8/layout/hierarchy2"/>
    <dgm:cxn modelId="{F0D925FA-736B-4DE9-887C-0D9698B5E734}" type="presOf" srcId="{91CE56F7-B21E-4AB2-ACD3-CBC0A459AA0B}" destId="{F6CA631D-56E0-4E65-B1B8-743EE500C890}" srcOrd="0" destOrd="0" presId="urn:microsoft.com/office/officeart/2005/8/layout/hierarchy2"/>
    <dgm:cxn modelId="{08F47CFE-3C92-4FEC-9080-8251357FCDBF}" srcId="{68B662BD-BBC3-4CBB-B02C-03BC32CF5551}" destId="{EB5B12FC-EBE1-476C-B687-7564BFF30084}" srcOrd="1" destOrd="0" parTransId="{1DC27441-E974-47EC-9205-3AF36813A464}" sibTransId="{02FEAEA7-FD7C-4D1F-9049-E68AD5AAA8F2}"/>
    <dgm:cxn modelId="{81F29DF3-D986-4C0A-B757-F26468C0C7A1}" type="presParOf" srcId="{928AF1C1-7C3D-408C-B96D-467D8EB08AB6}" destId="{F7B73065-8151-427F-907B-DC1C9AFFE1D6}" srcOrd="0" destOrd="0" presId="urn:microsoft.com/office/officeart/2005/8/layout/hierarchy2"/>
    <dgm:cxn modelId="{23560BD9-1A64-4E32-8916-BCED9E59B171}" type="presParOf" srcId="{F7B73065-8151-427F-907B-DC1C9AFFE1D6}" destId="{612C1903-0E9A-41A2-970D-946EB61EDB4A}" srcOrd="0" destOrd="0" presId="urn:microsoft.com/office/officeart/2005/8/layout/hierarchy2"/>
    <dgm:cxn modelId="{AA79EF55-E0E3-4167-B478-A56EFD7F7C86}" type="presParOf" srcId="{F7B73065-8151-427F-907B-DC1C9AFFE1D6}" destId="{8A63606B-C4EF-415A-9925-792535E92169}" srcOrd="1" destOrd="0" presId="urn:microsoft.com/office/officeart/2005/8/layout/hierarchy2"/>
    <dgm:cxn modelId="{D38DB9FD-459F-4172-AECD-DC7260EF332A}" type="presParOf" srcId="{8A63606B-C4EF-415A-9925-792535E92169}" destId="{5A8C4C03-DA38-4A25-B3AD-9AAB33007470}" srcOrd="0" destOrd="0" presId="urn:microsoft.com/office/officeart/2005/8/layout/hierarchy2"/>
    <dgm:cxn modelId="{8E11C28A-814D-4A27-B72D-55FA1799299C}" type="presParOf" srcId="{5A8C4C03-DA38-4A25-B3AD-9AAB33007470}" destId="{413839F1-3E35-4F45-BB17-21717741C63E}" srcOrd="0" destOrd="0" presId="urn:microsoft.com/office/officeart/2005/8/layout/hierarchy2"/>
    <dgm:cxn modelId="{137AE718-8E92-4F2E-A5C6-0A7014922BFC}" type="presParOf" srcId="{8A63606B-C4EF-415A-9925-792535E92169}" destId="{0ED97F49-A0EE-476A-8644-978F91751E45}" srcOrd="1" destOrd="0" presId="urn:microsoft.com/office/officeart/2005/8/layout/hierarchy2"/>
    <dgm:cxn modelId="{1FD1B3BF-C0C8-47B5-9D42-C4AEE59A3982}" type="presParOf" srcId="{0ED97F49-A0EE-476A-8644-978F91751E45}" destId="{7B9E59A3-351F-4FF5-ADC6-59F6D10E816E}" srcOrd="0" destOrd="0" presId="urn:microsoft.com/office/officeart/2005/8/layout/hierarchy2"/>
    <dgm:cxn modelId="{0D61C7DA-C230-4F77-A5D5-090B66B9DEE2}" type="presParOf" srcId="{0ED97F49-A0EE-476A-8644-978F91751E45}" destId="{558D0019-09D9-4E3A-8479-FA6A571871B3}" srcOrd="1" destOrd="0" presId="urn:microsoft.com/office/officeart/2005/8/layout/hierarchy2"/>
    <dgm:cxn modelId="{01363913-8FD3-42C9-AA76-A284C5E6C54E}" type="presParOf" srcId="{558D0019-09D9-4E3A-8479-FA6A571871B3}" destId="{BEF43980-A128-43CA-8BE5-7EF23FD8A3EB}" srcOrd="0" destOrd="0" presId="urn:microsoft.com/office/officeart/2005/8/layout/hierarchy2"/>
    <dgm:cxn modelId="{0777932F-44C5-41E2-BE54-939212A23BEB}" type="presParOf" srcId="{BEF43980-A128-43CA-8BE5-7EF23FD8A3EB}" destId="{F11312DA-D05D-4B63-85A1-430083D84831}" srcOrd="0" destOrd="0" presId="urn:microsoft.com/office/officeart/2005/8/layout/hierarchy2"/>
    <dgm:cxn modelId="{23A70419-A1DE-4D8C-A4C6-C8BC944DFF11}" type="presParOf" srcId="{558D0019-09D9-4E3A-8479-FA6A571871B3}" destId="{78DAB5DF-4168-492B-860B-3DC505925447}" srcOrd="1" destOrd="0" presId="urn:microsoft.com/office/officeart/2005/8/layout/hierarchy2"/>
    <dgm:cxn modelId="{3D6081F9-EABC-4549-9CE4-5C7FE16F0A07}" type="presParOf" srcId="{78DAB5DF-4168-492B-860B-3DC505925447}" destId="{8055323F-590E-4C6C-A702-B36EF552FA4F}" srcOrd="0" destOrd="0" presId="urn:microsoft.com/office/officeart/2005/8/layout/hierarchy2"/>
    <dgm:cxn modelId="{CBE22822-C2FF-4FC5-8427-0CD874624BC0}" type="presParOf" srcId="{78DAB5DF-4168-492B-860B-3DC505925447}" destId="{74D5B579-D6F5-4C78-B8D5-BB22FEB6FEFD}" srcOrd="1" destOrd="0" presId="urn:microsoft.com/office/officeart/2005/8/layout/hierarchy2"/>
    <dgm:cxn modelId="{2867CE86-6E23-442C-A4E1-4FAAC8730125}" type="presParOf" srcId="{558D0019-09D9-4E3A-8479-FA6A571871B3}" destId="{14C78124-3FD2-4BAA-A2FB-372F7BF39C02}" srcOrd="2" destOrd="0" presId="urn:microsoft.com/office/officeart/2005/8/layout/hierarchy2"/>
    <dgm:cxn modelId="{3A2B0D2D-C23D-461B-8779-E17F37E1B146}" type="presParOf" srcId="{14C78124-3FD2-4BAA-A2FB-372F7BF39C02}" destId="{C7329B91-A58C-4805-99E8-9E684153DB16}" srcOrd="0" destOrd="0" presId="urn:microsoft.com/office/officeart/2005/8/layout/hierarchy2"/>
    <dgm:cxn modelId="{D279CF83-2BF4-4DAF-8E99-50AF3F2CBE40}" type="presParOf" srcId="{558D0019-09D9-4E3A-8479-FA6A571871B3}" destId="{05F4A5DA-9659-4B36-A885-704B8373DCBC}" srcOrd="3" destOrd="0" presId="urn:microsoft.com/office/officeart/2005/8/layout/hierarchy2"/>
    <dgm:cxn modelId="{29FE820D-7AC6-42DF-B0DB-586E32300437}" type="presParOf" srcId="{05F4A5DA-9659-4B36-A885-704B8373DCBC}" destId="{29EF9D3E-A468-49DB-A922-E4B5C2EF4B1C}" srcOrd="0" destOrd="0" presId="urn:microsoft.com/office/officeart/2005/8/layout/hierarchy2"/>
    <dgm:cxn modelId="{12ED1FC7-60FD-49D1-B45A-2E63BF25503F}" type="presParOf" srcId="{05F4A5DA-9659-4B36-A885-704B8373DCBC}" destId="{50CB3406-C29A-436D-B378-EA7BE1AFF9BE}" srcOrd="1" destOrd="0" presId="urn:microsoft.com/office/officeart/2005/8/layout/hierarchy2"/>
    <dgm:cxn modelId="{26D745F2-4EFD-466E-AE38-669FA0B5A2F8}" type="presParOf" srcId="{558D0019-09D9-4E3A-8479-FA6A571871B3}" destId="{C4B0FE83-6D67-436B-9D98-FDDEC8CC8523}" srcOrd="4" destOrd="0" presId="urn:microsoft.com/office/officeart/2005/8/layout/hierarchy2"/>
    <dgm:cxn modelId="{F4500C43-431D-4B3C-BD57-DD36D3ACD1E4}" type="presParOf" srcId="{C4B0FE83-6D67-436B-9D98-FDDEC8CC8523}" destId="{C4E6E230-7C94-4A0F-9A10-79E5E1B2EDAB}" srcOrd="0" destOrd="0" presId="urn:microsoft.com/office/officeart/2005/8/layout/hierarchy2"/>
    <dgm:cxn modelId="{B384C5FA-8A22-4152-99EB-9181A6BA4F27}" type="presParOf" srcId="{558D0019-09D9-4E3A-8479-FA6A571871B3}" destId="{A2B64B13-32AD-4739-A175-1AA62CB82DAC}" srcOrd="5" destOrd="0" presId="urn:microsoft.com/office/officeart/2005/8/layout/hierarchy2"/>
    <dgm:cxn modelId="{79A303C0-EF4E-43C2-8280-7A734CDE2612}" type="presParOf" srcId="{A2B64B13-32AD-4739-A175-1AA62CB82DAC}" destId="{F6CA631D-56E0-4E65-B1B8-743EE500C890}" srcOrd="0" destOrd="0" presId="urn:microsoft.com/office/officeart/2005/8/layout/hierarchy2"/>
    <dgm:cxn modelId="{BEE330E2-EAA6-4B4E-903F-8BDC11A15C7C}" type="presParOf" srcId="{A2B64B13-32AD-4739-A175-1AA62CB82DAC}" destId="{30A51419-AC7C-48A3-807E-25B6B2EBD1FC}" srcOrd="1" destOrd="0" presId="urn:microsoft.com/office/officeart/2005/8/layout/hierarchy2"/>
    <dgm:cxn modelId="{938A482B-092D-4A5A-862E-D7D925AF8C36}" type="presParOf" srcId="{8A63606B-C4EF-415A-9925-792535E92169}" destId="{38D602DB-10C0-4AF7-BD62-6EC69C48A102}" srcOrd="2" destOrd="0" presId="urn:microsoft.com/office/officeart/2005/8/layout/hierarchy2"/>
    <dgm:cxn modelId="{F1916ABC-A10F-4A8D-8966-EF5F180DFB49}" type="presParOf" srcId="{38D602DB-10C0-4AF7-BD62-6EC69C48A102}" destId="{E09B69B5-F693-4FD6-B22F-64CD020A9B8A}" srcOrd="0" destOrd="0" presId="urn:microsoft.com/office/officeart/2005/8/layout/hierarchy2"/>
    <dgm:cxn modelId="{EB788A47-F711-4225-BD71-79277C1AF992}" type="presParOf" srcId="{8A63606B-C4EF-415A-9925-792535E92169}" destId="{6416D58F-2025-43F9-9865-1E33FCBBD99F}" srcOrd="3" destOrd="0" presId="urn:microsoft.com/office/officeart/2005/8/layout/hierarchy2"/>
    <dgm:cxn modelId="{CD9C38A7-3041-4D62-813A-26F1DFB5DA1C}" type="presParOf" srcId="{6416D58F-2025-43F9-9865-1E33FCBBD99F}" destId="{A5A88A93-8916-4F95-B512-7CC5611DE981}" srcOrd="0" destOrd="0" presId="urn:microsoft.com/office/officeart/2005/8/layout/hierarchy2"/>
    <dgm:cxn modelId="{07E9A37B-E64D-45B9-AB2F-017163D28581}" type="presParOf" srcId="{6416D58F-2025-43F9-9865-1E33FCBBD99F}" destId="{1B0CE51F-8B93-4D2B-BF7C-77756EAE2E15}" srcOrd="1" destOrd="0" presId="urn:microsoft.com/office/officeart/2005/8/layout/hierarchy2"/>
    <dgm:cxn modelId="{2CE624CA-38AC-463C-B932-0DE5AD5B0C8E}" type="presParOf" srcId="{1B0CE51F-8B93-4D2B-BF7C-77756EAE2E15}" destId="{39F05F2D-1C2F-4E12-A531-DCCE036991EE}" srcOrd="0" destOrd="0" presId="urn:microsoft.com/office/officeart/2005/8/layout/hierarchy2"/>
    <dgm:cxn modelId="{6DA60ECF-F19C-44C0-94C1-7076BEC1FC9E}" type="presParOf" srcId="{39F05F2D-1C2F-4E12-A531-DCCE036991EE}" destId="{ACE77F97-E34F-4742-A3FF-6E80173B55E3}" srcOrd="0" destOrd="0" presId="urn:microsoft.com/office/officeart/2005/8/layout/hierarchy2"/>
    <dgm:cxn modelId="{6147B289-9459-4AD0-BD98-FA18FE982D9D}" type="presParOf" srcId="{1B0CE51F-8B93-4D2B-BF7C-77756EAE2E15}" destId="{ACB0C80B-5907-49D3-A415-E3177A34AFDA}" srcOrd="1" destOrd="0" presId="urn:microsoft.com/office/officeart/2005/8/layout/hierarchy2"/>
    <dgm:cxn modelId="{BD7B7A60-7A7C-440A-AAFC-47A44978B7D3}" type="presParOf" srcId="{ACB0C80B-5907-49D3-A415-E3177A34AFDA}" destId="{7E0106BE-8C11-486F-96F6-AD47DF541601}" srcOrd="0" destOrd="0" presId="urn:microsoft.com/office/officeart/2005/8/layout/hierarchy2"/>
    <dgm:cxn modelId="{937E6D6E-95D7-4358-A48F-3F7C6FEEC618}" type="presParOf" srcId="{ACB0C80B-5907-49D3-A415-E3177A34AFDA}" destId="{21F1EA36-9FFA-4BE8-AF1A-B2D4E61D13EF}" srcOrd="1" destOrd="0" presId="urn:microsoft.com/office/officeart/2005/8/layout/hierarchy2"/>
    <dgm:cxn modelId="{D6FD0C9D-D92B-4667-ACE5-F25AA7422118}" type="presParOf" srcId="{1B0CE51F-8B93-4D2B-BF7C-77756EAE2E15}" destId="{51967A5C-67A5-4DD5-8EB6-2017C2B063E5}" srcOrd="2" destOrd="0" presId="urn:microsoft.com/office/officeart/2005/8/layout/hierarchy2"/>
    <dgm:cxn modelId="{CFD6BD85-8ECF-435C-8C65-D3BB1BAACCC4}" type="presParOf" srcId="{51967A5C-67A5-4DD5-8EB6-2017C2B063E5}" destId="{6167FE0E-2442-43BA-9DEA-93464FA9B197}" srcOrd="0" destOrd="0" presId="urn:microsoft.com/office/officeart/2005/8/layout/hierarchy2"/>
    <dgm:cxn modelId="{2B015557-4524-4734-BC62-F899873E928D}" type="presParOf" srcId="{1B0CE51F-8B93-4D2B-BF7C-77756EAE2E15}" destId="{2A9AB4A4-7F98-417A-9361-23A736365BB0}" srcOrd="3" destOrd="0" presId="urn:microsoft.com/office/officeart/2005/8/layout/hierarchy2"/>
    <dgm:cxn modelId="{048772C3-7AEF-4084-B18A-7F96917C3CA6}" type="presParOf" srcId="{2A9AB4A4-7F98-417A-9361-23A736365BB0}" destId="{A1007826-E0D7-4B47-9B4A-C7167C15DCE5}" srcOrd="0" destOrd="0" presId="urn:microsoft.com/office/officeart/2005/8/layout/hierarchy2"/>
    <dgm:cxn modelId="{676B0E9E-8A16-499D-A7F9-8FD5B9F111BD}" type="presParOf" srcId="{2A9AB4A4-7F98-417A-9361-23A736365BB0}" destId="{47EC88BC-4323-4B84-9E5D-BEABBCCDDA1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2C1903-0E9A-41A2-970D-946EB61EDB4A}">
      <dsp:nvSpPr>
        <dsp:cNvPr id="0" name=""/>
        <dsp:cNvSpPr/>
      </dsp:nvSpPr>
      <dsp:spPr>
        <a:xfrm>
          <a:off x="362016" y="1877876"/>
          <a:ext cx="1718731" cy="725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/>
            <a:t>调制与解调</a:t>
          </a:r>
        </a:p>
      </dsp:txBody>
      <dsp:txXfrm>
        <a:off x="383259" y="1899119"/>
        <a:ext cx="1676245" cy="682803"/>
      </dsp:txXfrm>
    </dsp:sp>
    <dsp:sp modelId="{5A8C4C03-DA38-4A25-B3AD-9AAB33007470}">
      <dsp:nvSpPr>
        <dsp:cNvPr id="0" name=""/>
        <dsp:cNvSpPr/>
      </dsp:nvSpPr>
      <dsp:spPr>
        <a:xfrm rot="17945813">
          <a:off x="1774271" y="1703157"/>
          <a:ext cx="119318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93184" y="16062"/>
              </a:lnTo>
            </a:path>
          </a:pathLst>
        </a:custGeom>
        <a:noFill/>
        <a:ln w="264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2341034" y="1689389"/>
        <a:ext cx="59659" cy="59659"/>
      </dsp:txXfrm>
    </dsp:sp>
    <dsp:sp modelId="{7B9E59A3-351F-4FF5-ADC6-59F6D10E816E}">
      <dsp:nvSpPr>
        <dsp:cNvPr id="0" name=""/>
        <dsp:cNvSpPr/>
      </dsp:nvSpPr>
      <dsp:spPr>
        <a:xfrm>
          <a:off x="2660979" y="835273"/>
          <a:ext cx="1450578" cy="7252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/>
            <a:t>调幅</a:t>
          </a:r>
        </a:p>
      </dsp:txBody>
      <dsp:txXfrm>
        <a:off x="2682222" y="856516"/>
        <a:ext cx="1408092" cy="682803"/>
      </dsp:txXfrm>
    </dsp:sp>
    <dsp:sp modelId="{BEF43980-A128-43CA-8BE5-7EF23FD8A3EB}">
      <dsp:nvSpPr>
        <dsp:cNvPr id="0" name=""/>
        <dsp:cNvSpPr/>
      </dsp:nvSpPr>
      <dsp:spPr>
        <a:xfrm rot="18289469">
          <a:off x="3893647" y="764814"/>
          <a:ext cx="101605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6052" y="16062"/>
              </a:lnTo>
            </a:path>
          </a:pathLst>
        </a:custGeom>
        <a:noFill/>
        <a:ln w="264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376272" y="755475"/>
        <a:ext cx="50802" cy="50802"/>
      </dsp:txXfrm>
    </dsp:sp>
    <dsp:sp modelId="{8055323F-590E-4C6C-A702-B36EF552FA4F}">
      <dsp:nvSpPr>
        <dsp:cNvPr id="0" name=""/>
        <dsp:cNvSpPr/>
      </dsp:nvSpPr>
      <dsp:spPr>
        <a:xfrm>
          <a:off x="4691789" y="1190"/>
          <a:ext cx="1450578" cy="7252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/>
            <a:t>AM</a:t>
          </a:r>
          <a:endParaRPr lang="zh-CN" altLang="en-US" sz="2400" b="1" kern="1200" dirty="0"/>
        </a:p>
      </dsp:txBody>
      <dsp:txXfrm>
        <a:off x="4713032" y="22433"/>
        <a:ext cx="1408092" cy="682803"/>
      </dsp:txXfrm>
    </dsp:sp>
    <dsp:sp modelId="{14C78124-3FD2-4BAA-A2FB-372F7BF39C02}">
      <dsp:nvSpPr>
        <dsp:cNvPr id="0" name=""/>
        <dsp:cNvSpPr/>
      </dsp:nvSpPr>
      <dsp:spPr>
        <a:xfrm>
          <a:off x="4111557" y="1181855"/>
          <a:ext cx="58023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80231" y="16062"/>
              </a:lnTo>
            </a:path>
          </a:pathLst>
        </a:custGeom>
        <a:noFill/>
        <a:ln w="264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387167" y="1183411"/>
        <a:ext cx="29011" cy="29011"/>
      </dsp:txXfrm>
    </dsp:sp>
    <dsp:sp modelId="{29EF9D3E-A468-49DB-A922-E4B5C2EF4B1C}">
      <dsp:nvSpPr>
        <dsp:cNvPr id="0" name=""/>
        <dsp:cNvSpPr/>
      </dsp:nvSpPr>
      <dsp:spPr>
        <a:xfrm>
          <a:off x="4691789" y="835273"/>
          <a:ext cx="1450578" cy="7252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/>
            <a:t>DSB</a:t>
          </a:r>
          <a:endParaRPr lang="zh-CN" altLang="en-US" sz="2400" b="1" kern="1200" dirty="0"/>
        </a:p>
      </dsp:txBody>
      <dsp:txXfrm>
        <a:off x="4713032" y="856516"/>
        <a:ext cx="1408092" cy="682803"/>
      </dsp:txXfrm>
    </dsp:sp>
    <dsp:sp modelId="{C4B0FE83-6D67-436B-9D98-FDDEC8CC8523}">
      <dsp:nvSpPr>
        <dsp:cNvPr id="0" name=""/>
        <dsp:cNvSpPr/>
      </dsp:nvSpPr>
      <dsp:spPr>
        <a:xfrm rot="3310531">
          <a:off x="3893647" y="1598896"/>
          <a:ext cx="101605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6052" y="16062"/>
              </a:lnTo>
            </a:path>
          </a:pathLst>
        </a:custGeom>
        <a:noFill/>
        <a:ln w="264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376272" y="1589557"/>
        <a:ext cx="50802" cy="50802"/>
      </dsp:txXfrm>
    </dsp:sp>
    <dsp:sp modelId="{F6CA631D-56E0-4E65-B1B8-743EE500C890}">
      <dsp:nvSpPr>
        <dsp:cNvPr id="0" name=""/>
        <dsp:cNvSpPr/>
      </dsp:nvSpPr>
      <dsp:spPr>
        <a:xfrm>
          <a:off x="4691789" y="1669355"/>
          <a:ext cx="1450578" cy="7252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/>
            <a:t>SSB</a:t>
          </a:r>
          <a:endParaRPr lang="zh-CN" altLang="en-US" sz="2400" b="1" kern="1200" dirty="0"/>
        </a:p>
      </dsp:txBody>
      <dsp:txXfrm>
        <a:off x="4713032" y="1690598"/>
        <a:ext cx="1408092" cy="682803"/>
      </dsp:txXfrm>
    </dsp:sp>
    <dsp:sp modelId="{38D602DB-10C0-4AF7-BD62-6EC69C48A102}">
      <dsp:nvSpPr>
        <dsp:cNvPr id="0" name=""/>
        <dsp:cNvSpPr/>
      </dsp:nvSpPr>
      <dsp:spPr>
        <a:xfrm rot="3654187">
          <a:off x="1774271" y="2745760"/>
          <a:ext cx="119318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93184" y="16062"/>
              </a:lnTo>
            </a:path>
          </a:pathLst>
        </a:custGeom>
        <a:noFill/>
        <a:ln w="264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2341034" y="2731992"/>
        <a:ext cx="59659" cy="59659"/>
      </dsp:txXfrm>
    </dsp:sp>
    <dsp:sp modelId="{A5A88A93-8916-4F95-B512-7CC5611DE981}">
      <dsp:nvSpPr>
        <dsp:cNvPr id="0" name=""/>
        <dsp:cNvSpPr/>
      </dsp:nvSpPr>
      <dsp:spPr>
        <a:xfrm>
          <a:off x="2660979" y="2920479"/>
          <a:ext cx="1450578" cy="7252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/>
            <a:t>调角</a:t>
          </a:r>
        </a:p>
      </dsp:txBody>
      <dsp:txXfrm>
        <a:off x="2682222" y="2941722"/>
        <a:ext cx="1408092" cy="682803"/>
      </dsp:txXfrm>
    </dsp:sp>
    <dsp:sp modelId="{39F05F2D-1C2F-4E12-A531-DCCE036991EE}">
      <dsp:nvSpPr>
        <dsp:cNvPr id="0" name=""/>
        <dsp:cNvSpPr/>
      </dsp:nvSpPr>
      <dsp:spPr>
        <a:xfrm rot="19457599">
          <a:off x="4044395" y="3058541"/>
          <a:ext cx="71455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14556" y="16062"/>
              </a:lnTo>
            </a:path>
          </a:pathLst>
        </a:custGeom>
        <a:noFill/>
        <a:ln w="264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383809" y="3056739"/>
        <a:ext cx="35727" cy="35727"/>
      </dsp:txXfrm>
    </dsp:sp>
    <dsp:sp modelId="{7E0106BE-8C11-486F-96F6-AD47DF541601}">
      <dsp:nvSpPr>
        <dsp:cNvPr id="0" name=""/>
        <dsp:cNvSpPr/>
      </dsp:nvSpPr>
      <dsp:spPr>
        <a:xfrm>
          <a:off x="4691789" y="2503437"/>
          <a:ext cx="1450578" cy="7252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/>
            <a:t>FM</a:t>
          </a:r>
          <a:endParaRPr lang="zh-CN" altLang="en-US" sz="2400" b="1" kern="1200" dirty="0"/>
        </a:p>
      </dsp:txBody>
      <dsp:txXfrm>
        <a:off x="4713032" y="2524680"/>
        <a:ext cx="1408092" cy="682803"/>
      </dsp:txXfrm>
    </dsp:sp>
    <dsp:sp modelId="{51967A5C-67A5-4DD5-8EB6-2017C2B063E5}">
      <dsp:nvSpPr>
        <dsp:cNvPr id="0" name=""/>
        <dsp:cNvSpPr/>
      </dsp:nvSpPr>
      <dsp:spPr>
        <a:xfrm rot="2142401">
          <a:off x="4044395" y="3475582"/>
          <a:ext cx="71455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14556" y="16062"/>
              </a:lnTo>
            </a:path>
          </a:pathLst>
        </a:custGeom>
        <a:noFill/>
        <a:ln w="264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383809" y="3473780"/>
        <a:ext cx="35727" cy="35727"/>
      </dsp:txXfrm>
    </dsp:sp>
    <dsp:sp modelId="{A1007826-E0D7-4B47-9B4A-C7167C15DCE5}">
      <dsp:nvSpPr>
        <dsp:cNvPr id="0" name=""/>
        <dsp:cNvSpPr/>
      </dsp:nvSpPr>
      <dsp:spPr>
        <a:xfrm>
          <a:off x="4691789" y="3337520"/>
          <a:ext cx="1450578" cy="72528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b="1" kern="1200" dirty="0"/>
            <a:t>PM</a:t>
          </a:r>
          <a:endParaRPr lang="zh-CN" altLang="en-US" sz="2400" b="1" kern="1200" dirty="0"/>
        </a:p>
      </dsp:txBody>
      <dsp:txXfrm>
        <a:off x="4713032" y="3358763"/>
        <a:ext cx="1408092" cy="682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2C1903-0E9A-41A2-970D-946EB61EDB4A}">
      <dsp:nvSpPr>
        <dsp:cNvPr id="0" name=""/>
        <dsp:cNvSpPr/>
      </dsp:nvSpPr>
      <dsp:spPr>
        <a:xfrm>
          <a:off x="293325" y="1877876"/>
          <a:ext cx="1718731" cy="725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b="1" kern="1200" dirty="0"/>
            <a:t>乘法器电路</a:t>
          </a:r>
        </a:p>
      </dsp:txBody>
      <dsp:txXfrm>
        <a:off x="314568" y="1899119"/>
        <a:ext cx="1676245" cy="682803"/>
      </dsp:txXfrm>
    </dsp:sp>
    <dsp:sp modelId="{5A8C4C03-DA38-4A25-B3AD-9AAB33007470}">
      <dsp:nvSpPr>
        <dsp:cNvPr id="0" name=""/>
        <dsp:cNvSpPr/>
      </dsp:nvSpPr>
      <dsp:spPr>
        <a:xfrm rot="17945813">
          <a:off x="1705581" y="1703157"/>
          <a:ext cx="119318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93184" y="16062"/>
              </a:lnTo>
            </a:path>
          </a:pathLst>
        </a:custGeom>
        <a:noFill/>
        <a:ln w="264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2272343" y="1689389"/>
        <a:ext cx="59659" cy="59659"/>
      </dsp:txXfrm>
    </dsp:sp>
    <dsp:sp modelId="{7B9E59A3-351F-4FF5-ADC6-59F6D10E816E}">
      <dsp:nvSpPr>
        <dsp:cNvPr id="0" name=""/>
        <dsp:cNvSpPr/>
      </dsp:nvSpPr>
      <dsp:spPr>
        <a:xfrm>
          <a:off x="2592289" y="835273"/>
          <a:ext cx="1728015" cy="7252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b="1" kern="1200" dirty="0"/>
            <a:t>由二极管构成的乘法器</a:t>
          </a:r>
        </a:p>
      </dsp:txBody>
      <dsp:txXfrm>
        <a:off x="2613532" y="856516"/>
        <a:ext cx="1685529" cy="682803"/>
      </dsp:txXfrm>
    </dsp:sp>
    <dsp:sp modelId="{BEF43980-A128-43CA-8BE5-7EF23FD8A3EB}">
      <dsp:nvSpPr>
        <dsp:cNvPr id="0" name=""/>
        <dsp:cNvSpPr/>
      </dsp:nvSpPr>
      <dsp:spPr>
        <a:xfrm rot="18289469">
          <a:off x="4102394" y="764814"/>
          <a:ext cx="101605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6052" y="16062"/>
              </a:lnTo>
            </a:path>
          </a:pathLst>
        </a:custGeom>
        <a:noFill/>
        <a:ln w="264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585019" y="755475"/>
        <a:ext cx="50802" cy="50802"/>
      </dsp:txXfrm>
    </dsp:sp>
    <dsp:sp modelId="{8055323F-590E-4C6C-A702-B36EF552FA4F}">
      <dsp:nvSpPr>
        <dsp:cNvPr id="0" name=""/>
        <dsp:cNvSpPr/>
      </dsp:nvSpPr>
      <dsp:spPr>
        <a:xfrm>
          <a:off x="4900535" y="1190"/>
          <a:ext cx="1843206" cy="72528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50000"/>
                <a:shade val="86000"/>
                <a:satMod val="140000"/>
              </a:schemeClr>
            </a:gs>
            <a:gs pos="45000">
              <a:schemeClr val="accent6">
                <a:tint val="48000"/>
                <a:satMod val="150000"/>
              </a:schemeClr>
            </a:gs>
            <a:gs pos="100000">
              <a:schemeClr val="accent6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6"/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b="1" kern="1200" dirty="0"/>
            <a:t>单个二极管</a:t>
          </a:r>
        </a:p>
      </dsp:txBody>
      <dsp:txXfrm>
        <a:off x="4921778" y="22433"/>
        <a:ext cx="1800720" cy="682803"/>
      </dsp:txXfrm>
    </dsp:sp>
    <dsp:sp modelId="{14C78124-3FD2-4BAA-A2FB-372F7BF39C02}">
      <dsp:nvSpPr>
        <dsp:cNvPr id="0" name=""/>
        <dsp:cNvSpPr/>
      </dsp:nvSpPr>
      <dsp:spPr>
        <a:xfrm>
          <a:off x="4320304" y="1181855"/>
          <a:ext cx="58023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80231" y="16062"/>
              </a:lnTo>
            </a:path>
          </a:pathLst>
        </a:custGeom>
        <a:noFill/>
        <a:ln w="264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595914" y="1183411"/>
        <a:ext cx="29011" cy="29011"/>
      </dsp:txXfrm>
    </dsp:sp>
    <dsp:sp modelId="{29EF9D3E-A468-49DB-A922-E4B5C2EF4B1C}">
      <dsp:nvSpPr>
        <dsp:cNvPr id="0" name=""/>
        <dsp:cNvSpPr/>
      </dsp:nvSpPr>
      <dsp:spPr>
        <a:xfrm>
          <a:off x="4900535" y="835273"/>
          <a:ext cx="2510994" cy="72528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50000"/>
                <a:shade val="86000"/>
                <a:satMod val="140000"/>
              </a:schemeClr>
            </a:gs>
            <a:gs pos="45000">
              <a:schemeClr val="accent6">
                <a:tint val="48000"/>
                <a:satMod val="150000"/>
              </a:schemeClr>
            </a:gs>
            <a:gs pos="100000">
              <a:schemeClr val="accent6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6"/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b="1" kern="1200" dirty="0"/>
            <a:t>二极管单平衡电路</a:t>
          </a:r>
        </a:p>
      </dsp:txBody>
      <dsp:txXfrm>
        <a:off x="4921778" y="856516"/>
        <a:ext cx="2468508" cy="682803"/>
      </dsp:txXfrm>
    </dsp:sp>
    <dsp:sp modelId="{C4B0FE83-6D67-436B-9D98-FDDEC8CC8523}">
      <dsp:nvSpPr>
        <dsp:cNvPr id="0" name=""/>
        <dsp:cNvSpPr/>
      </dsp:nvSpPr>
      <dsp:spPr>
        <a:xfrm rot="3310531">
          <a:off x="4102394" y="1598896"/>
          <a:ext cx="101605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16052" y="16062"/>
              </a:lnTo>
            </a:path>
          </a:pathLst>
        </a:custGeom>
        <a:noFill/>
        <a:ln w="264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585019" y="1589557"/>
        <a:ext cx="50802" cy="50802"/>
      </dsp:txXfrm>
    </dsp:sp>
    <dsp:sp modelId="{F6CA631D-56E0-4E65-B1B8-743EE500C890}">
      <dsp:nvSpPr>
        <dsp:cNvPr id="0" name=""/>
        <dsp:cNvSpPr/>
      </dsp:nvSpPr>
      <dsp:spPr>
        <a:xfrm>
          <a:off x="4900535" y="1669355"/>
          <a:ext cx="2366980" cy="72528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50000"/>
                <a:shade val="86000"/>
                <a:satMod val="140000"/>
              </a:schemeClr>
            </a:gs>
            <a:gs pos="45000">
              <a:schemeClr val="accent6">
                <a:tint val="48000"/>
                <a:satMod val="150000"/>
              </a:schemeClr>
            </a:gs>
            <a:gs pos="100000">
              <a:schemeClr val="accent6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6"/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b="1" kern="1200" dirty="0"/>
            <a:t>二极管双平衡电路</a:t>
          </a:r>
        </a:p>
      </dsp:txBody>
      <dsp:txXfrm>
        <a:off x="4921778" y="1690598"/>
        <a:ext cx="2324494" cy="682803"/>
      </dsp:txXfrm>
    </dsp:sp>
    <dsp:sp modelId="{38D602DB-10C0-4AF7-BD62-6EC69C48A102}">
      <dsp:nvSpPr>
        <dsp:cNvPr id="0" name=""/>
        <dsp:cNvSpPr/>
      </dsp:nvSpPr>
      <dsp:spPr>
        <a:xfrm rot="3654187">
          <a:off x="1705581" y="2745760"/>
          <a:ext cx="119318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193184" y="16062"/>
              </a:lnTo>
            </a:path>
          </a:pathLst>
        </a:custGeom>
        <a:noFill/>
        <a:ln w="264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2272343" y="2731992"/>
        <a:ext cx="59659" cy="59659"/>
      </dsp:txXfrm>
    </dsp:sp>
    <dsp:sp modelId="{A5A88A93-8916-4F95-B512-7CC5611DE981}">
      <dsp:nvSpPr>
        <dsp:cNvPr id="0" name=""/>
        <dsp:cNvSpPr/>
      </dsp:nvSpPr>
      <dsp:spPr>
        <a:xfrm>
          <a:off x="2592289" y="2920479"/>
          <a:ext cx="1738604" cy="72528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b="1" kern="1200" dirty="0"/>
            <a:t>由差分对构成的乘法器</a:t>
          </a:r>
        </a:p>
      </dsp:txBody>
      <dsp:txXfrm>
        <a:off x="2613532" y="2941722"/>
        <a:ext cx="1696118" cy="682803"/>
      </dsp:txXfrm>
    </dsp:sp>
    <dsp:sp modelId="{39F05F2D-1C2F-4E12-A531-DCCE036991EE}">
      <dsp:nvSpPr>
        <dsp:cNvPr id="0" name=""/>
        <dsp:cNvSpPr/>
      </dsp:nvSpPr>
      <dsp:spPr>
        <a:xfrm rot="19457599">
          <a:off x="4263731" y="3058541"/>
          <a:ext cx="71455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14556" y="16062"/>
              </a:lnTo>
            </a:path>
          </a:pathLst>
        </a:custGeom>
        <a:noFill/>
        <a:ln w="264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603145" y="3056739"/>
        <a:ext cx="35727" cy="35727"/>
      </dsp:txXfrm>
    </dsp:sp>
    <dsp:sp modelId="{7E0106BE-8C11-486F-96F6-AD47DF541601}">
      <dsp:nvSpPr>
        <dsp:cNvPr id="0" name=""/>
        <dsp:cNvSpPr/>
      </dsp:nvSpPr>
      <dsp:spPr>
        <a:xfrm>
          <a:off x="4911125" y="2503437"/>
          <a:ext cx="2275260" cy="72528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50000"/>
                <a:shade val="86000"/>
                <a:satMod val="140000"/>
              </a:schemeClr>
            </a:gs>
            <a:gs pos="45000">
              <a:schemeClr val="accent6">
                <a:tint val="48000"/>
                <a:satMod val="150000"/>
              </a:schemeClr>
            </a:gs>
            <a:gs pos="100000">
              <a:schemeClr val="accent6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6"/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b="1" kern="1200" dirty="0"/>
            <a:t>单差分对电路</a:t>
          </a:r>
        </a:p>
      </dsp:txBody>
      <dsp:txXfrm>
        <a:off x="4932368" y="2524680"/>
        <a:ext cx="2232774" cy="682803"/>
      </dsp:txXfrm>
    </dsp:sp>
    <dsp:sp modelId="{51967A5C-67A5-4DD5-8EB6-2017C2B063E5}">
      <dsp:nvSpPr>
        <dsp:cNvPr id="0" name=""/>
        <dsp:cNvSpPr/>
      </dsp:nvSpPr>
      <dsp:spPr>
        <a:xfrm rot="2142401">
          <a:off x="4263731" y="3475582"/>
          <a:ext cx="714556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14556" y="16062"/>
              </a:lnTo>
            </a:path>
          </a:pathLst>
        </a:custGeom>
        <a:noFill/>
        <a:ln w="264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603145" y="3473780"/>
        <a:ext cx="35727" cy="35727"/>
      </dsp:txXfrm>
    </dsp:sp>
    <dsp:sp modelId="{A1007826-E0D7-4B47-9B4A-C7167C15DCE5}">
      <dsp:nvSpPr>
        <dsp:cNvPr id="0" name=""/>
        <dsp:cNvSpPr/>
      </dsp:nvSpPr>
      <dsp:spPr>
        <a:xfrm>
          <a:off x="4911125" y="3337520"/>
          <a:ext cx="2275260" cy="72528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50000"/>
                <a:shade val="86000"/>
                <a:satMod val="140000"/>
              </a:schemeClr>
            </a:gs>
            <a:gs pos="45000">
              <a:schemeClr val="accent6">
                <a:tint val="48000"/>
                <a:satMod val="150000"/>
              </a:schemeClr>
            </a:gs>
            <a:gs pos="100000">
              <a:schemeClr val="accent6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6"/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b="1" kern="1200" dirty="0"/>
            <a:t>双差分对电路</a:t>
          </a:r>
        </a:p>
      </dsp:txBody>
      <dsp:txXfrm>
        <a:off x="4932368" y="3358763"/>
        <a:ext cx="2232774" cy="682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DE12A-B0F3-4209-832E-68DA1B60F52D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E2778-8E3D-4D3E-AEFE-67309512D9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49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9D8DBB-57A6-4759-A5F9-9B90725E48BD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B64FBF-5420-4877-9750-829E9D54C793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FD2E51-2170-4F9F-8AA6-E8E28005F106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FA953B-9871-4B73-A83D-96A01617FB11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A8968-417A-4216-B6CA-5F0EB765D0D6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67252E-1BB7-4E7F-A573-6F22A2AFBE84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5B6C2-ACE4-4854-8661-EA90430F0C05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57FEEE-3A5D-4689-8E10-955A744F6D39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56D6A-CB0F-4638-A3B7-89EEFCB33BAE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528" y="673819"/>
            <a:ext cx="8496944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2975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568952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28" y="1484784"/>
            <a:ext cx="8568952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5/31/2026</a:t>
            </a:fld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endParaRPr kumimoji="0" lang="en-US" sz="800" dirty="0">
              <a:solidFill>
                <a:schemeClr val="accent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‹#›</a:t>
            </a:fld>
            <a:endParaRPr kumimoji="0" lang="en-US" sz="1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  <p:sldLayoutId id="214748404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16.png"/><Relationship Id="rId7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.w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7.wmf"/><Relationship Id="rId7" Type="http://schemas.openxmlformats.org/officeDocument/2006/relationships/oleObject" Target="../embeddings/oleObject5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5" Type="http://schemas.openxmlformats.org/officeDocument/2006/relationships/image" Target="../media/image215.png"/><Relationship Id="rId10" Type="http://schemas.openxmlformats.org/officeDocument/2006/relationships/image" Target="../media/image10.wmf"/><Relationship Id="rId9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oleObject" Target="../embeddings/oleObject7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image" Target="../media/image2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15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4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1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9.png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5" Type="http://schemas.openxmlformats.org/officeDocument/2006/relationships/image" Target="../media/image30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png"/><Relationship Id="rId3" Type="http://schemas.openxmlformats.org/officeDocument/2006/relationships/image" Target="../media/image36.png"/><Relationship Id="rId7" Type="http://schemas.openxmlformats.org/officeDocument/2006/relationships/image" Target="../media/image2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wmf"/><Relationship Id="rId10" Type="http://schemas.openxmlformats.org/officeDocument/2006/relationships/image" Target="../media/image32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1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383.png"/><Relationship Id="rId2" Type="http://schemas.openxmlformats.org/officeDocument/2006/relationships/image" Target="../media/image45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1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0.png"/><Relationship Id="rId4" Type="http://schemas.openxmlformats.org/officeDocument/2006/relationships/image" Target="../media/image30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../media/image62.png"/><Relationship Id="rId3" Type="http://schemas.openxmlformats.org/officeDocument/2006/relationships/image" Target="../media/image56.png"/><Relationship Id="rId7" Type="http://schemas.openxmlformats.org/officeDocument/2006/relationships/oleObject" Target="../embeddings/oleObject180.bin"/><Relationship Id="rId1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wmf"/><Relationship Id="rId11" Type="http://schemas.openxmlformats.org/officeDocument/2006/relationships/image" Target="../media/image60.png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59.png"/><Relationship Id="rId4" Type="http://schemas.openxmlformats.org/officeDocument/2006/relationships/image" Target="../media/image52.emf"/><Relationship Id="rId9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期末复习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98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535AB-9CBB-FD4B-C121-06D20701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考试信息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72181-BC49-1C08-F9E9-474B09E07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题型分值：</a:t>
            </a:r>
          </a:p>
          <a:p>
            <a:pPr lvl="1"/>
            <a:r>
              <a:rPr lang="zh-CN" altLang="en-US" dirty="0"/>
              <a:t>填空</a:t>
            </a:r>
            <a:r>
              <a:rPr lang="en-US" altLang="zh-CN" dirty="0"/>
              <a:t>5</a:t>
            </a:r>
            <a:r>
              <a:rPr lang="zh-CN" altLang="en-US" dirty="0"/>
              <a:t>题，</a:t>
            </a:r>
            <a:r>
              <a:rPr lang="en-US" altLang="zh-CN" dirty="0"/>
              <a:t>10</a:t>
            </a:r>
            <a:r>
              <a:rPr lang="zh-CN" altLang="en-US" dirty="0"/>
              <a:t>分</a:t>
            </a:r>
          </a:p>
          <a:p>
            <a:pPr lvl="1"/>
            <a:r>
              <a:rPr lang="zh-CN" altLang="en-US" dirty="0"/>
              <a:t>选择</a:t>
            </a:r>
            <a:r>
              <a:rPr lang="en-US" altLang="zh-CN" dirty="0"/>
              <a:t>5</a:t>
            </a:r>
            <a:r>
              <a:rPr lang="zh-CN" altLang="en-US" dirty="0"/>
              <a:t>题，</a:t>
            </a:r>
            <a:r>
              <a:rPr lang="en-US" altLang="zh-CN" dirty="0"/>
              <a:t>10</a:t>
            </a:r>
            <a:r>
              <a:rPr lang="zh-CN" altLang="en-US" dirty="0"/>
              <a:t>分</a:t>
            </a:r>
          </a:p>
          <a:p>
            <a:r>
              <a:rPr lang="zh-CN" altLang="en-US" dirty="0"/>
              <a:t>综合题</a:t>
            </a:r>
            <a:r>
              <a:rPr lang="en-US" altLang="zh-CN" dirty="0"/>
              <a:t>6</a:t>
            </a:r>
            <a:r>
              <a:rPr lang="zh-CN" altLang="en-US" dirty="0"/>
              <a:t>题，</a:t>
            </a:r>
            <a:r>
              <a:rPr lang="en-US" altLang="zh-CN" dirty="0"/>
              <a:t>80</a:t>
            </a:r>
            <a:r>
              <a:rPr lang="zh-CN" altLang="en-US" dirty="0"/>
              <a:t>分</a:t>
            </a:r>
          </a:p>
          <a:p>
            <a:r>
              <a:rPr lang="zh-CN" altLang="en-US" dirty="0"/>
              <a:t>考试时间：</a:t>
            </a:r>
            <a:r>
              <a:rPr lang="en-US" altLang="zh-CN" dirty="0"/>
              <a:t>100</a:t>
            </a:r>
            <a:r>
              <a:rPr lang="zh-CN" altLang="en-US" dirty="0"/>
              <a:t>分钟</a:t>
            </a:r>
          </a:p>
          <a:p>
            <a:pPr lvl="1"/>
            <a:r>
              <a:rPr lang="zh-CN" altLang="en-US" dirty="0"/>
              <a:t>不能携带计算器</a:t>
            </a:r>
          </a:p>
        </p:txBody>
      </p:sp>
    </p:spTree>
    <p:extLst>
      <p:ext uri="{BB962C8B-B14F-4D97-AF65-F5344CB8AC3E}">
        <p14:creationId xmlns:p14="http://schemas.microsoft.com/office/powerpoint/2010/main" val="173503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0" y="4410927"/>
            <a:ext cx="1265504" cy="458233"/>
          </a:xfrm>
          <a:prstGeom prst="rect">
            <a:avLst/>
          </a:prstGeom>
          <a:solidFill>
            <a:srgbClr val="00B050">
              <a:alpha val="40000"/>
            </a:srgbClr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42795" y="4293096"/>
                <a:ext cx="4189288" cy="5724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𝒄</m:t>
                          </m:r>
                        </m:sub>
                      </m:sSub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𝒕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𝒄𝒎</m:t>
                          </m:r>
                        </m:sub>
                      </m:sSub>
                      <m:r>
                        <a:rPr lang="en-US" altLang="zh-CN" b="1" i="0" smtClean="0">
                          <a:latin typeface="Cambria Math"/>
                        </a:rPr>
                        <m:t>𝐜𝐨𝐬</m:t>
                      </m:r>
                      <m:r>
                        <a:rPr lang="en-US" altLang="zh-CN" b="1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smtClean="0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𝒄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𝒕</m:t>
                      </m:r>
                      <m:r>
                        <a:rPr lang="en-US" altLang="zh-CN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 smtClean="0">
                              <a:latin typeface="Cambria Math"/>
                            </a:rPr>
                            <m:t>𝝋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altLang="zh-CN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795" y="4293096"/>
                <a:ext cx="4189288" cy="57246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84784"/>
            <a:ext cx="8568952" cy="2808312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调制：用待传输低频信号去控制一个等幅高频信号的参数，使该参数根据调制信号发生规律变化。解调是调制的逆过程。</a:t>
            </a:r>
            <a:endParaRPr lang="en-US" altLang="zh-CN" sz="2800" dirty="0"/>
          </a:p>
          <a:p>
            <a:pPr lvl="1"/>
            <a:r>
              <a:rPr lang="zh-CN" altLang="en-US" sz="2400" dirty="0"/>
              <a:t>低频信号称为</a:t>
            </a:r>
            <a:r>
              <a:rPr lang="zh-CN" altLang="en-US" sz="2400" b="1" dirty="0">
                <a:solidFill>
                  <a:srgbClr val="C00000"/>
                </a:solidFill>
              </a:rPr>
              <a:t>调制信号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2400" dirty="0"/>
              <a:t>高频信号称为 </a:t>
            </a:r>
            <a:r>
              <a:rPr lang="zh-CN" altLang="en-US" sz="2400" b="1" dirty="0">
                <a:solidFill>
                  <a:srgbClr val="C00000"/>
                </a:solidFill>
              </a:rPr>
              <a:t>载波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/>
            <a:r>
              <a:rPr lang="zh-CN" altLang="en-US" sz="2400" dirty="0"/>
              <a:t>调制后的信号称为</a:t>
            </a:r>
            <a:r>
              <a:rPr lang="zh-CN" altLang="en-US" sz="2400" b="1" dirty="0">
                <a:solidFill>
                  <a:srgbClr val="C00000"/>
                </a:solidFill>
              </a:rPr>
              <a:t>已调波（包括调幅波、调频波和调相波）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/>
            <a:endParaRPr lang="en-US" altLang="zh-CN" sz="24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调制与解调基本概念</a:t>
            </a:r>
          </a:p>
        </p:txBody>
      </p:sp>
      <p:sp>
        <p:nvSpPr>
          <p:cNvPr id="5" name="矩形 4"/>
          <p:cNvSpPr/>
          <p:nvPr/>
        </p:nvSpPr>
        <p:spPr>
          <a:xfrm>
            <a:off x="3227997" y="4407327"/>
            <a:ext cx="624863" cy="458233"/>
          </a:xfrm>
          <a:prstGeom prst="rect">
            <a:avLst/>
          </a:prstGeom>
          <a:solidFill>
            <a:srgbClr val="C00000">
              <a:alpha val="40000"/>
            </a:srgbClr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4499992" y="4407326"/>
            <a:ext cx="387990" cy="458233"/>
          </a:xfrm>
          <a:prstGeom prst="rect">
            <a:avLst/>
          </a:prstGeom>
          <a:solidFill>
            <a:srgbClr val="0000FF">
              <a:alpha val="40000"/>
            </a:srgbClr>
          </a:solidFill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sp>
        <p:nvSpPr>
          <p:cNvPr id="15" name="线形标注 2 14"/>
          <p:cNvSpPr/>
          <p:nvPr/>
        </p:nvSpPr>
        <p:spPr>
          <a:xfrm>
            <a:off x="2737002" y="5532775"/>
            <a:ext cx="803426" cy="493148"/>
          </a:xfrm>
          <a:prstGeom prst="borderCallout2">
            <a:avLst>
              <a:gd name="adj1" fmla="val -4766"/>
              <a:gd name="adj2" fmla="val 47922"/>
              <a:gd name="adj3" fmla="val -90490"/>
              <a:gd name="adj4" fmla="val 49729"/>
              <a:gd name="adj5" fmla="val -124830"/>
              <a:gd name="adj6" fmla="val 92099"/>
            </a:avLst>
          </a:prstGeom>
          <a:solidFill>
            <a:srgbClr val="C00000">
              <a:alpha val="41000"/>
            </a:srgbClr>
          </a:solidFill>
          <a:ln>
            <a:solidFill>
              <a:srgbClr val="C0000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2400" dirty="0"/>
              <a:t>调幅</a:t>
            </a:r>
          </a:p>
        </p:txBody>
      </p:sp>
      <p:sp>
        <p:nvSpPr>
          <p:cNvPr id="16" name="线形标注 2 15"/>
          <p:cNvSpPr/>
          <p:nvPr/>
        </p:nvSpPr>
        <p:spPr>
          <a:xfrm>
            <a:off x="4321999" y="5520473"/>
            <a:ext cx="803425" cy="493148"/>
          </a:xfrm>
          <a:prstGeom prst="borderCallout2">
            <a:avLst>
              <a:gd name="adj1" fmla="val -4766"/>
              <a:gd name="adj2" fmla="val 47922"/>
              <a:gd name="adj3" fmla="val -43399"/>
              <a:gd name="adj4" fmla="val 47922"/>
              <a:gd name="adj5" fmla="val -121887"/>
              <a:gd name="adj6" fmla="val 48741"/>
            </a:avLst>
          </a:prstGeom>
          <a:solidFill>
            <a:srgbClr val="0000FF">
              <a:alpha val="41000"/>
            </a:srgbClr>
          </a:solidFill>
          <a:ln>
            <a:solidFill>
              <a:srgbClr val="0000FF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2400" dirty="0"/>
              <a:t>调频</a:t>
            </a:r>
          </a:p>
        </p:txBody>
      </p:sp>
      <p:sp>
        <p:nvSpPr>
          <p:cNvPr id="17" name="线形标注 2 16"/>
          <p:cNvSpPr/>
          <p:nvPr/>
        </p:nvSpPr>
        <p:spPr>
          <a:xfrm>
            <a:off x="5730370" y="5532775"/>
            <a:ext cx="803425" cy="493148"/>
          </a:xfrm>
          <a:prstGeom prst="borderCallout2">
            <a:avLst>
              <a:gd name="adj1" fmla="val -4766"/>
              <a:gd name="adj2" fmla="val 47922"/>
              <a:gd name="adj3" fmla="val -93433"/>
              <a:gd name="adj4" fmla="val 46115"/>
              <a:gd name="adj5" fmla="val -133659"/>
              <a:gd name="adj6" fmla="val -19908"/>
            </a:avLst>
          </a:prstGeom>
          <a:solidFill>
            <a:srgbClr val="00B050">
              <a:alpha val="41000"/>
            </a:srgbClr>
          </a:solidFill>
          <a:ln>
            <a:solidFill>
              <a:srgbClr val="00B050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2400" dirty="0"/>
              <a:t>调相</a:t>
            </a:r>
          </a:p>
        </p:txBody>
      </p:sp>
    </p:spTree>
    <p:extLst>
      <p:ext uri="{BB962C8B-B14F-4D97-AF65-F5344CB8AC3E}">
        <p14:creationId xmlns:p14="http://schemas.microsoft.com/office/powerpoint/2010/main" val="335519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/>
      <p:bldP spid="5" grpId="0" animBg="1"/>
      <p:bldP spid="6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692696"/>
            <a:ext cx="8568952" cy="5832648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三种调制的定义：</a:t>
            </a:r>
            <a:endParaRPr lang="en-US" altLang="zh-CN" sz="2800" dirty="0"/>
          </a:p>
          <a:p>
            <a:pPr lvl="1"/>
            <a:r>
              <a:rPr lang="zh-CN" altLang="en-US" sz="2400" dirty="0"/>
              <a:t>调幅（</a:t>
            </a:r>
            <a:r>
              <a:rPr lang="en-US" altLang="zh-CN" sz="2400" dirty="0"/>
              <a:t>AM</a:t>
            </a:r>
            <a:r>
              <a:rPr lang="zh-CN" altLang="en-US" sz="2400" dirty="0"/>
              <a:t>）：载波的幅度与调制信号成线性关系；</a:t>
            </a:r>
            <a:endParaRPr lang="en-US" altLang="zh-CN" sz="2400" dirty="0"/>
          </a:p>
          <a:p>
            <a:pPr lvl="1"/>
            <a:r>
              <a:rPr lang="zh-CN" altLang="en-US" sz="2400" dirty="0"/>
              <a:t>调频（</a:t>
            </a:r>
            <a:r>
              <a:rPr lang="en-US" altLang="zh-CN" sz="2400" dirty="0"/>
              <a:t>FM</a:t>
            </a:r>
            <a:r>
              <a:rPr lang="zh-CN" altLang="en-US" sz="2400" dirty="0"/>
              <a:t>）：载波的频率与调制信号成线性关系；</a:t>
            </a:r>
            <a:endParaRPr lang="en-US" altLang="zh-CN" sz="2400" dirty="0"/>
          </a:p>
          <a:p>
            <a:pPr lvl="1"/>
            <a:r>
              <a:rPr lang="zh-CN" altLang="en-US" sz="2400" dirty="0"/>
              <a:t>调相（</a:t>
            </a:r>
            <a:r>
              <a:rPr lang="en-US" altLang="zh-CN" sz="2400" dirty="0"/>
              <a:t>PM</a:t>
            </a:r>
            <a:r>
              <a:rPr lang="zh-CN" altLang="en-US" sz="2400" dirty="0"/>
              <a:t>）：载波的相位与调制信号成线性关系。</a:t>
            </a:r>
            <a:endParaRPr lang="en-US" altLang="zh-CN" sz="2800" dirty="0"/>
          </a:p>
          <a:p>
            <a:r>
              <a:rPr lang="zh-CN" altLang="en-US" sz="2800" dirty="0"/>
              <a:t>解调是调制的逆过程，从高频已调波中把低频调制信号恢复出来。</a:t>
            </a:r>
            <a:endParaRPr lang="en-US" altLang="zh-CN" sz="2800" dirty="0"/>
          </a:p>
          <a:p>
            <a:pPr lvl="1"/>
            <a:r>
              <a:rPr lang="zh-CN" altLang="en-US" sz="2400" dirty="0">
                <a:solidFill>
                  <a:srgbClr val="FF3300"/>
                </a:solidFill>
              </a:rPr>
              <a:t>调幅</a:t>
            </a:r>
            <a:r>
              <a:rPr lang="zh-CN" altLang="en-US" sz="2400" dirty="0"/>
              <a:t>（幅度调制）</a:t>
            </a:r>
            <a:r>
              <a:rPr lang="en-US" altLang="zh-CN" sz="2400" dirty="0"/>
              <a:t>AM </a:t>
            </a:r>
            <a:r>
              <a:rPr lang="zh-CN" altLang="en-US" sz="2400" dirty="0"/>
              <a:t>，其解调过程叫</a:t>
            </a:r>
            <a:r>
              <a:rPr lang="zh-CN" altLang="en-US" sz="2400" dirty="0">
                <a:solidFill>
                  <a:srgbClr val="FF3300"/>
                </a:solidFill>
              </a:rPr>
              <a:t>检波</a:t>
            </a:r>
            <a:r>
              <a:rPr lang="zh-CN" altLang="en-US" sz="2400" dirty="0"/>
              <a:t>，或幅度解调；</a:t>
            </a:r>
            <a:endParaRPr lang="en-US" altLang="zh-CN" sz="2400" dirty="0"/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调频</a:t>
            </a:r>
            <a:r>
              <a:rPr lang="zh-CN" altLang="en-US" sz="2400" dirty="0"/>
              <a:t>（频率调制）</a:t>
            </a:r>
            <a:r>
              <a:rPr lang="en-US" altLang="zh-CN" sz="2400" dirty="0"/>
              <a:t>FM </a:t>
            </a:r>
            <a:r>
              <a:rPr lang="zh-CN" altLang="en-US" sz="2400" dirty="0"/>
              <a:t>，其解调过程叫</a:t>
            </a:r>
            <a:r>
              <a:rPr lang="zh-CN" altLang="en-US" sz="2400" dirty="0">
                <a:solidFill>
                  <a:srgbClr val="FF0000"/>
                </a:solidFill>
              </a:rPr>
              <a:t>鉴频</a:t>
            </a:r>
            <a:r>
              <a:rPr lang="zh-CN" altLang="en-US" sz="2400" dirty="0"/>
              <a:t>，或频率解调；</a:t>
            </a:r>
            <a:endParaRPr lang="en-US" altLang="zh-CN" sz="2400" dirty="0"/>
          </a:p>
          <a:p>
            <a:pPr lvl="1"/>
            <a:r>
              <a:rPr lang="zh-CN" altLang="en-US" sz="2400" dirty="0">
                <a:solidFill>
                  <a:srgbClr val="FF0000"/>
                </a:solidFill>
              </a:rPr>
              <a:t>调相</a:t>
            </a:r>
            <a:r>
              <a:rPr lang="zh-CN" altLang="en-US" sz="2400" dirty="0"/>
              <a:t>（相位调制）</a:t>
            </a:r>
            <a:r>
              <a:rPr lang="en-US" altLang="zh-CN" sz="2400" dirty="0"/>
              <a:t>PM </a:t>
            </a:r>
            <a:r>
              <a:rPr lang="zh-CN" altLang="en-US" sz="2400" dirty="0"/>
              <a:t>，其解调过程叫</a:t>
            </a:r>
            <a:r>
              <a:rPr lang="zh-CN" altLang="en-US" sz="2400" dirty="0">
                <a:solidFill>
                  <a:srgbClr val="FF0000"/>
                </a:solidFill>
              </a:rPr>
              <a:t>鉴相</a:t>
            </a:r>
            <a:r>
              <a:rPr lang="zh-CN" altLang="en-US" sz="2400" dirty="0"/>
              <a:t>，或相位解调；</a:t>
            </a:r>
          </a:p>
        </p:txBody>
      </p:sp>
    </p:spTree>
    <p:extLst>
      <p:ext uri="{BB962C8B-B14F-4D97-AF65-F5344CB8AC3E}">
        <p14:creationId xmlns:p14="http://schemas.microsoft.com/office/powerpoint/2010/main" val="423441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082318676"/>
              </p:ext>
            </p:extLst>
          </p:nvPr>
        </p:nvGraphicFramePr>
        <p:xfrm>
          <a:off x="971600" y="1628800"/>
          <a:ext cx="650438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576204"/>
            <a:ext cx="7920880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总体要求：掌握各种调制方式的原理及相应的实现电路的基本类型。</a:t>
            </a:r>
          </a:p>
        </p:txBody>
      </p:sp>
    </p:spTree>
    <p:extLst>
      <p:ext uri="{BB962C8B-B14F-4D97-AF65-F5344CB8AC3E}">
        <p14:creationId xmlns:p14="http://schemas.microsoft.com/office/powerpoint/2010/main" val="112457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振幅调制与解调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738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调幅的基本原理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设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调制信号</a:t>
                </a:r>
                <a:r>
                  <a:rPr lang="zh-CN" altLang="en-US" dirty="0"/>
                  <a:t>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𝛺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(</m:t>
                    </m:r>
                    <m:r>
                      <a:rPr lang="zh-CN" altLang="en-US" i="1">
                        <a:latin typeface="Cambria Math"/>
                      </a:rPr>
                      <m:t>𝑡</m:t>
                    </m:r>
                    <m:r>
                      <a:rPr lang="zh-CN" altLang="en-US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𝛺</m:t>
                        </m:r>
                        <m:r>
                          <a:rPr lang="zh-CN" altLang="en-US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zh-CN" altLang="en-US">
                        <a:latin typeface="Cambria Math"/>
                      </a:rPr>
                      <m:t>cos</m:t>
                    </m:r>
                    <m:r>
                      <a:rPr lang="zh-CN" altLang="en-US" i="1">
                        <a:latin typeface="Cambria Math"/>
                      </a:rPr>
                      <m:t>𝛺</m:t>
                    </m:r>
                    <m:r>
                      <a:rPr lang="zh-CN" altLang="en-US" i="1">
                        <a:latin typeface="Cambria Math"/>
                      </a:rPr>
                      <m:t>𝑡</m:t>
                    </m:r>
                    <m:r>
                      <a:rPr lang="zh-CN" altLang="en-US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𝛺</m:t>
                        </m:r>
                        <m:r>
                          <a:rPr lang="zh-CN" altLang="en-US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zh-CN" altLang="en-US">
                        <a:latin typeface="Cambria Math"/>
                      </a:rPr>
                      <m:t>cos</m:t>
                    </m:r>
                    <m:r>
                      <a:rPr lang="zh-CN" altLang="en-US">
                        <a:latin typeface="Cambria Math"/>
                      </a:rPr>
                      <m:t>2</m:t>
                    </m:r>
                    <m:r>
                      <a:rPr lang="zh-CN" altLang="en-US" i="1">
                        <a:latin typeface="Cambria Math"/>
                      </a:rPr>
                      <m:t>𝜋</m:t>
                    </m:r>
                    <m:r>
                      <a:rPr lang="zh-CN" altLang="en-US" i="1">
                        <a:latin typeface="Cambria Math"/>
                      </a:rPr>
                      <m:t>𝐹𝑡</m:t>
                    </m:r>
                  </m:oMath>
                </a14:m>
                <a:r>
                  <a:rPr lang="zh-CN" altLang="en-US" dirty="0"/>
                  <a:t>（单一频率）</a:t>
                </a:r>
              </a:p>
              <a:p>
                <a:pPr lvl="1"/>
                <a:r>
                  <a:rPr lang="el-GR" altLang="zh-CN" dirty="0">
                    <a:cs typeface="Arial" pitchFamily="34" charset="0"/>
                  </a:rPr>
                  <a:t>Ω</a:t>
                </a:r>
                <a:r>
                  <a:rPr lang="zh-CN" altLang="en-US" dirty="0"/>
                  <a:t>为调制信号的角频率，</a:t>
                </a:r>
              </a:p>
              <a:p>
                <a:pPr lvl="1"/>
                <a:r>
                  <a:rPr lang="en-US" altLang="zh-CN" dirty="0"/>
                  <a:t>F</a:t>
                </a:r>
                <a:r>
                  <a:rPr lang="zh-CN" altLang="en-US" dirty="0"/>
                  <a:t>为调制信号的频率，</a:t>
                </a:r>
              </a:p>
              <a:p>
                <a:pPr lvl="1"/>
                <a:r>
                  <a:rPr lang="en-US" altLang="zh-CN" dirty="0"/>
                  <a:t>V</a:t>
                </a:r>
                <a:r>
                  <a:rPr lang="el-GR" altLang="zh-CN" baseline="-25000" dirty="0">
                    <a:cs typeface="Arial" pitchFamily="34" charset="0"/>
                  </a:rPr>
                  <a:t>Ω</a:t>
                </a:r>
                <a:r>
                  <a:rPr lang="en-US" altLang="zh-CN" baseline="-25000" dirty="0">
                    <a:cs typeface="Arial" pitchFamily="34" charset="0"/>
                  </a:rPr>
                  <a:t>m</a:t>
                </a:r>
                <a:r>
                  <a:rPr lang="zh-CN" altLang="en-US" dirty="0"/>
                  <a:t>为调制信号的振幅</a:t>
                </a:r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载波</a:t>
                </a:r>
                <a:r>
                  <a:rPr lang="zh-CN" altLang="en-US" dirty="0"/>
                  <a:t>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(</m:t>
                    </m:r>
                    <m:r>
                      <a:rPr lang="zh-CN" altLang="en-US" i="1">
                        <a:latin typeface="Cambria Math"/>
                      </a:rPr>
                      <m:t>𝑡</m:t>
                    </m:r>
                    <m:r>
                      <a:rPr lang="zh-CN" altLang="en-US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𝑐</m:t>
                        </m:r>
                        <m:r>
                          <a:rPr lang="zh-CN" altLang="en-US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zh-CN" altLang="en-US">
                        <a:latin typeface="Cambria Math"/>
                      </a:rPr>
                      <m:t>cos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zh-CN" altLang="en-US" i="1">
                        <a:latin typeface="Cambria Math"/>
                      </a:rPr>
                      <m:t>𝑡</m:t>
                    </m:r>
                    <m:r>
                      <a:rPr lang="zh-CN" altLang="en-US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𝑐</m:t>
                        </m:r>
                        <m:r>
                          <a:rPr lang="zh-CN" altLang="en-US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zh-CN" altLang="en-US">
                        <a:latin typeface="Cambria Math"/>
                      </a:rPr>
                      <m:t>cos</m:t>
                    </m:r>
                    <m:r>
                      <a:rPr lang="zh-CN" altLang="en-US">
                        <a:latin typeface="Cambria Math"/>
                      </a:rPr>
                      <m:t>2</m:t>
                    </m:r>
                    <m:r>
                      <a:rPr lang="zh-CN" altLang="en-US" i="1">
                        <a:latin typeface="Cambria Math"/>
                      </a:rPr>
                      <m:t>𝜋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zh-CN" altLang="en-US" i="1">
                        <a:latin typeface="Cambria Math"/>
                      </a:rPr>
                      <m:t>𝑡</m:t>
                    </m:r>
                  </m:oMath>
                </a14:m>
                <a:endParaRPr lang="zh-CN" altLang="en-US" dirty="0"/>
              </a:p>
              <a:p>
                <a:pPr lvl="1"/>
                <a:r>
                  <a:rPr lang="el-GR" altLang="zh-CN" i="1" dirty="0">
                    <a:cs typeface="Arial" pitchFamily="34" charset="0"/>
                  </a:rPr>
                  <a:t>ω</a:t>
                </a:r>
                <a:r>
                  <a:rPr lang="en-US" altLang="zh-CN" baseline="-25000" dirty="0">
                    <a:cs typeface="Arial" pitchFamily="34" charset="0"/>
                  </a:rPr>
                  <a:t>c</a:t>
                </a:r>
                <a:r>
                  <a:rPr lang="zh-CN" altLang="en-US" dirty="0"/>
                  <a:t>为载波的角频率，</a:t>
                </a:r>
              </a:p>
              <a:p>
                <a:pPr lvl="1"/>
                <a:r>
                  <a:rPr lang="en-US" altLang="zh-CN" i="1" dirty="0"/>
                  <a:t>f</a:t>
                </a:r>
                <a:r>
                  <a:rPr lang="en-US" altLang="zh-CN" baseline="-25000" dirty="0">
                    <a:cs typeface="Arial" pitchFamily="34" charset="0"/>
                  </a:rPr>
                  <a:t>c</a:t>
                </a:r>
                <a:r>
                  <a:rPr lang="zh-CN" altLang="en-US" dirty="0"/>
                  <a:t>为载波的频率，</a:t>
                </a:r>
              </a:p>
              <a:p>
                <a:pPr lvl="1"/>
                <a:r>
                  <a:rPr lang="en-US" altLang="zh-CN" dirty="0" err="1"/>
                  <a:t>V</a:t>
                </a:r>
                <a:r>
                  <a:rPr lang="en-US" altLang="zh-CN" baseline="-25000" dirty="0" err="1">
                    <a:cs typeface="Arial" pitchFamily="34" charset="0"/>
                  </a:rPr>
                  <a:t>cm</a:t>
                </a:r>
                <a:r>
                  <a:rPr lang="zh-CN" altLang="en-US" dirty="0"/>
                  <a:t>为载波的振幅。</a:t>
                </a:r>
                <a:endParaRPr lang="en-US" altLang="zh-CN" dirty="0"/>
              </a:p>
              <a:p>
                <a:r>
                  <a:rPr lang="zh-CN" altLang="en-US" dirty="0"/>
                  <a:t>调幅的定义：幅度调制后，调幅波的幅度与调制信号成线性关系。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96" t="-2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70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476672"/>
                <a:ext cx="8568952" cy="3168352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AM</a:t>
                </a:r>
                <a:r>
                  <a:rPr lang="zh-CN" altLang="en-US" dirty="0"/>
                  <a:t>信号（单一频率调制），掌握以下内容：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数学表达式：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  <m:r>
                          <a:rPr lang="zh-CN" altLang="en-US">
                            <a:latin typeface="Cambria Math"/>
                          </a:rPr>
                          <m:t>(</m:t>
                        </m:r>
                        <m:r>
                          <a:rPr lang="zh-CN" alt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𝑚</m:t>
                        </m:r>
                        <m:r>
                          <a:rPr lang="zh-CN" altLang="en-US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[1+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zh-CN" altLang="en-US">
                        <a:latin typeface="Cambria Math"/>
                      </a:rPr>
                      <m:t>cos</m:t>
                    </m:r>
                    <m:r>
                      <a:rPr lang="zh-CN" altLang="en-US" i="1">
                        <a:latin typeface="Cambria Math"/>
                      </a:rPr>
                      <m:t>𝛺</m:t>
                    </m:r>
                    <m:r>
                      <a:rPr lang="zh-CN" altLang="en-US" i="1">
                        <a:latin typeface="Cambria Math"/>
                      </a:rPr>
                      <m:t>𝑡</m:t>
                    </m:r>
                    <m:r>
                      <a:rPr lang="zh-CN" altLang="en-US">
                        <a:latin typeface="Cambria Math"/>
                      </a:rPr>
                      <m:t>]</m:t>
                    </m:r>
                    <m:r>
                      <m:rPr>
                        <m:sty m:val="p"/>
                      </m:rPr>
                      <a:rPr lang="zh-CN" altLang="en-US">
                        <a:latin typeface="Cambria Math"/>
                      </a:rPr>
                      <m:t>cos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zh-CN" altLang="en-US" i="1">
                        <a:latin typeface="Cambria Math"/>
                      </a:rPr>
                      <m:t>𝑡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时域波形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频谱、带宽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功率分析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476672"/>
                <a:ext cx="8568952" cy="3168352"/>
              </a:xfrm>
              <a:blipFill>
                <a:blip r:embed="rId2"/>
                <a:stretch>
                  <a:fillRect l="-1209" t="-3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75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620688"/>
                <a:ext cx="8568952" cy="273630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/>
                  <a:t>抑制载波的双边带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单边带调幅（</a:t>
                </a:r>
                <a:r>
                  <a:rPr lang="en-US" altLang="zh-CN" dirty="0"/>
                  <a:t>DSB/SSB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数学表达式：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(</m:t>
                    </m:r>
                    <m:r>
                      <a:rPr lang="zh-CN" altLang="en-US" i="1">
                        <a:latin typeface="Cambria Math"/>
                      </a:rPr>
                      <m:t>𝑡</m:t>
                    </m:r>
                    <m:r>
                      <a:rPr lang="zh-CN" altLang="en-US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⋅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𝛺</m:t>
                        </m:r>
                        <m:r>
                          <a:rPr lang="zh-CN" altLang="en-US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zh-CN" altLang="en-US">
                        <a:latin typeface="Cambria Math"/>
                      </a:rPr>
                      <m:t>cos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/>
                        <a:ea typeface="Cambria Math"/>
                      </a:rPr>
                      <m:t>Ω</m:t>
                    </m:r>
                    <m:r>
                      <a:rPr lang="zh-CN" altLang="en-US" i="1">
                        <a:latin typeface="Cambria Math"/>
                      </a:rPr>
                      <m:t>𝑡</m:t>
                    </m:r>
                    <m:r>
                      <a:rPr lang="zh-CN" altLang="en-US">
                        <a:latin typeface="Cambria Math"/>
                      </a:rPr>
                      <m:t>⋅</m:t>
                    </m:r>
                    <m:r>
                      <m:rPr>
                        <m:sty m:val="p"/>
                      </m:rPr>
                      <a:rPr lang="zh-CN" altLang="en-US">
                        <a:latin typeface="Cambria Math"/>
                      </a:rPr>
                      <m:t>cos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zh-CN" altLang="en-US" i="1">
                        <a:latin typeface="Cambria Math"/>
                      </a:rPr>
                      <m:t>𝑡</m:t>
                    </m:r>
                  </m:oMath>
                </a14:m>
                <a:r>
                  <a:rPr lang="en-US" altLang="zh-CN" dirty="0"/>
                  <a:t> (DSB)</a:t>
                </a:r>
              </a:p>
              <a:p>
                <a:pPr marL="274320" lvl="1" indent="0">
                  <a:buNone/>
                </a:pPr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(</m:t>
                    </m:r>
                    <m:r>
                      <a:rPr lang="zh-CN" altLang="en-US" i="1">
                        <a:latin typeface="Cambria Math"/>
                      </a:rPr>
                      <m:t>𝑡</m:t>
                    </m:r>
                    <m:r>
                      <a:rPr lang="zh-CN" altLang="en-US">
                        <a:latin typeface="Cambria Math"/>
                      </a:rPr>
                      <m:t>)=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zh-CN" altLang="en-US">
                            <a:latin typeface="Cambria Math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⋅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𝛺</m:t>
                        </m:r>
                        <m:r>
                          <a:rPr lang="zh-CN" altLang="en-US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zh-CN" altLang="en-US">
                        <a:latin typeface="Cambria Math"/>
                      </a:rPr>
                      <m:t>cos</m:t>
                    </m:r>
                    <m:r>
                      <a:rPr lang="zh-CN" altLang="en-US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US" altLang="zh-CN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zh-CN" altLang="en-US" i="1">
                        <a:latin typeface="Cambria Math"/>
                      </a:rPr>
                      <m:t>𝛺</m:t>
                    </m:r>
                    <m:r>
                      <a:rPr lang="zh-CN" altLang="en-US">
                        <a:latin typeface="Cambria Math"/>
                      </a:rPr>
                      <m:t>)</m:t>
                    </m:r>
                    <m:r>
                      <a:rPr lang="zh-CN" altLang="en-US" i="1">
                        <a:latin typeface="Cambria Math"/>
                      </a:rPr>
                      <m:t>𝑡</m:t>
                    </m:r>
                  </m:oMath>
                </a14:m>
                <a:r>
                  <a:rPr lang="en-US" altLang="zh-CN" dirty="0"/>
                  <a:t> (SSB)</a:t>
                </a:r>
              </a:p>
              <a:p>
                <a:pPr lvl="1"/>
                <a:r>
                  <a:rPr lang="zh-CN" altLang="en-US" dirty="0"/>
                  <a:t>时域波形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频谱图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实现框图（</a:t>
                </a:r>
                <a:r>
                  <a:rPr lang="en-US" altLang="zh-CN" dirty="0"/>
                  <a:t>DSB</a:t>
                </a:r>
                <a:r>
                  <a:rPr lang="zh-CN" altLang="en-US" dirty="0"/>
                  <a:t>）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620688"/>
                <a:ext cx="8568952" cy="2736304"/>
              </a:xfrm>
              <a:blipFill rotWithShape="1">
                <a:blip r:embed="rId3"/>
                <a:stretch>
                  <a:fillRect l="-996" t="-6904" b="-13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607" y="3501008"/>
            <a:ext cx="3827287" cy="137444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919096"/>
              </p:ext>
            </p:extLst>
          </p:nvPr>
        </p:nvGraphicFramePr>
        <p:xfrm>
          <a:off x="1621511" y="3501008"/>
          <a:ext cx="7207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5446" imgH="228501" progId="Equation.DSMT4">
                  <p:embed/>
                </p:oleObj>
              </mc:Choice>
              <mc:Fallback>
                <p:oleObj name="Equation" r:id="rId5" imgW="355446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1511" y="3501008"/>
                        <a:ext cx="72072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717124"/>
              </p:ext>
            </p:extLst>
          </p:nvPr>
        </p:nvGraphicFramePr>
        <p:xfrm>
          <a:off x="899592" y="4653136"/>
          <a:ext cx="24479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3000" imgH="228600" progId="Equation.DSMT4">
                  <p:embed/>
                </p:oleObj>
              </mc:Choice>
              <mc:Fallback>
                <p:oleObj name="Equation" r:id="rId7" imgW="114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653136"/>
                        <a:ext cx="2447925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851218"/>
              </p:ext>
            </p:extLst>
          </p:nvPr>
        </p:nvGraphicFramePr>
        <p:xfrm>
          <a:off x="5581951" y="3573016"/>
          <a:ext cx="208915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90600" imgH="228600" progId="Equation.DSMT4">
                  <p:embed/>
                </p:oleObj>
              </mc:Choice>
              <mc:Fallback>
                <p:oleObj name="Equation" r:id="rId9" imgW="990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951" y="3573016"/>
                        <a:ext cx="2089150" cy="487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697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乘法器电路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68760"/>
            <a:ext cx="8568952" cy="1224136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sz="2800" dirty="0">
                <a:latin typeface="宋体" charset="-122"/>
              </a:rPr>
              <a:t>功能：实现</a:t>
            </a:r>
            <a:r>
              <a:rPr lang="zh-CN" altLang="en-US" sz="2800" dirty="0">
                <a:solidFill>
                  <a:srgbClr val="FF0066"/>
                </a:solidFill>
                <a:latin typeface="宋体" charset="-122"/>
              </a:rPr>
              <a:t>频谱搬移</a:t>
            </a:r>
            <a:r>
              <a:rPr lang="zh-CN" altLang="en-US" sz="2800" dirty="0">
                <a:latin typeface="宋体" charset="-122"/>
              </a:rPr>
              <a:t>。</a:t>
            </a:r>
            <a:endParaRPr lang="en-US" altLang="zh-CN" sz="2800" dirty="0">
              <a:latin typeface="宋体" charset="-122"/>
            </a:endParaRPr>
          </a:p>
          <a:p>
            <a:r>
              <a:rPr lang="zh-CN" altLang="en-US" sz="2800" dirty="0">
                <a:latin typeface="宋体" charset="-122"/>
              </a:rPr>
              <a:t>实现：利用</a:t>
            </a:r>
            <a:r>
              <a:rPr lang="zh-CN" altLang="en-US" sz="2800" dirty="0">
                <a:solidFill>
                  <a:srgbClr val="FF0066"/>
                </a:solidFill>
                <a:latin typeface="宋体" charset="-122"/>
              </a:rPr>
              <a:t>非线性器件</a:t>
            </a:r>
            <a:r>
              <a:rPr lang="zh-CN" altLang="en-US" sz="2800" dirty="0">
                <a:latin typeface="宋体" charset="-122"/>
              </a:rPr>
              <a:t>。</a:t>
            </a:r>
            <a:endParaRPr lang="en-US" altLang="zh-CN" sz="2800" dirty="0">
              <a:latin typeface="宋体" charset="-122"/>
            </a:endParaRPr>
          </a:p>
          <a:p>
            <a:r>
              <a:rPr lang="zh-CN" altLang="zh-CN" dirty="0"/>
              <a:t>调幅、检波和混频电路的实质都是</a:t>
            </a:r>
            <a:r>
              <a:rPr lang="zh-CN" altLang="en-US" dirty="0"/>
              <a:t>频谱搬移</a:t>
            </a:r>
            <a:r>
              <a:rPr lang="zh-CN" altLang="zh-CN" dirty="0"/>
              <a:t>电路</a:t>
            </a:r>
            <a:r>
              <a:rPr lang="zh-CN" altLang="en-US" dirty="0"/>
              <a:t>。</a:t>
            </a:r>
            <a:endParaRPr lang="en-US" altLang="zh-CN" sz="2800" dirty="0">
              <a:latin typeface="宋体" charset="-122"/>
            </a:endParaRPr>
          </a:p>
          <a:p>
            <a:endParaRPr lang="zh-CN" altLang="en-US" sz="2800" dirty="0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668551751"/>
              </p:ext>
            </p:extLst>
          </p:nvPr>
        </p:nvGraphicFramePr>
        <p:xfrm>
          <a:off x="539552" y="2492896"/>
          <a:ext cx="7704856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0863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51520" y="548680"/>
                <a:ext cx="8640960" cy="17727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5000"/>
                  </a:lnSpc>
                </a:pPr>
                <a:r>
                  <a:rPr lang="zh-CN" altLang="en-US" dirty="0">
                    <a:solidFill>
                      <a:srgbClr val="0000FF"/>
                    </a:solidFill>
                  </a:rPr>
                  <a:t>单个二极管：</a:t>
                </a: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zh-CN" altLang="en-US" b="1">
                        <a:latin typeface="Cambria Math"/>
                      </a:rPr>
                      <m:t>(</m:t>
                    </m:r>
                    <m:r>
                      <a:rPr lang="zh-CN" altLang="en-US" b="1" i="1">
                        <a:latin typeface="Cambria Math"/>
                      </a:rPr>
                      <m:t>𝒕</m:t>
                    </m:r>
                    <m:r>
                      <a:rPr lang="zh-CN" altLang="en-US" b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𝟏</m:t>
                        </m:r>
                        <m:r>
                          <a:rPr lang="zh-CN" altLang="en-US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b="1" i="1">
                        <a:latin typeface="Cambria Math"/>
                      </a:rPr>
                      <m:t>𝐜𝐨𝐬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zh-CN" altLang="en-US" b="1" i="1">
                        <a:latin typeface="Cambria Math"/>
                      </a:rPr>
                      <m:t>𝒕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zh-CN" altLang="en-US" b="1">
                        <a:latin typeface="Cambria Math"/>
                      </a:rPr>
                      <m:t>(</m:t>
                    </m:r>
                    <m:r>
                      <a:rPr lang="zh-CN" altLang="en-US" b="1" i="1">
                        <a:latin typeface="Cambria Math"/>
                      </a:rPr>
                      <m:t>𝒕</m:t>
                    </m:r>
                    <m:r>
                      <a:rPr lang="zh-CN" altLang="en-US" b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𝟐</m:t>
                        </m:r>
                        <m:r>
                          <a:rPr lang="zh-CN" altLang="en-US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b="1" i="1">
                        <a:latin typeface="Cambria Math"/>
                      </a:rPr>
                      <m:t>𝐜𝐨𝐬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zh-CN" altLang="en-US" b="1" i="1">
                        <a:latin typeface="Cambria Math"/>
                      </a:rPr>
                      <m:t>𝒕</m:t>
                    </m:r>
                  </m:oMath>
                </a14:m>
                <a:r>
                  <a:rPr lang="zh-CN" altLang="en-US" dirty="0"/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𝟏</m:t>
                        </m:r>
                        <m:r>
                          <a:rPr lang="zh-CN" altLang="en-US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b="1">
                        <a:latin typeface="Cambria Math"/>
                      </a:rPr>
                      <m:t>&gt;&gt;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𝟐</m:t>
                        </m:r>
                        <m:r>
                          <a:rPr lang="zh-CN" altLang="en-US" b="1" i="1">
                            <a:latin typeface="Cambria Math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𝟏</m:t>
                        </m:r>
                        <m:r>
                          <a:rPr lang="zh-CN" altLang="en-US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b="1">
                        <a:latin typeface="Cambria Math"/>
                      </a:rPr>
                      <m:t>&gt;&gt;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US" altLang="zh-CN" b="1" i="1">
                            <a:latin typeface="Cambria Math"/>
                          </a:rPr>
                          <m:t>𝒐𝒏</m:t>
                        </m:r>
                      </m:sub>
                    </m:sSub>
                  </m:oMath>
                </a14:m>
                <a:r>
                  <a:rPr lang="zh-CN" altLang="en-US" dirty="0"/>
                  <a:t>。二极管的工作状态主要受到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zh-CN" altLang="en-US" b="1">
                        <a:solidFill>
                          <a:srgbClr val="0000FF"/>
                        </a:solidFill>
                        <a:latin typeface="Cambria Math"/>
                      </a:rPr>
                      <m:t>(</m:t>
                    </m:r>
                    <m:r>
                      <a:rPr lang="zh-CN" altLang="en-US" b="1" i="1">
                        <a:solidFill>
                          <a:srgbClr val="0000FF"/>
                        </a:solidFill>
                        <a:latin typeface="Cambria Math"/>
                      </a:rPr>
                      <m:t>𝒕</m:t>
                    </m:r>
                    <m:r>
                      <a:rPr lang="zh-CN" altLang="en-US" b="1">
                        <a:solidFill>
                          <a:srgbClr val="0000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/>
                  <a:t>的控制，在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zh-CN" altLang="en-US" b="1">
                        <a:latin typeface="Cambria Math"/>
                      </a:rPr>
                      <m:t>(</m:t>
                    </m:r>
                    <m:r>
                      <a:rPr lang="zh-CN" altLang="en-US" b="1" i="1">
                        <a:latin typeface="Cambria Math"/>
                      </a:rPr>
                      <m:t>𝒕</m:t>
                    </m:r>
                    <m:r>
                      <a:rPr lang="zh-CN" altLang="en-US" b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/>
                  <a:t>的正半周导通，在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zh-CN" altLang="en-US" b="1">
                        <a:latin typeface="Cambria Math"/>
                      </a:rPr>
                      <m:t>(</m:t>
                    </m:r>
                    <m:r>
                      <a:rPr lang="zh-CN" altLang="en-US" b="1" i="1">
                        <a:latin typeface="Cambria Math"/>
                      </a:rPr>
                      <m:t>𝒕</m:t>
                    </m:r>
                    <m:r>
                      <a:rPr lang="zh-CN" altLang="en-US" b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/>
                  <a:t>的负半周截止。因此，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二极管工作于开关状态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48680"/>
                <a:ext cx="8640960" cy="1772793"/>
              </a:xfrm>
              <a:prstGeom prst="rect">
                <a:avLst/>
              </a:prstGeom>
              <a:blipFill rotWithShape="1">
                <a:blip r:embed="rId2"/>
                <a:stretch>
                  <a:fillRect l="-1199" t="-4467" r="-5148" b="-5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564904"/>
            <a:ext cx="3276364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032448" y="2492896"/>
                <a:ext cx="4572000" cy="290188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dirty="0"/>
                  <a:t>忽略二极管的导通电阻，则输出电压：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𝒐</m:t>
                          </m:r>
                        </m:sub>
                      </m:sSub>
                      <m:r>
                        <a:rPr lang="zh-CN" altLang="en-US">
                          <a:latin typeface="Cambria Math"/>
                        </a:rPr>
                        <m:t>=</m:t>
                      </m:r>
                      <m:r>
                        <a:rPr lang="zh-CN" altLang="en-US" i="1" smtClean="0">
                          <a:latin typeface="Cambria Math"/>
                        </a:rPr>
                        <m:t> </m:t>
                      </m:r>
                      <m:r>
                        <a:rPr lang="zh-CN" altLang="en-US"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>
                          <a:latin typeface="Cambria Math"/>
                        </a:rPr>
                        <m:t>(</m:t>
                      </m:r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)+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zh-CN" altLang="en-US">
                          <a:latin typeface="Cambria Math"/>
                        </a:rPr>
                        <m:t>(</m:t>
                      </m:r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)]⋅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en-US" altLang="zh-CN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zh-CN" altLang="en-US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zh-CN" altLang="en-US">
                        <a:solidFill>
                          <a:srgbClr val="0000FF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rgbClr val="0000FF"/>
                        </a:solidFill>
                        <a:latin typeface="Cambria Math"/>
                      </a:rPr>
                      <m:t>𝑡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单向开关函数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zh-CN" altLang="en-US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latin typeface="Cambria Math"/>
                                        </a:rPr>
                                        <m:t>cos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zh-CN" altLang="en-US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1">
                                          <a:latin typeface="Cambria Math"/>
                                        </a:rPr>
                                        <m:t>𝑡</m:t>
                                      </m:r>
                                      <m:r>
                                        <a:rPr lang="zh-CN" altLang="en-US">
                                          <a:latin typeface="Cambria Math"/>
                                        </a:rPr>
                                        <m:t>&gt;0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zh-CN" altLang="en-US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>
                                          <a:latin typeface="Cambria Math"/>
                                        </a:rPr>
                                        <m:t>cos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latin typeface="Cambria Math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zh-CN" altLang="en-US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zh-CN" altLang="en-US" i="1">
                                          <a:latin typeface="Cambria Math"/>
                                        </a:rPr>
                                        <m:t>𝑡</m:t>
                                      </m:r>
                                      <m:r>
                                        <a:rPr lang="zh-CN" altLang="en-US" i="1">
                                          <a:latin typeface="Cambria Math"/>
                                        </a:rPr>
                                        <m:t>≤</m:t>
                                      </m:r>
                                      <m:r>
                                        <a:rPr lang="zh-CN" altLang="en-US">
                                          <a:latin typeface="Cambria Math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448" y="2492896"/>
                <a:ext cx="4572000" cy="2901885"/>
              </a:xfrm>
              <a:prstGeom prst="rect">
                <a:avLst/>
              </a:prstGeom>
              <a:blipFill rotWithShape="1">
                <a:blip r:embed="rId4"/>
                <a:stretch>
                  <a:fillRect l="-2267" t="-1050" r="-9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-173767" y="5394781"/>
                <a:ext cx="9289032" cy="994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altLang="en-US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zh-CN" altLang="en-US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altLang="en-US">
                              <a:latin typeface="Cambria Math"/>
                            </a:rPr>
                            <m:t>3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r>
                        <a:rPr lang="zh-CN" altLang="en-US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altLang="en-US">
                              <a:latin typeface="Cambria Math"/>
                            </a:rPr>
                            <m:t>5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r>
                        <a:rPr lang="zh-CN" altLang="en-US">
                          <a:latin typeface="Cambria Math"/>
                        </a:rPr>
                        <m:t>5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−⋅⋅⋅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3767" y="5394781"/>
                <a:ext cx="9289032" cy="99443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44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23528" y="404664"/>
                <a:ext cx="8424936" cy="18964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en-US" altLang="zh-CN" i="1">
                              <a:latin typeface="Cambria Math"/>
                            </a:rPr>
                            <m:t>𝒐</m:t>
                          </m:r>
                        </m:sub>
                      </m:sSub>
                      <m:r>
                        <a:rPr lang="zh-CN" altLang="en-US" b="1">
                          <a:latin typeface="Cambria Math"/>
                        </a:rPr>
                        <m:t>=</m:t>
                      </m:r>
                      <m:r>
                        <a:rPr lang="zh-CN" altLang="en-US" i="1" smtClean="0">
                          <a:latin typeface="Cambria Math"/>
                        </a:rPr>
                        <m:t> </m:t>
                      </m:r>
                      <m:r>
                        <a:rPr lang="zh-CN" altLang="en-US" b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zh-CN" altLang="en-US" b="1" i="1">
                              <a:latin typeface="Cambria Math"/>
                            </a:rPr>
                            <m:t>𝟏</m:t>
                          </m:r>
                          <m:r>
                            <a:rPr lang="zh-CN" altLang="en-US" b="1" i="1">
                              <a:latin typeface="Cambria Math"/>
                            </a:rPr>
                            <m:t>𝒎</m:t>
                          </m:r>
                        </m:sub>
                      </m:sSub>
                      <m:r>
                        <a:rPr lang="zh-CN" altLang="en-US" b="1" i="1">
                          <a:latin typeface="Cambria Math"/>
                        </a:rPr>
                        <m:t>𝐜𝐨𝐬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zh-CN" altLang="en-US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zh-CN" altLang="en-US" b="1" i="1">
                          <a:latin typeface="Cambria Math"/>
                        </a:rPr>
                        <m:t>𝒕</m:t>
                      </m:r>
                      <m:r>
                        <a:rPr lang="zh-CN" altLang="en-US" b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zh-CN" altLang="en-US" b="1" i="1">
                              <a:latin typeface="Cambria Math"/>
                            </a:rPr>
                            <m:t>𝟐</m:t>
                          </m:r>
                          <m:r>
                            <a:rPr lang="zh-CN" altLang="en-US" b="1" i="1">
                              <a:latin typeface="Cambria Math"/>
                            </a:rPr>
                            <m:t>𝒎</m:t>
                          </m:r>
                        </m:sub>
                      </m:sSub>
                      <m:r>
                        <a:rPr lang="zh-CN" altLang="en-US" b="1" i="1">
                          <a:latin typeface="Cambria Math"/>
                        </a:rPr>
                        <m:t>𝐜𝐨𝐬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zh-CN" altLang="en-US" b="1" i="1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zh-CN" altLang="en-US" b="1" i="1">
                          <a:latin typeface="Cambria Math"/>
                        </a:rPr>
                        <m:t>𝒕</m:t>
                      </m:r>
                      <m:r>
                        <a:rPr lang="zh-CN" altLang="en-US" b="1">
                          <a:latin typeface="Cambria Math"/>
                        </a:rPr>
                        <m:t>)⋅(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1" i="1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zh-CN" altLang="en-US" b="1" i="1"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zh-CN" altLang="en-US" b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1" i="1"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zh-CN" altLang="en-US" b="1" i="1">
                              <a:latin typeface="Cambria Math"/>
                            </a:rPr>
                            <m:t>𝝅</m:t>
                          </m:r>
                        </m:den>
                      </m:f>
                      <m:r>
                        <a:rPr lang="zh-CN" altLang="en-US" b="1" i="1">
                          <a:latin typeface="Cambria Math"/>
                        </a:rPr>
                        <m:t>𝐜𝐨𝐬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zh-CN" altLang="en-US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zh-CN" altLang="en-US" b="1" i="1">
                          <a:latin typeface="Cambria Math"/>
                        </a:rPr>
                        <m:t>𝒕</m:t>
                      </m:r>
                      <m:r>
                        <a:rPr lang="zh-CN" altLang="en-US" b="1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1" i="1"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zh-CN" altLang="en-US" b="1" i="1">
                              <a:latin typeface="Cambria Math"/>
                            </a:rPr>
                            <m:t>𝟑</m:t>
                          </m:r>
                          <m:r>
                            <a:rPr lang="zh-CN" altLang="en-US" b="1" i="1">
                              <a:latin typeface="Cambria Math"/>
                            </a:rPr>
                            <m:t>𝝅</m:t>
                          </m:r>
                        </m:den>
                      </m:f>
                      <m:r>
                        <a:rPr lang="zh-CN" altLang="en-US" b="1" i="1">
                          <a:latin typeface="Cambria Math"/>
                        </a:rPr>
                        <m:t>𝐜𝐨𝐬𝟑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zh-CN" altLang="en-US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zh-CN" altLang="en-US" b="1" i="1">
                          <a:latin typeface="Cambria Math"/>
                        </a:rPr>
                        <m:t>𝒕</m:t>
                      </m:r>
                      <m:r>
                        <a:rPr lang="zh-CN" altLang="en-US" b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1" i="1">
                              <a:latin typeface="Cambria Math"/>
                            </a:rPr>
                            <m:t>𝟐</m:t>
                          </m:r>
                        </m:num>
                        <m:den>
                          <m:r>
                            <a:rPr lang="zh-CN" altLang="en-US" b="1" i="1">
                              <a:latin typeface="Cambria Math"/>
                            </a:rPr>
                            <m:t>𝟓</m:t>
                          </m:r>
                          <m:r>
                            <a:rPr lang="zh-CN" altLang="en-US" b="1" i="1">
                              <a:latin typeface="Cambria Math"/>
                            </a:rPr>
                            <m:t>𝝅</m:t>
                          </m:r>
                        </m:den>
                      </m:f>
                      <m:r>
                        <a:rPr lang="zh-CN" altLang="en-US" b="1" i="1">
                          <a:latin typeface="Cambria Math"/>
                        </a:rPr>
                        <m:t>𝐜𝐨𝐬𝟓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zh-CN" altLang="en-US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zh-CN" altLang="en-US" b="1" i="1">
                          <a:latin typeface="Cambria Math"/>
                        </a:rPr>
                        <m:t>𝒕</m:t>
                      </m:r>
                      <m:r>
                        <a:rPr lang="zh-CN" altLang="en-US" b="1">
                          <a:latin typeface="Cambria Math"/>
                        </a:rPr>
                        <m:t>−⋅⋅⋅</m:t>
                      </m:r>
                      <m:r>
                        <a:rPr lang="en-US" altLang="zh-CN" b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404664"/>
                <a:ext cx="8424936" cy="189648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95536" y="2564904"/>
                <a:ext cx="8280920" cy="39333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0000FF"/>
                    </a:solidFill>
                  </a:rPr>
                  <a:t>频率分量：</a:t>
                </a: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514350" indent="-514350">
                  <a:buAutoNum type="arabicPeriod"/>
                </a:pPr>
                <a:r>
                  <a:rPr lang="zh-CN" altLang="en-US" dirty="0"/>
                  <a:t>直流</a:t>
                </a:r>
                <a:endParaRPr lang="en-US" altLang="zh-CN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、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zh-CN" altLang="en-US">
                        <a:latin typeface="Cambria Math"/>
                      </a:rPr>
                      <m:t>2</m:t>
                    </m:r>
                    <m:r>
                      <a:rPr lang="zh-CN" altLang="en-US" i="1">
                        <a:latin typeface="Cambria Math"/>
                      </a:rPr>
                      <m:t>𝑛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b="1" i="0" dirty="0">
                  <a:latin typeface="Cambria Math"/>
                </a:endParaRP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/>
                      </a:rPr>
                      <m:t>(</m:t>
                    </m:r>
                    <m:r>
                      <a:rPr lang="zh-CN" altLang="en-US">
                        <a:latin typeface="Cambria Math"/>
                      </a:rPr>
                      <m:t>2</m:t>
                    </m:r>
                    <m:r>
                      <a:rPr lang="zh-CN" altLang="en-US" i="1">
                        <a:latin typeface="Cambria Math"/>
                      </a:rPr>
                      <m:t>𝑛</m:t>
                    </m:r>
                    <m:r>
                      <a:rPr lang="zh-CN" altLang="en-US">
                        <a:latin typeface="Cambria Math"/>
                      </a:rPr>
                      <m:t>−1)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其中的有用分量是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，其余分量与有用分量在频谱上相隔较远（设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很大），很容易设计带通滤波器将其滤除。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564904"/>
                <a:ext cx="8280920" cy="3933384"/>
              </a:xfrm>
              <a:prstGeom prst="rect">
                <a:avLst/>
              </a:prstGeom>
              <a:blipFill rotWithShape="1">
                <a:blip r:embed="rId3"/>
                <a:stretch>
                  <a:fillRect l="-1325" t="-775" r="-589" b="-15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75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76672"/>
            <a:ext cx="7704856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</a:rPr>
              <a:t>二极管单平衡调制电路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853457"/>
              </p:ext>
            </p:extLst>
          </p:nvPr>
        </p:nvGraphicFramePr>
        <p:xfrm>
          <a:off x="683568" y="4553027"/>
          <a:ext cx="3096344" cy="604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400" imgH="228600" progId="Equation.DSMT4">
                  <p:embed/>
                </p:oleObj>
              </mc:Choice>
              <mc:Fallback>
                <p:oleObj name="Equation" r:id="rId2" imgW="116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4553027"/>
                        <a:ext cx="3096344" cy="6041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76688" y="5301208"/>
                <a:ext cx="7783744" cy="11264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𝑪𝒎</m:t>
                        </m:r>
                      </m:sub>
                    </m:sSub>
                  </m:oMath>
                </a14:m>
                <a:r>
                  <a:rPr lang="zh-CN" altLang="en-US" sz="2800" dirty="0"/>
                  <a:t>很大，在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zh-CN" altLang="en-US" sz="2800" b="1" i="1">
                                <a:latin typeface="Cambria Math"/>
                              </a:rPr>
                              <m:t>𝑪</m:t>
                            </m:r>
                          </m:sub>
                        </m:sSub>
                        <m:r>
                          <a:rPr lang="zh-CN" altLang="en-US" sz="2800" b="1">
                            <a:latin typeface="Cambria Math"/>
                          </a:rPr>
                          <m:t>(</m:t>
                        </m:r>
                        <m:r>
                          <a:rPr lang="zh-CN" altLang="en-US" sz="2800" b="1" i="1">
                            <a:latin typeface="Cambria Math"/>
                          </a:rPr>
                          <m:t>𝒕</m:t>
                        </m:r>
                      </m:e>
                    </m:d>
                  </m:oMath>
                </a14:m>
                <a:r>
                  <a:rPr lang="zh-CN" altLang="en-US" sz="2800" dirty="0"/>
                  <a:t>作用下，</a:t>
                </a:r>
                <a:r>
                  <a:rPr lang="en-US" altLang="zh-CN" sz="2800" dirty="0"/>
                  <a:t>D</a:t>
                </a:r>
                <a:r>
                  <a:rPr lang="en-US" altLang="zh-CN" sz="2800" baseline="-25000" dirty="0"/>
                  <a:t>1</a:t>
                </a:r>
                <a:r>
                  <a:rPr lang="zh-CN" altLang="en-US" sz="2800" dirty="0"/>
                  <a:t>、</a:t>
                </a:r>
                <a:r>
                  <a:rPr lang="en-US" altLang="zh-CN" sz="2800" dirty="0"/>
                  <a:t>D</a:t>
                </a:r>
                <a:r>
                  <a:rPr lang="en-US" altLang="zh-CN" sz="2800" baseline="-25000" dirty="0"/>
                  <a:t>2</a:t>
                </a:r>
                <a:r>
                  <a:rPr lang="zh-CN" altLang="en-US" sz="2800" dirty="0"/>
                  <a:t>工作于开关状态。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88" y="5301208"/>
                <a:ext cx="7783744" cy="1126462"/>
              </a:xfrm>
              <a:prstGeom prst="rect">
                <a:avLst/>
              </a:prstGeom>
              <a:blipFill rotWithShape="1">
                <a:blip r:embed="rId5"/>
                <a:stretch>
                  <a:fillRect l="-1566" t="-3804" r="-1175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1980283" y="1086070"/>
            <a:ext cx="5545137" cy="3470275"/>
            <a:chOff x="1980283" y="1086070"/>
            <a:chExt cx="5545137" cy="3470275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51720" y="1086070"/>
              <a:ext cx="5473700" cy="3470275"/>
            </a:xfrm>
            <a:prstGeom prst="rect">
              <a:avLst/>
            </a:prstGeom>
            <a:noFill/>
            <a:ln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aphicFrame>
          <p:nvGraphicFramePr>
            <p:cNvPr id="8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5411647"/>
                </p:ext>
              </p:extLst>
            </p:nvPr>
          </p:nvGraphicFramePr>
          <p:xfrm>
            <a:off x="1980283" y="2598958"/>
            <a:ext cx="647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55320" imgH="228600" progId="Equation.DSMT4">
                    <p:embed/>
                  </p:oleObj>
                </mc:Choice>
                <mc:Fallback>
                  <p:oleObj name="Equation" r:id="rId7" imgW="355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0283" y="2598958"/>
                          <a:ext cx="6477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360766"/>
                </p:ext>
              </p:extLst>
            </p:nvPr>
          </p:nvGraphicFramePr>
          <p:xfrm>
            <a:off x="4201604" y="3068960"/>
            <a:ext cx="576262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42751" imgH="228501" progId="Equation.DSMT4">
                    <p:embed/>
                  </p:oleObj>
                </mc:Choice>
                <mc:Fallback>
                  <p:oleObj name="Equation" r:id="rId9" imgW="342751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1604" y="3068960"/>
                          <a:ext cx="576262" cy="384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3343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536" y="548680"/>
            <a:ext cx="4204997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忽略二极管的导通电阻</a:t>
            </a:r>
            <a:r>
              <a:rPr lang="zh-CN" altLang="en-US" dirty="0"/>
              <a:t>，则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51520" y="1197359"/>
                <a:ext cx="8568952" cy="1943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zh-CN" altLang="en-US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latin typeface="Cambria Math"/>
                            </a:rPr>
                            <m:t>𝛺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/>
                                </a:rPr>
                                <m:t>𝐶</m:t>
                              </m:r>
                            </m:sub>
                          </m:sSub>
                          <m:r>
                            <a:rPr lang="zh-CN" alt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latin typeface="Cambria Math"/>
                            </a:rPr>
                            <m:t>𝛺</m:t>
                          </m:r>
                        </m:sub>
                      </m:sSub>
                      <m:r>
                        <a:rPr lang="zh-CN" altLang="en-US">
                          <a:latin typeface="Cambria Math"/>
                        </a:rPr>
                        <m:t>(</m:t>
                      </m:r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)⋅(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altLang="en-US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zh-CN" altLang="en-US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altLang="en-US">
                              <a:latin typeface="Cambria Math"/>
                            </a:rPr>
                            <m:t>3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r>
                        <a:rPr lang="zh-CN" altLang="en-US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altLang="en-US">
                              <a:latin typeface="Cambria Math"/>
                            </a:rPr>
                            <m:t>5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r>
                        <a:rPr lang="zh-CN" altLang="en-US">
                          <a:latin typeface="Cambria Math"/>
                        </a:rPr>
                        <m:t>5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 smtClean="0">
                          <a:latin typeface="Cambria Math"/>
                        </a:rPr>
                        <m:t>−</m:t>
                      </m:r>
                      <m:r>
                        <a:rPr lang="zh-CN" altLang="en-US">
                          <a:latin typeface="Cambria Math"/>
                        </a:rPr>
                        <m:t>⋅⋅⋅</m:t>
                      </m:r>
                      <m:r>
                        <a:rPr lang="en-US" altLang="zh-CN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197359"/>
                <a:ext cx="8568952" cy="194360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67544" y="3429000"/>
                <a:ext cx="7848872" cy="5724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其频率分量为：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</a:rPr>
                      <m:t>𝛺</m:t>
                    </m:r>
                    <m:r>
                      <a:rPr lang="zh-CN" altLang="en-US">
                        <a:latin typeface="Cambria Math"/>
                      </a:rPr>
                      <m:t>、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±</m:t>
                    </m:r>
                    <m:r>
                      <a:rPr lang="zh-CN" altLang="en-US" i="1">
                        <a:latin typeface="Cambria Math"/>
                      </a:rPr>
                      <m:t>𝛺</m:t>
                    </m:r>
                    <m:r>
                      <a:rPr lang="zh-CN" altLang="en-US">
                        <a:latin typeface="Cambria Math"/>
                      </a:rPr>
                      <m:t>、</m:t>
                    </m:r>
                    <m:r>
                      <a:rPr lang="zh-CN" altLang="en-US">
                        <a:latin typeface="Cambria Math"/>
                      </a:rPr>
                      <m:t>3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±</m:t>
                    </m:r>
                    <m:r>
                      <a:rPr lang="zh-CN" altLang="en-US" i="1">
                        <a:latin typeface="Cambria Math"/>
                      </a:rPr>
                      <m:t>𝛺</m:t>
                    </m:r>
                    <m:r>
                      <a:rPr lang="zh-CN" altLang="en-US">
                        <a:latin typeface="Cambria Math"/>
                      </a:rPr>
                      <m:t>、</m:t>
                    </m:r>
                    <m:r>
                      <a:rPr lang="zh-CN" altLang="en-US">
                        <a:latin typeface="Cambria Math"/>
                      </a:rPr>
                      <m:t>5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𝐶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±</m:t>
                    </m:r>
                    <m:r>
                      <a:rPr lang="zh-CN" altLang="en-US" i="1">
                        <a:latin typeface="Cambria Math"/>
                      </a:rPr>
                      <m:t>𝛺</m:t>
                    </m:r>
                    <m:r>
                      <a:rPr lang="zh-CN" altLang="en-US">
                        <a:latin typeface="Cambria Math"/>
                      </a:rPr>
                      <m:t>⋅⋅⋅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429000"/>
                <a:ext cx="7848872" cy="572464"/>
              </a:xfrm>
              <a:prstGeom prst="rect">
                <a:avLst/>
              </a:prstGeom>
              <a:blipFill rotWithShape="1">
                <a:blip r:embed="rId3"/>
                <a:stretch>
                  <a:fillRect l="-1399" t="-5376" b="-16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43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76672"/>
            <a:ext cx="7704856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</a:rPr>
              <a:t>二极管双平衡调制电路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048864"/>
              </p:ext>
            </p:extLst>
          </p:nvPr>
        </p:nvGraphicFramePr>
        <p:xfrm>
          <a:off x="676688" y="4077072"/>
          <a:ext cx="3096344" cy="604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400" imgH="228600" progId="Equation.DSMT4">
                  <p:embed/>
                </p:oleObj>
              </mc:Choice>
              <mc:Fallback>
                <p:oleObj name="Equation" r:id="rId2" imgW="116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688" y="4077072"/>
                        <a:ext cx="3096344" cy="6041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76688" y="4941168"/>
                <a:ext cx="7783744" cy="11264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𝑪𝒎</m:t>
                        </m:r>
                      </m:sub>
                    </m:sSub>
                  </m:oMath>
                </a14:m>
                <a:r>
                  <a:rPr lang="zh-CN" altLang="en-US" sz="2800" dirty="0"/>
                  <a:t>很大，在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zh-CN" altLang="en-US" sz="2800" b="1" i="1">
                                <a:latin typeface="Cambria Math"/>
                              </a:rPr>
                              <m:t>𝑪</m:t>
                            </m:r>
                          </m:sub>
                        </m:sSub>
                        <m:r>
                          <a:rPr lang="zh-CN" altLang="en-US" sz="2800" b="1">
                            <a:latin typeface="Cambria Math"/>
                          </a:rPr>
                          <m:t>(</m:t>
                        </m:r>
                        <m:r>
                          <a:rPr lang="zh-CN" altLang="en-US" sz="2800" b="1" i="1">
                            <a:latin typeface="Cambria Math"/>
                          </a:rPr>
                          <m:t>𝒕</m:t>
                        </m:r>
                      </m:e>
                    </m:d>
                  </m:oMath>
                </a14:m>
                <a:r>
                  <a:rPr lang="zh-CN" altLang="en-US" sz="2800" dirty="0"/>
                  <a:t>作用下，</a:t>
                </a:r>
                <a:r>
                  <a:rPr lang="en-US" altLang="zh-CN" sz="2800" dirty="0"/>
                  <a:t>D</a:t>
                </a:r>
                <a:r>
                  <a:rPr lang="en-US" altLang="zh-CN" sz="2800" baseline="-25000" dirty="0"/>
                  <a:t>1</a:t>
                </a:r>
                <a:r>
                  <a:rPr lang="en-US" altLang="zh-CN" sz="2800" dirty="0"/>
                  <a:t>~D</a:t>
                </a:r>
                <a:r>
                  <a:rPr lang="en-US" altLang="zh-CN" sz="2800" baseline="-25000" dirty="0"/>
                  <a:t>4</a:t>
                </a:r>
                <a:r>
                  <a:rPr lang="zh-CN" altLang="en-US" sz="2800" dirty="0"/>
                  <a:t>工作于开关状态。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88" y="4941168"/>
                <a:ext cx="7783744" cy="1126462"/>
              </a:xfrm>
              <a:prstGeom prst="rect">
                <a:avLst/>
              </a:prstGeom>
              <a:blipFill rotWithShape="1">
                <a:blip r:embed="rId5"/>
                <a:stretch>
                  <a:fillRect l="-1566" t="-3804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1031867" y="1268760"/>
            <a:ext cx="6665280" cy="2592288"/>
            <a:chOff x="1031867" y="1268760"/>
            <a:chExt cx="6665280" cy="2592288"/>
          </a:xfrm>
        </p:grpSpPr>
        <p:pic>
          <p:nvPicPr>
            <p:cNvPr id="276484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6852" y="1268760"/>
              <a:ext cx="6250295" cy="259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3028273"/>
                </p:ext>
              </p:extLst>
            </p:nvPr>
          </p:nvGraphicFramePr>
          <p:xfrm>
            <a:off x="1031867" y="2295725"/>
            <a:ext cx="829969" cy="538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55320" imgH="228600" progId="Equation.DSMT4">
                    <p:embed/>
                  </p:oleObj>
                </mc:Choice>
                <mc:Fallback>
                  <p:oleObj name="Equation" r:id="rId7" imgW="3553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1867" y="2295725"/>
                          <a:ext cx="829969" cy="538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0605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11560" y="764704"/>
            <a:ext cx="5880136" cy="5246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忽略二极管的导通电阻</a:t>
            </a:r>
            <a:r>
              <a:rPr lang="zh-CN" altLang="en-US" dirty="0"/>
              <a:t>，则</a:t>
            </a:r>
            <a:r>
              <a:rPr lang="zh-CN" altLang="en-US" dirty="0">
                <a:latin typeface="Cambria Math"/>
              </a:rPr>
              <a:t>输出电压：</a:t>
            </a:r>
            <a:endParaRPr lang="en-US" altLang="zh-CN" dirty="0">
              <a:latin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11560" y="1344368"/>
                <a:ext cx="6663369" cy="5724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zh-CN" altLang="en-US" b="1" i="1">
                              <a:latin typeface="Cambria Math"/>
                            </a:rPr>
                            <m:t>𝒐</m:t>
                          </m:r>
                        </m:sub>
                      </m:sSub>
                      <m:r>
                        <a:rPr lang="zh-CN" altLang="en-US" b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/>
                            </a:rPr>
                            <m:t>𝒊</m:t>
                          </m:r>
                        </m:e>
                        <m:sub>
                          <m:r>
                            <a:rPr lang="en-US" altLang="zh-CN" b="1" i="1">
                              <a:latin typeface="Cambria Math"/>
                            </a:rPr>
                            <m:t>𝒐</m:t>
                          </m:r>
                        </m:sub>
                      </m:sSub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𝑳</m:t>
                          </m:r>
                        </m:sub>
                      </m:sSub>
                      <m:r>
                        <a:rPr lang="zh-CN" altLang="en-US" b="1">
                          <a:latin typeface="Cambria Math"/>
                        </a:rPr>
                        <m:t>=</m:t>
                      </m:r>
                      <m:d>
                        <m:dPr>
                          <m:begChr m:val="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zh-CN" altLang="en-US" b="1" i="1">
                                  <a:latin typeface="Cambria Math"/>
                                </a:rPr>
                                <m:t>𝜴</m:t>
                              </m:r>
                            </m:sub>
                          </m:sSub>
                          <m:r>
                            <a:rPr lang="zh-CN" altLang="en-US" b="1">
                              <a:latin typeface="Cambria Math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/>
                                </a:rPr>
                                <m:t>𝑲</m:t>
                              </m:r>
                            </m:e>
                            <m:sub>
                              <m:r>
                                <a:rPr lang="zh-CN" altLang="en-US" b="1" i="1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zh-CN" altLang="en-US" b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zh-CN" altLang="en-US" b="1" i="1">
                                  <a:latin typeface="Cambria Math"/>
                                </a:rPr>
                                <m:t>𝑪</m:t>
                              </m:r>
                            </m:sub>
                          </m:sSub>
                          <m:r>
                            <a:rPr lang="zh-CN" altLang="en-US" b="1" i="1">
                              <a:latin typeface="Cambria Math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344368"/>
                <a:ext cx="6663369" cy="57246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635946" y="1772816"/>
                <a:ext cx="7680469" cy="8968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zh-CN" altLang="en-US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/>
                          </a:rPr>
                          <m:t>𝜔</m:t>
                        </m:r>
                        <m:r>
                          <a:rPr lang="zh-CN" alt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zh-CN" altLang="en-US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>
                                        <a:latin typeface="Cambria Math"/>
                                      </a:rPr>
                                      <m:t>cos</m:t>
                                    </m:r>
                                    <m:r>
                                      <a:rPr lang="zh-CN" altLang="en-US" i="1">
                                        <a:latin typeface="Cambria Math"/>
                                      </a:rPr>
                                      <m:t>𝜔</m:t>
                                    </m:r>
                                    <m:r>
                                      <a:rPr lang="zh-CN" altLang="en-US" i="1"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zh-CN" altLang="en-US">
                                        <a:latin typeface="Cambria Math"/>
                                      </a:rPr>
                                      <m:t>&gt;0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>
                                        <a:latin typeface="Cambria Math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zh-CN" altLang="en-US" i="1">
                                        <a:latin typeface="Cambria Math"/>
                                      </a:rPr>
                                      <m:t>𝑐𝑜𝑠</m:t>
                                    </m:r>
                                    <m:r>
                                      <a:rPr lang="zh-CN" altLang="en-US" i="1">
                                        <a:latin typeface="Cambria Math"/>
                                      </a:rPr>
                                      <m:t>𝜔</m:t>
                                    </m:r>
                                    <m:r>
                                      <a:rPr lang="zh-CN" altLang="en-US" i="1"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zh-CN" altLang="en-US">
                                        <a:latin typeface="Cambria Math"/>
                                      </a:rPr>
                                      <m:t>&lt;0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/>
                  <a:t>，是双向开关函数。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46" y="1772816"/>
                <a:ext cx="7680469" cy="896849"/>
              </a:xfrm>
              <a:prstGeom prst="rect">
                <a:avLst/>
              </a:prstGeom>
              <a:blipFill>
                <a:blip r:embed="rId3"/>
                <a:stretch>
                  <a:fillRect l="-1429" r="-1429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11560" y="2780928"/>
                <a:ext cx="7344816" cy="14617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zh-CN" altLang="en-US">
                              <a:latin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zh-CN" altLang="en-US">
                          <a:latin typeface="Cambria Math"/>
                        </a:rPr>
                        <m:t>=</m:t>
                      </m:r>
                      <m:r>
                        <a:rPr lang="en-US" altLang="zh-CN">
                          <a:latin typeface="Cambria Math"/>
                        </a:rPr>
                        <m:t>𝟐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altLang="zh-CN">
                              <a:latin typeface="Cambria Math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−</m:t>
                      </m:r>
                      <m:r>
                        <a:rPr lang="en-US" altLang="zh-CN" i="1">
                          <a:latin typeface="Cambria Math"/>
                        </a:rPr>
                        <m:t>𝟏</m:t>
                      </m:r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r>
                        <a:rPr lang="zh-CN" altLang="en-US" i="1">
                          <a:latin typeface="Cambria Math"/>
                        </a:rPr>
                        <m:t>𝜔</m:t>
                      </m:r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zh-CN" altLang="en-US">
                              <a:latin typeface="Cambria Math"/>
                            </a:rPr>
                            <m:t>3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r>
                        <a:rPr lang="zh-CN" altLang="en-US">
                          <a:latin typeface="Cambria Math"/>
                        </a:rPr>
                        <m:t>3</m:t>
                      </m:r>
                      <m:r>
                        <a:rPr lang="zh-CN" altLang="en-US" i="1">
                          <a:latin typeface="Cambria Math"/>
                        </a:rPr>
                        <m:t>𝜔</m:t>
                      </m:r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zh-CN" altLang="en-US">
                              <a:latin typeface="Cambria Math"/>
                            </a:rPr>
                            <m:t>5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r>
                        <a:rPr lang="zh-CN" altLang="en-US">
                          <a:latin typeface="Cambria Math"/>
                        </a:rPr>
                        <m:t>5</m:t>
                      </m:r>
                      <m:r>
                        <a:rPr lang="zh-CN" altLang="en-US" i="1">
                          <a:latin typeface="Cambria Math"/>
                        </a:rPr>
                        <m:t>𝜔</m:t>
                      </m:r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−⋅⋅⋅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780928"/>
                <a:ext cx="7344816" cy="1461747"/>
              </a:xfrm>
              <a:prstGeom prst="rect">
                <a:avLst/>
              </a:prstGeom>
              <a:blipFill rotWithShape="1">
                <a:blip r:embed="rId4"/>
                <a:stretch>
                  <a:fillRect l="-2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51520" y="4092476"/>
                <a:ext cx="8820471" cy="9927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𝒗</m:t>
                          </m:r>
                        </m:e>
                        <m:sub>
                          <m:r>
                            <a:rPr lang="zh-CN" altLang="en-US" i="1">
                              <a:latin typeface="Cambria Math"/>
                            </a:rPr>
                            <m:t>𝒐</m:t>
                          </m:r>
                        </m:sub>
                      </m:sSub>
                      <m:r>
                        <a:rPr lang="en-US" altLang="zh-CN" b="1" i="0" smtClean="0">
                          <a:latin typeface="Cambria Math"/>
                        </a:rPr>
                        <m:t>=</m:t>
                      </m:r>
                      <m:r>
                        <a:rPr lang="zh-CN" altLang="en-US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latin typeface="Cambria Math"/>
                            </a:rPr>
                            <m:t>𝛺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r>
                        <a:rPr lang="zh-CN" altLang="en-US" i="1">
                          <a:latin typeface="Cambria Math"/>
                        </a:rPr>
                        <m:t>𝛺</m:t>
                      </m:r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(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zh-CN" altLang="en-US">
                              <a:latin typeface="Cambria Math"/>
                            </a:rPr>
                            <m:t>3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r>
                        <a:rPr lang="zh-CN" altLang="en-US">
                          <a:latin typeface="Cambria Math"/>
                        </a:rPr>
                        <m:t>3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zh-CN" altLang="en-US">
                              <a:latin typeface="Cambria Math"/>
                            </a:rPr>
                            <m:t>5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𝜋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>
                          <a:latin typeface="Cambria Math"/>
                        </a:rPr>
                        <m:t>cos</m:t>
                      </m:r>
                      <m:r>
                        <a:rPr lang="zh-CN" altLang="en-US">
                          <a:latin typeface="Cambria Math"/>
                        </a:rPr>
                        <m:t>5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zh-CN" altLang="en-US" i="1">
                          <a:latin typeface="Cambria Math"/>
                        </a:rPr>
                        <m:t>𝑡</m:t>
                      </m:r>
                      <m:r>
                        <a:rPr lang="zh-CN" altLang="en-US">
                          <a:latin typeface="Cambria Math"/>
                        </a:rPr>
                        <m:t>−⋅⋅⋅</m:t>
                      </m:r>
                      <m:r>
                        <a:rPr lang="en-US" altLang="zh-CN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092476"/>
                <a:ext cx="8820471" cy="99270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635946" y="5445224"/>
                <a:ext cx="4572000" cy="105259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dirty="0"/>
                  <a:t>频率分量：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/>
                                </a:rPr>
                                <m:t>𝐶</m:t>
                              </m:r>
                            </m:sub>
                          </m:sSub>
                          <m:r>
                            <a:rPr lang="zh-CN" altLang="en-US">
                              <a:latin typeface="Cambria Math"/>
                            </a:rPr>
                            <m:t>±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𝛺</m:t>
                          </m:r>
                          <m:r>
                            <a:rPr lang="en-US" altLang="zh-CN">
                              <a:latin typeface="Cambria Math"/>
                            </a:rPr>
                            <m:t>,</m:t>
                          </m:r>
                        </m:e>
                        <m:e>
                          <m:r>
                            <a:rPr lang="zh-CN" altLang="en-US">
                              <a:latin typeface="Cambria Math"/>
                            </a:rPr>
                            <m:t>3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/>
                                </a:rPr>
                                <m:t>𝐶</m:t>
                              </m:r>
                            </m:sub>
                          </m:sSub>
                          <m:r>
                            <a:rPr lang="zh-CN" altLang="en-US">
                              <a:latin typeface="Cambria Math"/>
                            </a:rPr>
                            <m:t>±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𝛺</m:t>
                          </m:r>
                          <m:r>
                            <a:rPr lang="en-US" altLang="zh-CN">
                              <a:latin typeface="Cambria Math"/>
                            </a:rPr>
                            <m:t>,</m:t>
                          </m:r>
                        </m:e>
                        <m:e>
                          <m:r>
                            <a:rPr lang="zh-CN" altLang="en-US">
                              <a:latin typeface="Cambria Math"/>
                            </a:rPr>
                            <m:t>5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/>
                                </a:rPr>
                                <m:t>𝐶</m:t>
                              </m:r>
                            </m:sub>
                          </m:sSub>
                          <m:r>
                            <a:rPr lang="zh-CN" altLang="en-US">
                              <a:latin typeface="Cambria Math"/>
                            </a:rPr>
                            <m:t>±</m:t>
                          </m:r>
                          <m:r>
                            <a:rPr lang="zh-CN" altLang="en-US" i="1">
                              <a:latin typeface="Cambria Math"/>
                            </a:rPr>
                            <m:t>𝛺</m:t>
                          </m:r>
                          <m:r>
                            <a:rPr lang="zh-CN" altLang="en-US">
                              <a:latin typeface="Cambria Math"/>
                            </a:rPr>
                            <m:t>⋅⋅⋅</m:t>
                          </m:r>
                        </m:e>
                      </m:mr>
                    </m:m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46" y="5445224"/>
                <a:ext cx="4572000" cy="1052596"/>
              </a:xfrm>
              <a:prstGeom prst="rect">
                <a:avLst/>
              </a:prstGeom>
              <a:blipFill rotWithShape="1">
                <a:blip r:embed="rId6"/>
                <a:stretch>
                  <a:fillRect l="-2267" t="-2890" r="-25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15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3818" y="548680"/>
            <a:ext cx="7704856" cy="559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</a:rPr>
              <a:t>单差分对电路</a:t>
            </a:r>
          </a:p>
        </p:txBody>
      </p:sp>
      <p:pic>
        <p:nvPicPr>
          <p:cNvPr id="3" name="Picture 4" descr="4-2-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6" b="12418"/>
          <a:stretch>
            <a:fillRect/>
          </a:stretch>
        </p:blipFill>
        <p:spPr bwMode="auto">
          <a:xfrm>
            <a:off x="5724128" y="548680"/>
            <a:ext cx="2945971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353818" y="1196752"/>
            <a:ext cx="4540025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差分对管的差模输出电流为：</a:t>
            </a:r>
          </a:p>
        </p:txBody>
      </p:sp>
      <p:graphicFrame>
        <p:nvGraphicFramePr>
          <p:cNvPr id="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175244"/>
              </p:ext>
            </p:extLst>
          </p:nvPr>
        </p:nvGraphicFramePr>
        <p:xfrm>
          <a:off x="1115616" y="1725687"/>
          <a:ext cx="32766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62122" imgH="371429" progId="Equation.DSMT4">
                  <p:embed/>
                </p:oleObj>
              </mc:Choice>
              <mc:Fallback>
                <p:oleObj name="Equation" r:id="rId3" imgW="1362122" imgH="3714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725687"/>
                        <a:ext cx="32766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93238" y="2564904"/>
                <a:ext cx="8136904" cy="14980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其中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为双曲正切函数：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/>
                        </a:rPr>
                        <m:t>𝑡h</m:t>
                      </m:r>
                      <m:r>
                        <a:rPr lang="zh-CN" altLang="en-US">
                          <a:latin typeface="Cambria Math"/>
                        </a:rPr>
                        <m:t>(</m:t>
                      </m:r>
                      <m:r>
                        <a:rPr lang="zh-CN" altLang="en-US" i="1">
                          <a:latin typeface="Cambria Math"/>
                        </a:rPr>
                        <m:t>𝑥</m:t>
                      </m:r>
                      <m:r>
                        <a:rPr lang="zh-CN" altLang="en-US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i="1">
                                  <a:latin typeface="Cambria Math"/>
                                </a:rPr>
                                <m:t>𝑥</m:t>
                              </m:r>
                            </m:sup>
                          </m:sSup>
                          <m:r>
                            <a:rPr lang="zh-CN" altLang="en-US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>
                                  <a:latin typeface="Cambria Math"/>
                                </a:rPr>
                                <m:t>−</m:t>
                              </m:r>
                              <m:r>
                                <a:rPr lang="zh-CN" altLang="en-US" i="1">
                                  <a:latin typeface="Cambria Math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 i="1">
                                  <a:latin typeface="Cambria Math"/>
                                </a:rPr>
                                <m:t>𝑥</m:t>
                              </m:r>
                            </m:sup>
                          </m:sSup>
                          <m:r>
                            <a:rPr lang="zh-CN" altLang="en-US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en-US">
                                  <a:latin typeface="Cambria Math"/>
                                </a:rPr>
                                <m:t>−</m:t>
                              </m:r>
                              <m:r>
                                <a:rPr lang="zh-CN" altLang="en-US" i="1">
                                  <a:latin typeface="Cambria Math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38" y="2564904"/>
                <a:ext cx="8136904" cy="1498039"/>
              </a:xfrm>
              <a:prstGeom prst="rect">
                <a:avLst/>
              </a:prstGeom>
              <a:blipFill rotWithShape="1">
                <a:blip r:embed="rId6"/>
                <a:stretch>
                  <a:fillRect l="-1273" t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343676" y="4224453"/>
            <a:ext cx="4116833" cy="20128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th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zh-CN" altLang="zh-CN" dirty="0"/>
              <a:t>的特点</a:t>
            </a:r>
            <a:r>
              <a:rPr lang="zh-CN" altLang="en-US" dirty="0"/>
              <a:t>：</a:t>
            </a:r>
            <a:endParaRPr lang="en-US" altLang="zh-CN" dirty="0"/>
          </a:p>
          <a:p>
            <a:pPr lvl="0"/>
            <a:r>
              <a:rPr lang="en-US" altLang="zh-CN" dirty="0"/>
              <a:t>(1) </a:t>
            </a:r>
            <a:r>
              <a:rPr lang="zh-CN" altLang="zh-CN" dirty="0"/>
              <a:t>当</a:t>
            </a:r>
            <a:r>
              <a:rPr lang="en-US" altLang="zh-CN" dirty="0"/>
              <a:t> |</a:t>
            </a:r>
            <a:r>
              <a:rPr lang="en-US" altLang="zh-CN" i="1" dirty="0"/>
              <a:t>x</a:t>
            </a:r>
            <a:r>
              <a:rPr lang="en-US" altLang="zh-CN" dirty="0"/>
              <a:t>| &lt; 0.5</a:t>
            </a:r>
            <a:r>
              <a:rPr lang="zh-CN" altLang="zh-CN" dirty="0"/>
              <a:t>时，</a:t>
            </a:r>
            <a:r>
              <a:rPr lang="en-US" altLang="zh-CN" dirty="0" err="1"/>
              <a:t>th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 ≈ </a:t>
            </a:r>
            <a:r>
              <a:rPr lang="en-US" altLang="zh-CN" i="1" dirty="0"/>
              <a:t>x</a:t>
            </a:r>
            <a:endParaRPr lang="zh-CN" altLang="zh-CN" dirty="0"/>
          </a:p>
          <a:p>
            <a:pPr lvl="0"/>
            <a:r>
              <a:rPr lang="en-US" altLang="zh-CN" dirty="0"/>
              <a:t>(2) </a:t>
            </a:r>
            <a:r>
              <a:rPr lang="zh-CN" altLang="zh-CN" dirty="0"/>
              <a:t>当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dirty="0"/>
              <a:t> &gt; 4</a:t>
            </a:r>
            <a:r>
              <a:rPr lang="zh-CN" altLang="zh-CN" dirty="0"/>
              <a:t>时，</a:t>
            </a:r>
            <a:r>
              <a:rPr lang="en-US" altLang="zh-CN" dirty="0" err="1"/>
              <a:t>th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  ≈ 1</a:t>
            </a:r>
            <a:endParaRPr lang="zh-CN" altLang="zh-CN" dirty="0"/>
          </a:p>
          <a:p>
            <a:r>
              <a:rPr lang="en-US" altLang="zh-CN" dirty="0"/>
              <a:t>(3) </a:t>
            </a:r>
            <a:r>
              <a:rPr lang="zh-CN" altLang="zh-CN" dirty="0"/>
              <a:t>当</a:t>
            </a:r>
            <a:r>
              <a:rPr lang="en-US" altLang="zh-CN" dirty="0"/>
              <a:t> </a:t>
            </a:r>
            <a:r>
              <a:rPr lang="en-US" altLang="zh-CN" i="1" dirty="0"/>
              <a:t>x </a:t>
            </a:r>
            <a:r>
              <a:rPr lang="en-US" altLang="zh-CN" dirty="0"/>
              <a:t>&lt; -4</a:t>
            </a:r>
            <a:r>
              <a:rPr lang="zh-CN" altLang="zh-CN" dirty="0"/>
              <a:t>时，</a:t>
            </a:r>
            <a:r>
              <a:rPr lang="en-US" altLang="zh-CN" dirty="0" err="1"/>
              <a:t>th</a:t>
            </a:r>
            <a:r>
              <a:rPr lang="en-US" altLang="zh-CN" dirty="0"/>
              <a:t> (x)  ≈ -1</a:t>
            </a:r>
            <a:endParaRPr lang="zh-CN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50" y="4244715"/>
            <a:ext cx="4250185" cy="210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5DE0721-6773-4210-BB44-07A62261C46A}"/>
              </a:ext>
            </a:extLst>
          </p:cNvPr>
          <p:cNvSpPr txBox="1"/>
          <p:nvPr/>
        </p:nvSpPr>
        <p:spPr>
          <a:xfrm>
            <a:off x="6061477" y="3311727"/>
            <a:ext cx="2379443" cy="326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（受控电流源</a:t>
            </a:r>
            <a:r>
              <a:rPr lang="en-US" altLang="zh-CN" sz="1400" dirty="0"/>
              <a:t>I</a:t>
            </a:r>
            <a:r>
              <a:rPr lang="en-US" altLang="zh-CN" sz="1400" baseline="-25000" dirty="0"/>
              <a:t>0</a:t>
            </a:r>
            <a:r>
              <a:rPr lang="zh-CN" altLang="en-US" sz="1400" dirty="0"/>
              <a:t>参考作业题）</a:t>
            </a:r>
          </a:p>
        </p:txBody>
      </p:sp>
    </p:spTree>
    <p:extLst>
      <p:ext uri="{BB962C8B-B14F-4D97-AF65-F5344CB8AC3E}">
        <p14:creationId xmlns:p14="http://schemas.microsoft.com/office/powerpoint/2010/main" val="74591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31" name="Picture 3" descr="4-2-6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98"/>
          <a:stretch>
            <a:fillRect/>
          </a:stretch>
        </p:blipFill>
        <p:spPr bwMode="auto">
          <a:xfrm>
            <a:off x="5148064" y="853379"/>
            <a:ext cx="3456384" cy="4405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9" name="Rectangle 8"/>
          <p:cNvSpPr>
            <a:spLocks noChangeArrowheads="1"/>
          </p:cNvSpPr>
          <p:nvPr/>
        </p:nvSpPr>
        <p:spPr bwMode="auto">
          <a:xfrm>
            <a:off x="755576" y="1158078"/>
            <a:ext cx="3962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tabLst>
                <a:tab pos="457200" algn="l"/>
              </a:tabLst>
            </a:pPr>
            <a:r>
              <a:rPr lang="en-US" altLang="zh-CN" i="1" dirty="0" err="1">
                <a:solidFill>
                  <a:srgbClr val="FF0066"/>
                </a:solidFill>
              </a:rPr>
              <a:t>i</a:t>
            </a:r>
            <a:r>
              <a:rPr lang="en-US" altLang="zh-CN" i="1" dirty="0">
                <a:solidFill>
                  <a:srgbClr val="FF0066"/>
                </a:solidFill>
              </a:rPr>
              <a:t> = </a:t>
            </a:r>
            <a:r>
              <a:rPr lang="en-US" altLang="zh-CN" i="1" dirty="0" err="1">
                <a:solidFill>
                  <a:srgbClr val="FF0066"/>
                </a:solidFill>
              </a:rPr>
              <a:t>i</a:t>
            </a:r>
            <a:r>
              <a:rPr lang="en-US" altLang="zh-CN" baseline="-30000" dirty="0" err="1">
                <a:solidFill>
                  <a:srgbClr val="FF0066"/>
                </a:solidFill>
              </a:rPr>
              <a:t>Ⅰ</a:t>
            </a:r>
            <a:r>
              <a:rPr lang="en-US" altLang="zh-CN" dirty="0">
                <a:solidFill>
                  <a:srgbClr val="FF0066"/>
                </a:solidFill>
                <a:latin typeface="Symbol" pitchFamily="18" charset="2"/>
              </a:rPr>
              <a:t>- </a:t>
            </a:r>
            <a:r>
              <a:rPr lang="en-US" altLang="zh-CN" i="1" dirty="0" err="1">
                <a:solidFill>
                  <a:srgbClr val="FF0066"/>
                </a:solidFill>
              </a:rPr>
              <a:t>i</a:t>
            </a:r>
            <a:r>
              <a:rPr lang="en-US" altLang="zh-CN" baseline="-30000" dirty="0" err="1">
                <a:solidFill>
                  <a:srgbClr val="FF0066"/>
                </a:solidFill>
                <a:latin typeface="宋体" charset="-122"/>
              </a:rPr>
              <a:t>Ⅱ</a:t>
            </a:r>
            <a:endParaRPr lang="en-US" altLang="zh-CN" baseline="-30000" dirty="0">
              <a:solidFill>
                <a:srgbClr val="FF0066"/>
              </a:solidFill>
              <a:latin typeface="宋体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548680"/>
            <a:ext cx="7704856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2. </a:t>
            </a:r>
            <a:r>
              <a:rPr lang="zh-CN" altLang="en-US" sz="2800" dirty="0">
                <a:solidFill>
                  <a:srgbClr val="0000FF"/>
                </a:solidFill>
              </a:rPr>
              <a:t>双差分对电路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350014"/>
              </p:ext>
            </p:extLst>
          </p:nvPr>
        </p:nvGraphicFramePr>
        <p:xfrm>
          <a:off x="724267" y="1739846"/>
          <a:ext cx="31242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8219" imgH="361981" progId="Equation.DSMT4">
                  <p:embed/>
                </p:oleObj>
              </mc:Choice>
              <mc:Fallback>
                <p:oleObj name="Equation" r:id="rId3" imgW="1238219" imgH="36198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67" y="1739846"/>
                        <a:ext cx="312420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339005" y="2852936"/>
            <a:ext cx="4542302" cy="2447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latin typeface="宋体" charset="-122"/>
              </a:rPr>
              <a:t>双差分对平衡调制器提供了两个</a:t>
            </a:r>
            <a:r>
              <a:rPr lang="zh-CN" altLang="en-US" dirty="0">
                <a:solidFill>
                  <a:schemeClr val="hlink"/>
                </a:solidFill>
                <a:latin typeface="宋体" charset="-122"/>
              </a:rPr>
              <a:t>非线性函数</a:t>
            </a:r>
            <a:r>
              <a:rPr lang="en-US" altLang="zh-CN" dirty="0">
                <a:solidFill>
                  <a:srgbClr val="FF0066"/>
                </a:solidFill>
                <a:latin typeface="宋体" charset="-122"/>
              </a:rPr>
              <a:t>(</a:t>
            </a:r>
            <a:r>
              <a:rPr lang="zh-CN" altLang="en-US" dirty="0">
                <a:solidFill>
                  <a:srgbClr val="FF0066"/>
                </a:solidFill>
                <a:latin typeface="宋体" charset="-122"/>
              </a:rPr>
              <a:t>双曲正切</a:t>
            </a:r>
            <a:r>
              <a:rPr lang="en-US" altLang="zh-CN" dirty="0">
                <a:solidFill>
                  <a:srgbClr val="FF0066"/>
                </a:solidFill>
                <a:latin typeface="宋体" charset="-122"/>
              </a:rPr>
              <a:t>)</a:t>
            </a:r>
            <a:r>
              <a:rPr lang="zh-CN" altLang="en-US" dirty="0">
                <a:latin typeface="宋体" charset="-122"/>
              </a:rPr>
              <a:t>相乘的特性，如果要实现</a:t>
            </a:r>
            <a:r>
              <a:rPr lang="en-US" altLang="zh-CN" i="1" dirty="0">
                <a:solidFill>
                  <a:srgbClr val="FF0066"/>
                </a:solidFill>
              </a:rPr>
              <a:t>v</a:t>
            </a:r>
            <a:r>
              <a:rPr lang="en-US" altLang="zh-CN" baseline="-30000" dirty="0">
                <a:solidFill>
                  <a:srgbClr val="FF0066"/>
                </a:solidFill>
              </a:rPr>
              <a:t>1</a:t>
            </a:r>
            <a:r>
              <a:rPr lang="zh-CN" altLang="en-US" dirty="0">
                <a:latin typeface="宋体" charset="-122"/>
              </a:rPr>
              <a:t>和</a:t>
            </a:r>
            <a:r>
              <a:rPr lang="en-US" altLang="zh-CN" i="1" dirty="0">
                <a:solidFill>
                  <a:srgbClr val="FF0066"/>
                </a:solidFill>
              </a:rPr>
              <a:t>v</a:t>
            </a:r>
            <a:r>
              <a:rPr lang="en-US" altLang="zh-CN" baseline="-30000" dirty="0">
                <a:solidFill>
                  <a:srgbClr val="FF0066"/>
                </a:solidFill>
              </a:rPr>
              <a:t>2</a:t>
            </a:r>
            <a:r>
              <a:rPr lang="zh-CN" altLang="en-US" dirty="0">
                <a:latin typeface="宋体" charset="-122"/>
              </a:rPr>
              <a:t>的相乘运算，需要对</a:t>
            </a:r>
            <a:r>
              <a:rPr lang="en-US" altLang="zh-CN" i="1" dirty="0">
                <a:solidFill>
                  <a:srgbClr val="FF0066"/>
                </a:solidFill>
              </a:rPr>
              <a:t>v</a:t>
            </a:r>
            <a:r>
              <a:rPr lang="en-US" altLang="zh-CN" baseline="-30000" dirty="0">
                <a:solidFill>
                  <a:srgbClr val="FF0066"/>
                </a:solidFill>
              </a:rPr>
              <a:t>1</a:t>
            </a:r>
            <a:r>
              <a:rPr lang="zh-CN" altLang="en-US" dirty="0">
                <a:latin typeface="宋体" charset="-122"/>
              </a:rPr>
              <a:t>和</a:t>
            </a:r>
            <a:r>
              <a:rPr lang="en-US" altLang="zh-CN" i="1" dirty="0">
                <a:solidFill>
                  <a:srgbClr val="FF0066"/>
                </a:solidFill>
              </a:rPr>
              <a:t>v</a:t>
            </a:r>
            <a:r>
              <a:rPr lang="en-US" altLang="zh-CN" baseline="-30000" dirty="0">
                <a:solidFill>
                  <a:srgbClr val="FF0066"/>
                </a:solidFill>
              </a:rPr>
              <a:t>2</a:t>
            </a:r>
            <a:r>
              <a:rPr lang="zh-CN" altLang="en-US" dirty="0">
                <a:latin typeface="宋体" charset="-122"/>
              </a:rPr>
              <a:t>的大小做一定的限制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5281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23528" y="587370"/>
            <a:ext cx="6900862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若 </a:t>
            </a:r>
            <a:r>
              <a:rPr lang="en-US" altLang="zh-CN" sz="3200" dirty="0">
                <a:solidFill>
                  <a:srgbClr val="0000FF"/>
                </a:solidFill>
              </a:rPr>
              <a:t>|</a:t>
            </a:r>
            <a:r>
              <a:rPr lang="en-US" altLang="zh-CN" i="1" dirty="0">
                <a:solidFill>
                  <a:srgbClr val="0000FF"/>
                </a:solidFill>
              </a:rPr>
              <a:t>v</a:t>
            </a:r>
            <a:r>
              <a:rPr lang="en-US" altLang="zh-CN" baseline="-25000" dirty="0">
                <a:solidFill>
                  <a:srgbClr val="0000FF"/>
                </a:solidFill>
              </a:rPr>
              <a:t>1</a:t>
            </a:r>
            <a:r>
              <a:rPr lang="en-US" altLang="zh-CN" sz="3200" dirty="0">
                <a:solidFill>
                  <a:srgbClr val="0000FF"/>
                </a:solidFill>
              </a:rPr>
              <a:t>|</a:t>
            </a:r>
            <a:r>
              <a:rPr lang="en-US" altLang="zh-CN" dirty="0">
                <a:solidFill>
                  <a:srgbClr val="0000FF"/>
                </a:solidFill>
                <a:latin typeface="Symbol" pitchFamily="18" charset="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宋体" charset="-122"/>
              </a:rPr>
              <a:t>≤</a:t>
            </a:r>
            <a:r>
              <a:rPr lang="en-US" altLang="zh-CN" dirty="0">
                <a:solidFill>
                  <a:srgbClr val="0000FF"/>
                </a:solidFill>
              </a:rPr>
              <a:t> 26 mV</a:t>
            </a:r>
            <a:r>
              <a:rPr lang="zh-CN" altLang="en-US" dirty="0">
                <a:solidFill>
                  <a:srgbClr val="0000FF"/>
                </a:solidFill>
              </a:rPr>
              <a:t>， </a:t>
            </a:r>
            <a:r>
              <a:rPr lang="en-US" altLang="zh-CN" sz="3200" dirty="0">
                <a:solidFill>
                  <a:srgbClr val="0000FF"/>
                </a:solidFill>
              </a:rPr>
              <a:t>|</a:t>
            </a:r>
            <a:r>
              <a:rPr lang="en-US" altLang="zh-CN" i="1" dirty="0">
                <a:solidFill>
                  <a:srgbClr val="0000FF"/>
                </a:solidFill>
              </a:rPr>
              <a:t>v</a:t>
            </a:r>
            <a:r>
              <a:rPr lang="en-US" altLang="zh-CN" baseline="-25000" dirty="0">
                <a:solidFill>
                  <a:srgbClr val="0000FF"/>
                </a:solidFill>
              </a:rPr>
              <a:t>2</a:t>
            </a:r>
            <a:r>
              <a:rPr lang="en-US" altLang="zh-CN" sz="3200" dirty="0">
                <a:solidFill>
                  <a:srgbClr val="0000FF"/>
                </a:solidFill>
              </a:rPr>
              <a:t>|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宋体" charset="-122"/>
              </a:rPr>
              <a:t>≤</a:t>
            </a:r>
            <a:r>
              <a:rPr lang="en-US" altLang="zh-CN" dirty="0">
                <a:solidFill>
                  <a:srgbClr val="0000FF"/>
                </a:solidFill>
              </a:rPr>
              <a:t> 26 mV </a:t>
            </a:r>
            <a:r>
              <a:rPr lang="zh-CN" altLang="en-US" dirty="0">
                <a:solidFill>
                  <a:srgbClr val="0000FF"/>
                </a:solidFill>
                <a:latin typeface="宋体" charset="-122"/>
              </a:rPr>
              <a:t>。</a:t>
            </a:r>
          </a:p>
        </p:txBody>
      </p: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755650" y="1124309"/>
            <a:ext cx="6373813" cy="933450"/>
            <a:chOff x="472" y="569"/>
            <a:chExt cx="4015" cy="588"/>
          </a:xfrm>
        </p:grpSpPr>
        <p:graphicFrame>
          <p:nvGraphicFramePr>
            <p:cNvPr id="4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7090596"/>
                </p:ext>
              </p:extLst>
            </p:nvPr>
          </p:nvGraphicFramePr>
          <p:xfrm>
            <a:off x="3239" y="615"/>
            <a:ext cx="1248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2" imgW="866780" imgH="371429" progId="Equation.3">
                    <p:embed/>
                  </p:oleObj>
                </mc:Choice>
                <mc:Fallback>
                  <p:oleObj name="Microsoft 公式 3.0" r:id="rId2" imgW="866780" imgH="3714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9" y="615"/>
                          <a:ext cx="1248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472" y="569"/>
              <a:ext cx="2781" cy="5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90000"/>
                </a:lnSpc>
              </a:pPr>
              <a:r>
                <a:rPr lang="zh-CN" altLang="en-US" dirty="0">
                  <a:latin typeface="宋体" charset="-122"/>
                </a:rPr>
                <a:t>当</a:t>
              </a:r>
              <a:r>
                <a:rPr lang="zh-CN" altLang="en-US" dirty="0"/>
                <a:t> </a:t>
              </a:r>
              <a:r>
                <a:rPr lang="en-US" altLang="zh-CN" i="1" dirty="0"/>
                <a:t>v </a:t>
              </a:r>
              <a:r>
                <a:rPr lang="en-US" altLang="zh-CN" sz="2000" dirty="0">
                  <a:latin typeface="宋体" charset="-122"/>
                </a:rPr>
                <a:t>≤</a:t>
              </a:r>
              <a:r>
                <a:rPr lang="en-US" altLang="zh-CN" dirty="0"/>
                <a:t> 26 mV </a:t>
              </a:r>
              <a:r>
                <a:rPr lang="zh-CN" altLang="en-US" dirty="0">
                  <a:latin typeface="宋体" charset="-122"/>
                </a:rPr>
                <a:t>时</a:t>
              </a:r>
              <a:r>
                <a:rPr lang="zh-CN" altLang="en-US" dirty="0"/>
                <a:t>，      </a:t>
              </a:r>
              <a:r>
                <a:rPr lang="zh-CN" altLang="en-US" sz="2000" dirty="0">
                  <a:latin typeface="宋体" charset="-122"/>
                </a:rPr>
                <a:t>≤</a:t>
              </a:r>
              <a:r>
                <a:rPr lang="zh-CN" altLang="en-US" dirty="0"/>
                <a:t> </a:t>
              </a:r>
              <a:r>
                <a:rPr lang="en-US" altLang="zh-CN" dirty="0"/>
                <a:t>0.5</a:t>
              </a:r>
              <a:r>
                <a:rPr lang="zh-CN" altLang="en-US" dirty="0">
                  <a:latin typeface="宋体" charset="-122"/>
                </a:rPr>
                <a:t>。</a:t>
              </a:r>
            </a:p>
          </p:txBody>
        </p:sp>
        <p:graphicFrame>
          <p:nvGraphicFramePr>
            <p:cNvPr id="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0768218"/>
                </p:ext>
              </p:extLst>
            </p:nvPr>
          </p:nvGraphicFramePr>
          <p:xfrm>
            <a:off x="2105" y="615"/>
            <a:ext cx="388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4" imgW="285867" imgH="371429" progId="Equation.3">
                    <p:embed/>
                  </p:oleObj>
                </mc:Choice>
                <mc:Fallback>
                  <p:oleObj name="Microsoft 公式 3.0" r:id="rId4" imgW="285867" imgH="3714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5" y="615"/>
                          <a:ext cx="388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967534"/>
              </p:ext>
            </p:extLst>
          </p:nvPr>
        </p:nvGraphicFramePr>
        <p:xfrm>
          <a:off x="2339752" y="2002622"/>
          <a:ext cx="426720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6" imgW="1981096" imgH="419207" progId="Equation.3">
                  <p:embed/>
                </p:oleObj>
              </mc:Choice>
              <mc:Fallback>
                <p:oleObj name="Microsoft 公式 3.0" r:id="rId6" imgW="1981096" imgH="4192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002622"/>
                        <a:ext cx="4267200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395536" y="2996952"/>
            <a:ext cx="7086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hlink"/>
                </a:solidFill>
                <a:latin typeface="宋体" charset="-122"/>
              </a:rPr>
              <a:t>实现了</a:t>
            </a:r>
            <a:r>
              <a:rPr lang="zh-CN" altLang="en-US" dirty="0">
                <a:solidFill>
                  <a:schemeClr val="hlink"/>
                </a:solidFill>
              </a:rPr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v</a:t>
            </a:r>
            <a:r>
              <a:rPr lang="en-US" altLang="zh-CN" baseline="-25000" dirty="0">
                <a:solidFill>
                  <a:schemeClr val="hlink"/>
                </a:solidFill>
              </a:rPr>
              <a:t>1 </a:t>
            </a:r>
            <a:r>
              <a:rPr lang="zh-CN" altLang="en-US" dirty="0">
                <a:solidFill>
                  <a:schemeClr val="hlink"/>
                </a:solidFill>
                <a:latin typeface="宋体" charset="-122"/>
              </a:rPr>
              <a:t>和</a:t>
            </a:r>
            <a:r>
              <a:rPr lang="zh-CN" altLang="en-US" dirty="0">
                <a:solidFill>
                  <a:schemeClr val="hlink"/>
                </a:solidFill>
              </a:rPr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v</a:t>
            </a:r>
            <a:r>
              <a:rPr lang="en-US" altLang="zh-CN" baseline="-25000" dirty="0">
                <a:solidFill>
                  <a:schemeClr val="hlink"/>
                </a:solidFill>
              </a:rPr>
              <a:t>2 </a:t>
            </a:r>
            <a:r>
              <a:rPr lang="zh-CN" altLang="en-US" dirty="0">
                <a:solidFill>
                  <a:schemeClr val="hlink"/>
                </a:solidFill>
                <a:latin typeface="宋体" charset="-122"/>
              </a:rPr>
              <a:t>的相乘运算。</a:t>
            </a:r>
            <a:endParaRPr lang="zh-CN" altLang="en-US" dirty="0">
              <a:solidFill>
                <a:schemeClr val="hlin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39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369168" y="582613"/>
            <a:ext cx="5715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00FF"/>
                </a:solidFill>
                <a:latin typeface="宋体" charset="-122"/>
              </a:rPr>
              <a:t>|</a:t>
            </a:r>
            <a:r>
              <a:rPr lang="en-US" altLang="zh-CN" i="1" dirty="0">
                <a:solidFill>
                  <a:srgbClr val="0000FF"/>
                </a:solidFill>
              </a:rPr>
              <a:t>v</a:t>
            </a:r>
            <a:r>
              <a:rPr lang="en-US" altLang="zh-CN" baseline="-25000" dirty="0">
                <a:solidFill>
                  <a:srgbClr val="0000FF"/>
                </a:solidFill>
              </a:rPr>
              <a:t>1</a:t>
            </a:r>
            <a:r>
              <a:rPr lang="en-US" altLang="zh-CN" dirty="0">
                <a:solidFill>
                  <a:srgbClr val="0000FF"/>
                </a:solidFill>
                <a:latin typeface="宋体" charset="-122"/>
              </a:rPr>
              <a:t>|</a:t>
            </a:r>
            <a:r>
              <a:rPr lang="en-US" altLang="zh-CN" sz="2200" dirty="0">
                <a:solidFill>
                  <a:srgbClr val="0000FF"/>
                </a:solidFill>
                <a:latin typeface="宋体" charset="-122"/>
              </a:rPr>
              <a:t>≥</a:t>
            </a:r>
            <a:r>
              <a:rPr lang="en-US" altLang="zh-CN" dirty="0">
                <a:solidFill>
                  <a:srgbClr val="0000FF"/>
                </a:solidFill>
              </a:rPr>
              <a:t> 260 mV 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宋体" charset="-122"/>
              </a:rPr>
              <a:t>|</a:t>
            </a:r>
            <a:r>
              <a:rPr lang="en-US" altLang="zh-CN" i="1" dirty="0">
                <a:solidFill>
                  <a:srgbClr val="0000FF"/>
                </a:solidFill>
              </a:rPr>
              <a:t>v</a:t>
            </a:r>
            <a:r>
              <a:rPr lang="en-US" altLang="zh-CN" baseline="-25000" dirty="0">
                <a:solidFill>
                  <a:srgbClr val="0000FF"/>
                </a:solidFill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宋体" charset="-122"/>
              </a:rPr>
              <a:t>|</a:t>
            </a:r>
            <a:r>
              <a:rPr lang="en-US" altLang="zh-CN" sz="2200" dirty="0">
                <a:solidFill>
                  <a:srgbClr val="0000FF"/>
                </a:solidFill>
                <a:latin typeface="宋体" charset="-122"/>
              </a:rPr>
              <a:t>≤</a:t>
            </a:r>
            <a:r>
              <a:rPr lang="en-US" altLang="zh-CN" dirty="0">
                <a:solidFill>
                  <a:srgbClr val="0000FF"/>
                </a:solidFill>
              </a:rPr>
              <a:t> 26 mV</a:t>
            </a:r>
            <a:endParaRPr lang="en-US" altLang="zh-CN" dirty="0">
              <a:solidFill>
                <a:srgbClr val="0000FF"/>
              </a:solidFill>
              <a:latin typeface="宋体" charset="-122"/>
            </a:endParaRPr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auto">
          <a:xfrm>
            <a:off x="323528" y="1196752"/>
            <a:ext cx="8686800" cy="51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dirty="0"/>
              <a:t>当 </a:t>
            </a:r>
            <a:r>
              <a:rPr lang="en-US" altLang="zh-CN" i="1" dirty="0">
                <a:solidFill>
                  <a:srgbClr val="0000FF"/>
                </a:solidFill>
              </a:rPr>
              <a:t>v</a:t>
            </a:r>
            <a:r>
              <a:rPr lang="en-US" altLang="zh-CN" baseline="-25000" dirty="0">
                <a:solidFill>
                  <a:srgbClr val="0000FF"/>
                </a:solidFill>
              </a:rPr>
              <a:t>1</a:t>
            </a:r>
            <a:r>
              <a:rPr lang="en-US" altLang="zh-CN" dirty="0">
                <a:solidFill>
                  <a:srgbClr val="0000FF"/>
                </a:solidFill>
              </a:rPr>
              <a:t> = </a:t>
            </a:r>
            <a:r>
              <a:rPr lang="en-US" altLang="zh-CN" i="1" dirty="0">
                <a:solidFill>
                  <a:srgbClr val="0000FF"/>
                </a:solidFill>
              </a:rPr>
              <a:t>V</a:t>
            </a:r>
            <a:r>
              <a:rPr lang="en-US" altLang="zh-CN" baseline="-25000" dirty="0">
                <a:solidFill>
                  <a:srgbClr val="0000FF"/>
                </a:solidFill>
              </a:rPr>
              <a:t>1m</a:t>
            </a:r>
            <a:r>
              <a:rPr lang="en-US" altLang="zh-CN" dirty="0">
                <a:solidFill>
                  <a:srgbClr val="0000FF"/>
                </a:solidFill>
              </a:rPr>
              <a:t>cos</a:t>
            </a:r>
            <a:r>
              <a:rPr lang="en-US" altLang="zh-CN" i="1" dirty="0">
                <a:solidFill>
                  <a:srgbClr val="0000FF"/>
                </a:solidFill>
                <a:sym typeface="Symbol" pitchFamily="18" charset="2"/>
              </a:rPr>
              <a:t></a:t>
            </a:r>
            <a:r>
              <a:rPr lang="en-US" altLang="zh-CN" baseline="-25000" dirty="0">
                <a:solidFill>
                  <a:srgbClr val="0000FF"/>
                </a:solidFill>
                <a:sym typeface="Symbol" pitchFamily="18" charset="2"/>
              </a:rPr>
              <a:t>I</a:t>
            </a:r>
            <a:r>
              <a:rPr lang="en-US" altLang="zh-CN" i="1" dirty="0">
                <a:solidFill>
                  <a:srgbClr val="0000FF"/>
                </a:solidFill>
                <a:sym typeface="Symbol" pitchFamily="18" charset="2"/>
              </a:rPr>
              <a:t>t</a:t>
            </a:r>
            <a:r>
              <a:rPr lang="zh-CN" altLang="en-US" dirty="0">
                <a:latin typeface="宋体" charset="-122"/>
              </a:rPr>
              <a:t>，</a:t>
            </a:r>
            <a:r>
              <a:rPr lang="en-US" altLang="zh-CN" i="1" dirty="0">
                <a:solidFill>
                  <a:srgbClr val="FF00FF"/>
                </a:solidFill>
              </a:rPr>
              <a:t>V</a:t>
            </a:r>
            <a:r>
              <a:rPr lang="en-US" altLang="zh-CN" baseline="-25000" dirty="0">
                <a:solidFill>
                  <a:srgbClr val="FF00FF"/>
                </a:solidFill>
              </a:rPr>
              <a:t>1m </a:t>
            </a:r>
            <a:r>
              <a:rPr lang="en-US" altLang="zh-CN" sz="2200" dirty="0">
                <a:solidFill>
                  <a:srgbClr val="FF00FF"/>
                </a:solidFill>
                <a:latin typeface="宋体" charset="-122"/>
              </a:rPr>
              <a:t>≥</a:t>
            </a:r>
            <a:r>
              <a:rPr lang="en-US" altLang="zh-CN" dirty="0">
                <a:solidFill>
                  <a:srgbClr val="FF00FF"/>
                </a:solidFill>
              </a:rPr>
              <a:t> 260 mV</a:t>
            </a:r>
            <a:r>
              <a:rPr lang="zh-CN" altLang="en-US" dirty="0">
                <a:latin typeface="宋体" charset="-122"/>
              </a:rPr>
              <a:t>，即</a:t>
            </a:r>
            <a:r>
              <a:rPr lang="zh-CN" altLang="en-US" dirty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x</a:t>
            </a:r>
            <a:r>
              <a:rPr lang="en-US" altLang="zh-CN" baseline="-25000" dirty="0">
                <a:solidFill>
                  <a:schemeClr val="hlink"/>
                </a:solidFill>
              </a:rPr>
              <a:t>1</a:t>
            </a:r>
            <a:r>
              <a:rPr lang="en-US" altLang="zh-CN" dirty="0">
                <a:solidFill>
                  <a:schemeClr val="hlink"/>
                </a:solidFill>
              </a:rPr>
              <a:t> &gt; 10 </a:t>
            </a:r>
            <a:r>
              <a:rPr lang="zh-CN" altLang="en-US" dirty="0">
                <a:latin typeface="宋体" charset="-122"/>
              </a:rPr>
              <a:t>时，                   </a:t>
            </a:r>
          </a:p>
        </p:txBody>
      </p:sp>
      <p:graphicFrame>
        <p:nvGraphicFramePr>
          <p:cNvPr id="1126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59961"/>
              </p:ext>
            </p:extLst>
          </p:nvPr>
        </p:nvGraphicFramePr>
        <p:xfrm>
          <a:off x="2339752" y="1916832"/>
          <a:ext cx="3225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2" imgW="1371570" imgH="342816" progId="Equation.3">
                  <p:embed/>
                </p:oleObj>
              </mc:Choice>
              <mc:Fallback>
                <p:oleObj name="Microsoft 公式 3.0" r:id="rId2" imgW="1371570" imgH="34281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916832"/>
                        <a:ext cx="3225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645" name="Group 5"/>
          <p:cNvGrpSpPr>
            <a:grpSpLocks/>
          </p:cNvGrpSpPr>
          <p:nvPr/>
        </p:nvGrpSpPr>
        <p:grpSpPr bwMode="auto">
          <a:xfrm>
            <a:off x="369168" y="2810470"/>
            <a:ext cx="7585075" cy="954088"/>
            <a:chOff x="684" y="1292"/>
            <a:chExt cx="4778" cy="601"/>
          </a:xfrm>
        </p:grpSpPr>
        <p:graphicFrame>
          <p:nvGraphicFramePr>
            <p:cNvPr id="59405" name="Object 6"/>
            <p:cNvGraphicFramePr>
              <a:graphicFrameLocks noChangeAspect="1"/>
            </p:cNvGraphicFramePr>
            <p:nvPr/>
          </p:nvGraphicFramePr>
          <p:xfrm>
            <a:off x="684" y="1292"/>
            <a:ext cx="3120" cy="6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4" imgW="2209736" imgH="419207" progId="Equation.3">
                    <p:embed/>
                  </p:oleObj>
                </mc:Choice>
                <mc:Fallback>
                  <p:oleObj name="Microsoft 公式 3.0" r:id="rId4" imgW="2209736" imgH="41920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4" y="1292"/>
                          <a:ext cx="3120" cy="6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06" name="Rectangle 7"/>
            <p:cNvSpPr>
              <a:spLocks noChangeArrowheads="1"/>
            </p:cNvSpPr>
            <p:nvPr/>
          </p:nvSpPr>
          <p:spPr bwMode="auto">
            <a:xfrm>
              <a:off x="3830" y="1441"/>
              <a:ext cx="163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dirty="0">
                  <a:latin typeface="宋体" charset="-122"/>
                </a:rPr>
                <a:t>实现开关工作。</a:t>
              </a:r>
              <a:endParaRPr lang="zh-CN" altLang="en-US" dirty="0">
                <a:latin typeface="Arial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369168" y="4221088"/>
                <a:ext cx="8035773" cy="16137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zh-CN" altLang="en-US" dirty="0">
                    <a:latin typeface="宋体" charset="-122"/>
                  </a:rPr>
                  <a:t>上述</a:t>
                </a:r>
                <a:r>
                  <a:rPr lang="zh-CN" altLang="en-US" dirty="0">
                    <a:solidFill>
                      <a:schemeClr val="hlink"/>
                    </a:solidFill>
                    <a:latin typeface="宋体" charset="-122"/>
                  </a:rPr>
                  <a:t>工作特性</a:t>
                </a:r>
                <a:r>
                  <a:rPr lang="zh-CN" altLang="en-US" dirty="0">
                    <a:latin typeface="宋体" charset="-122"/>
                  </a:rPr>
                  <a:t>，均要求</a:t>
                </a:r>
                <a:r>
                  <a:rPr lang="zh-CN" altLang="en-US" dirty="0"/>
                  <a:t> </a:t>
                </a:r>
                <a:r>
                  <a:rPr lang="en-US" altLang="zh-CN" i="1" dirty="0">
                    <a:solidFill>
                      <a:srgbClr val="FF0066"/>
                    </a:solidFill>
                  </a:rPr>
                  <a:t>v</a:t>
                </a:r>
                <a:r>
                  <a:rPr lang="en-US" altLang="zh-CN" baseline="-30000" dirty="0">
                    <a:solidFill>
                      <a:srgbClr val="FF0066"/>
                    </a:solidFill>
                  </a:rPr>
                  <a:t>2 </a:t>
                </a:r>
                <a:r>
                  <a:rPr lang="zh-CN" altLang="en-US" dirty="0">
                    <a:latin typeface="宋体" charset="-122"/>
                  </a:rPr>
                  <a:t>较小，如此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/>
                      <m:t>th</m:t>
                    </m:r>
                    <m:r>
                      <a:rPr lang="zh-CN" altLang="en-US" b="1">
                        <a:latin typeface="Cambria Math"/>
                      </a:rPr>
                      <m:t>(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zh-CN" altLang="en-US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zh-CN" altLang="en-US" b="1" i="1">
                            <a:latin typeface="Cambria Math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/>
                              </a:rPr>
                              <m:t>𝑻</m:t>
                            </m:r>
                          </m:sub>
                        </m:sSub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dirty="0">
                    <a:latin typeface="宋体" charset="-122"/>
                  </a:rPr>
                  <a:t>才能近似为线性，其应用范围受限。实际电路常采用增加射极电阻</a:t>
                </a:r>
                <a:r>
                  <a:rPr lang="en-US" altLang="zh-CN" dirty="0">
                    <a:latin typeface="宋体" charset="-122"/>
                  </a:rPr>
                  <a:t>R</a:t>
                </a:r>
                <a:r>
                  <a:rPr lang="en-US" altLang="zh-CN" baseline="-25000" dirty="0">
                    <a:latin typeface="宋体" charset="-122"/>
                  </a:rPr>
                  <a:t>E</a:t>
                </a:r>
                <a:r>
                  <a:rPr lang="zh-CN" altLang="en-US" dirty="0">
                    <a:latin typeface="宋体" charset="-122"/>
                  </a:rPr>
                  <a:t>的方式以扩展</a:t>
                </a:r>
                <a:r>
                  <a:rPr lang="zh-CN" altLang="en-US" dirty="0">
                    <a:solidFill>
                      <a:srgbClr val="FF0066"/>
                    </a:solidFill>
                  </a:rPr>
                  <a:t> </a:t>
                </a:r>
                <a:r>
                  <a:rPr lang="en-US" altLang="zh-CN" i="1" dirty="0">
                    <a:solidFill>
                      <a:srgbClr val="FF0066"/>
                    </a:solidFill>
                  </a:rPr>
                  <a:t>v</a:t>
                </a:r>
                <a:r>
                  <a:rPr lang="en-US" altLang="zh-CN" baseline="-30000" dirty="0">
                    <a:solidFill>
                      <a:srgbClr val="FF0066"/>
                    </a:solidFill>
                  </a:rPr>
                  <a:t>2</a:t>
                </a:r>
                <a:r>
                  <a:rPr lang="en-US" altLang="zh-CN" baseline="-30000" dirty="0">
                    <a:solidFill>
                      <a:srgbClr val="FF0066"/>
                    </a:solidFill>
                    <a:latin typeface="Arial" charset="0"/>
                  </a:rPr>
                  <a:t> </a:t>
                </a:r>
                <a:r>
                  <a:rPr lang="zh-CN" altLang="en-US" dirty="0">
                    <a:latin typeface="宋体" charset="-122"/>
                  </a:rPr>
                  <a:t>的</a:t>
                </a:r>
                <a:r>
                  <a:rPr lang="zh-CN" altLang="en-US" dirty="0">
                    <a:solidFill>
                      <a:schemeClr val="hlink"/>
                    </a:solidFill>
                    <a:latin typeface="宋体" charset="-122"/>
                  </a:rPr>
                  <a:t>动态范围</a:t>
                </a:r>
                <a:r>
                  <a:rPr lang="zh-CN" altLang="en-US" dirty="0">
                    <a:latin typeface="宋体" charset="-122"/>
                  </a:rPr>
                  <a:t>。</a:t>
                </a:r>
                <a:endParaRPr lang="zh-CN" altLang="en-US" dirty="0">
                  <a:latin typeface="Arial" charset="0"/>
                </a:endParaRPr>
              </a:p>
            </p:txBody>
          </p:sp>
        </mc:Choice>
        <mc:Fallback xmlns="">
          <p:sp>
            <p:nvSpPr>
              <p:cNvPr id="14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9168" y="4221088"/>
                <a:ext cx="8035773" cy="1613711"/>
              </a:xfrm>
              <a:prstGeom prst="rect">
                <a:avLst/>
              </a:prstGeom>
              <a:blipFill rotWithShape="1">
                <a:blip r:embed="rId7"/>
                <a:stretch>
                  <a:fillRect l="-1366" r="-1366" b="-64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115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 descr="4-2-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914"/>
          <a:stretch>
            <a:fillRect/>
          </a:stretch>
        </p:blipFill>
        <p:spPr bwMode="auto">
          <a:xfrm>
            <a:off x="5582143" y="1212461"/>
            <a:ext cx="3092254" cy="27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476449" y="1268760"/>
            <a:ext cx="5105400" cy="96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FF0066"/>
                </a:solidFill>
              </a:rPr>
              <a:t>T</a:t>
            </a:r>
            <a:r>
              <a:rPr lang="en-US" altLang="zh-CN" baseline="-25000" dirty="0">
                <a:solidFill>
                  <a:srgbClr val="FF0066"/>
                </a:solidFill>
              </a:rPr>
              <a:t>5</a:t>
            </a:r>
            <a:r>
              <a:rPr lang="zh-CN" altLang="en-US" dirty="0">
                <a:solidFill>
                  <a:srgbClr val="FF0066"/>
                </a:solidFill>
              </a:rPr>
              <a:t>、</a:t>
            </a:r>
            <a:r>
              <a:rPr lang="en-US" altLang="zh-CN" dirty="0">
                <a:solidFill>
                  <a:srgbClr val="FF0066"/>
                </a:solidFill>
              </a:rPr>
              <a:t>T</a:t>
            </a:r>
            <a:r>
              <a:rPr lang="en-US" altLang="zh-CN" baseline="-25000" dirty="0">
                <a:solidFill>
                  <a:srgbClr val="FF0066"/>
                </a:solidFill>
              </a:rPr>
              <a:t>6</a:t>
            </a:r>
            <a:r>
              <a:rPr lang="zh-CN" altLang="en-US" dirty="0">
                <a:latin typeface="宋体" charset="-122"/>
              </a:rPr>
              <a:t>管发射极之间接入负反馈电阻</a:t>
            </a:r>
            <a:r>
              <a:rPr lang="zh-CN" altLang="en-US" dirty="0"/>
              <a:t> </a:t>
            </a:r>
            <a:r>
              <a:rPr lang="en-US" altLang="zh-CN" i="1" dirty="0">
                <a:solidFill>
                  <a:srgbClr val="FF0066"/>
                </a:solidFill>
              </a:rPr>
              <a:t>R</a:t>
            </a:r>
            <a:r>
              <a:rPr lang="en-US" altLang="zh-CN" baseline="-25000" dirty="0">
                <a:solidFill>
                  <a:srgbClr val="FF0066"/>
                </a:solidFill>
              </a:rPr>
              <a:t>E </a:t>
            </a:r>
            <a:r>
              <a:rPr lang="zh-CN" altLang="en-US" dirty="0"/>
              <a:t>。</a:t>
            </a:r>
            <a:endParaRPr lang="zh-CN" altLang="en-US" baseline="-25000" dirty="0">
              <a:solidFill>
                <a:srgbClr val="FF0066"/>
              </a:solidFill>
            </a:endParaRPr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407346" y="2276872"/>
            <a:ext cx="5073650" cy="96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dirty="0">
                <a:latin typeface="宋体" charset="-122"/>
              </a:rPr>
              <a:t>为了便于集成化，将电流源</a:t>
            </a:r>
            <a:r>
              <a:rPr lang="zh-CN" altLang="en-US" dirty="0"/>
              <a:t> </a:t>
            </a:r>
            <a:r>
              <a:rPr lang="en-US" altLang="zh-CN" i="1" dirty="0">
                <a:solidFill>
                  <a:srgbClr val="FF0066"/>
                </a:solidFill>
              </a:rPr>
              <a:t>I</a:t>
            </a:r>
            <a:r>
              <a:rPr lang="en-US" altLang="zh-CN" baseline="-30000" dirty="0">
                <a:solidFill>
                  <a:srgbClr val="FF0066"/>
                </a:solidFill>
                <a:latin typeface="Arial" charset="0"/>
              </a:rPr>
              <a:t>0</a:t>
            </a:r>
            <a:r>
              <a:rPr lang="en-US" altLang="zh-CN" dirty="0">
                <a:solidFill>
                  <a:srgbClr val="FF0066"/>
                </a:solidFill>
              </a:rPr>
              <a:t> </a:t>
            </a:r>
            <a:r>
              <a:rPr lang="zh-CN" altLang="en-US" dirty="0"/>
              <a:t>分割成</a:t>
            </a:r>
            <a:r>
              <a:rPr lang="zh-CN" altLang="en-US" dirty="0">
                <a:latin typeface="宋体" charset="-122"/>
              </a:rPr>
              <a:t>两个</a:t>
            </a:r>
            <a:r>
              <a:rPr lang="zh-CN" altLang="en-US" dirty="0"/>
              <a:t> </a:t>
            </a:r>
            <a:r>
              <a:rPr lang="en-US" altLang="zh-CN" i="1" dirty="0">
                <a:solidFill>
                  <a:srgbClr val="FF0066"/>
                </a:solidFill>
              </a:rPr>
              <a:t>I</a:t>
            </a:r>
            <a:r>
              <a:rPr lang="en-US" altLang="zh-CN" baseline="-30000" dirty="0">
                <a:solidFill>
                  <a:srgbClr val="FF0066"/>
                </a:solidFill>
                <a:latin typeface="Arial" charset="0"/>
              </a:rPr>
              <a:t>0</a:t>
            </a:r>
            <a:r>
              <a:rPr lang="en-US" altLang="zh-CN" dirty="0">
                <a:solidFill>
                  <a:srgbClr val="FF0066"/>
                </a:solidFill>
              </a:rPr>
              <a:t>/2</a:t>
            </a:r>
            <a:r>
              <a:rPr lang="en-US" altLang="zh-CN" dirty="0"/>
              <a:t> </a:t>
            </a:r>
            <a:r>
              <a:rPr lang="zh-CN" altLang="en-US" dirty="0">
                <a:latin typeface="宋体" charset="-122"/>
              </a:rPr>
              <a:t>的电流源。</a:t>
            </a:r>
            <a:r>
              <a:rPr lang="zh-CN" altLang="en-US" dirty="0"/>
              <a:t> 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23528" y="620688"/>
            <a:ext cx="352839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hlink"/>
                </a:solidFill>
                <a:latin typeface="+mn-lt"/>
              </a:rPr>
              <a:t>扩展</a:t>
            </a:r>
            <a:r>
              <a:rPr lang="en-US" altLang="zh-CN" i="1" dirty="0">
                <a:solidFill>
                  <a:schemeClr val="hlink"/>
                </a:solidFill>
                <a:latin typeface="+mn-lt"/>
              </a:rPr>
              <a:t>v</a:t>
            </a:r>
            <a:r>
              <a:rPr lang="en-US" altLang="zh-CN" baseline="-25000" dirty="0">
                <a:solidFill>
                  <a:schemeClr val="hlink"/>
                </a:solidFill>
                <a:latin typeface="+mn-lt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+mn-lt"/>
              </a:rPr>
              <a:t> </a:t>
            </a:r>
            <a:r>
              <a:rPr lang="zh-CN" altLang="en-US" dirty="0">
                <a:solidFill>
                  <a:schemeClr val="hlink"/>
                </a:solidFill>
                <a:latin typeface="+mn-lt"/>
              </a:rPr>
              <a:t>的动态范围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3"/>
              <p:cNvSpPr>
                <a:spLocks noChangeArrowheads="1"/>
              </p:cNvSpPr>
              <p:nvPr/>
            </p:nvSpPr>
            <p:spPr bwMode="auto">
              <a:xfrm>
                <a:off x="460244" y="3284984"/>
                <a:ext cx="8144204" cy="27324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zh-CN" altLang="en-US" b="1" dirty="0"/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𝟓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b="1" i="1" smtClean="0"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𝒊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𝟔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𝑰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𝒊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 algn="just">
                  <a:lnSpc>
                    <a:spcPct val="110000"/>
                  </a:lnSpc>
                </a:pPr>
                <a:r>
                  <a:rPr lang="zh-CN" altLang="en-US" dirty="0"/>
                  <a:t>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𝒊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𝟓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𝒊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𝟔</m:t>
                        </m:r>
                      </m:sub>
                    </m:sSub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𝟐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𝒊</m:t>
                        </m:r>
                      </m:e>
                      <m:sub>
                        <m:r>
                          <a:rPr lang="en-US" altLang="zh-CN" b="1" i="1" smtClean="0">
                            <a:latin typeface="Cambria Math"/>
                          </a:rPr>
                          <m:t>𝒆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algn="just">
                  <a:lnSpc>
                    <a:spcPct val="110000"/>
                  </a:lnSpc>
                </a:pPr>
                <a:r>
                  <a:rPr lang="zh-CN" altLang="en-US" dirty="0"/>
                  <a:t>若</a:t>
                </a:r>
                <a:r>
                  <a:rPr lang="en-US" altLang="zh-CN" i="1" dirty="0"/>
                  <a:t>R</a:t>
                </a:r>
                <a:r>
                  <a:rPr lang="en-US" altLang="zh-CN" baseline="-25000" dirty="0"/>
                  <a:t>E</a:t>
                </a:r>
                <a:r>
                  <a:rPr lang="zh-CN" altLang="en-US" dirty="0"/>
                  <a:t>远大于</a:t>
                </a:r>
                <a:r>
                  <a:rPr lang="en-US" altLang="zh-CN" dirty="0"/>
                  <a:t>T</a:t>
                </a:r>
                <a:r>
                  <a:rPr lang="en-US" altLang="zh-CN" baseline="-25000" dirty="0"/>
                  <a:t>5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T</a:t>
                </a:r>
                <a:r>
                  <a:rPr lang="en-US" altLang="zh-CN" baseline="-25000" dirty="0"/>
                  <a:t>6</a:t>
                </a:r>
                <a:r>
                  <a:rPr lang="zh-CN" altLang="en-US" dirty="0"/>
                  <a:t>管发射结的导通电阻，则</a:t>
                </a:r>
                <a:r>
                  <a:rPr lang="en-US" altLang="zh-CN" i="1" dirty="0"/>
                  <a:t>R</a:t>
                </a:r>
                <a:r>
                  <a:rPr lang="en-US" altLang="zh-CN" baseline="-25000" dirty="0"/>
                  <a:t>E</a:t>
                </a:r>
                <a:r>
                  <a:rPr lang="zh-CN" altLang="en-US" dirty="0"/>
                  <a:t>两端的压降可近似为</a:t>
                </a:r>
                <a:r>
                  <a:rPr lang="en-US" altLang="zh-CN" i="1" dirty="0"/>
                  <a:t>v</a:t>
                </a:r>
                <a:r>
                  <a:rPr lang="en-US" altLang="zh-CN" baseline="-25000" dirty="0"/>
                  <a:t>2</a:t>
                </a:r>
                <a:r>
                  <a:rPr lang="zh-CN" altLang="en-US" dirty="0"/>
                  <a:t>，即</a:t>
                </a:r>
                <a:r>
                  <a:rPr lang="en-US" altLang="zh-CN" i="1" dirty="0"/>
                  <a:t>v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=</a:t>
                </a:r>
                <a:r>
                  <a:rPr lang="en-US" altLang="zh-CN" i="1" dirty="0" err="1"/>
                  <a:t>i</a:t>
                </a:r>
                <a:r>
                  <a:rPr lang="en-US" altLang="zh-CN" baseline="-25000" dirty="0" err="1"/>
                  <a:t>e</a:t>
                </a:r>
                <a:r>
                  <a:rPr lang="en-US" altLang="zh-CN" i="1" dirty="0"/>
                  <a:t> R</a:t>
                </a:r>
                <a:r>
                  <a:rPr lang="en-US" altLang="zh-CN" baseline="-25000" dirty="0"/>
                  <a:t>E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algn="just">
                  <a:lnSpc>
                    <a:spcPct val="110000"/>
                  </a:lnSpc>
                </a:pPr>
                <a:r>
                  <a:rPr lang="zh-CN" altLang="en-US" dirty="0"/>
                  <a:t>因此输出电流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𝒊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𝟓</m:t>
                        </m:r>
                      </m:sub>
                    </m:sSub>
                    <m:r>
                      <a:rPr lang="zh-CN" altLang="en-US" b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𝒊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𝟔</m:t>
                        </m:r>
                      </m:sub>
                    </m:sSub>
                    <m:r>
                      <a:rPr lang="zh-CN" altLang="en-US" b="1">
                        <a:latin typeface="Cambria Math"/>
                      </a:rPr>
                      <m:t>=</m:t>
                    </m:r>
                    <m:r>
                      <a:rPr lang="zh-CN" altLang="en-US" b="1" i="1">
                        <a:latin typeface="Cambria Math"/>
                      </a:rPr>
                      <m:t>𝟐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𝒊</m:t>
                        </m:r>
                      </m:e>
                      <m:sub>
                        <m:r>
                          <a:rPr lang="zh-CN" altLang="en-US" b="1" i="1">
                            <a:latin typeface="Cambria Math"/>
                          </a:rPr>
                          <m:t>𝒆</m:t>
                        </m:r>
                      </m:sub>
                    </m:sSub>
                    <m:r>
                      <a:rPr lang="zh-CN" altLang="en-US" b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1" i="1">
                            <a:latin typeface="Cambria Math"/>
                          </a:rPr>
                          <m:t>𝟐</m:t>
                        </m:r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/>
                              </a:rPr>
                              <m:t>𝒗</m:t>
                            </m:r>
                          </m:e>
                          <m:sub>
                            <m:r>
                              <a:rPr lang="zh-CN" altLang="en-US" b="1" i="1"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1" i="1">
                                <a:latin typeface="Cambria Math"/>
                              </a:rPr>
                              <m:t>𝑹</m:t>
                            </m:r>
                          </m:e>
                          <m:sub>
                            <m:r>
                              <a:rPr lang="zh-CN" altLang="en-US" b="1" i="1">
                                <a:latin typeface="Cambria Math"/>
                              </a:rPr>
                              <m:t>𝑬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dirty="0"/>
                  <a:t>，与</a:t>
                </a:r>
                <a:r>
                  <a:rPr lang="en-US" altLang="zh-CN" i="1" dirty="0"/>
                  <a:t>v</a:t>
                </a:r>
                <a:r>
                  <a:rPr lang="en-US" altLang="zh-CN" baseline="-25000" dirty="0"/>
                  <a:t>2</a:t>
                </a:r>
                <a:r>
                  <a:rPr lang="zh-CN" altLang="en-US" dirty="0"/>
                  <a:t>成线性关系。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6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244" y="3284984"/>
                <a:ext cx="8144204" cy="2732479"/>
              </a:xfrm>
              <a:prstGeom prst="rect">
                <a:avLst/>
              </a:prstGeom>
              <a:blipFill rotWithShape="1">
                <a:blip r:embed="rId3"/>
                <a:stretch>
                  <a:fillRect l="-1272" r="-14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936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4-2-8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39"/>
          <a:stretch>
            <a:fillRect/>
          </a:stretch>
        </p:blipFill>
        <p:spPr bwMode="auto">
          <a:xfrm>
            <a:off x="1828800" y="1495425"/>
            <a:ext cx="5391150" cy="477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7"/>
          <p:cNvSpPr>
            <a:spLocks/>
          </p:cNvSpPr>
          <p:nvPr/>
        </p:nvSpPr>
        <p:spPr bwMode="auto">
          <a:xfrm>
            <a:off x="6858000" y="3629025"/>
            <a:ext cx="2286000" cy="457200"/>
          </a:xfrm>
          <a:prstGeom prst="borderCallout1">
            <a:avLst>
              <a:gd name="adj1" fmla="val 25000"/>
              <a:gd name="adj2" fmla="val -3333"/>
              <a:gd name="adj3" fmla="val 129167"/>
              <a:gd name="adj4" fmla="val -13264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sz="2000"/>
              <a:t>扩展 </a:t>
            </a:r>
            <a:r>
              <a:rPr lang="en-US" altLang="zh-CN" sz="2000" i="1"/>
              <a:t>v</a:t>
            </a:r>
            <a:r>
              <a:rPr lang="en-US" altLang="zh-CN" sz="2000" i="1" baseline="-25000"/>
              <a:t>Ω </a:t>
            </a:r>
            <a:r>
              <a:rPr lang="zh-CN" altLang="en-US" sz="2000"/>
              <a:t>动态范围</a:t>
            </a:r>
          </a:p>
        </p:txBody>
      </p:sp>
      <p:sp>
        <p:nvSpPr>
          <p:cNvPr id="7" name="AutoShape 8"/>
          <p:cNvSpPr>
            <a:spLocks/>
          </p:cNvSpPr>
          <p:nvPr/>
        </p:nvSpPr>
        <p:spPr bwMode="auto">
          <a:xfrm>
            <a:off x="6248400" y="2727325"/>
            <a:ext cx="2667000" cy="749300"/>
          </a:xfrm>
          <a:prstGeom prst="borderCallout2">
            <a:avLst>
              <a:gd name="adj1" fmla="val 15255"/>
              <a:gd name="adj2" fmla="val -2856"/>
              <a:gd name="adj3" fmla="val 15255"/>
              <a:gd name="adj4" fmla="val -28037"/>
              <a:gd name="adj5" fmla="val 197458"/>
              <a:gd name="adj6" fmla="val -54106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sz="2000"/>
              <a:t>可扩展 </a:t>
            </a:r>
            <a:r>
              <a:rPr lang="en-US" altLang="zh-CN" sz="2000" i="1"/>
              <a:t>v</a:t>
            </a:r>
            <a:r>
              <a:rPr lang="en-US" altLang="zh-CN" sz="2000" i="1" baseline="-25000"/>
              <a:t>Ω </a:t>
            </a:r>
            <a:r>
              <a:rPr lang="zh-CN" altLang="en-US" sz="2000"/>
              <a:t>动态范围的双差分对平衡调制器</a:t>
            </a:r>
          </a:p>
        </p:txBody>
      </p:sp>
      <p:sp>
        <p:nvSpPr>
          <p:cNvPr id="8" name="AutoShape 9"/>
          <p:cNvSpPr>
            <a:spLocks/>
          </p:cNvSpPr>
          <p:nvPr/>
        </p:nvSpPr>
        <p:spPr bwMode="auto">
          <a:xfrm>
            <a:off x="7391400" y="4989513"/>
            <a:ext cx="1577975" cy="406400"/>
          </a:xfrm>
          <a:prstGeom prst="borderCallout2">
            <a:avLst>
              <a:gd name="adj1" fmla="val 28125"/>
              <a:gd name="adj2" fmla="val -4829"/>
              <a:gd name="adj3" fmla="val 28125"/>
              <a:gd name="adj4" fmla="val -32898"/>
              <a:gd name="adj5" fmla="val 39843"/>
              <a:gd name="adj6" fmla="val -165796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sz="2200"/>
              <a:t>恒流源</a:t>
            </a:r>
          </a:p>
        </p:txBody>
      </p:sp>
      <p:sp>
        <p:nvSpPr>
          <p:cNvPr id="9" name="AutoShape 10"/>
          <p:cNvSpPr>
            <a:spLocks/>
          </p:cNvSpPr>
          <p:nvPr/>
        </p:nvSpPr>
        <p:spPr bwMode="auto">
          <a:xfrm>
            <a:off x="5364088" y="834030"/>
            <a:ext cx="1295400" cy="430212"/>
          </a:xfrm>
          <a:prstGeom prst="borderCallout1">
            <a:avLst>
              <a:gd name="adj1" fmla="val 110913"/>
              <a:gd name="adj2" fmla="val 46777"/>
              <a:gd name="adj3" fmla="val 245282"/>
              <a:gd name="adj4" fmla="val 27484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sz="2000"/>
              <a:t>负载电阻</a:t>
            </a:r>
          </a:p>
        </p:txBody>
      </p:sp>
      <p:sp>
        <p:nvSpPr>
          <p:cNvPr id="10" name="AutoShape 11"/>
          <p:cNvSpPr>
            <a:spLocks/>
          </p:cNvSpPr>
          <p:nvPr/>
        </p:nvSpPr>
        <p:spPr bwMode="auto">
          <a:xfrm>
            <a:off x="457200" y="2846388"/>
            <a:ext cx="914400" cy="401637"/>
          </a:xfrm>
          <a:prstGeom prst="borderCallout1">
            <a:avLst>
              <a:gd name="adj1" fmla="val 28458"/>
              <a:gd name="adj2" fmla="val 108333"/>
              <a:gd name="adj3" fmla="val 100000"/>
              <a:gd name="adj4" fmla="val 171356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sz="2000" dirty="0"/>
              <a:t>载波</a:t>
            </a:r>
          </a:p>
        </p:txBody>
      </p:sp>
      <p:sp>
        <p:nvSpPr>
          <p:cNvPr id="11" name="AutoShape 12"/>
          <p:cNvSpPr>
            <a:spLocks/>
          </p:cNvSpPr>
          <p:nvPr/>
        </p:nvSpPr>
        <p:spPr bwMode="auto">
          <a:xfrm>
            <a:off x="304800" y="4272136"/>
            <a:ext cx="1242864" cy="381000"/>
          </a:xfrm>
          <a:prstGeom prst="borderCallout1">
            <a:avLst>
              <a:gd name="adj1" fmla="val 49048"/>
              <a:gd name="adj2" fmla="val 103662"/>
              <a:gd name="adj3" fmla="val 15416"/>
              <a:gd name="adj4" fmla="val 142652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sz="2000" dirty="0"/>
              <a:t>调制信号</a:t>
            </a:r>
          </a:p>
        </p:txBody>
      </p:sp>
      <p:sp>
        <p:nvSpPr>
          <p:cNvPr id="12" name="AutoShape 13"/>
          <p:cNvSpPr>
            <a:spLocks/>
          </p:cNvSpPr>
          <p:nvPr/>
        </p:nvSpPr>
        <p:spPr bwMode="auto">
          <a:xfrm>
            <a:off x="35496" y="4878040"/>
            <a:ext cx="2133600" cy="711200"/>
          </a:xfrm>
          <a:prstGeom prst="borderCallout1">
            <a:avLst>
              <a:gd name="adj1" fmla="val 16069"/>
              <a:gd name="adj2" fmla="val 103569"/>
              <a:gd name="adj3" fmla="val 55708"/>
              <a:gd name="adj4" fmla="val 129316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sz="2000" dirty="0"/>
              <a:t>平衡电位器，确保 </a:t>
            </a:r>
            <a:r>
              <a:rPr lang="en-US" altLang="zh-CN" sz="2000" i="1" dirty="0" err="1"/>
              <a:t>v</a:t>
            </a:r>
            <a:r>
              <a:rPr lang="en-US" altLang="zh-CN" sz="2000" i="1" baseline="-25000" dirty="0" err="1"/>
              <a:t>Ω</a:t>
            </a:r>
            <a:r>
              <a:rPr lang="en-US" altLang="zh-CN" sz="2000" dirty="0"/>
              <a:t> = 0 </a:t>
            </a:r>
            <a:r>
              <a:rPr lang="zh-CN" altLang="en-US" sz="2000" dirty="0"/>
              <a:t>时 </a:t>
            </a:r>
            <a:r>
              <a:rPr lang="en-US" altLang="zh-CN" sz="2000" i="1" dirty="0" err="1"/>
              <a:t>i</a:t>
            </a:r>
            <a:r>
              <a:rPr lang="en-US" altLang="zh-CN" sz="2000" i="1" dirty="0"/>
              <a:t> </a:t>
            </a:r>
            <a:r>
              <a:rPr lang="en-US" altLang="zh-CN" sz="2000" dirty="0"/>
              <a:t>= 0</a:t>
            </a:r>
          </a:p>
        </p:txBody>
      </p:sp>
      <p:sp>
        <p:nvSpPr>
          <p:cNvPr id="13" name="AutoShape 14"/>
          <p:cNvSpPr>
            <a:spLocks/>
          </p:cNvSpPr>
          <p:nvPr/>
        </p:nvSpPr>
        <p:spPr bwMode="auto">
          <a:xfrm>
            <a:off x="533400" y="5686425"/>
            <a:ext cx="1828800" cy="457200"/>
          </a:xfrm>
          <a:prstGeom prst="borderCallout1">
            <a:avLst>
              <a:gd name="adj1" fmla="val 25000"/>
              <a:gd name="adj2" fmla="val 104167"/>
              <a:gd name="adj3" fmla="val -112153"/>
              <a:gd name="adj4" fmla="val 165454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en-US" altLang="zh-CN" sz="2000" dirty="0"/>
              <a:t>T</a:t>
            </a:r>
            <a:r>
              <a:rPr lang="en-US" altLang="zh-CN" sz="2000" baseline="-25000" dirty="0"/>
              <a:t>7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8 </a:t>
            </a:r>
            <a:r>
              <a:rPr lang="zh-CN" altLang="en-US" sz="2000" dirty="0"/>
              <a:t>偏置电阻</a:t>
            </a:r>
          </a:p>
        </p:txBody>
      </p:sp>
      <p:sp>
        <p:nvSpPr>
          <p:cNvPr id="14" name="AutoShape 15"/>
          <p:cNvSpPr>
            <a:spLocks/>
          </p:cNvSpPr>
          <p:nvPr/>
        </p:nvSpPr>
        <p:spPr bwMode="auto">
          <a:xfrm>
            <a:off x="198438" y="3476625"/>
            <a:ext cx="1858962" cy="425450"/>
          </a:xfrm>
          <a:prstGeom prst="borderCallout1">
            <a:avLst>
              <a:gd name="adj1" fmla="val 26866"/>
              <a:gd name="adj2" fmla="val 104097"/>
              <a:gd name="adj3" fmla="val 252611"/>
              <a:gd name="adj4" fmla="val 159093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T</a:t>
            </a:r>
            <a:r>
              <a:rPr lang="en-US" altLang="zh-CN" sz="2000" baseline="-25000"/>
              <a:t>5</a:t>
            </a:r>
            <a:r>
              <a:rPr lang="en-US" altLang="zh-CN" sz="2000"/>
              <a:t>T</a:t>
            </a:r>
            <a:r>
              <a:rPr lang="en-US" altLang="zh-CN" sz="2000" baseline="-25000"/>
              <a:t>6 </a:t>
            </a:r>
            <a:r>
              <a:rPr lang="zh-CN" altLang="en-US" sz="2000"/>
              <a:t>偏置电阻</a:t>
            </a:r>
          </a:p>
        </p:txBody>
      </p:sp>
      <p:sp>
        <p:nvSpPr>
          <p:cNvPr id="15" name="AutoShape 16"/>
          <p:cNvSpPr>
            <a:spLocks/>
          </p:cNvSpPr>
          <p:nvPr/>
        </p:nvSpPr>
        <p:spPr bwMode="auto">
          <a:xfrm>
            <a:off x="304800" y="1668463"/>
            <a:ext cx="1143000" cy="741362"/>
          </a:xfrm>
          <a:prstGeom prst="borderCallout1">
            <a:avLst>
              <a:gd name="adj1" fmla="val 15417"/>
              <a:gd name="adj2" fmla="val 106667"/>
              <a:gd name="adj3" fmla="val 57602"/>
              <a:gd name="adj4" fmla="val 23000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en-US" altLang="zh-CN" sz="2000" dirty="0"/>
              <a:t>T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2 </a:t>
            </a:r>
            <a:r>
              <a:rPr lang="zh-CN" altLang="en-US" sz="2000" dirty="0"/>
              <a:t>偏置电阻</a:t>
            </a:r>
          </a:p>
        </p:txBody>
      </p:sp>
      <p:sp>
        <p:nvSpPr>
          <p:cNvPr id="16" name="矩形 15"/>
          <p:cNvSpPr/>
          <p:nvPr/>
        </p:nvSpPr>
        <p:spPr>
          <a:xfrm>
            <a:off x="164644" y="476672"/>
            <a:ext cx="4735592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/>
              <a:t>由</a:t>
            </a:r>
            <a:r>
              <a:rPr lang="en-US" altLang="zh-CN" dirty="0"/>
              <a:t>MC1596</a:t>
            </a:r>
            <a:r>
              <a:rPr lang="zh-CN" altLang="en-US" dirty="0"/>
              <a:t>构成的</a:t>
            </a:r>
            <a:r>
              <a:rPr lang="en-US" altLang="zh-CN" dirty="0"/>
              <a:t>DSB</a:t>
            </a:r>
            <a:r>
              <a:rPr lang="zh-CN" altLang="en-US" dirty="0"/>
              <a:t>调制电路</a:t>
            </a:r>
          </a:p>
        </p:txBody>
      </p:sp>
      <p:sp>
        <p:nvSpPr>
          <p:cNvPr id="17" name="AutoShape 10"/>
          <p:cNvSpPr>
            <a:spLocks/>
          </p:cNvSpPr>
          <p:nvPr/>
        </p:nvSpPr>
        <p:spPr bwMode="auto">
          <a:xfrm>
            <a:off x="7391400" y="1065212"/>
            <a:ext cx="1295400" cy="707603"/>
          </a:xfrm>
          <a:prstGeom prst="borderCallout1">
            <a:avLst>
              <a:gd name="adj1" fmla="val 51429"/>
              <a:gd name="adj2" fmla="val -3643"/>
              <a:gd name="adj3" fmla="val 111955"/>
              <a:gd name="adj4" fmla="val -52068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sz="2000" dirty="0"/>
              <a:t>谐振回路构成</a:t>
            </a:r>
            <a:r>
              <a:rPr lang="en-US" altLang="zh-CN" sz="2000" dirty="0"/>
              <a:t>BPF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842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23528" y="1628800"/>
            <a:ext cx="6900862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当</a:t>
            </a:r>
            <a:r>
              <a:rPr lang="en-US" altLang="zh-CN" i="1" dirty="0" err="1">
                <a:solidFill>
                  <a:srgbClr val="0000FF"/>
                </a:solidFill>
              </a:rPr>
              <a:t>v</a:t>
            </a:r>
            <a:r>
              <a:rPr lang="en-US" altLang="zh-CN" baseline="-25000" dirty="0" err="1">
                <a:solidFill>
                  <a:srgbClr val="0000FF"/>
                </a:solidFill>
              </a:rPr>
              <a:t>c</a:t>
            </a:r>
            <a:r>
              <a:rPr lang="en-US" altLang="zh-CN" dirty="0">
                <a:solidFill>
                  <a:srgbClr val="0000FF"/>
                </a:solidFill>
              </a:rPr>
              <a:t>(t)</a:t>
            </a:r>
            <a:r>
              <a:rPr lang="zh-CN" altLang="en-US" dirty="0">
                <a:solidFill>
                  <a:srgbClr val="0000FF"/>
                </a:solidFill>
              </a:rPr>
              <a:t>是小信号，即 </a:t>
            </a:r>
            <a:r>
              <a:rPr lang="en-US" altLang="zh-CN" sz="3200" dirty="0">
                <a:solidFill>
                  <a:srgbClr val="0000FF"/>
                </a:solidFill>
              </a:rPr>
              <a:t>|</a:t>
            </a:r>
            <a:r>
              <a:rPr lang="en-US" altLang="zh-CN" i="1" dirty="0" err="1">
                <a:solidFill>
                  <a:srgbClr val="0000FF"/>
                </a:solidFill>
              </a:rPr>
              <a:t>V</a:t>
            </a:r>
            <a:r>
              <a:rPr lang="en-US" altLang="zh-CN" baseline="-25000" dirty="0" err="1">
                <a:solidFill>
                  <a:srgbClr val="0000FF"/>
                </a:solidFill>
              </a:rPr>
              <a:t>cm</a:t>
            </a:r>
            <a:r>
              <a:rPr lang="en-US" altLang="zh-CN" sz="3200" dirty="0">
                <a:solidFill>
                  <a:srgbClr val="0000FF"/>
                </a:solidFill>
              </a:rPr>
              <a:t>|</a:t>
            </a:r>
            <a:r>
              <a:rPr lang="en-US" altLang="zh-CN" dirty="0">
                <a:solidFill>
                  <a:srgbClr val="0000FF"/>
                </a:solidFill>
                <a:latin typeface="Symbol" pitchFamily="18" charset="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宋体" charset="-122"/>
              </a:rPr>
              <a:t>≤</a:t>
            </a:r>
            <a:r>
              <a:rPr lang="en-US" altLang="zh-CN" dirty="0">
                <a:solidFill>
                  <a:srgbClr val="0000FF"/>
                </a:solidFill>
              </a:rPr>
              <a:t> 26mV</a:t>
            </a:r>
            <a:r>
              <a:rPr lang="zh-CN" altLang="en-US" dirty="0">
                <a:solidFill>
                  <a:srgbClr val="0000FF"/>
                </a:solidFill>
              </a:rPr>
              <a:t>时：</a:t>
            </a:r>
            <a:endParaRPr lang="zh-CN" altLang="en-US" dirty="0">
              <a:solidFill>
                <a:srgbClr val="0000FF"/>
              </a:solidFill>
              <a:latin typeface="宋体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996573"/>
              </p:ext>
            </p:extLst>
          </p:nvPr>
        </p:nvGraphicFramePr>
        <p:xfrm>
          <a:off x="679450" y="2421558"/>
          <a:ext cx="72977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19440" imgH="431640" progId="Equation.DSMT4">
                  <p:embed/>
                </p:oleObj>
              </mc:Choice>
              <mc:Fallback>
                <p:oleObj name="Equation" r:id="rId2" imgW="3619440" imgH="43164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2421558"/>
                        <a:ext cx="7297738" cy="863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23528" y="4293096"/>
            <a:ext cx="6900862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当</a:t>
            </a:r>
            <a:r>
              <a:rPr lang="en-US" altLang="zh-CN" i="1" dirty="0" err="1">
                <a:solidFill>
                  <a:srgbClr val="0000FF"/>
                </a:solidFill>
              </a:rPr>
              <a:t>v</a:t>
            </a:r>
            <a:r>
              <a:rPr lang="en-US" altLang="zh-CN" baseline="-25000" dirty="0" err="1">
                <a:solidFill>
                  <a:srgbClr val="0000FF"/>
                </a:solidFill>
              </a:rPr>
              <a:t>c</a:t>
            </a:r>
            <a:r>
              <a:rPr lang="en-US" altLang="zh-CN" dirty="0">
                <a:solidFill>
                  <a:srgbClr val="0000FF"/>
                </a:solidFill>
              </a:rPr>
              <a:t>(t)</a:t>
            </a:r>
            <a:r>
              <a:rPr lang="zh-CN" altLang="en-US" dirty="0">
                <a:solidFill>
                  <a:srgbClr val="0000FF"/>
                </a:solidFill>
              </a:rPr>
              <a:t>是大信号，即 </a:t>
            </a:r>
            <a:r>
              <a:rPr lang="en-US" altLang="zh-CN" sz="3200" dirty="0">
                <a:solidFill>
                  <a:srgbClr val="0000FF"/>
                </a:solidFill>
              </a:rPr>
              <a:t>|</a:t>
            </a:r>
            <a:r>
              <a:rPr lang="en-US" altLang="zh-CN" i="1" dirty="0" err="1">
                <a:solidFill>
                  <a:srgbClr val="0000FF"/>
                </a:solidFill>
              </a:rPr>
              <a:t>V</a:t>
            </a:r>
            <a:r>
              <a:rPr lang="en-US" altLang="zh-CN" baseline="-25000" dirty="0" err="1">
                <a:solidFill>
                  <a:srgbClr val="0000FF"/>
                </a:solidFill>
              </a:rPr>
              <a:t>cm</a:t>
            </a:r>
            <a:r>
              <a:rPr lang="en-US" altLang="zh-CN" sz="3200" dirty="0">
                <a:solidFill>
                  <a:srgbClr val="0000FF"/>
                </a:solidFill>
              </a:rPr>
              <a:t>|</a:t>
            </a:r>
            <a:r>
              <a:rPr lang="en-US" altLang="zh-CN" dirty="0">
                <a:solidFill>
                  <a:srgbClr val="0000FF"/>
                </a:solidFill>
                <a:latin typeface="Symbol" pitchFamily="18" charset="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宋体" charset="-122"/>
              </a:rPr>
              <a:t>≥</a:t>
            </a:r>
            <a:r>
              <a:rPr lang="en-US" altLang="zh-CN" dirty="0">
                <a:solidFill>
                  <a:srgbClr val="0000FF"/>
                </a:solidFill>
              </a:rPr>
              <a:t> 260mV</a:t>
            </a:r>
            <a:r>
              <a:rPr lang="zh-CN" altLang="en-US" dirty="0">
                <a:solidFill>
                  <a:srgbClr val="0000FF"/>
                </a:solidFill>
              </a:rPr>
              <a:t>时：</a:t>
            </a:r>
            <a:endParaRPr lang="zh-CN" altLang="en-US" dirty="0">
              <a:solidFill>
                <a:srgbClr val="0000FF"/>
              </a:solidFill>
              <a:latin typeface="宋体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3568" y="3573016"/>
            <a:ext cx="7848872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直接得到了调制信号和载波信号的乘积，即</a:t>
            </a:r>
            <a:r>
              <a:rPr lang="en-US" altLang="zh-CN" dirty="0"/>
              <a:t>DSB</a:t>
            </a:r>
            <a:r>
              <a:rPr lang="zh-CN" altLang="en-US" dirty="0"/>
              <a:t>信号。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 bwMode="auto">
              <a:xfrm>
                <a:off x="614363" y="5156820"/>
                <a:ext cx="6986587" cy="108049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𝑡h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363" y="5156820"/>
                <a:ext cx="6986587" cy="10804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714B198B-6EEB-49C8-A74E-5FD7AC298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528" y="703240"/>
                <a:ext cx="8208912" cy="8984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05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0000FF"/>
                    </a:solidFill>
                  </a:rPr>
                  <a:t>的线性范围已被扩展，因此不做讨论，可认为在很大的信号范围内输出和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</m:sSub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0000FF"/>
                    </a:solidFill>
                    <a:latin typeface="宋体" charset="-122"/>
                  </a:rPr>
                  <a:t>都是线性关系。</a:t>
                </a:r>
              </a:p>
            </p:txBody>
          </p:sp>
        </mc:Choice>
        <mc:Fallback xmlns="">
          <p:sp>
            <p:nvSpPr>
              <p:cNvPr id="11" name="Rectangle 3">
                <a:extLst>
                  <a:ext uri="{FF2B5EF4-FFF2-40B4-BE49-F238E27FC236}">
                    <a16:creationId xmlns:a16="http://schemas.microsoft.com/office/drawing/2014/main" id="{714B198B-6EEB-49C8-A74E-5FD7AC2984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703240"/>
                <a:ext cx="8208912" cy="898451"/>
              </a:xfrm>
              <a:prstGeom prst="rect">
                <a:avLst/>
              </a:prstGeom>
              <a:blipFill>
                <a:blip r:embed="rId6"/>
                <a:stretch>
                  <a:fillRect t="-8784" b="-148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13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 bwMode="auto">
              <a:xfrm>
                <a:off x="323850" y="765175"/>
                <a:ext cx="3413125" cy="55562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" y="765175"/>
                <a:ext cx="3413125" cy="555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5536" y="1483693"/>
          <a:ext cx="4967287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63480" imgH="431640" progId="Equation.DSMT4">
                  <p:embed/>
                </p:oleObj>
              </mc:Choice>
              <mc:Fallback>
                <p:oleObj name="Equation" r:id="rId4" imgW="2463480" imgH="43164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483693"/>
                        <a:ext cx="4967287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 bwMode="auto">
              <a:xfrm>
                <a:off x="708025" y="2349500"/>
                <a:ext cx="8328025" cy="92392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den>
                      </m:f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𝒄𝒐𝒔</m:t>
                      </m:r>
                      <m:r>
                        <a:rPr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𝛀</m:t>
                      </m:r>
                      <m:r>
                        <a:rPr lang="en-US" altLang="zh-CN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func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−⋅⋅⋅)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025" y="2349500"/>
                <a:ext cx="8328025" cy="9239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 bwMode="auto">
              <a:xfrm>
                <a:off x="250825" y="3500438"/>
                <a:ext cx="6653213" cy="50482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频率组合为：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𝛀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、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𝛀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、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𝛀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⋅⋅⋅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3500438"/>
                <a:ext cx="6653213" cy="5048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95536" y="4029883"/>
                <a:ext cx="8280920" cy="7956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sz="2000" dirty="0"/>
                  <a:t>经过带通滤波器（</a:t>
                </a:r>
                <a:r>
                  <a:rPr lang="en-US" altLang="zh-CN" sz="2000" dirty="0"/>
                  <a:t>BPF</a:t>
                </a:r>
                <a:r>
                  <a:rPr lang="zh-CN" altLang="zh-CN" sz="2000" dirty="0"/>
                  <a:t>）可得双边带调幅波（</a:t>
                </a:r>
                <a:r>
                  <a:rPr lang="en-US" altLang="zh-CN" sz="2000" dirty="0"/>
                  <a:t>DSB</a:t>
                </a:r>
                <a:r>
                  <a:rPr lang="zh-CN" altLang="zh-CN" sz="2000" dirty="0"/>
                  <a:t>）</a:t>
                </a:r>
                <a:r>
                  <a:rPr lang="en-US" altLang="zh-CN" sz="2000" dirty="0"/>
                  <a:t>,</a:t>
                </a:r>
                <a:r>
                  <a:rPr lang="zh-CN" altLang="zh-CN" sz="2000" dirty="0"/>
                  <a:t>即电路为平衡调幅器</a:t>
                </a:r>
                <a:r>
                  <a:rPr lang="zh-CN" altLang="en-US" sz="2000" dirty="0"/>
                  <a:t>。电路中</a:t>
                </a:r>
                <a:r>
                  <a:rPr lang="en-US" altLang="zh-CN" sz="2000" dirty="0"/>
                  <a:t>L</a:t>
                </a:r>
                <a:r>
                  <a:rPr lang="zh-CN" altLang="zh-CN" sz="2000" dirty="0"/>
                  <a:t>、</a:t>
                </a:r>
                <a:r>
                  <a:rPr lang="en-US" altLang="zh-CN" sz="2000" dirty="0"/>
                  <a:t>C</a:t>
                </a:r>
                <a:r>
                  <a:rPr lang="zh-CN" altLang="zh-CN" sz="2000" dirty="0"/>
                  <a:t>、</a:t>
                </a:r>
                <a:r>
                  <a:rPr lang="en-US" altLang="zh-CN" sz="2000" dirty="0"/>
                  <a:t>R</a:t>
                </a:r>
                <a:r>
                  <a:rPr lang="zh-CN" altLang="en-US" sz="2000" dirty="0"/>
                  <a:t>组成</a:t>
                </a:r>
                <a:r>
                  <a:rPr lang="zh-CN" altLang="zh-CN" sz="2000" dirty="0"/>
                  <a:t>带通滤波器，其中心频率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zh-CN" altLang="en-US" sz="200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zh-CN" altLang="en-US" sz="200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zh-CN" altLang="en-US" sz="2000" dirty="0"/>
                  <a:t>，带宽</a:t>
                </a:r>
                <a:r>
                  <a:rPr lang="en-US" altLang="zh-CN" sz="2000" i="1" dirty="0"/>
                  <a:t>BW</a:t>
                </a:r>
                <a:r>
                  <a:rPr lang="en-US" altLang="zh-CN" sz="2000" dirty="0"/>
                  <a:t>=2</a:t>
                </a:r>
                <a:r>
                  <a:rPr lang="en-US" altLang="zh-CN" sz="2000" i="1" dirty="0"/>
                  <a:t>F</a:t>
                </a:r>
                <a:r>
                  <a:rPr lang="zh-CN" altLang="en-US" sz="2000" dirty="0"/>
                  <a:t>。</a:t>
                </a:r>
                <a:endParaRPr lang="en-US" altLang="zh-CN" sz="20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029883"/>
                <a:ext cx="8280920" cy="795667"/>
              </a:xfrm>
              <a:prstGeom prst="rect">
                <a:avLst/>
              </a:prstGeom>
              <a:blipFill>
                <a:blip r:embed="rId9"/>
                <a:stretch>
                  <a:fillRect l="-810" t="-2290" r="-3829" b="-12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612A6BA-9E69-BC9A-BB79-95F64D7EE79A}"/>
                  </a:ext>
                </a:extLst>
              </p:cNvPr>
              <p:cNvSpPr txBox="1"/>
              <p:nvPr/>
            </p:nvSpPr>
            <p:spPr>
              <a:xfrm>
                <a:off x="467544" y="5084443"/>
                <a:ext cx="8136904" cy="3929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>
                    <a:solidFill>
                      <a:srgbClr val="FF0000"/>
                    </a:solidFill>
                  </a:rPr>
                  <a:t>如果交换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rgbClr val="FF0000"/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1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rgbClr val="FF0000"/>
                    </a:solidFill>
                  </a:rPr>
                  <a:t>，是否还能输出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DSB</a:t>
                </a:r>
                <a:r>
                  <a:rPr lang="zh-CN" altLang="en-US" sz="1800" dirty="0">
                    <a:solidFill>
                      <a:srgbClr val="FF0000"/>
                    </a:solidFill>
                  </a:rPr>
                  <a:t>信号？</a:t>
                </a: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612A6BA-9E69-BC9A-BB79-95F64D7EE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084443"/>
                <a:ext cx="8136904" cy="392928"/>
              </a:xfrm>
              <a:prstGeom prst="rect">
                <a:avLst/>
              </a:prstGeom>
              <a:blipFill>
                <a:blip r:embed="rId10"/>
                <a:stretch>
                  <a:fillRect l="-675" t="-4615" b="-2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2859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混频电路</a:t>
            </a:r>
          </a:p>
        </p:txBody>
      </p:sp>
      <p:sp>
        <p:nvSpPr>
          <p:cNvPr id="4" name="Rectangle 1032"/>
          <p:cNvSpPr>
            <a:spLocks noChangeArrowheads="1"/>
          </p:cNvSpPr>
          <p:nvPr/>
        </p:nvSpPr>
        <p:spPr bwMode="auto">
          <a:xfrm>
            <a:off x="323528" y="1484784"/>
            <a:ext cx="8208912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charset="-122"/>
              </a:rPr>
              <a:t>又称变频</a:t>
            </a:r>
            <a:r>
              <a:rPr lang="en-US" altLang="zh-CN" dirty="0">
                <a:latin typeface="宋体" charset="-122"/>
              </a:rPr>
              <a:t>(</a:t>
            </a:r>
            <a:r>
              <a:rPr lang="en-US" altLang="zh-CN" dirty="0"/>
              <a:t>Convertor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>
                <a:latin typeface="宋体" charset="-122"/>
              </a:rPr>
              <a:t>电路，超外差接收机的重要组成。</a:t>
            </a:r>
            <a:r>
              <a:rPr lang="zh-CN" altLang="en-US" dirty="0"/>
              <a:t> </a:t>
            </a:r>
            <a:endParaRPr lang="zh-CN" altLang="en-US" dirty="0">
              <a:latin typeface="Arial" charset="0"/>
            </a:endParaRPr>
          </a:p>
        </p:txBody>
      </p:sp>
      <p:sp>
        <p:nvSpPr>
          <p:cNvPr id="5" name="Rectangle 1057"/>
          <p:cNvSpPr>
            <a:spLocks noChangeArrowheads="1"/>
          </p:cNvSpPr>
          <p:nvPr/>
        </p:nvSpPr>
        <p:spPr bwMode="auto">
          <a:xfrm>
            <a:off x="323528" y="2201264"/>
            <a:ext cx="7848872" cy="153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solidFill>
                  <a:srgbClr val="C00000"/>
                </a:solidFill>
              </a:rPr>
              <a:t>混频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zh-CN" altLang="en-US" dirty="0">
                <a:solidFill>
                  <a:srgbClr val="C00000"/>
                </a:solidFill>
              </a:rPr>
              <a:t>或变频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r>
              <a:rPr lang="zh-CN" altLang="en-US" dirty="0">
                <a:solidFill>
                  <a:srgbClr val="C00000"/>
                </a:solidFill>
              </a:rPr>
              <a:t>是将信号的频率由一个数值变换成另一个数值的过程。</a:t>
            </a:r>
            <a:r>
              <a:rPr lang="zh-CN" altLang="en-US" dirty="0">
                <a:latin typeface="宋体" charset="-122"/>
              </a:rPr>
              <a:t>例如，将载频为</a:t>
            </a:r>
            <a:r>
              <a:rPr lang="zh-CN" altLang="en-US" dirty="0"/>
              <a:t> </a:t>
            </a:r>
            <a:r>
              <a:rPr lang="en-US" altLang="zh-CN" i="1" dirty="0"/>
              <a:t>f</a:t>
            </a:r>
            <a:r>
              <a:rPr lang="en-US" altLang="zh-CN" baseline="-25000" dirty="0"/>
              <a:t>c </a:t>
            </a:r>
            <a:r>
              <a:rPr lang="zh-CN" altLang="en-US" dirty="0">
                <a:latin typeface="宋体" charset="-122"/>
              </a:rPr>
              <a:t>的已调信号</a:t>
            </a:r>
            <a:r>
              <a:rPr lang="zh-CN" altLang="en-US" dirty="0"/>
              <a:t> </a:t>
            </a:r>
            <a:r>
              <a:rPr lang="en-US" altLang="zh-CN" i="1" dirty="0" err="1"/>
              <a:t>v</a:t>
            </a:r>
            <a:r>
              <a:rPr lang="en-US" altLang="zh-CN" baseline="-25000" dirty="0" err="1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zh-CN" altLang="en-US" dirty="0">
                <a:latin typeface="宋体" charset="-122"/>
              </a:rPr>
              <a:t>不失真地变换为载频为</a:t>
            </a:r>
            <a:r>
              <a:rPr lang="zh-CN" altLang="en-US" dirty="0"/>
              <a:t> </a:t>
            </a:r>
            <a:r>
              <a:rPr lang="en-US" altLang="zh-CN" i="1" dirty="0" err="1"/>
              <a:t>f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 </a:t>
            </a:r>
            <a:r>
              <a:rPr lang="zh-CN" altLang="en-US" dirty="0">
                <a:latin typeface="宋体" charset="-122"/>
              </a:rPr>
              <a:t>的已调信号</a:t>
            </a:r>
            <a:r>
              <a:rPr lang="zh-CN" altLang="en-US" dirty="0"/>
              <a:t> </a:t>
            </a:r>
            <a:r>
              <a:rPr lang="en-US" altLang="zh-CN" i="1" dirty="0" err="1"/>
              <a:t>v</a:t>
            </a:r>
            <a:r>
              <a:rPr lang="en-US" altLang="zh-CN" baseline="-25000" dirty="0" err="1"/>
              <a:t>I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zh-CN" altLang="en-US" dirty="0">
                <a:latin typeface="宋体" charset="-122"/>
              </a:rPr>
              <a:t>。</a:t>
            </a:r>
          </a:p>
        </p:txBody>
      </p:sp>
      <p:sp>
        <p:nvSpPr>
          <p:cNvPr id="6" name="Rectangle 1058"/>
          <p:cNvSpPr>
            <a:spLocks noChangeArrowheads="1"/>
          </p:cNvSpPr>
          <p:nvPr/>
        </p:nvSpPr>
        <p:spPr bwMode="auto">
          <a:xfrm>
            <a:off x="364232" y="3785440"/>
            <a:ext cx="7808168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altLang="zh-CN" i="1" dirty="0" err="1"/>
              <a:t>v</a:t>
            </a:r>
            <a:r>
              <a:rPr lang="en-US" altLang="zh-CN" baseline="-25000" dirty="0" err="1"/>
              <a:t>L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 </a:t>
            </a:r>
            <a:r>
              <a:rPr lang="zh-CN" altLang="en-US" dirty="0"/>
              <a:t>：由本机</a:t>
            </a:r>
            <a:r>
              <a:rPr lang="zh-CN" altLang="en-US" dirty="0">
                <a:solidFill>
                  <a:schemeClr val="hlink"/>
                </a:solidFill>
                <a:latin typeface="宋体" charset="-122"/>
              </a:rPr>
              <a:t>振荡器产生的本振电压</a:t>
            </a:r>
            <a:r>
              <a:rPr lang="zh-CN" altLang="en-US" dirty="0">
                <a:solidFill>
                  <a:schemeClr val="tx2"/>
                </a:solidFill>
                <a:latin typeface="宋体" charset="-122"/>
              </a:rPr>
              <a:t>，</a:t>
            </a:r>
            <a:r>
              <a:rPr lang="en-US" altLang="zh-CN" i="1" dirty="0" err="1">
                <a:sym typeface="Symbol" pitchFamily="18" charset="2"/>
              </a:rPr>
              <a:t>f</a:t>
            </a:r>
            <a:r>
              <a:rPr lang="en-US" altLang="zh-CN" baseline="-25000" dirty="0" err="1">
                <a:sym typeface="Symbol" pitchFamily="18" charset="2"/>
              </a:rPr>
              <a:t>L</a:t>
            </a:r>
            <a:r>
              <a:rPr lang="en-US" altLang="zh-CN" baseline="-25000" dirty="0">
                <a:sym typeface="Symbol" pitchFamily="18" charset="2"/>
              </a:rPr>
              <a:t> </a:t>
            </a:r>
            <a:r>
              <a:rPr lang="zh-CN" altLang="en-US" dirty="0">
                <a:latin typeface="宋体" charset="-122"/>
              </a:rPr>
              <a:t>：</a:t>
            </a:r>
            <a:r>
              <a:rPr lang="zh-CN" altLang="en-US" dirty="0">
                <a:solidFill>
                  <a:schemeClr val="hlink"/>
                </a:solidFill>
                <a:latin typeface="宋体" charset="-122"/>
              </a:rPr>
              <a:t>本振频率</a:t>
            </a:r>
            <a:r>
              <a:rPr lang="zh-CN" altLang="en-US" dirty="0">
                <a:latin typeface="宋体" charset="-122"/>
              </a:rPr>
              <a:t>。</a:t>
            </a:r>
          </a:p>
        </p:txBody>
      </p:sp>
      <p:sp>
        <p:nvSpPr>
          <p:cNvPr id="7" name="Rectangle 1059"/>
          <p:cNvSpPr>
            <a:spLocks noChangeArrowheads="1"/>
          </p:cNvSpPr>
          <p:nvPr/>
        </p:nvSpPr>
        <p:spPr bwMode="auto">
          <a:xfrm>
            <a:off x="364232" y="4577528"/>
            <a:ext cx="4876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i="1" dirty="0" err="1"/>
              <a:t>f</a:t>
            </a:r>
            <a:r>
              <a:rPr lang="en-US" altLang="zh-CN" baseline="-25000" dirty="0" err="1"/>
              <a:t>L</a:t>
            </a:r>
            <a:r>
              <a:rPr lang="zh-CN" altLang="en-US" dirty="0">
                <a:latin typeface="宋体" charset="-122"/>
              </a:rPr>
              <a:t>、</a:t>
            </a:r>
            <a:r>
              <a:rPr lang="en-US" altLang="zh-CN" i="1" dirty="0" err="1"/>
              <a:t>f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 </a:t>
            </a:r>
            <a:r>
              <a:rPr lang="zh-CN" altLang="en-US" dirty="0">
                <a:latin typeface="宋体" charset="-122"/>
              </a:rPr>
              <a:t>、</a:t>
            </a:r>
            <a:r>
              <a:rPr lang="en-US" altLang="zh-CN" i="1" dirty="0"/>
              <a:t>f</a:t>
            </a:r>
            <a:r>
              <a:rPr lang="en-US" altLang="zh-CN" baseline="-25000" dirty="0"/>
              <a:t>c </a:t>
            </a:r>
            <a:r>
              <a:rPr lang="zh-CN" altLang="en-US" dirty="0">
                <a:latin typeface="宋体" charset="-122"/>
              </a:rPr>
              <a:t>之间的关系为</a:t>
            </a:r>
          </a:p>
        </p:txBody>
      </p:sp>
      <p:graphicFrame>
        <p:nvGraphicFramePr>
          <p:cNvPr id="8" name="Object 10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82103"/>
              </p:ext>
            </p:extLst>
          </p:nvPr>
        </p:nvGraphicFramePr>
        <p:xfrm>
          <a:off x="364232" y="5225600"/>
          <a:ext cx="32131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5156" imgH="866757" progId="Equation.DSMT4">
                  <p:embed/>
                </p:oleObj>
              </mc:Choice>
              <mc:Fallback>
                <p:oleObj name="Equation" r:id="rId2" imgW="3305156" imgH="8667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32" y="5225600"/>
                        <a:ext cx="321310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2" descr="4-1-1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8" r="18282" b="81122"/>
          <a:stretch>
            <a:fillRect/>
          </a:stretch>
        </p:blipFill>
        <p:spPr bwMode="auto">
          <a:xfrm>
            <a:off x="4272554" y="4721544"/>
            <a:ext cx="4419600" cy="139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725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5957065"/>
                  </p:ext>
                </p:extLst>
              </p:nvPr>
            </p:nvGraphicFramePr>
            <p:xfrm>
              <a:off x="251520" y="3429001"/>
              <a:ext cx="8569324" cy="3240359"/>
            </p:xfrm>
            <a:graphic>
              <a:graphicData uri="http://schemas.openxmlformats.org/drawingml/2006/table">
                <a:tbl>
                  <a:tblPr firstRow="1" firstCol="1">
                    <a:tableStyleId>{BC89EF96-8CEA-46FF-86C4-4CE0E7609802}</a:tableStyleId>
                  </a:tblPr>
                  <a:tblGrid>
                    <a:gridCol w="21423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423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233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4233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6871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电路类型</a:t>
                          </a:r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输入信号</a:t>
                          </a:r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参考信号</a:t>
                          </a:r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滤波器</a:t>
                          </a:r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6871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调幅</a:t>
                          </a:r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调制信号</a:t>
                          </a:r>
                          <a:r>
                            <a:rPr lang="zh-CN" altLang="en-US" sz="1800" kern="100" dirty="0">
                              <a:effectLst/>
                            </a:rPr>
                            <a:t>：</a:t>
                          </a:r>
                          <a:endParaRPr lang="en-US" altLang="zh-CN" sz="1800" kern="1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"/>
                                    <m:ctrlPr>
                                      <a:rPr lang="zh-CN" altLang="en-US" sz="18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1800" i="1" kern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800" kern="1200">
                                            <a:latin typeface="Cambria Math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zh-CN" altLang="en-US" sz="1800" kern="1200">
                                            <a:latin typeface="Cambria Math"/>
                                          </a:rPr>
                                          <m:t>𝛺</m:t>
                                        </m:r>
                                      </m:sub>
                                    </m:sSub>
                                    <m:r>
                                      <a:rPr lang="zh-CN" altLang="en-US" sz="1800" kern="120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zh-CN" altLang="en-US" sz="1800" kern="120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载波</a:t>
                          </a:r>
                          <a:r>
                            <a:rPr lang="zh-CN" altLang="en-US" sz="1800" kern="100" dirty="0">
                              <a:effectLst/>
                            </a:rPr>
                            <a:t>：</a:t>
                          </a:r>
                          <a:endParaRPr lang="en-US" altLang="zh-CN" sz="1800" kern="1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en-US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zh-CN" altLang="en-US" sz="1800" i="0" kern="120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zh-CN" altLang="en-US" sz="1800" i="1" kern="120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  <m:r>
                                  <a:rPr lang="zh-CN" altLang="en-US" sz="1800" i="0" kern="120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)=</m:t>
                                </m:r>
                                <m:sSub>
                                  <m:sSubPr>
                                    <m:ctrlP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𝑐𝑚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altLang="en-US" sz="1800" i="0" kern="120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cos</m:t>
                                </m:r>
                                <m:sSub>
                                  <m:sSubPr>
                                    <m:ctrlP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zh-CN" altLang="en-US" sz="1800" i="1" kern="120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</a:rPr>
                            <a:t>BPF</a:t>
                          </a:r>
                          <a:r>
                            <a:rPr lang="zh-CN" altLang="en-US" sz="1800" kern="100" dirty="0">
                              <a:effectLst/>
                            </a:rPr>
                            <a:t>：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en-US" sz="180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1800" b="0" i="1" kern="120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1800" i="0" kern="120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1800" kern="100" dirty="0">
                              <a:effectLst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1800" i="1" kern="120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𝐵</m:t>
                              </m:r>
                              <m:r>
                                <a:rPr lang="en-US" altLang="zh-CN" sz="1800" b="0" i="1" kern="120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𝑊</m:t>
                              </m:r>
                              <m:r>
                                <a:rPr lang="zh-CN" altLang="en-US" sz="1800" i="0" kern="120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sz="1800" i="0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max</m:t>
                                  </m:r>
                                </m:sub>
                              </m:sSub>
                            </m:oMath>
                          </a14:m>
                          <a:endParaRPr lang="zh-CN" sz="1800" kern="100" dirty="0">
                            <a:effectLst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6871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</a:rPr>
                            <a:t>同步检波</a:t>
                          </a:r>
                          <a:endParaRPr lang="zh-CN" sz="1800" b="1" kern="1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调幅波</a:t>
                          </a:r>
                          <a:r>
                            <a:rPr lang="zh-CN" altLang="en-US" sz="1800" kern="100" dirty="0">
                              <a:effectLst/>
                            </a:rPr>
                            <a:t>：</a:t>
                          </a:r>
                          <a:endParaRPr lang="en-US" altLang="zh-CN" sz="1800" kern="1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"/>
                                    <m:ctrlPr>
                                      <a:rPr lang="zh-CN" altLang="en-US" sz="18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1800" i="1" kern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800" kern="1200">
                                            <a:latin typeface="Cambria Math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zh-CN" altLang="en-US" sz="1800" kern="1200">
                                            <a:latin typeface="Cambria Math"/>
                                          </a:rPr>
                                          <m:t>𝑆</m:t>
                                        </m:r>
                                      </m:sub>
                                    </m:sSub>
                                    <m:r>
                                      <a:rPr lang="zh-CN" altLang="en-US" sz="1800" kern="120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zh-CN" altLang="en-US" sz="1800" kern="120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同步信号</a:t>
                          </a:r>
                          <a:r>
                            <a:rPr lang="zh-CN" altLang="en-US" sz="1800" kern="100" dirty="0">
                              <a:effectLst/>
                            </a:rPr>
                            <a:t>：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en-US" sz="1800" i="1" kern="120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kern="1200"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sz="1800" kern="1200">
                                      <a:latin typeface="Cambria Math"/>
                                    </a:rPr>
                                    <m:t>𝑟</m:t>
                                  </m:r>
                                </m:sub>
                              </m:sSub>
                              <m:r>
                                <a:rPr lang="zh-CN" altLang="en-US" sz="1800" kern="1200">
                                  <a:latin typeface="Cambria Math"/>
                                </a:rPr>
                                <m:t>(</m:t>
                              </m:r>
                              <m:r>
                                <a:rPr lang="zh-CN" altLang="en-US" sz="1800" kern="120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zh-CN" altLang="en-US" sz="1800" kern="1200">
                                  <a:latin typeface="Cambria Math"/>
                                </a:rPr>
                                <m:t>)=</m:t>
                              </m:r>
                              <m:sSub>
                                <m:sSubPr>
                                  <m:ctrlPr>
                                    <a:rPr lang="zh-CN" altLang="en-US" sz="1800" i="1" kern="1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kern="1200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zh-CN" altLang="en-US" sz="1800" kern="1200">
                                      <a:latin typeface="Cambria Math"/>
                                    </a:rPr>
                                    <m:t>𝑟𝑚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altLang="en-US" sz="1800" kern="1200">
                                  <a:latin typeface="Cambria Math"/>
                                </a:rPr>
                                <m:t>cos</m:t>
                              </m:r>
                              <m:sSub>
                                <m:sSubPr>
                                  <m:ctrlPr>
                                    <a:rPr lang="zh-CN" altLang="en-US" sz="1800" i="1" kern="12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kern="1200">
                                      <a:latin typeface="Cambria Math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zh-CN" altLang="en-US" sz="1800" kern="1200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zh-CN" altLang="en-US" sz="1800" kern="1200">
                                  <a:latin typeface="Cambria Math"/>
                                </a:rPr>
                                <m:t>𝑡</m:t>
                              </m:r>
                            </m:oMath>
                          </a14:m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</a:rPr>
                            <a:t>LPF</a:t>
                          </a:r>
                          <a:r>
                            <a:rPr lang="zh-CN" sz="1800" kern="100" dirty="0">
                              <a:effectLst/>
                            </a:rPr>
                            <a:t>：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en-US" sz="180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zh-CN" altLang="en-US" sz="1800" i="0" kern="120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sz="1800" i="0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max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kern="100" dirty="0">
                              <a:effectLst/>
                            </a:rPr>
                            <a:t>   </a:t>
                          </a:r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342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</a:rPr>
                            <a:t>混频</a:t>
                          </a:r>
                          <a:endParaRPr lang="zh-CN" sz="1800" b="1" kern="1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sz="1800" kern="100" dirty="0">
                              <a:effectLst/>
                            </a:rPr>
                            <a:t>高频已调波</a:t>
                          </a:r>
                          <a:r>
                            <a:rPr lang="zh-CN" altLang="en-US" sz="1800" kern="100" dirty="0">
                              <a:effectLst/>
                            </a:rPr>
                            <a:t>：</a:t>
                          </a:r>
                          <a:endParaRPr lang="en-US" altLang="zh-CN" sz="1800" kern="100" dirty="0">
                            <a:effectLst/>
                          </a:endParaRP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"/>
                                    <m:ctrlPr>
                                      <a:rPr lang="zh-CN" altLang="en-US" sz="1800" i="1" kern="12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en-US" sz="1800" i="1" kern="120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800" kern="1200">
                                            <a:latin typeface="Cambria Math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zh-CN" altLang="en-US" sz="1800" kern="1200">
                                            <a:latin typeface="Cambria Math"/>
                                          </a:rPr>
                                          <m:t>𝑆</m:t>
                                        </m:r>
                                      </m:sub>
                                    </m:sSub>
                                    <m:r>
                                      <a:rPr lang="zh-CN" altLang="en-US" sz="1800" kern="120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zh-CN" altLang="en-US" sz="1800" kern="120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zh-CN" sz="1800" b="1" kern="100" dirty="0">
                            <a:effectLst/>
                            <a:latin typeface="+mn-lt"/>
                            <a:ea typeface="+mn-ea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本振信号</a:t>
                          </a:r>
                          <a:r>
                            <a:rPr lang="zh-CN" altLang="en-US" sz="1800" kern="100" dirty="0">
                              <a:effectLst/>
                            </a:rPr>
                            <a:t>：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altLang="en-US" sz="1800" i="1" kern="12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zh-CN" altLang="en-US" sz="1800" i="0" kern="120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lang="zh-CN" altLang="en-US" sz="1800" i="1" kern="120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lang="zh-CN" altLang="en-US" sz="1800" i="0" kern="120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)=</m:t>
                              </m:r>
                              <m:sSub>
                                <m:sSubPr>
                                  <m:ctrlP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𝐿𝑚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altLang="en-US" sz="1800" i="0" kern="120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cos</m:t>
                              </m:r>
                              <m:sSub>
                                <m:sSubPr>
                                  <m:ctrlP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zh-CN" altLang="en-US" sz="1800" i="1" kern="120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zh-CN" altLang="en-US" sz="1800" i="1" kern="120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oMath>
                          </a14:m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</a:rPr>
                            <a:t>BPF</a:t>
                          </a:r>
                          <a:r>
                            <a:rPr lang="zh-CN" altLang="en-US" sz="1800" kern="100" dirty="0">
                              <a:effectLst/>
                            </a:rPr>
                            <a:t>：</a:t>
                          </a:r>
                          <a:endParaRPr lang="en-US" altLang="zh-CN" sz="1800" kern="100" dirty="0">
                            <a:effectLst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en-US" sz="180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sz="1800" i="0" kern="120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zh-CN" altLang="en-US" sz="1800" i="0" kern="120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a:rPr lang="zh-CN" altLang="en-US" sz="1800" i="0" kern="120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800" i="1" kern="120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𝐵</m:t>
                                </m:r>
                                <m:r>
                                  <a:rPr lang="en-US" altLang="zh-CN" sz="1800" b="0" i="1" kern="120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𝑊</m:t>
                                </m:r>
                                <m:r>
                                  <a:rPr lang="zh-CN" altLang="en-US" sz="1800" i="0" kern="120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=2</m:t>
                                </m:r>
                                <m:sSub>
                                  <m:sSubPr>
                                    <m:ctrlP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altLang="en-US" sz="1800" i="0" kern="120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max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213002"/>
                  </p:ext>
                </p:extLst>
              </p:nvPr>
            </p:nvGraphicFramePr>
            <p:xfrm>
              <a:off x="251520" y="3429001"/>
              <a:ext cx="8569324" cy="3240359"/>
            </p:xfrm>
            <a:graphic>
              <a:graphicData uri="http://schemas.openxmlformats.org/drawingml/2006/table">
                <a:tbl>
                  <a:tblPr firstRow="1" firstCol="1">
                    <a:tableStyleId>{BC89EF96-8CEA-46FF-86C4-4CE0E7609802}</a:tableStyleId>
                  </a:tblPr>
                  <a:tblGrid>
                    <a:gridCol w="2142331"/>
                    <a:gridCol w="2142331"/>
                    <a:gridCol w="2142331"/>
                    <a:gridCol w="2142331"/>
                  </a:tblGrid>
                  <a:tr h="76871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电路类型</a:t>
                          </a:r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输入信号</a:t>
                          </a:r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参考信号</a:t>
                          </a:r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滤波器</a:t>
                          </a:r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76871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 dirty="0">
                              <a:effectLst/>
                            </a:rPr>
                            <a:t>调幅</a:t>
                          </a:r>
                          <a:endParaRPr lang="zh-CN" sz="1800" b="1" kern="100" dirty="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100285" t="-100794" r="-200285" b="-2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199716" t="-100794" r="-99716" b="-2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300570" t="-100794" b="-292857"/>
                          </a:stretch>
                        </a:blipFill>
                      </a:tcPr>
                    </a:tc>
                  </a:tr>
                  <a:tr h="76871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</a:rPr>
                            <a:t>同步检波</a:t>
                          </a:r>
                          <a:endParaRPr lang="zh-CN" sz="1800" b="1" kern="1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100285" t="-200794" r="-200285" b="-1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199716" t="-200794" r="-99716" b="-19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300570" t="-200794" b="-192857"/>
                          </a:stretch>
                        </a:blipFill>
                      </a:tcPr>
                    </a:tc>
                  </a:tr>
                  <a:tr h="9342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zh-CN" sz="1800" kern="100">
                              <a:effectLst/>
                            </a:rPr>
                            <a:t>混频</a:t>
                          </a:r>
                          <a:endParaRPr lang="zh-CN" sz="1800" b="1" kern="100">
                            <a:effectLst/>
                            <a:latin typeface="Times New Roman"/>
                            <a:ea typeface="宋体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100285" t="-247712" r="-200285" b="-5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199716" t="-247712" r="-99716" b="-5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 rotWithShape="1">
                          <a:blip r:embed="rId2"/>
                          <a:stretch>
                            <a:fillRect l="-300570" t="-247712" b="-5882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5" name="矩形 14"/>
          <p:cNvSpPr/>
          <p:nvPr/>
        </p:nvSpPr>
        <p:spPr>
          <a:xfrm>
            <a:off x="251520" y="552280"/>
            <a:ext cx="3869970" cy="526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各种频谱搬移电路的比较</a:t>
            </a:r>
          </a:p>
        </p:txBody>
      </p:sp>
      <p:sp>
        <p:nvSpPr>
          <p:cNvPr id="16" name="矩形 15"/>
          <p:cNvSpPr/>
          <p:nvPr/>
        </p:nvSpPr>
        <p:spPr>
          <a:xfrm>
            <a:off x="251520" y="1124744"/>
            <a:ext cx="372595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振幅调制、振幅解调（</a:t>
            </a:r>
            <a:r>
              <a:rPr lang="zh-CN" altLang="en-US" sz="2400" dirty="0"/>
              <a:t>同步</a:t>
            </a:r>
            <a:r>
              <a:rPr lang="zh-CN" altLang="zh-CN" sz="2400" dirty="0"/>
              <a:t>检波）、混频</a:t>
            </a:r>
            <a:r>
              <a:rPr lang="zh-CN" altLang="en-US" sz="2400" dirty="0"/>
              <a:t>的实质都是频谱搬移</a:t>
            </a:r>
            <a:r>
              <a:rPr lang="zh-CN" altLang="zh-CN" sz="2400" dirty="0"/>
              <a:t>，都可以用乘法器和相应的滤波器组成的电路来实现。</a:t>
            </a:r>
            <a:endParaRPr lang="zh-CN" altLang="en-US" sz="2400" dirty="0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4087618" y="1697663"/>
            <a:ext cx="4876870" cy="1155273"/>
            <a:chOff x="3962959" y="1518644"/>
            <a:chExt cx="4876870" cy="1155273"/>
          </a:xfrm>
        </p:grpSpPr>
        <p:pic>
          <p:nvPicPr>
            <p:cNvPr id="315405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7984" y="1628800"/>
              <a:ext cx="3960440" cy="1045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矩形 18"/>
            <p:cNvSpPr/>
            <p:nvPr/>
          </p:nvSpPr>
          <p:spPr>
            <a:xfrm>
              <a:off x="3962960" y="1518644"/>
              <a:ext cx="902811" cy="3261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1400" dirty="0"/>
                <a:t>输入信号</a:t>
              </a:r>
              <a:endParaRPr lang="zh-CN" altLang="en-US" sz="1400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962959" y="1988840"/>
              <a:ext cx="902811" cy="3261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/>
                <a:t>参考</a:t>
              </a:r>
              <a:r>
                <a:rPr lang="zh-CN" altLang="zh-CN" sz="1400" dirty="0"/>
                <a:t>信号</a:t>
              </a:r>
              <a:endParaRPr lang="zh-CN" altLang="en-US" sz="1400" dirty="0"/>
            </a:p>
          </p:txBody>
        </p:sp>
        <p:sp>
          <p:nvSpPr>
            <p:cNvPr id="23" name="矩形 22"/>
            <p:cNvSpPr/>
            <p:nvPr/>
          </p:nvSpPr>
          <p:spPr>
            <a:xfrm>
              <a:off x="6804248" y="1877586"/>
              <a:ext cx="881973" cy="3929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800" dirty="0"/>
                <a:t>滤波器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7937018" y="1584736"/>
              <a:ext cx="902811" cy="3261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/>
                <a:t>输出</a:t>
              </a:r>
              <a:r>
                <a:rPr lang="zh-CN" altLang="zh-CN" sz="1400" dirty="0"/>
                <a:t>信号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3501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9512" y="980728"/>
            <a:ext cx="8352928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 dirty="0"/>
              <a:t>作用到混频器上的本振信号、有用信号、干扰信号等，它们之间任意两者都可能产生组合频率，形成干扰。不同原因产生的干扰在接收机中有特定的名称：</a:t>
            </a: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2667000" y="2702768"/>
            <a:ext cx="7620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800" b="0" i="1" dirty="0"/>
              <a:t>f</a:t>
            </a:r>
            <a:r>
              <a:rPr lang="en-US" altLang="zh-CN" sz="2800" b="0" baseline="-25000" dirty="0"/>
              <a:t>s</a:t>
            </a: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3581400" y="3007568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975208" y="2377331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2400" dirty="0"/>
              <a:t>干扰哨声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5867400" y="2702768"/>
            <a:ext cx="7620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800" b="0" i="1"/>
              <a:t>f</a:t>
            </a:r>
            <a:r>
              <a:rPr lang="en-US" altLang="zh-CN" sz="2800" b="0" baseline="-25000"/>
              <a:t>L</a:t>
            </a: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rot="-2662910">
            <a:off x="3162300" y="4653806"/>
            <a:ext cx="3117850" cy="30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4800600" y="4455368"/>
            <a:ext cx="21476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2400" dirty="0"/>
              <a:t>寄生通道干扰</a:t>
            </a: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2667000" y="5826968"/>
            <a:ext cx="7620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800" b="0" i="1"/>
              <a:t>f</a:t>
            </a:r>
            <a:r>
              <a:rPr lang="en-US" altLang="zh-CN" sz="2800" b="0" baseline="-25000"/>
              <a:t>M1</a:t>
            </a: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rot="-5400000">
            <a:off x="1943100" y="4569668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524000" y="4150568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2400" dirty="0"/>
              <a:t>交调失真</a:t>
            </a: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3581400" y="6207968"/>
            <a:ext cx="2209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3565525" y="6284168"/>
            <a:ext cx="201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zh-CN" altLang="en-US" sz="2400" dirty="0"/>
              <a:t>互调失真</a:t>
            </a: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5943600" y="5826968"/>
            <a:ext cx="7620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800" b="0" i="1"/>
              <a:t>f</a:t>
            </a:r>
            <a:r>
              <a:rPr lang="en-US" altLang="zh-CN" sz="2800" b="0" baseline="-25000"/>
              <a:t>M2</a:t>
            </a:r>
          </a:p>
        </p:txBody>
      </p:sp>
      <p:sp>
        <p:nvSpPr>
          <p:cNvPr id="16" name="矩形 15"/>
          <p:cNvSpPr/>
          <p:nvPr/>
        </p:nvSpPr>
        <p:spPr>
          <a:xfrm>
            <a:off x="179512" y="404664"/>
            <a:ext cx="1524776" cy="526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混频失真</a:t>
            </a:r>
          </a:p>
        </p:txBody>
      </p:sp>
    </p:spTree>
    <p:extLst>
      <p:ext uri="{BB962C8B-B14F-4D97-AF65-F5344CB8AC3E}">
        <p14:creationId xmlns:p14="http://schemas.microsoft.com/office/powerpoint/2010/main" val="395807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620686"/>
            <a:ext cx="6529352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干扰哨声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>
                <a:latin typeface="楷体_GB2312" pitchFamily="49" charset="-122"/>
                <a:ea typeface="楷体_GB2312" pitchFamily="49" charset="-122"/>
              </a:rPr>
              <a:t>组合频率干扰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>
                <a:latin typeface="宋体" charset="-122"/>
              </a:rPr>
              <a:t>：</a:t>
            </a:r>
            <a:r>
              <a:rPr lang="en-US" altLang="zh-CN" i="1" dirty="0" err="1">
                <a:solidFill>
                  <a:srgbClr val="FF00FF"/>
                </a:solidFill>
              </a:rPr>
              <a:t>f</a:t>
            </a:r>
            <a:r>
              <a:rPr lang="en-US" altLang="zh-CN" i="1" baseline="-30000" dirty="0" err="1">
                <a:solidFill>
                  <a:srgbClr val="FF00FF"/>
                </a:solidFill>
              </a:rPr>
              <a:t>p</a:t>
            </a:r>
            <a:r>
              <a:rPr lang="en-US" altLang="zh-CN" baseline="-30000" dirty="0" err="1">
                <a:solidFill>
                  <a:srgbClr val="FF00FF"/>
                </a:solidFill>
              </a:rPr>
              <a:t>,</a:t>
            </a:r>
            <a:r>
              <a:rPr lang="en-US" altLang="zh-CN" i="1" baseline="-30000" dirty="0" err="1">
                <a:solidFill>
                  <a:srgbClr val="FF00FF"/>
                </a:solidFill>
              </a:rPr>
              <a:t>q</a:t>
            </a:r>
            <a:r>
              <a:rPr lang="en-US" altLang="zh-CN" baseline="-30000" dirty="0">
                <a:solidFill>
                  <a:srgbClr val="FF00FF"/>
                </a:solidFill>
              </a:rPr>
              <a:t> </a:t>
            </a:r>
            <a:r>
              <a:rPr lang="en-US" altLang="zh-CN" dirty="0">
                <a:solidFill>
                  <a:srgbClr val="FF00FF"/>
                </a:solidFill>
              </a:rPr>
              <a:t>=</a:t>
            </a:r>
            <a:r>
              <a:rPr lang="en-US" altLang="zh-CN" sz="3200" dirty="0">
                <a:solidFill>
                  <a:srgbClr val="FF00FF"/>
                </a:solidFill>
              </a:rPr>
              <a:t>| </a:t>
            </a:r>
            <a:r>
              <a:rPr lang="en-US" altLang="zh-CN" dirty="0">
                <a:solidFill>
                  <a:srgbClr val="FF00FF"/>
                </a:solidFill>
                <a:sym typeface="Symbol" pitchFamily="18" charset="2"/>
              </a:rPr>
              <a:t></a:t>
            </a:r>
            <a:r>
              <a:rPr lang="en-US" altLang="zh-CN" i="1" dirty="0" err="1">
                <a:solidFill>
                  <a:srgbClr val="FF00FF"/>
                </a:solidFill>
                <a:sym typeface="Symbol" pitchFamily="18" charset="2"/>
              </a:rPr>
              <a:t>pf</a:t>
            </a:r>
            <a:r>
              <a:rPr lang="en-US" altLang="zh-CN" i="1" baseline="-25000" dirty="0" err="1">
                <a:solidFill>
                  <a:srgbClr val="FF00FF"/>
                </a:solidFill>
                <a:sym typeface="Symbol" pitchFamily="18" charset="2"/>
              </a:rPr>
              <a:t>L</a:t>
            </a:r>
            <a:r>
              <a:rPr lang="en-US" altLang="zh-CN" dirty="0">
                <a:solidFill>
                  <a:srgbClr val="FF00FF"/>
                </a:solidFill>
                <a:sym typeface="Symbol" pitchFamily="18" charset="2"/>
              </a:rPr>
              <a:t>  </a:t>
            </a:r>
            <a:r>
              <a:rPr lang="en-US" altLang="zh-CN" i="1" dirty="0" err="1">
                <a:solidFill>
                  <a:srgbClr val="FF00FF"/>
                </a:solidFill>
                <a:sym typeface="Symbol" pitchFamily="18" charset="2"/>
              </a:rPr>
              <a:t>qf</a:t>
            </a:r>
            <a:r>
              <a:rPr lang="en-US" altLang="zh-CN" baseline="-25000" dirty="0" err="1">
                <a:solidFill>
                  <a:srgbClr val="FF00FF"/>
                </a:solidFill>
                <a:sym typeface="Symbol" pitchFamily="18" charset="2"/>
              </a:rPr>
              <a:t>c</a:t>
            </a:r>
            <a:r>
              <a:rPr lang="en-US" altLang="zh-CN" dirty="0">
                <a:solidFill>
                  <a:srgbClr val="FF00FF"/>
                </a:solidFill>
                <a:sym typeface="Symbol" pitchFamily="18" charset="2"/>
              </a:rPr>
              <a:t> </a:t>
            </a:r>
            <a:r>
              <a:rPr lang="en-US" altLang="zh-CN" sz="3200" dirty="0">
                <a:solidFill>
                  <a:srgbClr val="FF00FF"/>
                </a:solidFill>
                <a:sym typeface="Symbol" pitchFamily="18" charset="2"/>
              </a:rPr>
              <a:t>|</a:t>
            </a:r>
          </a:p>
          <a:p>
            <a:pPr>
              <a:lnSpc>
                <a:spcPct val="100000"/>
              </a:lnSpc>
            </a:pPr>
            <a:endParaRPr lang="en-US" altLang="zh-CN" b="0" dirty="0">
              <a:latin typeface="宋体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22267" y="1446008"/>
            <a:ext cx="851063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例如：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s</a:t>
            </a:r>
            <a:r>
              <a:rPr lang="en-US" altLang="zh-CN" baseline="-30000" dirty="0"/>
              <a:t>  </a:t>
            </a:r>
            <a:r>
              <a:rPr lang="en-US" altLang="zh-CN" dirty="0"/>
              <a:t>= 931 kHz</a:t>
            </a:r>
            <a:r>
              <a:rPr lang="zh-CN" altLang="en-US" dirty="0"/>
              <a:t>，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I</a:t>
            </a:r>
            <a:r>
              <a:rPr lang="en-US" altLang="zh-CN" baseline="-30000" dirty="0"/>
              <a:t> </a:t>
            </a:r>
            <a:r>
              <a:rPr lang="en-US" altLang="zh-CN" dirty="0"/>
              <a:t>= 465 kHz</a:t>
            </a:r>
            <a:r>
              <a:rPr lang="zh-CN" altLang="en-US" dirty="0"/>
              <a:t>，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L</a:t>
            </a:r>
            <a:r>
              <a:rPr lang="en-US" altLang="zh-CN" baseline="-30000" dirty="0"/>
              <a:t>  </a:t>
            </a:r>
            <a:r>
              <a:rPr lang="en-US" altLang="zh-CN" dirty="0"/>
              <a:t>=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s</a:t>
            </a:r>
            <a:r>
              <a:rPr lang="en-US" altLang="zh-CN" baseline="-30000" dirty="0"/>
              <a:t> </a:t>
            </a:r>
            <a:r>
              <a:rPr lang="en-US" altLang="zh-CN" dirty="0"/>
              <a:t>+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I</a:t>
            </a:r>
            <a:r>
              <a:rPr lang="en-US" altLang="zh-CN" baseline="-30000" dirty="0"/>
              <a:t> </a:t>
            </a:r>
            <a:r>
              <a:rPr lang="en-US" altLang="zh-CN" dirty="0"/>
              <a:t>= 1396 kHz </a:t>
            </a:r>
            <a:endParaRPr lang="en-US" altLang="zh-CN" i="1" dirty="0">
              <a:sym typeface="Symbol" pitchFamily="18" charset="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82630" y="2074182"/>
            <a:ext cx="8550275" cy="140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dirty="0"/>
              <a:t>当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s</a:t>
            </a:r>
            <a:r>
              <a:rPr lang="zh-CN" altLang="en-US" dirty="0"/>
              <a:t>与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L</a:t>
            </a:r>
            <a:r>
              <a:rPr lang="en-US" altLang="zh-CN" baseline="-30000" dirty="0"/>
              <a:t> </a:t>
            </a:r>
            <a:r>
              <a:rPr lang="zh-CN" altLang="en-US" dirty="0"/>
              <a:t>混合后，输出可能存在</a:t>
            </a:r>
            <a:r>
              <a:rPr lang="en-US" altLang="zh-CN" dirty="0"/>
              <a:t>2</a:t>
            </a:r>
            <a:r>
              <a:rPr lang="en-US" altLang="zh-CN" i="1" dirty="0"/>
              <a:t>f</a:t>
            </a:r>
            <a:r>
              <a:rPr lang="en-US" altLang="zh-CN" baseline="-30000" dirty="0"/>
              <a:t>s</a:t>
            </a:r>
            <a:r>
              <a:rPr lang="en-US" altLang="zh-CN" dirty="0">
                <a:latin typeface="Symbol" pitchFamily="18" charset="2"/>
              </a:rPr>
              <a:t>-</a:t>
            </a:r>
            <a:r>
              <a:rPr lang="en-US" altLang="zh-CN" i="1" dirty="0"/>
              <a:t>f</a:t>
            </a:r>
            <a:r>
              <a:rPr lang="en-US" altLang="zh-CN" baseline="-30000" dirty="0"/>
              <a:t>L</a:t>
            </a:r>
            <a:r>
              <a:rPr lang="en-US" altLang="zh-CN" dirty="0"/>
              <a:t>=</a:t>
            </a:r>
            <a:r>
              <a:rPr lang="en-US" altLang="zh-CN" dirty="0">
                <a:latin typeface="宋体" charset="-122"/>
              </a:rPr>
              <a:t>(</a:t>
            </a:r>
            <a:r>
              <a:rPr lang="en-US" altLang="zh-CN" dirty="0"/>
              <a:t>2</a:t>
            </a:r>
            <a:r>
              <a:rPr lang="en-US" altLang="zh-CN" dirty="0">
                <a:sym typeface="Symbol" pitchFamily="18" charset="2"/>
              </a:rPr>
              <a:t></a:t>
            </a:r>
            <a:r>
              <a:rPr lang="en-US" altLang="zh-CN" dirty="0"/>
              <a:t>931</a:t>
            </a:r>
            <a:r>
              <a:rPr lang="en-US" altLang="zh-CN" dirty="0">
                <a:latin typeface="Symbol" pitchFamily="18" charset="2"/>
              </a:rPr>
              <a:t>-</a:t>
            </a:r>
            <a:r>
              <a:rPr lang="en-US" altLang="zh-CN" dirty="0"/>
              <a:t>1396</a:t>
            </a:r>
            <a:r>
              <a:rPr lang="en-US" altLang="zh-CN" dirty="0">
                <a:latin typeface="宋体" charset="-122"/>
              </a:rPr>
              <a:t>)</a:t>
            </a:r>
            <a:r>
              <a:rPr lang="en-US" altLang="zh-CN" dirty="0"/>
              <a:t>kHz = 466 kHz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hlink"/>
                </a:solidFill>
              </a:rPr>
              <a:t>组合频率</a:t>
            </a:r>
            <a:r>
              <a:rPr lang="zh-CN" altLang="en-US" dirty="0"/>
              <a:t>，与 </a:t>
            </a:r>
            <a:r>
              <a:rPr lang="en-US" altLang="zh-CN" dirty="0"/>
              <a:t>465 kHz</a:t>
            </a:r>
            <a:r>
              <a:rPr lang="zh-CN" altLang="en-US" dirty="0"/>
              <a:t>一起送到检波器，产生差拍现象，在扬声器听到 </a:t>
            </a:r>
            <a:r>
              <a:rPr lang="en-US" altLang="zh-CN" dirty="0"/>
              <a:t>1 kHz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hlink"/>
                </a:solidFill>
              </a:rPr>
              <a:t>哨叫</a:t>
            </a:r>
            <a:r>
              <a:rPr lang="zh-CN" altLang="en-US" dirty="0"/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382630" y="3775844"/>
            <a:ext cx="8293826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latin typeface="宋体" charset="-122"/>
              </a:rPr>
              <a:t>产生干扰哨声的输入</a:t>
            </a:r>
            <a:r>
              <a:rPr lang="zh-CN" altLang="en-US" dirty="0">
                <a:solidFill>
                  <a:schemeClr val="hlink"/>
                </a:solidFill>
                <a:latin typeface="宋体" charset="-122"/>
              </a:rPr>
              <a:t>有用信号频率 </a:t>
            </a:r>
            <a:r>
              <a:rPr lang="en-US" altLang="zh-CN" i="1" dirty="0"/>
              <a:t>f</a:t>
            </a:r>
            <a:r>
              <a:rPr lang="en-US" altLang="zh-CN" baseline="-30000" dirty="0"/>
              <a:t>c</a:t>
            </a:r>
            <a:r>
              <a:rPr lang="en-US" altLang="zh-CN" dirty="0"/>
              <a:t> </a:t>
            </a:r>
            <a:r>
              <a:rPr lang="zh-CN" altLang="en-US" dirty="0">
                <a:latin typeface="宋体" charset="-122"/>
              </a:rPr>
              <a:t>为：</a:t>
            </a:r>
            <a:r>
              <a:rPr lang="zh-CN" altLang="en-US" dirty="0"/>
              <a:t> 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880918"/>
              </p:ext>
            </p:extLst>
          </p:nvPr>
        </p:nvGraphicFramePr>
        <p:xfrm>
          <a:off x="6517208" y="3717032"/>
          <a:ext cx="1727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7200" imgH="850900" progId="Equation.3">
                  <p:embed/>
                </p:oleObj>
              </mc:Choice>
              <mc:Fallback>
                <p:oleObj name="Equation" r:id="rId2" imgW="1727200" imgH="850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7208" y="3717032"/>
                        <a:ext cx="1727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807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536" y="704309"/>
            <a:ext cx="454162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  <a:latin typeface="宋体" charset="-122"/>
                <a:ea typeface="楷体_GB2312" pitchFamily="49" charset="-122"/>
              </a:rPr>
              <a:t>寄生通道干扰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>
                <a:latin typeface="宋体" charset="-122"/>
                <a:ea typeface="楷体_GB2312" pitchFamily="49" charset="-122"/>
              </a:rPr>
              <a:t>副波道干扰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>
                <a:latin typeface="宋体" charset="-122"/>
              </a:rPr>
              <a:t>：</a:t>
            </a:r>
            <a:endParaRPr lang="en-US" altLang="zh-CN" dirty="0">
              <a:latin typeface="Arial" charset="0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4716016" y="664822"/>
            <a:ext cx="3168601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dirty="0">
                <a:solidFill>
                  <a:srgbClr val="FF00FF"/>
                </a:solidFill>
              </a:rPr>
              <a:t>| </a:t>
            </a:r>
            <a:r>
              <a:rPr lang="en-US" altLang="zh-CN" dirty="0">
                <a:solidFill>
                  <a:srgbClr val="FF00FF"/>
                </a:solidFill>
                <a:sym typeface="Symbol" pitchFamily="18" charset="2"/>
              </a:rPr>
              <a:t> </a:t>
            </a:r>
            <a:r>
              <a:rPr lang="en-US" altLang="zh-CN" i="1" dirty="0" err="1">
                <a:solidFill>
                  <a:srgbClr val="FF00FF"/>
                </a:solidFill>
                <a:sym typeface="Symbol" pitchFamily="18" charset="2"/>
              </a:rPr>
              <a:t>pf</a:t>
            </a:r>
            <a:r>
              <a:rPr lang="en-US" altLang="zh-CN" baseline="-25000" dirty="0" err="1">
                <a:solidFill>
                  <a:srgbClr val="FF00FF"/>
                </a:solidFill>
                <a:sym typeface="Symbol" pitchFamily="18" charset="2"/>
              </a:rPr>
              <a:t>L</a:t>
            </a:r>
            <a:r>
              <a:rPr lang="en-US" altLang="zh-CN" dirty="0">
                <a:solidFill>
                  <a:srgbClr val="FF00FF"/>
                </a:solidFill>
                <a:sym typeface="Symbol" pitchFamily="18" charset="2"/>
              </a:rPr>
              <a:t>  </a:t>
            </a:r>
            <a:r>
              <a:rPr lang="en-US" altLang="zh-CN" i="1" dirty="0" err="1">
                <a:solidFill>
                  <a:srgbClr val="FF00FF"/>
                </a:solidFill>
                <a:sym typeface="Symbol" pitchFamily="18" charset="2"/>
              </a:rPr>
              <a:t>qf</a:t>
            </a:r>
            <a:r>
              <a:rPr lang="en-US" altLang="zh-CN" baseline="-25000" dirty="0" err="1">
                <a:solidFill>
                  <a:srgbClr val="FF00FF"/>
                </a:solidFill>
                <a:sym typeface="Symbol" pitchFamily="18" charset="2"/>
              </a:rPr>
              <a:t>M</a:t>
            </a:r>
            <a:r>
              <a:rPr lang="en-US" altLang="zh-CN" dirty="0">
                <a:solidFill>
                  <a:srgbClr val="FF00FF"/>
                </a:solidFill>
                <a:sym typeface="Symbol" pitchFamily="18" charset="2"/>
              </a:rPr>
              <a:t> | = </a:t>
            </a:r>
            <a:r>
              <a:rPr lang="en-US" altLang="zh-CN" i="1" dirty="0" err="1">
                <a:solidFill>
                  <a:srgbClr val="FF00FF"/>
                </a:solidFill>
                <a:sym typeface="Symbol" pitchFamily="18" charset="2"/>
              </a:rPr>
              <a:t>f</a:t>
            </a:r>
            <a:r>
              <a:rPr lang="en-US" altLang="zh-CN" baseline="-25000" dirty="0" err="1">
                <a:solidFill>
                  <a:srgbClr val="FF00FF"/>
                </a:solidFill>
                <a:sym typeface="Symbol" pitchFamily="18" charset="2"/>
              </a:rPr>
              <a:t>I</a:t>
            </a:r>
            <a:r>
              <a:rPr lang="zh-CN" altLang="en-US" dirty="0">
                <a:solidFill>
                  <a:srgbClr val="FF00FF"/>
                </a:solidFill>
                <a:sym typeface="Symbol" pitchFamily="18" charset="2"/>
              </a:rPr>
              <a:t>　　　　　　</a:t>
            </a:r>
            <a:endParaRPr lang="en-US" altLang="zh-CN" dirty="0">
              <a:solidFill>
                <a:schemeClr val="hlink"/>
              </a:solidFill>
              <a:latin typeface="宋体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6312" y="1244058"/>
            <a:ext cx="662473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latin typeface="宋体" charset="-122"/>
              </a:rPr>
              <a:t>形成寄生通道干扰的干扰信号频率为</a:t>
            </a:r>
            <a:r>
              <a:rPr lang="zh-CN" altLang="en-US" dirty="0"/>
              <a:t> </a:t>
            </a:r>
            <a:endParaRPr lang="zh-CN" altLang="en-US" dirty="0">
              <a:latin typeface="Arial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70461"/>
              </p:ext>
            </p:extLst>
          </p:nvPr>
        </p:nvGraphicFramePr>
        <p:xfrm>
          <a:off x="2390775" y="1708610"/>
          <a:ext cx="4305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05300" imgH="850900" progId="Equation.3">
                  <p:embed/>
                </p:oleObj>
              </mc:Choice>
              <mc:Fallback>
                <p:oleObj name="Equation" r:id="rId2" imgW="4305300" imgH="850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1708610"/>
                        <a:ext cx="4305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15890" y="2677354"/>
            <a:ext cx="50212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dirty="0">
                <a:latin typeface="宋体" charset="-122"/>
              </a:rPr>
              <a:t>寄生通道干扰的两种最强情况：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26871" y="3158055"/>
            <a:ext cx="5214937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800" dirty="0">
                <a:latin typeface="宋体" charset="-122"/>
              </a:rPr>
              <a:t>①</a:t>
            </a:r>
            <a:r>
              <a:rPr lang="en-US" altLang="zh-CN" sz="2800" dirty="0"/>
              <a:t> </a:t>
            </a:r>
            <a:r>
              <a:rPr lang="zh-CN" altLang="en-US" dirty="0">
                <a:solidFill>
                  <a:schemeClr val="hlink"/>
                </a:solidFill>
                <a:latin typeface="宋体" charset="-122"/>
              </a:rPr>
              <a:t>中频干扰</a:t>
            </a:r>
            <a:r>
              <a:rPr lang="en-US" altLang="zh-CN" dirty="0">
                <a:solidFill>
                  <a:schemeClr val="hlink"/>
                </a:solidFill>
                <a:latin typeface="宋体" charset="-122"/>
              </a:rPr>
              <a:t>(</a:t>
            </a:r>
            <a:r>
              <a:rPr lang="en-US" altLang="zh-CN" i="1" dirty="0"/>
              <a:t>p </a:t>
            </a:r>
            <a:r>
              <a:rPr lang="en-US" altLang="zh-CN" dirty="0"/>
              <a:t>= 0</a:t>
            </a:r>
            <a:r>
              <a:rPr lang="zh-CN" altLang="en-US" dirty="0"/>
              <a:t>，</a:t>
            </a:r>
            <a:r>
              <a:rPr lang="en-US" altLang="zh-CN" i="1" dirty="0"/>
              <a:t>q</a:t>
            </a:r>
            <a:r>
              <a:rPr lang="en-US" altLang="zh-CN" dirty="0"/>
              <a:t> = 1</a:t>
            </a:r>
            <a:r>
              <a:rPr lang="en-US" altLang="zh-CN" dirty="0">
                <a:solidFill>
                  <a:schemeClr val="hlink"/>
                </a:solidFill>
                <a:latin typeface="宋体" charset="-122"/>
              </a:rPr>
              <a:t>)</a:t>
            </a:r>
            <a:endParaRPr lang="en-US" altLang="zh-CN" dirty="0">
              <a:latin typeface="宋体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241" y="3688635"/>
            <a:ext cx="8958263" cy="532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i="1" dirty="0"/>
              <a:t>        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M</a:t>
            </a:r>
            <a:r>
              <a:rPr lang="en-US" altLang="zh-CN" baseline="-30000" dirty="0"/>
              <a:t> </a:t>
            </a:r>
            <a:r>
              <a:rPr lang="en-US" altLang="zh-CN" dirty="0"/>
              <a:t>=</a:t>
            </a:r>
            <a:r>
              <a:rPr lang="en-US" altLang="zh-CN" i="1" dirty="0"/>
              <a:t>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I</a:t>
            </a:r>
            <a:r>
              <a:rPr lang="en-US" altLang="zh-CN" baseline="-30000" dirty="0">
                <a:latin typeface="Symbol" pitchFamily="18" charset="2"/>
              </a:rPr>
              <a:t>  </a:t>
            </a:r>
            <a:r>
              <a:rPr lang="zh-CN" altLang="en-US" dirty="0">
                <a:latin typeface="宋体" charset="-122"/>
              </a:rPr>
              <a:t>，故称</a:t>
            </a:r>
            <a:r>
              <a:rPr lang="zh-CN" altLang="en-US" dirty="0">
                <a:solidFill>
                  <a:schemeClr val="hlink"/>
                </a:solidFill>
                <a:latin typeface="宋体" charset="-122"/>
              </a:rPr>
              <a:t>中频干扰</a:t>
            </a:r>
            <a:r>
              <a:rPr lang="zh-CN" altLang="en-US" dirty="0">
                <a:latin typeface="宋体" charset="-122"/>
              </a:rPr>
              <a:t>。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95536" y="4236452"/>
            <a:ext cx="5186362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latin typeface="宋体" charset="-122"/>
              </a:rPr>
              <a:t>②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chemeClr val="hlink"/>
                </a:solidFill>
                <a:latin typeface="宋体" charset="-122"/>
              </a:rPr>
              <a:t>镜像干扰</a:t>
            </a:r>
            <a:r>
              <a:rPr lang="en-US" altLang="zh-CN" dirty="0">
                <a:solidFill>
                  <a:schemeClr val="hlink"/>
                </a:solidFill>
                <a:latin typeface="宋体" charset="-122"/>
              </a:rPr>
              <a:t>(</a:t>
            </a:r>
            <a:r>
              <a:rPr lang="en-US" altLang="zh-CN" i="1" dirty="0"/>
              <a:t>p </a:t>
            </a:r>
            <a:r>
              <a:rPr lang="en-US" altLang="zh-CN" dirty="0"/>
              <a:t>= 1</a:t>
            </a:r>
            <a:r>
              <a:rPr lang="zh-CN" altLang="en-US" dirty="0"/>
              <a:t>，</a:t>
            </a:r>
            <a:r>
              <a:rPr lang="en-US" altLang="zh-CN" i="1" dirty="0"/>
              <a:t>q</a:t>
            </a:r>
            <a:r>
              <a:rPr lang="en-US" altLang="zh-CN" dirty="0"/>
              <a:t> = 1</a:t>
            </a:r>
            <a:r>
              <a:rPr lang="en-US" altLang="zh-CN" dirty="0">
                <a:solidFill>
                  <a:schemeClr val="hlink"/>
                </a:solidFill>
                <a:latin typeface="宋体" charset="-122"/>
              </a:rPr>
              <a:t>)</a:t>
            </a:r>
            <a:endParaRPr lang="en-US" altLang="zh-CN" dirty="0">
              <a:solidFill>
                <a:schemeClr val="hlink"/>
              </a:solidFill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27585" y="4680602"/>
            <a:ext cx="7560840" cy="1412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zh-CN" i="1" dirty="0" err="1"/>
              <a:t>f</a:t>
            </a:r>
            <a:r>
              <a:rPr lang="en-US" altLang="zh-CN" baseline="-30000" dirty="0" err="1"/>
              <a:t>K</a:t>
            </a:r>
            <a:r>
              <a:rPr lang="en-US" altLang="zh-CN" baseline="-30000" dirty="0"/>
              <a:t> </a:t>
            </a:r>
            <a:r>
              <a:rPr lang="en-US" altLang="zh-CN" dirty="0"/>
              <a:t>=</a:t>
            </a:r>
            <a:r>
              <a:rPr lang="en-US" altLang="zh-CN" baseline="-30000" dirty="0"/>
              <a:t>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L</a:t>
            </a:r>
            <a:r>
              <a:rPr lang="en-US" altLang="zh-CN" baseline="-30000" dirty="0"/>
              <a:t> </a:t>
            </a:r>
            <a:r>
              <a:rPr lang="en-US" altLang="zh-CN" dirty="0"/>
              <a:t>+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I</a:t>
            </a:r>
            <a:r>
              <a:rPr lang="en-US" altLang="zh-CN" baseline="-30000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f</a:t>
            </a:r>
            <a:r>
              <a:rPr lang="en-US" altLang="zh-CN" baseline="-30000" dirty="0"/>
              <a:t>c </a:t>
            </a:r>
            <a:r>
              <a:rPr lang="en-US" altLang="zh-CN" dirty="0"/>
              <a:t>+ 2</a:t>
            </a:r>
            <a:r>
              <a:rPr lang="en-US" altLang="zh-CN" i="1" dirty="0"/>
              <a:t>f</a:t>
            </a:r>
            <a:r>
              <a:rPr lang="en-US" altLang="zh-CN" baseline="-30000" dirty="0"/>
              <a:t>I </a:t>
            </a:r>
            <a:r>
              <a:rPr lang="zh-CN" altLang="en-US" dirty="0"/>
              <a:t>，</a:t>
            </a:r>
            <a:r>
              <a:rPr lang="zh-CN" altLang="en-US" dirty="0">
                <a:latin typeface="宋体" charset="-122"/>
              </a:rPr>
              <a:t>若将</a:t>
            </a:r>
            <a:r>
              <a:rPr lang="zh-CN" altLang="en-US" dirty="0">
                <a:solidFill>
                  <a:srgbClr val="FF0066"/>
                </a:solidFill>
              </a:rPr>
              <a:t>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L</a:t>
            </a:r>
            <a:r>
              <a:rPr lang="en-US" altLang="zh-CN" baseline="-30000" dirty="0"/>
              <a:t> </a:t>
            </a:r>
            <a:r>
              <a:rPr lang="zh-CN" altLang="en-US" dirty="0">
                <a:latin typeface="宋体" charset="-122"/>
              </a:rPr>
              <a:t>想象为一面镜子，则</a:t>
            </a:r>
            <a:r>
              <a:rPr lang="zh-CN" altLang="en-US" dirty="0"/>
              <a:t> </a:t>
            </a:r>
            <a:r>
              <a:rPr lang="en-US" altLang="zh-CN" i="1" dirty="0" err="1"/>
              <a:t>f</a:t>
            </a:r>
            <a:r>
              <a:rPr lang="en-US" altLang="zh-CN" baseline="-30000" dirty="0" err="1"/>
              <a:t>K</a:t>
            </a:r>
            <a:r>
              <a:rPr lang="en-US" altLang="zh-CN" baseline="-30000" dirty="0"/>
              <a:t> </a:t>
            </a:r>
            <a:r>
              <a:rPr lang="zh-CN" altLang="en-US" dirty="0">
                <a:latin typeface="宋体" charset="-122"/>
              </a:rPr>
              <a:t>就是</a:t>
            </a:r>
            <a:r>
              <a:rPr lang="zh-CN" altLang="en-US" dirty="0"/>
              <a:t> </a:t>
            </a:r>
            <a:r>
              <a:rPr lang="en-US" altLang="zh-CN" i="1" dirty="0"/>
              <a:t>f</a:t>
            </a:r>
            <a:r>
              <a:rPr lang="en-US" altLang="zh-CN" baseline="-30000" dirty="0"/>
              <a:t>c </a:t>
            </a:r>
            <a:r>
              <a:rPr lang="zh-CN" altLang="en-US" dirty="0">
                <a:latin typeface="宋体" charset="-122"/>
              </a:rPr>
              <a:t>的镜像，故称</a:t>
            </a:r>
            <a:r>
              <a:rPr lang="zh-CN" altLang="en-US" dirty="0">
                <a:solidFill>
                  <a:schemeClr val="hlink"/>
                </a:solidFill>
                <a:latin typeface="宋体" charset="-122"/>
              </a:rPr>
              <a:t>镜像干扰</a:t>
            </a:r>
            <a:r>
              <a:rPr lang="zh-CN" altLang="en-US" dirty="0">
                <a:latin typeface="宋体" charset="-122"/>
              </a:rPr>
              <a:t>。</a:t>
            </a:r>
          </a:p>
          <a:p>
            <a:pPr algn="just">
              <a:lnSpc>
                <a:spcPct val="11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631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包络检波</a:t>
            </a: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3558" y="3933056"/>
            <a:ext cx="6337300" cy="227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1" y="3268274"/>
            <a:ext cx="936625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930" y="3358762"/>
            <a:ext cx="86360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07" y="3401624"/>
            <a:ext cx="865188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23528" y="1412776"/>
            <a:ext cx="7776864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与同步检波的差别：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不需要本地同步信号；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只能解调</a:t>
            </a:r>
            <a:r>
              <a:rPr lang="en-US" altLang="zh-CN" dirty="0"/>
              <a:t>AM</a:t>
            </a:r>
            <a:r>
              <a:rPr lang="zh-CN" altLang="en-US" dirty="0"/>
              <a:t>信号。</a:t>
            </a:r>
          </a:p>
        </p:txBody>
      </p:sp>
    </p:spTree>
    <p:extLst>
      <p:ext uri="{BB962C8B-B14F-4D97-AF65-F5344CB8AC3E}">
        <p14:creationId xmlns:p14="http://schemas.microsoft.com/office/powerpoint/2010/main" val="277577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786709" y="2997399"/>
            <a:ext cx="3241675" cy="1468437"/>
            <a:chOff x="4643438" y="3357563"/>
            <a:chExt cx="3241675" cy="1468437"/>
          </a:xfrm>
        </p:grpSpPr>
        <p:pic>
          <p:nvPicPr>
            <p:cNvPr id="18443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3438" y="3357563"/>
              <a:ext cx="3241675" cy="146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8446" name="Object 18"/>
            <p:cNvGraphicFramePr>
              <a:graphicFrameLocks noGrp="1" noChangeAspect="1"/>
            </p:cNvGraphicFramePr>
            <p:nvPr>
              <p:ph sz="half" idx="4294967295"/>
              <p:extLst>
                <p:ext uri="{D42A27DB-BD31-4B8C-83A1-F6EECF244321}">
                  <p14:modId xmlns:p14="http://schemas.microsoft.com/office/powerpoint/2010/main" val="4299800"/>
                </p:ext>
              </p:extLst>
            </p:nvPr>
          </p:nvGraphicFramePr>
          <p:xfrm>
            <a:off x="6426448" y="3819496"/>
            <a:ext cx="431303" cy="388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53890" imgH="228501" progId="Equation.DSMT4">
                    <p:embed/>
                  </p:oleObj>
                </mc:Choice>
                <mc:Fallback>
                  <p:oleObj name="Equation" r:id="rId3" imgW="253890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6448" y="3819496"/>
                          <a:ext cx="431303" cy="388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40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8442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84" y="2852936"/>
            <a:ext cx="3887787" cy="198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4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99102" y="620688"/>
            <a:ext cx="5105885" cy="526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当输入信号</a:t>
            </a:r>
            <a:r>
              <a:rPr lang="en-US" altLang="zh-CN" i="1" dirty="0"/>
              <a:t>v</a:t>
            </a:r>
            <a:r>
              <a:rPr lang="en-US" altLang="zh-CN" baseline="-25000" dirty="0"/>
              <a:t>s</a:t>
            </a:r>
            <a:r>
              <a:rPr lang="en-US" altLang="zh-CN" dirty="0"/>
              <a:t>(t)</a:t>
            </a:r>
            <a:r>
              <a:rPr lang="zh-CN" altLang="en-US" dirty="0"/>
              <a:t>为普通调幅波时：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95536" y="1294111"/>
                <a:ext cx="7554143" cy="14868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zh-CN" altLang="en-US" dirty="0"/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𝐴𝑉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∝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dirty="0"/>
                  <a:t>，所以当输入信号的幅度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dirty="0"/>
                  <a:t>变化时，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𝐴𝑉</m:t>
                        </m:r>
                      </m:sub>
                    </m:sSub>
                  </m:oMath>
                </a14:m>
                <a:r>
                  <a:rPr lang="zh-CN" altLang="en-US" dirty="0"/>
                  <a:t>也按同样规律变化，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𝐴𝑉</m:t>
                        </m:r>
                      </m:sub>
                    </m:sSub>
                  </m:oMath>
                </a14:m>
                <a:r>
                  <a:rPr lang="zh-CN" altLang="en-US" dirty="0"/>
                  <a:t>应近似为输入信号的包络。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94111"/>
                <a:ext cx="7554143" cy="1486817"/>
              </a:xfrm>
              <a:prstGeom prst="rect">
                <a:avLst/>
              </a:prstGeom>
              <a:blipFill rotWithShape="1">
                <a:blip r:embed="rId7"/>
                <a:stretch>
                  <a:fillRect l="-1453" t="-2049" r="-5811" b="-8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067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8855" y="404664"/>
            <a:ext cx="1524776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惰性失真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58854" y="1052736"/>
                <a:ext cx="8289609" cy="2788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zh-CN" altLang="en-US" sz="2400" dirty="0"/>
                  <a:t>要使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𝐴𝑉</m:t>
                        </m:r>
                      </m:sub>
                    </m:sSub>
                  </m:oMath>
                </a14:m>
                <a:r>
                  <a:rPr lang="zh-CN" altLang="en-US" sz="2400" dirty="0"/>
                  <a:t>能顺着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zh-CN" altLang="en-US" sz="2400">
                            <a:latin typeface="Cambria Math"/>
                          </a:rPr>
                          <m:t>(</m:t>
                        </m:r>
                        <m:r>
                          <a:rPr lang="zh-CN" altLang="en-US" sz="24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400" dirty="0"/>
                  <a:t>的包络变化，则在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zh-CN" altLang="en-US" sz="2400">
                            <a:latin typeface="Cambria Math"/>
                          </a:rPr>
                          <m:t>(</m:t>
                        </m:r>
                        <m:r>
                          <a:rPr lang="zh-CN" altLang="en-US" sz="24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400" dirty="0"/>
                  <a:t>的每个周期内，</a:t>
                </a:r>
                <a:r>
                  <a:rPr lang="en-US" altLang="zh-CN" sz="2400" dirty="0"/>
                  <a:t>C</a:t>
                </a:r>
                <a:r>
                  <a:rPr lang="zh-CN" altLang="en-US" sz="2400" dirty="0"/>
                  <a:t>应充放电各一次。但当</a:t>
                </a:r>
                <a:r>
                  <a:rPr lang="en-US" altLang="zh-CN" sz="2400" dirty="0"/>
                  <a:t>C</a:t>
                </a:r>
                <a:r>
                  <a:rPr lang="zh-CN" altLang="en-US" sz="2400" dirty="0"/>
                  <a:t>通过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CN" altLang="en-US" sz="2400" dirty="0"/>
                  <a:t>的放电速度小于包络的下降速度时，输出电压就会失真。</a:t>
                </a:r>
                <a:endParaRPr lang="en-US" altLang="zh-CN" sz="2400" dirty="0"/>
              </a:p>
              <a:p>
                <a:r>
                  <a:rPr lang="zh-CN" altLang="en-US" sz="2400" dirty="0"/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𝜴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𝐦𝐚𝐱</m:t>
                        </m:r>
                      </m:sub>
                    </m:sSub>
                  </m:oMath>
                </a14:m>
                <a:r>
                  <a:rPr lang="zh-CN" altLang="en-US" sz="2400" dirty="0"/>
                  <a:t>越大，或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𝒂</m:t>
                        </m:r>
                      </m:sub>
                    </m:sSub>
                  </m:oMath>
                </a14:m>
                <a:r>
                  <a:rPr lang="zh-CN" altLang="en-US" sz="2400" dirty="0"/>
                  <a:t>越大，包络下降速度就越快；或当</a:t>
                </a:r>
                <a:r>
                  <a:rPr lang="en-US" altLang="zh-CN" sz="2400" dirty="0"/>
                  <a:t>C</a:t>
                </a:r>
                <a:r>
                  <a:rPr lang="zh-CN" altLang="en-US" sz="2400" dirty="0"/>
                  <a:t>越大、</a:t>
                </a:r>
                <a:r>
                  <a:rPr lang="en-US" altLang="zh-CN" sz="2400" dirty="0"/>
                  <a:t>R</a:t>
                </a:r>
                <a:r>
                  <a:rPr lang="en-US" altLang="zh-CN" sz="2400" baseline="-25000" dirty="0"/>
                  <a:t>L</a:t>
                </a:r>
                <a:r>
                  <a:rPr lang="zh-CN" altLang="en-US" sz="2400" dirty="0"/>
                  <a:t>越大，放电越慢，都越容易出现惰性失真。</a:t>
                </a:r>
              </a:p>
              <a:p>
                <a:pPr eaLnBrk="1" hangingPunct="1"/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54" y="1052736"/>
                <a:ext cx="8289609" cy="2788456"/>
              </a:xfrm>
              <a:prstGeom prst="rect">
                <a:avLst/>
              </a:prstGeom>
              <a:blipFill rotWithShape="1">
                <a:blip r:embed="rId2"/>
                <a:stretch>
                  <a:fillRect l="-1103" t="-201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611560" y="3533476"/>
            <a:ext cx="7848600" cy="3063876"/>
            <a:chOff x="402" y="2016"/>
            <a:chExt cx="4944" cy="1930"/>
          </a:xfrm>
        </p:grpSpPr>
        <p:pic>
          <p:nvPicPr>
            <p:cNvPr id="8" name="Picture 3" descr="4-4-9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696"/>
            <a:stretch>
              <a:fillRect/>
            </a:stretch>
          </p:blipFill>
          <p:spPr bwMode="auto">
            <a:xfrm>
              <a:off x="402" y="2016"/>
              <a:ext cx="4944" cy="1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960" y="3504"/>
              <a:ext cx="3840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800" dirty="0">
                  <a:solidFill>
                    <a:srgbClr val="0000CC"/>
                  </a:solidFill>
                  <a:latin typeface="宋体" charset="-122"/>
                </a:rPr>
                <a:t>(</a:t>
              </a:r>
              <a:r>
                <a:rPr lang="en-US" altLang="zh-CN" sz="1800" dirty="0">
                  <a:solidFill>
                    <a:srgbClr val="0000CC"/>
                  </a:solidFill>
                </a:rPr>
                <a:t>a</a:t>
              </a:r>
              <a:r>
                <a:rPr lang="en-US" altLang="zh-CN" sz="1800" dirty="0">
                  <a:solidFill>
                    <a:srgbClr val="0000CC"/>
                  </a:solidFill>
                  <a:latin typeface="宋体" charset="-122"/>
                </a:rPr>
                <a:t>)</a:t>
              </a:r>
              <a:r>
                <a:rPr lang="zh-CN" altLang="en-US" sz="1800" dirty="0">
                  <a:solidFill>
                    <a:srgbClr val="0000CC"/>
                  </a:solidFill>
                  <a:latin typeface="宋体" charset="-122"/>
                </a:rPr>
                <a:t>　　　　　　　　　　　　　　　</a:t>
              </a:r>
              <a:r>
                <a:rPr lang="en-US" altLang="zh-CN" sz="1800" dirty="0">
                  <a:solidFill>
                    <a:srgbClr val="0000CC"/>
                  </a:solidFill>
                  <a:latin typeface="宋体" charset="-122"/>
                </a:rPr>
                <a:t>(</a:t>
              </a:r>
              <a:r>
                <a:rPr lang="en-US" altLang="zh-CN" sz="1800" dirty="0">
                  <a:solidFill>
                    <a:srgbClr val="0000CC"/>
                  </a:solidFill>
                </a:rPr>
                <a:t>b</a:t>
              </a:r>
              <a:r>
                <a:rPr lang="en-US" altLang="zh-CN" sz="1800" dirty="0">
                  <a:solidFill>
                    <a:srgbClr val="0000CC"/>
                  </a:solidFill>
                  <a:latin typeface="宋体" charset="-122"/>
                </a:rPr>
                <a:t>)</a:t>
              </a:r>
            </a:p>
            <a:p>
              <a:pPr algn="ctr">
                <a:lnSpc>
                  <a:spcPct val="110000"/>
                </a:lnSpc>
              </a:pPr>
              <a:r>
                <a:rPr lang="zh-CN" altLang="en-US" sz="1800" dirty="0">
                  <a:solidFill>
                    <a:srgbClr val="9900CC"/>
                  </a:solidFill>
                  <a:latin typeface="宋体" charset="-122"/>
                </a:rPr>
                <a:t>不产生惰性失真　　            　　产生惰性失真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979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8855" y="404664"/>
            <a:ext cx="2194832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负峰切割失真</a:t>
            </a: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458854" y="1179739"/>
            <a:ext cx="7785553" cy="532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rgbClr val="0000FF"/>
                </a:solidFill>
                <a:latin typeface="宋体" charset="-122"/>
              </a:rPr>
              <a:t>正常情况：</a:t>
            </a:r>
            <a:r>
              <a:rPr lang="zh-CN" altLang="en-US" dirty="0"/>
              <a:t>若等幅波输入，</a:t>
            </a:r>
            <a:r>
              <a:rPr lang="en-US" altLang="zh-CN" i="1" dirty="0"/>
              <a:t>C</a:t>
            </a:r>
            <a:r>
              <a:rPr lang="en-US" altLang="zh-CN" baseline="-30000" dirty="0"/>
              <a:t>C </a:t>
            </a:r>
            <a:r>
              <a:rPr lang="zh-CN" altLang="en-US" dirty="0"/>
              <a:t>上产生直流电压：</a:t>
            </a:r>
            <a:r>
              <a:rPr lang="en-US" altLang="zh-CN" i="1" dirty="0"/>
              <a:t>V</a:t>
            </a:r>
            <a:r>
              <a:rPr lang="en-US" altLang="zh-CN" baseline="-30000" dirty="0"/>
              <a:t>m0</a:t>
            </a:r>
            <a:endParaRPr lang="en-US" altLang="zh-CN" dirty="0"/>
          </a:p>
        </p:txBody>
      </p: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611560" y="1844261"/>
            <a:ext cx="4446587" cy="836612"/>
            <a:chOff x="559" y="2833"/>
            <a:chExt cx="2801" cy="527"/>
          </a:xfrm>
        </p:grpSpPr>
        <p:graphicFrame>
          <p:nvGraphicFramePr>
            <p:cNvPr id="6" name="Object 11"/>
            <p:cNvGraphicFramePr>
              <a:graphicFrameLocks noChangeAspect="1"/>
            </p:cNvGraphicFramePr>
            <p:nvPr/>
          </p:nvGraphicFramePr>
          <p:xfrm>
            <a:off x="559" y="2833"/>
            <a:ext cx="1474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2" imgW="1206500" imgH="431800" progId="Equation.3">
                    <p:embed/>
                  </p:oleObj>
                </mc:Choice>
                <mc:Fallback>
                  <p:oleObj name="Microsoft 公式 3.0" r:id="rId2" imgW="12065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" y="2833"/>
                          <a:ext cx="1474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 Box 12"/>
            <p:cNvSpPr txBox="1">
              <a:spLocks noChangeArrowheads="1"/>
            </p:cNvSpPr>
            <p:nvPr/>
          </p:nvSpPr>
          <p:spPr bwMode="auto">
            <a:xfrm>
              <a:off x="1936" y="2921"/>
              <a:ext cx="1424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6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sz="26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sz="26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sz="26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sz="26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00000"/>
                </a:lnSpc>
              </a:pPr>
              <a:r>
                <a:rPr lang="zh-CN" altLang="en-US" dirty="0"/>
                <a:t>加到 </a:t>
              </a:r>
              <a:r>
                <a:rPr lang="en-US" altLang="zh-CN" dirty="0"/>
                <a:t>D </a:t>
              </a:r>
              <a:r>
                <a:rPr lang="zh-CN" altLang="en-US" dirty="0"/>
                <a:t>的负端。</a:t>
              </a:r>
            </a:p>
          </p:txBody>
        </p:sp>
      </p:grp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530863" y="2780928"/>
            <a:ext cx="8001577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00000"/>
              </a:lnSpc>
            </a:pPr>
            <a:r>
              <a:rPr lang="zh-CN" altLang="en-US" dirty="0">
                <a:latin typeface="宋体" charset="-122"/>
              </a:rPr>
              <a:t>当</a:t>
            </a:r>
            <a:r>
              <a:rPr lang="zh-CN" altLang="en-US" dirty="0"/>
              <a:t> </a:t>
            </a:r>
            <a:r>
              <a:rPr lang="en-US" altLang="zh-CN" i="1" dirty="0"/>
              <a:t>M</a:t>
            </a:r>
            <a:r>
              <a:rPr lang="en-US" altLang="zh-CN" baseline="-30000" dirty="0"/>
              <a:t>a</a:t>
            </a:r>
            <a:r>
              <a:rPr lang="en-US" altLang="zh-CN" dirty="0"/>
              <a:t> </a:t>
            </a:r>
            <a:r>
              <a:rPr lang="zh-CN" altLang="en-US" dirty="0">
                <a:latin typeface="宋体" charset="-122"/>
              </a:rPr>
              <a:t>较小时，加到</a:t>
            </a:r>
            <a:r>
              <a:rPr lang="zh-CN" altLang="en-US" dirty="0"/>
              <a:t> </a:t>
            </a:r>
            <a:r>
              <a:rPr lang="en-US" altLang="zh-CN" dirty="0"/>
              <a:t>D </a:t>
            </a:r>
            <a:r>
              <a:rPr lang="zh-CN" altLang="en-US" dirty="0">
                <a:latin typeface="宋体" charset="-122"/>
              </a:rPr>
              <a:t>正端的包络电压在一个周期内总是大于</a:t>
            </a:r>
            <a:r>
              <a:rPr lang="en-US" altLang="zh-CN" i="1" dirty="0"/>
              <a:t>V</a:t>
            </a:r>
            <a:r>
              <a:rPr lang="en-US" altLang="zh-CN" baseline="-30000" dirty="0"/>
              <a:t>RL</a:t>
            </a:r>
            <a:r>
              <a:rPr lang="zh-CN" altLang="en-US" dirty="0">
                <a:latin typeface="宋体" charset="-122"/>
              </a:rPr>
              <a:t>，二极管导通，工作正常。</a:t>
            </a:r>
            <a:endParaRPr lang="zh-CN" altLang="en-US" sz="2800" b="0" dirty="0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339" y="4672012"/>
            <a:ext cx="4570068" cy="1637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638" y="4024311"/>
            <a:ext cx="978787" cy="74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4090171"/>
            <a:ext cx="980585" cy="694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864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34405" y="692696"/>
            <a:ext cx="4572000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lnSpc>
                <a:spcPct val="10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异常情况：</a:t>
            </a:r>
            <a:r>
              <a:rPr lang="zh-CN" altLang="en-US" dirty="0"/>
              <a:t>若 </a:t>
            </a:r>
            <a:r>
              <a:rPr lang="en-US" altLang="zh-CN" i="1" dirty="0"/>
              <a:t>M</a:t>
            </a:r>
            <a:r>
              <a:rPr lang="en-US" altLang="zh-CN" baseline="-30000" dirty="0"/>
              <a:t>a</a:t>
            </a:r>
            <a:r>
              <a:rPr lang="en-US" altLang="zh-CN" dirty="0"/>
              <a:t> </a:t>
            </a:r>
            <a:r>
              <a:rPr lang="zh-CN" altLang="en-US" dirty="0"/>
              <a:t>较大，可能在 </a:t>
            </a:r>
            <a:r>
              <a:rPr lang="en-US" altLang="zh-CN" i="1" dirty="0"/>
              <a:t>t</a:t>
            </a:r>
            <a:r>
              <a:rPr lang="en-US" altLang="zh-CN" baseline="-25000" dirty="0"/>
              <a:t>1 </a:t>
            </a:r>
            <a:r>
              <a:rPr lang="en-US" altLang="zh-CN" dirty="0">
                <a:latin typeface="Symbol" pitchFamily="18" charset="2"/>
              </a:rPr>
              <a:t>- </a:t>
            </a:r>
            <a:r>
              <a:rPr lang="en-US" altLang="zh-CN" i="1" dirty="0"/>
              <a:t>t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内，包络电压 </a:t>
            </a:r>
            <a:r>
              <a:rPr lang="en-US" altLang="zh-CN" i="1" dirty="0" err="1"/>
              <a:t>V</a:t>
            </a:r>
            <a:r>
              <a:rPr lang="en-US" altLang="zh-CN" baseline="-30000" dirty="0" err="1"/>
              <a:t>m</a:t>
            </a:r>
            <a:r>
              <a:rPr lang="en-US" altLang="zh-CN" dirty="0"/>
              <a:t> &lt; </a:t>
            </a:r>
            <a:r>
              <a:rPr lang="en-US" altLang="zh-CN" i="1" dirty="0"/>
              <a:t>V</a:t>
            </a:r>
            <a:r>
              <a:rPr lang="en-US" altLang="zh-CN" baseline="-30000" dirty="0"/>
              <a:t>RL</a:t>
            </a:r>
            <a:r>
              <a:rPr lang="zh-CN" altLang="en-US" dirty="0"/>
              <a:t>，</a:t>
            </a:r>
            <a:r>
              <a:rPr lang="en-US" altLang="zh-CN" dirty="0"/>
              <a:t>D </a:t>
            </a:r>
            <a:r>
              <a:rPr lang="zh-CN" altLang="en-US" dirty="0"/>
              <a:t>截止，低部出现切割失真，故称</a:t>
            </a:r>
            <a:r>
              <a:rPr lang="zh-CN" altLang="en-US" dirty="0">
                <a:solidFill>
                  <a:srgbClr val="0000CC"/>
                </a:solidFill>
              </a:rPr>
              <a:t>负峰切割失真</a:t>
            </a:r>
            <a:r>
              <a:rPr lang="zh-CN" altLang="en-US" dirty="0"/>
              <a:t>，直到包络电压 </a:t>
            </a:r>
            <a:r>
              <a:rPr lang="en-US" altLang="zh-CN" i="1" dirty="0" err="1"/>
              <a:t>V</a:t>
            </a:r>
            <a:r>
              <a:rPr lang="en-US" altLang="zh-CN" baseline="-30000" dirty="0" err="1"/>
              <a:t>m</a:t>
            </a:r>
            <a:r>
              <a:rPr lang="en-US" altLang="zh-CN" dirty="0"/>
              <a:t> &gt; </a:t>
            </a:r>
            <a:r>
              <a:rPr lang="en-US" altLang="zh-CN" i="1" dirty="0"/>
              <a:t>V</a:t>
            </a:r>
            <a:r>
              <a:rPr lang="en-US" altLang="zh-CN" baseline="-30000" dirty="0"/>
              <a:t>RL</a:t>
            </a:r>
            <a:r>
              <a:rPr lang="zh-CN" altLang="en-US" dirty="0"/>
              <a:t>，</a:t>
            </a:r>
            <a:r>
              <a:rPr lang="en-US" altLang="zh-CN" dirty="0"/>
              <a:t>D </a:t>
            </a:r>
            <a:r>
              <a:rPr lang="zh-CN" altLang="en-US" dirty="0"/>
              <a:t>重新导通。</a:t>
            </a:r>
          </a:p>
        </p:txBody>
      </p:sp>
      <p:pic>
        <p:nvPicPr>
          <p:cNvPr id="4" name="Picture 3" descr="4-4-10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19" r="16136" b="8290"/>
          <a:stretch>
            <a:fillRect/>
          </a:stretch>
        </p:blipFill>
        <p:spPr bwMode="auto">
          <a:xfrm>
            <a:off x="5257800" y="548680"/>
            <a:ext cx="3581400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534405" y="3212976"/>
            <a:ext cx="5791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0000FF"/>
                </a:solidFill>
                <a:latin typeface="宋体" charset="-122"/>
              </a:rPr>
              <a:t>避免负峰切割失真的条件：</a:t>
            </a:r>
            <a:endParaRPr lang="zh-CN" altLang="en-US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784350" y="3789040"/>
            <a:ext cx="5638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dirty="0"/>
              <a:t>　　　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baseline="-30000" dirty="0"/>
              <a:t>m0</a:t>
            </a:r>
            <a:r>
              <a:rPr lang="zh-CN" altLang="en-US" dirty="0"/>
              <a:t>－</a:t>
            </a:r>
            <a:r>
              <a:rPr lang="en-US" altLang="zh-CN" i="1" dirty="0"/>
              <a:t>M</a:t>
            </a:r>
            <a:r>
              <a:rPr lang="en-US" altLang="zh-CN" baseline="-30000" dirty="0"/>
              <a:t>a</a:t>
            </a:r>
            <a:r>
              <a:rPr lang="en-US" altLang="zh-CN" i="1" dirty="0"/>
              <a:t> V</a:t>
            </a:r>
            <a:r>
              <a:rPr lang="en-US" altLang="zh-CN" baseline="-30000" dirty="0"/>
              <a:t>m0</a:t>
            </a:r>
            <a:r>
              <a:rPr lang="en-US" altLang="zh-CN" dirty="0"/>
              <a:t>) </a:t>
            </a:r>
            <a:r>
              <a:rPr lang="en-US" altLang="zh-CN" sz="2200" dirty="0">
                <a:sym typeface="Symbol" pitchFamily="18" charset="2"/>
              </a:rPr>
              <a:t>≥</a:t>
            </a:r>
            <a:r>
              <a:rPr lang="en-US" altLang="zh-CN" i="1" dirty="0"/>
              <a:t>V</a:t>
            </a:r>
            <a:r>
              <a:rPr lang="en-US" altLang="zh-CN" baseline="-30000" dirty="0"/>
              <a:t>RL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2"/>
              <p:cNvSpPr txBox="1">
                <a:spLocks noChangeArrowheads="1"/>
              </p:cNvSpPr>
              <p:nvPr/>
            </p:nvSpPr>
            <p:spPr bwMode="auto">
              <a:xfrm>
                <a:off x="467544" y="5373216"/>
                <a:ext cx="8136904" cy="14126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6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sz="26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sz="26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sz="26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sz="26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sz="26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sz="26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sz="26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 sz="2600" b="1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just" eaLnBrk="1" hangingPunct="1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𝑖</m:t>
                        </m:r>
                        <m:r>
                          <a:rPr lang="zh-CN" altLang="en-US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zh-CN" altLang="en-US">
                        <a:latin typeface="Cambria Math"/>
                      </a:rPr>
                      <m:t>∥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宋体" charset="-122"/>
                  </a:rPr>
                  <a:t>是检波器的交流负载，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zh-CN" altLang="en-US" i="1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宋体" charset="-122"/>
                  </a:rPr>
                  <a:t>是检波器的直流负载，可见</a:t>
                </a:r>
                <a:r>
                  <a:rPr lang="zh-CN" altLang="en-US" dirty="0"/>
                  <a:t>负峰切割失真产生的实质原因是检波器交直流负载比例不当</a:t>
                </a:r>
                <a:r>
                  <a:rPr lang="zh-CN" altLang="en-US" dirty="0">
                    <a:latin typeface="宋体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5373216"/>
                <a:ext cx="8136904" cy="1412694"/>
              </a:xfrm>
              <a:prstGeom prst="rect">
                <a:avLst/>
              </a:prstGeom>
              <a:blipFill rotWithShape="1">
                <a:blip r:embed="rId3"/>
                <a:stretch>
                  <a:fillRect l="-1349" t="-4310" r="-5472" b="-646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587193" y="4280634"/>
                <a:ext cx="4073936" cy="10721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zh-CN" altLang="en-US" b="1" i="1">
                              <a:latin typeface="Cambria Math"/>
                            </a:rPr>
                            <m:t>𝒂</m:t>
                          </m:r>
                        </m:sub>
                      </m:sSub>
                      <m:r>
                        <a:rPr lang="zh-CN" altLang="en-US" b="1">
                          <a:latin typeface="Cambria Math"/>
                        </a:rPr>
                        <m:t>≤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zh-CN" altLang="en-US" b="1" i="1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b="1" i="1">
                                  <a:latin typeface="Cambria Math"/>
                                </a:rPr>
                                <m:t>𝑳</m:t>
                              </m:r>
                            </m:sub>
                          </m:sSub>
                          <m:r>
                            <a:rPr lang="zh-CN" altLang="en-US" b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zh-CN" altLang="en-US" b="1" i="1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zh-CN" altLang="en-US" b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zh-CN" altLang="en-US" b="1" i="1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zh-CN" altLang="en-US" b="1">
                              <a:latin typeface="Cambria Math"/>
                            </a:rPr>
                            <m:t>∥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b="1" i="1">
                                  <a:latin typeface="Cambria Math"/>
                                </a:rPr>
                                <m:t>𝑳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latin typeface="Cambria Math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b="1" i="1">
                                  <a:latin typeface="Cambria Math"/>
                                </a:rPr>
                                <m:t>𝑳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193" y="4280634"/>
                <a:ext cx="4073936" cy="107215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5544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角度调制与解调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76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548680"/>
            <a:ext cx="6984776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rgbClr val="0000FF"/>
                </a:solidFill>
              </a:rPr>
              <a:t>调相波（</a:t>
            </a:r>
            <a:r>
              <a:rPr lang="en-US" altLang="zh-CN" dirty="0">
                <a:solidFill>
                  <a:srgbClr val="0000FF"/>
                </a:solidFill>
              </a:rPr>
              <a:t>PM</a:t>
            </a:r>
            <a:r>
              <a:rPr lang="zh-CN" altLang="zh-CN" dirty="0">
                <a:solidFill>
                  <a:srgbClr val="0000FF"/>
                </a:solidFill>
              </a:rPr>
              <a:t>）的数学表达式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3528" y="1124744"/>
            <a:ext cx="8424936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调相的定义：瞬时相位和调制信号成线性关系，或瞬时相位的变化量（相位偏移或相移）和调制信号成正比关系</a:t>
            </a:r>
            <a:r>
              <a:rPr lang="zh-CN" altLang="en-US" sz="2400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95536" y="2276872"/>
                <a:ext cx="3723327" cy="493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/>
                  <a:t>载波：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𝒄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𝒄𝒎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𝐜𝐨𝐬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𝒄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276872"/>
                <a:ext cx="3723327" cy="493148"/>
              </a:xfrm>
              <a:prstGeom prst="rect">
                <a:avLst/>
              </a:prstGeom>
              <a:blipFill rotWithShape="1">
                <a:blip r:embed="rId2"/>
                <a:stretch>
                  <a:fillRect l="-2619" t="-750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23528" y="2852936"/>
                <a:ext cx="4297267" cy="493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/>
                  <a:t>调制信号：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𝐜𝐨𝐬</m:t>
                    </m:r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852936"/>
                <a:ext cx="4297267" cy="493148"/>
              </a:xfrm>
              <a:prstGeom prst="rect">
                <a:avLst/>
              </a:prstGeom>
              <a:blipFill rotWithShape="1">
                <a:blip r:embed="rId3"/>
                <a:stretch>
                  <a:fillRect l="-2128" t="-7407" b="-23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95536" y="3429000"/>
                <a:ext cx="3907288" cy="493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/>
                  <a:t>调相波：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1" i="1">
                            <a:latin typeface="Cambria Math"/>
                          </a:rPr>
                          <m:t>𝒗</m:t>
                        </m:r>
                        <m:r>
                          <a:rPr lang="zh-CN" altLang="en-US" sz="2400" b="1">
                            <a:latin typeface="Cambria Math"/>
                          </a:rPr>
                          <m:t>(</m:t>
                        </m:r>
                        <m:r>
                          <a:rPr lang="zh-CN" altLang="en-US" sz="2400" b="1" i="1">
                            <a:latin typeface="Cambria Math"/>
                          </a:rPr>
                          <m:t>𝒕</m:t>
                        </m:r>
                        <m:r>
                          <a:rPr lang="zh-CN" altLang="en-US" sz="2400" b="1">
                            <a:latin typeface="Cambria Math"/>
                          </a:rPr>
                          <m:t>)=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zh-CN" altLang="en-US" sz="2400" b="1" i="1">
                                <a:latin typeface="Cambria Math"/>
                              </a:rPr>
                              <m:t>𝒎</m:t>
                            </m:r>
                          </m:sub>
                        </m:sSub>
                        <m:r>
                          <a:rPr lang="zh-CN" altLang="en-US" sz="2400" b="1" i="1">
                            <a:latin typeface="Cambria Math"/>
                          </a:rPr>
                          <m:t>𝐜𝐨𝐬</m:t>
                        </m:r>
                        <m:r>
                          <a:rPr lang="zh-CN" altLang="en-US" sz="2400" b="1" i="1">
                            <a:latin typeface="Cambria Math"/>
                          </a:rPr>
                          <m:t>𝝋</m:t>
                        </m:r>
                        <m:r>
                          <a:rPr lang="zh-CN" altLang="en-US" sz="2400" b="1">
                            <a:latin typeface="Cambria Math"/>
                          </a:rPr>
                          <m:t>(</m:t>
                        </m:r>
                        <m:r>
                          <a:rPr lang="zh-CN" altLang="en-US" sz="2400" b="1" i="1">
                            <a:latin typeface="Cambria Math"/>
                          </a:rPr>
                          <m:t>𝒕</m:t>
                        </m:r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429000"/>
                <a:ext cx="3907288" cy="493148"/>
              </a:xfrm>
              <a:prstGeom prst="rect">
                <a:avLst/>
              </a:prstGeom>
              <a:blipFill rotWithShape="1">
                <a:blip r:embed="rId4"/>
                <a:stretch>
                  <a:fillRect l="-2496" t="-115000" r="-18253" b="-18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23663" y="4005064"/>
                <a:ext cx="8280785" cy="1058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瞬时相位：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chemeClr val="tx1"/>
                        </a:solidFill>
                        <a:latin typeface="Cambria Math"/>
                      </a:rPr>
                      <m:t>𝝋</m:t>
                    </m:r>
                    <m:r>
                      <a:rPr lang="zh-CN" altLang="en-US" sz="2400" b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sub>
                    </m:sSub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𝒑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𝜴</m:t>
                        </m:r>
                      </m:sub>
                    </m:sSub>
                    <m:r>
                      <a:rPr lang="zh-CN" altLang="en-US" sz="2400" b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</m:sub>
                    </m:sSub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𝒑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𝜴</m:t>
                        </m:r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/>
                      </a:rPr>
                      <m:t>𝐜𝐨𝐬</m:t>
                    </m:r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/>
                      </a:rPr>
                      <m:t>𝜴</m:t>
                    </m:r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/>
                      </a:rPr>
                      <m:t>𝒕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</a:rPr>
                  <a:t>为比例系数，由电路决定，和调制信号无关。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63" y="4005064"/>
                <a:ext cx="8280785" cy="1058110"/>
              </a:xfrm>
              <a:prstGeom prst="rect">
                <a:avLst/>
              </a:prstGeom>
              <a:blipFill rotWithShape="1">
                <a:blip r:embed="rId5"/>
                <a:stretch>
                  <a:fillRect l="-957" t="-1149" r="-4934" b="-5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251520" y="5168052"/>
                <a:ext cx="8496944" cy="15013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相位偏移（相移）：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/>
                      </a:rPr>
                      <m:t>𝜟𝝋</m:t>
                    </m:r>
                    <m:r>
                      <a:rPr lang="zh-CN" altLang="en-US" sz="2400" b="1"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)=</m:t>
                    </m:r>
                    <m:r>
                      <a:rPr lang="zh-CN" altLang="en-US" sz="2400" b="1" i="1">
                        <a:latin typeface="Cambria Math"/>
                      </a:rPr>
                      <m:t>𝝋</m:t>
                    </m:r>
                    <m:r>
                      <a:rPr lang="zh-CN" altLang="en-US" sz="2400" b="1"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)−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𝒄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𝒑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𝒑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𝐜𝐨𝐬</m:t>
                    </m:r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𝒑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𝐜𝐨𝐬</m:t>
                    </m:r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</m:oMath>
                </a14:m>
                <a:r>
                  <a:rPr lang="zh-CN" altLang="en-US" sz="2400" dirty="0"/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𝒑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𝒑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400" dirty="0"/>
                  <a:t>称为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调相指数</a:t>
                </a:r>
                <a:r>
                  <a:rPr lang="zh-CN" altLang="en-US" sz="2400" dirty="0"/>
                  <a:t>，与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2400" dirty="0"/>
                  <a:t>有关而与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</m:oMath>
                </a14:m>
                <a:r>
                  <a:rPr lang="zh-CN" altLang="en-US" sz="2400" dirty="0"/>
                  <a:t>无关。</a:t>
                </a: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168052"/>
                <a:ext cx="8496944" cy="1501308"/>
              </a:xfrm>
              <a:prstGeom prst="rect">
                <a:avLst/>
              </a:prstGeom>
              <a:blipFill rotWithShape="1">
                <a:blip r:embed="rId6"/>
                <a:stretch>
                  <a:fillRect l="-933" t="-813" r="-4735" b="-4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722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63915" y="620688"/>
                <a:ext cx="8496944" cy="15388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zh-CN" altLang="en-US" sz="2400" dirty="0"/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调相波的数学表达式：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/>
                      </a:rPr>
                      <m:t>𝒗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1" i="1">
                            <a:latin typeface="Cambria Math"/>
                          </a:rPr>
                          <m:t>𝒕</m:t>
                        </m:r>
                      </m:e>
                    </m:d>
                    <m:r>
                      <a:rPr lang="zh-CN" altLang="en-US" sz="2400" b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𝐜𝐨𝐬</m:t>
                    </m:r>
                    <m:r>
                      <a:rPr lang="zh-CN" altLang="en-US" sz="2400" b="1" i="1">
                        <a:latin typeface="Cambria Math"/>
                      </a:rPr>
                      <m:t>𝝋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1" i="1">
                            <a:latin typeface="Cambria Math"/>
                          </a:rPr>
                          <m:t>𝒕</m:t>
                        </m:r>
                      </m:e>
                    </m:d>
                    <m:r>
                      <a:rPr lang="zh-CN" altLang="en-US" sz="2400" b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𝐜𝐨𝐬</m:t>
                    </m:r>
                    <m:r>
                      <a:rPr lang="zh-CN" altLang="en-US" sz="2400" b="1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𝒄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𝒑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1" i="1">
                            <a:latin typeface="Cambria Math"/>
                          </a:rPr>
                          <m:t>𝒕</m:t>
                        </m:r>
                      </m:e>
                    </m:d>
                    <m:r>
                      <a:rPr lang="en-US" altLang="zh-CN" sz="2400" b="1" i="0" smtClean="0">
                        <a:latin typeface="Cambria Math"/>
                      </a:rPr>
                      <m:t>]</m:t>
                    </m:r>
                  </m:oMath>
                </a14:m>
                <a:r>
                  <a:rPr lang="en-US" altLang="zh-CN" sz="2400" dirty="0">
                    <a:latin typeface="Cambria Math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𝜑</m:t>
                        </m:r>
                      </m:e>
                      <m:sub>
                        <m:r>
                          <a:rPr lang="zh-CN" altLang="en-US" sz="240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zh-CN" altLang="en-US" sz="2400">
                        <a:latin typeface="Cambria Math"/>
                      </a:rPr>
                      <m:t>=0</m:t>
                    </m:r>
                  </m:oMath>
                </a14:m>
                <a:r>
                  <a:rPr lang="en-US" altLang="zh-CN" sz="2400" dirty="0">
                    <a:latin typeface="Cambria Math"/>
                  </a:rPr>
                  <a:t>)</a:t>
                </a:r>
                <a:endParaRPr lang="en-US" altLang="zh-CN" sz="24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𝒎</m:t>
                          </m:r>
                        </m:sub>
                      </m:sSub>
                      <m:r>
                        <a:rPr lang="zh-CN" altLang="en-US" sz="2400" b="1" i="1">
                          <a:latin typeface="Cambria Math"/>
                        </a:rPr>
                        <m:t>𝐜𝐨𝐬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/>
                                </a:rPr>
                                <m:t>𝒄</m:t>
                              </m:r>
                            </m:sub>
                          </m:sSub>
                          <m:r>
                            <a:rPr lang="zh-CN" altLang="en-US" sz="2400" b="1" i="1">
                              <a:latin typeface="Cambria Math"/>
                            </a:rPr>
                            <m:t>𝒕</m:t>
                          </m:r>
                          <m:r>
                            <a:rPr lang="zh-CN" altLang="en-US" sz="2400" b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/>
                                </a:rPr>
                                <m:t>𝒑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/>
                                </a:rPr>
                                <m:t>𝜴</m:t>
                              </m:r>
                              <m:r>
                                <a:rPr lang="zh-CN" altLang="en-US" sz="2400" b="1" i="1">
                                  <a:latin typeface="Cambria Math"/>
                                </a:rPr>
                                <m:t>𝒎</m:t>
                              </m:r>
                            </m:sub>
                          </m:sSub>
                          <m:r>
                            <a:rPr lang="zh-CN" altLang="en-US" sz="2400" b="1" i="1">
                              <a:latin typeface="Cambria Math"/>
                            </a:rPr>
                            <m:t>𝐜𝐨𝐬</m:t>
                          </m:r>
                          <m:r>
                            <a:rPr lang="zh-CN" altLang="en-US" sz="2400" b="1" i="1">
                              <a:latin typeface="Cambria Math"/>
                            </a:rPr>
                            <m:t>𝜴</m:t>
                          </m:r>
                          <m:r>
                            <a:rPr lang="zh-CN" altLang="en-US" sz="2400" b="1" i="1">
                              <a:latin typeface="Cambria Math"/>
                            </a:rPr>
                            <m:t>𝒕</m:t>
                          </m:r>
                        </m:e>
                      </m:d>
                      <m:r>
                        <a:rPr lang="zh-CN" altLang="en-US" sz="2400" b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𝒎</m:t>
                          </m:r>
                        </m:sub>
                      </m:sSub>
                      <m:r>
                        <a:rPr lang="zh-CN" altLang="en-US" sz="2400" b="1" i="1">
                          <a:latin typeface="Cambria Math"/>
                        </a:rPr>
                        <m:t>𝐜𝐨𝐬</m:t>
                      </m:r>
                      <m:r>
                        <a:rPr lang="zh-CN" altLang="en-US" sz="2400" b="1"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𝒄</m:t>
                          </m:r>
                        </m:sub>
                      </m:sSub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  <m:r>
                        <a:rPr lang="zh-CN" altLang="en-US" sz="2400" b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𝒑</m:t>
                          </m:r>
                        </m:sub>
                      </m:sSub>
                      <m:r>
                        <a:rPr lang="zh-CN" altLang="en-US" sz="2400" b="1" i="1">
                          <a:latin typeface="Cambria Math"/>
                        </a:rPr>
                        <m:t>𝐜𝐨𝐬</m:t>
                      </m:r>
                      <m:r>
                        <a:rPr lang="zh-CN" altLang="en-US" sz="2400" b="1" i="1">
                          <a:latin typeface="Cambria Math"/>
                        </a:rPr>
                        <m:t>𝜴</m:t>
                      </m:r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  <m:r>
                        <a:rPr lang="en-US" altLang="zh-CN" sz="2400" b="1" i="1" smtClean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15" y="620688"/>
                <a:ext cx="8496944" cy="1538819"/>
              </a:xfrm>
              <a:prstGeom prst="rect">
                <a:avLst/>
              </a:prstGeom>
              <a:blipFill rotWithShape="1">
                <a:blip r:embed="rId2"/>
                <a:stretch>
                  <a:fillRect l="-93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275049" y="2060848"/>
                <a:ext cx="8257391" cy="13956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altLang="zh-CN" sz="2400" dirty="0"/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瞬时频率：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>
                          <a:latin typeface="Cambria Math"/>
                        </a:rPr>
                        <m:t>𝝎</m:t>
                      </m:r>
                      <m:r>
                        <a:rPr lang="zh-CN" altLang="en-US" sz="2400" b="1">
                          <a:latin typeface="Cambria Math"/>
                        </a:rPr>
                        <m:t>(</m:t>
                      </m:r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  <m:r>
                        <a:rPr lang="zh-CN" altLang="en-US" sz="2400" b="1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1" i="1">
                                  <a:latin typeface="Cambria Math"/>
                                </a:rPr>
                                <m:t>𝒅</m:t>
                              </m:r>
                              <m:r>
                                <a:rPr lang="zh-CN" altLang="en-US" sz="2400" b="1" i="1">
                                  <a:latin typeface="Cambria Math"/>
                                </a:rPr>
                                <m:t>𝝋</m:t>
                              </m:r>
                              <m:r>
                                <a:rPr lang="zh-CN" altLang="en-US" sz="2400" b="1">
                                  <a:latin typeface="Cambria Math"/>
                                </a:rPr>
                                <m:t>(</m:t>
                              </m:r>
                              <m:r>
                                <a:rPr lang="zh-CN" altLang="en-US" sz="2400" b="1" i="1">
                                  <a:latin typeface="Cambria Math"/>
                                </a:rPr>
                                <m:t>𝒕</m:t>
                              </m:r>
                            </m:e>
                          </m:d>
                        </m:num>
                        <m:den>
                          <m:r>
                            <a:rPr lang="zh-CN" altLang="en-US" sz="2400" b="1" i="1">
                              <a:latin typeface="Cambria Math"/>
                            </a:rPr>
                            <m:t>𝒅𝒕</m:t>
                          </m:r>
                        </m:den>
                      </m:f>
                      <m:r>
                        <a:rPr lang="zh-CN" altLang="en-US" sz="2400" b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𝒄</m:t>
                          </m:r>
                        </m:sub>
                      </m:sSub>
                      <m:r>
                        <a:rPr lang="zh-CN" altLang="en-US" sz="2400" b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𝜴</m:t>
                          </m:r>
                          <m:r>
                            <a:rPr lang="zh-CN" altLang="en-US" sz="2400" b="1" i="1">
                              <a:latin typeface="Cambria Math"/>
                            </a:rPr>
                            <m:t>𝒎</m:t>
                          </m:r>
                        </m:sub>
                      </m:sSub>
                      <m:r>
                        <a:rPr lang="zh-CN" altLang="en-US" sz="2400" b="1" i="1">
                          <a:latin typeface="Cambria Math"/>
                        </a:rPr>
                        <m:t>𝜴</m:t>
                      </m:r>
                      <m:r>
                        <a:rPr lang="zh-CN" altLang="en-US" sz="2400" b="1" i="1">
                          <a:latin typeface="Cambria Math"/>
                        </a:rPr>
                        <m:t>𝐬𝐢𝐧</m:t>
                      </m:r>
                      <m:r>
                        <a:rPr lang="zh-CN" altLang="en-US" sz="2400" b="1" i="1">
                          <a:latin typeface="Cambria Math"/>
                        </a:rPr>
                        <m:t>𝜴</m:t>
                      </m:r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  <m:r>
                        <a:rPr lang="zh-CN" altLang="en-US" sz="2400" b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𝒄</m:t>
                          </m:r>
                        </m:sub>
                      </m:sSub>
                      <m:r>
                        <a:rPr lang="zh-CN" altLang="en-US" sz="2400" b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𝒑</m:t>
                          </m:r>
                        </m:sub>
                      </m:sSub>
                      <m:r>
                        <a:rPr lang="zh-CN" altLang="en-US" sz="2400" b="1" i="1">
                          <a:latin typeface="Cambria Math"/>
                        </a:rPr>
                        <m:t>𝜴</m:t>
                      </m:r>
                      <m:r>
                        <a:rPr lang="zh-CN" altLang="en-US" sz="2400" b="1" i="1">
                          <a:latin typeface="Cambria Math"/>
                        </a:rPr>
                        <m:t>𝐬𝐢𝐧</m:t>
                      </m:r>
                      <m:r>
                        <a:rPr lang="zh-CN" altLang="en-US" sz="2400" b="1" i="1">
                          <a:latin typeface="Cambria Math"/>
                        </a:rPr>
                        <m:t>𝜴</m:t>
                      </m:r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49" y="2060848"/>
                <a:ext cx="8257391" cy="1395638"/>
              </a:xfrm>
              <a:prstGeom prst="rect">
                <a:avLst/>
              </a:prstGeom>
              <a:blipFill rotWithShape="1">
                <a:blip r:embed="rId3"/>
                <a:stretch>
                  <a:fillRect l="-959" t="-26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63915" y="3475621"/>
                <a:ext cx="8257391" cy="10527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zh-CN" altLang="en-US" sz="2400" dirty="0"/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频率偏移（频偏）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：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>
                          <a:latin typeface="Cambria Math"/>
                        </a:rPr>
                        <m:t>𝜟𝝎</m:t>
                      </m:r>
                      <m:r>
                        <a:rPr lang="zh-CN" altLang="en-US" sz="2400" b="1">
                          <a:latin typeface="Cambria Math"/>
                        </a:rPr>
                        <m:t>(</m:t>
                      </m:r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  <m:r>
                        <a:rPr lang="zh-CN" altLang="en-US" sz="2400" b="1">
                          <a:latin typeface="Cambria Math"/>
                        </a:rPr>
                        <m:t>)=</m:t>
                      </m:r>
                      <m:r>
                        <a:rPr lang="zh-CN" altLang="en-US" sz="2400" b="1" i="1">
                          <a:latin typeface="Cambria Math"/>
                        </a:rPr>
                        <m:t>𝝎</m:t>
                      </m:r>
                      <m:r>
                        <a:rPr lang="zh-CN" altLang="en-US" sz="2400" b="1">
                          <a:latin typeface="Cambria Math"/>
                        </a:rPr>
                        <m:t>(</m:t>
                      </m:r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  <m:r>
                        <a:rPr lang="zh-CN" altLang="en-US" sz="2400" b="1">
                          <a:latin typeface="Cambria Math"/>
                        </a:rPr>
                        <m:t>)−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𝒄</m:t>
                          </m:r>
                        </m:sub>
                      </m:sSub>
                      <m:r>
                        <a:rPr lang="zh-CN" altLang="en-US" sz="2400" b="1">
                          <a:latin typeface="Cambria Math"/>
                        </a:rPr>
                        <m:t>=−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𝒌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𝜴</m:t>
                          </m:r>
                          <m:r>
                            <a:rPr lang="zh-CN" altLang="en-US" sz="2400" b="1" i="1">
                              <a:latin typeface="Cambria Math"/>
                            </a:rPr>
                            <m:t>𝒎</m:t>
                          </m:r>
                        </m:sub>
                      </m:sSub>
                      <m:r>
                        <a:rPr lang="zh-CN" altLang="en-US" sz="2400" b="1" i="1">
                          <a:latin typeface="Cambria Math"/>
                        </a:rPr>
                        <m:t>𝜴</m:t>
                      </m:r>
                      <m:r>
                        <a:rPr lang="zh-CN" altLang="en-US" sz="2400" b="1" i="1">
                          <a:latin typeface="Cambria Math"/>
                        </a:rPr>
                        <m:t>𝐬𝐢𝐧</m:t>
                      </m:r>
                      <m:r>
                        <a:rPr lang="zh-CN" altLang="en-US" sz="2400" b="1" i="1">
                          <a:latin typeface="Cambria Math"/>
                        </a:rPr>
                        <m:t>𝜴</m:t>
                      </m:r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  <m:r>
                        <a:rPr lang="zh-CN" altLang="en-US" sz="2400" b="1">
                          <a:latin typeface="Cambria Math"/>
                        </a:rPr>
                        <m:t>=−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𝒑</m:t>
                          </m:r>
                        </m:sub>
                      </m:sSub>
                      <m:r>
                        <a:rPr lang="zh-CN" altLang="en-US" sz="2400" b="1" i="1">
                          <a:latin typeface="Cambria Math"/>
                        </a:rPr>
                        <m:t>𝜴</m:t>
                      </m:r>
                      <m:r>
                        <a:rPr lang="zh-CN" altLang="en-US" sz="2400" b="1" i="1">
                          <a:latin typeface="Cambria Math"/>
                        </a:rPr>
                        <m:t>𝐬𝐢𝐧</m:t>
                      </m:r>
                      <m:r>
                        <a:rPr lang="zh-CN" altLang="en-US" sz="2400" b="1" i="1">
                          <a:latin typeface="Cambria Math"/>
                        </a:rPr>
                        <m:t>𝜴</m:t>
                      </m:r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15" y="3475621"/>
                <a:ext cx="8257391" cy="1052724"/>
              </a:xfrm>
              <a:prstGeom prst="rect">
                <a:avLst/>
              </a:prstGeom>
              <a:blipFill rotWithShape="1">
                <a:blip r:embed="rId4"/>
                <a:stretch>
                  <a:fillRect l="-959" t="-3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3915" y="4437112"/>
                <a:ext cx="8136904" cy="10241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itchFamily="2" charset="2"/>
                  <a:buChar char="Ø"/>
                </a:pPr>
                <a:r>
                  <a:rPr lang="zh-CN" altLang="en-US" sz="2400" dirty="0"/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最大相移：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/>
                      </a:rPr>
                      <m:t>𝜟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𝝋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=</m:t>
                    </m:r>
                    <m:r>
                      <a:rPr lang="zh-CN" altLang="en-US" sz="2400" b="1" i="1">
                        <a:latin typeface="Cambria Math"/>
                      </a:rPr>
                      <m:t>𝜟𝝋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1" i="1">
                                <a:latin typeface="Cambria Math"/>
                              </a:rPr>
                              <m:t>𝒕</m:t>
                            </m:r>
                          </m:e>
                        </m:d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𝐦𝐚𝐱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𝒑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en-US" sz="2400" dirty="0"/>
                  <a:t>（当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/>
                      </a:rPr>
                      <m:t>𝐜𝐨𝐬</m:t>
                    </m:r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=</m:t>
                    </m:r>
                    <m:r>
                      <a:rPr lang="zh-CN" altLang="en-US" sz="2400" b="1" i="1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sz="2400" dirty="0"/>
                  <a:t>时）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15" y="4437112"/>
                <a:ext cx="8136904" cy="1024191"/>
              </a:xfrm>
              <a:prstGeom prst="rect">
                <a:avLst/>
              </a:prstGeom>
              <a:blipFill rotWithShape="1">
                <a:blip r:embed="rId5"/>
                <a:stretch>
                  <a:fillRect l="-974" t="-3571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63915" y="5445224"/>
                <a:ext cx="8136904" cy="10184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itchFamily="2" charset="2"/>
                  <a:buChar char="Ø"/>
                </a:pPr>
                <a:r>
                  <a:rPr lang="zh-CN" altLang="en-US" sz="2400" dirty="0"/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最大频偏：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/>
                      </a:rPr>
                      <m:t>𝜟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=</m:t>
                    </m:r>
                    <m:r>
                      <a:rPr lang="zh-CN" altLang="en-US" sz="2400" b="1" i="1">
                        <a:latin typeface="Cambria Math"/>
                      </a:rPr>
                      <m:t>𝜟𝝎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1" i="1">
                                <a:latin typeface="Cambria Math"/>
                              </a:rPr>
                              <m:t>𝒕</m:t>
                            </m:r>
                          </m:e>
                        </m:d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𝐦𝐚𝐱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𝒑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  <m:r>
                      <a:rPr lang="zh-CN" altLang="en-US" sz="2400" b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𝒑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</m:oMath>
                </a14:m>
                <a:r>
                  <a:rPr lang="zh-CN" altLang="en-US" sz="2400" dirty="0"/>
                  <a:t>（当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/>
                      </a:rPr>
                      <m:t>𝐬𝐢𝐧</m:t>
                    </m:r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=</m:t>
                    </m:r>
                    <m:r>
                      <a:rPr lang="en-US" altLang="zh-CN" sz="2400" b="1" i="1" smtClean="0">
                        <a:latin typeface="Cambria Math"/>
                      </a:rPr>
                      <m:t>−</m:t>
                    </m:r>
                    <m:r>
                      <a:rPr lang="zh-CN" altLang="en-US" sz="2400" b="1" i="1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sz="2400" dirty="0"/>
                  <a:t>时）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15" y="5445224"/>
                <a:ext cx="8136904" cy="1018420"/>
              </a:xfrm>
              <a:prstGeom prst="rect">
                <a:avLst/>
              </a:prstGeom>
              <a:blipFill rotWithShape="1">
                <a:blip r:embed="rId6"/>
                <a:stretch>
                  <a:fillRect l="-974" t="-3593" b="-5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85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548680"/>
            <a:ext cx="6984776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调频波</a:t>
            </a:r>
            <a:r>
              <a:rPr lang="zh-CN" altLang="zh-CN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FM</a:t>
            </a:r>
            <a:r>
              <a:rPr lang="zh-CN" altLang="zh-CN" dirty="0">
                <a:solidFill>
                  <a:srgbClr val="0000FF"/>
                </a:solidFill>
              </a:rPr>
              <a:t>）的数学表达式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124744"/>
            <a:ext cx="8352928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调频的定义：瞬时频率和调制信号成线性关系，或瞬时频率的变化量（频率偏移）和调制信号成正比关系</a:t>
            </a:r>
            <a:r>
              <a:rPr lang="zh-CN" altLang="en-US" sz="2400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95536" y="2103755"/>
                <a:ext cx="8280785" cy="10562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瞬时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频率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/>
                      </a:rPr>
                      <m:t>𝝎</m:t>
                    </m:r>
                    <m:r>
                      <a:rPr lang="zh-CN" altLang="en-US" sz="2400" b="1"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𝒄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𝒄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𝐜𝐨𝐬</m:t>
                    </m:r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zh-CN" altLang="zh-CN" sz="2400" dirty="0"/>
                  <a:t>为比例系数，由电路决定，和调制信号无关。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103755"/>
                <a:ext cx="8280785" cy="1056251"/>
              </a:xfrm>
              <a:prstGeom prst="rect">
                <a:avLst/>
              </a:prstGeom>
              <a:blipFill rotWithShape="1">
                <a:blip r:embed="rId2"/>
                <a:stretch>
                  <a:fillRect l="-1031" t="-1156" b="-5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95535" y="3068960"/>
                <a:ext cx="8280785" cy="10627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频率偏移（频偏）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/>
                      </a:rPr>
                      <m:t>𝜟𝝎</m:t>
                    </m:r>
                    <m:r>
                      <a:rPr lang="zh-CN" altLang="en-US" sz="2400" b="1"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)=</m:t>
                    </m:r>
                    <m:r>
                      <a:rPr lang="zh-CN" altLang="en-US" sz="2400" b="1" i="1">
                        <a:latin typeface="Cambria Math"/>
                      </a:rPr>
                      <m:t>𝝎</m:t>
                    </m:r>
                    <m:r>
                      <a:rPr lang="zh-CN" altLang="en-US" sz="2400" b="1"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)−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𝒄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  <m:r>
                      <a:rPr lang="zh-CN" altLang="en-US" sz="2400" b="1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𝒌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r>
                      <a:rPr lang="zh-CN" altLang="en-US" sz="2400" b="1" i="1">
                        <a:latin typeface="Cambria Math"/>
                      </a:rPr>
                      <m:t>𝐜𝐨𝐬</m:t>
                    </m:r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  <m:r>
                      <a:rPr lang="zh-CN" altLang="en-US" sz="2400" b="1" i="1">
                        <a:latin typeface="Cambria Math"/>
                      </a:rPr>
                      <m:t>𝒕</m:t>
                    </m:r>
                  </m:oMath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5" y="3068960"/>
                <a:ext cx="8280785" cy="1062727"/>
              </a:xfrm>
              <a:prstGeom prst="rect">
                <a:avLst/>
              </a:prstGeom>
              <a:blipFill rotWithShape="1">
                <a:blip r:embed="rId3"/>
                <a:stretch>
                  <a:fillRect l="-1031" t="-1143" b="-2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95534" y="4005064"/>
                <a:ext cx="8280785" cy="27551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瞬时相位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：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/>
                      </a:rPr>
                      <m:t>𝝋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1" i="1">
                            <a:latin typeface="Cambria Math"/>
                          </a:rPr>
                          <m:t>𝒕</m:t>
                        </m:r>
                      </m:e>
                    </m:d>
                    <m:r>
                      <a:rPr lang="zh-CN" altLang="en-US" sz="2400" b="1">
                        <a:latin typeface="Cambria Math"/>
                      </a:rPr>
                      <m:t>=</m:t>
                    </m:r>
                    <m:nary>
                      <m:naryPr>
                        <m:limLoc m:val="subSup"/>
                        <m:grow m:val="on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b="1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zh-CN" altLang="en-US" sz="2400" b="1" i="1">
                            <a:latin typeface="Cambria Math"/>
                          </a:rPr>
                          <m:t>𝒕</m:t>
                        </m:r>
                      </m:sup>
                      <m:e>
                        <m:r>
                          <a:rPr lang="zh-CN" altLang="en-US" sz="2400" b="1" i="1">
                            <a:latin typeface="Cambria Math"/>
                          </a:rPr>
                          <m:t>𝝎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b="1" i="1">
                                <a:latin typeface="Cambria Math"/>
                              </a:rPr>
                              <m:t>𝒕</m:t>
                            </m:r>
                          </m:e>
                        </m:d>
                        <m:r>
                          <a:rPr lang="zh-CN" altLang="en-US" sz="2400" b="1" i="1">
                            <a:latin typeface="Cambria Math"/>
                          </a:rPr>
                          <m:t>𝒅𝒕</m:t>
                        </m:r>
                        <m:r>
                          <a:rPr lang="zh-CN" altLang="en-US" sz="2400" b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latin typeface="Cambria Math"/>
                              </a:rPr>
                              <m:t>𝝋</m:t>
                            </m:r>
                          </m:e>
                          <m:sub>
                            <m:r>
                              <a:rPr lang="zh-CN" altLang="en-US" sz="2400" b="1" i="1"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e>
                    </m:nary>
                    <m:r>
                      <a:rPr lang="zh-CN" altLang="en-US" sz="2400" b="1">
                        <a:latin typeface="Cambria Math"/>
                      </a:rPr>
                      <m:t>=</m:t>
                    </m:r>
                    <m:nary>
                      <m:naryPr>
                        <m:limLoc m:val="subSup"/>
                        <m:grow m:val="on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b="1" i="1">
                            <a:latin typeface="Cambria Math"/>
                          </a:rPr>
                          <m:t>𝟎</m:t>
                        </m:r>
                      </m:sub>
                      <m:sup>
                        <m:r>
                          <a:rPr lang="zh-CN" altLang="en-US" sz="2400" b="1" i="1">
                            <a:latin typeface="Cambria Math"/>
                          </a:rPr>
                          <m:t>𝒕</m:t>
                        </m:r>
                      </m:sup>
                      <m:e>
                        <m:d>
                          <m:d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/>
                                  </a:rPr>
                                  <m:t>𝝎</m:t>
                                </m:r>
                              </m:e>
                              <m:sub>
                                <m:r>
                                  <a:rPr lang="zh-CN" altLang="en-US" sz="2400" b="1" i="1">
                                    <a:latin typeface="Cambria Math"/>
                                  </a:rPr>
                                  <m:t>𝒄</m:t>
                                </m:r>
                              </m:sub>
                            </m:sSub>
                            <m:r>
                              <a:rPr lang="zh-CN" altLang="en-US" sz="2400" b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zh-CN" altLang="en-US" sz="2400" b="1" i="1">
                                    <a:latin typeface="Cambria Math"/>
                                  </a:rPr>
                                  <m:t>𝒇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zh-CN" altLang="en-US" sz="2400" b="1" i="1">
                                    <a:latin typeface="Cambria Math"/>
                                  </a:rPr>
                                  <m:t>𝜴</m:t>
                                </m:r>
                                <m:r>
                                  <a:rPr lang="zh-CN" altLang="en-US" sz="2400" b="1" i="1">
                                    <a:latin typeface="Cambria Math"/>
                                  </a:rPr>
                                  <m:t>𝒎</m:t>
                                </m:r>
                              </m:sub>
                            </m:sSub>
                            <m:r>
                              <a:rPr lang="zh-CN" altLang="en-US" sz="2400" b="1" i="1">
                                <a:latin typeface="Cambria Math"/>
                              </a:rPr>
                              <m:t>𝐜𝐨𝐬</m:t>
                            </m:r>
                            <m:r>
                              <a:rPr lang="zh-CN" altLang="en-US" sz="2400" b="1" i="1">
                                <a:latin typeface="Cambria Math"/>
                              </a:rPr>
                              <m:t>𝜴</m:t>
                            </m:r>
                            <m:r>
                              <a:rPr lang="zh-CN" altLang="en-US" sz="2400" b="1" i="1">
                                <a:latin typeface="Cambria Math"/>
                              </a:rPr>
                              <m:t>𝒕</m:t>
                            </m:r>
                          </m:e>
                        </m:d>
                        <m:r>
                          <a:rPr lang="zh-CN" altLang="en-US" sz="2400" b="1" i="1">
                            <a:latin typeface="Cambria Math"/>
                          </a:rPr>
                          <m:t>𝒅𝒕</m:t>
                        </m:r>
                      </m:e>
                    </m:nary>
                  </m:oMath>
                </a14:m>
                <a:endParaRPr lang="en-US" altLang="zh-CN" sz="2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𝒄</m:t>
                          </m:r>
                        </m:sub>
                      </m:sSub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  <m:r>
                        <a:rPr lang="zh-CN" altLang="en-US" sz="2400" b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/>
                                </a:rPr>
                                <m:t>𝒇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/>
                                </a:rPr>
                                <m:t>𝜴</m:t>
                              </m:r>
                              <m:r>
                                <a:rPr lang="zh-CN" altLang="en-US" sz="2400" b="1" i="1">
                                  <a:latin typeface="Cambria Math"/>
                                </a:rPr>
                                <m:t>𝒎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b="1" i="1">
                              <a:latin typeface="Cambria Math"/>
                            </a:rPr>
                            <m:t>𝜴</m:t>
                          </m:r>
                        </m:den>
                      </m:f>
                      <m:r>
                        <a:rPr lang="zh-CN" altLang="en-US" sz="2400" b="1" i="1">
                          <a:latin typeface="Cambria Math"/>
                        </a:rPr>
                        <m:t>𝐬𝐢𝐧</m:t>
                      </m:r>
                      <m:r>
                        <a:rPr lang="zh-CN" altLang="en-US" sz="2400" b="1" i="1">
                          <a:latin typeface="Cambria Math"/>
                        </a:rPr>
                        <m:t>𝜴</m:t>
                      </m:r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  <m:r>
                        <a:rPr lang="zh-CN" altLang="en-US" sz="2400" b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𝝎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𝒄</m:t>
                          </m:r>
                        </m:sub>
                      </m:sSub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  <m:r>
                        <a:rPr lang="zh-CN" altLang="en-US" sz="2400" b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latin typeface="Cambria Math"/>
                            </a:rPr>
                            <m:t>𝑴</m:t>
                          </m:r>
                        </m:e>
                        <m:sub>
                          <m:r>
                            <a:rPr lang="zh-CN" altLang="en-US" sz="2400" b="1" i="1">
                              <a:latin typeface="Cambria Math"/>
                            </a:rPr>
                            <m:t>𝒇</m:t>
                          </m:r>
                        </m:sub>
                      </m:sSub>
                      <m:r>
                        <a:rPr lang="zh-CN" altLang="en-US" sz="2400" b="1" i="1">
                          <a:latin typeface="Cambria Math"/>
                        </a:rPr>
                        <m:t>𝐬𝐢𝐧</m:t>
                      </m:r>
                      <m:r>
                        <a:rPr lang="zh-CN" altLang="en-US" sz="2400" b="1" i="1">
                          <a:latin typeface="Cambria Math"/>
                        </a:rPr>
                        <m:t>𝜴</m:t>
                      </m:r>
                      <m:r>
                        <a:rPr lang="zh-CN" altLang="en-US" sz="2400" b="1" i="1">
                          <a:latin typeface="Cambria Math"/>
                        </a:rPr>
                        <m:t>𝒕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latin typeface="Cambria Math"/>
                              </a:rPr>
                              <m:t>𝒌</m:t>
                            </m:r>
                          </m:e>
                          <m:sub>
                            <m:r>
                              <a:rPr lang="zh-CN" altLang="en-US" sz="2400" b="1" i="1">
                                <a:latin typeface="Cambria Math"/>
                              </a:rPr>
                              <m:t>𝒇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latin typeface="Cambria Math"/>
                              </a:rPr>
                              <m:t>𝑽</m:t>
                            </m:r>
                          </m:e>
                          <m:sub>
                            <m:r>
                              <a:rPr lang="zh-CN" altLang="en-US" sz="2400" b="1" i="1">
                                <a:latin typeface="Cambria Math"/>
                              </a:rPr>
                              <m:t>𝜴</m:t>
                            </m:r>
                            <m:r>
                              <a:rPr lang="zh-CN" altLang="en-US" sz="2400" b="1" i="1">
                                <a:latin typeface="Cambria Math"/>
                              </a:rPr>
                              <m:t>𝒎</m:t>
                            </m:r>
                          </m:sub>
                        </m:sSub>
                      </m:num>
                      <m:den>
                        <m:r>
                          <a:rPr lang="zh-CN" altLang="en-US" sz="2400" b="1" i="1">
                            <a:latin typeface="Cambria Math"/>
                          </a:rPr>
                          <m:t>𝜴</m:t>
                        </m:r>
                      </m:den>
                    </m:f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称为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调频指数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4" y="4005064"/>
                <a:ext cx="8280785" cy="2755113"/>
              </a:xfrm>
              <a:prstGeom prst="rect">
                <a:avLst/>
              </a:prstGeom>
              <a:blipFill rotWithShape="1">
                <a:blip r:embed="rId4"/>
                <a:stretch>
                  <a:fillRect l="-1031" t="-13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6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90598" y="404664"/>
                <a:ext cx="8280785" cy="18655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调频波的数学表达式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：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/>
                        </a:rPr>
                        <m:t>𝑣</m:t>
                      </m:r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  <m:r>
                        <a:rPr lang="zh-CN" altLang="en-US" sz="2400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cos</m:t>
                      </m:r>
                      <m:r>
                        <a:rPr lang="zh-CN" altLang="en-US" sz="2400" i="1">
                          <a:latin typeface="Cambria Math"/>
                        </a:rPr>
                        <m:t>𝜑</m:t>
                      </m:r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  <m:r>
                        <a:rPr lang="zh-CN" altLang="en-US" sz="2400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cos</m:t>
                      </m:r>
                      <m:r>
                        <a:rPr lang="zh-CN" altLang="en-US" sz="2400"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  <m:r>
                        <a:rPr lang="zh-CN" altLang="en-US" sz="240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/>
                                </a:rPr>
                                <m:t>𝛺</m:t>
                              </m:r>
                              <m:r>
                                <a:rPr lang="zh-CN" altLang="en-US" sz="2400" i="1">
                                  <a:latin typeface="Cambria Math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400" i="1">
                              <a:latin typeface="Cambria Math"/>
                            </a:rPr>
                            <m:t>𝛺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sin</m:t>
                      </m:r>
                      <m:r>
                        <a:rPr lang="zh-CN" altLang="en-US" sz="2400" i="1">
                          <a:latin typeface="Cambria Math"/>
                        </a:rPr>
                        <m:t>𝛺</m:t>
                      </m:r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  <m:r>
                        <a:rPr lang="zh-CN" altLang="en-US" sz="2400">
                          <a:latin typeface="Cambria Math"/>
                        </a:rPr>
                        <m:t>]=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cos</m:t>
                      </m:r>
                      <m:r>
                        <a:rPr lang="zh-CN" altLang="en-US" sz="2400"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  <m:r>
                        <a:rPr lang="zh-CN" altLang="en-US" sz="240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sin</m:t>
                      </m:r>
                      <m:r>
                        <a:rPr lang="zh-CN" altLang="en-US" sz="2400" i="1">
                          <a:latin typeface="Cambria Math"/>
                        </a:rPr>
                        <m:t>𝛺</m:t>
                      </m:r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  <m:r>
                        <a:rPr lang="en-US" altLang="zh-CN" sz="2400" b="1" i="1" smtClean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98" y="404664"/>
                <a:ext cx="8280785" cy="1865511"/>
              </a:xfrm>
              <a:prstGeom prst="rect">
                <a:avLst/>
              </a:prstGeom>
              <a:blipFill rotWithShape="1">
                <a:blip r:embed="rId2"/>
                <a:stretch>
                  <a:fillRect l="-957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90597" y="2244574"/>
                <a:ext cx="8280785" cy="1256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相位偏移（相移）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/>
                      </a:rPr>
                      <m:t>𝛥𝜑</m:t>
                    </m:r>
                    <m:r>
                      <a:rPr lang="zh-CN" altLang="en-US" sz="2400">
                        <a:latin typeface="Cambria Math"/>
                      </a:rPr>
                      <m:t>(</m:t>
                    </m:r>
                    <m:r>
                      <a:rPr lang="zh-CN" altLang="en-US" sz="2400" i="1">
                        <a:latin typeface="Cambria Math"/>
                      </a:rPr>
                      <m:t>𝑡</m:t>
                    </m:r>
                    <m:r>
                      <a:rPr lang="zh-CN" altLang="en-US" sz="2400">
                        <a:latin typeface="Cambria Math"/>
                      </a:rPr>
                      <m:t>)=</m:t>
                    </m:r>
                    <m:r>
                      <a:rPr lang="zh-CN" altLang="en-US" sz="2400" i="1">
                        <a:latin typeface="Cambria Math"/>
                      </a:rPr>
                      <m:t>𝜑</m:t>
                    </m:r>
                    <m:r>
                      <a:rPr lang="zh-CN" altLang="en-US" sz="2400">
                        <a:latin typeface="Cambria Math"/>
                      </a:rPr>
                      <m:t>(</m:t>
                    </m:r>
                    <m:r>
                      <a:rPr lang="zh-CN" altLang="en-US" sz="2400" i="1">
                        <a:latin typeface="Cambria Math"/>
                      </a:rPr>
                      <m:t>𝑡</m:t>
                    </m:r>
                    <m:r>
                      <a:rPr lang="zh-CN" altLang="en-US" sz="2400">
                        <a:latin typeface="Cambria Math"/>
                      </a:rPr>
                      <m:t>)−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zh-CN" altLang="en-US" sz="2400" i="1">
                        <a:latin typeface="Cambria Math"/>
                      </a:rPr>
                      <m:t>𝑡</m:t>
                    </m:r>
                    <m:r>
                      <a:rPr lang="zh-CN" altLang="en-US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/>
                              </a:rPr>
                              <m:t>𝛺</m:t>
                            </m:r>
                            <m:r>
                              <a:rPr lang="zh-CN" altLang="en-US" sz="2400" i="1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zh-CN" altLang="en-US" sz="2400" i="1">
                            <a:latin typeface="Cambria Math"/>
                          </a:rPr>
                          <m:t>𝛺</m:t>
                        </m:r>
                      </m:den>
                    </m:f>
                    <m:r>
                      <m:rPr>
                        <m:sty m:val="p"/>
                      </m:rPr>
                      <a:rPr lang="zh-CN" altLang="en-US" sz="2400">
                        <a:latin typeface="Cambria Math"/>
                      </a:rPr>
                      <m:t>sin</m:t>
                    </m:r>
                    <m:r>
                      <a:rPr lang="zh-CN" altLang="en-US" sz="2400" i="1">
                        <a:latin typeface="Cambria Math"/>
                      </a:rPr>
                      <m:t>𝛺</m:t>
                    </m:r>
                    <m:r>
                      <a:rPr lang="zh-CN" altLang="en-US" sz="2400" i="1">
                        <a:latin typeface="Cambria Math"/>
                      </a:rPr>
                      <m:t>𝑡</m:t>
                    </m:r>
                    <m:r>
                      <a:rPr lang="zh-CN" altLang="en-US" sz="240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m:rPr>
                        <m:sty m:val="p"/>
                      </m:rPr>
                      <a:rPr lang="zh-CN" altLang="en-US" sz="2400">
                        <a:latin typeface="Cambria Math"/>
                      </a:rPr>
                      <m:t>sin</m:t>
                    </m:r>
                    <m:r>
                      <a:rPr lang="zh-CN" altLang="en-US" sz="2400" i="1">
                        <a:latin typeface="Cambria Math"/>
                      </a:rPr>
                      <m:t>𝛺</m:t>
                    </m:r>
                    <m:r>
                      <a:rPr lang="zh-CN" altLang="en-US" sz="2400" i="1">
                        <a:latin typeface="Cambria Math"/>
                      </a:rPr>
                      <m:t>𝑡</m:t>
                    </m:r>
                  </m:oMath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97" y="2244574"/>
                <a:ext cx="8280785" cy="1256434"/>
              </a:xfrm>
              <a:prstGeom prst="rect">
                <a:avLst/>
              </a:prstGeom>
              <a:blipFill rotWithShape="1">
                <a:blip r:embed="rId3"/>
                <a:stretch>
                  <a:fillRect l="-957" b="-1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90596" y="3389290"/>
                <a:ext cx="8280785" cy="1208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最大相移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/>
                      </a:rPr>
                      <m:t>𝛥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𝜑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zh-CN" altLang="en-US" sz="2400">
                        <a:latin typeface="Cambria Math"/>
                      </a:rPr>
                      <m:t>=</m:t>
                    </m:r>
                    <m:r>
                      <a:rPr lang="zh-CN" altLang="en-US" sz="2400" i="1">
                        <a:latin typeface="Cambria Math"/>
                      </a:rPr>
                      <m:t>𝛥𝜑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/>
                          </a:rPr>
                          <m:t>max</m:t>
                        </m:r>
                      </m:sub>
                    </m:sSub>
                    <m:r>
                      <a:rPr lang="zh-CN" altLang="en-US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/>
                              </a:rPr>
                              <m:t>𝛺</m:t>
                            </m:r>
                            <m:r>
                              <a:rPr lang="zh-CN" altLang="en-US" sz="2400" i="1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zh-CN" altLang="en-US" sz="2400" i="1">
                            <a:latin typeface="Cambria Math"/>
                          </a:rPr>
                          <m:t>𝛺</m:t>
                        </m:r>
                      </m:den>
                    </m:f>
                    <m:r>
                      <a:rPr lang="zh-CN" altLang="en-US" sz="240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en-US" sz="2400" dirty="0"/>
                  <a:t>（当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/>
                      </a:rPr>
                      <m:t>𝐬𝐢𝐧</m:t>
                    </m:r>
                    <m:r>
                      <a:rPr lang="zh-CN" altLang="en-US" sz="2400" i="1">
                        <a:latin typeface="Cambria Math"/>
                      </a:rPr>
                      <m:t>𝜴</m:t>
                    </m:r>
                    <m:r>
                      <a:rPr lang="zh-CN" altLang="en-US" sz="2400" i="1">
                        <a:latin typeface="Cambria Math"/>
                      </a:rPr>
                      <m:t>𝒕</m:t>
                    </m:r>
                    <m:r>
                      <a:rPr lang="zh-CN" altLang="en-US" sz="2400">
                        <a:latin typeface="Cambria Math"/>
                      </a:rPr>
                      <m:t>=</m:t>
                    </m:r>
                    <m:r>
                      <a:rPr lang="zh-CN" altLang="en-US" sz="2400" i="1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sz="2400" dirty="0"/>
                  <a:t>时）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96" y="3389290"/>
                <a:ext cx="8280785" cy="1208921"/>
              </a:xfrm>
              <a:prstGeom prst="rect">
                <a:avLst/>
              </a:prstGeom>
              <a:blipFill rotWithShape="1">
                <a:blip r:embed="rId4"/>
                <a:stretch>
                  <a:fillRect l="-957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90595" y="4581128"/>
                <a:ext cx="8280785" cy="9783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itchFamily="2" charset="2"/>
                  <a:buChar char="Ø"/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最大频偏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/>
                      </a:rPr>
                      <m:t>𝛥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zh-CN" altLang="en-US" sz="2400">
                        <a:latin typeface="Cambria Math"/>
                      </a:rPr>
                      <m:t>=</m:t>
                    </m:r>
                    <m:r>
                      <a:rPr lang="zh-CN" altLang="en-US" sz="2400" i="1">
                        <a:latin typeface="Cambria Math"/>
                      </a:rPr>
                      <m:t>𝛥𝜔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/>
                          </a:rPr>
                          <m:t>max</m:t>
                        </m:r>
                      </m:sub>
                    </m:sSub>
                    <m:r>
                      <a:rPr lang="zh-CN" altLang="en-US" sz="240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𝛺</m:t>
                        </m:r>
                        <m:r>
                          <a:rPr lang="zh-CN" altLang="en-US" sz="2400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zh-CN" altLang="en-US" sz="240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zh-CN" altLang="en-US" sz="2400" i="1">
                        <a:latin typeface="Cambria Math"/>
                      </a:rPr>
                      <m:t>𝛺</m:t>
                    </m:r>
                  </m:oMath>
                </a14:m>
                <a:r>
                  <a:rPr lang="zh-CN" altLang="en-US" sz="2400" dirty="0"/>
                  <a:t>（当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/>
                      </a:rPr>
                      <m:t>𝐜𝐨𝐬</m:t>
                    </m:r>
                    <m:r>
                      <a:rPr lang="zh-CN" altLang="en-US" sz="2400" i="1">
                        <a:latin typeface="Cambria Math"/>
                      </a:rPr>
                      <m:t>𝜴</m:t>
                    </m:r>
                    <m:r>
                      <a:rPr lang="zh-CN" altLang="en-US" sz="2400" i="1">
                        <a:latin typeface="Cambria Math"/>
                      </a:rPr>
                      <m:t>𝒕</m:t>
                    </m:r>
                    <m:r>
                      <a:rPr lang="zh-CN" altLang="en-US" sz="2400">
                        <a:latin typeface="Cambria Math"/>
                      </a:rPr>
                      <m:t>=</m:t>
                    </m:r>
                    <m:r>
                      <a:rPr lang="zh-CN" altLang="en-US" sz="2400" i="1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sz="2400" dirty="0"/>
                  <a:t>时）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95" y="4581128"/>
                <a:ext cx="8280785" cy="978345"/>
              </a:xfrm>
              <a:prstGeom prst="rect">
                <a:avLst/>
              </a:prstGeom>
              <a:blipFill rotWithShape="1">
                <a:blip r:embed="rId5"/>
                <a:stretch>
                  <a:fillRect l="-957" t="-1242" b="-11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82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548680"/>
            <a:ext cx="6984776" cy="526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FM</a:t>
            </a:r>
            <a:r>
              <a:rPr lang="zh-CN" altLang="en-US" dirty="0">
                <a:solidFill>
                  <a:srgbClr val="0000FF"/>
                </a:solidFill>
              </a:rPr>
              <a:t>信号的频谱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14487" y="1078381"/>
                <a:ext cx="6461769" cy="25132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/>
                        </a:rPr>
                        <m:t>𝑣</m:t>
                      </m:r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  <m:r>
                        <a:rPr lang="zh-CN" altLang="en-US" sz="2400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cos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</m:oMath>
                  </m:oMathPara>
                </a14:m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cos</m:t>
                      </m:r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+</m:t>
                      </m:r>
                      <m:r>
                        <a:rPr lang="zh-CN" altLang="en-US" sz="2400" i="1">
                          <a:latin typeface="Cambria Math"/>
                        </a:rPr>
                        <m:t>𝛺</m:t>
                      </m:r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  <m:r>
                        <a:rPr lang="zh-CN" altLang="en-US" sz="240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cos</m:t>
                      </m:r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−</m:t>
                      </m:r>
                      <m:r>
                        <a:rPr lang="zh-CN" altLang="en-US" sz="2400" i="1">
                          <a:latin typeface="Cambria Math"/>
                        </a:rPr>
                        <m:t>𝛺</m:t>
                      </m:r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</m:oMath>
                  </m:oMathPara>
                </a14:m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cos</m:t>
                      </m:r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+2</m:t>
                      </m:r>
                      <m:r>
                        <a:rPr lang="zh-CN" altLang="en-US" sz="2400" i="1">
                          <a:latin typeface="Cambria Math"/>
                        </a:rPr>
                        <m:t>𝛺</m:t>
                      </m:r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  <m:r>
                        <a:rPr lang="zh-CN" altLang="en-US" sz="240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cos</m:t>
                      </m:r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−2</m:t>
                      </m:r>
                      <m:r>
                        <a:rPr lang="zh-CN" altLang="en-US" sz="2400" i="1">
                          <a:latin typeface="Cambria Math"/>
                        </a:rPr>
                        <m:t>𝛺</m:t>
                      </m:r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</m:oMath>
                  </m:oMathPara>
                </a14:m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cos</m:t>
                      </m:r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+3</m:t>
                      </m:r>
                      <m:r>
                        <a:rPr lang="zh-CN" altLang="en-US" sz="2400" i="1">
                          <a:latin typeface="Cambria Math"/>
                        </a:rPr>
                        <m:t>𝛺</m:t>
                      </m:r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  <m:r>
                        <a:rPr lang="zh-CN" altLang="en-US" sz="240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zh-CN" altLang="en-US" sz="240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400">
                          <a:latin typeface="Cambria Math"/>
                        </a:rPr>
                        <m:t>cos</m:t>
                      </m:r>
                      <m:r>
                        <a:rPr lang="zh-CN" altLang="en-US" sz="240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/>
                            </a:rPr>
                            <m:t>𝜔</m:t>
                          </m:r>
                        </m:e>
                        <m:sub>
                          <m:r>
                            <a:rPr lang="zh-CN" altLang="en-US" sz="24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zh-CN" altLang="en-US" sz="2400">
                          <a:latin typeface="Cambria Math"/>
                        </a:rPr>
                        <m:t>−3</m:t>
                      </m:r>
                      <m:r>
                        <a:rPr lang="zh-CN" altLang="en-US" sz="2400" i="1">
                          <a:latin typeface="Cambria Math"/>
                        </a:rPr>
                        <m:t>𝛺</m:t>
                      </m:r>
                      <m:r>
                        <a:rPr lang="zh-CN" altLang="en-US" sz="2400">
                          <a:latin typeface="Cambria Math"/>
                        </a:rPr>
                        <m:t>)</m:t>
                      </m:r>
                      <m:r>
                        <a:rPr lang="zh-CN" altLang="en-US" sz="2400" i="1">
                          <a:latin typeface="Cambria Math"/>
                        </a:rPr>
                        <m:t>𝑡</m:t>
                      </m:r>
                    </m:oMath>
                  </m:oMathPara>
                </a14:m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>
                              <a:latin typeface="Cambria Math"/>
                            </a:rPr>
                            <m:t>+⋅⋅⋅⋅⋅⋅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487" y="1078381"/>
                <a:ext cx="6461769" cy="251325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/>
          <p:cNvSpPr/>
          <p:nvPr/>
        </p:nvSpPr>
        <p:spPr>
          <a:xfrm>
            <a:off x="5198652" y="1103719"/>
            <a:ext cx="741500" cy="4716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zh-CN" sz="2000" dirty="0"/>
              <a:t>载波</a:t>
            </a:r>
            <a:endParaRPr lang="zh-CN" altLang="en-US" sz="2000" dirty="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4459122" y="1401873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7446607" y="1575409"/>
            <a:ext cx="1517881" cy="4716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000" dirty="0"/>
              <a:t>第一对边频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6732240" y="1863441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7446607" y="2062201"/>
            <a:ext cx="1517881" cy="4716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000" dirty="0"/>
              <a:t>第二对边频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6719710" y="2350233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7446607" y="2615887"/>
            <a:ext cx="1517881" cy="47169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000" dirty="0"/>
              <a:t>第三对边频</a:t>
            </a: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6715187" y="2871553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39552" y="3735649"/>
                <a:ext cx="8424936" cy="14639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𝑱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zh-CN" altLang="en-US" sz="240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i="1">
                            <a:latin typeface="Cambria Math"/>
                          </a:rPr>
                          <m:t>𝒇</m:t>
                        </m:r>
                      </m:sub>
                    </m:sSub>
                    <m:r>
                      <a:rPr lang="en-US" altLang="zh-CN" sz="2400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dirty="0"/>
                  <a:t>是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阶贝塞尔函数在</a:t>
                </a:r>
                <a:r>
                  <a:rPr lang="en-US" altLang="zh-CN" sz="2400" i="1" dirty="0"/>
                  <a:t>M</a:t>
                </a:r>
                <a:r>
                  <a:rPr lang="en-US" altLang="zh-CN" sz="2400" i="1" baseline="-25000" dirty="0"/>
                  <a:t>f</a:t>
                </a:r>
                <a:r>
                  <a:rPr lang="zh-CN" altLang="en-US" sz="2400" dirty="0"/>
                  <a:t>位置的值，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𝑱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  <m:r>
                      <a:rPr lang="en-US" altLang="zh-CN" sz="24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dirty="0"/>
                  <a:t>为各频率分量的振幅。在所有的边频组合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𝝎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𝒄</m:t>
                        </m:r>
                      </m:sub>
                    </m:sSub>
                    <m:r>
                      <a:rPr lang="en-US" altLang="zh-CN" sz="2400" b="1" i="1" smtClean="0">
                        <a:latin typeface="Cambria Math"/>
                        <a:ea typeface="Cambria Math"/>
                      </a:rPr>
                      <m:t>±</m:t>
                    </m:r>
                    <m:r>
                      <a:rPr lang="en-US" altLang="zh-CN" sz="2400" b="1" i="1" smtClean="0">
                        <a:latin typeface="Cambria Math"/>
                        <a:ea typeface="Cambria Math"/>
                      </a:rPr>
                      <m:t>𝒏</m:t>
                    </m:r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</m:oMath>
                </a14:m>
                <a:r>
                  <a:rPr lang="zh-CN" altLang="en-US" sz="2400" dirty="0"/>
                  <a:t>中，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为偶数时两个边频极性相同，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为奇数时两个边频极性相反。</a:t>
                </a: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735649"/>
                <a:ext cx="8424936" cy="1463927"/>
              </a:xfrm>
              <a:prstGeom prst="rect">
                <a:avLst/>
              </a:prstGeom>
              <a:blipFill rotWithShape="1">
                <a:blip r:embed="rId3"/>
                <a:stretch>
                  <a:fillRect l="-1158" t="-833"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828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955090"/>
              </p:ext>
            </p:extLst>
          </p:nvPr>
        </p:nvGraphicFramePr>
        <p:xfrm>
          <a:off x="683568" y="1053331"/>
          <a:ext cx="6408712" cy="3950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070080" imgH="1892520" progId="">
                  <p:embed/>
                </p:oleObj>
              </mc:Choice>
              <mc:Fallback>
                <p:oleObj r:id="rId2" imgW="3070080" imgH="189252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053331"/>
                        <a:ext cx="6408712" cy="3950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93882" y="495999"/>
                <a:ext cx="5418278" cy="557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 dirty="0"/>
                  <a:t>n</a:t>
                </a:r>
                <a:r>
                  <a:rPr lang="zh-CN" altLang="en-US" sz="2400" dirty="0"/>
                  <a:t>阶贝塞尔函数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𝑱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  <m:r>
                      <a:rPr lang="en-US" altLang="zh-CN" sz="24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zh-CN" altLang="zh-CN" sz="2400" dirty="0"/>
                  <a:t>和</a:t>
                </a:r>
                <a:r>
                  <a:rPr lang="en-US" altLang="zh-CN" sz="2400" i="1" dirty="0"/>
                  <a:t>n</a:t>
                </a:r>
                <a:r>
                  <a:rPr lang="zh-CN" altLang="zh-CN" sz="2400" dirty="0"/>
                  <a:t>的关系</a:t>
                </a:r>
                <a:r>
                  <a:rPr lang="en-US" altLang="zh-CN" sz="2400" dirty="0"/>
                  <a:t>: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82" y="495999"/>
                <a:ext cx="5418278" cy="557332"/>
              </a:xfrm>
              <a:prstGeom prst="rect">
                <a:avLst/>
              </a:prstGeom>
              <a:blipFill rotWithShape="1">
                <a:blip r:embed="rId5"/>
                <a:stretch>
                  <a:fillRect l="-1687" t="-2174" r="-1125" b="-17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818675" y="5066483"/>
            <a:ext cx="6993686" cy="1458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曲线特点：</a:t>
            </a:r>
            <a:endParaRPr lang="en-US" altLang="zh-CN" sz="2400" dirty="0"/>
          </a:p>
          <a:p>
            <a:r>
              <a:rPr lang="en-US" altLang="zh-CN" sz="2400" dirty="0"/>
              <a:t>1. n</a:t>
            </a:r>
            <a:r>
              <a:rPr lang="zh-CN" altLang="zh-CN" sz="2400" dirty="0"/>
              <a:t>越大，总体幅度越小；</a:t>
            </a:r>
          </a:p>
          <a:p>
            <a:r>
              <a:rPr lang="en-US" altLang="zh-CN" sz="2400" dirty="0"/>
              <a:t>2. </a:t>
            </a:r>
            <a:r>
              <a:rPr lang="en-US" altLang="zh-CN" sz="2400" i="1" dirty="0"/>
              <a:t>M</a:t>
            </a:r>
            <a:r>
              <a:rPr lang="en-US" altLang="zh-CN" sz="2400" i="1" baseline="-25000" dirty="0"/>
              <a:t>f</a:t>
            </a:r>
            <a:r>
              <a:rPr lang="zh-CN" altLang="zh-CN" sz="2400" dirty="0"/>
              <a:t>越大，总体幅度越小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666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18592" y="548680"/>
                <a:ext cx="3317304" cy="9783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sz="2400" dirty="0"/>
                  <a:t>例：当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=</m:t>
                    </m:r>
                    <m:r>
                      <a:rPr lang="zh-CN" altLang="en-US" sz="2400" b="1" i="1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sz="2400" dirty="0"/>
                  <a:t>时，</a:t>
                </a:r>
                <a:r>
                  <a:rPr lang="en-US" altLang="zh-CN" sz="2400" dirty="0"/>
                  <a:t>FM</a:t>
                </a:r>
                <a:r>
                  <a:rPr lang="zh-CN" altLang="en-US" sz="2400" dirty="0"/>
                  <a:t>信号的频谱如右图所示。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92" y="548680"/>
                <a:ext cx="3317304" cy="978345"/>
              </a:xfrm>
              <a:prstGeom prst="rect">
                <a:avLst/>
              </a:prstGeom>
              <a:blipFill rotWithShape="1">
                <a:blip r:embed="rId3"/>
                <a:stretch>
                  <a:fillRect l="-2757" t="-1250" r="-10110" b="-11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/>
          <p:cNvGrpSpPr/>
          <p:nvPr/>
        </p:nvGrpSpPr>
        <p:grpSpPr>
          <a:xfrm>
            <a:off x="4066085" y="404664"/>
            <a:ext cx="4483080" cy="2456009"/>
            <a:chOff x="3635896" y="620688"/>
            <a:chExt cx="4483080" cy="2456009"/>
          </a:xfrm>
        </p:grpSpPr>
        <p:pic>
          <p:nvPicPr>
            <p:cNvPr id="35635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5896" y="620688"/>
              <a:ext cx="4483080" cy="245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" name="对象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80317158"/>
                    </p:ext>
                  </p:extLst>
                </p:nvPr>
              </p:nvGraphicFramePr>
              <p:xfrm>
                <a:off x="5652120" y="2208501"/>
                <a:ext cx="2160238" cy="36004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5" imgW="1371600" imgH="228600" progId="Equation.DSMT4">
                        <p:embed/>
                      </p:oleObj>
                    </mc:Choice>
                    <mc:Fallback>
                      <p:oleObj name="Equation" r:id="rId5" imgW="1371600" imgH="228600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652120" y="2208501"/>
                              <a:ext cx="2160238" cy="3600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" name="对象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31494376"/>
                    </p:ext>
                  </p:extLst>
                </p:nvPr>
              </p:nvGraphicFramePr>
              <p:xfrm>
                <a:off x="5652120" y="2208501"/>
                <a:ext cx="2160238" cy="36004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56358" name="Equation" r:id="rId7" imgW="1371600" imgH="228600" progId="Equation.DSMT4">
                        <p:embed/>
                      </p:oleObj>
                    </mc:Choice>
                    <mc:Fallback>
                      <p:oleObj name="Equation" r:id="rId7" imgW="1371600" imgH="228600" progId="Equation.DSMT4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652120" y="2208501"/>
                              <a:ext cx="2160238" cy="36004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/>
                <p:cNvSpPr/>
                <p:nvPr/>
              </p:nvSpPr>
              <p:spPr>
                <a:xfrm>
                  <a:off x="4867741" y="1772816"/>
                  <a:ext cx="966867" cy="4247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b="1" i="1">
                                <a:latin typeface="Cambria Math"/>
                              </a:rPr>
                              <m:t>𝝎</m:t>
                            </m:r>
                          </m:e>
                          <m:sub>
                            <m:r>
                              <a:rPr lang="zh-CN" altLang="en-US" sz="1800" b="1" i="1">
                                <a:latin typeface="Cambria Math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CN" sz="1800" b="1" i="1" smtClean="0">
                            <a:latin typeface="Cambria Math"/>
                          </a:rPr>
                          <m:t>−</m:t>
                        </m:r>
                        <m:r>
                          <a:rPr lang="zh-CN" altLang="en-US" sz="1800" b="1" i="1">
                            <a:latin typeface="Cambria Math"/>
                          </a:rPr>
                          <m:t>𝜴</m:t>
                        </m:r>
                      </m:oMath>
                    </m:oMathPara>
                  </a14:m>
                  <a:endParaRPr lang="zh-CN" altLang="en-US" sz="1800" dirty="0"/>
                </a:p>
              </p:txBody>
            </p:sp>
          </mc:Choice>
          <mc:Fallback xmlns=""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7741" y="1772816"/>
                  <a:ext cx="966867" cy="4247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矩形 5"/>
          <p:cNvSpPr/>
          <p:nvPr/>
        </p:nvSpPr>
        <p:spPr>
          <a:xfrm>
            <a:off x="432587" y="1700271"/>
            <a:ext cx="1859805" cy="526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0000FF"/>
                </a:solidFill>
              </a:rPr>
              <a:t>频谱特点：</a:t>
            </a:r>
            <a:endParaRPr lang="zh-CN" altLang="en-US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32587" y="2226825"/>
                <a:ext cx="3786871" cy="493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1. </a:t>
                </a:r>
                <a:r>
                  <a:rPr lang="zh-CN" altLang="zh-CN" sz="2400" dirty="0"/>
                  <a:t>边频无限多，间隔都是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latin typeface="Cambria Math"/>
                      </a:rPr>
                      <m:t>𝜴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87" y="2226825"/>
                <a:ext cx="3786871" cy="493148"/>
              </a:xfrm>
              <a:prstGeom prst="rect">
                <a:avLst/>
              </a:prstGeom>
              <a:blipFill rotWithShape="1">
                <a:blip r:embed="rId10"/>
                <a:stretch>
                  <a:fillRect l="-2576" t="-7407" r="-644" b="-28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432587" y="2731493"/>
                <a:ext cx="8116578" cy="971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2. </a:t>
                </a:r>
                <a:r>
                  <a:rPr lang="zh-CN" altLang="zh-CN" sz="2400" dirty="0"/>
                  <a:t>振幅由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𝒎</m:t>
                        </m:r>
                      </m:sub>
                    </m:sSub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𝑱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  <m:r>
                      <a:rPr lang="en-US" altLang="zh-CN" sz="24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dirty="0"/>
                  <a:t>决定，</a:t>
                </a:r>
                <a:r>
                  <a:rPr lang="zh-CN" altLang="zh-CN" sz="2400" dirty="0"/>
                  <a:t>当</a:t>
                </a:r>
                <a:r>
                  <a:rPr lang="en-US" altLang="zh-CN" sz="2400" dirty="0"/>
                  <a:t>n</a:t>
                </a:r>
                <a:r>
                  <a:rPr lang="zh-CN" altLang="zh-CN" sz="2400" dirty="0"/>
                  <a:t>为偶数，两边频同极性，当</a:t>
                </a:r>
                <a:r>
                  <a:rPr lang="en-US" altLang="zh-CN" sz="2400" dirty="0"/>
                  <a:t>n</a:t>
                </a:r>
                <a:r>
                  <a:rPr lang="zh-CN" altLang="zh-CN" sz="2400" dirty="0"/>
                  <a:t>为奇数，则反极性。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87" y="2731493"/>
                <a:ext cx="8116578" cy="971869"/>
              </a:xfrm>
              <a:prstGeom prst="rect">
                <a:avLst/>
              </a:prstGeom>
              <a:blipFill rotWithShape="1">
                <a:blip r:embed="rId11"/>
                <a:stretch>
                  <a:fillRect l="-1202" t="-1250" r="-225" b="-11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32587" y="3660068"/>
                <a:ext cx="8136904" cy="577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zh-CN" altLang="zh-CN" sz="2400" dirty="0"/>
                  <a:t>越大，具有较大振幅的边频分量越多。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87" y="3660068"/>
                <a:ext cx="8136904" cy="577530"/>
              </a:xfrm>
              <a:prstGeom prst="rect">
                <a:avLst/>
              </a:prstGeom>
              <a:blipFill rotWithShape="1">
                <a:blip r:embed="rId12"/>
                <a:stretch>
                  <a:fillRect l="-1199" t="-2105" b="-1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95536" y="4164124"/>
                <a:ext cx="7983929" cy="15247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/>
                  <a:t>4. </a:t>
                </a:r>
                <a:r>
                  <a:rPr lang="zh-CN" altLang="zh-CN" sz="2400" dirty="0"/>
                  <a:t>对</a:t>
                </a:r>
                <a:r>
                  <a:rPr lang="zh-CN" altLang="en-US" sz="2400" dirty="0"/>
                  <a:t>所有</a:t>
                </a:r>
                <a:r>
                  <a:rPr lang="zh-CN" altLang="zh-CN" sz="2400" dirty="0"/>
                  <a:t>的</a:t>
                </a:r>
                <a:r>
                  <a:rPr lang="en-US" altLang="zh-CN" sz="2400" i="1" dirty="0"/>
                  <a:t>n</a:t>
                </a:r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𝑱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  <m:r>
                      <a:rPr lang="en-US" altLang="zh-CN" sz="2400" b="1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dirty="0"/>
                  <a:t>都存在过零点，因此一定存在某些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zh-CN" altLang="en-US" sz="2400" dirty="0"/>
                  <a:t>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𝑱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1" i="1">
                                <a:latin typeface="Cambria Math"/>
                              </a:rPr>
                              <m:t>𝑴</m:t>
                            </m:r>
                          </m:e>
                          <m:sub>
                            <m:r>
                              <a:rPr lang="zh-CN" altLang="en-US" sz="2400" b="1" i="1">
                                <a:latin typeface="Cambria Math"/>
                              </a:rPr>
                              <m:t>𝒇</m:t>
                            </m:r>
                          </m:sub>
                        </m:sSub>
                      </m:e>
                    </m:d>
                    <m:r>
                      <a:rPr lang="en-US" altLang="zh-CN" sz="2400" b="1" i="1" smtClean="0">
                        <a:latin typeface="Cambria Math"/>
                      </a:rPr>
                      <m:t>=</m:t>
                    </m:r>
                    <m:r>
                      <a:rPr lang="en-US" altLang="zh-CN" sz="2400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2400" dirty="0"/>
                  <a:t>。例如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𝑱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zh-CN" altLang="en-US" sz="2400" b="1">
                        <a:latin typeface="Cambria Math"/>
                      </a:rPr>
                      <m:t>(</m:t>
                    </m:r>
                    <m:r>
                      <a:rPr lang="zh-CN" altLang="en-US" sz="2400" b="1" i="1">
                        <a:latin typeface="Cambria Math"/>
                      </a:rPr>
                      <m:t>𝟐</m:t>
                    </m:r>
                    <m:r>
                      <a:rPr lang="zh-CN" altLang="en-US" sz="2400" b="1">
                        <a:latin typeface="Cambria Math"/>
                      </a:rPr>
                      <m:t>.</m:t>
                    </m:r>
                    <m:r>
                      <a:rPr lang="zh-CN" altLang="en-US" sz="2400" b="1" i="1">
                        <a:latin typeface="Cambria Math"/>
                      </a:rPr>
                      <m:t>𝟒</m:t>
                    </m:r>
                    <m:r>
                      <a:rPr lang="zh-CN" altLang="en-US" sz="2400" b="1">
                        <a:latin typeface="Cambria Math"/>
                      </a:rPr>
                      <m:t>)=</m:t>
                    </m:r>
                    <m:r>
                      <a:rPr lang="zh-CN" altLang="en-US" sz="2400" b="1" i="1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zh-CN" altLang="zh-CN" sz="2400" dirty="0"/>
                  <a:t>说明</a:t>
                </a:r>
                <a:r>
                  <a:rPr lang="zh-CN" altLang="en-US" sz="2400" dirty="0"/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latin typeface="Cambria Math"/>
                          </a:rPr>
                          <m:t>𝒇</m:t>
                        </m:r>
                      </m:sub>
                    </m:sSub>
                    <m:r>
                      <a:rPr lang="en-US" altLang="zh-CN" sz="2400" b="1" i="1" smtClean="0">
                        <a:latin typeface="Cambria Math"/>
                      </a:rPr>
                      <m:t>=</m:t>
                    </m:r>
                    <m:r>
                      <a:rPr lang="en-US" altLang="zh-CN" sz="2400" b="1" i="1" smtClean="0">
                        <a:latin typeface="Cambria Math"/>
                      </a:rPr>
                      <m:t>𝟐</m:t>
                    </m:r>
                    <m:r>
                      <a:rPr lang="en-US" altLang="zh-CN" sz="2400" b="1" i="1" smtClean="0">
                        <a:latin typeface="Cambria Math"/>
                      </a:rPr>
                      <m:t>.</m:t>
                    </m:r>
                    <m:r>
                      <a:rPr lang="en-US" altLang="zh-CN" sz="2400" b="1" i="1" smtClean="0">
                        <a:latin typeface="Cambria Math"/>
                      </a:rPr>
                      <m:t>𝟒</m:t>
                    </m:r>
                  </m:oMath>
                </a14:m>
                <a:r>
                  <a:rPr lang="zh-CN" altLang="en-US" sz="2400" dirty="0"/>
                  <a:t>时无载波分量。与</a:t>
                </a:r>
                <a:r>
                  <a:rPr lang="en-US" altLang="zh-CN" sz="2400" dirty="0"/>
                  <a:t>AM</a:t>
                </a:r>
                <a:r>
                  <a:rPr lang="zh-CN" altLang="en-US" sz="2400" dirty="0"/>
                  <a:t>不同，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FM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不一定总是有载波分量</a:t>
                </a:r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164124"/>
                <a:ext cx="7983929" cy="1524713"/>
              </a:xfrm>
              <a:prstGeom prst="rect">
                <a:avLst/>
              </a:prstGeom>
              <a:blipFill rotWithShape="1">
                <a:blip r:embed="rId13"/>
                <a:stretch>
                  <a:fillRect l="-1221" t="-800" r="-382" b="-6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395536" y="5589240"/>
            <a:ext cx="8136904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5. </a:t>
            </a:r>
            <a:r>
              <a:rPr lang="zh-CN" altLang="zh-CN" sz="2400" dirty="0"/>
              <a:t>调频</a:t>
            </a:r>
            <a:r>
              <a:rPr lang="zh-CN" altLang="en-US" sz="2400" dirty="0"/>
              <a:t>后的频谱与调制信号不同，</a:t>
            </a:r>
            <a:r>
              <a:rPr lang="zh-CN" altLang="zh-CN" sz="2400" dirty="0"/>
              <a:t>不是不失真的频谱搬移过程，而是非</a:t>
            </a:r>
            <a:r>
              <a:rPr lang="zh-CN" altLang="en-US" sz="2400" dirty="0"/>
              <a:t>线性</a:t>
            </a:r>
            <a:r>
              <a:rPr lang="zh-CN" altLang="zh-CN" sz="2400" dirty="0"/>
              <a:t>频谱变换。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4888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548680"/>
            <a:ext cx="6984776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调频波的功率：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764590" y="811957"/>
                <a:ext cx="1449692" cy="11769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/>
                        </a:rPr>
                        <m:t>𝑃</m:t>
                      </m:r>
                      <m:r>
                        <a:rPr lang="zh-CN" altLang="en-US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>
                              <a:latin typeface="Cambria Math"/>
                            </a:rPr>
                            <m:t>2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590" y="811957"/>
                <a:ext cx="1449692" cy="11769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3383" y="2132856"/>
            <a:ext cx="6984776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调频波的有效带宽：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316437" y="2878478"/>
                <a:ext cx="5795689" cy="10627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chemeClr val="tx1"/>
                        </a:solidFill>
                        <a:latin typeface="Cambria Math"/>
                      </a:rPr>
                      <m:t>𝑩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𝑾</m:t>
                        </m:r>
                      </m:e>
                      <m:sub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𝑪𝑹</m:t>
                        </m:r>
                      </m:sub>
                    </m:sSub>
                    <m:r>
                      <a:rPr lang="zh-CN" altLang="en-US" sz="2400" b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/>
                      </a:rPr>
                      <m:t>𝟐</m:t>
                    </m:r>
                    <m:r>
                      <a:rPr lang="zh-CN" altLang="en-US" sz="2400" b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𝒇</m:t>
                        </m:r>
                      </m:sub>
                    </m:sSub>
                    <m:r>
                      <a:rPr lang="zh-CN" altLang="en-US" sz="2400" b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/>
                      </a:rPr>
                      <m:t>𝟏</m:t>
                    </m:r>
                    <m:r>
                      <a:rPr lang="zh-CN" altLang="en-US" sz="2400" b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/>
                      </a:rPr>
                      <m:t>𝑭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 （卡森公式）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注意：若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𝑴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𝒇</m:t>
                        </m:r>
                      </m:sub>
                    </m:sSub>
                    <m:r>
                      <a:rPr lang="zh-CN" altLang="en-US" sz="240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不是整数，则向上取整。</a:t>
                </a: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437" y="2878478"/>
                <a:ext cx="5795689" cy="1062727"/>
              </a:xfrm>
              <a:prstGeom prst="rect">
                <a:avLst/>
              </a:prstGeom>
              <a:blipFill rotWithShape="1">
                <a:blip r:embed="rId3"/>
                <a:stretch>
                  <a:fillRect l="-1682" t="-1143" r="-946" b="-4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44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透明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透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/>
      <a:bodyPr wrap="none">
        <a:spAutoFit/>
      </a:bodyPr>
      <a:lstStyle>
        <a:defPPr>
          <a:defRPr sz="2400" dirty="0"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19949</TotalTime>
  <Words>3336</Words>
  <Application>Microsoft Office PowerPoint</Application>
  <PresentationFormat>全屏显示(4:3)</PresentationFormat>
  <Paragraphs>277</Paragraphs>
  <Slides>43</Slides>
  <Notes>0</Notes>
  <HiddenSlides>0</HiddenSlides>
  <MMClips>0</MMClips>
  <ScaleCrop>false</ScaleCrop>
  <HeadingPairs>
    <vt:vector size="10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43</vt:i4>
      </vt:variant>
      <vt:variant>
        <vt:lpstr>自定义放映</vt:lpstr>
      </vt:variant>
      <vt:variant>
        <vt:i4>4</vt:i4>
      </vt:variant>
    </vt:vector>
  </HeadingPairs>
  <TitlesOfParts>
    <vt:vector size="58" baseType="lpstr">
      <vt:lpstr>楷体_GB2312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透明</vt:lpstr>
      <vt:lpstr>Equation</vt:lpstr>
      <vt:lpstr>Microsoft 公式 3.0</vt:lpstr>
      <vt:lpstr>期末复习</vt:lpstr>
      <vt:lpstr>考试信息</vt:lpstr>
      <vt:lpstr>调制与解调基本概念</vt:lpstr>
      <vt:lpstr>PowerPoint 演示文稿</vt:lpstr>
      <vt:lpstr>PowerPoint 演示文稿</vt:lpstr>
      <vt:lpstr>振幅调制与解调</vt:lpstr>
      <vt:lpstr>调幅的基本原理</vt:lpstr>
      <vt:lpstr>PowerPoint 演示文稿</vt:lpstr>
      <vt:lpstr>PowerPoint 演示文稿</vt:lpstr>
      <vt:lpstr>乘法器电路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混频电路</vt:lpstr>
      <vt:lpstr>PowerPoint 演示文稿</vt:lpstr>
      <vt:lpstr>PowerPoint 演示文稿</vt:lpstr>
      <vt:lpstr>PowerPoint 演示文稿</vt:lpstr>
      <vt:lpstr>PowerPoint 演示文稿</vt:lpstr>
      <vt:lpstr>包络检波</vt:lpstr>
      <vt:lpstr>PowerPoint 演示文稿</vt:lpstr>
      <vt:lpstr>PowerPoint 演示文稿</vt:lpstr>
      <vt:lpstr>PowerPoint 演示文稿</vt:lpstr>
      <vt:lpstr>PowerPoint 演示文稿</vt:lpstr>
      <vt:lpstr>角度调制与解调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 2</vt:lpstr>
      <vt:lpstr>自定义放映 1</vt:lpstr>
      <vt:lpstr>11111</vt:lpstr>
      <vt:lpstr>2222222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zjj</dc:creator>
  <cp:lastModifiedBy>Chaoxian Zhang</cp:lastModifiedBy>
  <cp:revision>961</cp:revision>
  <dcterms:created xsi:type="dcterms:W3CDTF">2003-08-22T04:33:30Z</dcterms:created>
  <dcterms:modified xsi:type="dcterms:W3CDTF">2026-05-31T14:19:37Z</dcterms:modified>
</cp:coreProperties>
</file>