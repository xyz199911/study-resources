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324" r:id="rId2"/>
    <p:sldId id="361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3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401" r:id="rId40"/>
    <p:sldId id="402" r:id="rId41"/>
    <p:sldId id="403" r:id="rId42"/>
    <p:sldId id="404" r:id="rId43"/>
    <p:sldId id="405" r:id="rId44"/>
    <p:sldId id="406" r:id="rId45"/>
    <p:sldId id="392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CB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/>
    <p:restoredTop sz="89074"/>
  </p:normalViewPr>
  <p:slideViewPr>
    <p:cSldViewPr snapToGrid="0">
      <p:cViewPr varScale="1">
        <p:scale>
          <a:sx n="73" d="100"/>
          <a:sy n="73" d="100"/>
        </p:scale>
        <p:origin x="618" y="60"/>
      </p:cViewPr>
      <p:guideLst>
        <p:guide orient="horz" pos="219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656F9-9585-4187-A8F5-014ED01509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BFF95BF-DEE5-4FB7-A44C-59F0156762D4}" type="slidenum">
              <a:rPr lang="zh-CN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695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415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07BB7A-A149-4CF9-88D5-BE49FE6EEF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63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47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edv.com/posts/list/21980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6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3.1 GPIO</a:t>
            </a:r>
            <a:r>
              <a:rPr lang="zh-CN" altLang="en-US" sz="6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的基本原理和</a:t>
            </a:r>
            <a:r>
              <a:rPr lang="en-US" altLang="zh-CN" sz="6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LED</a:t>
            </a:r>
            <a:r>
              <a:rPr lang="zh-CN" altLang="en-US" sz="6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闪烁</a:t>
            </a:r>
            <a:endParaRPr kumimoji="0" lang="en-US" altLang="zh-CN" sz="6200" kern="1200" cap="none" spc="0" normalizeH="0" baseline="0" noProof="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cs typeface="+mn-cs"/>
              <a:sym typeface="+mn-ea"/>
            </a:endParaRP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ea typeface="宋体" panose="02010600030101010101" pitchFamily="2" charset="-122"/>
              </a:rPr>
              <a:t>目录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3622675" y="1905000"/>
            <a:ext cx="4724400" cy="685800"/>
            <a:chOff x="1296" y="1824"/>
            <a:chExt cx="2976" cy="432"/>
          </a:xfrm>
        </p:grpSpPr>
        <p:sp>
          <p:nvSpPr>
            <p:cNvPr id="141316" name="AutoShape 4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36" name="AutoShape 5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7" name="Text Box 6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 GPIO</a:t>
              </a:r>
              <a:r>
                <a:rPr lang="zh-CN" altLang="en-US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基本结构和工作方式</a:t>
              </a:r>
              <a:endPara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8" name="Text Box 7"/>
            <p:cNvSpPr txBox="1">
              <a:spLocks noChangeArrowheads="1"/>
            </p:cNvSpPr>
            <p:nvPr/>
          </p:nvSpPr>
          <p:spPr bwMode="gray">
            <a:xfrm>
              <a:off x="1392" y="1886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5124" name="Group 8"/>
          <p:cNvGrpSpPr>
            <a:grpSpLocks/>
          </p:cNvGrpSpPr>
          <p:nvPr/>
        </p:nvGrpSpPr>
        <p:grpSpPr bwMode="auto">
          <a:xfrm>
            <a:off x="3657600" y="2743200"/>
            <a:ext cx="4724400" cy="685800"/>
            <a:chOff x="1296" y="1824"/>
            <a:chExt cx="2976" cy="432"/>
          </a:xfrm>
        </p:grpSpPr>
        <p:sp>
          <p:nvSpPr>
            <p:cNvPr id="141321" name="AutoShape 9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32" name="AutoShape 10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3" name="Text Box 11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GPIO</a:t>
              </a:r>
              <a:r>
                <a:rPr lang="zh-CN" altLang="en-US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寄存器说明</a:t>
              </a:r>
              <a:endPara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4" name="Text Box 12"/>
            <p:cNvSpPr txBox="1">
              <a:spLocks noChangeArrowheads="1"/>
            </p:cNvSpPr>
            <p:nvPr/>
          </p:nvSpPr>
          <p:spPr bwMode="gray">
            <a:xfrm>
              <a:off x="1392" y="1886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5125" name="Group 13"/>
          <p:cNvGrpSpPr>
            <a:grpSpLocks/>
          </p:cNvGrpSpPr>
          <p:nvPr/>
        </p:nvGrpSpPr>
        <p:grpSpPr bwMode="auto">
          <a:xfrm>
            <a:off x="3657600" y="3581400"/>
            <a:ext cx="4724400" cy="685800"/>
            <a:chOff x="1296" y="1824"/>
            <a:chExt cx="2976" cy="432"/>
          </a:xfrm>
        </p:grpSpPr>
        <p:sp>
          <p:nvSpPr>
            <p:cNvPr id="141326" name="AutoShape 14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28" name="AutoShape 15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9" name="Text Box 16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STM32F10x GPIO</a:t>
              </a:r>
              <a:r>
                <a:rPr lang="zh-CN" altLang="en-US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引脚说明</a:t>
              </a:r>
              <a:endPara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0" name="Text Box 17"/>
            <p:cNvSpPr txBox="1">
              <a:spLocks noChangeArrowheads="1"/>
            </p:cNvSpPr>
            <p:nvPr/>
          </p:nvSpPr>
          <p:spPr bwMode="gray">
            <a:xfrm>
              <a:off x="1392" y="1886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2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93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STM32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引脚说明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46" y="1063774"/>
            <a:ext cx="4927192" cy="39400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矩形 1"/>
          <p:cNvSpPr>
            <a:spLocks noChangeArrowheads="1"/>
          </p:cNvSpPr>
          <p:nvPr/>
        </p:nvSpPr>
        <p:spPr bwMode="auto">
          <a:xfrm>
            <a:off x="5951538" y="2276476"/>
            <a:ext cx="45720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STM32F103R6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 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一共有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一共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16X3+3=51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GPIOA0~A15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GPIOB0~B15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GPIOC0~C15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GPIOD0~D2</a:t>
            </a:r>
          </a:p>
        </p:txBody>
      </p:sp>
    </p:spTree>
    <p:extLst>
      <p:ext uri="{BB962C8B-B14F-4D97-AF65-F5344CB8AC3E}">
        <p14:creationId xmlns:p14="http://schemas.microsoft.com/office/powerpoint/2010/main" val="68798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4464050" y="557213"/>
            <a:ext cx="40084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基本结构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9" y="3968750"/>
            <a:ext cx="4911725" cy="22352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1"/>
          <p:cNvSpPr txBox="1">
            <a:spLocks noChangeArrowheads="1"/>
          </p:cNvSpPr>
          <p:nvPr/>
        </p:nvSpPr>
        <p:spPr bwMode="auto">
          <a:xfrm>
            <a:off x="7032625" y="4076700"/>
            <a:ext cx="3240088" cy="1631216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的大部分引脚除了当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使用外，还可以复用为外设功能引脚（比如串口），这部分知识我们会在后面讲解</a:t>
            </a:r>
            <a:r>
              <a:rPr lang="zh-CN" altLang="en-US" sz="2000" dirty="0" smtClean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269" y="557213"/>
            <a:ext cx="4053189" cy="33362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734" y="786111"/>
            <a:ext cx="3172862" cy="273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1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1703389" y="1557339"/>
            <a:ext cx="8605837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3200" b="1">
                <a:ea typeface="宋体" pitchFamily="2" charset="-122"/>
              </a:rPr>
              <a:t> </a:t>
            </a:r>
            <a:endParaRPr lang="en-US" altLang="zh-CN" sz="2800" b="1">
              <a:ea typeface="宋体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ea typeface="宋体" pitchFamily="2" charset="-122"/>
            </a:endParaRPr>
          </a:p>
          <a:p>
            <a:pPr marL="285750" indent="-285750" eaLnBrk="1" hangingPunct="1">
              <a:buFont typeface="Wingdings" pitchFamily="2" charset="2"/>
              <a:buChar char="u"/>
              <a:defRPr/>
            </a:pPr>
            <a:endParaRPr lang="en-US" altLang="zh-CN" sz="3200" b="1" dirty="0"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>
                <a:ea typeface="宋体" pitchFamily="2" charset="-122"/>
              </a:rPr>
              <a:t> </a:t>
            </a: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0243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基本结构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571803"/>
            <a:ext cx="8856709" cy="558739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/>
          <p:cNvSpPr txBox="1">
            <a:spLocks noChangeArrowheads="1"/>
          </p:cNvSpPr>
          <p:nvPr/>
        </p:nvSpPr>
        <p:spPr bwMode="auto">
          <a:xfrm>
            <a:off x="9120188" y="2997200"/>
            <a:ext cx="620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(FT)</a:t>
            </a:r>
            <a:endParaRPr lang="zh-CN" altLang="en-US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110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1703389" y="1557339"/>
            <a:ext cx="8605837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3200" b="1">
                <a:ea typeface="宋体" pitchFamily="2" charset="-122"/>
              </a:rPr>
              <a:t> </a:t>
            </a:r>
            <a:endParaRPr lang="en-US" altLang="zh-CN" sz="2800" b="1">
              <a:ea typeface="宋体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ea typeface="宋体" pitchFamily="2" charset="-122"/>
            </a:endParaRPr>
          </a:p>
          <a:p>
            <a:pPr marL="285750" indent="-285750" eaLnBrk="1" hangingPunct="1">
              <a:buFont typeface="Wingdings" pitchFamily="2" charset="2"/>
              <a:buChar char="u"/>
              <a:defRPr/>
            </a:pPr>
            <a:endParaRPr lang="en-US" altLang="zh-CN" sz="3200" b="1" dirty="0"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>
                <a:ea typeface="宋体" pitchFamily="2" charset="-122"/>
              </a:rPr>
              <a:t> </a:t>
            </a: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1267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9" name="TextBox 1"/>
          <p:cNvSpPr txBox="1">
            <a:spLocks noChangeArrowheads="1"/>
          </p:cNvSpPr>
          <p:nvPr/>
        </p:nvSpPr>
        <p:spPr bwMode="auto">
          <a:xfrm>
            <a:off x="1984376" y="1341438"/>
            <a:ext cx="755967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种输入模式：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输入浮空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输入上拉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输入下拉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模拟输入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种输出模式：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开漏输出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开漏复用功能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推挽式输出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推挽式复用功能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种工作模式的区别：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八种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口模式区别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.pdf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5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1703389" y="1557339"/>
            <a:ext cx="8605837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3200" b="1">
                <a:ea typeface="宋体" pitchFamily="2" charset="-122"/>
              </a:rPr>
              <a:t> </a:t>
            </a:r>
            <a:endParaRPr lang="en-US" altLang="zh-CN" sz="2800" b="1">
              <a:ea typeface="宋体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ea typeface="宋体" pitchFamily="2" charset="-122"/>
            </a:endParaRPr>
          </a:p>
          <a:p>
            <a:pPr marL="285750" indent="-285750" eaLnBrk="1" hangingPunct="1">
              <a:buFont typeface="Wingdings" pitchFamily="2" charset="2"/>
              <a:buChar char="u"/>
              <a:defRPr/>
            </a:pPr>
            <a:endParaRPr lang="en-US" altLang="zh-CN" sz="3200" b="1" dirty="0"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>
                <a:ea typeface="宋体" pitchFamily="2" charset="-122"/>
              </a:rPr>
              <a:t> </a:t>
            </a: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2291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3" name="TextBox 1"/>
          <p:cNvSpPr txBox="1">
            <a:spLocks noChangeArrowheads="1"/>
          </p:cNvSpPr>
          <p:nvPr/>
        </p:nvSpPr>
        <p:spPr bwMode="auto">
          <a:xfrm>
            <a:off x="1992314" y="1557339"/>
            <a:ext cx="7559675" cy="1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种最大翻转速度：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-2MHZ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-10MHz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-50MHz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010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321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—输入浮空模式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2133601"/>
            <a:ext cx="7451725" cy="42005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52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321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—输入上拉模式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34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025650"/>
            <a:ext cx="7524750" cy="41783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11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321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—输入下拉模式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36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2205039"/>
            <a:ext cx="6969125" cy="3925887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56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321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模拟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6" y="2060576"/>
            <a:ext cx="7102475" cy="409416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5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321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 dirty="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 dirty="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zh-CN" altLang="zh-CN" sz="3200" dirty="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 dirty="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zh-CN" sz="3200" dirty="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—开漏输出模式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2625725"/>
            <a:ext cx="7402513" cy="4211638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06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516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—开漏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复用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43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060576"/>
            <a:ext cx="7272338" cy="43275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5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2151064" y="1412875"/>
            <a:ext cx="8516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—推挽输出模式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133601"/>
            <a:ext cx="7308850" cy="41259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446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1992313" y="1397000"/>
            <a:ext cx="85153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GPIO的</a:t>
            </a:r>
            <a:r>
              <a:rPr lang="zh-CN" altLang="en-US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工作模式</a:t>
            </a:r>
            <a:r>
              <a:rPr lang="en-US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zh-CN" sz="3200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—推挽复用输出模式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2060576"/>
            <a:ext cx="7296150" cy="43275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10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/>
          <p:cNvSpPr txBox="1">
            <a:spLocks noChangeArrowheads="1"/>
          </p:cNvSpPr>
          <p:nvPr/>
        </p:nvSpPr>
        <p:spPr bwMode="auto">
          <a:xfrm>
            <a:off x="1992313" y="1397000"/>
            <a:ext cx="8515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上电复位后，</a:t>
            </a:r>
            <a:r>
              <a:rPr lang="en-US" altLang="zh-CN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en-US">
                <a:solidFill>
                  <a:srgbClr val="00279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默认为浮空状态，部分特殊功能引脚为特定状态。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4" y="2708275"/>
            <a:ext cx="7202487" cy="27368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114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1992313" y="1397000"/>
            <a:ext cx="85153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endParaRPr lang="en-US" altLang="zh-CN" sz="3200">
              <a:solidFill>
                <a:srgbClr val="00279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TextBox 1"/>
          <p:cNvSpPr txBox="1">
            <a:spLocks noChangeArrowheads="1"/>
          </p:cNvSpPr>
          <p:nvPr/>
        </p:nvSpPr>
        <p:spPr bwMode="auto">
          <a:xfrm>
            <a:off x="4151314" y="557213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3" name="矩形 1"/>
          <p:cNvSpPr>
            <a:spLocks noChangeArrowheads="1"/>
          </p:cNvSpPr>
          <p:nvPr/>
        </p:nvSpPr>
        <p:spPr bwMode="auto">
          <a:xfrm>
            <a:off x="2063750" y="1673225"/>
            <a:ext cx="7704138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推挽输出：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可以输出强高低电平，连接数字器件 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/>
            </a:r>
            <a:b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开漏输出：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只可以输出</a:t>
            </a:r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强低电平，高电平得靠外部电阻拉高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。输出端相当于三极管的集电极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要得到高电平状态需要上拉电阻才行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适合于做电流型的驱动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其吸收电流的能力相对强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一般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20ma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以内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参考帖子：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http://www.openedv.com/posts/list/21980.htm</a:t>
            </a:r>
            <a:endParaRPr lang="zh-CN" altLang="en-US" sz="2400" b="0" i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79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556" name="矩形 2"/>
          <p:cNvSpPr>
            <a:spLocks noChangeArrowheads="1"/>
          </p:cNvSpPr>
          <p:nvPr/>
        </p:nvSpPr>
        <p:spPr bwMode="auto">
          <a:xfrm>
            <a:off x="2135188" y="1484313"/>
            <a:ext cx="74168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每组</a:t>
            </a: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端口的寄存器包括：</a:t>
            </a:r>
            <a:endParaRPr lang="en-US" altLang="zh-CN" sz="3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两个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位配置寄存器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(GPIOx_CRL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GPIOx_CRH)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两个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位数据寄存器 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(GPIOx_IDR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GPIOx_ODR)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位置位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复位寄存器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(GPIOx_BSRR)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位复位寄存器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(GPIOx_BRR)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位锁定寄存器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(GPIOx_LCKR)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每个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端口位可以自由编程，然而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端口寄存器必须按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位字被访问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不允许半字或字节访问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2688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79650" y="2924176"/>
            <a:ext cx="6985000" cy="267811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  -  GPIOx_CRL 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端口配置低寄存器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   - GPIOx_CRH: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端口配置高寄存器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</a:t>
            </a: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- GPIOx_IDR: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端口输入寄存器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   - GPIOx_ODR: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端口输出寄存器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</a:t>
            </a: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- GPIOx_BSRR: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端口位设置</a:t>
            </a: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/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清除寄存器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</a:t>
            </a: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- GPIOx_BRR 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端口位清除寄存器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   - GPIOx_LCKR:</a:t>
            </a:r>
            <a:r>
              <a:rPr lang="zh-CN" altLang="en-US" sz="2400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端口配置锁存寄存器</a:t>
            </a:r>
            <a:endParaRPr lang="en-US" altLang="zh-CN" sz="240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24581" name="TextBox 1"/>
          <p:cNvSpPr txBox="1">
            <a:spLocks noChangeArrowheads="1"/>
          </p:cNvSpPr>
          <p:nvPr/>
        </p:nvSpPr>
        <p:spPr bwMode="auto">
          <a:xfrm>
            <a:off x="2208214" y="1628775"/>
            <a:ext cx="8143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是每组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口含下面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个寄存器。也就是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个寄存器，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一共可以控制一组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口。</a:t>
            </a:r>
          </a:p>
        </p:txBody>
      </p:sp>
    </p:spTree>
    <p:extLst>
      <p:ext uri="{BB962C8B-B14F-4D97-AF65-F5344CB8AC3E}">
        <p14:creationId xmlns:p14="http://schemas.microsoft.com/office/powerpoint/2010/main" val="192704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604" name="Picture 3" descr="GPIOx_CR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1089" y="1773238"/>
            <a:ext cx="7705725" cy="4603750"/>
          </a:xfrm>
        </p:spPr>
      </p:pic>
      <p:sp>
        <p:nvSpPr>
          <p:cNvPr id="2560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141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2.1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 端口配置低寄存器(GPIOx_CRL)</a:t>
            </a:r>
          </a:p>
        </p:txBody>
      </p:sp>
    </p:spTree>
    <p:extLst>
      <p:ext uri="{BB962C8B-B14F-4D97-AF65-F5344CB8AC3E}">
        <p14:creationId xmlns:p14="http://schemas.microsoft.com/office/powerpoint/2010/main" val="276985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141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2.1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 端口配置低寄存器(GPIOx_CRL)</a:t>
            </a: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844676"/>
            <a:ext cx="6729412" cy="41751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46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5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141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2.2 </a:t>
            </a:r>
            <a:r>
              <a:rPr lang="zh-CN" altLang="en-US" sz="2400">
                <a:solidFill>
                  <a:srgbClr val="00279F"/>
                </a:solidFill>
                <a:ea typeface="宋体" panose="02010600030101010101" pitchFamily="2" charset="-122"/>
              </a:rPr>
              <a:t>端口配置高寄存器(GPIOx_CRH)</a:t>
            </a:r>
            <a:endParaRPr lang="zh-CN" altLang="zh-CN" sz="2400">
              <a:solidFill>
                <a:srgbClr val="00279F"/>
              </a:solidFill>
              <a:ea typeface="宋体" panose="02010600030101010101" pitchFamily="2" charset="-122"/>
            </a:endParaRPr>
          </a:p>
        </p:txBody>
      </p:sp>
      <p:pic>
        <p:nvPicPr>
          <p:cNvPr id="27653" name="Picture 3" descr="GPIOx_CRH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1088" y="1844676"/>
            <a:ext cx="7345362" cy="4467225"/>
          </a:xfrm>
        </p:spPr>
      </p:pic>
    </p:spTree>
    <p:extLst>
      <p:ext uri="{BB962C8B-B14F-4D97-AF65-F5344CB8AC3E}">
        <p14:creationId xmlns:p14="http://schemas.microsoft.com/office/powerpoint/2010/main" val="402200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268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2.3 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端口输入数据寄存器(GPIOx_IDR)</a:t>
            </a:r>
          </a:p>
        </p:txBody>
      </p:sp>
      <p:pic>
        <p:nvPicPr>
          <p:cNvPr id="28677" name="Picture 3" descr="E:/ZXKJ/LY-STM32/课件/GPIOx_IDR.jpgGPIOx_IDR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4" y="2205038"/>
            <a:ext cx="7775575" cy="3306762"/>
          </a:xfrm>
        </p:spPr>
      </p:pic>
    </p:spTree>
    <p:extLst>
      <p:ext uri="{BB962C8B-B14F-4D97-AF65-F5344CB8AC3E}">
        <p14:creationId xmlns:p14="http://schemas.microsoft.com/office/powerpoint/2010/main" val="320383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70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268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2.4 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端口输出数据寄存器(GPIOx_ODR)</a:t>
            </a:r>
          </a:p>
        </p:txBody>
      </p:sp>
      <p:pic>
        <p:nvPicPr>
          <p:cNvPr id="29701" name="Picture 3" descr="E:/ZXKJ/LY-STM32/课件/GPIOx_ODR.jpgGPIOx_ODR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2349501"/>
            <a:ext cx="7920038" cy="3376613"/>
          </a:xfrm>
        </p:spPr>
      </p:pic>
    </p:spTree>
    <p:extLst>
      <p:ext uri="{BB962C8B-B14F-4D97-AF65-F5344CB8AC3E}">
        <p14:creationId xmlns:p14="http://schemas.microsoft.com/office/powerpoint/2010/main" val="203539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268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2.4 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端口输出数据寄存器(GPIOx_ODR)</a:t>
            </a: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2060576"/>
            <a:ext cx="6729412" cy="41751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8040688" y="4076701"/>
            <a:ext cx="1255712" cy="504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94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4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268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2.5 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端口</a:t>
            </a:r>
            <a:r>
              <a:rPr lang="zh-CN" altLang="en-US" sz="2400">
                <a:solidFill>
                  <a:srgbClr val="00279F"/>
                </a:solidFill>
                <a:ea typeface="宋体" panose="02010600030101010101" pitchFamily="2" charset="-122"/>
              </a:rPr>
              <a:t>位设置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400">
                <a:solidFill>
                  <a:srgbClr val="00279F"/>
                </a:solidFill>
                <a:ea typeface="宋体" panose="02010600030101010101" pitchFamily="2" charset="-122"/>
              </a:rPr>
              <a:t>清除寄存器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(GPIOx_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BSRR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2133601"/>
            <a:ext cx="7466012" cy="374332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658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GPIO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相关配置寄存器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4564" y="1268414"/>
            <a:ext cx="8453437" cy="7191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2.6 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端口</a:t>
            </a:r>
            <a:r>
              <a:rPr lang="zh-CN" altLang="en-US" sz="2400">
                <a:solidFill>
                  <a:srgbClr val="00279F"/>
                </a:solidFill>
                <a:ea typeface="宋体" panose="02010600030101010101" pitchFamily="2" charset="-122"/>
              </a:rPr>
              <a:t>位清除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寄存器(GPIOx_</a:t>
            </a:r>
            <a:r>
              <a:rPr lang="en-US" altLang="zh-CN" sz="2400">
                <a:solidFill>
                  <a:srgbClr val="00279F"/>
                </a:solidFill>
                <a:ea typeface="宋体" panose="02010600030101010101" pitchFamily="2" charset="-122"/>
              </a:rPr>
              <a:t>BRR</a:t>
            </a:r>
            <a:r>
              <a:rPr lang="zh-CN" altLang="zh-CN" sz="2400">
                <a:solidFill>
                  <a:srgbClr val="00279F"/>
                </a:solidFill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27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1" y="2133601"/>
            <a:ext cx="7559675" cy="306387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75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STM32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引脚说明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796" name="TextBox 2"/>
          <p:cNvSpPr txBox="1">
            <a:spLocks noChangeArrowheads="1"/>
          </p:cNvSpPr>
          <p:nvPr/>
        </p:nvSpPr>
        <p:spPr bwMode="auto">
          <a:xfrm>
            <a:off x="2063750" y="1484313"/>
            <a:ext cx="80645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端口复用功能</a:t>
            </a:r>
            <a:endParaRPr lang="en-US" altLang="zh-CN" sz="3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STM32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的大部分端口都具有复用功能。</a:t>
            </a:r>
            <a:endParaRPr lang="en-US" altLang="zh-CN" sz="20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所谓复用，就是一些端口不仅仅可以做为通用</a:t>
            </a: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口，还可以复用为一</a:t>
            </a:r>
            <a:endParaRPr lang="en-US" altLang="zh-CN" sz="20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些外设引脚，比如</a:t>
            </a: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PA9,PA10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可以复用为</a:t>
            </a: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的串口</a:t>
            </a:r>
            <a:r>
              <a:rPr lang="en-US" altLang="zh-CN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引脚。</a:t>
            </a:r>
            <a:endParaRPr lang="en-US" altLang="zh-CN" sz="3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作用：最大限度的利用端口资源</a:t>
            </a:r>
          </a:p>
        </p:txBody>
      </p:sp>
      <p:pic>
        <p:nvPicPr>
          <p:cNvPr id="337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3716339"/>
            <a:ext cx="7623175" cy="209867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255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STM32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引脚说明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820" name="TextBox 2"/>
          <p:cNvSpPr txBox="1">
            <a:spLocks noChangeArrowheads="1"/>
          </p:cNvSpPr>
          <p:nvPr/>
        </p:nvSpPr>
        <p:spPr bwMode="auto">
          <a:xfrm>
            <a:off x="2063751" y="1557338"/>
            <a:ext cx="7777163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端口重映射功能</a:t>
            </a:r>
            <a:endParaRPr lang="en-US" altLang="zh-CN" sz="3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就是可以把某些功能引脚映射到其他引脚。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比如串口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默认引脚是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PA9,PA10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可以通过配置重映射映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射到</a:t>
            </a:r>
            <a:r>
              <a: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PB6,PB7</a:t>
            </a:r>
            <a:endParaRPr lang="en-US" altLang="zh-CN" sz="3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3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作用：方便布线</a:t>
            </a:r>
          </a:p>
        </p:txBody>
      </p:sp>
      <p:pic>
        <p:nvPicPr>
          <p:cNvPr id="348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8" y="3789363"/>
            <a:ext cx="7537450" cy="20891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20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1"/>
          <p:cNvSpPr txBox="1">
            <a:spLocks noChangeArrowheads="1"/>
          </p:cNvSpPr>
          <p:nvPr/>
        </p:nvSpPr>
        <p:spPr bwMode="auto">
          <a:xfrm>
            <a:off x="2566988" y="557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STM32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引脚说明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49463" y="1844676"/>
            <a:ext cx="7777162" cy="19399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Char char="u"/>
              <a:defRPr/>
            </a:pPr>
            <a:r>
              <a:rPr lang="zh-CN" altLang="en-US" sz="3200">
                <a:ea typeface="宋体" pitchFamily="2" charset="-122"/>
              </a:rPr>
              <a:t>所有</a:t>
            </a:r>
            <a:r>
              <a:rPr lang="en-US" altLang="zh-CN" sz="3200">
                <a:ea typeface="宋体" pitchFamily="2" charset="-122"/>
              </a:rPr>
              <a:t>IO</a:t>
            </a:r>
            <a:r>
              <a:rPr lang="zh-CN" altLang="en-US" sz="3200">
                <a:ea typeface="宋体" pitchFamily="2" charset="-122"/>
              </a:rPr>
              <a:t>口都可以作为中断输入</a:t>
            </a:r>
            <a:endParaRPr lang="en-US" altLang="zh-CN" sz="3200">
              <a:ea typeface="宋体" pitchFamily="2" charset="-122"/>
            </a:endParaRPr>
          </a:p>
          <a:p>
            <a:pPr marL="0" indent="0" eaLnBrk="1" hangingPunct="1">
              <a:defRPr/>
            </a:pPr>
            <a:r>
              <a:rPr lang="en-US" altLang="zh-CN" sz="3200">
                <a:ea typeface="宋体" pitchFamily="2" charset="-122"/>
              </a:rPr>
              <a:t>  </a:t>
            </a:r>
          </a:p>
          <a:p>
            <a:pPr marL="0" indent="0" eaLnBrk="1" hangingPunct="1">
              <a:defRPr/>
            </a:pPr>
            <a:r>
              <a:rPr lang="en-US" altLang="zh-CN" sz="3200">
                <a:ea typeface="宋体" pitchFamily="2" charset="-122"/>
              </a:rPr>
              <a:t>   </a:t>
            </a:r>
            <a:r>
              <a:rPr lang="zh-CN" altLang="en-US" sz="3200">
                <a:ea typeface="宋体" pitchFamily="2" charset="-122"/>
              </a:rPr>
              <a:t>这在我们外部中断实验我们会详细讲解。</a:t>
            </a:r>
            <a:endParaRPr lang="en-US" altLang="zh-CN" sz="3200">
              <a:ea typeface="宋体" pitchFamily="2" charset="-122"/>
            </a:endParaRPr>
          </a:p>
          <a:p>
            <a:pPr eaLnBrk="1" hangingPunct="1">
              <a:defRPr/>
            </a:pPr>
            <a:r>
              <a:rPr lang="en-US" altLang="zh-CN" sz="2400">
                <a:ea typeface="宋体" pitchFamily="2" charset="-122"/>
              </a:rPr>
              <a:t> </a:t>
            </a:r>
            <a:endParaRPr lang="zh-CN" altLang="en-US" sz="320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70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8469" y="1169405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概述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8947" y="1180267"/>
            <a:ext cx="4138929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微软雅黑"/>
                <a:cs typeface="微软雅黑"/>
              </a:rPr>
              <a:t>GPIO</a:t>
            </a:r>
            <a:r>
              <a:rPr sz="2800" b="1" i="1" spc="-5" dirty="0">
                <a:latin typeface="微软雅黑"/>
                <a:cs typeface="微软雅黑"/>
              </a:rPr>
              <a:t>外设数据类型的概述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73351" y="4122238"/>
            <a:ext cx="1092835" cy="1870710"/>
          </a:xfrm>
          <a:custGeom>
            <a:avLst/>
            <a:gdLst/>
            <a:ahLst/>
            <a:cxnLst/>
            <a:rect l="l" t="t" r="r" b="b"/>
            <a:pathLst>
              <a:path w="1092835" h="1870710">
                <a:moveTo>
                  <a:pt x="58542" y="0"/>
                </a:moveTo>
                <a:lnTo>
                  <a:pt x="27340" y="30951"/>
                </a:lnTo>
                <a:lnTo>
                  <a:pt x="8758" y="87644"/>
                </a:lnTo>
                <a:lnTo>
                  <a:pt x="0" y="141786"/>
                </a:lnTo>
                <a:lnTo>
                  <a:pt x="0" y="1383338"/>
                </a:lnTo>
                <a:lnTo>
                  <a:pt x="2725" y="1448945"/>
                </a:lnTo>
                <a:lnTo>
                  <a:pt x="9812" y="1506751"/>
                </a:lnTo>
                <a:lnTo>
                  <a:pt x="21681" y="1556991"/>
                </a:lnTo>
                <a:lnTo>
                  <a:pt x="38754" y="1599901"/>
                </a:lnTo>
                <a:lnTo>
                  <a:pt x="61452" y="1635714"/>
                </a:lnTo>
                <a:lnTo>
                  <a:pt x="90196" y="1664667"/>
                </a:lnTo>
                <a:lnTo>
                  <a:pt x="125408" y="1686994"/>
                </a:lnTo>
                <a:lnTo>
                  <a:pt x="167509" y="1702931"/>
                </a:lnTo>
                <a:lnTo>
                  <a:pt x="216921" y="1712712"/>
                </a:lnTo>
                <a:lnTo>
                  <a:pt x="274066" y="1716573"/>
                </a:lnTo>
                <a:lnTo>
                  <a:pt x="836168" y="1719837"/>
                </a:lnTo>
                <a:lnTo>
                  <a:pt x="833882" y="1870129"/>
                </a:lnTo>
                <a:lnTo>
                  <a:pt x="1092708" y="1620193"/>
                </a:lnTo>
                <a:lnTo>
                  <a:pt x="1019516" y="1540145"/>
                </a:lnTo>
                <a:lnTo>
                  <a:pt x="843280" y="1540145"/>
                </a:lnTo>
                <a:lnTo>
                  <a:pt x="309245" y="1527077"/>
                </a:lnTo>
                <a:lnTo>
                  <a:pt x="268713" y="1524924"/>
                </a:lnTo>
                <a:lnTo>
                  <a:pt x="223387" y="1514963"/>
                </a:lnTo>
                <a:lnTo>
                  <a:pt x="188420" y="1487991"/>
                </a:lnTo>
                <a:lnTo>
                  <a:pt x="169253" y="1450750"/>
                </a:lnTo>
                <a:lnTo>
                  <a:pt x="156338" y="1394373"/>
                </a:lnTo>
                <a:lnTo>
                  <a:pt x="151293" y="1344131"/>
                </a:lnTo>
                <a:lnTo>
                  <a:pt x="138175" y="164646"/>
                </a:lnTo>
                <a:lnTo>
                  <a:pt x="133386" y="135168"/>
                </a:lnTo>
                <a:lnTo>
                  <a:pt x="121625" y="84703"/>
                </a:lnTo>
                <a:lnTo>
                  <a:pt x="107549" y="45738"/>
                </a:lnTo>
                <a:lnTo>
                  <a:pt x="83649" y="9326"/>
                </a:lnTo>
                <a:lnTo>
                  <a:pt x="66897" y="54"/>
                </a:lnTo>
                <a:lnTo>
                  <a:pt x="58542" y="0"/>
                </a:lnTo>
                <a:close/>
              </a:path>
              <a:path w="1092835" h="1870710">
                <a:moveTo>
                  <a:pt x="843280" y="1347397"/>
                </a:moveTo>
                <a:lnTo>
                  <a:pt x="843280" y="1540145"/>
                </a:lnTo>
                <a:lnTo>
                  <a:pt x="1019516" y="1540145"/>
                </a:lnTo>
                <a:lnTo>
                  <a:pt x="843280" y="134739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73708" y="3810000"/>
            <a:ext cx="1330960" cy="454659"/>
          </a:xfrm>
          <a:custGeom>
            <a:avLst/>
            <a:gdLst/>
            <a:ahLst/>
            <a:cxnLst/>
            <a:rect l="l" t="t" r="r" b="b"/>
            <a:pathLst>
              <a:path w="1330960" h="454660">
                <a:moveTo>
                  <a:pt x="1223037" y="310261"/>
                </a:moveTo>
                <a:lnTo>
                  <a:pt x="1039748" y="310261"/>
                </a:lnTo>
                <a:lnTo>
                  <a:pt x="1044066" y="454151"/>
                </a:lnTo>
                <a:lnTo>
                  <a:pt x="1223037" y="310261"/>
                </a:lnTo>
                <a:close/>
              </a:path>
              <a:path w="1330960" h="454660">
                <a:moveTo>
                  <a:pt x="1044066" y="0"/>
                </a:moveTo>
                <a:lnTo>
                  <a:pt x="1044066" y="134366"/>
                </a:lnTo>
                <a:lnTo>
                  <a:pt x="0" y="137541"/>
                </a:lnTo>
                <a:lnTo>
                  <a:pt x="2158" y="335788"/>
                </a:lnTo>
                <a:lnTo>
                  <a:pt x="1039748" y="310261"/>
                </a:lnTo>
                <a:lnTo>
                  <a:pt x="1223037" y="310261"/>
                </a:lnTo>
                <a:lnTo>
                  <a:pt x="1330452" y="223900"/>
                </a:lnTo>
                <a:lnTo>
                  <a:pt x="104406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12976" y="2164079"/>
            <a:ext cx="1091565" cy="1708150"/>
          </a:xfrm>
          <a:custGeom>
            <a:avLst/>
            <a:gdLst/>
            <a:ahLst/>
            <a:cxnLst/>
            <a:rect l="l" t="t" r="r" b="b"/>
            <a:pathLst>
              <a:path w="1091564" h="1708150">
                <a:moveTo>
                  <a:pt x="832738" y="0"/>
                </a:moveTo>
                <a:lnTo>
                  <a:pt x="835025" y="137287"/>
                </a:lnTo>
                <a:lnTo>
                  <a:pt x="273685" y="140208"/>
                </a:lnTo>
                <a:lnTo>
                  <a:pt x="244174" y="141317"/>
                </a:lnTo>
                <a:lnTo>
                  <a:pt x="191041" y="147530"/>
                </a:lnTo>
                <a:lnTo>
                  <a:pt x="145411" y="159250"/>
                </a:lnTo>
                <a:lnTo>
                  <a:pt x="106863" y="176692"/>
                </a:lnTo>
                <a:lnTo>
                  <a:pt x="74978" y="200073"/>
                </a:lnTo>
                <a:lnTo>
                  <a:pt x="49339" y="229609"/>
                </a:lnTo>
                <a:lnTo>
                  <a:pt x="29524" y="265518"/>
                </a:lnTo>
                <a:lnTo>
                  <a:pt x="15116" y="308014"/>
                </a:lnTo>
                <a:lnTo>
                  <a:pt x="5670" y="357554"/>
                </a:lnTo>
                <a:lnTo>
                  <a:pt x="844" y="413638"/>
                </a:lnTo>
                <a:lnTo>
                  <a:pt x="0" y="444500"/>
                </a:lnTo>
                <a:lnTo>
                  <a:pt x="0" y="1578229"/>
                </a:lnTo>
                <a:lnTo>
                  <a:pt x="8751" y="1627685"/>
                </a:lnTo>
                <a:lnTo>
                  <a:pt x="20514" y="1665162"/>
                </a:lnTo>
                <a:lnTo>
                  <a:pt x="42254" y="1699347"/>
                </a:lnTo>
                <a:lnTo>
                  <a:pt x="58446" y="1707739"/>
                </a:lnTo>
                <a:lnTo>
                  <a:pt x="66786" y="1707689"/>
                </a:lnTo>
                <a:lnTo>
                  <a:pt x="99709" y="1679762"/>
                </a:lnTo>
                <a:lnTo>
                  <a:pt x="121465" y="1630393"/>
                </a:lnTo>
                <a:lnTo>
                  <a:pt x="133243" y="1584315"/>
                </a:lnTo>
                <a:lnTo>
                  <a:pt x="149732" y="507238"/>
                </a:lnTo>
                <a:lnTo>
                  <a:pt x="151171" y="480080"/>
                </a:lnTo>
                <a:lnTo>
                  <a:pt x="156286" y="433726"/>
                </a:lnTo>
                <a:lnTo>
                  <a:pt x="169449" y="381934"/>
                </a:lnTo>
                <a:lnTo>
                  <a:pt x="189023" y="347975"/>
                </a:lnTo>
                <a:lnTo>
                  <a:pt x="224753" y="323716"/>
                </a:lnTo>
                <a:lnTo>
                  <a:pt x="271060" y="315032"/>
                </a:lnTo>
                <a:lnTo>
                  <a:pt x="842010" y="301371"/>
                </a:lnTo>
                <a:lnTo>
                  <a:pt x="1018032" y="301371"/>
                </a:lnTo>
                <a:lnTo>
                  <a:pt x="1091184" y="228219"/>
                </a:lnTo>
                <a:lnTo>
                  <a:pt x="832738" y="0"/>
                </a:lnTo>
                <a:close/>
              </a:path>
              <a:path w="1091564" h="1708150">
                <a:moveTo>
                  <a:pt x="1018032" y="301371"/>
                </a:moveTo>
                <a:lnTo>
                  <a:pt x="842010" y="301371"/>
                </a:lnTo>
                <a:lnTo>
                  <a:pt x="842010" y="477393"/>
                </a:lnTo>
                <a:lnTo>
                  <a:pt x="1018032" y="301371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59273" y="1779270"/>
            <a:ext cx="6385560" cy="1201420"/>
          </a:xfrm>
          <a:custGeom>
            <a:avLst/>
            <a:gdLst/>
            <a:ahLst/>
            <a:cxnLst/>
            <a:rect l="l" t="t" r="r" b="b"/>
            <a:pathLst>
              <a:path w="6385559" h="1201420">
                <a:moveTo>
                  <a:pt x="0" y="138175"/>
                </a:moveTo>
                <a:lnTo>
                  <a:pt x="6702" y="95532"/>
                </a:lnTo>
                <a:lnTo>
                  <a:pt x="25405" y="58298"/>
                </a:lnTo>
                <a:lnTo>
                  <a:pt x="54002" y="28580"/>
                </a:lnTo>
                <a:lnTo>
                  <a:pt x="90385" y="8483"/>
                </a:lnTo>
                <a:lnTo>
                  <a:pt x="132450" y="116"/>
                </a:lnTo>
                <a:lnTo>
                  <a:pt x="6247383" y="0"/>
                </a:lnTo>
                <a:lnTo>
                  <a:pt x="6262069" y="770"/>
                </a:lnTo>
                <a:lnTo>
                  <a:pt x="6303143" y="11707"/>
                </a:lnTo>
                <a:lnTo>
                  <a:pt x="6338106" y="33942"/>
                </a:lnTo>
                <a:lnTo>
                  <a:pt x="6364851" y="65368"/>
                </a:lnTo>
                <a:lnTo>
                  <a:pt x="6381272" y="103880"/>
                </a:lnTo>
                <a:lnTo>
                  <a:pt x="6385559" y="1062735"/>
                </a:lnTo>
                <a:lnTo>
                  <a:pt x="6384789" y="1077421"/>
                </a:lnTo>
                <a:lnTo>
                  <a:pt x="6373852" y="1118495"/>
                </a:lnTo>
                <a:lnTo>
                  <a:pt x="6351617" y="1153458"/>
                </a:lnTo>
                <a:lnTo>
                  <a:pt x="6320191" y="1180203"/>
                </a:lnTo>
                <a:lnTo>
                  <a:pt x="6281679" y="1196624"/>
                </a:lnTo>
                <a:lnTo>
                  <a:pt x="138175" y="1200912"/>
                </a:lnTo>
                <a:lnTo>
                  <a:pt x="123490" y="1200141"/>
                </a:lnTo>
                <a:lnTo>
                  <a:pt x="82416" y="1189204"/>
                </a:lnTo>
                <a:lnTo>
                  <a:pt x="47453" y="1166969"/>
                </a:lnTo>
                <a:lnTo>
                  <a:pt x="20708" y="1135543"/>
                </a:lnTo>
                <a:lnTo>
                  <a:pt x="4287" y="1097031"/>
                </a:lnTo>
                <a:lnTo>
                  <a:pt x="0" y="138175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69890" y="2031354"/>
            <a:ext cx="61214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latin typeface="微软雅黑"/>
                <a:cs typeface="微软雅黑"/>
              </a:rPr>
              <a:t>采用结构体类型实现，用于定义引脚的序号、 工作模式、输出速度等基本特性。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04160" y="1778507"/>
            <a:ext cx="1754505" cy="1201420"/>
          </a:xfrm>
          <a:custGeom>
            <a:avLst/>
            <a:gdLst/>
            <a:ahLst/>
            <a:cxnLst/>
            <a:rect l="l" t="t" r="r" b="b"/>
            <a:pathLst>
              <a:path w="1754504" h="1201420">
                <a:moveTo>
                  <a:pt x="1610994" y="0"/>
                </a:moveTo>
                <a:lnTo>
                  <a:pt x="129343" y="656"/>
                </a:lnTo>
                <a:lnTo>
                  <a:pt x="88037" y="11003"/>
                </a:lnTo>
                <a:lnTo>
                  <a:pt x="52478" y="32396"/>
                </a:lnTo>
                <a:lnTo>
                  <a:pt x="24638" y="62862"/>
                </a:lnTo>
                <a:lnTo>
                  <a:pt x="6488" y="100430"/>
                </a:lnTo>
                <a:lnTo>
                  <a:pt x="0" y="143128"/>
                </a:lnTo>
                <a:lnTo>
                  <a:pt x="656" y="1071568"/>
                </a:lnTo>
                <a:lnTo>
                  <a:pt x="11003" y="1112874"/>
                </a:lnTo>
                <a:lnTo>
                  <a:pt x="32396" y="1148433"/>
                </a:lnTo>
                <a:lnTo>
                  <a:pt x="62862" y="1176273"/>
                </a:lnTo>
                <a:lnTo>
                  <a:pt x="100430" y="1194423"/>
                </a:lnTo>
                <a:lnTo>
                  <a:pt x="143128" y="1200912"/>
                </a:lnTo>
                <a:lnTo>
                  <a:pt x="1624780" y="1200255"/>
                </a:lnTo>
                <a:lnTo>
                  <a:pt x="1666086" y="1189908"/>
                </a:lnTo>
                <a:lnTo>
                  <a:pt x="1701645" y="1168515"/>
                </a:lnTo>
                <a:lnTo>
                  <a:pt x="1729485" y="1138049"/>
                </a:lnTo>
                <a:lnTo>
                  <a:pt x="1747635" y="1100481"/>
                </a:lnTo>
                <a:lnTo>
                  <a:pt x="1754124" y="1057782"/>
                </a:lnTo>
                <a:lnTo>
                  <a:pt x="1753467" y="129343"/>
                </a:lnTo>
                <a:lnTo>
                  <a:pt x="1743120" y="88037"/>
                </a:lnTo>
                <a:lnTo>
                  <a:pt x="1721727" y="52478"/>
                </a:lnTo>
                <a:lnTo>
                  <a:pt x="1691261" y="24638"/>
                </a:lnTo>
                <a:lnTo>
                  <a:pt x="1653693" y="6488"/>
                </a:lnTo>
                <a:lnTo>
                  <a:pt x="161099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11195" y="2031354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240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引脚 初始化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04160" y="3464052"/>
            <a:ext cx="1758950" cy="1195070"/>
          </a:xfrm>
          <a:custGeom>
            <a:avLst/>
            <a:gdLst/>
            <a:ahLst/>
            <a:cxnLst/>
            <a:rect l="l" t="t" r="r" b="b"/>
            <a:pathLst>
              <a:path w="1758950" h="1195070">
                <a:moveTo>
                  <a:pt x="1616202" y="0"/>
                </a:moveTo>
                <a:lnTo>
                  <a:pt x="129722" y="563"/>
                </a:lnTo>
                <a:lnTo>
                  <a:pt x="88295" y="10656"/>
                </a:lnTo>
                <a:lnTo>
                  <a:pt x="52632" y="31873"/>
                </a:lnTo>
                <a:lnTo>
                  <a:pt x="24710" y="62236"/>
                </a:lnTo>
                <a:lnTo>
                  <a:pt x="6507" y="99769"/>
                </a:lnTo>
                <a:lnTo>
                  <a:pt x="0" y="142494"/>
                </a:lnTo>
                <a:lnTo>
                  <a:pt x="563" y="1065093"/>
                </a:lnTo>
                <a:lnTo>
                  <a:pt x="10656" y="1106520"/>
                </a:lnTo>
                <a:lnTo>
                  <a:pt x="31873" y="1142183"/>
                </a:lnTo>
                <a:lnTo>
                  <a:pt x="62236" y="1170105"/>
                </a:lnTo>
                <a:lnTo>
                  <a:pt x="99769" y="1188308"/>
                </a:lnTo>
                <a:lnTo>
                  <a:pt x="142494" y="1194816"/>
                </a:lnTo>
                <a:lnTo>
                  <a:pt x="1628973" y="1194252"/>
                </a:lnTo>
                <a:lnTo>
                  <a:pt x="1670400" y="1184159"/>
                </a:lnTo>
                <a:lnTo>
                  <a:pt x="1706063" y="1162942"/>
                </a:lnTo>
                <a:lnTo>
                  <a:pt x="1733985" y="1132579"/>
                </a:lnTo>
                <a:lnTo>
                  <a:pt x="1752188" y="1095046"/>
                </a:lnTo>
                <a:lnTo>
                  <a:pt x="1758695" y="1052322"/>
                </a:lnTo>
                <a:lnTo>
                  <a:pt x="1758132" y="129722"/>
                </a:lnTo>
                <a:lnTo>
                  <a:pt x="1748039" y="88295"/>
                </a:lnTo>
                <a:lnTo>
                  <a:pt x="1726822" y="52632"/>
                </a:lnTo>
                <a:lnTo>
                  <a:pt x="1696459" y="24710"/>
                </a:lnTo>
                <a:lnTo>
                  <a:pt x="1658926" y="6507"/>
                </a:lnTo>
                <a:lnTo>
                  <a:pt x="161620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62477" y="3714485"/>
            <a:ext cx="12446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引脚 电平状态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66060" y="5143500"/>
            <a:ext cx="1797050" cy="1181100"/>
          </a:xfrm>
          <a:custGeom>
            <a:avLst/>
            <a:gdLst/>
            <a:ahLst/>
            <a:cxnLst/>
            <a:rect l="l" t="t" r="r" b="b"/>
            <a:pathLst>
              <a:path w="1797050" h="1181100">
                <a:moveTo>
                  <a:pt x="1655952" y="0"/>
                </a:moveTo>
                <a:lnTo>
                  <a:pt x="130751" y="355"/>
                </a:lnTo>
                <a:lnTo>
                  <a:pt x="89070" y="9801"/>
                </a:lnTo>
                <a:lnTo>
                  <a:pt x="53134" y="30594"/>
                </a:lnTo>
                <a:lnTo>
                  <a:pt x="24962" y="60712"/>
                </a:lnTo>
                <a:lnTo>
                  <a:pt x="6577" y="98136"/>
                </a:lnTo>
                <a:lnTo>
                  <a:pt x="0" y="140843"/>
                </a:lnTo>
                <a:lnTo>
                  <a:pt x="352" y="1050346"/>
                </a:lnTo>
                <a:lnTo>
                  <a:pt x="9792" y="1092004"/>
                </a:lnTo>
                <a:lnTo>
                  <a:pt x="30583" y="1127938"/>
                </a:lnTo>
                <a:lnTo>
                  <a:pt x="60703" y="1156119"/>
                </a:lnTo>
                <a:lnTo>
                  <a:pt x="98130" y="1174516"/>
                </a:lnTo>
                <a:lnTo>
                  <a:pt x="140842" y="1181100"/>
                </a:lnTo>
                <a:lnTo>
                  <a:pt x="1666014" y="1180746"/>
                </a:lnTo>
                <a:lnTo>
                  <a:pt x="1707703" y="1171301"/>
                </a:lnTo>
                <a:lnTo>
                  <a:pt x="1743648" y="1150503"/>
                </a:lnTo>
                <a:lnTo>
                  <a:pt x="1771826" y="1120382"/>
                </a:lnTo>
                <a:lnTo>
                  <a:pt x="1790216" y="1082970"/>
                </a:lnTo>
                <a:lnTo>
                  <a:pt x="1796795" y="1040295"/>
                </a:lnTo>
                <a:lnTo>
                  <a:pt x="1796440" y="130751"/>
                </a:lnTo>
                <a:lnTo>
                  <a:pt x="1786994" y="89070"/>
                </a:lnTo>
                <a:lnTo>
                  <a:pt x="1766201" y="53134"/>
                </a:lnTo>
                <a:lnTo>
                  <a:pt x="1736083" y="24962"/>
                </a:lnTo>
                <a:lnTo>
                  <a:pt x="1698659" y="6577"/>
                </a:lnTo>
                <a:lnTo>
                  <a:pt x="1655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42920" y="5386678"/>
            <a:ext cx="1244600" cy="77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1" spc="-5" dirty="0">
                <a:solidFill>
                  <a:srgbClr val="F1F1F1"/>
                </a:solidFill>
                <a:latin typeface="微软雅黑"/>
                <a:cs typeface="微软雅黑"/>
              </a:rPr>
              <a:t>引脚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所属端口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48511" y="3361944"/>
            <a:ext cx="1339850" cy="1297305"/>
          </a:xfrm>
          <a:custGeom>
            <a:avLst/>
            <a:gdLst/>
            <a:ahLst/>
            <a:cxnLst/>
            <a:rect l="l" t="t" r="r" b="b"/>
            <a:pathLst>
              <a:path w="1339850" h="1297304">
                <a:moveTo>
                  <a:pt x="669798" y="0"/>
                </a:moveTo>
                <a:lnTo>
                  <a:pt x="614859" y="2149"/>
                </a:lnTo>
                <a:lnTo>
                  <a:pt x="561145" y="8487"/>
                </a:lnTo>
                <a:lnTo>
                  <a:pt x="508827" y="18845"/>
                </a:lnTo>
                <a:lnTo>
                  <a:pt x="458077" y="33058"/>
                </a:lnTo>
                <a:lnTo>
                  <a:pt x="409068" y="50958"/>
                </a:lnTo>
                <a:lnTo>
                  <a:pt x="361973" y="72379"/>
                </a:lnTo>
                <a:lnTo>
                  <a:pt x="316962" y="97153"/>
                </a:lnTo>
                <a:lnTo>
                  <a:pt x="274210" y="125114"/>
                </a:lnTo>
                <a:lnTo>
                  <a:pt x="233887" y="156094"/>
                </a:lnTo>
                <a:lnTo>
                  <a:pt x="196167" y="189928"/>
                </a:lnTo>
                <a:lnTo>
                  <a:pt x="161221" y="226448"/>
                </a:lnTo>
                <a:lnTo>
                  <a:pt x="129223" y="265486"/>
                </a:lnTo>
                <a:lnTo>
                  <a:pt x="100343" y="306877"/>
                </a:lnTo>
                <a:lnTo>
                  <a:pt x="74755" y="350454"/>
                </a:lnTo>
                <a:lnTo>
                  <a:pt x="52631" y="396049"/>
                </a:lnTo>
                <a:lnTo>
                  <a:pt x="34143" y="443496"/>
                </a:lnTo>
                <a:lnTo>
                  <a:pt x="19464" y="492627"/>
                </a:lnTo>
                <a:lnTo>
                  <a:pt x="8765" y="543277"/>
                </a:lnTo>
                <a:lnTo>
                  <a:pt x="2220" y="595277"/>
                </a:lnTo>
                <a:lnTo>
                  <a:pt x="0" y="648461"/>
                </a:lnTo>
                <a:lnTo>
                  <a:pt x="2220" y="701646"/>
                </a:lnTo>
                <a:lnTo>
                  <a:pt x="8765" y="753646"/>
                </a:lnTo>
                <a:lnTo>
                  <a:pt x="19464" y="804296"/>
                </a:lnTo>
                <a:lnTo>
                  <a:pt x="34143" y="853427"/>
                </a:lnTo>
                <a:lnTo>
                  <a:pt x="52631" y="900874"/>
                </a:lnTo>
                <a:lnTo>
                  <a:pt x="74755" y="946469"/>
                </a:lnTo>
                <a:lnTo>
                  <a:pt x="100343" y="990046"/>
                </a:lnTo>
                <a:lnTo>
                  <a:pt x="129223" y="1031437"/>
                </a:lnTo>
                <a:lnTo>
                  <a:pt x="161221" y="1070475"/>
                </a:lnTo>
                <a:lnTo>
                  <a:pt x="196167" y="1106995"/>
                </a:lnTo>
                <a:lnTo>
                  <a:pt x="233887" y="1140829"/>
                </a:lnTo>
                <a:lnTo>
                  <a:pt x="274210" y="1171809"/>
                </a:lnTo>
                <a:lnTo>
                  <a:pt x="316962" y="1199770"/>
                </a:lnTo>
                <a:lnTo>
                  <a:pt x="361973" y="1224544"/>
                </a:lnTo>
                <a:lnTo>
                  <a:pt x="409068" y="1245965"/>
                </a:lnTo>
                <a:lnTo>
                  <a:pt x="458077" y="1263865"/>
                </a:lnTo>
                <a:lnTo>
                  <a:pt x="508827" y="1278078"/>
                </a:lnTo>
                <a:lnTo>
                  <a:pt x="561145" y="1288436"/>
                </a:lnTo>
                <a:lnTo>
                  <a:pt x="614859" y="1294774"/>
                </a:lnTo>
                <a:lnTo>
                  <a:pt x="669798" y="1296923"/>
                </a:lnTo>
                <a:lnTo>
                  <a:pt x="724736" y="1294774"/>
                </a:lnTo>
                <a:lnTo>
                  <a:pt x="778450" y="1288436"/>
                </a:lnTo>
                <a:lnTo>
                  <a:pt x="830768" y="1278078"/>
                </a:lnTo>
                <a:lnTo>
                  <a:pt x="881518" y="1263865"/>
                </a:lnTo>
                <a:lnTo>
                  <a:pt x="930527" y="1245965"/>
                </a:lnTo>
                <a:lnTo>
                  <a:pt x="977622" y="1224544"/>
                </a:lnTo>
                <a:lnTo>
                  <a:pt x="1022633" y="1199770"/>
                </a:lnTo>
                <a:lnTo>
                  <a:pt x="1065385" y="1171809"/>
                </a:lnTo>
                <a:lnTo>
                  <a:pt x="1105708" y="1140829"/>
                </a:lnTo>
                <a:lnTo>
                  <a:pt x="1143428" y="1106995"/>
                </a:lnTo>
                <a:lnTo>
                  <a:pt x="1178374" y="1070475"/>
                </a:lnTo>
                <a:lnTo>
                  <a:pt x="1210372" y="1031437"/>
                </a:lnTo>
                <a:lnTo>
                  <a:pt x="1239252" y="990046"/>
                </a:lnTo>
                <a:lnTo>
                  <a:pt x="1264840" y="946469"/>
                </a:lnTo>
                <a:lnTo>
                  <a:pt x="1286964" y="900874"/>
                </a:lnTo>
                <a:lnTo>
                  <a:pt x="1305452" y="853427"/>
                </a:lnTo>
                <a:lnTo>
                  <a:pt x="1320131" y="804296"/>
                </a:lnTo>
                <a:lnTo>
                  <a:pt x="1330830" y="753646"/>
                </a:lnTo>
                <a:lnTo>
                  <a:pt x="1337375" y="701646"/>
                </a:lnTo>
                <a:lnTo>
                  <a:pt x="1339595" y="648461"/>
                </a:lnTo>
                <a:lnTo>
                  <a:pt x="1337375" y="595277"/>
                </a:lnTo>
                <a:lnTo>
                  <a:pt x="1330830" y="543277"/>
                </a:lnTo>
                <a:lnTo>
                  <a:pt x="1320131" y="492627"/>
                </a:lnTo>
                <a:lnTo>
                  <a:pt x="1305452" y="443496"/>
                </a:lnTo>
                <a:lnTo>
                  <a:pt x="1286964" y="396049"/>
                </a:lnTo>
                <a:lnTo>
                  <a:pt x="1264840" y="350454"/>
                </a:lnTo>
                <a:lnTo>
                  <a:pt x="1239252" y="306877"/>
                </a:lnTo>
                <a:lnTo>
                  <a:pt x="1210372" y="265486"/>
                </a:lnTo>
                <a:lnTo>
                  <a:pt x="1178374" y="226448"/>
                </a:lnTo>
                <a:lnTo>
                  <a:pt x="1143428" y="189928"/>
                </a:lnTo>
                <a:lnTo>
                  <a:pt x="1105708" y="156094"/>
                </a:lnTo>
                <a:lnTo>
                  <a:pt x="1065385" y="125114"/>
                </a:lnTo>
                <a:lnTo>
                  <a:pt x="1022633" y="97153"/>
                </a:lnTo>
                <a:lnTo>
                  <a:pt x="977622" y="72379"/>
                </a:lnTo>
                <a:lnTo>
                  <a:pt x="930527" y="50958"/>
                </a:lnTo>
                <a:lnTo>
                  <a:pt x="881518" y="33058"/>
                </a:lnTo>
                <a:lnTo>
                  <a:pt x="830768" y="18845"/>
                </a:lnTo>
                <a:lnTo>
                  <a:pt x="778450" y="8487"/>
                </a:lnTo>
                <a:lnTo>
                  <a:pt x="724736" y="2149"/>
                </a:lnTo>
                <a:lnTo>
                  <a:pt x="66979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0683" y="3882134"/>
            <a:ext cx="6350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三个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59273" y="3464814"/>
            <a:ext cx="6385560" cy="1195070"/>
          </a:xfrm>
          <a:custGeom>
            <a:avLst/>
            <a:gdLst/>
            <a:ahLst/>
            <a:cxnLst/>
            <a:rect l="l" t="t" r="r" b="b"/>
            <a:pathLst>
              <a:path w="6385559" h="1195070">
                <a:moveTo>
                  <a:pt x="0" y="137413"/>
                </a:moveTo>
                <a:lnTo>
                  <a:pt x="6745" y="94817"/>
                </a:lnTo>
                <a:lnTo>
                  <a:pt x="25555" y="57642"/>
                </a:lnTo>
                <a:lnTo>
                  <a:pt x="54285" y="28031"/>
                </a:lnTo>
                <a:lnTo>
                  <a:pt x="90796" y="8127"/>
                </a:lnTo>
                <a:lnTo>
                  <a:pt x="132944" y="71"/>
                </a:lnTo>
                <a:lnTo>
                  <a:pt x="6248146" y="0"/>
                </a:lnTo>
                <a:lnTo>
                  <a:pt x="6262815" y="775"/>
                </a:lnTo>
                <a:lnTo>
                  <a:pt x="6303842" y="11780"/>
                </a:lnTo>
                <a:lnTo>
                  <a:pt x="6338734" y="34135"/>
                </a:lnTo>
                <a:lnTo>
                  <a:pt x="6365347" y="65697"/>
                </a:lnTo>
                <a:lnTo>
                  <a:pt x="6381539" y="104325"/>
                </a:lnTo>
                <a:lnTo>
                  <a:pt x="6385559" y="1057402"/>
                </a:lnTo>
                <a:lnTo>
                  <a:pt x="6384784" y="1072071"/>
                </a:lnTo>
                <a:lnTo>
                  <a:pt x="6373779" y="1113098"/>
                </a:lnTo>
                <a:lnTo>
                  <a:pt x="6351424" y="1147990"/>
                </a:lnTo>
                <a:lnTo>
                  <a:pt x="6319862" y="1174603"/>
                </a:lnTo>
                <a:lnTo>
                  <a:pt x="6281234" y="1190795"/>
                </a:lnTo>
                <a:lnTo>
                  <a:pt x="137413" y="1194816"/>
                </a:lnTo>
                <a:lnTo>
                  <a:pt x="122744" y="1194040"/>
                </a:lnTo>
                <a:lnTo>
                  <a:pt x="81717" y="1183035"/>
                </a:lnTo>
                <a:lnTo>
                  <a:pt x="46825" y="1160680"/>
                </a:lnTo>
                <a:lnTo>
                  <a:pt x="20212" y="1129118"/>
                </a:lnTo>
                <a:lnTo>
                  <a:pt x="4020" y="1090490"/>
                </a:lnTo>
                <a:lnTo>
                  <a:pt x="0" y="137413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69509" y="3714485"/>
            <a:ext cx="64262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latin typeface="微软雅黑"/>
                <a:cs typeface="微软雅黑"/>
              </a:rPr>
              <a:t>采用枚举类型实现，用于定义引脚的电平状态： 高电平和低电平。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59273" y="5147309"/>
            <a:ext cx="6385560" cy="1195070"/>
          </a:xfrm>
          <a:custGeom>
            <a:avLst/>
            <a:gdLst/>
            <a:ahLst/>
            <a:cxnLst/>
            <a:rect l="l" t="t" r="r" b="b"/>
            <a:pathLst>
              <a:path w="6385559" h="1195070">
                <a:moveTo>
                  <a:pt x="0" y="137413"/>
                </a:moveTo>
                <a:lnTo>
                  <a:pt x="6745" y="94817"/>
                </a:lnTo>
                <a:lnTo>
                  <a:pt x="25555" y="57642"/>
                </a:lnTo>
                <a:lnTo>
                  <a:pt x="54285" y="28031"/>
                </a:lnTo>
                <a:lnTo>
                  <a:pt x="90796" y="8127"/>
                </a:lnTo>
                <a:lnTo>
                  <a:pt x="132944" y="71"/>
                </a:lnTo>
                <a:lnTo>
                  <a:pt x="6248146" y="0"/>
                </a:lnTo>
                <a:lnTo>
                  <a:pt x="6262815" y="775"/>
                </a:lnTo>
                <a:lnTo>
                  <a:pt x="6303842" y="11780"/>
                </a:lnTo>
                <a:lnTo>
                  <a:pt x="6338734" y="34135"/>
                </a:lnTo>
                <a:lnTo>
                  <a:pt x="6365347" y="65697"/>
                </a:lnTo>
                <a:lnTo>
                  <a:pt x="6381539" y="104325"/>
                </a:lnTo>
                <a:lnTo>
                  <a:pt x="6385559" y="1057351"/>
                </a:lnTo>
                <a:lnTo>
                  <a:pt x="6384784" y="1072035"/>
                </a:lnTo>
                <a:lnTo>
                  <a:pt x="6373783" y="1113090"/>
                </a:lnTo>
                <a:lnTo>
                  <a:pt x="6351436" y="1147989"/>
                </a:lnTo>
                <a:lnTo>
                  <a:pt x="6319884" y="1174599"/>
                </a:lnTo>
                <a:lnTo>
                  <a:pt x="6281267" y="1190790"/>
                </a:lnTo>
                <a:lnTo>
                  <a:pt x="137413" y="1194815"/>
                </a:lnTo>
                <a:lnTo>
                  <a:pt x="122747" y="1194040"/>
                </a:lnTo>
                <a:lnTo>
                  <a:pt x="81726" y="1183046"/>
                </a:lnTo>
                <a:lnTo>
                  <a:pt x="46839" y="1160704"/>
                </a:lnTo>
                <a:lnTo>
                  <a:pt x="20226" y="1129148"/>
                </a:lnTo>
                <a:lnTo>
                  <a:pt x="4028" y="1090509"/>
                </a:lnTo>
                <a:lnTo>
                  <a:pt x="0" y="137413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69509" y="5396981"/>
            <a:ext cx="61214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latin typeface="微软雅黑"/>
                <a:cs typeface="微软雅黑"/>
              </a:rPr>
              <a:t>采用结构体指针实现，用于访问该端口所对应 的寄存器组。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62102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442" y="1908810"/>
            <a:ext cx="11977370" cy="4322445"/>
          </a:xfrm>
          <a:custGeom>
            <a:avLst/>
            <a:gdLst/>
            <a:ahLst/>
            <a:cxnLst/>
            <a:rect l="l" t="t" r="r" b="b"/>
            <a:pathLst>
              <a:path w="11977370" h="4322445">
                <a:moveTo>
                  <a:pt x="0" y="4322064"/>
                </a:moveTo>
                <a:lnTo>
                  <a:pt x="11977116" y="4322064"/>
                </a:lnTo>
                <a:lnTo>
                  <a:pt x="11977116" y="0"/>
                </a:lnTo>
                <a:lnTo>
                  <a:pt x="0" y="0"/>
                </a:lnTo>
                <a:lnTo>
                  <a:pt x="0" y="4322064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375">
              <a:lnSpc>
                <a:spcPct val="100000"/>
              </a:lnSpc>
            </a:pPr>
            <a:r>
              <a:rPr dirty="0"/>
              <a:t>引脚初始化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75759" y="1180267"/>
            <a:ext cx="365569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3865" algn="l"/>
              </a:tabLst>
            </a:pPr>
            <a:r>
              <a:rPr sz="2800" b="1" spc="-5" dirty="0">
                <a:latin typeface="微软雅黑"/>
                <a:cs typeface="微软雅黑"/>
              </a:rPr>
              <a:t>1	</a:t>
            </a:r>
            <a:r>
              <a:rPr sz="2800" b="1" i="1" spc="-5" dirty="0">
                <a:latin typeface="微软雅黑"/>
                <a:cs typeface="微软雅黑"/>
              </a:rPr>
              <a:t>引脚初始化数据类型</a:t>
            </a:r>
            <a:endParaRPr sz="2800">
              <a:latin typeface="微软雅黑"/>
              <a:cs typeface="微软雅黑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29" y="2277547"/>
            <a:ext cx="11100402" cy="34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22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8721" y="1188972"/>
            <a:ext cx="124587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引脚编号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202048" y="1180267"/>
            <a:ext cx="37903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00"/>
                </a:solidFill>
              </a:rPr>
              <a:t>成员变量</a:t>
            </a:r>
            <a:r>
              <a:rPr sz="2800" i="0" spc="-10" dirty="0">
                <a:solidFill>
                  <a:srgbClr val="000000"/>
                </a:solidFill>
                <a:latin typeface="微软雅黑"/>
                <a:cs typeface="微软雅黑"/>
              </a:rPr>
              <a:t>Pi</a:t>
            </a:r>
            <a:r>
              <a:rPr sz="2800" i="0" spc="-5" dirty="0">
                <a:solidFill>
                  <a:srgbClr val="000000"/>
                </a:solidFill>
                <a:latin typeface="微软雅黑"/>
                <a:cs typeface="微软雅黑"/>
              </a:rPr>
              <a:t>n</a:t>
            </a:r>
            <a:r>
              <a:rPr sz="2800" spc="-5" dirty="0">
                <a:solidFill>
                  <a:srgbClr val="000000"/>
                </a:solidFill>
              </a:rPr>
              <a:t>的取值范围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5757" y="1849691"/>
          <a:ext cx="11608014" cy="4529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2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009">
                <a:tc>
                  <a:txBody>
                    <a:bodyPr/>
                    <a:lstStyle/>
                    <a:p>
                      <a:pPr marL="493395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宏常量定义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含义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734695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宏常量定义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含义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GPIO_PIN_0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IO_PIN_8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</a:t>
                      </a:r>
                      <a:r>
                        <a:rPr sz="2400" b="1" i="1" dirty="0">
                          <a:latin typeface="微软雅黑"/>
                          <a:cs typeface="微软雅黑"/>
                        </a:rPr>
                        <a:t>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8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856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_9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9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07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_2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2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83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GPIO_PIN_3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IO_PIN_11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</a:t>
                      </a:r>
                      <a:r>
                        <a:rPr sz="2400" b="1" i="1" dirty="0">
                          <a:latin typeface="微软雅黑"/>
                          <a:cs typeface="微软雅黑"/>
                        </a:rPr>
                        <a:t>脚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11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907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_12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12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856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907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_6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6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945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GPIO_PIN_7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选择该端口的引脚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IO_PIN_15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选择该端口的引</a:t>
                      </a:r>
                      <a:r>
                        <a:rPr sz="2400" b="1" i="1" dirty="0">
                          <a:latin typeface="微软雅黑"/>
                          <a:cs typeface="微软雅黑"/>
                        </a:rPr>
                        <a:t>脚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15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907"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_All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选择该端口所有引脚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150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0205">
              <a:lnSpc>
                <a:spcPct val="100000"/>
              </a:lnSpc>
            </a:pPr>
            <a:r>
              <a:rPr dirty="0"/>
              <a:t>工作模式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963670" y="1180267"/>
            <a:ext cx="426593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微软雅黑"/>
                <a:cs typeface="微软雅黑"/>
              </a:rPr>
              <a:t>成员变量</a:t>
            </a:r>
            <a:r>
              <a:rPr sz="2800" b="1" spc="-10" dirty="0">
                <a:latin typeface="微软雅黑"/>
                <a:cs typeface="微软雅黑"/>
              </a:rPr>
              <a:t>Mod</a:t>
            </a:r>
            <a:r>
              <a:rPr sz="2800" b="1" spc="0" dirty="0">
                <a:latin typeface="微软雅黑"/>
                <a:cs typeface="微软雅黑"/>
              </a:rPr>
              <a:t>e</a:t>
            </a:r>
            <a:r>
              <a:rPr sz="2800" b="1" i="1" spc="-5" dirty="0">
                <a:latin typeface="微软雅黑"/>
                <a:cs typeface="微软雅黑"/>
              </a:rPr>
              <a:t>的取值范围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89938" y="5840729"/>
            <a:ext cx="8778240" cy="565785"/>
          </a:xfrm>
          <a:custGeom>
            <a:avLst/>
            <a:gdLst/>
            <a:ahLst/>
            <a:cxnLst/>
            <a:rect l="l" t="t" r="r" b="b"/>
            <a:pathLst>
              <a:path w="8778240" h="565785">
                <a:moveTo>
                  <a:pt x="8684006" y="0"/>
                </a:moveTo>
                <a:lnTo>
                  <a:pt x="5120640" y="0"/>
                </a:lnTo>
                <a:lnTo>
                  <a:pt x="86957" y="276"/>
                </a:lnTo>
                <a:lnTo>
                  <a:pt x="46712" y="12835"/>
                </a:lnTo>
                <a:lnTo>
                  <a:pt x="16593" y="40804"/>
                </a:lnTo>
                <a:lnTo>
                  <a:pt x="1120" y="79651"/>
                </a:lnTo>
                <a:lnTo>
                  <a:pt x="0" y="94234"/>
                </a:lnTo>
                <a:lnTo>
                  <a:pt x="0" y="471170"/>
                </a:lnTo>
                <a:lnTo>
                  <a:pt x="12829" y="518679"/>
                </a:lnTo>
                <a:lnTo>
                  <a:pt x="40793" y="548803"/>
                </a:lnTo>
                <a:lnTo>
                  <a:pt x="79645" y="564282"/>
                </a:lnTo>
                <a:lnTo>
                  <a:pt x="94234" y="565404"/>
                </a:lnTo>
                <a:lnTo>
                  <a:pt x="7315200" y="565404"/>
                </a:lnTo>
                <a:lnTo>
                  <a:pt x="8691282" y="565127"/>
                </a:lnTo>
                <a:lnTo>
                  <a:pt x="8731527" y="552568"/>
                </a:lnTo>
                <a:lnTo>
                  <a:pt x="8761646" y="524599"/>
                </a:lnTo>
                <a:lnTo>
                  <a:pt x="8777119" y="485752"/>
                </a:lnTo>
                <a:lnTo>
                  <a:pt x="8778240" y="471170"/>
                </a:lnTo>
                <a:lnTo>
                  <a:pt x="8778240" y="329819"/>
                </a:lnTo>
                <a:lnTo>
                  <a:pt x="8777963" y="86960"/>
                </a:lnTo>
                <a:lnTo>
                  <a:pt x="8765410" y="46724"/>
                </a:lnTo>
                <a:lnTo>
                  <a:pt x="8737446" y="16600"/>
                </a:lnTo>
                <a:lnTo>
                  <a:pt x="8698594" y="1121"/>
                </a:lnTo>
                <a:lnTo>
                  <a:pt x="8684006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89938" y="5840729"/>
            <a:ext cx="8778240" cy="565785"/>
          </a:xfrm>
          <a:custGeom>
            <a:avLst/>
            <a:gdLst/>
            <a:ahLst/>
            <a:cxnLst/>
            <a:rect l="l" t="t" r="r" b="b"/>
            <a:pathLst>
              <a:path w="8778240" h="565785">
                <a:moveTo>
                  <a:pt x="0" y="94234"/>
                </a:moveTo>
                <a:lnTo>
                  <a:pt x="9584" y="52768"/>
                </a:lnTo>
                <a:lnTo>
                  <a:pt x="35324" y="20669"/>
                </a:lnTo>
                <a:lnTo>
                  <a:pt x="72696" y="2470"/>
                </a:lnTo>
                <a:lnTo>
                  <a:pt x="5120640" y="0"/>
                </a:lnTo>
                <a:lnTo>
                  <a:pt x="7315200" y="0"/>
                </a:lnTo>
                <a:lnTo>
                  <a:pt x="8684006" y="0"/>
                </a:lnTo>
                <a:lnTo>
                  <a:pt x="8698594" y="1121"/>
                </a:lnTo>
                <a:lnTo>
                  <a:pt x="8737446" y="16600"/>
                </a:lnTo>
                <a:lnTo>
                  <a:pt x="8765410" y="46724"/>
                </a:lnTo>
                <a:lnTo>
                  <a:pt x="8777963" y="86960"/>
                </a:lnTo>
                <a:lnTo>
                  <a:pt x="8778240" y="329819"/>
                </a:lnTo>
                <a:lnTo>
                  <a:pt x="8778240" y="471170"/>
                </a:lnTo>
                <a:lnTo>
                  <a:pt x="8777119" y="485752"/>
                </a:lnTo>
                <a:lnTo>
                  <a:pt x="8773868" y="499630"/>
                </a:lnTo>
                <a:lnTo>
                  <a:pt x="8753010" y="535355"/>
                </a:lnTo>
                <a:lnTo>
                  <a:pt x="8719013" y="558691"/>
                </a:lnTo>
                <a:lnTo>
                  <a:pt x="7315200" y="565404"/>
                </a:lnTo>
                <a:lnTo>
                  <a:pt x="4740783" y="565404"/>
                </a:lnTo>
                <a:lnTo>
                  <a:pt x="5120640" y="565404"/>
                </a:lnTo>
                <a:lnTo>
                  <a:pt x="94234" y="565404"/>
                </a:lnTo>
                <a:lnTo>
                  <a:pt x="79645" y="564282"/>
                </a:lnTo>
                <a:lnTo>
                  <a:pt x="40793" y="548803"/>
                </a:lnTo>
                <a:lnTo>
                  <a:pt x="12829" y="518679"/>
                </a:lnTo>
                <a:lnTo>
                  <a:pt x="276" y="478443"/>
                </a:lnTo>
                <a:lnTo>
                  <a:pt x="0" y="471170"/>
                </a:lnTo>
                <a:lnTo>
                  <a:pt x="0" y="329819"/>
                </a:lnTo>
                <a:lnTo>
                  <a:pt x="0" y="9423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96236" y="5959437"/>
            <a:ext cx="83045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dirty="0">
                <a:latin typeface="宋体"/>
                <a:cs typeface="宋体"/>
              </a:rPr>
              <a:t>注意：与引脚中断相关的工作模式将在第七章外部中断中介绍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775523" y="1786826"/>
          <a:ext cx="8612378" cy="3916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562">
                <a:tc>
                  <a:txBody>
                    <a:bodyPr/>
                    <a:lstStyle/>
                    <a:p>
                      <a:pPr marL="1423670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宏常量定义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含义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L="67373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ODE_INPUT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177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浮空输入模式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8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ODE_OUTPUT_PP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7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推挽输出模式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11"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ODE_OUTPUT_OD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177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开漏输出模式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612">
                <a:tc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ODE_AF_PP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复用功能下的推挽模式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11">
                <a:tc>
                  <a:txBody>
                    <a:bodyPr/>
                    <a:lstStyle/>
                    <a:p>
                      <a:pPr marL="6540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ODE_AF_</a:t>
                      </a:r>
                      <a:r>
                        <a:rPr sz="2400" b="1" spc="1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D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复用功能下的开漏模式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447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OD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_ANA</a:t>
                      </a:r>
                      <a:r>
                        <a:rPr sz="2400" b="1" spc="-85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OG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模拟模式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181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-11175" y="1160896"/>
            <a:ext cx="199961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上拉</a:t>
            </a:r>
            <a:r>
              <a:rPr i="0" dirty="0">
                <a:latin typeface="微软雅黑"/>
                <a:cs typeface="微软雅黑"/>
              </a:rPr>
              <a:t>/</a:t>
            </a:r>
            <a:r>
              <a:rPr dirty="0"/>
              <a:t>下拉电阻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48073" y="1180267"/>
            <a:ext cx="389572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微软雅黑"/>
                <a:cs typeface="微软雅黑"/>
              </a:rPr>
              <a:t>成员变量</a:t>
            </a:r>
            <a:r>
              <a:rPr sz="2800" b="1" spc="-10" dirty="0">
                <a:latin typeface="微软雅黑"/>
                <a:cs typeface="微软雅黑"/>
              </a:rPr>
              <a:t>Pul</a:t>
            </a:r>
            <a:r>
              <a:rPr sz="2800" b="1" spc="-5" dirty="0">
                <a:latin typeface="微软雅黑"/>
                <a:cs typeface="微软雅黑"/>
              </a:rPr>
              <a:t>l</a:t>
            </a:r>
            <a:r>
              <a:rPr sz="2800" b="1" i="1" spc="-5" dirty="0">
                <a:latin typeface="微软雅黑"/>
                <a:cs typeface="微软雅黑"/>
              </a:rPr>
              <a:t>的取值范围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75523" y="2510853"/>
          <a:ext cx="8612378" cy="2194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marL="1423670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宏常量定义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含义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marL="10864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OP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U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LL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没有上拉或下拉电阻激活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28">
                <a:tc>
                  <a:txBody>
                    <a:bodyPr/>
                    <a:lstStyle/>
                    <a:p>
                      <a:pPr marL="108077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GPIO_PU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55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UP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7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微软雅黑"/>
                          <a:cs typeface="微软雅黑"/>
                        </a:rPr>
                        <a:t>上拉电阻激活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78"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IO_PU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OWN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177290">
                        <a:lnSpc>
                          <a:spcPct val="100000"/>
                        </a:lnSpc>
                      </a:pPr>
                      <a:r>
                        <a:rPr sz="2400" b="1" i="1" spc="-5" dirty="0">
                          <a:latin typeface="微软雅黑"/>
                          <a:cs typeface="微软雅黑"/>
                        </a:rPr>
                        <a:t>下拉电阻激活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647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ct val="100000"/>
              </a:lnSpc>
            </a:pPr>
            <a:r>
              <a:rPr dirty="0"/>
              <a:t>引脚速度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34714" y="1180267"/>
            <a:ext cx="43237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微软雅黑"/>
                <a:cs typeface="微软雅黑"/>
              </a:rPr>
              <a:t>成员变量</a:t>
            </a:r>
            <a:r>
              <a:rPr sz="2800" b="1" spc="-5" dirty="0">
                <a:latin typeface="微软雅黑"/>
                <a:cs typeface="微软雅黑"/>
              </a:rPr>
              <a:t>Speed</a:t>
            </a:r>
            <a:r>
              <a:rPr sz="2800" b="1" i="1" spc="-5" dirty="0">
                <a:latin typeface="微软雅黑"/>
                <a:cs typeface="微软雅黑"/>
              </a:rPr>
              <a:t>的取值范围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861957"/>
              </p:ext>
            </p:extLst>
          </p:nvPr>
        </p:nvGraphicFramePr>
        <p:xfrm>
          <a:off x="3759437" y="2112123"/>
          <a:ext cx="5403367" cy="2377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宏常量定义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8318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GPIO_SP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REQ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80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OW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271">
                <a:tc>
                  <a:txBody>
                    <a:bodyPr/>
                    <a:lstStyle/>
                    <a:p>
                      <a:pPr marL="508634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IO_SP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_F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EQ_ME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IUM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21">
                <a:tc>
                  <a:txBody>
                    <a:bodyPr/>
                    <a:lstStyle/>
                    <a:p>
                      <a:pPr marL="82740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GPIO_SP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REQ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HIGH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615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5924" y="1933955"/>
            <a:ext cx="10360152" cy="3272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1446" y="1919477"/>
            <a:ext cx="10389235" cy="3301365"/>
          </a:xfrm>
          <a:custGeom>
            <a:avLst/>
            <a:gdLst/>
            <a:ahLst/>
            <a:cxnLst/>
            <a:rect l="l" t="t" r="r" b="b"/>
            <a:pathLst>
              <a:path w="10389235" h="3301365">
                <a:moveTo>
                  <a:pt x="0" y="3300984"/>
                </a:moveTo>
                <a:lnTo>
                  <a:pt x="10389108" y="3300984"/>
                </a:lnTo>
                <a:lnTo>
                  <a:pt x="10389108" y="0"/>
                </a:lnTo>
                <a:lnTo>
                  <a:pt x="0" y="0"/>
                </a:lnTo>
                <a:lnTo>
                  <a:pt x="0" y="3300984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引脚电平状态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12665" y="1180267"/>
            <a:ext cx="40081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3865" algn="l"/>
              </a:tabLst>
            </a:pPr>
            <a:r>
              <a:rPr sz="2800" b="1" spc="-5" dirty="0">
                <a:latin typeface="微软雅黑"/>
                <a:cs typeface="微软雅黑"/>
              </a:rPr>
              <a:t>2	</a:t>
            </a:r>
            <a:r>
              <a:rPr sz="2800" b="1" i="1" spc="-5" dirty="0">
                <a:latin typeface="微软雅黑"/>
                <a:cs typeface="微软雅黑"/>
              </a:rPr>
              <a:t>引脚电平状态数据类型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3247" y="2033016"/>
            <a:ext cx="1615440" cy="52324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枚举类型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91917" y="3361182"/>
            <a:ext cx="3022600" cy="515620"/>
          </a:xfrm>
          <a:custGeom>
            <a:avLst/>
            <a:gdLst/>
            <a:ahLst/>
            <a:cxnLst/>
            <a:rect l="l" t="t" r="r" b="b"/>
            <a:pathLst>
              <a:path w="3022600" h="515620">
                <a:moveTo>
                  <a:pt x="0" y="515112"/>
                </a:moveTo>
                <a:lnTo>
                  <a:pt x="3022092" y="515112"/>
                </a:lnTo>
                <a:lnTo>
                  <a:pt x="3022092" y="0"/>
                </a:lnTo>
                <a:lnTo>
                  <a:pt x="0" y="0"/>
                </a:lnTo>
                <a:lnTo>
                  <a:pt x="0" y="515112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91917" y="4008882"/>
            <a:ext cx="3022600" cy="513715"/>
          </a:xfrm>
          <a:custGeom>
            <a:avLst/>
            <a:gdLst/>
            <a:ahLst/>
            <a:cxnLst/>
            <a:rect l="l" t="t" r="r" b="b"/>
            <a:pathLst>
              <a:path w="3022600" h="513714">
                <a:moveTo>
                  <a:pt x="0" y="513588"/>
                </a:moveTo>
                <a:lnTo>
                  <a:pt x="3022092" y="513588"/>
                </a:lnTo>
                <a:lnTo>
                  <a:pt x="3022092" y="0"/>
                </a:lnTo>
                <a:lnTo>
                  <a:pt x="0" y="0"/>
                </a:lnTo>
                <a:lnTo>
                  <a:pt x="0" y="513588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07642" y="5346953"/>
            <a:ext cx="8778240" cy="949960"/>
          </a:xfrm>
          <a:custGeom>
            <a:avLst/>
            <a:gdLst/>
            <a:ahLst/>
            <a:cxnLst/>
            <a:rect l="l" t="t" r="r" b="b"/>
            <a:pathLst>
              <a:path w="8778240" h="949960">
                <a:moveTo>
                  <a:pt x="8619998" y="0"/>
                </a:moveTo>
                <a:lnTo>
                  <a:pt x="5120639" y="0"/>
                </a:lnTo>
                <a:lnTo>
                  <a:pt x="149066" y="261"/>
                </a:lnTo>
                <a:lnTo>
                  <a:pt x="106938" y="8506"/>
                </a:lnTo>
                <a:lnTo>
                  <a:pt x="69624" y="27132"/>
                </a:lnTo>
                <a:lnTo>
                  <a:pt x="38733" y="54531"/>
                </a:lnTo>
                <a:lnTo>
                  <a:pt x="15875" y="89092"/>
                </a:lnTo>
                <a:lnTo>
                  <a:pt x="2659" y="129207"/>
                </a:lnTo>
                <a:lnTo>
                  <a:pt x="0" y="158242"/>
                </a:lnTo>
                <a:lnTo>
                  <a:pt x="0" y="791210"/>
                </a:lnTo>
                <a:lnTo>
                  <a:pt x="8506" y="842518"/>
                </a:lnTo>
                <a:lnTo>
                  <a:pt x="27132" y="879833"/>
                </a:lnTo>
                <a:lnTo>
                  <a:pt x="54531" y="910722"/>
                </a:lnTo>
                <a:lnTo>
                  <a:pt x="89092" y="933578"/>
                </a:lnTo>
                <a:lnTo>
                  <a:pt x="129207" y="946793"/>
                </a:lnTo>
                <a:lnTo>
                  <a:pt x="158241" y="949452"/>
                </a:lnTo>
                <a:lnTo>
                  <a:pt x="7315200" y="949452"/>
                </a:lnTo>
                <a:lnTo>
                  <a:pt x="8629173" y="949190"/>
                </a:lnTo>
                <a:lnTo>
                  <a:pt x="8671301" y="940947"/>
                </a:lnTo>
                <a:lnTo>
                  <a:pt x="8708615" y="922322"/>
                </a:lnTo>
                <a:lnTo>
                  <a:pt x="8739506" y="894926"/>
                </a:lnTo>
                <a:lnTo>
                  <a:pt x="8762364" y="860364"/>
                </a:lnTo>
                <a:lnTo>
                  <a:pt x="8775580" y="820247"/>
                </a:lnTo>
                <a:lnTo>
                  <a:pt x="8778240" y="791210"/>
                </a:lnTo>
                <a:lnTo>
                  <a:pt x="8778240" y="553847"/>
                </a:lnTo>
                <a:lnTo>
                  <a:pt x="8777978" y="149066"/>
                </a:lnTo>
                <a:lnTo>
                  <a:pt x="8769733" y="106938"/>
                </a:lnTo>
                <a:lnTo>
                  <a:pt x="8751107" y="69624"/>
                </a:lnTo>
                <a:lnTo>
                  <a:pt x="8723708" y="38733"/>
                </a:lnTo>
                <a:lnTo>
                  <a:pt x="8689147" y="15875"/>
                </a:lnTo>
                <a:lnTo>
                  <a:pt x="8649032" y="2659"/>
                </a:lnTo>
                <a:lnTo>
                  <a:pt x="861999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07642" y="5346953"/>
            <a:ext cx="8778240" cy="949960"/>
          </a:xfrm>
          <a:custGeom>
            <a:avLst/>
            <a:gdLst/>
            <a:ahLst/>
            <a:cxnLst/>
            <a:rect l="l" t="t" r="r" b="b"/>
            <a:pathLst>
              <a:path w="8778240" h="949960">
                <a:moveTo>
                  <a:pt x="0" y="158242"/>
                </a:moveTo>
                <a:lnTo>
                  <a:pt x="5893" y="115318"/>
                </a:lnTo>
                <a:lnTo>
                  <a:pt x="22502" y="76875"/>
                </a:lnTo>
                <a:lnTo>
                  <a:pt x="48217" y="44522"/>
                </a:lnTo>
                <a:lnTo>
                  <a:pt x="81428" y="19869"/>
                </a:lnTo>
                <a:lnTo>
                  <a:pt x="120525" y="4525"/>
                </a:lnTo>
                <a:lnTo>
                  <a:pt x="5120639" y="0"/>
                </a:lnTo>
                <a:lnTo>
                  <a:pt x="7315200" y="0"/>
                </a:lnTo>
                <a:lnTo>
                  <a:pt x="8619998" y="0"/>
                </a:lnTo>
                <a:lnTo>
                  <a:pt x="8634704" y="674"/>
                </a:lnTo>
                <a:lnTo>
                  <a:pt x="8676313" y="10319"/>
                </a:lnTo>
                <a:lnTo>
                  <a:pt x="8712904" y="30142"/>
                </a:lnTo>
                <a:lnTo>
                  <a:pt x="8742869" y="58534"/>
                </a:lnTo>
                <a:lnTo>
                  <a:pt x="8764599" y="93886"/>
                </a:lnTo>
                <a:lnTo>
                  <a:pt x="8776482" y="134588"/>
                </a:lnTo>
                <a:lnTo>
                  <a:pt x="8778240" y="553847"/>
                </a:lnTo>
                <a:lnTo>
                  <a:pt x="8778240" y="791210"/>
                </a:lnTo>
                <a:lnTo>
                  <a:pt x="8777565" y="805918"/>
                </a:lnTo>
                <a:lnTo>
                  <a:pt x="8775580" y="820247"/>
                </a:lnTo>
                <a:lnTo>
                  <a:pt x="8762364" y="860364"/>
                </a:lnTo>
                <a:lnTo>
                  <a:pt x="8739506" y="894926"/>
                </a:lnTo>
                <a:lnTo>
                  <a:pt x="8708615" y="922322"/>
                </a:lnTo>
                <a:lnTo>
                  <a:pt x="8671301" y="940947"/>
                </a:lnTo>
                <a:lnTo>
                  <a:pt x="8629173" y="949190"/>
                </a:lnTo>
                <a:lnTo>
                  <a:pt x="7315200" y="949452"/>
                </a:lnTo>
                <a:lnTo>
                  <a:pt x="4740783" y="949452"/>
                </a:lnTo>
                <a:lnTo>
                  <a:pt x="5120639" y="949452"/>
                </a:lnTo>
                <a:lnTo>
                  <a:pt x="158241" y="949452"/>
                </a:lnTo>
                <a:lnTo>
                  <a:pt x="143535" y="948777"/>
                </a:lnTo>
                <a:lnTo>
                  <a:pt x="101926" y="939134"/>
                </a:lnTo>
                <a:lnTo>
                  <a:pt x="65335" y="919313"/>
                </a:lnTo>
                <a:lnTo>
                  <a:pt x="35370" y="890923"/>
                </a:lnTo>
                <a:lnTo>
                  <a:pt x="13640" y="855571"/>
                </a:lnTo>
                <a:lnTo>
                  <a:pt x="1757" y="814866"/>
                </a:lnTo>
                <a:lnTo>
                  <a:pt x="0" y="791210"/>
                </a:lnTo>
                <a:lnTo>
                  <a:pt x="0" y="553847"/>
                </a:lnTo>
                <a:lnTo>
                  <a:pt x="0" y="15824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832229" y="5496140"/>
            <a:ext cx="8304530" cy="675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710"/>
              </a:lnSpc>
            </a:pPr>
            <a:r>
              <a:rPr sz="2400" b="1" dirty="0">
                <a:latin typeface="宋体"/>
                <a:cs typeface="宋体"/>
              </a:rPr>
              <a:t>使用枚举类型的好处：提高了程序的可读性，并通过限定变量 的取值范围，来确保变量的合法性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49106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5924" y="1933955"/>
            <a:ext cx="10360152" cy="3272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1446" y="1919477"/>
            <a:ext cx="10389235" cy="3301365"/>
          </a:xfrm>
          <a:custGeom>
            <a:avLst/>
            <a:gdLst/>
            <a:ahLst/>
            <a:cxnLst/>
            <a:rect l="l" t="t" r="r" b="b"/>
            <a:pathLst>
              <a:path w="10389235" h="3301365">
                <a:moveTo>
                  <a:pt x="0" y="3300984"/>
                </a:moveTo>
                <a:lnTo>
                  <a:pt x="10389108" y="3300984"/>
                </a:lnTo>
                <a:lnTo>
                  <a:pt x="10389108" y="0"/>
                </a:lnTo>
                <a:lnTo>
                  <a:pt x="0" y="0"/>
                </a:lnTo>
                <a:lnTo>
                  <a:pt x="0" y="3300984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引脚电平状态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12665" y="1180267"/>
            <a:ext cx="40081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3865" algn="l"/>
              </a:tabLst>
            </a:pPr>
            <a:r>
              <a:rPr sz="2800" b="1" spc="-5" dirty="0">
                <a:latin typeface="微软雅黑"/>
                <a:cs typeface="微软雅黑"/>
              </a:rPr>
              <a:t>2	</a:t>
            </a:r>
            <a:r>
              <a:rPr sz="2800" b="1" i="1" spc="-5" dirty="0">
                <a:latin typeface="微软雅黑"/>
                <a:cs typeface="微软雅黑"/>
              </a:rPr>
              <a:t>引脚电平状态数据类型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3247" y="2033016"/>
            <a:ext cx="1615440" cy="52324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枚举类型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91917" y="3361182"/>
            <a:ext cx="3022600" cy="515620"/>
          </a:xfrm>
          <a:custGeom>
            <a:avLst/>
            <a:gdLst/>
            <a:ahLst/>
            <a:cxnLst/>
            <a:rect l="l" t="t" r="r" b="b"/>
            <a:pathLst>
              <a:path w="3022600" h="515620">
                <a:moveTo>
                  <a:pt x="0" y="515112"/>
                </a:moveTo>
                <a:lnTo>
                  <a:pt x="3022092" y="515112"/>
                </a:lnTo>
                <a:lnTo>
                  <a:pt x="3022092" y="0"/>
                </a:lnTo>
                <a:lnTo>
                  <a:pt x="0" y="0"/>
                </a:lnTo>
                <a:lnTo>
                  <a:pt x="0" y="515112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91917" y="4008882"/>
            <a:ext cx="3022600" cy="513715"/>
          </a:xfrm>
          <a:custGeom>
            <a:avLst/>
            <a:gdLst/>
            <a:ahLst/>
            <a:cxnLst/>
            <a:rect l="l" t="t" r="r" b="b"/>
            <a:pathLst>
              <a:path w="3022600" h="513714">
                <a:moveTo>
                  <a:pt x="0" y="513588"/>
                </a:moveTo>
                <a:lnTo>
                  <a:pt x="3022092" y="513588"/>
                </a:lnTo>
                <a:lnTo>
                  <a:pt x="3022092" y="0"/>
                </a:lnTo>
                <a:lnTo>
                  <a:pt x="0" y="0"/>
                </a:lnTo>
                <a:lnTo>
                  <a:pt x="0" y="513588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07642" y="5346953"/>
            <a:ext cx="8778240" cy="949960"/>
          </a:xfrm>
          <a:custGeom>
            <a:avLst/>
            <a:gdLst/>
            <a:ahLst/>
            <a:cxnLst/>
            <a:rect l="l" t="t" r="r" b="b"/>
            <a:pathLst>
              <a:path w="8778240" h="949960">
                <a:moveTo>
                  <a:pt x="8619998" y="0"/>
                </a:moveTo>
                <a:lnTo>
                  <a:pt x="5120639" y="0"/>
                </a:lnTo>
                <a:lnTo>
                  <a:pt x="149066" y="261"/>
                </a:lnTo>
                <a:lnTo>
                  <a:pt x="106938" y="8506"/>
                </a:lnTo>
                <a:lnTo>
                  <a:pt x="69624" y="27132"/>
                </a:lnTo>
                <a:lnTo>
                  <a:pt x="38733" y="54531"/>
                </a:lnTo>
                <a:lnTo>
                  <a:pt x="15875" y="89092"/>
                </a:lnTo>
                <a:lnTo>
                  <a:pt x="2659" y="129207"/>
                </a:lnTo>
                <a:lnTo>
                  <a:pt x="0" y="158242"/>
                </a:lnTo>
                <a:lnTo>
                  <a:pt x="0" y="791210"/>
                </a:lnTo>
                <a:lnTo>
                  <a:pt x="8506" y="842518"/>
                </a:lnTo>
                <a:lnTo>
                  <a:pt x="27132" y="879833"/>
                </a:lnTo>
                <a:lnTo>
                  <a:pt x="54531" y="910722"/>
                </a:lnTo>
                <a:lnTo>
                  <a:pt x="89092" y="933578"/>
                </a:lnTo>
                <a:lnTo>
                  <a:pt x="129207" y="946793"/>
                </a:lnTo>
                <a:lnTo>
                  <a:pt x="158241" y="949452"/>
                </a:lnTo>
                <a:lnTo>
                  <a:pt x="7315200" y="949452"/>
                </a:lnTo>
                <a:lnTo>
                  <a:pt x="8629173" y="949190"/>
                </a:lnTo>
                <a:lnTo>
                  <a:pt x="8671301" y="940947"/>
                </a:lnTo>
                <a:lnTo>
                  <a:pt x="8708615" y="922322"/>
                </a:lnTo>
                <a:lnTo>
                  <a:pt x="8739506" y="894926"/>
                </a:lnTo>
                <a:lnTo>
                  <a:pt x="8762364" y="860364"/>
                </a:lnTo>
                <a:lnTo>
                  <a:pt x="8775580" y="820247"/>
                </a:lnTo>
                <a:lnTo>
                  <a:pt x="8778240" y="791210"/>
                </a:lnTo>
                <a:lnTo>
                  <a:pt x="8778240" y="553847"/>
                </a:lnTo>
                <a:lnTo>
                  <a:pt x="8777978" y="149066"/>
                </a:lnTo>
                <a:lnTo>
                  <a:pt x="8769733" y="106938"/>
                </a:lnTo>
                <a:lnTo>
                  <a:pt x="8751107" y="69624"/>
                </a:lnTo>
                <a:lnTo>
                  <a:pt x="8723708" y="38733"/>
                </a:lnTo>
                <a:lnTo>
                  <a:pt x="8689147" y="15875"/>
                </a:lnTo>
                <a:lnTo>
                  <a:pt x="8649032" y="2659"/>
                </a:lnTo>
                <a:lnTo>
                  <a:pt x="861999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07642" y="5346953"/>
            <a:ext cx="8778240" cy="949960"/>
          </a:xfrm>
          <a:custGeom>
            <a:avLst/>
            <a:gdLst/>
            <a:ahLst/>
            <a:cxnLst/>
            <a:rect l="l" t="t" r="r" b="b"/>
            <a:pathLst>
              <a:path w="8778240" h="949960">
                <a:moveTo>
                  <a:pt x="0" y="158242"/>
                </a:moveTo>
                <a:lnTo>
                  <a:pt x="5893" y="115318"/>
                </a:lnTo>
                <a:lnTo>
                  <a:pt x="22502" y="76875"/>
                </a:lnTo>
                <a:lnTo>
                  <a:pt x="48217" y="44522"/>
                </a:lnTo>
                <a:lnTo>
                  <a:pt x="81428" y="19869"/>
                </a:lnTo>
                <a:lnTo>
                  <a:pt x="120525" y="4525"/>
                </a:lnTo>
                <a:lnTo>
                  <a:pt x="5120639" y="0"/>
                </a:lnTo>
                <a:lnTo>
                  <a:pt x="7315200" y="0"/>
                </a:lnTo>
                <a:lnTo>
                  <a:pt x="8619998" y="0"/>
                </a:lnTo>
                <a:lnTo>
                  <a:pt x="8634704" y="674"/>
                </a:lnTo>
                <a:lnTo>
                  <a:pt x="8676313" y="10319"/>
                </a:lnTo>
                <a:lnTo>
                  <a:pt x="8712904" y="30142"/>
                </a:lnTo>
                <a:lnTo>
                  <a:pt x="8742869" y="58534"/>
                </a:lnTo>
                <a:lnTo>
                  <a:pt x="8764599" y="93886"/>
                </a:lnTo>
                <a:lnTo>
                  <a:pt x="8776482" y="134588"/>
                </a:lnTo>
                <a:lnTo>
                  <a:pt x="8778240" y="553847"/>
                </a:lnTo>
                <a:lnTo>
                  <a:pt x="8778240" y="791210"/>
                </a:lnTo>
                <a:lnTo>
                  <a:pt x="8777565" y="805918"/>
                </a:lnTo>
                <a:lnTo>
                  <a:pt x="8775580" y="820247"/>
                </a:lnTo>
                <a:lnTo>
                  <a:pt x="8762364" y="860364"/>
                </a:lnTo>
                <a:lnTo>
                  <a:pt x="8739506" y="894926"/>
                </a:lnTo>
                <a:lnTo>
                  <a:pt x="8708615" y="922322"/>
                </a:lnTo>
                <a:lnTo>
                  <a:pt x="8671301" y="940947"/>
                </a:lnTo>
                <a:lnTo>
                  <a:pt x="8629173" y="949190"/>
                </a:lnTo>
                <a:lnTo>
                  <a:pt x="7315200" y="949452"/>
                </a:lnTo>
                <a:lnTo>
                  <a:pt x="4740783" y="949452"/>
                </a:lnTo>
                <a:lnTo>
                  <a:pt x="5120639" y="949452"/>
                </a:lnTo>
                <a:lnTo>
                  <a:pt x="158241" y="949452"/>
                </a:lnTo>
                <a:lnTo>
                  <a:pt x="143535" y="948777"/>
                </a:lnTo>
                <a:lnTo>
                  <a:pt x="101926" y="939134"/>
                </a:lnTo>
                <a:lnTo>
                  <a:pt x="65335" y="919313"/>
                </a:lnTo>
                <a:lnTo>
                  <a:pt x="35370" y="890923"/>
                </a:lnTo>
                <a:lnTo>
                  <a:pt x="13640" y="855571"/>
                </a:lnTo>
                <a:lnTo>
                  <a:pt x="1757" y="814866"/>
                </a:lnTo>
                <a:lnTo>
                  <a:pt x="0" y="791210"/>
                </a:lnTo>
                <a:lnTo>
                  <a:pt x="0" y="553847"/>
                </a:lnTo>
                <a:lnTo>
                  <a:pt x="0" y="15824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832229" y="5496140"/>
            <a:ext cx="8304530" cy="675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710"/>
              </a:lnSpc>
            </a:pPr>
            <a:r>
              <a:rPr sz="2400" b="1" dirty="0">
                <a:latin typeface="宋体"/>
                <a:cs typeface="宋体"/>
              </a:rPr>
              <a:t>使用枚举类型的好处：提高了程序的可读性，并通过限定变量 的取值范围，来确保变量的合法性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94956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0133" y="6608820"/>
            <a:ext cx="27965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微软雅黑"/>
                <a:cs typeface="微软雅黑"/>
              </a:rPr>
              <a:t>--</a:t>
            </a:r>
            <a:r>
              <a:rPr sz="1200" b="1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200" b="1" i="1" dirty="0">
                <a:solidFill>
                  <a:srgbClr val="FFFFFF"/>
                </a:solidFill>
                <a:latin typeface="微软雅黑"/>
                <a:cs typeface="微软雅黑"/>
              </a:rPr>
              <a:t>南昌大学“卓越”辅导员培养工程建设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84732" y="4331026"/>
            <a:ext cx="1092835" cy="1870710"/>
          </a:xfrm>
          <a:custGeom>
            <a:avLst/>
            <a:gdLst/>
            <a:ahLst/>
            <a:cxnLst/>
            <a:rect l="l" t="t" r="r" b="b"/>
            <a:pathLst>
              <a:path w="1092835" h="1870710">
                <a:moveTo>
                  <a:pt x="58542" y="0"/>
                </a:moveTo>
                <a:lnTo>
                  <a:pt x="27340" y="30951"/>
                </a:lnTo>
                <a:lnTo>
                  <a:pt x="8758" y="87644"/>
                </a:lnTo>
                <a:lnTo>
                  <a:pt x="0" y="141786"/>
                </a:lnTo>
                <a:lnTo>
                  <a:pt x="0" y="1383313"/>
                </a:lnTo>
                <a:lnTo>
                  <a:pt x="2725" y="1448927"/>
                </a:lnTo>
                <a:lnTo>
                  <a:pt x="9812" y="1506738"/>
                </a:lnTo>
                <a:lnTo>
                  <a:pt x="21681" y="1556982"/>
                </a:lnTo>
                <a:lnTo>
                  <a:pt x="38754" y="1599895"/>
                </a:lnTo>
                <a:lnTo>
                  <a:pt x="61452" y="1635711"/>
                </a:lnTo>
                <a:lnTo>
                  <a:pt x="90196" y="1664665"/>
                </a:lnTo>
                <a:lnTo>
                  <a:pt x="125408" y="1686994"/>
                </a:lnTo>
                <a:lnTo>
                  <a:pt x="167509" y="1702931"/>
                </a:lnTo>
                <a:lnTo>
                  <a:pt x="216921" y="1712712"/>
                </a:lnTo>
                <a:lnTo>
                  <a:pt x="274066" y="1716573"/>
                </a:lnTo>
                <a:lnTo>
                  <a:pt x="836168" y="1719837"/>
                </a:lnTo>
                <a:lnTo>
                  <a:pt x="833882" y="1870129"/>
                </a:lnTo>
                <a:lnTo>
                  <a:pt x="1092708" y="1620193"/>
                </a:lnTo>
                <a:lnTo>
                  <a:pt x="1019520" y="1540145"/>
                </a:lnTo>
                <a:lnTo>
                  <a:pt x="843280" y="1540145"/>
                </a:lnTo>
                <a:lnTo>
                  <a:pt x="309245" y="1527077"/>
                </a:lnTo>
                <a:lnTo>
                  <a:pt x="268713" y="1524923"/>
                </a:lnTo>
                <a:lnTo>
                  <a:pt x="223387" y="1514961"/>
                </a:lnTo>
                <a:lnTo>
                  <a:pt x="188420" y="1487982"/>
                </a:lnTo>
                <a:lnTo>
                  <a:pt x="169253" y="1450733"/>
                </a:lnTo>
                <a:lnTo>
                  <a:pt x="156338" y="1394342"/>
                </a:lnTo>
                <a:lnTo>
                  <a:pt x="151293" y="1344088"/>
                </a:lnTo>
                <a:lnTo>
                  <a:pt x="138176" y="164646"/>
                </a:lnTo>
                <a:lnTo>
                  <a:pt x="133386" y="135168"/>
                </a:lnTo>
                <a:lnTo>
                  <a:pt x="121625" y="84703"/>
                </a:lnTo>
                <a:lnTo>
                  <a:pt x="107549" y="45738"/>
                </a:lnTo>
                <a:lnTo>
                  <a:pt x="83649" y="9326"/>
                </a:lnTo>
                <a:lnTo>
                  <a:pt x="66897" y="54"/>
                </a:lnTo>
                <a:lnTo>
                  <a:pt x="58542" y="0"/>
                </a:lnTo>
                <a:close/>
              </a:path>
              <a:path w="1092835" h="1870710">
                <a:moveTo>
                  <a:pt x="843280" y="1347384"/>
                </a:moveTo>
                <a:lnTo>
                  <a:pt x="843280" y="1540145"/>
                </a:lnTo>
                <a:lnTo>
                  <a:pt x="1019520" y="1540145"/>
                </a:lnTo>
                <a:lnTo>
                  <a:pt x="843280" y="134738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6611" y="4017264"/>
            <a:ext cx="1330960" cy="455930"/>
          </a:xfrm>
          <a:custGeom>
            <a:avLst/>
            <a:gdLst/>
            <a:ahLst/>
            <a:cxnLst/>
            <a:rect l="l" t="t" r="r" b="b"/>
            <a:pathLst>
              <a:path w="1330960" h="455929">
                <a:moveTo>
                  <a:pt x="1223077" y="311277"/>
                </a:moveTo>
                <a:lnTo>
                  <a:pt x="1039749" y="311277"/>
                </a:lnTo>
                <a:lnTo>
                  <a:pt x="1044067" y="455675"/>
                </a:lnTo>
                <a:lnTo>
                  <a:pt x="1223077" y="311277"/>
                </a:lnTo>
                <a:close/>
              </a:path>
              <a:path w="1330960" h="455929">
                <a:moveTo>
                  <a:pt x="1044067" y="0"/>
                </a:moveTo>
                <a:lnTo>
                  <a:pt x="1044067" y="134747"/>
                </a:lnTo>
                <a:lnTo>
                  <a:pt x="0" y="138049"/>
                </a:lnTo>
                <a:lnTo>
                  <a:pt x="2197" y="336931"/>
                </a:lnTo>
                <a:lnTo>
                  <a:pt x="1039749" y="311277"/>
                </a:lnTo>
                <a:lnTo>
                  <a:pt x="1223077" y="311277"/>
                </a:lnTo>
                <a:lnTo>
                  <a:pt x="1330452" y="224662"/>
                </a:lnTo>
                <a:lnTo>
                  <a:pt x="104406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24355" y="2372867"/>
            <a:ext cx="1092835" cy="1708150"/>
          </a:xfrm>
          <a:custGeom>
            <a:avLst/>
            <a:gdLst/>
            <a:ahLst/>
            <a:cxnLst/>
            <a:rect l="l" t="t" r="r" b="b"/>
            <a:pathLst>
              <a:path w="1092835" h="1708150">
                <a:moveTo>
                  <a:pt x="833882" y="0"/>
                </a:moveTo>
                <a:lnTo>
                  <a:pt x="836168" y="137287"/>
                </a:lnTo>
                <a:lnTo>
                  <a:pt x="274066" y="140208"/>
                </a:lnTo>
                <a:lnTo>
                  <a:pt x="244501" y="141317"/>
                </a:lnTo>
                <a:lnTo>
                  <a:pt x="191275" y="147530"/>
                </a:lnTo>
                <a:lnTo>
                  <a:pt x="145571" y="159250"/>
                </a:lnTo>
                <a:lnTo>
                  <a:pt x="106967" y="176692"/>
                </a:lnTo>
                <a:lnTo>
                  <a:pt x="75042" y="200073"/>
                </a:lnTo>
                <a:lnTo>
                  <a:pt x="49373" y="229609"/>
                </a:lnTo>
                <a:lnTo>
                  <a:pt x="29541" y="265518"/>
                </a:lnTo>
                <a:lnTo>
                  <a:pt x="15122" y="308014"/>
                </a:lnTo>
                <a:lnTo>
                  <a:pt x="5697" y="357315"/>
                </a:lnTo>
                <a:lnTo>
                  <a:pt x="844" y="413638"/>
                </a:lnTo>
                <a:lnTo>
                  <a:pt x="0" y="444500"/>
                </a:lnTo>
                <a:lnTo>
                  <a:pt x="0" y="1578229"/>
                </a:lnTo>
                <a:lnTo>
                  <a:pt x="8758" y="1627685"/>
                </a:lnTo>
                <a:lnTo>
                  <a:pt x="20539" y="1665162"/>
                </a:lnTo>
                <a:lnTo>
                  <a:pt x="42320" y="1699347"/>
                </a:lnTo>
                <a:lnTo>
                  <a:pt x="58542" y="1707739"/>
                </a:lnTo>
                <a:lnTo>
                  <a:pt x="66897" y="1707689"/>
                </a:lnTo>
                <a:lnTo>
                  <a:pt x="99864" y="1679762"/>
                </a:lnTo>
                <a:lnTo>
                  <a:pt x="121625" y="1630393"/>
                </a:lnTo>
                <a:lnTo>
                  <a:pt x="133386" y="1584315"/>
                </a:lnTo>
                <a:lnTo>
                  <a:pt x="149859" y="507238"/>
                </a:lnTo>
                <a:lnTo>
                  <a:pt x="151314" y="480105"/>
                </a:lnTo>
                <a:lnTo>
                  <a:pt x="156454" y="433785"/>
                </a:lnTo>
                <a:lnTo>
                  <a:pt x="169636" y="382016"/>
                </a:lnTo>
                <a:lnTo>
                  <a:pt x="189215" y="348051"/>
                </a:lnTo>
                <a:lnTo>
                  <a:pt x="224945" y="323763"/>
                </a:lnTo>
                <a:lnTo>
                  <a:pt x="271265" y="315048"/>
                </a:lnTo>
                <a:lnTo>
                  <a:pt x="843280" y="301371"/>
                </a:lnTo>
                <a:lnTo>
                  <a:pt x="1019481" y="301371"/>
                </a:lnTo>
                <a:lnTo>
                  <a:pt x="1092708" y="228219"/>
                </a:lnTo>
                <a:lnTo>
                  <a:pt x="833882" y="0"/>
                </a:lnTo>
                <a:close/>
              </a:path>
              <a:path w="1092835" h="1708150">
                <a:moveTo>
                  <a:pt x="1019481" y="301371"/>
                </a:moveTo>
                <a:lnTo>
                  <a:pt x="843280" y="301371"/>
                </a:lnTo>
                <a:lnTo>
                  <a:pt x="843280" y="477393"/>
                </a:lnTo>
                <a:lnTo>
                  <a:pt x="1019481" y="301371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0653" y="1838705"/>
            <a:ext cx="7010400" cy="1498600"/>
          </a:xfrm>
          <a:custGeom>
            <a:avLst/>
            <a:gdLst/>
            <a:ahLst/>
            <a:cxnLst/>
            <a:rect l="l" t="t" r="r" b="b"/>
            <a:pathLst>
              <a:path w="7010400" h="1498600">
                <a:moveTo>
                  <a:pt x="0" y="172339"/>
                </a:moveTo>
                <a:lnTo>
                  <a:pt x="5434" y="129268"/>
                </a:lnTo>
                <a:lnTo>
                  <a:pt x="20830" y="90182"/>
                </a:lnTo>
                <a:lnTo>
                  <a:pt x="44830" y="56441"/>
                </a:lnTo>
                <a:lnTo>
                  <a:pt x="76073" y="29403"/>
                </a:lnTo>
                <a:lnTo>
                  <a:pt x="113200" y="10429"/>
                </a:lnTo>
                <a:lnTo>
                  <a:pt x="154851" y="877"/>
                </a:lnTo>
                <a:lnTo>
                  <a:pt x="6838061" y="0"/>
                </a:lnTo>
                <a:lnTo>
                  <a:pt x="6852776" y="620"/>
                </a:lnTo>
                <a:lnTo>
                  <a:pt x="6894670" y="9526"/>
                </a:lnTo>
                <a:lnTo>
                  <a:pt x="6932125" y="27941"/>
                </a:lnTo>
                <a:lnTo>
                  <a:pt x="6963783" y="54506"/>
                </a:lnTo>
                <a:lnTo>
                  <a:pt x="6988284" y="87862"/>
                </a:lnTo>
                <a:lnTo>
                  <a:pt x="7004268" y="126648"/>
                </a:lnTo>
                <a:lnTo>
                  <a:pt x="7010377" y="169506"/>
                </a:lnTo>
                <a:lnTo>
                  <a:pt x="7010400" y="1325753"/>
                </a:lnTo>
                <a:lnTo>
                  <a:pt x="7009779" y="1340468"/>
                </a:lnTo>
                <a:lnTo>
                  <a:pt x="7000873" y="1382362"/>
                </a:lnTo>
                <a:lnTo>
                  <a:pt x="6982458" y="1419817"/>
                </a:lnTo>
                <a:lnTo>
                  <a:pt x="6955893" y="1451475"/>
                </a:lnTo>
                <a:lnTo>
                  <a:pt x="6922537" y="1475976"/>
                </a:lnTo>
                <a:lnTo>
                  <a:pt x="6883751" y="1491960"/>
                </a:lnTo>
                <a:lnTo>
                  <a:pt x="6840893" y="1498069"/>
                </a:lnTo>
                <a:lnTo>
                  <a:pt x="172338" y="1498092"/>
                </a:lnTo>
                <a:lnTo>
                  <a:pt x="157623" y="1497471"/>
                </a:lnTo>
                <a:lnTo>
                  <a:pt x="115729" y="1488565"/>
                </a:lnTo>
                <a:lnTo>
                  <a:pt x="78274" y="1470150"/>
                </a:lnTo>
                <a:lnTo>
                  <a:pt x="46616" y="1443585"/>
                </a:lnTo>
                <a:lnTo>
                  <a:pt x="22115" y="1410229"/>
                </a:lnTo>
                <a:lnTo>
                  <a:pt x="6131" y="1371443"/>
                </a:lnTo>
                <a:lnTo>
                  <a:pt x="22" y="1328585"/>
                </a:lnTo>
                <a:lnTo>
                  <a:pt x="0" y="172339"/>
                </a:lnTo>
                <a:close/>
              </a:path>
            </a:pathLst>
          </a:custGeom>
          <a:ln w="28955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91558" y="2239888"/>
            <a:ext cx="6735445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55900" algn="l"/>
              </a:tabLst>
            </a:pP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L_GPIO_Init	</a:t>
            </a:r>
            <a:r>
              <a:rPr sz="2400" b="1" i="1" spc="-5" dirty="0">
                <a:latin typeface="微软雅黑"/>
                <a:cs typeface="微软雅黑"/>
              </a:rPr>
              <a:t>：用于完成引脚的初始化；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L_GPIO_DeInit</a:t>
            </a:r>
            <a:r>
              <a:rPr sz="2400" b="1" spc="105" dirty="0">
                <a:latin typeface="微软雅黑"/>
                <a:cs typeface="微软雅黑"/>
              </a:rPr>
              <a:t> </a:t>
            </a:r>
            <a:r>
              <a:rPr sz="2400" b="1" i="1" dirty="0">
                <a:latin typeface="微软雅黑"/>
                <a:cs typeface="微软雅黑"/>
              </a:rPr>
              <a:t>：用于复位引脚到初始状态；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5539" y="1985772"/>
            <a:ext cx="1754505" cy="1202690"/>
          </a:xfrm>
          <a:custGeom>
            <a:avLst/>
            <a:gdLst/>
            <a:ahLst/>
            <a:cxnLst/>
            <a:rect l="l" t="t" r="r" b="b"/>
            <a:pathLst>
              <a:path w="1754504" h="1202689">
                <a:moveTo>
                  <a:pt x="1610740" y="0"/>
                </a:moveTo>
                <a:lnTo>
                  <a:pt x="129169" y="694"/>
                </a:lnTo>
                <a:lnTo>
                  <a:pt x="87871" y="11122"/>
                </a:lnTo>
                <a:lnTo>
                  <a:pt x="52354" y="32556"/>
                </a:lnTo>
                <a:lnTo>
                  <a:pt x="24569" y="63045"/>
                </a:lnTo>
                <a:lnTo>
                  <a:pt x="6467" y="100638"/>
                </a:lnTo>
                <a:lnTo>
                  <a:pt x="0" y="143382"/>
                </a:lnTo>
                <a:lnTo>
                  <a:pt x="683" y="1059052"/>
                </a:lnTo>
                <a:lnTo>
                  <a:pt x="6327" y="1101344"/>
                </a:lnTo>
                <a:lnTo>
                  <a:pt x="24309" y="1139005"/>
                </a:lnTo>
                <a:lnTo>
                  <a:pt x="51997" y="1169584"/>
                </a:lnTo>
                <a:lnTo>
                  <a:pt x="87438" y="1191130"/>
                </a:lnTo>
                <a:lnTo>
                  <a:pt x="128682" y="1201693"/>
                </a:lnTo>
                <a:lnTo>
                  <a:pt x="143383" y="1202436"/>
                </a:lnTo>
                <a:lnTo>
                  <a:pt x="1624954" y="1201741"/>
                </a:lnTo>
                <a:lnTo>
                  <a:pt x="1666252" y="1191313"/>
                </a:lnTo>
                <a:lnTo>
                  <a:pt x="1701769" y="1169879"/>
                </a:lnTo>
                <a:lnTo>
                  <a:pt x="1729554" y="1139390"/>
                </a:lnTo>
                <a:lnTo>
                  <a:pt x="1747656" y="1101797"/>
                </a:lnTo>
                <a:lnTo>
                  <a:pt x="1754124" y="1059052"/>
                </a:lnTo>
                <a:lnTo>
                  <a:pt x="1753440" y="143382"/>
                </a:lnTo>
                <a:lnTo>
                  <a:pt x="1747796" y="101091"/>
                </a:lnTo>
                <a:lnTo>
                  <a:pt x="1729814" y="63430"/>
                </a:lnTo>
                <a:lnTo>
                  <a:pt x="1702126" y="32851"/>
                </a:lnTo>
                <a:lnTo>
                  <a:pt x="1666685" y="11305"/>
                </a:lnTo>
                <a:lnTo>
                  <a:pt x="1625441" y="742"/>
                </a:lnTo>
                <a:lnTo>
                  <a:pt x="161074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22829" y="2239888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5080" indent="-15240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初始化 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17064" y="3672840"/>
            <a:ext cx="1757680" cy="1195070"/>
          </a:xfrm>
          <a:custGeom>
            <a:avLst/>
            <a:gdLst/>
            <a:ahLst/>
            <a:cxnLst/>
            <a:rect l="l" t="t" r="r" b="b"/>
            <a:pathLst>
              <a:path w="1757679" h="1195070">
                <a:moveTo>
                  <a:pt x="1614677" y="0"/>
                </a:moveTo>
                <a:lnTo>
                  <a:pt x="129722" y="563"/>
                </a:lnTo>
                <a:lnTo>
                  <a:pt x="88295" y="10656"/>
                </a:lnTo>
                <a:lnTo>
                  <a:pt x="52632" y="31873"/>
                </a:lnTo>
                <a:lnTo>
                  <a:pt x="24710" y="62236"/>
                </a:lnTo>
                <a:lnTo>
                  <a:pt x="6507" y="99769"/>
                </a:lnTo>
                <a:lnTo>
                  <a:pt x="0" y="142494"/>
                </a:lnTo>
                <a:lnTo>
                  <a:pt x="563" y="1065093"/>
                </a:lnTo>
                <a:lnTo>
                  <a:pt x="10656" y="1106520"/>
                </a:lnTo>
                <a:lnTo>
                  <a:pt x="31873" y="1142183"/>
                </a:lnTo>
                <a:lnTo>
                  <a:pt x="62236" y="1170105"/>
                </a:lnTo>
                <a:lnTo>
                  <a:pt x="99769" y="1188308"/>
                </a:lnTo>
                <a:lnTo>
                  <a:pt x="142494" y="1194816"/>
                </a:lnTo>
                <a:lnTo>
                  <a:pt x="1627449" y="1194252"/>
                </a:lnTo>
                <a:lnTo>
                  <a:pt x="1668876" y="1184159"/>
                </a:lnTo>
                <a:lnTo>
                  <a:pt x="1704539" y="1162942"/>
                </a:lnTo>
                <a:lnTo>
                  <a:pt x="1732461" y="1132579"/>
                </a:lnTo>
                <a:lnTo>
                  <a:pt x="1750664" y="1095046"/>
                </a:lnTo>
                <a:lnTo>
                  <a:pt x="1757172" y="1052322"/>
                </a:lnTo>
                <a:lnTo>
                  <a:pt x="1756608" y="129722"/>
                </a:lnTo>
                <a:lnTo>
                  <a:pt x="1746515" y="88295"/>
                </a:lnTo>
                <a:lnTo>
                  <a:pt x="1725298" y="52632"/>
                </a:lnTo>
                <a:lnTo>
                  <a:pt x="1694935" y="24710"/>
                </a:lnTo>
                <a:lnTo>
                  <a:pt x="1657402" y="6507"/>
                </a:lnTo>
                <a:lnTo>
                  <a:pt x="161467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78911" y="3923019"/>
            <a:ext cx="6350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1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控制 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7439" y="5352288"/>
            <a:ext cx="1797050" cy="1181100"/>
          </a:xfrm>
          <a:custGeom>
            <a:avLst/>
            <a:gdLst/>
            <a:ahLst/>
            <a:cxnLst/>
            <a:rect l="l" t="t" r="r" b="b"/>
            <a:pathLst>
              <a:path w="1797050" h="1181100">
                <a:moveTo>
                  <a:pt x="1655952" y="0"/>
                </a:moveTo>
                <a:lnTo>
                  <a:pt x="130751" y="355"/>
                </a:lnTo>
                <a:lnTo>
                  <a:pt x="89070" y="9801"/>
                </a:lnTo>
                <a:lnTo>
                  <a:pt x="53134" y="30594"/>
                </a:lnTo>
                <a:lnTo>
                  <a:pt x="24962" y="60712"/>
                </a:lnTo>
                <a:lnTo>
                  <a:pt x="6577" y="98136"/>
                </a:lnTo>
                <a:lnTo>
                  <a:pt x="0" y="140843"/>
                </a:lnTo>
                <a:lnTo>
                  <a:pt x="352" y="1050346"/>
                </a:lnTo>
                <a:lnTo>
                  <a:pt x="9792" y="1092004"/>
                </a:lnTo>
                <a:lnTo>
                  <a:pt x="30583" y="1127938"/>
                </a:lnTo>
                <a:lnTo>
                  <a:pt x="60703" y="1156119"/>
                </a:lnTo>
                <a:lnTo>
                  <a:pt x="98130" y="1174516"/>
                </a:lnTo>
                <a:lnTo>
                  <a:pt x="140843" y="1181100"/>
                </a:lnTo>
                <a:lnTo>
                  <a:pt x="1666014" y="1180746"/>
                </a:lnTo>
                <a:lnTo>
                  <a:pt x="1707703" y="1171301"/>
                </a:lnTo>
                <a:lnTo>
                  <a:pt x="1743648" y="1150503"/>
                </a:lnTo>
                <a:lnTo>
                  <a:pt x="1771826" y="1120382"/>
                </a:lnTo>
                <a:lnTo>
                  <a:pt x="1790216" y="1082970"/>
                </a:lnTo>
                <a:lnTo>
                  <a:pt x="1796796" y="1040295"/>
                </a:lnTo>
                <a:lnTo>
                  <a:pt x="1796440" y="130751"/>
                </a:lnTo>
                <a:lnTo>
                  <a:pt x="1786994" y="89070"/>
                </a:lnTo>
                <a:lnTo>
                  <a:pt x="1766201" y="53134"/>
                </a:lnTo>
                <a:lnTo>
                  <a:pt x="1736083" y="24962"/>
                </a:lnTo>
                <a:lnTo>
                  <a:pt x="1698659" y="6577"/>
                </a:lnTo>
                <a:lnTo>
                  <a:pt x="1655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59354" y="5595710"/>
            <a:ext cx="6350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配置 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9891" y="3570732"/>
            <a:ext cx="1339850" cy="1297305"/>
          </a:xfrm>
          <a:custGeom>
            <a:avLst/>
            <a:gdLst/>
            <a:ahLst/>
            <a:cxnLst/>
            <a:rect l="l" t="t" r="r" b="b"/>
            <a:pathLst>
              <a:path w="1339850" h="1297304">
                <a:moveTo>
                  <a:pt x="669798" y="0"/>
                </a:moveTo>
                <a:lnTo>
                  <a:pt x="614863" y="2149"/>
                </a:lnTo>
                <a:lnTo>
                  <a:pt x="561151" y="8487"/>
                </a:lnTo>
                <a:lnTo>
                  <a:pt x="508835" y="18845"/>
                </a:lnTo>
                <a:lnTo>
                  <a:pt x="458087" y="33058"/>
                </a:lnTo>
                <a:lnTo>
                  <a:pt x="409079" y="50958"/>
                </a:lnTo>
                <a:lnTo>
                  <a:pt x="361984" y="72379"/>
                </a:lnTo>
                <a:lnTo>
                  <a:pt x="316974" y="97153"/>
                </a:lnTo>
                <a:lnTo>
                  <a:pt x="274221" y="125114"/>
                </a:lnTo>
                <a:lnTo>
                  <a:pt x="233898" y="156094"/>
                </a:lnTo>
                <a:lnTo>
                  <a:pt x="196176" y="189928"/>
                </a:lnTo>
                <a:lnTo>
                  <a:pt x="161230" y="226448"/>
                </a:lnTo>
                <a:lnTo>
                  <a:pt x="129230" y="265486"/>
                </a:lnTo>
                <a:lnTo>
                  <a:pt x="100349" y="306877"/>
                </a:lnTo>
                <a:lnTo>
                  <a:pt x="74760" y="350454"/>
                </a:lnTo>
                <a:lnTo>
                  <a:pt x="52635" y="396049"/>
                </a:lnTo>
                <a:lnTo>
                  <a:pt x="34146" y="443496"/>
                </a:lnTo>
                <a:lnTo>
                  <a:pt x="19465" y="492627"/>
                </a:lnTo>
                <a:lnTo>
                  <a:pt x="8766" y="543277"/>
                </a:lnTo>
                <a:lnTo>
                  <a:pt x="2220" y="595277"/>
                </a:lnTo>
                <a:lnTo>
                  <a:pt x="0" y="648461"/>
                </a:lnTo>
                <a:lnTo>
                  <a:pt x="2220" y="701646"/>
                </a:lnTo>
                <a:lnTo>
                  <a:pt x="8766" y="753646"/>
                </a:lnTo>
                <a:lnTo>
                  <a:pt x="19465" y="804296"/>
                </a:lnTo>
                <a:lnTo>
                  <a:pt x="34146" y="853427"/>
                </a:lnTo>
                <a:lnTo>
                  <a:pt x="52635" y="900874"/>
                </a:lnTo>
                <a:lnTo>
                  <a:pt x="74760" y="946469"/>
                </a:lnTo>
                <a:lnTo>
                  <a:pt x="100349" y="990046"/>
                </a:lnTo>
                <a:lnTo>
                  <a:pt x="129230" y="1031437"/>
                </a:lnTo>
                <a:lnTo>
                  <a:pt x="161230" y="1070475"/>
                </a:lnTo>
                <a:lnTo>
                  <a:pt x="196176" y="1106995"/>
                </a:lnTo>
                <a:lnTo>
                  <a:pt x="233898" y="1140829"/>
                </a:lnTo>
                <a:lnTo>
                  <a:pt x="274221" y="1171809"/>
                </a:lnTo>
                <a:lnTo>
                  <a:pt x="316974" y="1199770"/>
                </a:lnTo>
                <a:lnTo>
                  <a:pt x="361984" y="1224544"/>
                </a:lnTo>
                <a:lnTo>
                  <a:pt x="409079" y="1245965"/>
                </a:lnTo>
                <a:lnTo>
                  <a:pt x="458087" y="1263865"/>
                </a:lnTo>
                <a:lnTo>
                  <a:pt x="508835" y="1278078"/>
                </a:lnTo>
                <a:lnTo>
                  <a:pt x="561151" y="1288436"/>
                </a:lnTo>
                <a:lnTo>
                  <a:pt x="614863" y="1294774"/>
                </a:lnTo>
                <a:lnTo>
                  <a:pt x="669798" y="1296923"/>
                </a:lnTo>
                <a:lnTo>
                  <a:pt x="724736" y="1294774"/>
                </a:lnTo>
                <a:lnTo>
                  <a:pt x="778450" y="1288436"/>
                </a:lnTo>
                <a:lnTo>
                  <a:pt x="830768" y="1278078"/>
                </a:lnTo>
                <a:lnTo>
                  <a:pt x="881518" y="1263865"/>
                </a:lnTo>
                <a:lnTo>
                  <a:pt x="930527" y="1245965"/>
                </a:lnTo>
                <a:lnTo>
                  <a:pt x="977622" y="1224544"/>
                </a:lnTo>
                <a:lnTo>
                  <a:pt x="1022633" y="1199770"/>
                </a:lnTo>
                <a:lnTo>
                  <a:pt x="1065385" y="1171809"/>
                </a:lnTo>
                <a:lnTo>
                  <a:pt x="1105708" y="1140829"/>
                </a:lnTo>
                <a:lnTo>
                  <a:pt x="1143428" y="1106995"/>
                </a:lnTo>
                <a:lnTo>
                  <a:pt x="1178374" y="1070475"/>
                </a:lnTo>
                <a:lnTo>
                  <a:pt x="1210372" y="1031437"/>
                </a:lnTo>
                <a:lnTo>
                  <a:pt x="1239252" y="990046"/>
                </a:lnTo>
                <a:lnTo>
                  <a:pt x="1264840" y="946469"/>
                </a:lnTo>
                <a:lnTo>
                  <a:pt x="1286964" y="900874"/>
                </a:lnTo>
                <a:lnTo>
                  <a:pt x="1305452" y="853427"/>
                </a:lnTo>
                <a:lnTo>
                  <a:pt x="1320131" y="804296"/>
                </a:lnTo>
                <a:lnTo>
                  <a:pt x="1330830" y="753646"/>
                </a:lnTo>
                <a:lnTo>
                  <a:pt x="1337375" y="701646"/>
                </a:lnTo>
                <a:lnTo>
                  <a:pt x="1339595" y="648461"/>
                </a:lnTo>
                <a:lnTo>
                  <a:pt x="1337375" y="595277"/>
                </a:lnTo>
                <a:lnTo>
                  <a:pt x="1330830" y="543277"/>
                </a:lnTo>
                <a:lnTo>
                  <a:pt x="1320131" y="492627"/>
                </a:lnTo>
                <a:lnTo>
                  <a:pt x="1305452" y="443496"/>
                </a:lnTo>
                <a:lnTo>
                  <a:pt x="1286964" y="396049"/>
                </a:lnTo>
                <a:lnTo>
                  <a:pt x="1264840" y="350454"/>
                </a:lnTo>
                <a:lnTo>
                  <a:pt x="1239252" y="306877"/>
                </a:lnTo>
                <a:lnTo>
                  <a:pt x="1210372" y="265486"/>
                </a:lnTo>
                <a:lnTo>
                  <a:pt x="1178374" y="226448"/>
                </a:lnTo>
                <a:lnTo>
                  <a:pt x="1143428" y="189928"/>
                </a:lnTo>
                <a:lnTo>
                  <a:pt x="1105708" y="156094"/>
                </a:lnTo>
                <a:lnTo>
                  <a:pt x="1065385" y="125114"/>
                </a:lnTo>
                <a:lnTo>
                  <a:pt x="1022633" y="97153"/>
                </a:lnTo>
                <a:lnTo>
                  <a:pt x="977622" y="72379"/>
                </a:lnTo>
                <a:lnTo>
                  <a:pt x="930527" y="50958"/>
                </a:lnTo>
                <a:lnTo>
                  <a:pt x="881518" y="33058"/>
                </a:lnTo>
                <a:lnTo>
                  <a:pt x="830768" y="18845"/>
                </a:lnTo>
                <a:lnTo>
                  <a:pt x="778450" y="8487"/>
                </a:lnTo>
                <a:lnTo>
                  <a:pt x="724736" y="2149"/>
                </a:lnTo>
                <a:lnTo>
                  <a:pt x="66979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12342" y="4091167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分类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70653" y="3562350"/>
            <a:ext cx="7010400" cy="1485900"/>
          </a:xfrm>
          <a:custGeom>
            <a:avLst/>
            <a:gdLst/>
            <a:ahLst/>
            <a:cxnLst/>
            <a:rect l="l" t="t" r="r" b="b"/>
            <a:pathLst>
              <a:path w="7010400" h="1485900">
                <a:moveTo>
                  <a:pt x="0" y="170942"/>
                </a:moveTo>
                <a:lnTo>
                  <a:pt x="5476" y="127882"/>
                </a:lnTo>
                <a:lnTo>
                  <a:pt x="20984" y="88854"/>
                </a:lnTo>
                <a:lnTo>
                  <a:pt x="45143" y="55237"/>
                </a:lnTo>
                <a:lnTo>
                  <a:pt x="76571" y="28413"/>
                </a:lnTo>
                <a:lnTo>
                  <a:pt x="113888" y="9764"/>
                </a:lnTo>
                <a:lnTo>
                  <a:pt x="155712" y="670"/>
                </a:lnTo>
                <a:lnTo>
                  <a:pt x="6839458" y="0"/>
                </a:lnTo>
                <a:lnTo>
                  <a:pt x="6854173" y="625"/>
                </a:lnTo>
                <a:lnTo>
                  <a:pt x="6896042" y="9599"/>
                </a:lnTo>
                <a:lnTo>
                  <a:pt x="6933420" y="28144"/>
                </a:lnTo>
                <a:lnTo>
                  <a:pt x="6964926" y="54879"/>
                </a:lnTo>
                <a:lnTo>
                  <a:pt x="6989178" y="88424"/>
                </a:lnTo>
                <a:lnTo>
                  <a:pt x="7004796" y="127397"/>
                </a:lnTo>
                <a:lnTo>
                  <a:pt x="7010399" y="170417"/>
                </a:lnTo>
                <a:lnTo>
                  <a:pt x="7010400" y="1314958"/>
                </a:lnTo>
                <a:lnTo>
                  <a:pt x="7009774" y="1329673"/>
                </a:lnTo>
                <a:lnTo>
                  <a:pt x="7000800" y="1371542"/>
                </a:lnTo>
                <a:lnTo>
                  <a:pt x="6982255" y="1408920"/>
                </a:lnTo>
                <a:lnTo>
                  <a:pt x="6955520" y="1440426"/>
                </a:lnTo>
                <a:lnTo>
                  <a:pt x="6921975" y="1464678"/>
                </a:lnTo>
                <a:lnTo>
                  <a:pt x="6883002" y="1480296"/>
                </a:lnTo>
                <a:lnTo>
                  <a:pt x="6839982" y="1485899"/>
                </a:lnTo>
                <a:lnTo>
                  <a:pt x="170942" y="1485900"/>
                </a:lnTo>
                <a:lnTo>
                  <a:pt x="156226" y="1485274"/>
                </a:lnTo>
                <a:lnTo>
                  <a:pt x="114357" y="1476300"/>
                </a:lnTo>
                <a:lnTo>
                  <a:pt x="76979" y="1457755"/>
                </a:lnTo>
                <a:lnTo>
                  <a:pt x="45473" y="1431020"/>
                </a:lnTo>
                <a:lnTo>
                  <a:pt x="21221" y="1397475"/>
                </a:lnTo>
                <a:lnTo>
                  <a:pt x="5603" y="1358502"/>
                </a:lnTo>
                <a:lnTo>
                  <a:pt x="0" y="1315482"/>
                </a:lnTo>
                <a:lnTo>
                  <a:pt x="0" y="170942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591303" y="3737345"/>
            <a:ext cx="306705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L_GPIO_</a:t>
            </a:r>
            <a:r>
              <a:rPr sz="2400" b="1" spc="-60" dirty="0">
                <a:latin typeface="微软雅黑"/>
                <a:cs typeface="微软雅黑"/>
              </a:rPr>
              <a:t>R</a:t>
            </a:r>
            <a:r>
              <a:rPr sz="2400" b="1" spc="-5" dirty="0">
                <a:latin typeface="微软雅黑"/>
                <a:cs typeface="微软雅黑"/>
              </a:rPr>
              <a:t>eadP</a:t>
            </a:r>
            <a:r>
              <a:rPr sz="2400" b="1" spc="-15" dirty="0">
                <a:latin typeface="微软雅黑"/>
                <a:cs typeface="微软雅黑"/>
              </a:rPr>
              <a:t>i</a:t>
            </a:r>
            <a:r>
              <a:rPr sz="2400" b="1" spc="-5" dirty="0">
                <a:latin typeface="微软雅黑"/>
                <a:cs typeface="微软雅黑"/>
              </a:rPr>
              <a:t>n</a:t>
            </a:r>
            <a:r>
              <a:rPr sz="2400" b="1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L_GPIO_W</a:t>
            </a:r>
            <a:r>
              <a:rPr sz="2400" b="1" spc="5" dirty="0">
                <a:latin typeface="微软雅黑"/>
                <a:cs typeface="微软雅黑"/>
              </a:rPr>
              <a:t>r</a:t>
            </a:r>
            <a:r>
              <a:rPr sz="2400" b="1" dirty="0">
                <a:latin typeface="微软雅黑"/>
                <a:cs typeface="微软雅黑"/>
              </a:rPr>
              <a:t>i</a:t>
            </a:r>
            <a:r>
              <a:rPr sz="2400" b="1" spc="-15" dirty="0">
                <a:latin typeface="微软雅黑"/>
                <a:cs typeface="微软雅黑"/>
              </a:rPr>
              <a:t>t</a:t>
            </a:r>
            <a:r>
              <a:rPr sz="2400" b="1" dirty="0">
                <a:latin typeface="微软雅黑"/>
                <a:cs typeface="微软雅黑"/>
              </a:rPr>
              <a:t>e</a:t>
            </a:r>
            <a:r>
              <a:rPr sz="2400" b="1" spc="-15" dirty="0">
                <a:latin typeface="微软雅黑"/>
                <a:cs typeface="微软雅黑"/>
              </a:rPr>
              <a:t>P</a:t>
            </a:r>
            <a:r>
              <a:rPr sz="2400" b="1" spc="-5" dirty="0">
                <a:latin typeface="微软雅黑"/>
                <a:cs typeface="微软雅黑"/>
              </a:rPr>
              <a:t>in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06257" y="3737345"/>
            <a:ext cx="33782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latin typeface="微软雅黑"/>
                <a:cs typeface="微软雅黑"/>
              </a:rPr>
              <a:t>：用于读取引脚电平状态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latin typeface="微软雅黑"/>
                <a:cs typeface="微软雅黑"/>
              </a:rPr>
              <a:t>：用于设置引脚电平状态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91303" y="4615169"/>
            <a:ext cx="66948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</a:t>
            </a:r>
            <a:r>
              <a:rPr sz="2400" b="1" spc="-5" dirty="0">
                <a:latin typeface="微软雅黑"/>
                <a:cs typeface="微软雅黑"/>
              </a:rPr>
              <a:t>_</a:t>
            </a:r>
            <a:r>
              <a:rPr sz="2400" b="1" spc="-240" dirty="0">
                <a:latin typeface="微软雅黑"/>
                <a:cs typeface="微软雅黑"/>
              </a:rPr>
              <a:t>T</a:t>
            </a:r>
            <a:r>
              <a:rPr sz="2400" b="1" spc="-10" dirty="0">
                <a:latin typeface="微软雅黑"/>
                <a:cs typeface="微软雅黑"/>
              </a:rPr>
              <a:t>oggl</a:t>
            </a:r>
            <a:r>
              <a:rPr sz="2400" b="1" spc="-15" dirty="0">
                <a:latin typeface="微软雅黑"/>
                <a:cs typeface="微软雅黑"/>
              </a:rPr>
              <a:t>e</a:t>
            </a:r>
            <a:r>
              <a:rPr sz="2400" b="1" spc="-5" dirty="0">
                <a:latin typeface="微软雅黑"/>
                <a:cs typeface="微软雅黑"/>
              </a:rPr>
              <a:t>Pi</a:t>
            </a:r>
            <a:r>
              <a:rPr sz="2400" b="1" dirty="0">
                <a:latin typeface="微软雅黑"/>
                <a:cs typeface="微软雅黑"/>
              </a:rPr>
              <a:t>n</a:t>
            </a:r>
            <a:r>
              <a:rPr sz="2400" b="1" spc="15" dirty="0">
                <a:latin typeface="微软雅黑"/>
                <a:cs typeface="微软雅黑"/>
              </a:rPr>
              <a:t> </a:t>
            </a:r>
            <a:r>
              <a:rPr sz="2400" b="1" i="1" dirty="0">
                <a:latin typeface="微软雅黑"/>
                <a:cs typeface="微软雅黑"/>
              </a:rPr>
              <a:t>：用于翻转引脚电平状态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70653" y="5229605"/>
            <a:ext cx="7010400" cy="1485900"/>
          </a:xfrm>
          <a:custGeom>
            <a:avLst/>
            <a:gdLst/>
            <a:ahLst/>
            <a:cxnLst/>
            <a:rect l="l" t="t" r="r" b="b"/>
            <a:pathLst>
              <a:path w="7010400" h="1485900">
                <a:moveTo>
                  <a:pt x="0" y="170942"/>
                </a:moveTo>
                <a:lnTo>
                  <a:pt x="5476" y="127882"/>
                </a:lnTo>
                <a:lnTo>
                  <a:pt x="20984" y="88854"/>
                </a:lnTo>
                <a:lnTo>
                  <a:pt x="45143" y="55237"/>
                </a:lnTo>
                <a:lnTo>
                  <a:pt x="76571" y="28413"/>
                </a:lnTo>
                <a:lnTo>
                  <a:pt x="113888" y="9764"/>
                </a:lnTo>
                <a:lnTo>
                  <a:pt x="155712" y="670"/>
                </a:lnTo>
                <a:lnTo>
                  <a:pt x="6839458" y="0"/>
                </a:lnTo>
                <a:lnTo>
                  <a:pt x="6854173" y="625"/>
                </a:lnTo>
                <a:lnTo>
                  <a:pt x="6896042" y="9599"/>
                </a:lnTo>
                <a:lnTo>
                  <a:pt x="6933420" y="28144"/>
                </a:lnTo>
                <a:lnTo>
                  <a:pt x="6964926" y="54879"/>
                </a:lnTo>
                <a:lnTo>
                  <a:pt x="6989178" y="88424"/>
                </a:lnTo>
                <a:lnTo>
                  <a:pt x="7004796" y="127397"/>
                </a:lnTo>
                <a:lnTo>
                  <a:pt x="7010399" y="170417"/>
                </a:lnTo>
                <a:lnTo>
                  <a:pt x="7010400" y="1314945"/>
                </a:lnTo>
                <a:lnTo>
                  <a:pt x="7009774" y="1329667"/>
                </a:lnTo>
                <a:lnTo>
                  <a:pt x="7000801" y="1371549"/>
                </a:lnTo>
                <a:lnTo>
                  <a:pt x="6982257" y="1408931"/>
                </a:lnTo>
                <a:lnTo>
                  <a:pt x="6955524" y="1440435"/>
                </a:lnTo>
                <a:lnTo>
                  <a:pt x="6921981" y="1464683"/>
                </a:lnTo>
                <a:lnTo>
                  <a:pt x="6883011" y="1480297"/>
                </a:lnTo>
                <a:lnTo>
                  <a:pt x="6839993" y="1485899"/>
                </a:lnTo>
                <a:lnTo>
                  <a:pt x="170942" y="1485900"/>
                </a:lnTo>
                <a:lnTo>
                  <a:pt x="156226" y="1485274"/>
                </a:lnTo>
                <a:lnTo>
                  <a:pt x="114359" y="1476305"/>
                </a:lnTo>
                <a:lnTo>
                  <a:pt x="76982" y="1457766"/>
                </a:lnTo>
                <a:lnTo>
                  <a:pt x="45476" y="1431037"/>
                </a:lnTo>
                <a:lnTo>
                  <a:pt x="21224" y="1397494"/>
                </a:lnTo>
                <a:lnTo>
                  <a:pt x="5605" y="1358516"/>
                </a:lnTo>
                <a:lnTo>
                  <a:pt x="0" y="1315481"/>
                </a:lnTo>
                <a:lnTo>
                  <a:pt x="0" y="170942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91303" y="5844122"/>
            <a:ext cx="59696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H</a:t>
            </a:r>
            <a:r>
              <a:rPr sz="2400" b="1" spc="-10" dirty="0">
                <a:latin typeface="微软雅黑"/>
                <a:cs typeface="微软雅黑"/>
              </a:rPr>
              <a:t>A</a:t>
            </a:r>
            <a:r>
              <a:rPr sz="2400" b="1" dirty="0">
                <a:latin typeface="微软雅黑"/>
                <a:cs typeface="微软雅黑"/>
              </a:rPr>
              <a:t>L_GPIO_Lo</a:t>
            </a:r>
            <a:r>
              <a:rPr sz="2400" b="1" spc="-20" dirty="0">
                <a:latin typeface="微软雅黑"/>
                <a:cs typeface="微软雅黑"/>
              </a:rPr>
              <a:t>c</a:t>
            </a:r>
            <a:r>
              <a:rPr sz="2400" b="1" spc="-5" dirty="0">
                <a:latin typeface="微软雅黑"/>
                <a:cs typeface="微软雅黑"/>
              </a:rPr>
              <a:t>k</a:t>
            </a:r>
            <a:r>
              <a:rPr sz="2400" b="1" spc="-10" dirty="0">
                <a:latin typeface="微软雅黑"/>
                <a:cs typeface="微软雅黑"/>
              </a:rPr>
              <a:t>P</a:t>
            </a:r>
            <a:r>
              <a:rPr sz="2400" b="1" spc="-5" dirty="0">
                <a:latin typeface="微软雅黑"/>
                <a:cs typeface="微软雅黑"/>
              </a:rPr>
              <a:t>in</a:t>
            </a:r>
            <a:r>
              <a:rPr sz="2400" b="1" i="1" dirty="0">
                <a:latin typeface="微软雅黑"/>
                <a:cs typeface="微软雅黑"/>
              </a:rPr>
              <a:t>：用于锁定引脚的配置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28947" y="1180267"/>
            <a:ext cx="4138929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微软雅黑"/>
                <a:cs typeface="微软雅黑"/>
              </a:rPr>
              <a:t>GPIO</a:t>
            </a:r>
            <a:r>
              <a:rPr sz="2800" b="1" i="1" spc="-5" dirty="0">
                <a:latin typeface="微软雅黑"/>
                <a:cs typeface="微软雅黑"/>
              </a:rPr>
              <a:t>外设接口函数的概述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75614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6516623"/>
            <a:ext cx="1219073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2405" algn="r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黑体"/>
                <a:cs typeface="黑体"/>
              </a:rPr>
              <a:t>-- 南昌大学“卓越”辅导员培养工程建设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0550" y="1169405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面向对象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89576" y="3206495"/>
            <a:ext cx="1423670" cy="1424940"/>
          </a:xfrm>
          <a:custGeom>
            <a:avLst/>
            <a:gdLst/>
            <a:ahLst/>
            <a:cxnLst/>
            <a:rect l="l" t="t" r="r" b="b"/>
            <a:pathLst>
              <a:path w="1423670" h="1424939">
                <a:moveTo>
                  <a:pt x="711708" y="0"/>
                </a:moveTo>
                <a:lnTo>
                  <a:pt x="653336" y="2362"/>
                </a:lnTo>
                <a:lnTo>
                  <a:pt x="596265" y="9326"/>
                </a:lnTo>
                <a:lnTo>
                  <a:pt x="540676" y="20708"/>
                </a:lnTo>
                <a:lnTo>
                  <a:pt x="486753" y="36326"/>
                </a:lnTo>
                <a:lnTo>
                  <a:pt x="434679" y="55995"/>
                </a:lnTo>
                <a:lnTo>
                  <a:pt x="384637" y="79532"/>
                </a:lnTo>
                <a:lnTo>
                  <a:pt x="336810" y="106754"/>
                </a:lnTo>
                <a:lnTo>
                  <a:pt x="291382" y="137476"/>
                </a:lnTo>
                <a:lnTo>
                  <a:pt x="248536" y="171517"/>
                </a:lnTo>
                <a:lnTo>
                  <a:pt x="208454" y="208692"/>
                </a:lnTo>
                <a:lnTo>
                  <a:pt x="171320" y="248818"/>
                </a:lnTo>
                <a:lnTo>
                  <a:pt x="137318" y="291711"/>
                </a:lnTo>
                <a:lnTo>
                  <a:pt x="106630" y="337189"/>
                </a:lnTo>
                <a:lnTo>
                  <a:pt x="79439" y="385066"/>
                </a:lnTo>
                <a:lnTo>
                  <a:pt x="55929" y="435161"/>
                </a:lnTo>
                <a:lnTo>
                  <a:pt x="36283" y="487289"/>
                </a:lnTo>
                <a:lnTo>
                  <a:pt x="20684" y="541268"/>
                </a:lnTo>
                <a:lnTo>
                  <a:pt x="9315" y="596913"/>
                </a:lnTo>
                <a:lnTo>
                  <a:pt x="2359" y="654041"/>
                </a:lnTo>
                <a:lnTo>
                  <a:pt x="0" y="712469"/>
                </a:lnTo>
                <a:lnTo>
                  <a:pt x="2359" y="770898"/>
                </a:lnTo>
                <a:lnTo>
                  <a:pt x="9315" y="828026"/>
                </a:lnTo>
                <a:lnTo>
                  <a:pt x="20684" y="883671"/>
                </a:lnTo>
                <a:lnTo>
                  <a:pt x="36283" y="937650"/>
                </a:lnTo>
                <a:lnTo>
                  <a:pt x="55929" y="989778"/>
                </a:lnTo>
                <a:lnTo>
                  <a:pt x="79439" y="1039873"/>
                </a:lnTo>
                <a:lnTo>
                  <a:pt x="106630" y="1087750"/>
                </a:lnTo>
                <a:lnTo>
                  <a:pt x="137318" y="1133228"/>
                </a:lnTo>
                <a:lnTo>
                  <a:pt x="171320" y="1176121"/>
                </a:lnTo>
                <a:lnTo>
                  <a:pt x="208454" y="1216247"/>
                </a:lnTo>
                <a:lnTo>
                  <a:pt x="248536" y="1253422"/>
                </a:lnTo>
                <a:lnTo>
                  <a:pt x="291382" y="1287463"/>
                </a:lnTo>
                <a:lnTo>
                  <a:pt x="336810" y="1318185"/>
                </a:lnTo>
                <a:lnTo>
                  <a:pt x="384637" y="1345407"/>
                </a:lnTo>
                <a:lnTo>
                  <a:pt x="434679" y="1368944"/>
                </a:lnTo>
                <a:lnTo>
                  <a:pt x="486753" y="1388613"/>
                </a:lnTo>
                <a:lnTo>
                  <a:pt x="540676" y="1404231"/>
                </a:lnTo>
                <a:lnTo>
                  <a:pt x="596265" y="1415613"/>
                </a:lnTo>
                <a:lnTo>
                  <a:pt x="653336" y="1422577"/>
                </a:lnTo>
                <a:lnTo>
                  <a:pt x="711708" y="1424939"/>
                </a:lnTo>
                <a:lnTo>
                  <a:pt x="770079" y="1422577"/>
                </a:lnTo>
                <a:lnTo>
                  <a:pt x="827150" y="1415613"/>
                </a:lnTo>
                <a:lnTo>
                  <a:pt x="882739" y="1404231"/>
                </a:lnTo>
                <a:lnTo>
                  <a:pt x="936662" y="1388613"/>
                </a:lnTo>
                <a:lnTo>
                  <a:pt x="988736" y="1368944"/>
                </a:lnTo>
                <a:lnTo>
                  <a:pt x="1038778" y="1345407"/>
                </a:lnTo>
                <a:lnTo>
                  <a:pt x="1086605" y="1318185"/>
                </a:lnTo>
                <a:lnTo>
                  <a:pt x="1132033" y="1287463"/>
                </a:lnTo>
                <a:lnTo>
                  <a:pt x="1174879" y="1253422"/>
                </a:lnTo>
                <a:lnTo>
                  <a:pt x="1214961" y="1216247"/>
                </a:lnTo>
                <a:lnTo>
                  <a:pt x="1252095" y="1176121"/>
                </a:lnTo>
                <a:lnTo>
                  <a:pt x="1286097" y="1133228"/>
                </a:lnTo>
                <a:lnTo>
                  <a:pt x="1316785" y="1087750"/>
                </a:lnTo>
                <a:lnTo>
                  <a:pt x="1343976" y="1039873"/>
                </a:lnTo>
                <a:lnTo>
                  <a:pt x="1367486" y="989778"/>
                </a:lnTo>
                <a:lnTo>
                  <a:pt x="1387132" y="937650"/>
                </a:lnTo>
                <a:lnTo>
                  <a:pt x="1402731" y="883671"/>
                </a:lnTo>
                <a:lnTo>
                  <a:pt x="1414100" y="828026"/>
                </a:lnTo>
                <a:lnTo>
                  <a:pt x="1421056" y="770898"/>
                </a:lnTo>
                <a:lnTo>
                  <a:pt x="1423415" y="712469"/>
                </a:lnTo>
                <a:lnTo>
                  <a:pt x="1421056" y="654041"/>
                </a:lnTo>
                <a:lnTo>
                  <a:pt x="1414100" y="596913"/>
                </a:lnTo>
                <a:lnTo>
                  <a:pt x="1402731" y="541268"/>
                </a:lnTo>
                <a:lnTo>
                  <a:pt x="1387132" y="487289"/>
                </a:lnTo>
                <a:lnTo>
                  <a:pt x="1367486" y="435161"/>
                </a:lnTo>
                <a:lnTo>
                  <a:pt x="1343976" y="385066"/>
                </a:lnTo>
                <a:lnTo>
                  <a:pt x="1316785" y="337189"/>
                </a:lnTo>
                <a:lnTo>
                  <a:pt x="1286097" y="291711"/>
                </a:lnTo>
                <a:lnTo>
                  <a:pt x="1252095" y="248818"/>
                </a:lnTo>
                <a:lnTo>
                  <a:pt x="1214961" y="208692"/>
                </a:lnTo>
                <a:lnTo>
                  <a:pt x="1174879" y="171517"/>
                </a:lnTo>
                <a:lnTo>
                  <a:pt x="1132033" y="137476"/>
                </a:lnTo>
                <a:lnTo>
                  <a:pt x="1086605" y="106754"/>
                </a:lnTo>
                <a:lnTo>
                  <a:pt x="1038778" y="79532"/>
                </a:lnTo>
                <a:lnTo>
                  <a:pt x="988736" y="55995"/>
                </a:lnTo>
                <a:lnTo>
                  <a:pt x="936662" y="36326"/>
                </a:lnTo>
                <a:lnTo>
                  <a:pt x="882739" y="20708"/>
                </a:lnTo>
                <a:lnTo>
                  <a:pt x="827150" y="9326"/>
                </a:lnTo>
                <a:lnTo>
                  <a:pt x="770079" y="2362"/>
                </a:lnTo>
                <a:lnTo>
                  <a:pt x="711708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31129" y="3680697"/>
            <a:ext cx="9398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i="1" dirty="0">
                <a:solidFill>
                  <a:srgbClr val="FFFFFF"/>
                </a:solidFill>
                <a:latin typeface="微软雅黑"/>
                <a:cs typeface="微软雅黑"/>
              </a:rPr>
              <a:t>对象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90869" y="3048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106679" y="68452"/>
                </a:lnTo>
                <a:lnTo>
                  <a:pt x="0" y="175132"/>
                </a:lnTo>
                <a:lnTo>
                  <a:pt x="205485" y="380745"/>
                </a:lnTo>
                <a:lnTo>
                  <a:pt x="312165" y="274065"/>
                </a:lnTo>
                <a:lnTo>
                  <a:pt x="364725" y="274065"/>
                </a:lnTo>
                <a:lnTo>
                  <a:pt x="316102" y="64642"/>
                </a:lnTo>
                <a:lnTo>
                  <a:pt x="38100" y="0"/>
                </a:lnTo>
                <a:close/>
              </a:path>
              <a:path w="381000" h="381000">
                <a:moveTo>
                  <a:pt x="364725" y="274065"/>
                </a:moveTo>
                <a:lnTo>
                  <a:pt x="312165" y="274065"/>
                </a:lnTo>
                <a:lnTo>
                  <a:pt x="380619" y="342518"/>
                </a:lnTo>
                <a:lnTo>
                  <a:pt x="364725" y="274065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99276" y="1796795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40" h="1424939">
                <a:moveTo>
                  <a:pt x="712470" y="0"/>
                </a:moveTo>
                <a:lnTo>
                  <a:pt x="654041" y="2362"/>
                </a:lnTo>
                <a:lnTo>
                  <a:pt x="596913" y="9326"/>
                </a:lnTo>
                <a:lnTo>
                  <a:pt x="541268" y="20708"/>
                </a:lnTo>
                <a:lnTo>
                  <a:pt x="487289" y="36326"/>
                </a:lnTo>
                <a:lnTo>
                  <a:pt x="435161" y="55995"/>
                </a:lnTo>
                <a:lnTo>
                  <a:pt x="385066" y="79532"/>
                </a:lnTo>
                <a:lnTo>
                  <a:pt x="337189" y="106754"/>
                </a:lnTo>
                <a:lnTo>
                  <a:pt x="291711" y="137476"/>
                </a:lnTo>
                <a:lnTo>
                  <a:pt x="248818" y="171517"/>
                </a:lnTo>
                <a:lnTo>
                  <a:pt x="208692" y="208692"/>
                </a:lnTo>
                <a:lnTo>
                  <a:pt x="171517" y="248818"/>
                </a:lnTo>
                <a:lnTo>
                  <a:pt x="137476" y="291711"/>
                </a:lnTo>
                <a:lnTo>
                  <a:pt x="106754" y="337189"/>
                </a:lnTo>
                <a:lnTo>
                  <a:pt x="79532" y="385066"/>
                </a:lnTo>
                <a:lnTo>
                  <a:pt x="55995" y="435161"/>
                </a:lnTo>
                <a:lnTo>
                  <a:pt x="36326" y="487289"/>
                </a:lnTo>
                <a:lnTo>
                  <a:pt x="20708" y="541268"/>
                </a:lnTo>
                <a:lnTo>
                  <a:pt x="9326" y="596913"/>
                </a:lnTo>
                <a:lnTo>
                  <a:pt x="2362" y="654041"/>
                </a:lnTo>
                <a:lnTo>
                  <a:pt x="0" y="712469"/>
                </a:lnTo>
                <a:lnTo>
                  <a:pt x="2362" y="770898"/>
                </a:lnTo>
                <a:lnTo>
                  <a:pt x="9326" y="828026"/>
                </a:lnTo>
                <a:lnTo>
                  <a:pt x="20708" y="883671"/>
                </a:lnTo>
                <a:lnTo>
                  <a:pt x="36326" y="937650"/>
                </a:lnTo>
                <a:lnTo>
                  <a:pt x="55995" y="989778"/>
                </a:lnTo>
                <a:lnTo>
                  <a:pt x="79532" y="1039873"/>
                </a:lnTo>
                <a:lnTo>
                  <a:pt x="106754" y="1087750"/>
                </a:lnTo>
                <a:lnTo>
                  <a:pt x="137476" y="1133228"/>
                </a:lnTo>
                <a:lnTo>
                  <a:pt x="171517" y="1176121"/>
                </a:lnTo>
                <a:lnTo>
                  <a:pt x="208692" y="1216247"/>
                </a:lnTo>
                <a:lnTo>
                  <a:pt x="248818" y="1253422"/>
                </a:lnTo>
                <a:lnTo>
                  <a:pt x="291711" y="1287463"/>
                </a:lnTo>
                <a:lnTo>
                  <a:pt x="337189" y="1318185"/>
                </a:lnTo>
                <a:lnTo>
                  <a:pt x="385066" y="1345407"/>
                </a:lnTo>
                <a:lnTo>
                  <a:pt x="435161" y="1368944"/>
                </a:lnTo>
                <a:lnTo>
                  <a:pt x="487289" y="1388613"/>
                </a:lnTo>
                <a:lnTo>
                  <a:pt x="541268" y="1404231"/>
                </a:lnTo>
                <a:lnTo>
                  <a:pt x="596913" y="1415613"/>
                </a:lnTo>
                <a:lnTo>
                  <a:pt x="654041" y="1422577"/>
                </a:lnTo>
                <a:lnTo>
                  <a:pt x="712470" y="1424939"/>
                </a:lnTo>
                <a:lnTo>
                  <a:pt x="770898" y="1422577"/>
                </a:lnTo>
                <a:lnTo>
                  <a:pt x="828026" y="1415613"/>
                </a:lnTo>
                <a:lnTo>
                  <a:pt x="883671" y="1404231"/>
                </a:lnTo>
                <a:lnTo>
                  <a:pt x="937650" y="1388613"/>
                </a:lnTo>
                <a:lnTo>
                  <a:pt x="989778" y="1368944"/>
                </a:lnTo>
                <a:lnTo>
                  <a:pt x="1039873" y="1345407"/>
                </a:lnTo>
                <a:lnTo>
                  <a:pt x="1087750" y="1318185"/>
                </a:lnTo>
                <a:lnTo>
                  <a:pt x="1133228" y="1287463"/>
                </a:lnTo>
                <a:lnTo>
                  <a:pt x="1176121" y="1253422"/>
                </a:lnTo>
                <a:lnTo>
                  <a:pt x="1216247" y="1216247"/>
                </a:lnTo>
                <a:lnTo>
                  <a:pt x="1253422" y="1176121"/>
                </a:lnTo>
                <a:lnTo>
                  <a:pt x="1287463" y="1133228"/>
                </a:lnTo>
                <a:lnTo>
                  <a:pt x="1318185" y="1087750"/>
                </a:lnTo>
                <a:lnTo>
                  <a:pt x="1345407" y="1039873"/>
                </a:lnTo>
                <a:lnTo>
                  <a:pt x="1368944" y="989778"/>
                </a:lnTo>
                <a:lnTo>
                  <a:pt x="1388613" y="937650"/>
                </a:lnTo>
                <a:lnTo>
                  <a:pt x="1404231" y="883671"/>
                </a:lnTo>
                <a:lnTo>
                  <a:pt x="1415613" y="828026"/>
                </a:lnTo>
                <a:lnTo>
                  <a:pt x="1422577" y="770898"/>
                </a:lnTo>
                <a:lnTo>
                  <a:pt x="1424940" y="712469"/>
                </a:lnTo>
                <a:lnTo>
                  <a:pt x="1422577" y="654041"/>
                </a:lnTo>
                <a:lnTo>
                  <a:pt x="1415613" y="596913"/>
                </a:lnTo>
                <a:lnTo>
                  <a:pt x="1404231" y="541268"/>
                </a:lnTo>
                <a:lnTo>
                  <a:pt x="1388613" y="487289"/>
                </a:lnTo>
                <a:lnTo>
                  <a:pt x="1368944" y="435161"/>
                </a:lnTo>
                <a:lnTo>
                  <a:pt x="1345407" y="385066"/>
                </a:lnTo>
                <a:lnTo>
                  <a:pt x="1318185" y="337189"/>
                </a:lnTo>
                <a:lnTo>
                  <a:pt x="1287463" y="291711"/>
                </a:lnTo>
                <a:lnTo>
                  <a:pt x="1253422" y="248818"/>
                </a:lnTo>
                <a:lnTo>
                  <a:pt x="1216247" y="208692"/>
                </a:lnTo>
                <a:lnTo>
                  <a:pt x="1176121" y="171517"/>
                </a:lnTo>
                <a:lnTo>
                  <a:pt x="1133228" y="137476"/>
                </a:lnTo>
                <a:lnTo>
                  <a:pt x="1087750" y="106754"/>
                </a:lnTo>
                <a:lnTo>
                  <a:pt x="1039873" y="79532"/>
                </a:lnTo>
                <a:lnTo>
                  <a:pt x="989778" y="55995"/>
                </a:lnTo>
                <a:lnTo>
                  <a:pt x="937650" y="36326"/>
                </a:lnTo>
                <a:lnTo>
                  <a:pt x="883671" y="20708"/>
                </a:lnTo>
                <a:lnTo>
                  <a:pt x="828026" y="9326"/>
                </a:lnTo>
                <a:lnTo>
                  <a:pt x="770898" y="2362"/>
                </a:lnTo>
                <a:lnTo>
                  <a:pt x="712470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99276" y="1796795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40" h="1424939">
                <a:moveTo>
                  <a:pt x="0" y="712469"/>
                </a:moveTo>
                <a:lnTo>
                  <a:pt x="2362" y="654041"/>
                </a:lnTo>
                <a:lnTo>
                  <a:pt x="9326" y="596913"/>
                </a:lnTo>
                <a:lnTo>
                  <a:pt x="20708" y="541268"/>
                </a:lnTo>
                <a:lnTo>
                  <a:pt x="36326" y="487289"/>
                </a:lnTo>
                <a:lnTo>
                  <a:pt x="55995" y="435161"/>
                </a:lnTo>
                <a:lnTo>
                  <a:pt x="79532" y="385066"/>
                </a:lnTo>
                <a:lnTo>
                  <a:pt x="106754" y="337189"/>
                </a:lnTo>
                <a:lnTo>
                  <a:pt x="137476" y="291711"/>
                </a:lnTo>
                <a:lnTo>
                  <a:pt x="171517" y="248818"/>
                </a:lnTo>
                <a:lnTo>
                  <a:pt x="208692" y="208692"/>
                </a:lnTo>
                <a:lnTo>
                  <a:pt x="248818" y="171517"/>
                </a:lnTo>
                <a:lnTo>
                  <a:pt x="291711" y="137476"/>
                </a:lnTo>
                <a:lnTo>
                  <a:pt x="337189" y="106754"/>
                </a:lnTo>
                <a:lnTo>
                  <a:pt x="385066" y="79532"/>
                </a:lnTo>
                <a:lnTo>
                  <a:pt x="435161" y="55995"/>
                </a:lnTo>
                <a:lnTo>
                  <a:pt x="487289" y="36326"/>
                </a:lnTo>
                <a:lnTo>
                  <a:pt x="541268" y="20708"/>
                </a:lnTo>
                <a:lnTo>
                  <a:pt x="596913" y="9326"/>
                </a:lnTo>
                <a:lnTo>
                  <a:pt x="654041" y="2362"/>
                </a:lnTo>
                <a:lnTo>
                  <a:pt x="712470" y="0"/>
                </a:lnTo>
                <a:lnTo>
                  <a:pt x="770898" y="2362"/>
                </a:lnTo>
                <a:lnTo>
                  <a:pt x="828026" y="9326"/>
                </a:lnTo>
                <a:lnTo>
                  <a:pt x="883671" y="20708"/>
                </a:lnTo>
                <a:lnTo>
                  <a:pt x="937650" y="36326"/>
                </a:lnTo>
                <a:lnTo>
                  <a:pt x="989778" y="55995"/>
                </a:lnTo>
                <a:lnTo>
                  <a:pt x="1039873" y="79532"/>
                </a:lnTo>
                <a:lnTo>
                  <a:pt x="1087750" y="106754"/>
                </a:lnTo>
                <a:lnTo>
                  <a:pt x="1133228" y="137476"/>
                </a:lnTo>
                <a:lnTo>
                  <a:pt x="1176121" y="171517"/>
                </a:lnTo>
                <a:lnTo>
                  <a:pt x="1216247" y="208692"/>
                </a:lnTo>
                <a:lnTo>
                  <a:pt x="1253422" y="248818"/>
                </a:lnTo>
                <a:lnTo>
                  <a:pt x="1287463" y="291711"/>
                </a:lnTo>
                <a:lnTo>
                  <a:pt x="1318185" y="337189"/>
                </a:lnTo>
                <a:lnTo>
                  <a:pt x="1345407" y="385066"/>
                </a:lnTo>
                <a:lnTo>
                  <a:pt x="1368944" y="435161"/>
                </a:lnTo>
                <a:lnTo>
                  <a:pt x="1388613" y="487289"/>
                </a:lnTo>
                <a:lnTo>
                  <a:pt x="1404231" y="541268"/>
                </a:lnTo>
                <a:lnTo>
                  <a:pt x="1415613" y="596913"/>
                </a:lnTo>
                <a:lnTo>
                  <a:pt x="1422577" y="654041"/>
                </a:lnTo>
                <a:lnTo>
                  <a:pt x="1424940" y="712469"/>
                </a:lnTo>
                <a:lnTo>
                  <a:pt x="1422577" y="770898"/>
                </a:lnTo>
                <a:lnTo>
                  <a:pt x="1415613" y="828026"/>
                </a:lnTo>
                <a:lnTo>
                  <a:pt x="1404231" y="883671"/>
                </a:lnTo>
                <a:lnTo>
                  <a:pt x="1388613" y="937650"/>
                </a:lnTo>
                <a:lnTo>
                  <a:pt x="1368944" y="989778"/>
                </a:lnTo>
                <a:lnTo>
                  <a:pt x="1345407" y="1039873"/>
                </a:lnTo>
                <a:lnTo>
                  <a:pt x="1318185" y="1087750"/>
                </a:lnTo>
                <a:lnTo>
                  <a:pt x="1287463" y="1133228"/>
                </a:lnTo>
                <a:lnTo>
                  <a:pt x="1253422" y="1176121"/>
                </a:lnTo>
                <a:lnTo>
                  <a:pt x="1216247" y="1216247"/>
                </a:lnTo>
                <a:lnTo>
                  <a:pt x="1176121" y="1253422"/>
                </a:lnTo>
                <a:lnTo>
                  <a:pt x="1133228" y="1287463"/>
                </a:lnTo>
                <a:lnTo>
                  <a:pt x="1087750" y="1318185"/>
                </a:lnTo>
                <a:lnTo>
                  <a:pt x="1039873" y="1345407"/>
                </a:lnTo>
                <a:lnTo>
                  <a:pt x="989778" y="1368944"/>
                </a:lnTo>
                <a:lnTo>
                  <a:pt x="937650" y="1388613"/>
                </a:lnTo>
                <a:lnTo>
                  <a:pt x="883671" y="1404231"/>
                </a:lnTo>
                <a:lnTo>
                  <a:pt x="828026" y="1415613"/>
                </a:lnTo>
                <a:lnTo>
                  <a:pt x="770898" y="1422577"/>
                </a:lnTo>
                <a:lnTo>
                  <a:pt x="712470" y="1424939"/>
                </a:lnTo>
                <a:lnTo>
                  <a:pt x="654041" y="1422577"/>
                </a:lnTo>
                <a:lnTo>
                  <a:pt x="596913" y="1415613"/>
                </a:lnTo>
                <a:lnTo>
                  <a:pt x="541268" y="1404231"/>
                </a:lnTo>
                <a:lnTo>
                  <a:pt x="487289" y="1388613"/>
                </a:lnTo>
                <a:lnTo>
                  <a:pt x="435161" y="1368944"/>
                </a:lnTo>
                <a:lnTo>
                  <a:pt x="385066" y="1345407"/>
                </a:lnTo>
                <a:lnTo>
                  <a:pt x="337189" y="1318185"/>
                </a:lnTo>
                <a:lnTo>
                  <a:pt x="291711" y="1287463"/>
                </a:lnTo>
                <a:lnTo>
                  <a:pt x="248818" y="1253422"/>
                </a:lnTo>
                <a:lnTo>
                  <a:pt x="208692" y="1216247"/>
                </a:lnTo>
                <a:lnTo>
                  <a:pt x="171517" y="1176121"/>
                </a:lnTo>
                <a:lnTo>
                  <a:pt x="137476" y="1133228"/>
                </a:lnTo>
                <a:lnTo>
                  <a:pt x="106754" y="1087750"/>
                </a:lnTo>
                <a:lnTo>
                  <a:pt x="79532" y="1039873"/>
                </a:lnTo>
                <a:lnTo>
                  <a:pt x="55995" y="989778"/>
                </a:lnTo>
                <a:lnTo>
                  <a:pt x="36326" y="937650"/>
                </a:lnTo>
                <a:lnTo>
                  <a:pt x="20708" y="883671"/>
                </a:lnTo>
                <a:lnTo>
                  <a:pt x="9326" y="828026"/>
                </a:lnTo>
                <a:lnTo>
                  <a:pt x="2362" y="770898"/>
                </a:lnTo>
                <a:lnTo>
                  <a:pt x="0" y="71246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43445" y="2126671"/>
            <a:ext cx="735965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04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数据 类型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90869" y="440829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5485" y="0"/>
                </a:moveTo>
                <a:lnTo>
                  <a:pt x="0" y="205485"/>
                </a:lnTo>
                <a:lnTo>
                  <a:pt x="106679" y="312165"/>
                </a:lnTo>
                <a:lnTo>
                  <a:pt x="38100" y="380619"/>
                </a:lnTo>
                <a:lnTo>
                  <a:pt x="316102" y="315975"/>
                </a:lnTo>
                <a:lnTo>
                  <a:pt x="364725" y="106552"/>
                </a:lnTo>
                <a:lnTo>
                  <a:pt x="312165" y="106552"/>
                </a:lnTo>
                <a:lnTo>
                  <a:pt x="205485" y="0"/>
                </a:lnTo>
                <a:close/>
              </a:path>
              <a:path w="381000" h="381000">
                <a:moveTo>
                  <a:pt x="380619" y="38100"/>
                </a:moveTo>
                <a:lnTo>
                  <a:pt x="312165" y="106552"/>
                </a:lnTo>
                <a:lnTo>
                  <a:pt x="364725" y="106552"/>
                </a:lnTo>
                <a:lnTo>
                  <a:pt x="380619" y="3810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99276" y="4616196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40" h="1424939">
                <a:moveTo>
                  <a:pt x="712470" y="0"/>
                </a:moveTo>
                <a:lnTo>
                  <a:pt x="654041" y="2362"/>
                </a:lnTo>
                <a:lnTo>
                  <a:pt x="596913" y="9326"/>
                </a:lnTo>
                <a:lnTo>
                  <a:pt x="541268" y="20708"/>
                </a:lnTo>
                <a:lnTo>
                  <a:pt x="487289" y="36326"/>
                </a:lnTo>
                <a:lnTo>
                  <a:pt x="435161" y="55995"/>
                </a:lnTo>
                <a:lnTo>
                  <a:pt x="385066" y="79532"/>
                </a:lnTo>
                <a:lnTo>
                  <a:pt x="337189" y="106754"/>
                </a:lnTo>
                <a:lnTo>
                  <a:pt x="291711" y="137476"/>
                </a:lnTo>
                <a:lnTo>
                  <a:pt x="248818" y="171517"/>
                </a:lnTo>
                <a:lnTo>
                  <a:pt x="208692" y="208692"/>
                </a:lnTo>
                <a:lnTo>
                  <a:pt x="171517" y="248818"/>
                </a:lnTo>
                <a:lnTo>
                  <a:pt x="137476" y="291711"/>
                </a:lnTo>
                <a:lnTo>
                  <a:pt x="106754" y="337189"/>
                </a:lnTo>
                <a:lnTo>
                  <a:pt x="79532" y="385066"/>
                </a:lnTo>
                <a:lnTo>
                  <a:pt x="55995" y="435161"/>
                </a:lnTo>
                <a:lnTo>
                  <a:pt x="36326" y="487289"/>
                </a:lnTo>
                <a:lnTo>
                  <a:pt x="20708" y="541268"/>
                </a:lnTo>
                <a:lnTo>
                  <a:pt x="9326" y="596913"/>
                </a:lnTo>
                <a:lnTo>
                  <a:pt x="2362" y="654041"/>
                </a:lnTo>
                <a:lnTo>
                  <a:pt x="0" y="712469"/>
                </a:lnTo>
                <a:lnTo>
                  <a:pt x="2362" y="770903"/>
                </a:lnTo>
                <a:lnTo>
                  <a:pt x="9326" y="828035"/>
                </a:lnTo>
                <a:lnTo>
                  <a:pt x="20708" y="883684"/>
                </a:lnTo>
                <a:lnTo>
                  <a:pt x="36326" y="937664"/>
                </a:lnTo>
                <a:lnTo>
                  <a:pt x="55995" y="989794"/>
                </a:lnTo>
                <a:lnTo>
                  <a:pt x="79532" y="1039890"/>
                </a:lnTo>
                <a:lnTo>
                  <a:pt x="106754" y="1087767"/>
                </a:lnTo>
                <a:lnTo>
                  <a:pt x="137476" y="1133244"/>
                </a:lnTo>
                <a:lnTo>
                  <a:pt x="171517" y="1176136"/>
                </a:lnTo>
                <a:lnTo>
                  <a:pt x="208692" y="1216261"/>
                </a:lnTo>
                <a:lnTo>
                  <a:pt x="248818" y="1253435"/>
                </a:lnTo>
                <a:lnTo>
                  <a:pt x="291711" y="1287473"/>
                </a:lnTo>
                <a:lnTo>
                  <a:pt x="337189" y="1318195"/>
                </a:lnTo>
                <a:lnTo>
                  <a:pt x="385066" y="1345414"/>
                </a:lnTo>
                <a:lnTo>
                  <a:pt x="435161" y="1368950"/>
                </a:lnTo>
                <a:lnTo>
                  <a:pt x="487289" y="1388617"/>
                </a:lnTo>
                <a:lnTo>
                  <a:pt x="541268" y="1404233"/>
                </a:lnTo>
                <a:lnTo>
                  <a:pt x="596913" y="1415614"/>
                </a:lnTo>
                <a:lnTo>
                  <a:pt x="654041" y="1422578"/>
                </a:lnTo>
                <a:lnTo>
                  <a:pt x="712470" y="1424939"/>
                </a:lnTo>
                <a:lnTo>
                  <a:pt x="770898" y="1422578"/>
                </a:lnTo>
                <a:lnTo>
                  <a:pt x="828026" y="1415614"/>
                </a:lnTo>
                <a:lnTo>
                  <a:pt x="883671" y="1404233"/>
                </a:lnTo>
                <a:lnTo>
                  <a:pt x="937650" y="1388617"/>
                </a:lnTo>
                <a:lnTo>
                  <a:pt x="989778" y="1368950"/>
                </a:lnTo>
                <a:lnTo>
                  <a:pt x="1039873" y="1345414"/>
                </a:lnTo>
                <a:lnTo>
                  <a:pt x="1087750" y="1318195"/>
                </a:lnTo>
                <a:lnTo>
                  <a:pt x="1133228" y="1287473"/>
                </a:lnTo>
                <a:lnTo>
                  <a:pt x="1176121" y="1253435"/>
                </a:lnTo>
                <a:lnTo>
                  <a:pt x="1216247" y="1216261"/>
                </a:lnTo>
                <a:lnTo>
                  <a:pt x="1253422" y="1176136"/>
                </a:lnTo>
                <a:lnTo>
                  <a:pt x="1287463" y="1133244"/>
                </a:lnTo>
                <a:lnTo>
                  <a:pt x="1318185" y="1087767"/>
                </a:lnTo>
                <a:lnTo>
                  <a:pt x="1345407" y="1039890"/>
                </a:lnTo>
                <a:lnTo>
                  <a:pt x="1368944" y="989794"/>
                </a:lnTo>
                <a:lnTo>
                  <a:pt x="1388613" y="937664"/>
                </a:lnTo>
                <a:lnTo>
                  <a:pt x="1404231" y="883684"/>
                </a:lnTo>
                <a:lnTo>
                  <a:pt x="1415613" y="828035"/>
                </a:lnTo>
                <a:lnTo>
                  <a:pt x="1422577" y="770903"/>
                </a:lnTo>
                <a:lnTo>
                  <a:pt x="1424940" y="712469"/>
                </a:lnTo>
                <a:lnTo>
                  <a:pt x="1422577" y="654041"/>
                </a:lnTo>
                <a:lnTo>
                  <a:pt x="1415613" y="596913"/>
                </a:lnTo>
                <a:lnTo>
                  <a:pt x="1404231" y="541268"/>
                </a:lnTo>
                <a:lnTo>
                  <a:pt x="1388613" y="487289"/>
                </a:lnTo>
                <a:lnTo>
                  <a:pt x="1368944" y="435161"/>
                </a:lnTo>
                <a:lnTo>
                  <a:pt x="1345407" y="385066"/>
                </a:lnTo>
                <a:lnTo>
                  <a:pt x="1318185" y="337189"/>
                </a:lnTo>
                <a:lnTo>
                  <a:pt x="1287463" y="291711"/>
                </a:lnTo>
                <a:lnTo>
                  <a:pt x="1253422" y="248818"/>
                </a:lnTo>
                <a:lnTo>
                  <a:pt x="1216247" y="208692"/>
                </a:lnTo>
                <a:lnTo>
                  <a:pt x="1176121" y="171517"/>
                </a:lnTo>
                <a:lnTo>
                  <a:pt x="1133228" y="137476"/>
                </a:lnTo>
                <a:lnTo>
                  <a:pt x="1087750" y="106754"/>
                </a:lnTo>
                <a:lnTo>
                  <a:pt x="1039873" y="79532"/>
                </a:lnTo>
                <a:lnTo>
                  <a:pt x="989778" y="55995"/>
                </a:lnTo>
                <a:lnTo>
                  <a:pt x="937650" y="36326"/>
                </a:lnTo>
                <a:lnTo>
                  <a:pt x="883671" y="20708"/>
                </a:lnTo>
                <a:lnTo>
                  <a:pt x="828026" y="9326"/>
                </a:lnTo>
                <a:lnTo>
                  <a:pt x="770898" y="2362"/>
                </a:lnTo>
                <a:lnTo>
                  <a:pt x="712470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99276" y="4616196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40" h="1424939">
                <a:moveTo>
                  <a:pt x="0" y="712469"/>
                </a:moveTo>
                <a:lnTo>
                  <a:pt x="2362" y="654041"/>
                </a:lnTo>
                <a:lnTo>
                  <a:pt x="9326" y="596913"/>
                </a:lnTo>
                <a:lnTo>
                  <a:pt x="20708" y="541268"/>
                </a:lnTo>
                <a:lnTo>
                  <a:pt x="36326" y="487289"/>
                </a:lnTo>
                <a:lnTo>
                  <a:pt x="55995" y="435161"/>
                </a:lnTo>
                <a:lnTo>
                  <a:pt x="79532" y="385066"/>
                </a:lnTo>
                <a:lnTo>
                  <a:pt x="106754" y="337189"/>
                </a:lnTo>
                <a:lnTo>
                  <a:pt x="137476" y="291711"/>
                </a:lnTo>
                <a:lnTo>
                  <a:pt x="171517" y="248818"/>
                </a:lnTo>
                <a:lnTo>
                  <a:pt x="208692" y="208692"/>
                </a:lnTo>
                <a:lnTo>
                  <a:pt x="248818" y="171517"/>
                </a:lnTo>
                <a:lnTo>
                  <a:pt x="291711" y="137476"/>
                </a:lnTo>
                <a:lnTo>
                  <a:pt x="337189" y="106754"/>
                </a:lnTo>
                <a:lnTo>
                  <a:pt x="385066" y="79532"/>
                </a:lnTo>
                <a:lnTo>
                  <a:pt x="435161" y="55995"/>
                </a:lnTo>
                <a:lnTo>
                  <a:pt x="487289" y="36326"/>
                </a:lnTo>
                <a:lnTo>
                  <a:pt x="541268" y="20708"/>
                </a:lnTo>
                <a:lnTo>
                  <a:pt x="596913" y="9326"/>
                </a:lnTo>
                <a:lnTo>
                  <a:pt x="654041" y="2362"/>
                </a:lnTo>
                <a:lnTo>
                  <a:pt x="712470" y="0"/>
                </a:lnTo>
                <a:lnTo>
                  <a:pt x="770898" y="2362"/>
                </a:lnTo>
                <a:lnTo>
                  <a:pt x="828026" y="9326"/>
                </a:lnTo>
                <a:lnTo>
                  <a:pt x="883671" y="20708"/>
                </a:lnTo>
                <a:lnTo>
                  <a:pt x="937650" y="36326"/>
                </a:lnTo>
                <a:lnTo>
                  <a:pt x="989778" y="55995"/>
                </a:lnTo>
                <a:lnTo>
                  <a:pt x="1039873" y="79532"/>
                </a:lnTo>
                <a:lnTo>
                  <a:pt x="1087750" y="106754"/>
                </a:lnTo>
                <a:lnTo>
                  <a:pt x="1133228" y="137476"/>
                </a:lnTo>
                <a:lnTo>
                  <a:pt x="1176121" y="171517"/>
                </a:lnTo>
                <a:lnTo>
                  <a:pt x="1216247" y="208692"/>
                </a:lnTo>
                <a:lnTo>
                  <a:pt x="1253422" y="248818"/>
                </a:lnTo>
                <a:lnTo>
                  <a:pt x="1287463" y="291711"/>
                </a:lnTo>
                <a:lnTo>
                  <a:pt x="1318185" y="337189"/>
                </a:lnTo>
                <a:lnTo>
                  <a:pt x="1345407" y="385066"/>
                </a:lnTo>
                <a:lnTo>
                  <a:pt x="1368944" y="435161"/>
                </a:lnTo>
                <a:lnTo>
                  <a:pt x="1388613" y="487289"/>
                </a:lnTo>
                <a:lnTo>
                  <a:pt x="1404231" y="541268"/>
                </a:lnTo>
                <a:lnTo>
                  <a:pt x="1415613" y="596913"/>
                </a:lnTo>
                <a:lnTo>
                  <a:pt x="1422577" y="654041"/>
                </a:lnTo>
                <a:lnTo>
                  <a:pt x="1424940" y="712469"/>
                </a:lnTo>
                <a:lnTo>
                  <a:pt x="1422577" y="770903"/>
                </a:lnTo>
                <a:lnTo>
                  <a:pt x="1415613" y="828035"/>
                </a:lnTo>
                <a:lnTo>
                  <a:pt x="1404231" y="883684"/>
                </a:lnTo>
                <a:lnTo>
                  <a:pt x="1388613" y="937664"/>
                </a:lnTo>
                <a:lnTo>
                  <a:pt x="1368944" y="989794"/>
                </a:lnTo>
                <a:lnTo>
                  <a:pt x="1345407" y="1039890"/>
                </a:lnTo>
                <a:lnTo>
                  <a:pt x="1318185" y="1087767"/>
                </a:lnTo>
                <a:lnTo>
                  <a:pt x="1287463" y="1133244"/>
                </a:lnTo>
                <a:lnTo>
                  <a:pt x="1253422" y="1176136"/>
                </a:lnTo>
                <a:lnTo>
                  <a:pt x="1216247" y="1216261"/>
                </a:lnTo>
                <a:lnTo>
                  <a:pt x="1176121" y="1253435"/>
                </a:lnTo>
                <a:lnTo>
                  <a:pt x="1133228" y="1287473"/>
                </a:lnTo>
                <a:lnTo>
                  <a:pt x="1087750" y="1318195"/>
                </a:lnTo>
                <a:lnTo>
                  <a:pt x="1039873" y="1345414"/>
                </a:lnTo>
                <a:lnTo>
                  <a:pt x="989778" y="1368950"/>
                </a:lnTo>
                <a:lnTo>
                  <a:pt x="937650" y="1388617"/>
                </a:lnTo>
                <a:lnTo>
                  <a:pt x="883671" y="1404233"/>
                </a:lnTo>
                <a:lnTo>
                  <a:pt x="828026" y="1415614"/>
                </a:lnTo>
                <a:lnTo>
                  <a:pt x="770898" y="1422578"/>
                </a:lnTo>
                <a:lnTo>
                  <a:pt x="712470" y="1424939"/>
                </a:lnTo>
                <a:lnTo>
                  <a:pt x="654041" y="1422578"/>
                </a:lnTo>
                <a:lnTo>
                  <a:pt x="596913" y="1415614"/>
                </a:lnTo>
                <a:lnTo>
                  <a:pt x="541268" y="1404233"/>
                </a:lnTo>
                <a:lnTo>
                  <a:pt x="487289" y="1388617"/>
                </a:lnTo>
                <a:lnTo>
                  <a:pt x="435161" y="1368950"/>
                </a:lnTo>
                <a:lnTo>
                  <a:pt x="385066" y="1345414"/>
                </a:lnTo>
                <a:lnTo>
                  <a:pt x="337189" y="1318195"/>
                </a:lnTo>
                <a:lnTo>
                  <a:pt x="291711" y="1287473"/>
                </a:lnTo>
                <a:lnTo>
                  <a:pt x="248818" y="1253435"/>
                </a:lnTo>
                <a:lnTo>
                  <a:pt x="208692" y="1216261"/>
                </a:lnTo>
                <a:lnTo>
                  <a:pt x="171517" y="1176136"/>
                </a:lnTo>
                <a:lnTo>
                  <a:pt x="137476" y="1133244"/>
                </a:lnTo>
                <a:lnTo>
                  <a:pt x="106754" y="1087767"/>
                </a:lnTo>
                <a:lnTo>
                  <a:pt x="79532" y="1039890"/>
                </a:lnTo>
                <a:lnTo>
                  <a:pt x="55995" y="989794"/>
                </a:lnTo>
                <a:lnTo>
                  <a:pt x="36326" y="937664"/>
                </a:lnTo>
                <a:lnTo>
                  <a:pt x="20708" y="883684"/>
                </a:lnTo>
                <a:lnTo>
                  <a:pt x="9326" y="828035"/>
                </a:lnTo>
                <a:lnTo>
                  <a:pt x="2362" y="770903"/>
                </a:lnTo>
                <a:lnTo>
                  <a:pt x="0" y="71246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43445" y="4946715"/>
            <a:ext cx="735965" cy="767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0"/>
              </a:lnSpc>
            </a:pPr>
            <a:r>
              <a:rPr sz="2800" b="1" i="1" spc="-10" dirty="0">
                <a:solidFill>
                  <a:srgbClr val="FFFFFF"/>
                </a:solidFill>
                <a:latin typeface="微软雅黑"/>
                <a:cs typeface="微软雅黑"/>
              </a:rPr>
              <a:t>接口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ts val="320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函数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31079" y="440829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"/>
                </a:moveTo>
                <a:lnTo>
                  <a:pt x="64643" y="315975"/>
                </a:lnTo>
                <a:lnTo>
                  <a:pt x="342646" y="380619"/>
                </a:lnTo>
                <a:lnTo>
                  <a:pt x="274066" y="312165"/>
                </a:lnTo>
                <a:lnTo>
                  <a:pt x="380746" y="205485"/>
                </a:lnTo>
                <a:lnTo>
                  <a:pt x="281813" y="106552"/>
                </a:lnTo>
                <a:lnTo>
                  <a:pt x="68580" y="106552"/>
                </a:lnTo>
                <a:lnTo>
                  <a:pt x="0" y="38100"/>
                </a:lnTo>
                <a:close/>
              </a:path>
              <a:path w="381000" h="381000">
                <a:moveTo>
                  <a:pt x="175260" y="0"/>
                </a:moveTo>
                <a:lnTo>
                  <a:pt x="68580" y="106552"/>
                </a:lnTo>
                <a:lnTo>
                  <a:pt x="281813" y="106552"/>
                </a:lnTo>
                <a:lnTo>
                  <a:pt x="175260" y="0"/>
                </a:lnTo>
                <a:close/>
              </a:path>
            </a:pathLst>
          </a:custGeom>
          <a:solidFill>
            <a:srgbClr val="EB6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78352" y="4616196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39" h="1424939">
                <a:moveTo>
                  <a:pt x="712470" y="0"/>
                </a:moveTo>
                <a:lnTo>
                  <a:pt x="654041" y="2362"/>
                </a:lnTo>
                <a:lnTo>
                  <a:pt x="596913" y="9326"/>
                </a:lnTo>
                <a:lnTo>
                  <a:pt x="541268" y="20708"/>
                </a:lnTo>
                <a:lnTo>
                  <a:pt x="487289" y="36326"/>
                </a:lnTo>
                <a:lnTo>
                  <a:pt x="435161" y="55995"/>
                </a:lnTo>
                <a:lnTo>
                  <a:pt x="385066" y="79532"/>
                </a:lnTo>
                <a:lnTo>
                  <a:pt x="337189" y="106754"/>
                </a:lnTo>
                <a:lnTo>
                  <a:pt x="291711" y="137476"/>
                </a:lnTo>
                <a:lnTo>
                  <a:pt x="248818" y="171517"/>
                </a:lnTo>
                <a:lnTo>
                  <a:pt x="208692" y="208692"/>
                </a:lnTo>
                <a:lnTo>
                  <a:pt x="171517" y="248818"/>
                </a:lnTo>
                <a:lnTo>
                  <a:pt x="137476" y="291711"/>
                </a:lnTo>
                <a:lnTo>
                  <a:pt x="106754" y="337189"/>
                </a:lnTo>
                <a:lnTo>
                  <a:pt x="79532" y="385066"/>
                </a:lnTo>
                <a:lnTo>
                  <a:pt x="55995" y="435161"/>
                </a:lnTo>
                <a:lnTo>
                  <a:pt x="36326" y="487289"/>
                </a:lnTo>
                <a:lnTo>
                  <a:pt x="20708" y="541268"/>
                </a:lnTo>
                <a:lnTo>
                  <a:pt x="9326" y="596913"/>
                </a:lnTo>
                <a:lnTo>
                  <a:pt x="2362" y="654041"/>
                </a:lnTo>
                <a:lnTo>
                  <a:pt x="0" y="712469"/>
                </a:lnTo>
                <a:lnTo>
                  <a:pt x="2362" y="770903"/>
                </a:lnTo>
                <a:lnTo>
                  <a:pt x="9326" y="828035"/>
                </a:lnTo>
                <a:lnTo>
                  <a:pt x="20708" y="883684"/>
                </a:lnTo>
                <a:lnTo>
                  <a:pt x="36326" y="937664"/>
                </a:lnTo>
                <a:lnTo>
                  <a:pt x="55995" y="989794"/>
                </a:lnTo>
                <a:lnTo>
                  <a:pt x="79532" y="1039890"/>
                </a:lnTo>
                <a:lnTo>
                  <a:pt x="106754" y="1087767"/>
                </a:lnTo>
                <a:lnTo>
                  <a:pt x="137476" y="1133244"/>
                </a:lnTo>
                <a:lnTo>
                  <a:pt x="171517" y="1176136"/>
                </a:lnTo>
                <a:lnTo>
                  <a:pt x="208692" y="1216261"/>
                </a:lnTo>
                <a:lnTo>
                  <a:pt x="248818" y="1253435"/>
                </a:lnTo>
                <a:lnTo>
                  <a:pt x="291711" y="1287473"/>
                </a:lnTo>
                <a:lnTo>
                  <a:pt x="337189" y="1318195"/>
                </a:lnTo>
                <a:lnTo>
                  <a:pt x="385066" y="1345414"/>
                </a:lnTo>
                <a:lnTo>
                  <a:pt x="435161" y="1368950"/>
                </a:lnTo>
                <a:lnTo>
                  <a:pt x="487289" y="1388617"/>
                </a:lnTo>
                <a:lnTo>
                  <a:pt x="541268" y="1404233"/>
                </a:lnTo>
                <a:lnTo>
                  <a:pt x="596913" y="1415614"/>
                </a:lnTo>
                <a:lnTo>
                  <a:pt x="654041" y="1422578"/>
                </a:lnTo>
                <a:lnTo>
                  <a:pt x="712470" y="1424939"/>
                </a:lnTo>
                <a:lnTo>
                  <a:pt x="770898" y="1422578"/>
                </a:lnTo>
                <a:lnTo>
                  <a:pt x="828026" y="1415614"/>
                </a:lnTo>
                <a:lnTo>
                  <a:pt x="883671" y="1404233"/>
                </a:lnTo>
                <a:lnTo>
                  <a:pt x="937650" y="1388617"/>
                </a:lnTo>
                <a:lnTo>
                  <a:pt x="989778" y="1368950"/>
                </a:lnTo>
                <a:lnTo>
                  <a:pt x="1039873" y="1345414"/>
                </a:lnTo>
                <a:lnTo>
                  <a:pt x="1087750" y="1318195"/>
                </a:lnTo>
                <a:lnTo>
                  <a:pt x="1133228" y="1287473"/>
                </a:lnTo>
                <a:lnTo>
                  <a:pt x="1176121" y="1253435"/>
                </a:lnTo>
                <a:lnTo>
                  <a:pt x="1216247" y="1216261"/>
                </a:lnTo>
                <a:lnTo>
                  <a:pt x="1253422" y="1176136"/>
                </a:lnTo>
                <a:lnTo>
                  <a:pt x="1287463" y="1133244"/>
                </a:lnTo>
                <a:lnTo>
                  <a:pt x="1318185" y="1087767"/>
                </a:lnTo>
                <a:lnTo>
                  <a:pt x="1345407" y="1039890"/>
                </a:lnTo>
                <a:lnTo>
                  <a:pt x="1368944" y="989794"/>
                </a:lnTo>
                <a:lnTo>
                  <a:pt x="1388613" y="937664"/>
                </a:lnTo>
                <a:lnTo>
                  <a:pt x="1404231" y="883684"/>
                </a:lnTo>
                <a:lnTo>
                  <a:pt x="1415613" y="828035"/>
                </a:lnTo>
                <a:lnTo>
                  <a:pt x="1422577" y="770903"/>
                </a:lnTo>
                <a:lnTo>
                  <a:pt x="1424939" y="712469"/>
                </a:lnTo>
                <a:lnTo>
                  <a:pt x="1422577" y="654041"/>
                </a:lnTo>
                <a:lnTo>
                  <a:pt x="1415613" y="596913"/>
                </a:lnTo>
                <a:lnTo>
                  <a:pt x="1404231" y="541268"/>
                </a:lnTo>
                <a:lnTo>
                  <a:pt x="1388613" y="487289"/>
                </a:lnTo>
                <a:lnTo>
                  <a:pt x="1368944" y="435161"/>
                </a:lnTo>
                <a:lnTo>
                  <a:pt x="1345407" y="385066"/>
                </a:lnTo>
                <a:lnTo>
                  <a:pt x="1318185" y="337189"/>
                </a:lnTo>
                <a:lnTo>
                  <a:pt x="1287463" y="291711"/>
                </a:lnTo>
                <a:lnTo>
                  <a:pt x="1253422" y="248818"/>
                </a:lnTo>
                <a:lnTo>
                  <a:pt x="1216247" y="208692"/>
                </a:lnTo>
                <a:lnTo>
                  <a:pt x="1176121" y="171517"/>
                </a:lnTo>
                <a:lnTo>
                  <a:pt x="1133228" y="137476"/>
                </a:lnTo>
                <a:lnTo>
                  <a:pt x="1087750" y="106754"/>
                </a:lnTo>
                <a:lnTo>
                  <a:pt x="1039873" y="79532"/>
                </a:lnTo>
                <a:lnTo>
                  <a:pt x="989778" y="55995"/>
                </a:lnTo>
                <a:lnTo>
                  <a:pt x="937650" y="36326"/>
                </a:lnTo>
                <a:lnTo>
                  <a:pt x="883671" y="20708"/>
                </a:lnTo>
                <a:lnTo>
                  <a:pt x="828026" y="9326"/>
                </a:lnTo>
                <a:lnTo>
                  <a:pt x="770898" y="2362"/>
                </a:lnTo>
                <a:lnTo>
                  <a:pt x="712470" y="0"/>
                </a:lnTo>
                <a:close/>
              </a:path>
            </a:pathLst>
          </a:custGeom>
          <a:solidFill>
            <a:srgbClr val="EB6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78352" y="4616196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39" h="1424939">
                <a:moveTo>
                  <a:pt x="0" y="712469"/>
                </a:moveTo>
                <a:lnTo>
                  <a:pt x="2362" y="654041"/>
                </a:lnTo>
                <a:lnTo>
                  <a:pt x="9326" y="596913"/>
                </a:lnTo>
                <a:lnTo>
                  <a:pt x="20708" y="541268"/>
                </a:lnTo>
                <a:lnTo>
                  <a:pt x="36326" y="487289"/>
                </a:lnTo>
                <a:lnTo>
                  <a:pt x="55995" y="435161"/>
                </a:lnTo>
                <a:lnTo>
                  <a:pt x="79532" y="385066"/>
                </a:lnTo>
                <a:lnTo>
                  <a:pt x="106754" y="337189"/>
                </a:lnTo>
                <a:lnTo>
                  <a:pt x="137476" y="291711"/>
                </a:lnTo>
                <a:lnTo>
                  <a:pt x="171517" y="248818"/>
                </a:lnTo>
                <a:lnTo>
                  <a:pt x="208692" y="208692"/>
                </a:lnTo>
                <a:lnTo>
                  <a:pt x="248818" y="171517"/>
                </a:lnTo>
                <a:lnTo>
                  <a:pt x="291711" y="137476"/>
                </a:lnTo>
                <a:lnTo>
                  <a:pt x="337189" y="106754"/>
                </a:lnTo>
                <a:lnTo>
                  <a:pt x="385066" y="79532"/>
                </a:lnTo>
                <a:lnTo>
                  <a:pt x="435161" y="55995"/>
                </a:lnTo>
                <a:lnTo>
                  <a:pt x="487289" y="36326"/>
                </a:lnTo>
                <a:lnTo>
                  <a:pt x="541268" y="20708"/>
                </a:lnTo>
                <a:lnTo>
                  <a:pt x="596913" y="9326"/>
                </a:lnTo>
                <a:lnTo>
                  <a:pt x="654041" y="2362"/>
                </a:lnTo>
                <a:lnTo>
                  <a:pt x="712470" y="0"/>
                </a:lnTo>
                <a:lnTo>
                  <a:pt x="770898" y="2362"/>
                </a:lnTo>
                <a:lnTo>
                  <a:pt x="828026" y="9326"/>
                </a:lnTo>
                <a:lnTo>
                  <a:pt x="883671" y="20708"/>
                </a:lnTo>
                <a:lnTo>
                  <a:pt x="937650" y="36326"/>
                </a:lnTo>
                <a:lnTo>
                  <a:pt x="989778" y="55995"/>
                </a:lnTo>
                <a:lnTo>
                  <a:pt x="1039873" y="79532"/>
                </a:lnTo>
                <a:lnTo>
                  <a:pt x="1087750" y="106754"/>
                </a:lnTo>
                <a:lnTo>
                  <a:pt x="1133228" y="137476"/>
                </a:lnTo>
                <a:lnTo>
                  <a:pt x="1176121" y="171517"/>
                </a:lnTo>
                <a:lnTo>
                  <a:pt x="1216247" y="208692"/>
                </a:lnTo>
                <a:lnTo>
                  <a:pt x="1253422" y="248818"/>
                </a:lnTo>
                <a:lnTo>
                  <a:pt x="1287463" y="291711"/>
                </a:lnTo>
                <a:lnTo>
                  <a:pt x="1318185" y="337189"/>
                </a:lnTo>
                <a:lnTo>
                  <a:pt x="1345407" y="385066"/>
                </a:lnTo>
                <a:lnTo>
                  <a:pt x="1368944" y="435161"/>
                </a:lnTo>
                <a:lnTo>
                  <a:pt x="1388613" y="487289"/>
                </a:lnTo>
                <a:lnTo>
                  <a:pt x="1404231" y="541268"/>
                </a:lnTo>
                <a:lnTo>
                  <a:pt x="1415613" y="596913"/>
                </a:lnTo>
                <a:lnTo>
                  <a:pt x="1422577" y="654041"/>
                </a:lnTo>
                <a:lnTo>
                  <a:pt x="1424939" y="712469"/>
                </a:lnTo>
                <a:lnTo>
                  <a:pt x="1422577" y="770903"/>
                </a:lnTo>
                <a:lnTo>
                  <a:pt x="1415613" y="828035"/>
                </a:lnTo>
                <a:lnTo>
                  <a:pt x="1404231" y="883684"/>
                </a:lnTo>
                <a:lnTo>
                  <a:pt x="1388613" y="937664"/>
                </a:lnTo>
                <a:lnTo>
                  <a:pt x="1368944" y="989794"/>
                </a:lnTo>
                <a:lnTo>
                  <a:pt x="1345407" y="1039890"/>
                </a:lnTo>
                <a:lnTo>
                  <a:pt x="1318185" y="1087767"/>
                </a:lnTo>
                <a:lnTo>
                  <a:pt x="1287463" y="1133244"/>
                </a:lnTo>
                <a:lnTo>
                  <a:pt x="1253422" y="1176136"/>
                </a:lnTo>
                <a:lnTo>
                  <a:pt x="1216247" y="1216261"/>
                </a:lnTo>
                <a:lnTo>
                  <a:pt x="1176121" y="1253435"/>
                </a:lnTo>
                <a:lnTo>
                  <a:pt x="1133228" y="1287473"/>
                </a:lnTo>
                <a:lnTo>
                  <a:pt x="1087750" y="1318195"/>
                </a:lnTo>
                <a:lnTo>
                  <a:pt x="1039873" y="1345414"/>
                </a:lnTo>
                <a:lnTo>
                  <a:pt x="989778" y="1368950"/>
                </a:lnTo>
                <a:lnTo>
                  <a:pt x="937650" y="1388617"/>
                </a:lnTo>
                <a:lnTo>
                  <a:pt x="883671" y="1404233"/>
                </a:lnTo>
                <a:lnTo>
                  <a:pt x="828026" y="1415614"/>
                </a:lnTo>
                <a:lnTo>
                  <a:pt x="770898" y="1422578"/>
                </a:lnTo>
                <a:lnTo>
                  <a:pt x="712470" y="1424939"/>
                </a:lnTo>
                <a:lnTo>
                  <a:pt x="654041" y="1422578"/>
                </a:lnTo>
                <a:lnTo>
                  <a:pt x="596913" y="1415614"/>
                </a:lnTo>
                <a:lnTo>
                  <a:pt x="541268" y="1404233"/>
                </a:lnTo>
                <a:lnTo>
                  <a:pt x="487289" y="1388617"/>
                </a:lnTo>
                <a:lnTo>
                  <a:pt x="435161" y="1368950"/>
                </a:lnTo>
                <a:lnTo>
                  <a:pt x="385066" y="1345414"/>
                </a:lnTo>
                <a:lnTo>
                  <a:pt x="337189" y="1318195"/>
                </a:lnTo>
                <a:lnTo>
                  <a:pt x="291711" y="1287473"/>
                </a:lnTo>
                <a:lnTo>
                  <a:pt x="248818" y="1253435"/>
                </a:lnTo>
                <a:lnTo>
                  <a:pt x="208692" y="1216261"/>
                </a:lnTo>
                <a:lnTo>
                  <a:pt x="171517" y="1176136"/>
                </a:lnTo>
                <a:lnTo>
                  <a:pt x="137476" y="1133244"/>
                </a:lnTo>
                <a:lnTo>
                  <a:pt x="106754" y="1087767"/>
                </a:lnTo>
                <a:lnTo>
                  <a:pt x="79532" y="1039890"/>
                </a:lnTo>
                <a:lnTo>
                  <a:pt x="55995" y="989794"/>
                </a:lnTo>
                <a:lnTo>
                  <a:pt x="36326" y="937664"/>
                </a:lnTo>
                <a:lnTo>
                  <a:pt x="20708" y="883684"/>
                </a:lnTo>
                <a:lnTo>
                  <a:pt x="9326" y="828035"/>
                </a:lnTo>
                <a:lnTo>
                  <a:pt x="2362" y="770903"/>
                </a:lnTo>
                <a:lnTo>
                  <a:pt x="0" y="71246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23157" y="5140888"/>
            <a:ext cx="7359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方法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31079" y="3048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1874" y="274065"/>
                </a:moveTo>
                <a:lnTo>
                  <a:pt x="68580" y="274065"/>
                </a:lnTo>
                <a:lnTo>
                  <a:pt x="175260" y="380745"/>
                </a:lnTo>
                <a:lnTo>
                  <a:pt x="281874" y="274065"/>
                </a:lnTo>
                <a:close/>
              </a:path>
              <a:path w="381000" h="381000">
                <a:moveTo>
                  <a:pt x="342646" y="0"/>
                </a:moveTo>
                <a:lnTo>
                  <a:pt x="64643" y="64642"/>
                </a:lnTo>
                <a:lnTo>
                  <a:pt x="0" y="342518"/>
                </a:lnTo>
                <a:lnTo>
                  <a:pt x="68580" y="274065"/>
                </a:lnTo>
                <a:lnTo>
                  <a:pt x="281874" y="274065"/>
                </a:lnTo>
                <a:lnTo>
                  <a:pt x="380746" y="175132"/>
                </a:lnTo>
                <a:lnTo>
                  <a:pt x="274066" y="68452"/>
                </a:lnTo>
                <a:lnTo>
                  <a:pt x="342646" y="0"/>
                </a:lnTo>
                <a:close/>
              </a:path>
            </a:pathLst>
          </a:custGeom>
          <a:solidFill>
            <a:srgbClr val="E647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78352" y="1796795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39" h="1424939">
                <a:moveTo>
                  <a:pt x="712470" y="0"/>
                </a:moveTo>
                <a:lnTo>
                  <a:pt x="654041" y="2362"/>
                </a:lnTo>
                <a:lnTo>
                  <a:pt x="596913" y="9326"/>
                </a:lnTo>
                <a:lnTo>
                  <a:pt x="541268" y="20708"/>
                </a:lnTo>
                <a:lnTo>
                  <a:pt x="487289" y="36326"/>
                </a:lnTo>
                <a:lnTo>
                  <a:pt x="435161" y="55995"/>
                </a:lnTo>
                <a:lnTo>
                  <a:pt x="385066" y="79532"/>
                </a:lnTo>
                <a:lnTo>
                  <a:pt x="337189" y="106754"/>
                </a:lnTo>
                <a:lnTo>
                  <a:pt x="291711" y="137476"/>
                </a:lnTo>
                <a:lnTo>
                  <a:pt x="248818" y="171517"/>
                </a:lnTo>
                <a:lnTo>
                  <a:pt x="208692" y="208692"/>
                </a:lnTo>
                <a:lnTo>
                  <a:pt x="171517" y="248818"/>
                </a:lnTo>
                <a:lnTo>
                  <a:pt x="137476" y="291711"/>
                </a:lnTo>
                <a:lnTo>
                  <a:pt x="106754" y="337189"/>
                </a:lnTo>
                <a:lnTo>
                  <a:pt x="79532" y="385066"/>
                </a:lnTo>
                <a:lnTo>
                  <a:pt x="55995" y="435161"/>
                </a:lnTo>
                <a:lnTo>
                  <a:pt x="36326" y="487289"/>
                </a:lnTo>
                <a:lnTo>
                  <a:pt x="20708" y="541268"/>
                </a:lnTo>
                <a:lnTo>
                  <a:pt x="9326" y="596913"/>
                </a:lnTo>
                <a:lnTo>
                  <a:pt x="2362" y="654041"/>
                </a:lnTo>
                <a:lnTo>
                  <a:pt x="0" y="712469"/>
                </a:lnTo>
                <a:lnTo>
                  <a:pt x="2362" y="770898"/>
                </a:lnTo>
                <a:lnTo>
                  <a:pt x="9326" y="828026"/>
                </a:lnTo>
                <a:lnTo>
                  <a:pt x="20708" y="883671"/>
                </a:lnTo>
                <a:lnTo>
                  <a:pt x="36326" y="937650"/>
                </a:lnTo>
                <a:lnTo>
                  <a:pt x="55995" y="989778"/>
                </a:lnTo>
                <a:lnTo>
                  <a:pt x="79532" y="1039873"/>
                </a:lnTo>
                <a:lnTo>
                  <a:pt x="106754" y="1087750"/>
                </a:lnTo>
                <a:lnTo>
                  <a:pt x="137476" y="1133228"/>
                </a:lnTo>
                <a:lnTo>
                  <a:pt x="171517" y="1176121"/>
                </a:lnTo>
                <a:lnTo>
                  <a:pt x="208692" y="1216247"/>
                </a:lnTo>
                <a:lnTo>
                  <a:pt x="248818" y="1253422"/>
                </a:lnTo>
                <a:lnTo>
                  <a:pt x="291711" y="1287463"/>
                </a:lnTo>
                <a:lnTo>
                  <a:pt x="337189" y="1318185"/>
                </a:lnTo>
                <a:lnTo>
                  <a:pt x="385066" y="1345407"/>
                </a:lnTo>
                <a:lnTo>
                  <a:pt x="435161" y="1368944"/>
                </a:lnTo>
                <a:lnTo>
                  <a:pt x="487289" y="1388613"/>
                </a:lnTo>
                <a:lnTo>
                  <a:pt x="541268" y="1404231"/>
                </a:lnTo>
                <a:lnTo>
                  <a:pt x="596913" y="1415613"/>
                </a:lnTo>
                <a:lnTo>
                  <a:pt x="654041" y="1422577"/>
                </a:lnTo>
                <a:lnTo>
                  <a:pt x="712470" y="1424939"/>
                </a:lnTo>
                <a:lnTo>
                  <a:pt x="770898" y="1422577"/>
                </a:lnTo>
                <a:lnTo>
                  <a:pt x="828026" y="1415613"/>
                </a:lnTo>
                <a:lnTo>
                  <a:pt x="883671" y="1404231"/>
                </a:lnTo>
                <a:lnTo>
                  <a:pt x="937650" y="1388613"/>
                </a:lnTo>
                <a:lnTo>
                  <a:pt x="989778" y="1368944"/>
                </a:lnTo>
                <a:lnTo>
                  <a:pt x="1039873" y="1345407"/>
                </a:lnTo>
                <a:lnTo>
                  <a:pt x="1087750" y="1318185"/>
                </a:lnTo>
                <a:lnTo>
                  <a:pt x="1133228" y="1287463"/>
                </a:lnTo>
                <a:lnTo>
                  <a:pt x="1176121" y="1253422"/>
                </a:lnTo>
                <a:lnTo>
                  <a:pt x="1216247" y="1216247"/>
                </a:lnTo>
                <a:lnTo>
                  <a:pt x="1253422" y="1176121"/>
                </a:lnTo>
                <a:lnTo>
                  <a:pt x="1287463" y="1133228"/>
                </a:lnTo>
                <a:lnTo>
                  <a:pt x="1318185" y="1087750"/>
                </a:lnTo>
                <a:lnTo>
                  <a:pt x="1345407" y="1039873"/>
                </a:lnTo>
                <a:lnTo>
                  <a:pt x="1368944" y="989778"/>
                </a:lnTo>
                <a:lnTo>
                  <a:pt x="1388613" y="937650"/>
                </a:lnTo>
                <a:lnTo>
                  <a:pt x="1404231" y="883671"/>
                </a:lnTo>
                <a:lnTo>
                  <a:pt x="1415613" y="828026"/>
                </a:lnTo>
                <a:lnTo>
                  <a:pt x="1422577" y="770898"/>
                </a:lnTo>
                <a:lnTo>
                  <a:pt x="1424939" y="712469"/>
                </a:lnTo>
                <a:lnTo>
                  <a:pt x="1422577" y="654041"/>
                </a:lnTo>
                <a:lnTo>
                  <a:pt x="1415613" y="596913"/>
                </a:lnTo>
                <a:lnTo>
                  <a:pt x="1404231" y="541268"/>
                </a:lnTo>
                <a:lnTo>
                  <a:pt x="1388613" y="487289"/>
                </a:lnTo>
                <a:lnTo>
                  <a:pt x="1368944" y="435161"/>
                </a:lnTo>
                <a:lnTo>
                  <a:pt x="1345407" y="385066"/>
                </a:lnTo>
                <a:lnTo>
                  <a:pt x="1318185" y="337189"/>
                </a:lnTo>
                <a:lnTo>
                  <a:pt x="1287463" y="291711"/>
                </a:lnTo>
                <a:lnTo>
                  <a:pt x="1253422" y="248818"/>
                </a:lnTo>
                <a:lnTo>
                  <a:pt x="1216247" y="208692"/>
                </a:lnTo>
                <a:lnTo>
                  <a:pt x="1176121" y="171517"/>
                </a:lnTo>
                <a:lnTo>
                  <a:pt x="1133228" y="137476"/>
                </a:lnTo>
                <a:lnTo>
                  <a:pt x="1087750" y="106754"/>
                </a:lnTo>
                <a:lnTo>
                  <a:pt x="1039873" y="79532"/>
                </a:lnTo>
                <a:lnTo>
                  <a:pt x="989778" y="55995"/>
                </a:lnTo>
                <a:lnTo>
                  <a:pt x="937650" y="36326"/>
                </a:lnTo>
                <a:lnTo>
                  <a:pt x="883671" y="20708"/>
                </a:lnTo>
                <a:lnTo>
                  <a:pt x="828026" y="9326"/>
                </a:lnTo>
                <a:lnTo>
                  <a:pt x="770898" y="2362"/>
                </a:lnTo>
                <a:lnTo>
                  <a:pt x="712470" y="0"/>
                </a:lnTo>
                <a:close/>
              </a:path>
            </a:pathLst>
          </a:custGeom>
          <a:solidFill>
            <a:srgbClr val="E647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78352" y="1796795"/>
            <a:ext cx="1424940" cy="1424940"/>
          </a:xfrm>
          <a:custGeom>
            <a:avLst/>
            <a:gdLst/>
            <a:ahLst/>
            <a:cxnLst/>
            <a:rect l="l" t="t" r="r" b="b"/>
            <a:pathLst>
              <a:path w="1424939" h="1424939">
                <a:moveTo>
                  <a:pt x="0" y="712469"/>
                </a:moveTo>
                <a:lnTo>
                  <a:pt x="2362" y="654041"/>
                </a:lnTo>
                <a:lnTo>
                  <a:pt x="9326" y="596913"/>
                </a:lnTo>
                <a:lnTo>
                  <a:pt x="20708" y="541268"/>
                </a:lnTo>
                <a:lnTo>
                  <a:pt x="36326" y="487289"/>
                </a:lnTo>
                <a:lnTo>
                  <a:pt x="55995" y="435161"/>
                </a:lnTo>
                <a:lnTo>
                  <a:pt x="79532" y="385066"/>
                </a:lnTo>
                <a:lnTo>
                  <a:pt x="106754" y="337189"/>
                </a:lnTo>
                <a:lnTo>
                  <a:pt x="137476" y="291711"/>
                </a:lnTo>
                <a:lnTo>
                  <a:pt x="171517" y="248818"/>
                </a:lnTo>
                <a:lnTo>
                  <a:pt x="208692" y="208692"/>
                </a:lnTo>
                <a:lnTo>
                  <a:pt x="248818" y="171517"/>
                </a:lnTo>
                <a:lnTo>
                  <a:pt x="291711" y="137476"/>
                </a:lnTo>
                <a:lnTo>
                  <a:pt x="337189" y="106754"/>
                </a:lnTo>
                <a:lnTo>
                  <a:pt x="385066" y="79532"/>
                </a:lnTo>
                <a:lnTo>
                  <a:pt x="435161" y="55995"/>
                </a:lnTo>
                <a:lnTo>
                  <a:pt x="487289" y="36326"/>
                </a:lnTo>
                <a:lnTo>
                  <a:pt x="541268" y="20708"/>
                </a:lnTo>
                <a:lnTo>
                  <a:pt x="596913" y="9326"/>
                </a:lnTo>
                <a:lnTo>
                  <a:pt x="654041" y="2362"/>
                </a:lnTo>
                <a:lnTo>
                  <a:pt x="712470" y="0"/>
                </a:lnTo>
                <a:lnTo>
                  <a:pt x="770898" y="2362"/>
                </a:lnTo>
                <a:lnTo>
                  <a:pt x="828026" y="9326"/>
                </a:lnTo>
                <a:lnTo>
                  <a:pt x="883671" y="20708"/>
                </a:lnTo>
                <a:lnTo>
                  <a:pt x="937650" y="36326"/>
                </a:lnTo>
                <a:lnTo>
                  <a:pt x="989778" y="55995"/>
                </a:lnTo>
                <a:lnTo>
                  <a:pt x="1039873" y="79532"/>
                </a:lnTo>
                <a:lnTo>
                  <a:pt x="1087750" y="106754"/>
                </a:lnTo>
                <a:lnTo>
                  <a:pt x="1133228" y="137476"/>
                </a:lnTo>
                <a:lnTo>
                  <a:pt x="1176121" y="171517"/>
                </a:lnTo>
                <a:lnTo>
                  <a:pt x="1216247" y="208692"/>
                </a:lnTo>
                <a:lnTo>
                  <a:pt x="1253422" y="248818"/>
                </a:lnTo>
                <a:lnTo>
                  <a:pt x="1287463" y="291711"/>
                </a:lnTo>
                <a:lnTo>
                  <a:pt x="1318185" y="337189"/>
                </a:lnTo>
                <a:lnTo>
                  <a:pt x="1345407" y="385066"/>
                </a:lnTo>
                <a:lnTo>
                  <a:pt x="1368944" y="435161"/>
                </a:lnTo>
                <a:lnTo>
                  <a:pt x="1388613" y="487289"/>
                </a:lnTo>
                <a:lnTo>
                  <a:pt x="1404231" y="541268"/>
                </a:lnTo>
                <a:lnTo>
                  <a:pt x="1415613" y="596913"/>
                </a:lnTo>
                <a:lnTo>
                  <a:pt x="1422577" y="654041"/>
                </a:lnTo>
                <a:lnTo>
                  <a:pt x="1424939" y="712469"/>
                </a:lnTo>
                <a:lnTo>
                  <a:pt x="1422577" y="770898"/>
                </a:lnTo>
                <a:lnTo>
                  <a:pt x="1415613" y="828026"/>
                </a:lnTo>
                <a:lnTo>
                  <a:pt x="1404231" y="883671"/>
                </a:lnTo>
                <a:lnTo>
                  <a:pt x="1388613" y="937650"/>
                </a:lnTo>
                <a:lnTo>
                  <a:pt x="1368944" y="989778"/>
                </a:lnTo>
                <a:lnTo>
                  <a:pt x="1345407" y="1039873"/>
                </a:lnTo>
                <a:lnTo>
                  <a:pt x="1318185" y="1087750"/>
                </a:lnTo>
                <a:lnTo>
                  <a:pt x="1287463" y="1133228"/>
                </a:lnTo>
                <a:lnTo>
                  <a:pt x="1253422" y="1176121"/>
                </a:lnTo>
                <a:lnTo>
                  <a:pt x="1216247" y="1216247"/>
                </a:lnTo>
                <a:lnTo>
                  <a:pt x="1176121" y="1253422"/>
                </a:lnTo>
                <a:lnTo>
                  <a:pt x="1133228" y="1287463"/>
                </a:lnTo>
                <a:lnTo>
                  <a:pt x="1087750" y="1318185"/>
                </a:lnTo>
                <a:lnTo>
                  <a:pt x="1039873" y="1345407"/>
                </a:lnTo>
                <a:lnTo>
                  <a:pt x="989778" y="1368944"/>
                </a:lnTo>
                <a:lnTo>
                  <a:pt x="937650" y="1388613"/>
                </a:lnTo>
                <a:lnTo>
                  <a:pt x="883671" y="1404231"/>
                </a:lnTo>
                <a:lnTo>
                  <a:pt x="828026" y="1415613"/>
                </a:lnTo>
                <a:lnTo>
                  <a:pt x="770898" y="1422577"/>
                </a:lnTo>
                <a:lnTo>
                  <a:pt x="712470" y="1424939"/>
                </a:lnTo>
                <a:lnTo>
                  <a:pt x="654041" y="1422577"/>
                </a:lnTo>
                <a:lnTo>
                  <a:pt x="596913" y="1415613"/>
                </a:lnTo>
                <a:lnTo>
                  <a:pt x="541268" y="1404231"/>
                </a:lnTo>
                <a:lnTo>
                  <a:pt x="487289" y="1388613"/>
                </a:lnTo>
                <a:lnTo>
                  <a:pt x="435161" y="1368944"/>
                </a:lnTo>
                <a:lnTo>
                  <a:pt x="385066" y="1345407"/>
                </a:lnTo>
                <a:lnTo>
                  <a:pt x="337189" y="1318185"/>
                </a:lnTo>
                <a:lnTo>
                  <a:pt x="291711" y="1287463"/>
                </a:lnTo>
                <a:lnTo>
                  <a:pt x="248818" y="1253422"/>
                </a:lnTo>
                <a:lnTo>
                  <a:pt x="208692" y="1216247"/>
                </a:lnTo>
                <a:lnTo>
                  <a:pt x="171517" y="1176121"/>
                </a:lnTo>
                <a:lnTo>
                  <a:pt x="137476" y="1133228"/>
                </a:lnTo>
                <a:lnTo>
                  <a:pt x="106754" y="1087750"/>
                </a:lnTo>
                <a:lnTo>
                  <a:pt x="79532" y="1039873"/>
                </a:lnTo>
                <a:lnTo>
                  <a:pt x="55995" y="989778"/>
                </a:lnTo>
                <a:lnTo>
                  <a:pt x="36326" y="937650"/>
                </a:lnTo>
                <a:lnTo>
                  <a:pt x="20708" y="883671"/>
                </a:lnTo>
                <a:lnTo>
                  <a:pt x="9326" y="828026"/>
                </a:lnTo>
                <a:lnTo>
                  <a:pt x="2362" y="770898"/>
                </a:lnTo>
                <a:lnTo>
                  <a:pt x="0" y="71246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23157" y="2320219"/>
            <a:ext cx="7359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数据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55305" y="2384728"/>
            <a:ext cx="2825115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0100"/>
              </a:lnSpc>
            </a:pPr>
            <a:r>
              <a:rPr sz="2000" b="1" i="1" dirty="0">
                <a:latin typeface="微软雅黑"/>
                <a:cs typeface="微软雅黑"/>
              </a:rPr>
              <a:t>设计相应的数据类型来表 示外设的各种功能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00059" y="1796795"/>
            <a:ext cx="1724025" cy="462280"/>
          </a:xfrm>
          <a:prstGeom prst="rect">
            <a:avLst/>
          </a:prstGeom>
          <a:solidFill>
            <a:srgbClr val="F8921D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24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外设的属性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55305" y="5339510"/>
            <a:ext cx="3075305" cy="1073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0000"/>
              </a:lnSpc>
            </a:pPr>
            <a:r>
              <a:rPr sz="2000" b="1" i="1" dirty="0">
                <a:latin typeface="微软雅黑"/>
                <a:cs typeface="微软雅黑"/>
              </a:rPr>
              <a:t>设计相应的接口函数执行 外设的</a:t>
            </a:r>
            <a:r>
              <a:rPr sz="2000" b="1" i="1" spc="-15" dirty="0">
                <a:latin typeface="微软雅黑"/>
                <a:cs typeface="微软雅黑"/>
              </a:rPr>
              <a:t>各</a:t>
            </a:r>
            <a:r>
              <a:rPr sz="2000" b="1" i="1" dirty="0">
                <a:latin typeface="微软雅黑"/>
                <a:cs typeface="微软雅黑"/>
              </a:rPr>
              <a:t>种</a:t>
            </a:r>
            <a:r>
              <a:rPr sz="2000" b="1" i="1" spc="-15" dirty="0">
                <a:latin typeface="微软雅黑"/>
                <a:cs typeface="微软雅黑"/>
              </a:rPr>
              <a:t>操</a:t>
            </a:r>
            <a:r>
              <a:rPr sz="2000" b="1" i="1" dirty="0">
                <a:latin typeface="微软雅黑"/>
                <a:cs typeface="微软雅黑"/>
              </a:rPr>
              <a:t>作：初</a:t>
            </a:r>
            <a:r>
              <a:rPr sz="2000" b="1" i="1" spc="-15" dirty="0">
                <a:latin typeface="微软雅黑"/>
                <a:cs typeface="微软雅黑"/>
              </a:rPr>
              <a:t>始</a:t>
            </a:r>
            <a:r>
              <a:rPr sz="2000" b="1" i="1" dirty="0">
                <a:latin typeface="微软雅黑"/>
                <a:cs typeface="微软雅黑"/>
              </a:rPr>
              <a:t>化、 控制、读取外设状态等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00059" y="4750308"/>
            <a:ext cx="1724025" cy="462280"/>
          </a:xfrm>
          <a:prstGeom prst="rect">
            <a:avLst/>
          </a:prstGeom>
          <a:solidFill>
            <a:srgbClr val="CE8D3D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外设的操作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8191" y="2384728"/>
            <a:ext cx="2433955" cy="1073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dirty="0">
                <a:latin typeface="微软雅黑"/>
                <a:cs typeface="微软雅黑"/>
              </a:rPr>
              <a:t>引脚</a:t>
            </a:r>
            <a:r>
              <a:rPr sz="2000" b="1" i="1" spc="5" dirty="0">
                <a:latin typeface="微软雅黑"/>
                <a:cs typeface="微软雅黑"/>
              </a:rPr>
              <a:t>的</a:t>
            </a:r>
            <a:r>
              <a:rPr sz="2000" b="1" i="1" dirty="0">
                <a:latin typeface="微软雅黑"/>
                <a:cs typeface="微软雅黑"/>
              </a:rPr>
              <a:t>编号</a:t>
            </a:r>
            <a:r>
              <a:rPr sz="2000" b="1" i="1" spc="5" dirty="0">
                <a:latin typeface="微软雅黑"/>
                <a:cs typeface="微软雅黑"/>
              </a:rPr>
              <a:t>、</a:t>
            </a:r>
            <a:r>
              <a:rPr sz="2000" b="1" i="1" spc="-10" dirty="0">
                <a:latin typeface="微软雅黑"/>
                <a:cs typeface="微软雅黑"/>
              </a:rPr>
              <a:t>工作</a:t>
            </a:r>
            <a:r>
              <a:rPr sz="2000" b="1" i="1" dirty="0">
                <a:latin typeface="微软雅黑"/>
                <a:cs typeface="微软雅黑"/>
              </a:rPr>
              <a:t>模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30000"/>
              </a:lnSpc>
            </a:pPr>
            <a:r>
              <a:rPr sz="2000" b="1" i="1" dirty="0">
                <a:latin typeface="微软雅黑"/>
                <a:cs typeface="微软雅黑"/>
              </a:rPr>
              <a:t>式、上</a:t>
            </a:r>
            <a:r>
              <a:rPr sz="2000" b="1" i="1" spc="-10" dirty="0">
                <a:latin typeface="微软雅黑"/>
                <a:cs typeface="微软雅黑"/>
              </a:rPr>
              <a:t>拉</a:t>
            </a:r>
            <a:r>
              <a:rPr sz="2000" b="1" spc="-15" dirty="0">
                <a:latin typeface="微软雅黑"/>
                <a:cs typeface="微软雅黑"/>
              </a:rPr>
              <a:t>/</a:t>
            </a:r>
            <a:r>
              <a:rPr sz="2000" b="1" i="1" spc="-15" dirty="0">
                <a:latin typeface="微软雅黑"/>
                <a:cs typeface="微软雅黑"/>
              </a:rPr>
              <a:t>下</a:t>
            </a:r>
            <a:r>
              <a:rPr sz="2000" b="1" i="1" dirty="0">
                <a:latin typeface="微软雅黑"/>
                <a:cs typeface="微软雅黑"/>
              </a:rPr>
              <a:t>拉电阻、 输出</a:t>
            </a:r>
            <a:r>
              <a:rPr sz="2000" b="1" i="1" spc="5" dirty="0">
                <a:latin typeface="微软雅黑"/>
                <a:cs typeface="微软雅黑"/>
              </a:rPr>
              <a:t>速</a:t>
            </a:r>
            <a:r>
              <a:rPr sz="2000" b="1" i="1" dirty="0">
                <a:latin typeface="微软雅黑"/>
                <a:cs typeface="微软雅黑"/>
              </a:rPr>
              <a:t>度、</a:t>
            </a:r>
            <a:r>
              <a:rPr sz="2000" b="1" i="1" spc="5" dirty="0">
                <a:latin typeface="微软雅黑"/>
                <a:cs typeface="微软雅黑"/>
              </a:rPr>
              <a:t>复</a:t>
            </a:r>
            <a:r>
              <a:rPr sz="2000" b="1" i="1" spc="-10" dirty="0">
                <a:latin typeface="微软雅黑"/>
                <a:cs typeface="微软雅黑"/>
              </a:rPr>
              <a:t>用功</a:t>
            </a:r>
            <a:r>
              <a:rPr sz="2000" b="1" i="1" dirty="0"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94688" y="1796795"/>
            <a:ext cx="1724025" cy="462280"/>
          </a:xfrm>
          <a:prstGeom prst="rect">
            <a:avLst/>
          </a:prstGeom>
          <a:solidFill>
            <a:srgbClr val="E64722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ct val="100000"/>
              </a:lnSpc>
            </a:pPr>
            <a:r>
              <a:rPr sz="24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引脚的属性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8191" y="5339510"/>
            <a:ext cx="2315210" cy="1073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</a:pPr>
            <a:r>
              <a:rPr sz="2000" b="1" i="1" dirty="0">
                <a:latin typeface="微软雅黑"/>
                <a:cs typeface="微软雅黑"/>
              </a:rPr>
              <a:t>引脚</a:t>
            </a:r>
            <a:r>
              <a:rPr sz="2000" b="1" i="1" spc="5" dirty="0">
                <a:latin typeface="微软雅黑"/>
                <a:cs typeface="微软雅黑"/>
              </a:rPr>
              <a:t>初</a:t>
            </a:r>
            <a:r>
              <a:rPr sz="2000" b="1" i="1" dirty="0">
                <a:latin typeface="微软雅黑"/>
                <a:cs typeface="微软雅黑"/>
              </a:rPr>
              <a:t>始化</a:t>
            </a:r>
            <a:r>
              <a:rPr sz="2000" b="1" i="1" spc="5" dirty="0">
                <a:latin typeface="微软雅黑"/>
                <a:cs typeface="微软雅黑"/>
              </a:rPr>
              <a:t>、</a:t>
            </a:r>
            <a:r>
              <a:rPr sz="2000" b="1" i="1" spc="-10" dirty="0">
                <a:latin typeface="微软雅黑"/>
                <a:cs typeface="微软雅黑"/>
              </a:rPr>
              <a:t>读取</a:t>
            </a:r>
            <a:r>
              <a:rPr sz="2000" b="1" i="1" dirty="0">
                <a:latin typeface="微软雅黑"/>
                <a:cs typeface="微软雅黑"/>
              </a:rPr>
              <a:t>引 脚、</a:t>
            </a:r>
            <a:r>
              <a:rPr sz="2000" b="1" i="1" spc="5" dirty="0">
                <a:latin typeface="微软雅黑"/>
                <a:cs typeface="微软雅黑"/>
              </a:rPr>
              <a:t>写</a:t>
            </a:r>
            <a:r>
              <a:rPr sz="2000" b="1" i="1" dirty="0">
                <a:latin typeface="微软雅黑"/>
                <a:cs typeface="微软雅黑"/>
              </a:rPr>
              <a:t>入引</a:t>
            </a:r>
            <a:r>
              <a:rPr sz="2000" b="1" i="1" spc="5" dirty="0">
                <a:latin typeface="微软雅黑"/>
                <a:cs typeface="微软雅黑"/>
              </a:rPr>
              <a:t>脚</a:t>
            </a:r>
            <a:r>
              <a:rPr sz="2000" b="1" i="1" spc="-10" dirty="0">
                <a:latin typeface="微软雅黑"/>
                <a:cs typeface="微软雅黑"/>
              </a:rPr>
              <a:t>、翻</a:t>
            </a:r>
            <a:r>
              <a:rPr sz="2000" b="1" i="1" dirty="0">
                <a:latin typeface="微软雅黑"/>
                <a:cs typeface="微软雅黑"/>
              </a:rPr>
              <a:t>转 引脚、锁定引脚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94688" y="4750308"/>
            <a:ext cx="1724025" cy="462280"/>
          </a:xfrm>
          <a:prstGeom prst="rect">
            <a:avLst/>
          </a:prstGeom>
          <a:solidFill>
            <a:srgbClr val="EB6F16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引脚的操作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70884" y="1180267"/>
            <a:ext cx="50393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微软雅黑"/>
                <a:cs typeface="微软雅黑"/>
              </a:rPr>
              <a:t>HAL</a:t>
            </a:r>
            <a:r>
              <a:rPr sz="2800" b="1" i="1" spc="-5" dirty="0">
                <a:latin typeface="微软雅黑"/>
                <a:cs typeface="微软雅黑"/>
              </a:rPr>
              <a:t>库借鉴面向对象的设计</a:t>
            </a:r>
            <a:r>
              <a:rPr sz="2800" b="1" i="1" dirty="0">
                <a:latin typeface="微软雅黑"/>
                <a:cs typeface="微软雅黑"/>
              </a:rPr>
              <a:t>思</a:t>
            </a:r>
            <a:r>
              <a:rPr sz="2800" b="1" i="1" spc="-5" dirty="0">
                <a:latin typeface="微软雅黑"/>
                <a:cs typeface="微软雅黑"/>
              </a:rPr>
              <a:t>想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32896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84732" y="4331026"/>
            <a:ext cx="1092835" cy="1870710"/>
          </a:xfrm>
          <a:custGeom>
            <a:avLst/>
            <a:gdLst/>
            <a:ahLst/>
            <a:cxnLst/>
            <a:rect l="l" t="t" r="r" b="b"/>
            <a:pathLst>
              <a:path w="1092835" h="1870710">
                <a:moveTo>
                  <a:pt x="58542" y="0"/>
                </a:moveTo>
                <a:lnTo>
                  <a:pt x="27340" y="30951"/>
                </a:lnTo>
                <a:lnTo>
                  <a:pt x="8758" y="87644"/>
                </a:lnTo>
                <a:lnTo>
                  <a:pt x="0" y="141786"/>
                </a:lnTo>
                <a:lnTo>
                  <a:pt x="0" y="1383313"/>
                </a:lnTo>
                <a:lnTo>
                  <a:pt x="2725" y="1448927"/>
                </a:lnTo>
                <a:lnTo>
                  <a:pt x="9812" y="1506738"/>
                </a:lnTo>
                <a:lnTo>
                  <a:pt x="21681" y="1556982"/>
                </a:lnTo>
                <a:lnTo>
                  <a:pt x="38754" y="1599895"/>
                </a:lnTo>
                <a:lnTo>
                  <a:pt x="61452" y="1635711"/>
                </a:lnTo>
                <a:lnTo>
                  <a:pt x="90196" y="1664665"/>
                </a:lnTo>
                <a:lnTo>
                  <a:pt x="125408" y="1686994"/>
                </a:lnTo>
                <a:lnTo>
                  <a:pt x="167509" y="1702931"/>
                </a:lnTo>
                <a:lnTo>
                  <a:pt x="216921" y="1712712"/>
                </a:lnTo>
                <a:lnTo>
                  <a:pt x="274066" y="1716573"/>
                </a:lnTo>
                <a:lnTo>
                  <a:pt x="836168" y="1719837"/>
                </a:lnTo>
                <a:lnTo>
                  <a:pt x="833882" y="1870129"/>
                </a:lnTo>
                <a:lnTo>
                  <a:pt x="1092708" y="1620193"/>
                </a:lnTo>
                <a:lnTo>
                  <a:pt x="1019520" y="1540145"/>
                </a:lnTo>
                <a:lnTo>
                  <a:pt x="843280" y="1540145"/>
                </a:lnTo>
                <a:lnTo>
                  <a:pt x="309245" y="1527077"/>
                </a:lnTo>
                <a:lnTo>
                  <a:pt x="268713" y="1524923"/>
                </a:lnTo>
                <a:lnTo>
                  <a:pt x="223387" y="1514961"/>
                </a:lnTo>
                <a:lnTo>
                  <a:pt x="188420" y="1487982"/>
                </a:lnTo>
                <a:lnTo>
                  <a:pt x="169253" y="1450733"/>
                </a:lnTo>
                <a:lnTo>
                  <a:pt x="156338" y="1394342"/>
                </a:lnTo>
                <a:lnTo>
                  <a:pt x="151293" y="1344088"/>
                </a:lnTo>
                <a:lnTo>
                  <a:pt x="138176" y="164646"/>
                </a:lnTo>
                <a:lnTo>
                  <a:pt x="133386" y="135168"/>
                </a:lnTo>
                <a:lnTo>
                  <a:pt x="121625" y="84703"/>
                </a:lnTo>
                <a:lnTo>
                  <a:pt x="107549" y="45738"/>
                </a:lnTo>
                <a:lnTo>
                  <a:pt x="83649" y="9326"/>
                </a:lnTo>
                <a:lnTo>
                  <a:pt x="66897" y="54"/>
                </a:lnTo>
                <a:lnTo>
                  <a:pt x="58542" y="0"/>
                </a:lnTo>
                <a:close/>
              </a:path>
              <a:path w="1092835" h="1870710">
                <a:moveTo>
                  <a:pt x="843280" y="1347384"/>
                </a:moveTo>
                <a:lnTo>
                  <a:pt x="843280" y="1540145"/>
                </a:lnTo>
                <a:lnTo>
                  <a:pt x="1019520" y="1540145"/>
                </a:lnTo>
                <a:lnTo>
                  <a:pt x="843280" y="134738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6611" y="4017264"/>
            <a:ext cx="1330960" cy="455930"/>
          </a:xfrm>
          <a:custGeom>
            <a:avLst/>
            <a:gdLst/>
            <a:ahLst/>
            <a:cxnLst/>
            <a:rect l="l" t="t" r="r" b="b"/>
            <a:pathLst>
              <a:path w="1330960" h="455929">
                <a:moveTo>
                  <a:pt x="1223077" y="311277"/>
                </a:moveTo>
                <a:lnTo>
                  <a:pt x="1039749" y="311277"/>
                </a:lnTo>
                <a:lnTo>
                  <a:pt x="1044067" y="455675"/>
                </a:lnTo>
                <a:lnTo>
                  <a:pt x="1223077" y="311277"/>
                </a:lnTo>
                <a:close/>
              </a:path>
              <a:path w="1330960" h="455929">
                <a:moveTo>
                  <a:pt x="1044067" y="0"/>
                </a:moveTo>
                <a:lnTo>
                  <a:pt x="1044067" y="134747"/>
                </a:lnTo>
                <a:lnTo>
                  <a:pt x="0" y="138049"/>
                </a:lnTo>
                <a:lnTo>
                  <a:pt x="2197" y="336931"/>
                </a:lnTo>
                <a:lnTo>
                  <a:pt x="1039749" y="311277"/>
                </a:lnTo>
                <a:lnTo>
                  <a:pt x="1223077" y="311277"/>
                </a:lnTo>
                <a:lnTo>
                  <a:pt x="1330452" y="224662"/>
                </a:lnTo>
                <a:lnTo>
                  <a:pt x="104406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24355" y="2372867"/>
            <a:ext cx="1092835" cy="1708150"/>
          </a:xfrm>
          <a:custGeom>
            <a:avLst/>
            <a:gdLst/>
            <a:ahLst/>
            <a:cxnLst/>
            <a:rect l="l" t="t" r="r" b="b"/>
            <a:pathLst>
              <a:path w="1092835" h="1708150">
                <a:moveTo>
                  <a:pt x="833882" y="0"/>
                </a:moveTo>
                <a:lnTo>
                  <a:pt x="836168" y="137287"/>
                </a:lnTo>
                <a:lnTo>
                  <a:pt x="274066" y="140208"/>
                </a:lnTo>
                <a:lnTo>
                  <a:pt x="244501" y="141317"/>
                </a:lnTo>
                <a:lnTo>
                  <a:pt x="191275" y="147530"/>
                </a:lnTo>
                <a:lnTo>
                  <a:pt x="145571" y="159250"/>
                </a:lnTo>
                <a:lnTo>
                  <a:pt x="106967" y="176692"/>
                </a:lnTo>
                <a:lnTo>
                  <a:pt x="75042" y="200073"/>
                </a:lnTo>
                <a:lnTo>
                  <a:pt x="49373" y="229609"/>
                </a:lnTo>
                <a:lnTo>
                  <a:pt x="29541" y="265518"/>
                </a:lnTo>
                <a:lnTo>
                  <a:pt x="15122" y="308014"/>
                </a:lnTo>
                <a:lnTo>
                  <a:pt x="5697" y="357315"/>
                </a:lnTo>
                <a:lnTo>
                  <a:pt x="844" y="413638"/>
                </a:lnTo>
                <a:lnTo>
                  <a:pt x="0" y="444500"/>
                </a:lnTo>
                <a:lnTo>
                  <a:pt x="0" y="1578229"/>
                </a:lnTo>
                <a:lnTo>
                  <a:pt x="8758" y="1627685"/>
                </a:lnTo>
                <a:lnTo>
                  <a:pt x="20539" y="1665162"/>
                </a:lnTo>
                <a:lnTo>
                  <a:pt x="42320" y="1699347"/>
                </a:lnTo>
                <a:lnTo>
                  <a:pt x="58542" y="1707739"/>
                </a:lnTo>
                <a:lnTo>
                  <a:pt x="66897" y="1707689"/>
                </a:lnTo>
                <a:lnTo>
                  <a:pt x="99864" y="1679762"/>
                </a:lnTo>
                <a:lnTo>
                  <a:pt x="121625" y="1630393"/>
                </a:lnTo>
                <a:lnTo>
                  <a:pt x="133386" y="1584315"/>
                </a:lnTo>
                <a:lnTo>
                  <a:pt x="149859" y="507238"/>
                </a:lnTo>
                <a:lnTo>
                  <a:pt x="151314" y="480105"/>
                </a:lnTo>
                <a:lnTo>
                  <a:pt x="156454" y="433785"/>
                </a:lnTo>
                <a:lnTo>
                  <a:pt x="169636" y="382016"/>
                </a:lnTo>
                <a:lnTo>
                  <a:pt x="189215" y="348051"/>
                </a:lnTo>
                <a:lnTo>
                  <a:pt x="224945" y="323763"/>
                </a:lnTo>
                <a:lnTo>
                  <a:pt x="271265" y="315048"/>
                </a:lnTo>
                <a:lnTo>
                  <a:pt x="843280" y="301371"/>
                </a:lnTo>
                <a:lnTo>
                  <a:pt x="1019481" y="301371"/>
                </a:lnTo>
                <a:lnTo>
                  <a:pt x="1092708" y="228219"/>
                </a:lnTo>
                <a:lnTo>
                  <a:pt x="833882" y="0"/>
                </a:lnTo>
                <a:close/>
              </a:path>
              <a:path w="1092835" h="1708150">
                <a:moveTo>
                  <a:pt x="1019481" y="301371"/>
                </a:moveTo>
                <a:lnTo>
                  <a:pt x="843280" y="301371"/>
                </a:lnTo>
                <a:lnTo>
                  <a:pt x="843280" y="477393"/>
                </a:lnTo>
                <a:lnTo>
                  <a:pt x="1019481" y="301371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0653" y="1838705"/>
            <a:ext cx="7010400" cy="1498600"/>
          </a:xfrm>
          <a:custGeom>
            <a:avLst/>
            <a:gdLst/>
            <a:ahLst/>
            <a:cxnLst/>
            <a:rect l="l" t="t" r="r" b="b"/>
            <a:pathLst>
              <a:path w="7010400" h="1498600">
                <a:moveTo>
                  <a:pt x="0" y="172339"/>
                </a:moveTo>
                <a:lnTo>
                  <a:pt x="5434" y="129268"/>
                </a:lnTo>
                <a:lnTo>
                  <a:pt x="20830" y="90182"/>
                </a:lnTo>
                <a:lnTo>
                  <a:pt x="44830" y="56441"/>
                </a:lnTo>
                <a:lnTo>
                  <a:pt x="76073" y="29403"/>
                </a:lnTo>
                <a:lnTo>
                  <a:pt x="113200" y="10429"/>
                </a:lnTo>
                <a:lnTo>
                  <a:pt x="154851" y="877"/>
                </a:lnTo>
                <a:lnTo>
                  <a:pt x="6838061" y="0"/>
                </a:lnTo>
                <a:lnTo>
                  <a:pt x="6852776" y="620"/>
                </a:lnTo>
                <a:lnTo>
                  <a:pt x="6894670" y="9526"/>
                </a:lnTo>
                <a:lnTo>
                  <a:pt x="6932125" y="27941"/>
                </a:lnTo>
                <a:lnTo>
                  <a:pt x="6963783" y="54506"/>
                </a:lnTo>
                <a:lnTo>
                  <a:pt x="6988284" y="87862"/>
                </a:lnTo>
                <a:lnTo>
                  <a:pt x="7004268" y="126648"/>
                </a:lnTo>
                <a:lnTo>
                  <a:pt x="7010377" y="169506"/>
                </a:lnTo>
                <a:lnTo>
                  <a:pt x="7010400" y="1325753"/>
                </a:lnTo>
                <a:lnTo>
                  <a:pt x="7009779" y="1340468"/>
                </a:lnTo>
                <a:lnTo>
                  <a:pt x="7000873" y="1382362"/>
                </a:lnTo>
                <a:lnTo>
                  <a:pt x="6982458" y="1419817"/>
                </a:lnTo>
                <a:lnTo>
                  <a:pt x="6955893" y="1451475"/>
                </a:lnTo>
                <a:lnTo>
                  <a:pt x="6922537" y="1475976"/>
                </a:lnTo>
                <a:lnTo>
                  <a:pt x="6883751" y="1491960"/>
                </a:lnTo>
                <a:lnTo>
                  <a:pt x="6840893" y="1498069"/>
                </a:lnTo>
                <a:lnTo>
                  <a:pt x="172338" y="1498092"/>
                </a:lnTo>
                <a:lnTo>
                  <a:pt x="157623" y="1497471"/>
                </a:lnTo>
                <a:lnTo>
                  <a:pt x="115729" y="1488565"/>
                </a:lnTo>
                <a:lnTo>
                  <a:pt x="78274" y="1470150"/>
                </a:lnTo>
                <a:lnTo>
                  <a:pt x="46616" y="1443585"/>
                </a:lnTo>
                <a:lnTo>
                  <a:pt x="22115" y="1410229"/>
                </a:lnTo>
                <a:lnTo>
                  <a:pt x="6131" y="1371443"/>
                </a:lnTo>
                <a:lnTo>
                  <a:pt x="22" y="1328585"/>
                </a:lnTo>
                <a:lnTo>
                  <a:pt x="0" y="172339"/>
                </a:lnTo>
                <a:close/>
              </a:path>
            </a:pathLst>
          </a:custGeom>
          <a:ln w="28955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15539" y="1985772"/>
            <a:ext cx="1754505" cy="1202690"/>
          </a:xfrm>
          <a:custGeom>
            <a:avLst/>
            <a:gdLst/>
            <a:ahLst/>
            <a:cxnLst/>
            <a:rect l="l" t="t" r="r" b="b"/>
            <a:pathLst>
              <a:path w="1754504" h="1202689">
                <a:moveTo>
                  <a:pt x="1610740" y="0"/>
                </a:moveTo>
                <a:lnTo>
                  <a:pt x="129169" y="694"/>
                </a:lnTo>
                <a:lnTo>
                  <a:pt x="87871" y="11122"/>
                </a:lnTo>
                <a:lnTo>
                  <a:pt x="52354" y="32556"/>
                </a:lnTo>
                <a:lnTo>
                  <a:pt x="24569" y="63045"/>
                </a:lnTo>
                <a:lnTo>
                  <a:pt x="6467" y="100638"/>
                </a:lnTo>
                <a:lnTo>
                  <a:pt x="0" y="143382"/>
                </a:lnTo>
                <a:lnTo>
                  <a:pt x="683" y="1059052"/>
                </a:lnTo>
                <a:lnTo>
                  <a:pt x="6327" y="1101344"/>
                </a:lnTo>
                <a:lnTo>
                  <a:pt x="24309" y="1139005"/>
                </a:lnTo>
                <a:lnTo>
                  <a:pt x="51997" y="1169584"/>
                </a:lnTo>
                <a:lnTo>
                  <a:pt x="87438" y="1191130"/>
                </a:lnTo>
                <a:lnTo>
                  <a:pt x="128682" y="1201693"/>
                </a:lnTo>
                <a:lnTo>
                  <a:pt x="143383" y="1202436"/>
                </a:lnTo>
                <a:lnTo>
                  <a:pt x="1624954" y="1201741"/>
                </a:lnTo>
                <a:lnTo>
                  <a:pt x="1666252" y="1191313"/>
                </a:lnTo>
                <a:lnTo>
                  <a:pt x="1701769" y="1169879"/>
                </a:lnTo>
                <a:lnTo>
                  <a:pt x="1729554" y="1139390"/>
                </a:lnTo>
                <a:lnTo>
                  <a:pt x="1747656" y="1101797"/>
                </a:lnTo>
                <a:lnTo>
                  <a:pt x="1754124" y="1059052"/>
                </a:lnTo>
                <a:lnTo>
                  <a:pt x="1753440" y="143382"/>
                </a:lnTo>
                <a:lnTo>
                  <a:pt x="1747796" y="101091"/>
                </a:lnTo>
                <a:lnTo>
                  <a:pt x="1729814" y="63430"/>
                </a:lnTo>
                <a:lnTo>
                  <a:pt x="1702126" y="32851"/>
                </a:lnTo>
                <a:lnTo>
                  <a:pt x="1666685" y="11305"/>
                </a:lnTo>
                <a:lnTo>
                  <a:pt x="1625441" y="742"/>
                </a:lnTo>
                <a:lnTo>
                  <a:pt x="161074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17064" y="3672840"/>
            <a:ext cx="1757680" cy="1195070"/>
          </a:xfrm>
          <a:custGeom>
            <a:avLst/>
            <a:gdLst/>
            <a:ahLst/>
            <a:cxnLst/>
            <a:rect l="l" t="t" r="r" b="b"/>
            <a:pathLst>
              <a:path w="1757679" h="1195070">
                <a:moveTo>
                  <a:pt x="1614677" y="0"/>
                </a:moveTo>
                <a:lnTo>
                  <a:pt x="129722" y="563"/>
                </a:lnTo>
                <a:lnTo>
                  <a:pt x="88295" y="10656"/>
                </a:lnTo>
                <a:lnTo>
                  <a:pt x="52632" y="31873"/>
                </a:lnTo>
                <a:lnTo>
                  <a:pt x="24710" y="62236"/>
                </a:lnTo>
                <a:lnTo>
                  <a:pt x="6507" y="99769"/>
                </a:lnTo>
                <a:lnTo>
                  <a:pt x="0" y="142494"/>
                </a:lnTo>
                <a:lnTo>
                  <a:pt x="563" y="1065093"/>
                </a:lnTo>
                <a:lnTo>
                  <a:pt x="10656" y="1106520"/>
                </a:lnTo>
                <a:lnTo>
                  <a:pt x="31873" y="1142183"/>
                </a:lnTo>
                <a:lnTo>
                  <a:pt x="62236" y="1170105"/>
                </a:lnTo>
                <a:lnTo>
                  <a:pt x="99769" y="1188308"/>
                </a:lnTo>
                <a:lnTo>
                  <a:pt x="142494" y="1194816"/>
                </a:lnTo>
                <a:lnTo>
                  <a:pt x="1627449" y="1194252"/>
                </a:lnTo>
                <a:lnTo>
                  <a:pt x="1668876" y="1184159"/>
                </a:lnTo>
                <a:lnTo>
                  <a:pt x="1704539" y="1162942"/>
                </a:lnTo>
                <a:lnTo>
                  <a:pt x="1732461" y="1132579"/>
                </a:lnTo>
                <a:lnTo>
                  <a:pt x="1750664" y="1095046"/>
                </a:lnTo>
                <a:lnTo>
                  <a:pt x="1757172" y="1052322"/>
                </a:lnTo>
                <a:lnTo>
                  <a:pt x="1756608" y="129722"/>
                </a:lnTo>
                <a:lnTo>
                  <a:pt x="1746515" y="88295"/>
                </a:lnTo>
                <a:lnTo>
                  <a:pt x="1725298" y="52632"/>
                </a:lnTo>
                <a:lnTo>
                  <a:pt x="1694935" y="24710"/>
                </a:lnTo>
                <a:lnTo>
                  <a:pt x="1657402" y="6507"/>
                </a:lnTo>
                <a:lnTo>
                  <a:pt x="161467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7439" y="5352288"/>
            <a:ext cx="1797050" cy="1181100"/>
          </a:xfrm>
          <a:custGeom>
            <a:avLst/>
            <a:gdLst/>
            <a:ahLst/>
            <a:cxnLst/>
            <a:rect l="l" t="t" r="r" b="b"/>
            <a:pathLst>
              <a:path w="1797050" h="1181100">
                <a:moveTo>
                  <a:pt x="1655952" y="0"/>
                </a:moveTo>
                <a:lnTo>
                  <a:pt x="130751" y="355"/>
                </a:lnTo>
                <a:lnTo>
                  <a:pt x="89070" y="9801"/>
                </a:lnTo>
                <a:lnTo>
                  <a:pt x="53134" y="30594"/>
                </a:lnTo>
                <a:lnTo>
                  <a:pt x="24962" y="60712"/>
                </a:lnTo>
                <a:lnTo>
                  <a:pt x="6577" y="98136"/>
                </a:lnTo>
                <a:lnTo>
                  <a:pt x="0" y="140843"/>
                </a:lnTo>
                <a:lnTo>
                  <a:pt x="352" y="1050346"/>
                </a:lnTo>
                <a:lnTo>
                  <a:pt x="9792" y="1092004"/>
                </a:lnTo>
                <a:lnTo>
                  <a:pt x="30583" y="1127938"/>
                </a:lnTo>
                <a:lnTo>
                  <a:pt x="60703" y="1156119"/>
                </a:lnTo>
                <a:lnTo>
                  <a:pt x="98130" y="1174516"/>
                </a:lnTo>
                <a:lnTo>
                  <a:pt x="140843" y="1181100"/>
                </a:lnTo>
                <a:lnTo>
                  <a:pt x="1666014" y="1180746"/>
                </a:lnTo>
                <a:lnTo>
                  <a:pt x="1707703" y="1171301"/>
                </a:lnTo>
                <a:lnTo>
                  <a:pt x="1743648" y="1150503"/>
                </a:lnTo>
                <a:lnTo>
                  <a:pt x="1771826" y="1120382"/>
                </a:lnTo>
                <a:lnTo>
                  <a:pt x="1790216" y="1082970"/>
                </a:lnTo>
                <a:lnTo>
                  <a:pt x="1796796" y="1040295"/>
                </a:lnTo>
                <a:lnTo>
                  <a:pt x="1796440" y="130751"/>
                </a:lnTo>
                <a:lnTo>
                  <a:pt x="1786994" y="89070"/>
                </a:lnTo>
                <a:lnTo>
                  <a:pt x="1766201" y="53134"/>
                </a:lnTo>
                <a:lnTo>
                  <a:pt x="1736083" y="24962"/>
                </a:lnTo>
                <a:lnTo>
                  <a:pt x="1698659" y="6577"/>
                </a:lnTo>
                <a:lnTo>
                  <a:pt x="1655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9891" y="3570732"/>
            <a:ext cx="1339850" cy="1297305"/>
          </a:xfrm>
          <a:custGeom>
            <a:avLst/>
            <a:gdLst/>
            <a:ahLst/>
            <a:cxnLst/>
            <a:rect l="l" t="t" r="r" b="b"/>
            <a:pathLst>
              <a:path w="1339850" h="1297304">
                <a:moveTo>
                  <a:pt x="669798" y="0"/>
                </a:moveTo>
                <a:lnTo>
                  <a:pt x="614863" y="2149"/>
                </a:lnTo>
                <a:lnTo>
                  <a:pt x="561151" y="8487"/>
                </a:lnTo>
                <a:lnTo>
                  <a:pt x="508835" y="18845"/>
                </a:lnTo>
                <a:lnTo>
                  <a:pt x="458087" y="33058"/>
                </a:lnTo>
                <a:lnTo>
                  <a:pt x="409079" y="50958"/>
                </a:lnTo>
                <a:lnTo>
                  <a:pt x="361984" y="72379"/>
                </a:lnTo>
                <a:lnTo>
                  <a:pt x="316974" y="97153"/>
                </a:lnTo>
                <a:lnTo>
                  <a:pt x="274221" y="125114"/>
                </a:lnTo>
                <a:lnTo>
                  <a:pt x="233898" y="156094"/>
                </a:lnTo>
                <a:lnTo>
                  <a:pt x="196176" y="189928"/>
                </a:lnTo>
                <a:lnTo>
                  <a:pt x="161230" y="226448"/>
                </a:lnTo>
                <a:lnTo>
                  <a:pt x="129230" y="265486"/>
                </a:lnTo>
                <a:lnTo>
                  <a:pt x="100349" y="306877"/>
                </a:lnTo>
                <a:lnTo>
                  <a:pt x="74760" y="350454"/>
                </a:lnTo>
                <a:lnTo>
                  <a:pt x="52635" y="396049"/>
                </a:lnTo>
                <a:lnTo>
                  <a:pt x="34146" y="443496"/>
                </a:lnTo>
                <a:lnTo>
                  <a:pt x="19465" y="492627"/>
                </a:lnTo>
                <a:lnTo>
                  <a:pt x="8766" y="543277"/>
                </a:lnTo>
                <a:lnTo>
                  <a:pt x="2220" y="595277"/>
                </a:lnTo>
                <a:lnTo>
                  <a:pt x="0" y="648461"/>
                </a:lnTo>
                <a:lnTo>
                  <a:pt x="2220" y="701646"/>
                </a:lnTo>
                <a:lnTo>
                  <a:pt x="8766" y="753646"/>
                </a:lnTo>
                <a:lnTo>
                  <a:pt x="19465" y="804296"/>
                </a:lnTo>
                <a:lnTo>
                  <a:pt x="34146" y="853427"/>
                </a:lnTo>
                <a:lnTo>
                  <a:pt x="52635" y="900874"/>
                </a:lnTo>
                <a:lnTo>
                  <a:pt x="74760" y="946469"/>
                </a:lnTo>
                <a:lnTo>
                  <a:pt x="100349" y="990046"/>
                </a:lnTo>
                <a:lnTo>
                  <a:pt x="129230" y="1031437"/>
                </a:lnTo>
                <a:lnTo>
                  <a:pt x="161230" y="1070475"/>
                </a:lnTo>
                <a:lnTo>
                  <a:pt x="196176" y="1106995"/>
                </a:lnTo>
                <a:lnTo>
                  <a:pt x="233898" y="1140829"/>
                </a:lnTo>
                <a:lnTo>
                  <a:pt x="274221" y="1171809"/>
                </a:lnTo>
                <a:lnTo>
                  <a:pt x="316974" y="1199770"/>
                </a:lnTo>
                <a:lnTo>
                  <a:pt x="361984" y="1224544"/>
                </a:lnTo>
                <a:lnTo>
                  <a:pt x="409079" y="1245965"/>
                </a:lnTo>
                <a:lnTo>
                  <a:pt x="458087" y="1263865"/>
                </a:lnTo>
                <a:lnTo>
                  <a:pt x="508835" y="1278078"/>
                </a:lnTo>
                <a:lnTo>
                  <a:pt x="561151" y="1288436"/>
                </a:lnTo>
                <a:lnTo>
                  <a:pt x="614863" y="1294774"/>
                </a:lnTo>
                <a:lnTo>
                  <a:pt x="669798" y="1296923"/>
                </a:lnTo>
                <a:lnTo>
                  <a:pt x="724736" y="1294774"/>
                </a:lnTo>
                <a:lnTo>
                  <a:pt x="778450" y="1288436"/>
                </a:lnTo>
                <a:lnTo>
                  <a:pt x="830768" y="1278078"/>
                </a:lnTo>
                <a:lnTo>
                  <a:pt x="881518" y="1263865"/>
                </a:lnTo>
                <a:lnTo>
                  <a:pt x="930527" y="1245965"/>
                </a:lnTo>
                <a:lnTo>
                  <a:pt x="977622" y="1224544"/>
                </a:lnTo>
                <a:lnTo>
                  <a:pt x="1022633" y="1199770"/>
                </a:lnTo>
                <a:lnTo>
                  <a:pt x="1065385" y="1171809"/>
                </a:lnTo>
                <a:lnTo>
                  <a:pt x="1105708" y="1140829"/>
                </a:lnTo>
                <a:lnTo>
                  <a:pt x="1143428" y="1106995"/>
                </a:lnTo>
                <a:lnTo>
                  <a:pt x="1178374" y="1070475"/>
                </a:lnTo>
                <a:lnTo>
                  <a:pt x="1210372" y="1031437"/>
                </a:lnTo>
                <a:lnTo>
                  <a:pt x="1239252" y="990046"/>
                </a:lnTo>
                <a:lnTo>
                  <a:pt x="1264840" y="946469"/>
                </a:lnTo>
                <a:lnTo>
                  <a:pt x="1286964" y="900874"/>
                </a:lnTo>
                <a:lnTo>
                  <a:pt x="1305452" y="853427"/>
                </a:lnTo>
                <a:lnTo>
                  <a:pt x="1320131" y="804296"/>
                </a:lnTo>
                <a:lnTo>
                  <a:pt x="1330830" y="753646"/>
                </a:lnTo>
                <a:lnTo>
                  <a:pt x="1337375" y="701646"/>
                </a:lnTo>
                <a:lnTo>
                  <a:pt x="1339595" y="648461"/>
                </a:lnTo>
                <a:lnTo>
                  <a:pt x="1337375" y="595277"/>
                </a:lnTo>
                <a:lnTo>
                  <a:pt x="1330830" y="543277"/>
                </a:lnTo>
                <a:lnTo>
                  <a:pt x="1320131" y="492627"/>
                </a:lnTo>
                <a:lnTo>
                  <a:pt x="1305452" y="443496"/>
                </a:lnTo>
                <a:lnTo>
                  <a:pt x="1286964" y="396049"/>
                </a:lnTo>
                <a:lnTo>
                  <a:pt x="1264840" y="350454"/>
                </a:lnTo>
                <a:lnTo>
                  <a:pt x="1239252" y="306877"/>
                </a:lnTo>
                <a:lnTo>
                  <a:pt x="1210372" y="265486"/>
                </a:lnTo>
                <a:lnTo>
                  <a:pt x="1178374" y="226448"/>
                </a:lnTo>
                <a:lnTo>
                  <a:pt x="1143428" y="189928"/>
                </a:lnTo>
                <a:lnTo>
                  <a:pt x="1105708" y="156094"/>
                </a:lnTo>
                <a:lnTo>
                  <a:pt x="1065385" y="125114"/>
                </a:lnTo>
                <a:lnTo>
                  <a:pt x="1022633" y="97153"/>
                </a:lnTo>
                <a:lnTo>
                  <a:pt x="977622" y="72379"/>
                </a:lnTo>
                <a:lnTo>
                  <a:pt x="930527" y="50958"/>
                </a:lnTo>
                <a:lnTo>
                  <a:pt x="881518" y="33058"/>
                </a:lnTo>
                <a:lnTo>
                  <a:pt x="830768" y="18845"/>
                </a:lnTo>
                <a:lnTo>
                  <a:pt x="778450" y="8487"/>
                </a:lnTo>
                <a:lnTo>
                  <a:pt x="724736" y="2149"/>
                </a:lnTo>
                <a:lnTo>
                  <a:pt x="66979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70653" y="3562350"/>
            <a:ext cx="7010400" cy="1485900"/>
          </a:xfrm>
          <a:custGeom>
            <a:avLst/>
            <a:gdLst/>
            <a:ahLst/>
            <a:cxnLst/>
            <a:rect l="l" t="t" r="r" b="b"/>
            <a:pathLst>
              <a:path w="7010400" h="1485900">
                <a:moveTo>
                  <a:pt x="0" y="170942"/>
                </a:moveTo>
                <a:lnTo>
                  <a:pt x="5476" y="127882"/>
                </a:lnTo>
                <a:lnTo>
                  <a:pt x="20984" y="88854"/>
                </a:lnTo>
                <a:lnTo>
                  <a:pt x="45143" y="55237"/>
                </a:lnTo>
                <a:lnTo>
                  <a:pt x="76571" y="28413"/>
                </a:lnTo>
                <a:lnTo>
                  <a:pt x="113888" y="9764"/>
                </a:lnTo>
                <a:lnTo>
                  <a:pt x="155712" y="670"/>
                </a:lnTo>
                <a:lnTo>
                  <a:pt x="6839458" y="0"/>
                </a:lnTo>
                <a:lnTo>
                  <a:pt x="6854173" y="625"/>
                </a:lnTo>
                <a:lnTo>
                  <a:pt x="6896042" y="9599"/>
                </a:lnTo>
                <a:lnTo>
                  <a:pt x="6933420" y="28144"/>
                </a:lnTo>
                <a:lnTo>
                  <a:pt x="6964926" y="54879"/>
                </a:lnTo>
                <a:lnTo>
                  <a:pt x="6989178" y="88424"/>
                </a:lnTo>
                <a:lnTo>
                  <a:pt x="7004796" y="127397"/>
                </a:lnTo>
                <a:lnTo>
                  <a:pt x="7010399" y="170417"/>
                </a:lnTo>
                <a:lnTo>
                  <a:pt x="7010400" y="1314958"/>
                </a:lnTo>
                <a:lnTo>
                  <a:pt x="7009774" y="1329673"/>
                </a:lnTo>
                <a:lnTo>
                  <a:pt x="7000800" y="1371542"/>
                </a:lnTo>
                <a:lnTo>
                  <a:pt x="6982255" y="1408920"/>
                </a:lnTo>
                <a:lnTo>
                  <a:pt x="6955520" y="1440426"/>
                </a:lnTo>
                <a:lnTo>
                  <a:pt x="6921975" y="1464678"/>
                </a:lnTo>
                <a:lnTo>
                  <a:pt x="6883002" y="1480296"/>
                </a:lnTo>
                <a:lnTo>
                  <a:pt x="6839982" y="1485899"/>
                </a:lnTo>
                <a:lnTo>
                  <a:pt x="170942" y="1485900"/>
                </a:lnTo>
                <a:lnTo>
                  <a:pt x="156226" y="1485274"/>
                </a:lnTo>
                <a:lnTo>
                  <a:pt x="114357" y="1476300"/>
                </a:lnTo>
                <a:lnTo>
                  <a:pt x="76979" y="1457755"/>
                </a:lnTo>
                <a:lnTo>
                  <a:pt x="45473" y="1431020"/>
                </a:lnTo>
                <a:lnTo>
                  <a:pt x="21221" y="1397475"/>
                </a:lnTo>
                <a:lnTo>
                  <a:pt x="5603" y="1358502"/>
                </a:lnTo>
                <a:lnTo>
                  <a:pt x="0" y="1315482"/>
                </a:lnTo>
                <a:lnTo>
                  <a:pt x="0" y="170942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70653" y="5229605"/>
            <a:ext cx="7010400" cy="1485900"/>
          </a:xfrm>
          <a:custGeom>
            <a:avLst/>
            <a:gdLst/>
            <a:ahLst/>
            <a:cxnLst/>
            <a:rect l="l" t="t" r="r" b="b"/>
            <a:pathLst>
              <a:path w="7010400" h="1485900">
                <a:moveTo>
                  <a:pt x="0" y="170942"/>
                </a:moveTo>
                <a:lnTo>
                  <a:pt x="5476" y="127882"/>
                </a:lnTo>
                <a:lnTo>
                  <a:pt x="20984" y="88854"/>
                </a:lnTo>
                <a:lnTo>
                  <a:pt x="45143" y="55237"/>
                </a:lnTo>
                <a:lnTo>
                  <a:pt x="76571" y="28413"/>
                </a:lnTo>
                <a:lnTo>
                  <a:pt x="113888" y="9764"/>
                </a:lnTo>
                <a:lnTo>
                  <a:pt x="155712" y="670"/>
                </a:lnTo>
                <a:lnTo>
                  <a:pt x="6839458" y="0"/>
                </a:lnTo>
                <a:lnTo>
                  <a:pt x="6854173" y="625"/>
                </a:lnTo>
                <a:lnTo>
                  <a:pt x="6896042" y="9599"/>
                </a:lnTo>
                <a:lnTo>
                  <a:pt x="6933420" y="28144"/>
                </a:lnTo>
                <a:lnTo>
                  <a:pt x="6964926" y="54879"/>
                </a:lnTo>
                <a:lnTo>
                  <a:pt x="6989178" y="88424"/>
                </a:lnTo>
                <a:lnTo>
                  <a:pt x="7004796" y="127397"/>
                </a:lnTo>
                <a:lnTo>
                  <a:pt x="7010399" y="170417"/>
                </a:lnTo>
                <a:lnTo>
                  <a:pt x="7010400" y="1314945"/>
                </a:lnTo>
                <a:lnTo>
                  <a:pt x="7009774" y="1329667"/>
                </a:lnTo>
                <a:lnTo>
                  <a:pt x="7000801" y="1371549"/>
                </a:lnTo>
                <a:lnTo>
                  <a:pt x="6982257" y="1408931"/>
                </a:lnTo>
                <a:lnTo>
                  <a:pt x="6955524" y="1440435"/>
                </a:lnTo>
                <a:lnTo>
                  <a:pt x="6921981" y="1464683"/>
                </a:lnTo>
                <a:lnTo>
                  <a:pt x="6883011" y="1480297"/>
                </a:lnTo>
                <a:lnTo>
                  <a:pt x="6839993" y="1485899"/>
                </a:lnTo>
                <a:lnTo>
                  <a:pt x="170942" y="1485900"/>
                </a:lnTo>
                <a:lnTo>
                  <a:pt x="156226" y="1485274"/>
                </a:lnTo>
                <a:lnTo>
                  <a:pt x="114359" y="1476305"/>
                </a:lnTo>
                <a:lnTo>
                  <a:pt x="76982" y="1457766"/>
                </a:lnTo>
                <a:lnTo>
                  <a:pt x="45476" y="1431037"/>
                </a:lnTo>
                <a:lnTo>
                  <a:pt x="21224" y="1397494"/>
                </a:lnTo>
                <a:lnTo>
                  <a:pt x="5605" y="1358516"/>
                </a:lnTo>
                <a:lnTo>
                  <a:pt x="0" y="1315481"/>
                </a:lnTo>
                <a:lnTo>
                  <a:pt x="0" y="170942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91303" y="5624117"/>
            <a:ext cx="7405370" cy="1162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5" dirty="0">
                <a:latin typeface="微软雅黑"/>
                <a:cs typeface="微软雅黑"/>
              </a:rPr>
              <a:t>由于考虑了程序的稳健性、扩充性和可移植性，程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latin typeface="微软雅黑"/>
                <a:cs typeface="微软雅黑"/>
              </a:rPr>
              <a:t>序代码比较繁琐和臃肿，执行效率较低。</a:t>
            </a:r>
            <a:endParaRPr sz="2400">
              <a:latin typeface="微软雅黑"/>
              <a:cs typeface="微软雅黑"/>
            </a:endParaRPr>
          </a:p>
          <a:p>
            <a:pPr marL="4621530">
              <a:lnSpc>
                <a:spcPct val="100000"/>
              </a:lnSpc>
              <a:spcBef>
                <a:spcPts val="1650"/>
              </a:spcBef>
            </a:pPr>
            <a:r>
              <a:rPr sz="1200" b="1" spc="-5" dirty="0">
                <a:solidFill>
                  <a:srgbClr val="FFFFFF"/>
                </a:solidFill>
                <a:latin typeface="微软雅黑"/>
                <a:cs typeface="微软雅黑"/>
              </a:rPr>
              <a:t>--</a:t>
            </a:r>
            <a:r>
              <a:rPr sz="1200" b="1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200" b="1" i="1" dirty="0">
                <a:solidFill>
                  <a:srgbClr val="FFFFFF"/>
                </a:solidFill>
                <a:latin typeface="微软雅黑"/>
                <a:cs typeface="微软雅黑"/>
              </a:rPr>
              <a:t>南昌大学“卓越”辅导员培养工程建设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1558" y="2020432"/>
            <a:ext cx="6731000" cy="120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</a:pPr>
            <a:r>
              <a:rPr sz="2400" b="1" i="1" dirty="0">
                <a:latin typeface="微软雅黑"/>
                <a:cs typeface="微软雅黑"/>
              </a:rPr>
              <a:t>编程者只需要了解库函数中相关接口函数的功能， 并按照要求传入参数，利用返回值完成操作即可， </a:t>
            </a:r>
            <a:r>
              <a:rPr sz="2400" b="1" i="1" spc="-5" dirty="0">
                <a:latin typeface="微软雅黑"/>
                <a:cs typeface="微软雅黑"/>
              </a:rPr>
              <a:t>不需要过多了解底层硬件。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22829" y="2239888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屏蔽底 层硬件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26511" y="3923019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1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提高开 发效率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6954" y="5595710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solidFill>
                  <a:srgbClr val="F1F1F1"/>
                </a:solidFill>
                <a:latin typeface="微软雅黑"/>
                <a:cs typeface="微软雅黑"/>
              </a:rPr>
              <a:t>程序执 行效率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2342" y="3871711"/>
            <a:ext cx="6350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开发 特点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4823" y="1170929"/>
            <a:ext cx="169608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150" baseline="1157" dirty="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sz="2400" b="1" i="1" spc="-2315" dirty="0">
                <a:solidFill>
                  <a:srgbClr val="FFFFFF"/>
                </a:solidFill>
                <a:latin typeface="微软雅黑"/>
                <a:cs typeface="微软雅黑"/>
              </a:rPr>
              <a:t>基</a:t>
            </a:r>
            <a:r>
              <a:rPr sz="3600" b="1" spc="-2010" baseline="1157" dirty="0">
                <a:solidFill>
                  <a:srgbClr val="FFFFFF"/>
                </a:solidFill>
                <a:latin typeface="微软雅黑"/>
                <a:cs typeface="微软雅黑"/>
              </a:rPr>
              <a:t>R</a:t>
            </a:r>
            <a:r>
              <a:rPr sz="3600" b="1" i="1" spc="-1597" baseline="1157" dirty="0">
                <a:solidFill>
                  <a:srgbClr val="FFFFFF"/>
                </a:solidFill>
                <a:latin typeface="微软雅黑"/>
                <a:cs typeface="微软雅黑"/>
              </a:rPr>
              <a:t>开</a:t>
            </a:r>
            <a:r>
              <a:rPr sz="3600" b="1" spc="-2760" baseline="1157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2400" b="1" i="1" spc="-1975" dirty="0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sz="3600" b="1" i="1" spc="-1485" baseline="1157" dirty="0">
                <a:solidFill>
                  <a:srgbClr val="FFFFFF"/>
                </a:solidFill>
                <a:latin typeface="微软雅黑"/>
                <a:cs typeface="微软雅黑"/>
              </a:rPr>
              <a:t>发</a:t>
            </a:r>
            <a:r>
              <a:rPr sz="3600" b="1" i="1" spc="-2767" baseline="1157" dirty="0">
                <a:solidFill>
                  <a:srgbClr val="FFFFFF"/>
                </a:solidFill>
                <a:latin typeface="微软雅黑"/>
                <a:cs typeface="微软雅黑"/>
              </a:rPr>
              <a:t>处</a:t>
            </a:r>
            <a:r>
              <a:rPr sz="2400" b="1" i="1" spc="-1975" dirty="0">
                <a:solidFill>
                  <a:srgbClr val="FFFFFF"/>
                </a:solidFill>
                <a:latin typeface="微软雅黑"/>
                <a:cs typeface="微软雅黑"/>
              </a:rPr>
              <a:t>流</a:t>
            </a:r>
            <a:r>
              <a:rPr sz="3600" b="1" i="1" spc="-1485" baseline="1157" dirty="0">
                <a:solidFill>
                  <a:srgbClr val="FFFFFF"/>
                </a:solidFill>
                <a:latin typeface="微软雅黑"/>
                <a:cs typeface="微软雅黑"/>
              </a:rPr>
              <a:t>特</a:t>
            </a:r>
            <a:r>
              <a:rPr sz="3600" b="1" i="1" spc="-2767" baseline="1157" dirty="0">
                <a:solidFill>
                  <a:srgbClr val="FFFFFF"/>
                </a:solidFill>
                <a:latin typeface="微软雅黑"/>
                <a:cs typeface="微软雅黑"/>
              </a:rPr>
              <a:t>理</a:t>
            </a:r>
            <a:r>
              <a:rPr sz="2400" b="1" i="1" spc="-1975" dirty="0">
                <a:solidFill>
                  <a:srgbClr val="FFFFFF"/>
                </a:solidFill>
                <a:latin typeface="微软雅黑"/>
                <a:cs typeface="微软雅黑"/>
              </a:rPr>
              <a:t>程</a:t>
            </a:r>
            <a:r>
              <a:rPr sz="3600" b="1" i="1" spc="-1485" baseline="1157" dirty="0">
                <a:solidFill>
                  <a:srgbClr val="FFFFFF"/>
                </a:solidFill>
                <a:latin typeface="微软雅黑"/>
                <a:cs typeface="微软雅黑"/>
              </a:rPr>
              <a:t>点</a:t>
            </a:r>
            <a:r>
              <a:rPr sz="3600" b="1" i="1" baseline="1157" dirty="0">
                <a:solidFill>
                  <a:srgbClr val="FFFFFF"/>
                </a:solidFill>
                <a:latin typeface="微软雅黑"/>
                <a:cs typeface="微软雅黑"/>
              </a:rPr>
              <a:t>器</a:t>
            </a:r>
            <a:endParaRPr sz="3600" baseline="1157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91303" y="3956801"/>
            <a:ext cx="67310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400" b="1" i="1" dirty="0">
                <a:latin typeface="微软雅黑"/>
                <a:cs typeface="微软雅黑"/>
              </a:rPr>
              <a:t>开发难度较小，开发周期较短，后期的维护升级、 以及硬件平台的移植等工作量较小。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9875">
              <a:lnSpc>
                <a:spcPct val="100000"/>
              </a:lnSpc>
            </a:pPr>
            <a:r>
              <a:rPr sz="2800" spc="-5" dirty="0">
                <a:solidFill>
                  <a:srgbClr val="252525"/>
                </a:solidFill>
              </a:rPr>
              <a:t>基于库函数的程序开发方式的特点</a:t>
            </a:r>
            <a:endParaRPr sz="2800"/>
          </a:p>
        </p:txBody>
      </p:sp>
      <p:sp>
        <p:nvSpPr>
          <p:cNvPr id="31" name="object 31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81436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50988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76883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50988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76883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0550" y="1151117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使用步骤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21048" y="1161725"/>
            <a:ext cx="488759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0" spc="-10" dirty="0">
                <a:solidFill>
                  <a:srgbClr val="000000"/>
                </a:solidFill>
                <a:latin typeface="微软雅黑"/>
                <a:cs typeface="微软雅黑"/>
              </a:rPr>
              <a:t>HAL</a:t>
            </a:r>
            <a:r>
              <a:rPr sz="2800" spc="-5" dirty="0">
                <a:solidFill>
                  <a:srgbClr val="000000"/>
                </a:solidFill>
              </a:rPr>
              <a:t>库中</a:t>
            </a:r>
            <a:r>
              <a:rPr sz="2800" i="0" spc="-10" dirty="0">
                <a:solidFill>
                  <a:srgbClr val="000000"/>
                </a:solidFill>
                <a:latin typeface="微软雅黑"/>
                <a:cs typeface="微软雅黑"/>
              </a:rPr>
              <a:t>GPIO</a:t>
            </a:r>
            <a:r>
              <a:rPr sz="2800" spc="-5" dirty="0">
                <a:solidFill>
                  <a:srgbClr val="000000"/>
                </a:solidFill>
              </a:rPr>
              <a:t>模块的使用步骤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7833" y="2038350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241" y="832"/>
                </a:lnTo>
                <a:lnTo>
                  <a:pt x="19746" y="20741"/>
                </a:lnTo>
                <a:lnTo>
                  <a:pt x="1381" y="59767"/>
                </a:lnTo>
                <a:lnTo>
                  <a:pt x="0" y="75311"/>
                </a:lnTo>
                <a:lnTo>
                  <a:pt x="605" y="621559"/>
                </a:lnTo>
                <a:lnTo>
                  <a:pt x="16893" y="661995"/>
                </a:lnTo>
                <a:lnTo>
                  <a:pt x="49365" y="684135"/>
                </a:lnTo>
                <a:lnTo>
                  <a:pt x="62382" y="685800"/>
                </a:lnTo>
                <a:lnTo>
                  <a:pt x="10451336" y="685081"/>
                </a:lnTo>
                <a:lnTo>
                  <a:pt x="10485295" y="665669"/>
                </a:lnTo>
                <a:lnTo>
                  <a:pt x="10503571" y="626852"/>
                </a:lnTo>
                <a:lnTo>
                  <a:pt x="10504932" y="611251"/>
                </a:lnTo>
                <a:lnTo>
                  <a:pt x="10504268" y="64355"/>
                </a:lnTo>
                <a:lnTo>
                  <a:pt x="10488147" y="23952"/>
                </a:lnTo>
                <a:lnTo>
                  <a:pt x="10455761" y="1680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7833" y="2038350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761" y="1680"/>
                </a:lnTo>
                <a:lnTo>
                  <a:pt x="10488147" y="23952"/>
                </a:lnTo>
                <a:lnTo>
                  <a:pt x="10504268" y="64355"/>
                </a:lnTo>
                <a:lnTo>
                  <a:pt x="10504932" y="611251"/>
                </a:lnTo>
                <a:lnTo>
                  <a:pt x="10503571" y="626852"/>
                </a:lnTo>
                <a:lnTo>
                  <a:pt x="10485295" y="665669"/>
                </a:lnTo>
                <a:lnTo>
                  <a:pt x="10451336" y="685081"/>
                </a:lnTo>
                <a:lnTo>
                  <a:pt x="62382" y="685800"/>
                </a:lnTo>
                <a:lnTo>
                  <a:pt x="49365" y="684135"/>
                </a:lnTo>
                <a:lnTo>
                  <a:pt x="16893" y="661995"/>
                </a:lnTo>
                <a:lnTo>
                  <a:pt x="605" y="621559"/>
                </a:lnTo>
                <a:lnTo>
                  <a:pt x="0" y="75311"/>
                </a:lnTo>
                <a:lnTo>
                  <a:pt x="1381" y="59767"/>
                </a:lnTo>
                <a:lnTo>
                  <a:pt x="19746" y="20741"/>
                </a:lnTo>
                <a:lnTo>
                  <a:pt x="53241" y="832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7833" y="3345941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241" y="815"/>
                </a:lnTo>
                <a:lnTo>
                  <a:pt x="19746" y="20467"/>
                </a:lnTo>
                <a:lnTo>
                  <a:pt x="1381" y="59542"/>
                </a:lnTo>
                <a:lnTo>
                  <a:pt x="0" y="75311"/>
                </a:lnTo>
                <a:lnTo>
                  <a:pt x="605" y="621559"/>
                </a:lnTo>
                <a:lnTo>
                  <a:pt x="16893" y="661995"/>
                </a:lnTo>
                <a:lnTo>
                  <a:pt x="49365" y="684135"/>
                </a:lnTo>
                <a:lnTo>
                  <a:pt x="62382" y="685800"/>
                </a:lnTo>
                <a:lnTo>
                  <a:pt x="10451336" y="685081"/>
                </a:lnTo>
                <a:lnTo>
                  <a:pt x="10485295" y="665669"/>
                </a:lnTo>
                <a:lnTo>
                  <a:pt x="10503571" y="626852"/>
                </a:lnTo>
                <a:lnTo>
                  <a:pt x="10504932" y="611251"/>
                </a:lnTo>
                <a:lnTo>
                  <a:pt x="10504268" y="64183"/>
                </a:lnTo>
                <a:lnTo>
                  <a:pt x="10488147" y="23656"/>
                </a:lnTo>
                <a:lnTo>
                  <a:pt x="10455761" y="1647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7833" y="4598670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782" y="720"/>
                </a:lnTo>
                <a:lnTo>
                  <a:pt x="19966" y="20136"/>
                </a:lnTo>
                <a:lnTo>
                  <a:pt x="1398" y="58950"/>
                </a:lnTo>
                <a:lnTo>
                  <a:pt x="0" y="74548"/>
                </a:lnTo>
                <a:lnTo>
                  <a:pt x="684" y="621634"/>
                </a:lnTo>
                <a:lnTo>
                  <a:pt x="17099" y="662150"/>
                </a:lnTo>
                <a:lnTo>
                  <a:pt x="49440" y="684153"/>
                </a:lnTo>
                <a:lnTo>
                  <a:pt x="62382" y="685799"/>
                </a:lnTo>
                <a:lnTo>
                  <a:pt x="10451886" y="684987"/>
                </a:lnTo>
                <a:lnTo>
                  <a:pt x="10485513" y="665339"/>
                </a:lnTo>
                <a:lnTo>
                  <a:pt x="10503587" y="626259"/>
                </a:lnTo>
                <a:lnTo>
                  <a:pt x="10504932" y="610488"/>
                </a:lnTo>
                <a:lnTo>
                  <a:pt x="10504345" y="64258"/>
                </a:lnTo>
                <a:lnTo>
                  <a:pt x="10488350" y="23811"/>
                </a:lnTo>
                <a:lnTo>
                  <a:pt x="10455837" y="1665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7833" y="4598670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837" y="1665"/>
                </a:lnTo>
                <a:lnTo>
                  <a:pt x="10488350" y="23811"/>
                </a:lnTo>
                <a:lnTo>
                  <a:pt x="10504345" y="64258"/>
                </a:lnTo>
                <a:lnTo>
                  <a:pt x="10504932" y="610488"/>
                </a:lnTo>
                <a:lnTo>
                  <a:pt x="10503587" y="626259"/>
                </a:lnTo>
                <a:lnTo>
                  <a:pt x="10485513" y="665339"/>
                </a:lnTo>
                <a:lnTo>
                  <a:pt x="10451886" y="684987"/>
                </a:lnTo>
                <a:lnTo>
                  <a:pt x="62382" y="685799"/>
                </a:lnTo>
                <a:lnTo>
                  <a:pt x="49440" y="684153"/>
                </a:lnTo>
                <a:lnTo>
                  <a:pt x="17099" y="662150"/>
                </a:lnTo>
                <a:lnTo>
                  <a:pt x="684" y="621634"/>
                </a:lnTo>
                <a:lnTo>
                  <a:pt x="0" y="74548"/>
                </a:lnTo>
                <a:lnTo>
                  <a:pt x="1398" y="58950"/>
                </a:lnTo>
                <a:lnTo>
                  <a:pt x="19966" y="20136"/>
                </a:lnTo>
                <a:lnTo>
                  <a:pt x="53782" y="720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7833" y="5820917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809" y="715"/>
                </a:lnTo>
                <a:lnTo>
                  <a:pt x="19977" y="20115"/>
                </a:lnTo>
                <a:lnTo>
                  <a:pt x="1399" y="58916"/>
                </a:lnTo>
                <a:lnTo>
                  <a:pt x="0" y="74510"/>
                </a:lnTo>
                <a:lnTo>
                  <a:pt x="684" y="621634"/>
                </a:lnTo>
                <a:lnTo>
                  <a:pt x="17099" y="662150"/>
                </a:lnTo>
                <a:lnTo>
                  <a:pt x="49440" y="684153"/>
                </a:lnTo>
                <a:lnTo>
                  <a:pt x="62382" y="685799"/>
                </a:lnTo>
                <a:lnTo>
                  <a:pt x="10451886" y="684987"/>
                </a:lnTo>
                <a:lnTo>
                  <a:pt x="10485513" y="665339"/>
                </a:lnTo>
                <a:lnTo>
                  <a:pt x="10503587" y="626259"/>
                </a:lnTo>
                <a:lnTo>
                  <a:pt x="10504932" y="610488"/>
                </a:lnTo>
                <a:lnTo>
                  <a:pt x="10504349" y="64259"/>
                </a:lnTo>
                <a:lnTo>
                  <a:pt x="10488361" y="23814"/>
                </a:lnTo>
                <a:lnTo>
                  <a:pt x="10455841" y="1665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7833" y="5820917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841" y="1665"/>
                </a:lnTo>
                <a:lnTo>
                  <a:pt x="10488361" y="23814"/>
                </a:lnTo>
                <a:lnTo>
                  <a:pt x="10504349" y="64259"/>
                </a:lnTo>
                <a:lnTo>
                  <a:pt x="10504932" y="610488"/>
                </a:lnTo>
                <a:lnTo>
                  <a:pt x="10503587" y="626259"/>
                </a:lnTo>
                <a:lnTo>
                  <a:pt x="10485513" y="665339"/>
                </a:lnTo>
                <a:lnTo>
                  <a:pt x="10451886" y="684987"/>
                </a:lnTo>
                <a:lnTo>
                  <a:pt x="62382" y="685799"/>
                </a:lnTo>
                <a:lnTo>
                  <a:pt x="49440" y="684153"/>
                </a:lnTo>
                <a:lnTo>
                  <a:pt x="17099" y="662150"/>
                </a:lnTo>
                <a:lnTo>
                  <a:pt x="684" y="621634"/>
                </a:lnTo>
                <a:lnTo>
                  <a:pt x="0" y="74510"/>
                </a:lnTo>
                <a:lnTo>
                  <a:pt x="1399" y="58916"/>
                </a:lnTo>
                <a:lnTo>
                  <a:pt x="19977" y="20115"/>
                </a:lnTo>
                <a:lnTo>
                  <a:pt x="53809" y="715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68779" y="1680972"/>
            <a:ext cx="1868805" cy="1457325"/>
          </a:xfrm>
          <a:custGeom>
            <a:avLst/>
            <a:gdLst/>
            <a:ahLst/>
            <a:cxnLst/>
            <a:rect l="l" t="t" r="r" b="b"/>
            <a:pathLst>
              <a:path w="1868804" h="1457325">
                <a:moveTo>
                  <a:pt x="1868423" y="0"/>
                </a:moveTo>
                <a:lnTo>
                  <a:pt x="0" y="0"/>
                </a:lnTo>
                <a:lnTo>
                  <a:pt x="0" y="1093089"/>
                </a:lnTo>
                <a:lnTo>
                  <a:pt x="933831" y="1456943"/>
                </a:lnTo>
                <a:lnTo>
                  <a:pt x="1868423" y="1093089"/>
                </a:lnTo>
                <a:lnTo>
                  <a:pt x="1868423" y="0"/>
                </a:lnTo>
                <a:close/>
              </a:path>
            </a:pathLst>
          </a:custGeom>
          <a:solidFill>
            <a:srgbClr val="29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68779" y="2977895"/>
            <a:ext cx="1868805" cy="1422400"/>
          </a:xfrm>
          <a:custGeom>
            <a:avLst/>
            <a:gdLst/>
            <a:ahLst/>
            <a:cxnLst/>
            <a:rect l="l" t="t" r="r" b="b"/>
            <a:pathLst>
              <a:path w="1868804" h="1422400">
                <a:moveTo>
                  <a:pt x="0" y="0"/>
                </a:moveTo>
                <a:lnTo>
                  <a:pt x="0" y="1066164"/>
                </a:lnTo>
                <a:lnTo>
                  <a:pt x="933831" y="1421891"/>
                </a:lnTo>
                <a:lnTo>
                  <a:pt x="1868423" y="1066164"/>
                </a:lnTo>
                <a:lnTo>
                  <a:pt x="1868423" y="355726"/>
                </a:lnTo>
                <a:lnTo>
                  <a:pt x="933831" y="355726"/>
                </a:lnTo>
                <a:lnTo>
                  <a:pt x="0" y="0"/>
                </a:lnTo>
                <a:close/>
              </a:path>
              <a:path w="1868804" h="1422400">
                <a:moveTo>
                  <a:pt x="1868423" y="0"/>
                </a:moveTo>
                <a:lnTo>
                  <a:pt x="933831" y="355726"/>
                </a:lnTo>
                <a:lnTo>
                  <a:pt x="1868423" y="355726"/>
                </a:lnTo>
                <a:lnTo>
                  <a:pt x="1868423" y="0"/>
                </a:lnTo>
                <a:close/>
              </a:path>
            </a:pathLst>
          </a:custGeom>
          <a:solidFill>
            <a:srgbClr val="00AA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67255" y="4219955"/>
            <a:ext cx="1868805" cy="1420495"/>
          </a:xfrm>
          <a:custGeom>
            <a:avLst/>
            <a:gdLst/>
            <a:ahLst/>
            <a:cxnLst/>
            <a:rect l="l" t="t" r="r" b="b"/>
            <a:pathLst>
              <a:path w="1868804" h="1420495">
                <a:moveTo>
                  <a:pt x="0" y="0"/>
                </a:moveTo>
                <a:lnTo>
                  <a:pt x="0" y="1065022"/>
                </a:lnTo>
                <a:lnTo>
                  <a:pt x="933831" y="1420368"/>
                </a:lnTo>
                <a:lnTo>
                  <a:pt x="1868423" y="1065022"/>
                </a:lnTo>
                <a:lnTo>
                  <a:pt x="1868423" y="355346"/>
                </a:lnTo>
                <a:lnTo>
                  <a:pt x="933831" y="355346"/>
                </a:lnTo>
                <a:lnTo>
                  <a:pt x="0" y="0"/>
                </a:lnTo>
                <a:close/>
              </a:path>
              <a:path w="1868804" h="1420495">
                <a:moveTo>
                  <a:pt x="1868423" y="0"/>
                </a:moveTo>
                <a:lnTo>
                  <a:pt x="933831" y="355346"/>
                </a:lnTo>
                <a:lnTo>
                  <a:pt x="1868423" y="355346"/>
                </a:lnTo>
                <a:lnTo>
                  <a:pt x="1868423" y="0"/>
                </a:lnTo>
                <a:close/>
              </a:path>
            </a:pathLst>
          </a:custGeom>
          <a:solidFill>
            <a:srgbClr val="99C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68779" y="5445252"/>
            <a:ext cx="1868805" cy="1394460"/>
          </a:xfrm>
          <a:custGeom>
            <a:avLst/>
            <a:gdLst/>
            <a:ahLst/>
            <a:cxnLst/>
            <a:rect l="l" t="t" r="r" b="b"/>
            <a:pathLst>
              <a:path w="1868804" h="1394459">
                <a:moveTo>
                  <a:pt x="0" y="0"/>
                </a:moveTo>
                <a:lnTo>
                  <a:pt x="0" y="1046238"/>
                </a:lnTo>
                <a:lnTo>
                  <a:pt x="933831" y="1394458"/>
                </a:lnTo>
                <a:lnTo>
                  <a:pt x="1868423" y="1046238"/>
                </a:lnTo>
                <a:lnTo>
                  <a:pt x="1868423" y="348221"/>
                </a:lnTo>
                <a:lnTo>
                  <a:pt x="933831" y="348221"/>
                </a:lnTo>
                <a:lnTo>
                  <a:pt x="0" y="0"/>
                </a:lnTo>
                <a:close/>
              </a:path>
              <a:path w="1868804" h="1394459">
                <a:moveTo>
                  <a:pt x="1868423" y="0"/>
                </a:moveTo>
                <a:lnTo>
                  <a:pt x="933831" y="348221"/>
                </a:lnTo>
                <a:lnTo>
                  <a:pt x="1868423" y="348221"/>
                </a:lnTo>
                <a:lnTo>
                  <a:pt x="1868423" y="0"/>
                </a:lnTo>
                <a:close/>
              </a:path>
            </a:pathLst>
          </a:custGeom>
          <a:solidFill>
            <a:srgbClr val="EC5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40251" y="2105846"/>
            <a:ext cx="6191885" cy="585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5" dirty="0">
                <a:solidFill>
                  <a:srgbClr val="474748"/>
                </a:solidFill>
                <a:latin typeface="微软雅黑"/>
                <a:cs typeface="微软雅黑"/>
              </a:rPr>
              <a:t>使能引脚所属端口的系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统</a:t>
            </a:r>
            <a:r>
              <a:rPr sz="2000" b="1" i="1" spc="5" dirty="0">
                <a:solidFill>
                  <a:srgbClr val="474748"/>
                </a:solidFill>
                <a:latin typeface="微软雅黑"/>
                <a:cs typeface="微软雅黑"/>
              </a:rPr>
              <a:t>总线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时</a:t>
            </a:r>
            <a:r>
              <a:rPr sz="2000" b="1" i="1" spc="5" dirty="0">
                <a:solidFill>
                  <a:srgbClr val="474748"/>
                </a:solidFill>
                <a:latin typeface="微软雅黑"/>
                <a:cs typeface="微软雅黑"/>
              </a:rPr>
              <a:t>钟</a:t>
            </a:r>
            <a:r>
              <a:rPr sz="2000" b="1" i="1" spc="-30" dirty="0">
                <a:solidFill>
                  <a:srgbClr val="474748"/>
                </a:solidFill>
                <a:latin typeface="微软雅黑"/>
                <a:cs typeface="微软雅黑"/>
              </a:rPr>
              <a:t>（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spc="-15" dirty="0">
                <a:solidFill>
                  <a:srgbClr val="474748"/>
                </a:solidFill>
                <a:latin typeface="微软雅黑"/>
                <a:cs typeface="微软雅黑"/>
              </a:rPr>
              <a:t>H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B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）</a:t>
            </a:r>
            <a:r>
              <a:rPr sz="2000" b="1" i="1" spc="5" dirty="0">
                <a:solidFill>
                  <a:srgbClr val="474748"/>
                </a:solidFill>
                <a:latin typeface="微软雅黑"/>
                <a:cs typeface="微软雅黑"/>
              </a:rPr>
              <a:t>：调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用</a:t>
            </a:r>
            <a:r>
              <a:rPr sz="2000" b="1" i="1" spc="5" dirty="0">
                <a:solidFill>
                  <a:srgbClr val="474748"/>
                </a:solidFill>
                <a:latin typeface="微软雅黑"/>
                <a:cs typeface="微软雅黑"/>
              </a:rPr>
              <a:t>函数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241300" algn="l"/>
              </a:tabLst>
            </a:pPr>
            <a:r>
              <a:rPr sz="2000" b="1" u="heavy" dirty="0">
                <a:solidFill>
                  <a:srgbClr val="474748"/>
                </a:solidFill>
                <a:latin typeface="微软雅黑"/>
                <a:cs typeface="微软雅黑"/>
              </a:rPr>
              <a:t> 	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HAL_</a:t>
            </a:r>
            <a:r>
              <a:rPr sz="2000" b="1" spc="-20" dirty="0">
                <a:solidFill>
                  <a:srgbClr val="474748"/>
                </a:solidFill>
                <a:latin typeface="微软雅黑"/>
                <a:cs typeface="微软雅黑"/>
              </a:rPr>
              <a:t>R</a:t>
            </a:r>
            <a:r>
              <a:rPr sz="2000" b="1" spc="-65" dirty="0">
                <a:solidFill>
                  <a:srgbClr val="474748"/>
                </a:solidFill>
                <a:latin typeface="微软雅黑"/>
                <a:cs typeface="微软雅黑"/>
              </a:rPr>
              <a:t>C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C_GPI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O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x_CLK_ENA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B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LE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0057" y="2230998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使能时钟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0057" y="3539479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设置参数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79167" y="4792207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配置引脚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80057" y="6014566"/>
            <a:ext cx="12446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5" dirty="0">
                <a:solidFill>
                  <a:srgbClr val="FFFFFF"/>
                </a:solidFill>
                <a:latin typeface="微软雅黑"/>
                <a:cs typeface="微软雅黑"/>
              </a:rPr>
              <a:t>控制引脚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40251" y="3436542"/>
            <a:ext cx="737552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利用引脚初始化类</a:t>
            </a:r>
            <a:r>
              <a:rPr sz="2000" b="1" i="1" spc="-20" dirty="0">
                <a:solidFill>
                  <a:srgbClr val="474748"/>
                </a:solidFill>
                <a:latin typeface="微软雅黑"/>
                <a:cs typeface="微软雅黑"/>
              </a:rPr>
              <a:t>型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GP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O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_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nit</a:t>
            </a:r>
            <a:r>
              <a:rPr sz="2000" b="1" spc="-105" dirty="0">
                <a:solidFill>
                  <a:srgbClr val="474748"/>
                </a:solidFill>
                <a:latin typeface="微软雅黑"/>
                <a:cs typeface="微软雅黑"/>
              </a:rPr>
              <a:t>T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ypeDe</a:t>
            </a:r>
            <a:r>
              <a:rPr sz="2000" b="1" spc="-25" dirty="0">
                <a:solidFill>
                  <a:srgbClr val="474748"/>
                </a:solidFill>
                <a:latin typeface="微软雅黑"/>
                <a:cs typeface="微软雅黑"/>
              </a:rPr>
              <a:t>f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定义结构体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变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量，根据具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4499" y="3740586"/>
            <a:ext cx="1049972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58160" algn="l"/>
                <a:tab pos="10486390" algn="l"/>
              </a:tabLst>
            </a:pPr>
            <a:r>
              <a:rPr sz="2000" u="sng" dirty="0">
                <a:solidFill>
                  <a:srgbClr val="474748"/>
                </a:solidFill>
                <a:latin typeface="Times New Roman"/>
                <a:cs typeface="Times New Roman"/>
              </a:rPr>
              <a:t> 	</a:t>
            </a:r>
            <a:r>
              <a:rPr sz="2000" b="1" i="1" u="sng" dirty="0">
                <a:solidFill>
                  <a:srgbClr val="474748"/>
                </a:solidFill>
                <a:latin typeface="微软雅黑"/>
                <a:cs typeface="微软雅黑"/>
              </a:rPr>
              <a:t>体需求配置成员变量</a:t>
            </a:r>
            <a:r>
              <a:rPr sz="2000" b="1" i="1" u="sng" spc="-20" dirty="0">
                <a:solidFill>
                  <a:srgbClr val="474748"/>
                </a:solidFill>
                <a:latin typeface="微软雅黑"/>
                <a:cs typeface="微软雅黑"/>
              </a:rPr>
              <a:t>：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P</a:t>
            </a:r>
            <a:r>
              <a:rPr sz="2000" b="1" u="sng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n</a:t>
            </a:r>
            <a:r>
              <a:rPr sz="2000" b="1" i="1" u="sng" dirty="0">
                <a:solidFill>
                  <a:srgbClr val="474748"/>
                </a:solidFill>
                <a:latin typeface="微软雅黑"/>
                <a:cs typeface="微软雅黑"/>
              </a:rPr>
              <a:t>、</a:t>
            </a:r>
            <a:r>
              <a:rPr sz="2000" b="1" u="sng" spc="-5" dirty="0">
                <a:solidFill>
                  <a:srgbClr val="474748"/>
                </a:solidFill>
                <a:latin typeface="微软雅黑"/>
                <a:cs typeface="微软雅黑"/>
              </a:rPr>
              <a:t>Mod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e</a:t>
            </a:r>
            <a:r>
              <a:rPr sz="2000" b="1" i="1" u="sng" spc="-15" dirty="0">
                <a:solidFill>
                  <a:srgbClr val="474748"/>
                </a:solidFill>
                <a:latin typeface="微软雅黑"/>
                <a:cs typeface="微软雅黑"/>
              </a:rPr>
              <a:t>、</a:t>
            </a:r>
            <a:r>
              <a:rPr sz="2000" b="1" u="sng" spc="-5" dirty="0">
                <a:solidFill>
                  <a:srgbClr val="474748"/>
                </a:solidFill>
                <a:latin typeface="微软雅黑"/>
                <a:cs typeface="微软雅黑"/>
              </a:rPr>
              <a:t>Pul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l</a:t>
            </a:r>
            <a:r>
              <a:rPr sz="2000" b="1" i="1" u="sng" dirty="0">
                <a:solidFill>
                  <a:srgbClr val="474748"/>
                </a:solidFill>
                <a:latin typeface="微软雅黑"/>
                <a:cs typeface="微软雅黑"/>
              </a:rPr>
              <a:t>、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S</a:t>
            </a:r>
            <a:r>
              <a:rPr sz="2000" b="1" u="sng" dirty="0">
                <a:solidFill>
                  <a:srgbClr val="474748"/>
                </a:solidFill>
                <a:latin typeface="微软雅黑"/>
                <a:cs typeface="微软雅黑"/>
              </a:rPr>
              <a:t>pe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e</a:t>
            </a:r>
            <a:r>
              <a:rPr sz="2000" b="1" u="sng" spc="-15" dirty="0">
                <a:solidFill>
                  <a:srgbClr val="474748"/>
                </a:solidFill>
                <a:latin typeface="微软雅黑"/>
                <a:cs typeface="微软雅黑"/>
              </a:rPr>
              <a:t>d</a:t>
            </a:r>
            <a:r>
              <a:rPr sz="2000" b="1" i="1" u="sng" dirty="0">
                <a:solidFill>
                  <a:srgbClr val="474748"/>
                </a:solidFill>
                <a:latin typeface="微软雅黑"/>
                <a:cs typeface="微软雅黑"/>
              </a:rPr>
              <a:t>、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u="sng" dirty="0">
                <a:solidFill>
                  <a:srgbClr val="474748"/>
                </a:solidFill>
                <a:latin typeface="微软雅黑"/>
                <a:cs typeface="微软雅黑"/>
              </a:rPr>
              <a:t>l</a:t>
            </a:r>
            <a:r>
              <a:rPr sz="2000" b="1" u="sng" spc="-20" dirty="0">
                <a:solidFill>
                  <a:srgbClr val="474748"/>
                </a:solidFill>
                <a:latin typeface="微软雅黑"/>
                <a:cs typeface="微软雅黑"/>
              </a:rPr>
              <a:t>t</a:t>
            </a:r>
            <a:r>
              <a:rPr sz="2000" b="1" u="sng" dirty="0">
                <a:solidFill>
                  <a:srgbClr val="474748"/>
                </a:solidFill>
                <a:latin typeface="微软雅黑"/>
                <a:cs typeface="微软雅黑"/>
              </a:rPr>
              <a:t>ern</a:t>
            </a:r>
            <a:r>
              <a:rPr sz="2000" b="1" u="sng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u="sng" spc="-15" dirty="0">
                <a:solidFill>
                  <a:srgbClr val="474748"/>
                </a:solidFill>
                <a:latin typeface="微软雅黑"/>
                <a:cs typeface="微软雅黑"/>
              </a:rPr>
              <a:t>t</a:t>
            </a:r>
            <a:r>
              <a:rPr sz="2000" b="1" u="sng" dirty="0">
                <a:solidFill>
                  <a:srgbClr val="474748"/>
                </a:solidFill>
                <a:latin typeface="微软雅黑"/>
                <a:cs typeface="微软雅黑"/>
              </a:rPr>
              <a:t>e 	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40251" y="4683809"/>
            <a:ext cx="721677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调用初始化函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数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H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L_G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P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IO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_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In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t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完成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引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脚配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置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，将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配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置参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数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写入 对应的硬件寄存器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40251" y="5911874"/>
            <a:ext cx="731774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使用对应的控制函数完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成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引脚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的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控制</a:t>
            </a:r>
            <a:r>
              <a:rPr sz="2000" b="1" i="1" spc="-10" dirty="0">
                <a:solidFill>
                  <a:srgbClr val="474748"/>
                </a:solidFill>
                <a:latin typeface="微软雅黑"/>
                <a:cs typeface="微软雅黑"/>
              </a:rPr>
              <a:t>：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函</a:t>
            </a:r>
            <a:r>
              <a:rPr sz="2000" b="1" i="1" spc="-40" dirty="0">
                <a:solidFill>
                  <a:srgbClr val="474748"/>
                </a:solidFill>
                <a:latin typeface="微软雅黑"/>
                <a:cs typeface="微软雅黑"/>
              </a:rPr>
              <a:t>数</a:t>
            </a:r>
            <a:r>
              <a:rPr sz="2000" b="1" spc="-15" dirty="0">
                <a:solidFill>
                  <a:srgbClr val="474748"/>
                </a:solidFill>
                <a:latin typeface="微软雅黑"/>
                <a:cs typeface="微软雅黑"/>
              </a:rPr>
              <a:t>H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L_G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P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IO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_</a:t>
            </a:r>
            <a:r>
              <a:rPr sz="2000" b="1" spc="-55" dirty="0">
                <a:solidFill>
                  <a:srgbClr val="474748"/>
                </a:solidFill>
                <a:latin typeface="微软雅黑"/>
                <a:cs typeface="微软雅黑"/>
              </a:rPr>
              <a:t>R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e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spc="-15" dirty="0">
                <a:solidFill>
                  <a:srgbClr val="474748"/>
                </a:solidFill>
                <a:latin typeface="微软雅黑"/>
                <a:cs typeface="微软雅黑"/>
              </a:rPr>
              <a:t>d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Pin 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读取引脚状态；函</a:t>
            </a:r>
            <a:r>
              <a:rPr sz="2000" b="1" i="1" spc="-20" dirty="0">
                <a:solidFill>
                  <a:srgbClr val="474748"/>
                </a:solidFill>
                <a:latin typeface="微软雅黑"/>
                <a:cs typeface="微软雅黑"/>
              </a:rPr>
              <a:t>数</a:t>
            </a:r>
            <a:r>
              <a:rPr sz="2000" b="1" spc="-15" dirty="0">
                <a:solidFill>
                  <a:srgbClr val="474748"/>
                </a:solidFill>
                <a:latin typeface="微软雅黑"/>
                <a:cs typeface="微软雅黑"/>
              </a:rPr>
              <a:t>H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L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_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G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P</a:t>
            </a:r>
            <a:r>
              <a:rPr sz="2000" b="1" spc="5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spc="-5" dirty="0">
                <a:solidFill>
                  <a:srgbClr val="474748"/>
                </a:solidFill>
                <a:latin typeface="微软雅黑"/>
                <a:cs typeface="微软雅黑"/>
              </a:rPr>
              <a:t>O_W</a:t>
            </a:r>
            <a:r>
              <a:rPr sz="2000" b="1" spc="10" dirty="0">
                <a:solidFill>
                  <a:srgbClr val="474748"/>
                </a:solidFill>
                <a:latin typeface="微软雅黑"/>
                <a:cs typeface="微软雅黑"/>
              </a:rPr>
              <a:t>r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spc="-15" dirty="0">
                <a:solidFill>
                  <a:srgbClr val="474748"/>
                </a:solidFill>
                <a:latin typeface="微软雅黑"/>
                <a:cs typeface="微软雅黑"/>
              </a:rPr>
              <a:t>t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e</a:t>
            </a:r>
            <a:r>
              <a:rPr sz="2000" b="1" spc="-10" dirty="0">
                <a:solidFill>
                  <a:srgbClr val="474748"/>
                </a:solidFill>
                <a:latin typeface="微软雅黑"/>
                <a:cs typeface="微软雅黑"/>
              </a:rPr>
              <a:t>P</a:t>
            </a:r>
            <a:r>
              <a:rPr sz="2000" b="1" dirty="0">
                <a:solidFill>
                  <a:srgbClr val="474748"/>
                </a:solidFill>
                <a:latin typeface="微软雅黑"/>
                <a:cs typeface="微软雅黑"/>
              </a:rPr>
              <a:t>i</a:t>
            </a:r>
            <a:r>
              <a:rPr sz="2000" b="1" spc="-35" dirty="0">
                <a:solidFill>
                  <a:srgbClr val="474748"/>
                </a:solidFill>
                <a:latin typeface="微软雅黑"/>
                <a:cs typeface="微软雅黑"/>
              </a:rPr>
              <a:t>n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设置</a:t>
            </a:r>
            <a:r>
              <a:rPr sz="2000" b="1" i="1" spc="-15" dirty="0">
                <a:solidFill>
                  <a:srgbClr val="474748"/>
                </a:solidFill>
                <a:latin typeface="微软雅黑"/>
                <a:cs typeface="微软雅黑"/>
              </a:rPr>
              <a:t>引</a:t>
            </a:r>
            <a:r>
              <a:rPr sz="2000" b="1" i="1" dirty="0">
                <a:solidFill>
                  <a:srgbClr val="474748"/>
                </a:solidFill>
                <a:latin typeface="微软雅黑"/>
                <a:cs typeface="微软雅黑"/>
              </a:rPr>
              <a:t>脚电平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2796" y="2157536"/>
            <a:ext cx="3390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1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2796" y="3482136"/>
            <a:ext cx="3384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2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2796" y="4738293"/>
            <a:ext cx="3384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3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42796" y="5925524"/>
            <a:ext cx="3390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4</a:t>
            </a:r>
            <a:endParaRPr sz="40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92692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2745">
              <a:lnSpc>
                <a:spcPct val="100000"/>
              </a:lnSpc>
            </a:pPr>
            <a:r>
              <a:rPr dirty="0"/>
              <a:t>按键波形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51" y="2351532"/>
            <a:ext cx="9281160" cy="31866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94282" y="5456112"/>
            <a:ext cx="1244600" cy="71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252525"/>
                </a:solidFill>
                <a:latin typeface="微软雅黑"/>
                <a:cs typeface="微软雅黑"/>
              </a:rPr>
              <a:t>前沿抖动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252525"/>
                </a:solidFill>
                <a:latin typeface="Consolas"/>
                <a:cs typeface="Consolas"/>
              </a:rPr>
              <a:t>5</a:t>
            </a:r>
            <a:r>
              <a:rPr sz="2400" b="1" i="1" spc="-5" dirty="0">
                <a:solidFill>
                  <a:srgbClr val="252525"/>
                </a:solidFill>
                <a:latin typeface="微软雅黑"/>
                <a:cs typeface="微软雅黑"/>
              </a:rPr>
              <a:t>～</a:t>
            </a:r>
            <a:r>
              <a:rPr sz="2400" b="1" spc="-5" dirty="0">
                <a:solidFill>
                  <a:srgbClr val="252525"/>
                </a:solidFill>
                <a:latin typeface="Consolas"/>
                <a:cs typeface="Consolas"/>
              </a:rPr>
              <a:t>10ms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0161" y="5460684"/>
            <a:ext cx="134175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252525"/>
                </a:solidFill>
                <a:latin typeface="微软雅黑"/>
                <a:cs typeface="微软雅黑"/>
              </a:rPr>
              <a:t>后沿抖动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5</a:t>
            </a:r>
            <a:r>
              <a:rPr sz="2400" b="1" i="1" spc="-5" dirty="0">
                <a:solidFill>
                  <a:srgbClr val="252525"/>
                </a:solidFill>
                <a:latin typeface="微软雅黑"/>
                <a:cs typeface="微软雅黑"/>
              </a:rPr>
              <a:t>～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10ms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40645" y="2003287"/>
            <a:ext cx="1854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252525"/>
                </a:solidFill>
                <a:latin typeface="微软雅黑"/>
                <a:cs typeface="微软雅黑"/>
              </a:rPr>
              <a:t>按键抖动问题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36696" y="1180267"/>
            <a:ext cx="49968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微软雅黑"/>
                <a:cs typeface="微软雅黑"/>
              </a:rPr>
              <a:t>按键的机械特性造成按键的抖动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82289" y="4109465"/>
            <a:ext cx="3191510" cy="481965"/>
          </a:xfrm>
          <a:custGeom>
            <a:avLst/>
            <a:gdLst/>
            <a:ahLst/>
            <a:cxnLst/>
            <a:rect l="l" t="t" r="r" b="b"/>
            <a:pathLst>
              <a:path w="3191510" h="481964">
                <a:moveTo>
                  <a:pt x="0" y="481584"/>
                </a:moveTo>
                <a:lnTo>
                  <a:pt x="3191256" y="481584"/>
                </a:lnTo>
                <a:lnTo>
                  <a:pt x="3191256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10077" y="2814066"/>
            <a:ext cx="1969135" cy="1257935"/>
          </a:xfrm>
          <a:custGeom>
            <a:avLst/>
            <a:gdLst/>
            <a:ahLst/>
            <a:cxnLst/>
            <a:rect l="l" t="t" r="r" b="b"/>
            <a:pathLst>
              <a:path w="1969135" h="1257935">
                <a:moveTo>
                  <a:pt x="1820672" y="0"/>
                </a:moveTo>
                <a:lnTo>
                  <a:pt x="1148588" y="0"/>
                </a:lnTo>
                <a:lnTo>
                  <a:pt x="140676" y="194"/>
                </a:lnTo>
                <a:lnTo>
                  <a:pt x="98597" y="8546"/>
                </a:lnTo>
                <a:lnTo>
                  <a:pt x="61731" y="27898"/>
                </a:lnTo>
                <a:lnTo>
                  <a:pt x="31909" y="56417"/>
                </a:lnTo>
                <a:lnTo>
                  <a:pt x="10961" y="92275"/>
                </a:lnTo>
                <a:lnTo>
                  <a:pt x="719" y="133640"/>
                </a:lnTo>
                <a:lnTo>
                  <a:pt x="0" y="148336"/>
                </a:lnTo>
                <a:lnTo>
                  <a:pt x="0" y="741680"/>
                </a:lnTo>
                <a:lnTo>
                  <a:pt x="8546" y="791418"/>
                </a:lnTo>
                <a:lnTo>
                  <a:pt x="27898" y="828284"/>
                </a:lnTo>
                <a:lnTo>
                  <a:pt x="56417" y="858106"/>
                </a:lnTo>
                <a:lnTo>
                  <a:pt x="92275" y="879054"/>
                </a:lnTo>
                <a:lnTo>
                  <a:pt x="133640" y="889296"/>
                </a:lnTo>
                <a:lnTo>
                  <a:pt x="148336" y="890016"/>
                </a:lnTo>
                <a:lnTo>
                  <a:pt x="1148588" y="890016"/>
                </a:lnTo>
                <a:lnTo>
                  <a:pt x="1686052" y="1257427"/>
                </a:lnTo>
                <a:lnTo>
                  <a:pt x="1640839" y="890016"/>
                </a:lnTo>
                <a:lnTo>
                  <a:pt x="1828331" y="889821"/>
                </a:lnTo>
                <a:lnTo>
                  <a:pt x="1842823" y="888372"/>
                </a:lnTo>
                <a:lnTo>
                  <a:pt x="1883368" y="876150"/>
                </a:lnTo>
                <a:lnTo>
                  <a:pt x="1918090" y="853539"/>
                </a:lnTo>
                <a:lnTo>
                  <a:pt x="1945157" y="822370"/>
                </a:lnTo>
                <a:lnTo>
                  <a:pt x="1962740" y="784473"/>
                </a:lnTo>
                <a:lnTo>
                  <a:pt x="1969008" y="741680"/>
                </a:lnTo>
                <a:lnTo>
                  <a:pt x="1969008" y="519175"/>
                </a:lnTo>
                <a:lnTo>
                  <a:pt x="1968813" y="140676"/>
                </a:lnTo>
                <a:lnTo>
                  <a:pt x="1960461" y="98597"/>
                </a:lnTo>
                <a:lnTo>
                  <a:pt x="1941109" y="61731"/>
                </a:lnTo>
                <a:lnTo>
                  <a:pt x="1912590" y="31909"/>
                </a:lnTo>
                <a:lnTo>
                  <a:pt x="1876732" y="10961"/>
                </a:lnTo>
                <a:lnTo>
                  <a:pt x="1835367" y="719"/>
                </a:lnTo>
                <a:lnTo>
                  <a:pt x="1820672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10077" y="2814066"/>
            <a:ext cx="1969135" cy="1257935"/>
          </a:xfrm>
          <a:custGeom>
            <a:avLst/>
            <a:gdLst/>
            <a:ahLst/>
            <a:cxnLst/>
            <a:rect l="l" t="t" r="r" b="b"/>
            <a:pathLst>
              <a:path w="1969135" h="1257935">
                <a:moveTo>
                  <a:pt x="0" y="148336"/>
                </a:moveTo>
                <a:lnTo>
                  <a:pt x="6267" y="105542"/>
                </a:lnTo>
                <a:lnTo>
                  <a:pt x="23850" y="67645"/>
                </a:lnTo>
                <a:lnTo>
                  <a:pt x="50917" y="36476"/>
                </a:lnTo>
                <a:lnTo>
                  <a:pt x="85639" y="13865"/>
                </a:lnTo>
                <a:lnTo>
                  <a:pt x="126184" y="1643"/>
                </a:lnTo>
                <a:lnTo>
                  <a:pt x="1148588" y="0"/>
                </a:lnTo>
                <a:lnTo>
                  <a:pt x="1640839" y="0"/>
                </a:lnTo>
                <a:lnTo>
                  <a:pt x="1820672" y="0"/>
                </a:lnTo>
                <a:lnTo>
                  <a:pt x="1835367" y="719"/>
                </a:lnTo>
                <a:lnTo>
                  <a:pt x="1876732" y="10961"/>
                </a:lnTo>
                <a:lnTo>
                  <a:pt x="1912590" y="31909"/>
                </a:lnTo>
                <a:lnTo>
                  <a:pt x="1941109" y="61731"/>
                </a:lnTo>
                <a:lnTo>
                  <a:pt x="1960461" y="98597"/>
                </a:lnTo>
                <a:lnTo>
                  <a:pt x="1968813" y="140676"/>
                </a:lnTo>
                <a:lnTo>
                  <a:pt x="1969008" y="519175"/>
                </a:lnTo>
                <a:lnTo>
                  <a:pt x="1969008" y="741680"/>
                </a:lnTo>
                <a:lnTo>
                  <a:pt x="1968288" y="756375"/>
                </a:lnTo>
                <a:lnTo>
                  <a:pt x="1966177" y="770662"/>
                </a:lnTo>
                <a:lnTo>
                  <a:pt x="1952162" y="810395"/>
                </a:lnTo>
                <a:lnTo>
                  <a:pt x="1928053" y="844010"/>
                </a:lnTo>
                <a:lnTo>
                  <a:pt x="1895679" y="869677"/>
                </a:lnTo>
                <a:lnTo>
                  <a:pt x="1856872" y="885565"/>
                </a:lnTo>
                <a:lnTo>
                  <a:pt x="1640839" y="890016"/>
                </a:lnTo>
                <a:lnTo>
                  <a:pt x="1686052" y="1257427"/>
                </a:lnTo>
                <a:lnTo>
                  <a:pt x="1148588" y="890016"/>
                </a:lnTo>
                <a:lnTo>
                  <a:pt x="148336" y="890016"/>
                </a:lnTo>
                <a:lnTo>
                  <a:pt x="133640" y="889296"/>
                </a:lnTo>
                <a:lnTo>
                  <a:pt x="92275" y="879054"/>
                </a:lnTo>
                <a:lnTo>
                  <a:pt x="56417" y="858106"/>
                </a:lnTo>
                <a:lnTo>
                  <a:pt x="27898" y="828284"/>
                </a:lnTo>
                <a:lnTo>
                  <a:pt x="8546" y="791418"/>
                </a:lnTo>
                <a:lnTo>
                  <a:pt x="194" y="749339"/>
                </a:lnTo>
                <a:lnTo>
                  <a:pt x="0" y="741680"/>
                </a:lnTo>
                <a:lnTo>
                  <a:pt x="0" y="519175"/>
                </a:lnTo>
                <a:lnTo>
                  <a:pt x="0" y="14833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15182" y="2932493"/>
            <a:ext cx="1557020" cy="675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 marR="5080" indent="-154305">
              <a:lnSpc>
                <a:spcPts val="2710"/>
              </a:lnSpc>
            </a:pPr>
            <a:r>
              <a:rPr sz="2400" b="1" dirty="0">
                <a:latin typeface="宋体"/>
                <a:cs typeface="宋体"/>
              </a:rPr>
              <a:t>真正的有效 按键时间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41357" y="2507742"/>
            <a:ext cx="2710180" cy="3857625"/>
          </a:xfrm>
          <a:prstGeom prst="rect">
            <a:avLst/>
          </a:prstGeom>
          <a:ln w="38100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2555" marR="128905">
              <a:lnSpc>
                <a:spcPct val="150000"/>
              </a:lnSpc>
            </a:pPr>
            <a:r>
              <a:rPr sz="2000" b="1" i="1" dirty="0">
                <a:latin typeface="微软雅黑"/>
                <a:cs typeface="微软雅黑"/>
              </a:rPr>
              <a:t>按键的抖动会导致一 次按键动作被当成多 次按键，为确保</a:t>
            </a:r>
            <a:r>
              <a:rPr sz="2000" b="1" spc="-5" dirty="0">
                <a:latin typeface="微软雅黑"/>
                <a:cs typeface="微软雅黑"/>
              </a:rPr>
              <a:t>MCU </a:t>
            </a:r>
            <a:r>
              <a:rPr sz="2000" b="1" i="1" dirty="0">
                <a:latin typeface="微软雅黑"/>
                <a:cs typeface="微软雅黑"/>
              </a:rPr>
              <a:t>对按键的一次闭合仅 作一次处理，必须消 除按键的抖动，在按 键处于稳定状态时读 取按键的状态。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3347" y="2003287"/>
            <a:ext cx="398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252525"/>
                </a:solidFill>
                <a:latin typeface="微软雅黑"/>
                <a:cs typeface="微软雅黑"/>
              </a:rPr>
              <a:t>整个按键周期零点几秒到几秒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66037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2745">
              <a:lnSpc>
                <a:spcPct val="100000"/>
              </a:lnSpc>
            </a:pPr>
            <a:r>
              <a:rPr dirty="0"/>
              <a:t>按键消抖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12873" y="389881"/>
            <a:ext cx="6153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252525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IO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27988" y="2365248"/>
            <a:ext cx="3867912" cy="39761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82239" y="1706879"/>
            <a:ext cx="1407160" cy="46228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硬件消抖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9427" y="2571485"/>
            <a:ext cx="5669915" cy="1428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 algn="just">
              <a:lnSpc>
                <a:spcPct val="150000"/>
              </a:lnSpc>
            </a:pPr>
            <a:r>
              <a:rPr sz="2400" b="1" i="1" dirty="0">
                <a:latin typeface="微软雅黑"/>
                <a:cs typeface="微软雅黑"/>
              </a:rPr>
              <a:t>① </a:t>
            </a:r>
            <a:r>
              <a:rPr sz="2400" b="1" i="1" spc="-235" dirty="0">
                <a:latin typeface="微软雅黑"/>
                <a:cs typeface="微软雅黑"/>
              </a:rPr>
              <a:t> </a:t>
            </a:r>
            <a:r>
              <a:rPr sz="2400" b="1" i="1" dirty="0">
                <a:latin typeface="微软雅黑"/>
                <a:cs typeface="微软雅黑"/>
              </a:rPr>
              <a:t>检测出按键闭合后执行延时程序，延时 时间</a:t>
            </a:r>
            <a:r>
              <a:rPr sz="2400" b="1" i="1" spc="-5" dirty="0">
                <a:latin typeface="微软雅黑"/>
                <a:cs typeface="微软雅黑"/>
              </a:rPr>
              <a:t>为</a:t>
            </a:r>
            <a:r>
              <a:rPr sz="2400" b="1" spc="-10" dirty="0">
                <a:latin typeface="微软雅黑"/>
                <a:cs typeface="微软雅黑"/>
              </a:rPr>
              <a:t>5m</a:t>
            </a:r>
            <a:r>
              <a:rPr sz="2400" b="1" spc="-5" dirty="0">
                <a:latin typeface="微软雅黑"/>
                <a:cs typeface="微软雅黑"/>
              </a:rPr>
              <a:t>s</a:t>
            </a:r>
            <a:r>
              <a:rPr sz="2400" b="1" i="1" dirty="0">
                <a:latin typeface="微软雅黑"/>
                <a:cs typeface="微软雅黑"/>
              </a:rPr>
              <a:t>～</a:t>
            </a:r>
            <a:r>
              <a:rPr sz="2400" b="1" spc="-10" dirty="0">
                <a:latin typeface="微软雅黑"/>
                <a:cs typeface="微软雅黑"/>
              </a:rPr>
              <a:t>10m</a:t>
            </a:r>
            <a:r>
              <a:rPr sz="2400" b="1" dirty="0">
                <a:latin typeface="微软雅黑"/>
                <a:cs typeface="微软雅黑"/>
              </a:rPr>
              <a:t>s</a:t>
            </a:r>
            <a:r>
              <a:rPr sz="2400" b="1" i="1" dirty="0">
                <a:latin typeface="微软雅黑"/>
                <a:cs typeface="微软雅黑"/>
              </a:rPr>
              <a:t>，用于去掉前沿抖 动；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29427" y="4217659"/>
            <a:ext cx="597471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2400" b="1" i="1" dirty="0">
                <a:latin typeface="微软雅黑"/>
                <a:cs typeface="微软雅黑"/>
              </a:rPr>
              <a:t>②	再次检测按键状态，如果保持闭合状态，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29427" y="4766054"/>
            <a:ext cx="5669915" cy="1428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sz="2400" b="1" i="1" dirty="0">
                <a:latin typeface="微软雅黑"/>
                <a:cs typeface="微软雅黑"/>
              </a:rPr>
              <a:t>才认为按下，并执行相应的按键任务；</a:t>
            </a:r>
            <a:endParaRPr sz="2400">
              <a:latin typeface="微软雅黑"/>
              <a:cs typeface="微软雅黑"/>
            </a:endParaRPr>
          </a:p>
          <a:p>
            <a:pPr marL="469900" marR="5080" indent="-457200">
              <a:lnSpc>
                <a:spcPct val="150000"/>
              </a:lnSpc>
              <a:tabLst>
                <a:tab pos="469265" algn="l"/>
              </a:tabLst>
            </a:pPr>
            <a:r>
              <a:rPr sz="2400" b="1" i="1" dirty="0">
                <a:latin typeface="微软雅黑"/>
                <a:cs typeface="微软雅黑"/>
              </a:rPr>
              <a:t>③	按键的释放可以采用延时或者循环检测 的方式去掉后沿抖动；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50123" y="1706879"/>
            <a:ext cx="1407160" cy="46228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微软雅黑"/>
                <a:cs typeface="微软雅黑"/>
              </a:rPr>
              <a:t>软件消抖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5053" y="2693670"/>
            <a:ext cx="2161540" cy="986155"/>
          </a:xfrm>
          <a:custGeom>
            <a:avLst/>
            <a:gdLst/>
            <a:ahLst/>
            <a:cxnLst/>
            <a:rect l="l" t="t" r="r" b="b"/>
            <a:pathLst>
              <a:path w="2161540" h="986154">
                <a:moveTo>
                  <a:pt x="1996948" y="0"/>
                </a:moveTo>
                <a:lnTo>
                  <a:pt x="160051" y="48"/>
                </a:lnTo>
                <a:lnTo>
                  <a:pt x="117358" y="6738"/>
                </a:lnTo>
                <a:lnTo>
                  <a:pt x="79084" y="23675"/>
                </a:lnTo>
                <a:lnTo>
                  <a:pt x="46721" y="49369"/>
                </a:lnTo>
                <a:lnTo>
                  <a:pt x="21758" y="82329"/>
                </a:lnTo>
                <a:lnTo>
                  <a:pt x="5688" y="121064"/>
                </a:lnTo>
                <a:lnTo>
                  <a:pt x="0" y="164083"/>
                </a:lnTo>
                <a:lnTo>
                  <a:pt x="48" y="824452"/>
                </a:lnTo>
                <a:lnTo>
                  <a:pt x="6738" y="867145"/>
                </a:lnTo>
                <a:lnTo>
                  <a:pt x="23675" y="905419"/>
                </a:lnTo>
                <a:lnTo>
                  <a:pt x="49369" y="937782"/>
                </a:lnTo>
                <a:lnTo>
                  <a:pt x="82329" y="962745"/>
                </a:lnTo>
                <a:lnTo>
                  <a:pt x="121064" y="978815"/>
                </a:lnTo>
                <a:lnTo>
                  <a:pt x="164084" y="984503"/>
                </a:lnTo>
                <a:lnTo>
                  <a:pt x="696722" y="985773"/>
                </a:lnTo>
                <a:lnTo>
                  <a:pt x="2000980" y="984455"/>
                </a:lnTo>
                <a:lnTo>
                  <a:pt x="2043673" y="977765"/>
                </a:lnTo>
                <a:lnTo>
                  <a:pt x="2081947" y="960828"/>
                </a:lnTo>
                <a:lnTo>
                  <a:pt x="2114310" y="935134"/>
                </a:lnTo>
                <a:lnTo>
                  <a:pt x="2139273" y="902174"/>
                </a:lnTo>
                <a:lnTo>
                  <a:pt x="2155343" y="863439"/>
                </a:lnTo>
                <a:lnTo>
                  <a:pt x="2161032" y="820419"/>
                </a:lnTo>
                <a:lnTo>
                  <a:pt x="2160983" y="160051"/>
                </a:lnTo>
                <a:lnTo>
                  <a:pt x="2154293" y="117358"/>
                </a:lnTo>
                <a:lnTo>
                  <a:pt x="2137356" y="79084"/>
                </a:lnTo>
                <a:lnTo>
                  <a:pt x="2111662" y="46721"/>
                </a:lnTo>
                <a:lnTo>
                  <a:pt x="2078702" y="21758"/>
                </a:lnTo>
                <a:lnTo>
                  <a:pt x="2039967" y="5688"/>
                </a:lnTo>
                <a:lnTo>
                  <a:pt x="199694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75053" y="2693670"/>
            <a:ext cx="2161540" cy="986155"/>
          </a:xfrm>
          <a:custGeom>
            <a:avLst/>
            <a:gdLst/>
            <a:ahLst/>
            <a:cxnLst/>
            <a:rect l="l" t="t" r="r" b="b"/>
            <a:pathLst>
              <a:path w="2161540" h="986154">
                <a:moveTo>
                  <a:pt x="0" y="164083"/>
                </a:moveTo>
                <a:lnTo>
                  <a:pt x="5688" y="121064"/>
                </a:lnTo>
                <a:lnTo>
                  <a:pt x="21758" y="82329"/>
                </a:lnTo>
                <a:lnTo>
                  <a:pt x="46721" y="49369"/>
                </a:lnTo>
                <a:lnTo>
                  <a:pt x="79084" y="23675"/>
                </a:lnTo>
                <a:lnTo>
                  <a:pt x="117358" y="6738"/>
                </a:lnTo>
                <a:lnTo>
                  <a:pt x="160051" y="48"/>
                </a:lnTo>
                <a:lnTo>
                  <a:pt x="360172" y="0"/>
                </a:lnTo>
                <a:lnTo>
                  <a:pt x="900429" y="0"/>
                </a:lnTo>
                <a:lnTo>
                  <a:pt x="1996948" y="0"/>
                </a:lnTo>
                <a:lnTo>
                  <a:pt x="2011671" y="650"/>
                </a:lnTo>
                <a:lnTo>
                  <a:pt x="2053429" y="9965"/>
                </a:lnTo>
                <a:lnTo>
                  <a:pt x="2090404" y="29165"/>
                </a:lnTo>
                <a:lnTo>
                  <a:pt x="2121108" y="56760"/>
                </a:lnTo>
                <a:lnTo>
                  <a:pt x="2144048" y="91259"/>
                </a:lnTo>
                <a:lnTo>
                  <a:pt x="2157735" y="131171"/>
                </a:lnTo>
                <a:lnTo>
                  <a:pt x="2161032" y="574293"/>
                </a:lnTo>
                <a:lnTo>
                  <a:pt x="2161032" y="820419"/>
                </a:lnTo>
                <a:lnTo>
                  <a:pt x="2160381" y="835143"/>
                </a:lnTo>
                <a:lnTo>
                  <a:pt x="2158467" y="849502"/>
                </a:lnTo>
                <a:lnTo>
                  <a:pt x="2145691" y="889831"/>
                </a:lnTo>
                <a:lnTo>
                  <a:pt x="2123527" y="924881"/>
                </a:lnTo>
                <a:lnTo>
                  <a:pt x="2093465" y="953163"/>
                </a:lnTo>
                <a:lnTo>
                  <a:pt x="2056996" y="973185"/>
                </a:lnTo>
                <a:lnTo>
                  <a:pt x="2015610" y="983456"/>
                </a:lnTo>
                <a:lnTo>
                  <a:pt x="900429" y="984503"/>
                </a:lnTo>
                <a:lnTo>
                  <a:pt x="696722" y="985773"/>
                </a:lnTo>
                <a:lnTo>
                  <a:pt x="360172" y="984503"/>
                </a:lnTo>
                <a:lnTo>
                  <a:pt x="164084" y="984503"/>
                </a:lnTo>
                <a:lnTo>
                  <a:pt x="149360" y="983853"/>
                </a:lnTo>
                <a:lnTo>
                  <a:pt x="107602" y="974538"/>
                </a:lnTo>
                <a:lnTo>
                  <a:pt x="70627" y="955338"/>
                </a:lnTo>
                <a:lnTo>
                  <a:pt x="39923" y="927743"/>
                </a:lnTo>
                <a:lnTo>
                  <a:pt x="16983" y="893244"/>
                </a:lnTo>
                <a:lnTo>
                  <a:pt x="3296" y="853332"/>
                </a:lnTo>
                <a:lnTo>
                  <a:pt x="0" y="820419"/>
                </a:lnTo>
                <a:lnTo>
                  <a:pt x="0" y="574293"/>
                </a:lnTo>
                <a:lnTo>
                  <a:pt x="0" y="164083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13510" y="2350770"/>
            <a:ext cx="3896995" cy="4005579"/>
          </a:xfrm>
          <a:prstGeom prst="rect">
            <a:avLst/>
          </a:prstGeom>
          <a:ln w="28956">
            <a:solidFill>
              <a:srgbClr val="5B9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2735">
              <a:lnSpc>
                <a:spcPct val="100000"/>
              </a:lnSpc>
            </a:pPr>
            <a:r>
              <a:rPr sz="2400" b="1" spc="-5" dirty="0">
                <a:latin typeface="宋体"/>
                <a:cs typeface="宋体"/>
              </a:rPr>
              <a:t>利用</a:t>
            </a:r>
            <a:r>
              <a:rPr sz="2400" b="1" spc="-5" dirty="0">
                <a:latin typeface="Consolas"/>
                <a:cs typeface="Consolas"/>
              </a:rPr>
              <a:t>RC</a:t>
            </a:r>
            <a:r>
              <a:rPr sz="2400" b="1" spc="-5" dirty="0">
                <a:latin typeface="宋体"/>
                <a:cs typeface="宋体"/>
              </a:rPr>
              <a:t>低通滤</a:t>
            </a:r>
            <a:endParaRPr sz="2400">
              <a:latin typeface="宋体"/>
              <a:cs typeface="宋体"/>
            </a:endParaRPr>
          </a:p>
          <a:p>
            <a:pPr marL="306705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波器滤掉抖动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2898" y="1180267"/>
            <a:ext cx="286639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微软雅黑"/>
                <a:cs typeface="微软雅黑"/>
              </a:rPr>
              <a:t>两种按键消抖方法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96534" y="2366010"/>
            <a:ext cx="5966460" cy="3976370"/>
          </a:xfrm>
          <a:custGeom>
            <a:avLst/>
            <a:gdLst/>
            <a:ahLst/>
            <a:cxnLst/>
            <a:rect l="l" t="t" r="r" b="b"/>
            <a:pathLst>
              <a:path w="5966459" h="3976370">
                <a:moveTo>
                  <a:pt x="0" y="3976116"/>
                </a:moveTo>
                <a:lnTo>
                  <a:pt x="5966460" y="3976116"/>
                </a:lnTo>
                <a:lnTo>
                  <a:pt x="5966460" y="0"/>
                </a:lnTo>
                <a:lnTo>
                  <a:pt x="0" y="0"/>
                </a:lnTo>
                <a:lnTo>
                  <a:pt x="0" y="3976116"/>
                </a:lnTo>
                <a:close/>
              </a:path>
            </a:pathLst>
          </a:custGeom>
          <a:ln w="38100">
            <a:solidFill>
              <a:srgbClr val="E34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96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649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目标：</a:t>
            </a:r>
            <a:endParaRPr lang="en-US" altLang="zh-CN" sz="2800" b="1" dirty="0" smtClean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理解单片机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GPIO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两种主要的输出类型，初步掌握使用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STM32CubeIDE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开发单片机应用程序的方法，掌握通过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下载程序并通过实物验证的方法。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  电路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如图所示，要求通过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单片机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PC0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引脚控制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LED0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秒周期闪烁。</a:t>
            </a:r>
            <a:endParaRPr lang="zh-CN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900" y="3215186"/>
            <a:ext cx="5753100" cy="29108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00968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988e8ccc-391b-4dc5-9786-0288a8db3a18}"/>
</p:tagLst>
</file>

<file path=ppt/theme/theme1.xml><?xml version="1.0" encoding="utf-8"?>
<a:theme xmlns:a="http://schemas.openxmlformats.org/drawingml/2006/main" name="Office 主题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80CB"/>
      </a:accent1>
      <a:accent2>
        <a:srgbClr val="0080CB"/>
      </a:accent2>
      <a:accent3>
        <a:srgbClr val="0BD0D9"/>
      </a:accent3>
      <a:accent4>
        <a:srgbClr val="C9C9C9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1710</Words>
  <Application>Microsoft Office PowerPoint</Application>
  <PresentationFormat>宽屏</PresentationFormat>
  <Paragraphs>358</Paragraphs>
  <Slides>45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黑体</vt:lpstr>
      <vt:lpstr>华文新魏</vt:lpstr>
      <vt:lpstr>宋体</vt:lpstr>
      <vt:lpstr>微软雅黑</vt:lpstr>
      <vt:lpstr>微软雅黑 Light</vt:lpstr>
      <vt:lpstr>Arial</vt:lpstr>
      <vt:lpstr>Calibri</vt:lpstr>
      <vt:lpstr>Consolas</vt:lpstr>
      <vt:lpstr>Times New Roman</vt:lpstr>
      <vt:lpstr>Verdana</vt:lpstr>
      <vt:lpstr>Wingdings</vt:lpstr>
      <vt:lpstr>Wingdings 2</vt:lpstr>
      <vt:lpstr>Office 主题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1.2.1 端口配置低寄存器(GPIOx_CRL)</vt:lpstr>
      <vt:lpstr>1.2.1 端口配置低寄存器(GPIOx_CRL)</vt:lpstr>
      <vt:lpstr>1.2.2 端口配置高寄存器(GPIOx_CRH)</vt:lpstr>
      <vt:lpstr>1.2.3 端口输入数据寄存器(GPIOx_IDR)</vt:lpstr>
      <vt:lpstr>1.2.4 端口输出数据寄存器(GPIOx_ODR)</vt:lpstr>
      <vt:lpstr>1.2.4 端口输出数据寄存器(GPIOx_ODR)</vt:lpstr>
      <vt:lpstr>1.2.5 端口位设置/清除寄存器(GPIOx_BSRR)</vt:lpstr>
      <vt:lpstr>1.2.6 端口位清除寄存器(GPIOx_BRR)</vt:lpstr>
      <vt:lpstr>PowerPoint 演示文稿</vt:lpstr>
      <vt:lpstr>PowerPoint 演示文稿</vt:lpstr>
      <vt:lpstr>PowerPoint 演示文稿</vt:lpstr>
      <vt:lpstr>PowerPoint 演示文稿</vt:lpstr>
      <vt:lpstr>引脚初始化</vt:lpstr>
      <vt:lpstr>成员变量Pin的取值范围</vt:lpstr>
      <vt:lpstr>工作模式</vt:lpstr>
      <vt:lpstr>上拉/下拉电阻</vt:lpstr>
      <vt:lpstr>引脚速度</vt:lpstr>
      <vt:lpstr>引脚电平状态</vt:lpstr>
      <vt:lpstr>引脚电平状态</vt:lpstr>
      <vt:lpstr>PowerPoint 演示文稿</vt:lpstr>
      <vt:lpstr>PowerPoint 演示文稿</vt:lpstr>
      <vt:lpstr>基于库函数的程序开发方式的特点</vt:lpstr>
      <vt:lpstr>HAL库中GPIO模块的使用步骤</vt:lpstr>
      <vt:lpstr>按键波形</vt:lpstr>
      <vt:lpstr>按键消抖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bfchen</cp:lastModifiedBy>
  <cp:revision>246</cp:revision>
  <dcterms:created xsi:type="dcterms:W3CDTF">2015-10-07T04:43:00Z</dcterms:created>
  <dcterms:modified xsi:type="dcterms:W3CDTF">2021-12-05T09:49:37Z</dcterms:modified>
  <cp:category>亮亮图文旗舰店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7285306267C7443EA487EBCA572B88A6</vt:lpwstr>
  </property>
</Properties>
</file>