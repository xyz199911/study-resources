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324" r:id="rId2"/>
    <p:sldId id="325" r:id="rId3"/>
    <p:sldId id="344" r:id="rId4"/>
    <p:sldId id="348" r:id="rId5"/>
    <p:sldId id="345" r:id="rId6"/>
    <p:sldId id="346" r:id="rId7"/>
    <p:sldId id="347" r:id="rId8"/>
    <p:sldId id="330" r:id="rId9"/>
  </p:sldIdLst>
  <p:sldSz cx="12192000" cy="6858000"/>
  <p:notesSz cx="6858000" cy="9144000"/>
  <p:custDataLst>
    <p:tags r:id="rId11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 Light" panose="020B0502040204020203" pitchFamily="34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 Light" panose="020B0502040204020203" pitchFamily="34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 Light" panose="020B0502040204020203" pitchFamily="34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 Light" panose="020B0502040204020203" pitchFamily="34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 Light" panose="020B0502040204020203" pitchFamily="34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 Light" panose="020B0502040204020203" pitchFamily="34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 Light" panose="020B0502040204020203" pitchFamily="34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 Light" panose="020B0502040204020203" pitchFamily="34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微软雅黑 Light" panose="020B0502040204020203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2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3CB1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/>
    <p:restoredTop sz="89074"/>
  </p:normalViewPr>
  <p:slideViewPr>
    <p:cSldViewPr snapToGrid="0">
      <p:cViewPr varScale="1">
        <p:scale>
          <a:sx n="76" d="100"/>
          <a:sy n="76" d="100"/>
        </p:scale>
        <p:origin x="312" y="84"/>
      </p:cViewPr>
      <p:guideLst>
        <p:guide orient="horz" pos="2132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6656F9-9585-4187-A8F5-014ED015095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51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2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3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873828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4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57532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5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744556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6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07024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7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871482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8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01D03D8-F7CE-4A92-B791-1A55E7B8B12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01D03D8-F7CE-4A92-B791-1A55E7B8B12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019175"/>
            <a:ext cx="12192000" cy="2686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12420" y="1839595"/>
            <a:ext cx="11614150" cy="1045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ctr" defTabSz="9144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6200" noProof="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黑体" panose="02010609060101010101" charset="-122"/>
                <a:ea typeface="黑体" panose="02010609060101010101" charset="-122"/>
                <a:sym typeface="+mn-ea"/>
              </a:rPr>
              <a:t>  </a:t>
            </a:r>
            <a:r>
              <a:rPr lang="en-US" sz="62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黑体" panose="02010609060101010101" charset="-122"/>
                <a:ea typeface="黑体" panose="02010609060101010101" charset="-122"/>
                <a:sym typeface="+mn-ea"/>
              </a:rPr>
              <a:t>IIC-OLED</a:t>
            </a:r>
            <a:endParaRPr sz="6200" noProof="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pic>
        <p:nvPicPr>
          <p:cNvPr id="6" name="图片 5" descr="cube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2880" y="3316605"/>
            <a:ext cx="2557780" cy="3325495"/>
          </a:xfrm>
          <a:prstGeom prst="rect">
            <a:avLst/>
          </a:prstGeom>
        </p:spPr>
      </p:pic>
      <p:pic>
        <p:nvPicPr>
          <p:cNvPr id="2" name="图片 1" descr="chip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" y="75565"/>
            <a:ext cx="1724025" cy="1552575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985" y="336550"/>
            <a:ext cx="11669395" cy="2921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OLED</a:t>
            </a: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OLED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显示其实说白了就是对于像素点的点亮和熄灭进行操作。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OLED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口的产品分为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引脚的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IIC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接口的和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引脚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SPI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接口的，主要讲解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引脚的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OLED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0.96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寸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OLED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屏幕口，规格为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128X64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，即在横向上有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128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个像素点，竖向上有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64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个像素点，向外部引出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个引脚，分别是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VCC(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电源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GND(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底线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SCL(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时钟线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SDA(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信号线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</p:txBody>
      </p:sp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9" name="Picture 17" descr="https://i-blog.csdnimg.cn/blog_migrate/d148666d88d6f72d528f7094309733c1.png">
            <a:extLst>
              <a:ext uri="{FF2B5EF4-FFF2-40B4-BE49-F238E27FC236}">
                <a16:creationId xmlns:a16="http://schemas.microsoft.com/office/drawing/2014/main" id="{C625B15A-F16E-47C3-9B50-A9B6214642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3813" y="3435874"/>
            <a:ext cx="7866897" cy="2596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0B3195E-0B58-4269-A291-774ED98A3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191" y="438150"/>
            <a:ext cx="11875617" cy="5981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556980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1302" y="704850"/>
            <a:ext cx="11669395" cy="14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IIC</a:t>
            </a:r>
          </a:p>
          <a:p>
            <a:pPr>
              <a:lnSpc>
                <a:spcPct val="13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起始信号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(SDA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低电平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):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当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SDA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线从高电平跳变到低电平时，表示一个数据传输的开始</a:t>
            </a:r>
          </a:p>
          <a:p>
            <a:pPr>
              <a:lnSpc>
                <a:spcPct val="130000"/>
              </a:lnSpc>
            </a:pP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https://i-blog.csdnimg.cn/blog_migrate/428ae9d0f8bffe6405efcbcbb2ba1919.png">
            <a:extLst>
              <a:ext uri="{FF2B5EF4-FFF2-40B4-BE49-F238E27FC236}">
                <a16:creationId xmlns:a16="http://schemas.microsoft.com/office/drawing/2014/main" id="{41E00541-D15F-4C5F-8CF2-0E6EC1C1B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5628" y="2281237"/>
            <a:ext cx="4848225" cy="298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8185288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985" y="336550"/>
            <a:ext cx="11669395" cy="14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IIC</a:t>
            </a:r>
          </a:p>
          <a:p>
            <a:pPr>
              <a:lnSpc>
                <a:spcPct val="130000"/>
              </a:lnSpc>
            </a:pPr>
            <a:r>
              <a:rPr lang="zh-CN" altLang="en-US" sz="2400" dirty="0"/>
              <a:t>停止信号</a:t>
            </a:r>
            <a:r>
              <a:rPr lang="en-US" altLang="zh-CN" sz="2400" dirty="0"/>
              <a:t>(SDA</a:t>
            </a:r>
            <a:r>
              <a:rPr lang="zh-CN" altLang="en-US" sz="2400" dirty="0"/>
              <a:t>高电平</a:t>
            </a:r>
            <a:r>
              <a:rPr lang="en-US" altLang="zh-CN" sz="2400" dirty="0"/>
              <a:t>):</a:t>
            </a:r>
            <a:r>
              <a:rPr lang="zh-CN" altLang="en-US" sz="2400" dirty="0"/>
              <a:t>当</a:t>
            </a:r>
            <a:r>
              <a:rPr lang="en-US" altLang="zh-CN" sz="2400" dirty="0"/>
              <a:t>SDA</a:t>
            </a:r>
            <a:r>
              <a:rPr lang="zh-CN" altLang="en-US" sz="2400" dirty="0"/>
              <a:t>线从低电平跳变到高电平时，表示一个数据传输的结束</a:t>
            </a:r>
          </a:p>
          <a:p>
            <a:pPr>
              <a:lnSpc>
                <a:spcPct val="130000"/>
              </a:lnSpc>
            </a:pP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https://i-blog.csdnimg.cn/blog_migrate/e6212618096ad926d0c8978187d91a4c.png">
            <a:extLst>
              <a:ext uri="{FF2B5EF4-FFF2-40B4-BE49-F238E27FC236}">
                <a16:creationId xmlns:a16="http://schemas.microsoft.com/office/drawing/2014/main" id="{D462E18F-0D9E-46DC-913C-1939DEFC66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6425" y="2587496"/>
            <a:ext cx="4400550" cy="242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4097691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985" y="336550"/>
            <a:ext cx="11669395" cy="244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IIC</a:t>
            </a:r>
          </a:p>
          <a:p>
            <a:pPr>
              <a:lnSpc>
                <a:spcPct val="130000"/>
              </a:lnSpc>
            </a:pPr>
            <a:r>
              <a:rPr lang="zh-CN" altLang="en-US" sz="2400" dirty="0"/>
              <a:t>数据传输</a:t>
            </a:r>
            <a:r>
              <a:rPr lang="en-US" altLang="zh-CN" sz="2400" dirty="0"/>
              <a:t>:</a:t>
            </a:r>
            <a:r>
              <a:rPr lang="zh-CN" altLang="en-US" sz="2400" dirty="0"/>
              <a:t>在</a:t>
            </a:r>
            <a:r>
              <a:rPr lang="en-US" altLang="zh-CN" sz="2400" dirty="0" err="1"/>
              <a:t>llC</a:t>
            </a:r>
            <a:r>
              <a:rPr lang="zh-CN" altLang="en-US" sz="2400" dirty="0"/>
              <a:t>通信中，数据传输是通过</a:t>
            </a:r>
            <a:r>
              <a:rPr lang="en-US" altLang="zh-CN" sz="2400" dirty="0"/>
              <a:t>SDA</a:t>
            </a:r>
            <a:r>
              <a:rPr lang="zh-CN" altLang="en-US" sz="2400" dirty="0"/>
              <a:t>线上的高低电平变化来实现的。数据传输时，发送方将数据位放在</a:t>
            </a:r>
            <a:r>
              <a:rPr lang="en-US" altLang="zh-CN" sz="2400" dirty="0"/>
              <a:t>SDA</a:t>
            </a:r>
            <a:r>
              <a:rPr lang="zh-CN" altLang="en-US" sz="2400" dirty="0"/>
              <a:t>线上，然后通过</a:t>
            </a:r>
            <a:r>
              <a:rPr lang="en-US" altLang="zh-CN" sz="2400" dirty="0"/>
              <a:t>SCL</a:t>
            </a:r>
            <a:r>
              <a:rPr lang="zh-CN" altLang="en-US" sz="2400" dirty="0"/>
              <a:t>线上的时钟信号将数据位发送给接收方。接收方通过检测</a:t>
            </a:r>
            <a:r>
              <a:rPr lang="en-US" altLang="zh-CN" sz="2400" dirty="0"/>
              <a:t>SDA</a:t>
            </a:r>
            <a:r>
              <a:rPr lang="zh-CN" altLang="en-US" sz="2400" dirty="0"/>
              <a:t>线上的电平变化来接收数据。</a:t>
            </a:r>
          </a:p>
          <a:p>
            <a:pPr>
              <a:lnSpc>
                <a:spcPct val="130000"/>
              </a:lnSpc>
            </a:pP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https://i-blog.csdnimg.cn/blog_migrate/183d39b8551eb4df11dbf394332b7d95.jpeg">
            <a:extLst>
              <a:ext uri="{FF2B5EF4-FFF2-40B4-BE49-F238E27FC236}">
                <a16:creationId xmlns:a16="http://schemas.microsoft.com/office/drawing/2014/main" id="{F388B02C-DDC9-44C5-BE0A-DC0C5B9CAF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7638" y="2781643"/>
            <a:ext cx="8803260" cy="2462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4745451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0985" y="336550"/>
            <a:ext cx="11669395" cy="3220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IIC</a:t>
            </a:r>
          </a:p>
          <a:p>
            <a:r>
              <a:rPr lang="zh-CN" altLang="en-US" sz="2400" dirty="0"/>
              <a:t>应答信号</a:t>
            </a:r>
            <a:r>
              <a:rPr lang="en-US" altLang="zh-CN" sz="2400" dirty="0"/>
              <a:t>(ACK):</a:t>
            </a:r>
            <a:r>
              <a:rPr lang="zh-CN" altLang="en-US" sz="2400" dirty="0"/>
              <a:t>在数据传输过程中，接收方需要在接收到每个数据位后发送一个应答信号</a:t>
            </a:r>
            <a:r>
              <a:rPr lang="en-US" altLang="zh-CN" sz="2400" dirty="0"/>
              <a:t>(ACK)</a:t>
            </a:r>
            <a:r>
              <a:rPr lang="zh-CN" altLang="en-US" sz="2400" dirty="0"/>
              <a:t>，表示数据已被正确接收。应答信号是一个低电平，在</a:t>
            </a:r>
            <a:r>
              <a:rPr lang="en-US" altLang="zh-CN" sz="2400" dirty="0"/>
              <a:t>SDA</a:t>
            </a:r>
            <a:r>
              <a:rPr lang="zh-CN" altLang="en-US" sz="2400" dirty="0"/>
              <a:t>线上持续一段时间，然后恢复高电平。</a:t>
            </a:r>
            <a:endParaRPr lang="en-US" altLang="zh-CN" sz="2400" dirty="0"/>
          </a:p>
          <a:p>
            <a:r>
              <a:rPr lang="zh-CN" altLang="en-US" sz="2400" dirty="0"/>
              <a:t>非应答信号</a:t>
            </a:r>
            <a:r>
              <a:rPr lang="en-US" altLang="zh-CN" sz="2400" dirty="0"/>
              <a:t>(NACK):</a:t>
            </a:r>
            <a:r>
              <a:rPr lang="zh-CN" altLang="en-US" sz="2400" dirty="0"/>
              <a:t>在数据传输过程中，如果接收方无法正确接收数据，会发送一个非应答信号</a:t>
            </a:r>
            <a:r>
              <a:rPr lang="en-US" altLang="zh-CN" sz="2400" dirty="0"/>
              <a:t>(NACK)</a:t>
            </a:r>
            <a:r>
              <a:rPr lang="zh-CN" altLang="en-US" sz="2400" dirty="0"/>
              <a:t>，表示数据未被正确接收。非应答信号是一个高电平，在</a:t>
            </a:r>
            <a:r>
              <a:rPr lang="en-US" altLang="zh-CN" sz="2400" dirty="0"/>
              <a:t>SDA</a:t>
            </a:r>
            <a:r>
              <a:rPr lang="zh-CN" altLang="en-US" sz="2400" dirty="0"/>
              <a:t>线上持续一段时间，然后恢复低电平。</a:t>
            </a:r>
          </a:p>
          <a:p>
            <a:pPr>
              <a:lnSpc>
                <a:spcPct val="130000"/>
              </a:lnSpc>
            </a:pP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 descr="https://i-blog.csdnimg.cn/blog_migrate/9030ad51cd0be63bea824df1e74f2306.png">
            <a:extLst>
              <a:ext uri="{FF2B5EF4-FFF2-40B4-BE49-F238E27FC236}">
                <a16:creationId xmlns:a16="http://schemas.microsoft.com/office/drawing/2014/main" id="{6501D30C-0755-489D-9D86-328D2FD23C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657" y="3477669"/>
            <a:ext cx="9544050" cy="3152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9276555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1302" y="1403350"/>
            <a:ext cx="11669395" cy="1481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IlC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通信的时钟信号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(SCL)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是由发送方产生的，通常频率为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10KHz~100KHz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IlC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通信的波特率由时钟信号的频率决定。</a:t>
            </a:r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lIC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通信的优点是简单、易于实现，缺点是速度较慢，通常用于低速度外设的通信。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26" name="Picture 2" descr="E:\教学\课程改革\单片机2019\pic\蝴蝶GIF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2092" y="5857875"/>
            <a:ext cx="916598" cy="91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OC_GUID" val="{0c78e80a-2d6b-4de1-a306-8b402359c32a}"/>
</p:tagLst>
</file>

<file path=ppt/theme/theme1.xml><?xml version="1.0" encoding="utf-8"?>
<a:theme xmlns:a="http://schemas.openxmlformats.org/drawingml/2006/main" name="Office 主题">
  <a:themeElements>
    <a:clrScheme name="碧海蓝天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080CB"/>
      </a:accent1>
      <a:accent2>
        <a:srgbClr val="0080CB"/>
      </a:accent2>
      <a:accent3>
        <a:srgbClr val="0BD0D9"/>
      </a:accent3>
      <a:accent4>
        <a:srgbClr val="C9C9C9"/>
      </a:accent4>
      <a:accent5>
        <a:srgbClr val="7CCA62"/>
      </a:accent5>
      <a:accent6>
        <a:srgbClr val="F49100"/>
      </a:accent6>
      <a:hlink>
        <a:srgbClr val="F49100"/>
      </a:hlink>
      <a:folHlink>
        <a:srgbClr val="85DFD0"/>
      </a:folHlink>
    </a:clrScheme>
    <a:fontScheme name="自定义 6">
      <a:majorFont>
        <a:latin typeface="Arial"/>
        <a:ea typeface="微软雅黑 Light"/>
        <a:cs typeface=""/>
      </a:majorFont>
      <a:minorFont>
        <a:latin typeface="Arial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398</Words>
  <Application>Microsoft Office PowerPoint</Application>
  <PresentationFormat>宽屏</PresentationFormat>
  <Paragraphs>22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黑体</vt:lpstr>
      <vt:lpstr>宋体</vt:lpstr>
      <vt:lpstr>微软雅黑 Light</vt:lpstr>
      <vt:lpstr>Arial</vt:lpstr>
      <vt:lpstr>Calibri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>亮亮图文旗舰店</dc:subject>
  <dc:creator/>
  <cp:keywords>更多模版：亮亮图文旗舰店https:/liangliangtuwen.tmall.com</cp:keywords>
  <dc:description>更多模版：亮亮图文旗舰店https://liangliangtuwen.tmall.com</dc:description>
  <cp:lastModifiedBy>Administrator</cp:lastModifiedBy>
  <cp:revision>116</cp:revision>
  <dcterms:created xsi:type="dcterms:W3CDTF">2015-10-07T04:43:00Z</dcterms:created>
  <dcterms:modified xsi:type="dcterms:W3CDTF">2024-12-03T08:07:50Z</dcterms:modified>
  <cp:category>亮亮图文旗舰店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2052-11.1.0.10578</vt:lpwstr>
  </property>
  <property fmtid="{D5CDD505-2E9C-101B-9397-08002B2CF9AE}" pid="3" name="ICV">
    <vt:lpwstr>C5960AD05CB04FA4A33CACA8F165F684</vt:lpwstr>
  </property>
</Properties>
</file>