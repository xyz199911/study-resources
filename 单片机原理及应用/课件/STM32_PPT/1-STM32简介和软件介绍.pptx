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370" r:id="rId2"/>
    <p:sldId id="292" r:id="rId3"/>
    <p:sldId id="314" r:id="rId4"/>
    <p:sldId id="325" r:id="rId5"/>
    <p:sldId id="328" r:id="rId6"/>
    <p:sldId id="326" r:id="rId7"/>
    <p:sldId id="327" r:id="rId8"/>
    <p:sldId id="358" r:id="rId9"/>
    <p:sldId id="359" r:id="rId10"/>
    <p:sldId id="329" r:id="rId11"/>
    <p:sldId id="363" r:id="rId12"/>
    <p:sldId id="364" r:id="rId13"/>
    <p:sldId id="365" r:id="rId14"/>
    <p:sldId id="366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69" r:id="rId24"/>
    <p:sldId id="338" r:id="rId25"/>
    <p:sldId id="339" r:id="rId26"/>
    <p:sldId id="367" r:id="rId27"/>
    <p:sldId id="368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62" r:id="rId40"/>
    <p:sldId id="360" r:id="rId41"/>
    <p:sldId id="361" r:id="rId42"/>
    <p:sldId id="351" r:id="rId43"/>
    <p:sldId id="352" r:id="rId44"/>
    <p:sldId id="353" r:id="rId45"/>
    <p:sldId id="354" r:id="rId46"/>
    <p:sldId id="355" r:id="rId47"/>
    <p:sldId id="356" r:id="rId48"/>
    <p:sldId id="357" r:id="rId49"/>
  </p:sldIdLst>
  <p:sldSz cx="12192000" cy="6858000"/>
  <p:notesSz cx="6858000" cy="9144000"/>
  <p:custDataLst>
    <p:tags r:id="rId5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CB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/>
    <p:restoredTop sz="89074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>
        <p:guide orient="horz" pos="2160"/>
        <p:guide pos="385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656F9-9585-4187-A8F5-014ED01509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3877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512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8393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9563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0273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2181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3570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542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658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22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46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742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5164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2599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995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4839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811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05368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8973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4810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92519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40577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34040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7136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088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34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070847" y="6220967"/>
            <a:ext cx="1013498" cy="6370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477756" y="6565392"/>
            <a:ext cx="288290" cy="292735"/>
          </a:xfrm>
          <a:custGeom>
            <a:avLst/>
            <a:gdLst/>
            <a:ahLst/>
            <a:cxnLst/>
            <a:rect l="l" t="t" r="r" b="b"/>
            <a:pathLst>
              <a:path w="288290" h="292734">
                <a:moveTo>
                  <a:pt x="197358" y="239278"/>
                </a:moveTo>
                <a:lnTo>
                  <a:pt x="90677" y="239278"/>
                </a:lnTo>
                <a:lnTo>
                  <a:pt x="144018" y="292607"/>
                </a:lnTo>
                <a:lnTo>
                  <a:pt x="197358" y="239278"/>
                </a:lnTo>
                <a:close/>
              </a:path>
              <a:path w="288290" h="292734">
                <a:moveTo>
                  <a:pt x="170688" y="216708"/>
                </a:moveTo>
                <a:lnTo>
                  <a:pt x="117348" y="216708"/>
                </a:lnTo>
                <a:lnTo>
                  <a:pt x="117348" y="239278"/>
                </a:lnTo>
                <a:lnTo>
                  <a:pt x="170688" y="239278"/>
                </a:lnTo>
                <a:lnTo>
                  <a:pt x="170688" y="216708"/>
                </a:lnTo>
                <a:close/>
              </a:path>
              <a:path w="288290" h="292734">
                <a:moveTo>
                  <a:pt x="213360" y="172968"/>
                </a:moveTo>
                <a:lnTo>
                  <a:pt x="74675" y="172968"/>
                </a:lnTo>
                <a:lnTo>
                  <a:pt x="74675" y="216708"/>
                </a:lnTo>
                <a:lnTo>
                  <a:pt x="213360" y="216708"/>
                </a:lnTo>
                <a:lnTo>
                  <a:pt x="213360" y="172968"/>
                </a:lnTo>
                <a:close/>
              </a:path>
              <a:path w="288290" h="292734">
                <a:moveTo>
                  <a:pt x="53340" y="92976"/>
                </a:moveTo>
                <a:lnTo>
                  <a:pt x="0" y="146303"/>
                </a:lnTo>
                <a:lnTo>
                  <a:pt x="53340" y="199632"/>
                </a:lnTo>
                <a:lnTo>
                  <a:pt x="53340" y="172968"/>
                </a:lnTo>
                <a:lnTo>
                  <a:pt x="261365" y="172968"/>
                </a:lnTo>
                <a:lnTo>
                  <a:pt x="288036" y="146303"/>
                </a:lnTo>
                <a:lnTo>
                  <a:pt x="261359" y="119633"/>
                </a:lnTo>
                <a:lnTo>
                  <a:pt x="53340" y="119633"/>
                </a:lnTo>
                <a:lnTo>
                  <a:pt x="53340" y="92976"/>
                </a:lnTo>
                <a:close/>
              </a:path>
              <a:path w="288290" h="292734">
                <a:moveTo>
                  <a:pt x="261365" y="172968"/>
                </a:moveTo>
                <a:lnTo>
                  <a:pt x="234696" y="172968"/>
                </a:lnTo>
                <a:lnTo>
                  <a:pt x="234696" y="199632"/>
                </a:lnTo>
                <a:lnTo>
                  <a:pt x="261365" y="172968"/>
                </a:lnTo>
                <a:close/>
              </a:path>
              <a:path w="288290" h="292734">
                <a:moveTo>
                  <a:pt x="213360" y="75895"/>
                </a:moveTo>
                <a:lnTo>
                  <a:pt x="74675" y="75895"/>
                </a:lnTo>
                <a:lnTo>
                  <a:pt x="74675" y="119633"/>
                </a:lnTo>
                <a:lnTo>
                  <a:pt x="213360" y="119633"/>
                </a:lnTo>
                <a:lnTo>
                  <a:pt x="213360" y="75895"/>
                </a:lnTo>
                <a:close/>
              </a:path>
              <a:path w="288290" h="292734">
                <a:moveTo>
                  <a:pt x="234696" y="92976"/>
                </a:moveTo>
                <a:lnTo>
                  <a:pt x="234696" y="119633"/>
                </a:lnTo>
                <a:lnTo>
                  <a:pt x="261359" y="119633"/>
                </a:lnTo>
                <a:lnTo>
                  <a:pt x="234696" y="92976"/>
                </a:lnTo>
                <a:close/>
              </a:path>
              <a:path w="288290" h="292734">
                <a:moveTo>
                  <a:pt x="170688" y="53327"/>
                </a:moveTo>
                <a:lnTo>
                  <a:pt x="117348" y="53327"/>
                </a:lnTo>
                <a:lnTo>
                  <a:pt x="117348" y="75895"/>
                </a:lnTo>
                <a:lnTo>
                  <a:pt x="170688" y="75895"/>
                </a:lnTo>
                <a:lnTo>
                  <a:pt x="170688" y="53327"/>
                </a:lnTo>
                <a:close/>
              </a:path>
              <a:path w="288290" h="292734">
                <a:moveTo>
                  <a:pt x="144018" y="0"/>
                </a:moveTo>
                <a:lnTo>
                  <a:pt x="90677" y="53327"/>
                </a:lnTo>
                <a:lnTo>
                  <a:pt x="197358" y="53327"/>
                </a:lnTo>
                <a:lnTo>
                  <a:pt x="1440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584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137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jp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12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5.png"/><Relationship Id="rId5" Type="http://schemas.openxmlformats.org/officeDocument/2006/relationships/image" Target="../media/image9.jpg"/><Relationship Id="rId15" Type="http://schemas.openxmlformats.org/officeDocument/2006/relationships/image" Target="../media/image19.jpg"/><Relationship Id="rId10" Type="http://schemas.openxmlformats.org/officeDocument/2006/relationships/image" Target="../media/image14.jpg"/><Relationship Id="rId4" Type="http://schemas.openxmlformats.org/officeDocument/2006/relationships/image" Target="../media/image8.png"/><Relationship Id="rId9" Type="http://schemas.openxmlformats.org/officeDocument/2006/relationships/image" Target="../media/image13.jp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7.png"/><Relationship Id="rId7" Type="http://schemas.openxmlformats.org/officeDocument/2006/relationships/image" Target="../media/image2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Relationship Id="rId9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mcu.org/" TargetMode="Externa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1.1 </a:t>
            </a:r>
            <a:r>
              <a:rPr lang="zh-CN" altLang="en-US"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单片机与</a:t>
            </a:r>
            <a:r>
              <a:rPr lang="en-US" altLang="zh-CN"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STM32</a:t>
            </a:r>
            <a:endParaRPr kumimoji="0" lang="en-US" altLang="zh-CN" sz="6200" kern="1200" cap="none" spc="0" normalizeH="0" baseline="0" noProof="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cs typeface="+mn-cs"/>
              <a:sym typeface="+mn-ea"/>
            </a:endParaRP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9764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88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能力目标：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了解单片机的发展史及其主要应用领域、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的由来以及产品线简介。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任务要求：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（无）</a:t>
            </a:r>
            <a:endParaRPr lang="zh-CN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39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一、什么是单片机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单片机是一种集成电路芯片，是采用超大规模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集成电路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技术把具有数据处理能力的中央处理器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、随机存储器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、只读存储器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ROM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、多种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口和中断系统、定时器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计数器等功能（可能还包括显示驱动电路、脉宽调制电路、模拟多路转换器、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A/D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转换器等电路）集成到一块硅片上构成的一个小而完善的微型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计算机系统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3405" y="336550"/>
            <a:ext cx="1182770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二、单片机发展史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单片机诞生于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年代末，经历了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SCM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SoC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三大阶段。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SCM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即单片微型计算机（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Single Chip Microcomputer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）阶段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，主要是寻求最佳的单片形态嵌入式系统的最佳体系结构。“创新模式”获得成功，奠定了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SCM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与通用计算机完全不同的发展道路。在开创嵌入式系统独立发展道路上，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Intel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公司功不可没。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即微控制器（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Micro Controller Unit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）阶段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，主要的技术发展方向是：不断扩展满足嵌入式应用时，对象系统要求的各种外围电路与接口电路，突显其对象的智能化控制能力。它所涉及的领域都与对象系统相关，因此，发展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的重任不可避免地落在电气、电子技术厂家。从这一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角度来看，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Intel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逐渐淡出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的发展也有其客观因素。在发展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方面，最著名的厂家当数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Philips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公司。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SoC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单片机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(System On Chip)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单片机是嵌入式系统的独立发展之路，向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阶段发展的重要因素，就是寻求应用系统在芯片上的最大化解决，因此，专用单片机的发展自然形成了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SoC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化趋势。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688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三、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STM32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的诞生与发展</a:t>
            </a:r>
            <a:endParaRPr lang="en-US" altLang="zh-CN" sz="2800" b="1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系列单片机是来自欧洲的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意法半导体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公司（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STMicroelectronics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，简称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）众多产品之一。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2007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日，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诞生于北京。截止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2016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年底，中国市场销售的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产品占其总销售额的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64%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，依靠中国市场，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成为了全球第二大通用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厂商，而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MCU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可谓默默无闻。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与传统单片机不同，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的内核并非由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自主研发，而是采用了英国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公司授权的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Cortex-M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内核，围绕内核增加了外设并进行封装。除了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之外，目前市面上还有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恩智浦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NXP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）、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新唐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Nuvoton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）等知名半导体公司推出了属于自己的基于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Cortex-M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内核的单片机。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449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四、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STM32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丰富的产品线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截止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2017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月，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提供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大产品线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(F0, F1, F2, F3, F4, F7, H7, L0, L1, L4)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，超过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700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个型号，并且还在不断的更新中。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产品广泛应用于工业控制、消费电子、物联网、通讯设备、医疗服务、安防监控等应用领域，其优异的性能进一步推动了生活和产业智能化的发展。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153" y="389881"/>
            <a:ext cx="23114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微软雅黑"/>
                <a:cs typeface="微软雅黑"/>
              </a:rPr>
              <a:t>单片机应用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74829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74191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20"/>
                </a:lnTo>
                <a:lnTo>
                  <a:pt x="1836420" y="655320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7588" y="74829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3495" y="774191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20"/>
                </a:lnTo>
                <a:lnTo>
                  <a:pt x="254508" y="655320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9999" y="946901"/>
            <a:ext cx="12452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应用演变</a:t>
            </a:r>
          </a:p>
        </p:txBody>
      </p:sp>
      <p:sp>
        <p:nvSpPr>
          <p:cNvPr id="8" name="object 8"/>
          <p:cNvSpPr/>
          <p:nvPr/>
        </p:nvSpPr>
        <p:spPr>
          <a:xfrm>
            <a:off x="4204715" y="2068067"/>
            <a:ext cx="1664335" cy="2097405"/>
          </a:xfrm>
          <a:custGeom>
            <a:avLst/>
            <a:gdLst/>
            <a:ahLst/>
            <a:cxnLst/>
            <a:rect l="l" t="t" r="r" b="b"/>
            <a:pathLst>
              <a:path w="1664335" h="2097404">
                <a:moveTo>
                  <a:pt x="0" y="2097023"/>
                </a:moveTo>
                <a:lnTo>
                  <a:pt x="1664208" y="2097023"/>
                </a:lnTo>
                <a:lnTo>
                  <a:pt x="1664208" y="0"/>
                </a:lnTo>
                <a:lnTo>
                  <a:pt x="0" y="0"/>
                </a:lnTo>
                <a:lnTo>
                  <a:pt x="0" y="209702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80965" y="2200013"/>
            <a:ext cx="7112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扩展坞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9495" y="6312408"/>
            <a:ext cx="5410200" cy="457200"/>
          </a:xfrm>
          <a:custGeom>
            <a:avLst/>
            <a:gdLst/>
            <a:ahLst/>
            <a:cxnLst/>
            <a:rect l="l" t="t" r="r" b="b"/>
            <a:pathLst>
              <a:path w="5410200" h="457200">
                <a:moveTo>
                  <a:pt x="5181600" y="0"/>
                </a:moveTo>
                <a:lnTo>
                  <a:pt x="5181600" y="114299"/>
                </a:lnTo>
                <a:lnTo>
                  <a:pt x="0" y="114299"/>
                </a:lnTo>
                <a:lnTo>
                  <a:pt x="0" y="342899"/>
                </a:lnTo>
                <a:lnTo>
                  <a:pt x="5181600" y="342899"/>
                </a:lnTo>
                <a:lnTo>
                  <a:pt x="5181600" y="457199"/>
                </a:lnTo>
                <a:lnTo>
                  <a:pt x="5410200" y="228599"/>
                </a:lnTo>
                <a:lnTo>
                  <a:pt x="51816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9495" y="6312408"/>
            <a:ext cx="5410200" cy="457200"/>
          </a:xfrm>
          <a:custGeom>
            <a:avLst/>
            <a:gdLst/>
            <a:ahLst/>
            <a:cxnLst/>
            <a:rect l="l" t="t" r="r" b="b"/>
            <a:pathLst>
              <a:path w="5410200" h="457200">
                <a:moveTo>
                  <a:pt x="0" y="114299"/>
                </a:moveTo>
                <a:lnTo>
                  <a:pt x="5181600" y="114299"/>
                </a:lnTo>
                <a:lnTo>
                  <a:pt x="5181600" y="0"/>
                </a:lnTo>
                <a:lnTo>
                  <a:pt x="5410200" y="228599"/>
                </a:lnTo>
                <a:lnTo>
                  <a:pt x="5181600" y="457199"/>
                </a:lnTo>
                <a:lnTo>
                  <a:pt x="5181600" y="342899"/>
                </a:lnTo>
                <a:lnTo>
                  <a:pt x="0" y="342899"/>
                </a:lnTo>
                <a:lnTo>
                  <a:pt x="0" y="11429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42303" y="6292596"/>
            <a:ext cx="5637530" cy="457200"/>
          </a:xfrm>
          <a:custGeom>
            <a:avLst/>
            <a:gdLst/>
            <a:ahLst/>
            <a:cxnLst/>
            <a:rect l="l" t="t" r="r" b="b"/>
            <a:pathLst>
              <a:path w="5637530" h="457200">
                <a:moveTo>
                  <a:pt x="5408676" y="0"/>
                </a:moveTo>
                <a:lnTo>
                  <a:pt x="5408676" y="114299"/>
                </a:lnTo>
                <a:lnTo>
                  <a:pt x="0" y="114299"/>
                </a:lnTo>
                <a:lnTo>
                  <a:pt x="0" y="342899"/>
                </a:lnTo>
                <a:lnTo>
                  <a:pt x="5408676" y="342899"/>
                </a:lnTo>
                <a:lnTo>
                  <a:pt x="5408676" y="457199"/>
                </a:lnTo>
                <a:lnTo>
                  <a:pt x="5637276" y="228599"/>
                </a:lnTo>
                <a:lnTo>
                  <a:pt x="5408676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42303" y="6292596"/>
            <a:ext cx="5637530" cy="457200"/>
          </a:xfrm>
          <a:custGeom>
            <a:avLst/>
            <a:gdLst/>
            <a:ahLst/>
            <a:cxnLst/>
            <a:rect l="l" t="t" r="r" b="b"/>
            <a:pathLst>
              <a:path w="5637530" h="457200">
                <a:moveTo>
                  <a:pt x="0" y="114299"/>
                </a:moveTo>
                <a:lnTo>
                  <a:pt x="5408676" y="114299"/>
                </a:lnTo>
                <a:lnTo>
                  <a:pt x="5408676" y="0"/>
                </a:lnTo>
                <a:lnTo>
                  <a:pt x="5637276" y="228599"/>
                </a:lnTo>
                <a:lnTo>
                  <a:pt x="5408676" y="457199"/>
                </a:lnTo>
                <a:lnTo>
                  <a:pt x="5408676" y="342899"/>
                </a:lnTo>
                <a:lnTo>
                  <a:pt x="0" y="342899"/>
                </a:lnTo>
                <a:lnTo>
                  <a:pt x="0" y="11429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2731" y="4344923"/>
            <a:ext cx="1664335" cy="1999614"/>
          </a:xfrm>
          <a:custGeom>
            <a:avLst/>
            <a:gdLst/>
            <a:ahLst/>
            <a:cxnLst/>
            <a:rect l="l" t="t" r="r" b="b"/>
            <a:pathLst>
              <a:path w="1664335" h="1999614">
                <a:moveTo>
                  <a:pt x="0" y="1999488"/>
                </a:moveTo>
                <a:lnTo>
                  <a:pt x="1664208" y="1999488"/>
                </a:lnTo>
                <a:lnTo>
                  <a:pt x="1664208" y="0"/>
                </a:lnTo>
                <a:lnTo>
                  <a:pt x="0" y="0"/>
                </a:lnTo>
                <a:lnTo>
                  <a:pt x="0" y="199948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22731" y="4344923"/>
            <a:ext cx="1664335" cy="1999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015">
              <a:lnSpc>
                <a:spcPct val="100000"/>
              </a:lnSpc>
            </a:pPr>
            <a:r>
              <a:rPr sz="1800" b="1" spc="-5" dirty="0">
                <a:solidFill>
                  <a:srgbClr val="001F52"/>
                </a:solidFill>
                <a:latin typeface="微软雅黑"/>
                <a:cs typeface="微软雅黑"/>
              </a:rPr>
              <a:t>仪器仪表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2940" y="4794503"/>
            <a:ext cx="1205484" cy="15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49496" y="2587751"/>
            <a:ext cx="1371600" cy="1524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80488" y="4319015"/>
            <a:ext cx="1664335" cy="2025650"/>
          </a:xfrm>
          <a:custGeom>
            <a:avLst/>
            <a:gdLst/>
            <a:ahLst/>
            <a:cxnLst/>
            <a:rect l="l" t="t" r="r" b="b"/>
            <a:pathLst>
              <a:path w="1664335" h="2025650">
                <a:moveTo>
                  <a:pt x="0" y="2025395"/>
                </a:moveTo>
                <a:lnTo>
                  <a:pt x="1664208" y="2025395"/>
                </a:lnTo>
                <a:lnTo>
                  <a:pt x="1664208" y="0"/>
                </a:lnTo>
                <a:lnTo>
                  <a:pt x="0" y="0"/>
                </a:lnTo>
                <a:lnTo>
                  <a:pt x="0" y="20253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03191" y="4308347"/>
            <a:ext cx="1664335" cy="2011680"/>
          </a:xfrm>
          <a:custGeom>
            <a:avLst/>
            <a:gdLst/>
            <a:ahLst/>
            <a:cxnLst/>
            <a:rect l="l" t="t" r="r" b="b"/>
            <a:pathLst>
              <a:path w="1664335" h="2011679">
                <a:moveTo>
                  <a:pt x="0" y="2011679"/>
                </a:moveTo>
                <a:lnTo>
                  <a:pt x="1664208" y="2011679"/>
                </a:lnTo>
                <a:lnTo>
                  <a:pt x="1664208" y="0"/>
                </a:lnTo>
                <a:lnTo>
                  <a:pt x="0" y="0"/>
                </a:lnTo>
                <a:lnTo>
                  <a:pt x="0" y="20116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80488" y="4319015"/>
            <a:ext cx="2896870" cy="202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015">
              <a:lnSpc>
                <a:spcPct val="100000"/>
              </a:lnSpc>
              <a:tabLst>
                <a:tab pos="2426335" algn="l"/>
              </a:tabLst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汽车音响	</a:t>
            </a:r>
            <a:r>
              <a:rPr sz="2700" b="1" baseline="3086" dirty="0">
                <a:solidFill>
                  <a:srgbClr val="001F52"/>
                </a:solidFill>
                <a:latin typeface="微软雅黑"/>
                <a:cs typeface="微软雅黑"/>
              </a:rPr>
              <a:t>家电</a:t>
            </a:r>
            <a:endParaRPr sz="2700" baseline="3086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13076" y="5224271"/>
            <a:ext cx="1376172" cy="10317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72355" y="5195315"/>
            <a:ext cx="1327403" cy="10896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9495" y="2081783"/>
            <a:ext cx="1663064" cy="2097405"/>
          </a:xfrm>
          <a:custGeom>
            <a:avLst/>
            <a:gdLst/>
            <a:ahLst/>
            <a:cxnLst/>
            <a:rect l="l" t="t" r="r" b="b"/>
            <a:pathLst>
              <a:path w="1663064" h="2097404">
                <a:moveTo>
                  <a:pt x="0" y="2097024"/>
                </a:moveTo>
                <a:lnTo>
                  <a:pt x="1662683" y="2097024"/>
                </a:lnTo>
                <a:lnTo>
                  <a:pt x="1662683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39495" y="2081783"/>
            <a:ext cx="1663064" cy="2097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监控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9891" y="2865120"/>
            <a:ext cx="1431036" cy="11216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43911" y="2068067"/>
            <a:ext cx="1663064" cy="2097405"/>
          </a:xfrm>
          <a:custGeom>
            <a:avLst/>
            <a:gdLst/>
            <a:ahLst/>
            <a:cxnLst/>
            <a:rect l="l" t="t" r="r" b="b"/>
            <a:pathLst>
              <a:path w="1663064" h="2097404">
                <a:moveTo>
                  <a:pt x="0" y="2097023"/>
                </a:moveTo>
                <a:lnTo>
                  <a:pt x="1662684" y="2097023"/>
                </a:lnTo>
                <a:lnTo>
                  <a:pt x="1662684" y="0"/>
                </a:lnTo>
                <a:lnTo>
                  <a:pt x="0" y="0"/>
                </a:lnTo>
                <a:lnTo>
                  <a:pt x="0" y="209702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343911" y="2068067"/>
            <a:ext cx="1663064" cy="2097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79">
              <a:lnSpc>
                <a:spcPct val="100000"/>
              </a:lnSpc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电动助力车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476500" y="2706623"/>
            <a:ext cx="1203960" cy="14051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42303" y="4280915"/>
            <a:ext cx="1663064" cy="2097405"/>
          </a:xfrm>
          <a:custGeom>
            <a:avLst/>
            <a:gdLst/>
            <a:ahLst/>
            <a:cxnLst/>
            <a:rect l="l" t="t" r="r" b="b"/>
            <a:pathLst>
              <a:path w="1663065" h="2097404">
                <a:moveTo>
                  <a:pt x="0" y="2097024"/>
                </a:moveTo>
                <a:lnTo>
                  <a:pt x="1662683" y="2097024"/>
                </a:lnTo>
                <a:lnTo>
                  <a:pt x="1662683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42303" y="4280915"/>
            <a:ext cx="1663064" cy="2097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>
              <a:lnSpc>
                <a:spcPct val="100000"/>
              </a:lnSpc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电动代步车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167116" y="4280915"/>
            <a:ext cx="1664335" cy="2097405"/>
          </a:xfrm>
          <a:custGeom>
            <a:avLst/>
            <a:gdLst/>
            <a:ahLst/>
            <a:cxnLst/>
            <a:rect l="l" t="t" r="r" b="b"/>
            <a:pathLst>
              <a:path w="1664334" h="2097404">
                <a:moveTo>
                  <a:pt x="0" y="2097024"/>
                </a:moveTo>
                <a:lnTo>
                  <a:pt x="1664207" y="2097024"/>
                </a:lnTo>
                <a:lnTo>
                  <a:pt x="1664207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67116" y="4280915"/>
            <a:ext cx="1664335" cy="2097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9584">
              <a:lnSpc>
                <a:spcPct val="100000"/>
              </a:lnSpc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机器人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026395" y="4280915"/>
            <a:ext cx="1664335" cy="2097405"/>
          </a:xfrm>
          <a:custGeom>
            <a:avLst/>
            <a:gdLst/>
            <a:ahLst/>
            <a:cxnLst/>
            <a:rect l="l" t="t" r="r" b="b"/>
            <a:pathLst>
              <a:path w="1664334" h="2097404">
                <a:moveTo>
                  <a:pt x="0" y="2097024"/>
                </a:moveTo>
                <a:lnTo>
                  <a:pt x="1664207" y="2097024"/>
                </a:lnTo>
                <a:lnTo>
                  <a:pt x="1664207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026395" y="4280915"/>
            <a:ext cx="1664335" cy="2097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 algn="ctr">
              <a:lnSpc>
                <a:spcPct val="100000"/>
              </a:lnSpc>
            </a:pPr>
            <a:r>
              <a:rPr sz="1800" b="1" spc="-5" dirty="0">
                <a:solidFill>
                  <a:srgbClr val="001F52"/>
                </a:solidFill>
                <a:latin typeface="微软雅黑"/>
                <a:cs typeface="微软雅黑"/>
              </a:rPr>
              <a:t>I</a:t>
            </a:r>
            <a:r>
              <a:rPr sz="1800" b="1" spc="5" dirty="0">
                <a:solidFill>
                  <a:srgbClr val="001F52"/>
                </a:solidFill>
                <a:latin typeface="微软雅黑"/>
                <a:cs typeface="微软雅黑"/>
              </a:rPr>
              <a:t>o</a:t>
            </a: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T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33159" y="2060448"/>
            <a:ext cx="1664335" cy="2097405"/>
          </a:xfrm>
          <a:custGeom>
            <a:avLst/>
            <a:gdLst/>
            <a:ahLst/>
            <a:cxnLst/>
            <a:rect l="l" t="t" r="r" b="b"/>
            <a:pathLst>
              <a:path w="1664334" h="2097404">
                <a:moveTo>
                  <a:pt x="0" y="2097024"/>
                </a:moveTo>
                <a:lnTo>
                  <a:pt x="1664208" y="2097024"/>
                </a:lnTo>
                <a:lnTo>
                  <a:pt x="1664208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59495" y="2060448"/>
            <a:ext cx="1664335" cy="2097405"/>
          </a:xfrm>
          <a:custGeom>
            <a:avLst/>
            <a:gdLst/>
            <a:ahLst/>
            <a:cxnLst/>
            <a:rect l="l" t="t" r="r" b="b"/>
            <a:pathLst>
              <a:path w="1664334" h="2097404">
                <a:moveTo>
                  <a:pt x="0" y="2097024"/>
                </a:moveTo>
                <a:lnTo>
                  <a:pt x="1664207" y="2097024"/>
                </a:lnTo>
                <a:lnTo>
                  <a:pt x="1664207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018776" y="2060448"/>
            <a:ext cx="1664335" cy="2097405"/>
          </a:xfrm>
          <a:custGeom>
            <a:avLst/>
            <a:gdLst/>
            <a:ahLst/>
            <a:cxnLst/>
            <a:rect l="l" t="t" r="r" b="b"/>
            <a:pathLst>
              <a:path w="1664334" h="2097404">
                <a:moveTo>
                  <a:pt x="0" y="2097024"/>
                </a:moveTo>
                <a:lnTo>
                  <a:pt x="1664207" y="2097024"/>
                </a:lnTo>
                <a:lnTo>
                  <a:pt x="1664207" y="0"/>
                </a:lnTo>
                <a:lnTo>
                  <a:pt x="0" y="0"/>
                </a:lnTo>
                <a:lnTo>
                  <a:pt x="0" y="209702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710298" y="2060448"/>
            <a:ext cx="4972685" cy="2097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38655" algn="l"/>
                <a:tab pos="4017645" algn="l"/>
              </a:tabLst>
            </a:pPr>
            <a:r>
              <a:rPr sz="1800" b="1" dirty="0">
                <a:solidFill>
                  <a:srgbClr val="001F52"/>
                </a:solidFill>
                <a:latin typeface="微软雅黑"/>
                <a:cs typeface="微软雅黑"/>
              </a:rPr>
              <a:t>穿戴式	飞行器	AI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158983" y="5076444"/>
            <a:ext cx="1464564" cy="11795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96428" y="2628900"/>
            <a:ext cx="1981200" cy="14859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87084" y="5106923"/>
            <a:ext cx="1411223" cy="10622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87084" y="2860548"/>
            <a:ext cx="1464564" cy="109727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35111" y="4669535"/>
            <a:ext cx="1511807" cy="1575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22731" y="1548383"/>
            <a:ext cx="5427345" cy="45720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32180">
              <a:lnSpc>
                <a:spcPct val="100000"/>
              </a:lnSpc>
              <a:tabLst>
                <a:tab pos="2419985" algn="l"/>
              </a:tabLst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传统应用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:	MC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U</a:t>
            </a:r>
            <a:r>
              <a:rPr sz="2400" b="1" spc="-1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作为主控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31635" y="1095755"/>
            <a:ext cx="5499100" cy="870585"/>
          </a:xfrm>
          <a:prstGeom prst="rect">
            <a:avLst/>
          </a:prstGeom>
          <a:solidFill>
            <a:srgbClr val="00AF50"/>
          </a:solidFill>
          <a:ln w="1219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785" marR="601980" indent="-135064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新应用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: 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U</a:t>
            </a:r>
            <a:r>
              <a:rPr sz="2400" b="1" spc="-2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+</a:t>
            </a:r>
            <a:r>
              <a:rPr sz="2400" b="1" spc="-1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R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F</a:t>
            </a:r>
            <a:r>
              <a:rPr sz="2400" b="1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+</a:t>
            </a:r>
            <a:r>
              <a:rPr sz="2400" b="1" spc="-1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微软雅黑"/>
                <a:cs typeface="微软雅黑"/>
              </a:rPr>
              <a:t>S</a:t>
            </a:r>
            <a:r>
              <a:rPr sz="2400" b="1" spc="-10" dirty="0">
                <a:solidFill>
                  <a:srgbClr val="FFFFFF"/>
                </a:solidFill>
                <a:latin typeface="微软雅黑"/>
                <a:cs typeface="微软雅黑"/>
              </a:rPr>
              <a:t>ens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e</a:t>
            </a:r>
            <a:r>
              <a:rPr sz="2400" b="1" spc="1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+ 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Al</a:t>
            </a:r>
            <a:r>
              <a:rPr sz="2400" b="1" spc="-15" dirty="0">
                <a:solidFill>
                  <a:srgbClr val="FFFFFF"/>
                </a:solidFill>
                <a:latin typeface="微软雅黑"/>
                <a:cs typeface="微软雅黑"/>
              </a:rPr>
              <a:t>g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o</a:t>
            </a:r>
            <a:r>
              <a:rPr sz="2400" b="1" spc="5" dirty="0">
                <a:solidFill>
                  <a:srgbClr val="FFFFFF"/>
                </a:solidFill>
                <a:latin typeface="微软雅黑"/>
                <a:cs typeface="微软雅黑"/>
              </a:rPr>
              <a:t>r</a:t>
            </a: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ithm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7931" y="6438568"/>
            <a:ext cx="6534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2007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13782" y="6429789"/>
            <a:ext cx="65341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微软雅黑"/>
                <a:cs typeface="微软雅黑"/>
              </a:rPr>
              <a:t>2013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37172" y="6420950"/>
            <a:ext cx="65341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微软雅黑"/>
                <a:cs typeface="微软雅黑"/>
              </a:rPr>
              <a:t>2014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741532" y="6410221"/>
            <a:ext cx="6534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2019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172700" y="2843783"/>
            <a:ext cx="1307592" cy="90678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809488" y="4049267"/>
            <a:ext cx="457200" cy="376555"/>
          </a:xfrm>
          <a:custGeom>
            <a:avLst/>
            <a:gdLst/>
            <a:ahLst/>
            <a:cxnLst/>
            <a:rect l="l" t="t" r="r" b="b"/>
            <a:pathLst>
              <a:path w="457200" h="376554">
                <a:moveTo>
                  <a:pt x="268986" y="0"/>
                </a:moveTo>
                <a:lnTo>
                  <a:pt x="268986" y="94106"/>
                </a:lnTo>
                <a:lnTo>
                  <a:pt x="0" y="94106"/>
                </a:lnTo>
                <a:lnTo>
                  <a:pt x="0" y="282320"/>
                </a:lnTo>
                <a:lnTo>
                  <a:pt x="268986" y="282320"/>
                </a:lnTo>
                <a:lnTo>
                  <a:pt x="268986" y="376427"/>
                </a:lnTo>
                <a:lnTo>
                  <a:pt x="457200" y="188213"/>
                </a:lnTo>
                <a:lnTo>
                  <a:pt x="2689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809488" y="4049267"/>
            <a:ext cx="457200" cy="376555"/>
          </a:xfrm>
          <a:custGeom>
            <a:avLst/>
            <a:gdLst/>
            <a:ahLst/>
            <a:cxnLst/>
            <a:rect l="l" t="t" r="r" b="b"/>
            <a:pathLst>
              <a:path w="457200" h="376554">
                <a:moveTo>
                  <a:pt x="0" y="94106"/>
                </a:moveTo>
                <a:lnTo>
                  <a:pt x="268986" y="94106"/>
                </a:lnTo>
                <a:lnTo>
                  <a:pt x="268986" y="0"/>
                </a:lnTo>
                <a:lnTo>
                  <a:pt x="457200" y="188213"/>
                </a:lnTo>
                <a:lnTo>
                  <a:pt x="268986" y="376427"/>
                </a:lnTo>
                <a:lnTo>
                  <a:pt x="268986" y="282320"/>
                </a:lnTo>
                <a:lnTo>
                  <a:pt x="0" y="282320"/>
                </a:lnTo>
                <a:lnTo>
                  <a:pt x="0" y="9410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675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06651" y="378382"/>
            <a:ext cx="16256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单片机应用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5556" y="1170929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实物图片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73652" y="2161032"/>
            <a:ext cx="4044696" cy="41559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75192" y="2161032"/>
            <a:ext cx="2616707" cy="18166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6967" y="2001011"/>
            <a:ext cx="2177796" cy="20833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96300" y="4416552"/>
            <a:ext cx="3174492" cy="19476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36319" y="4331208"/>
            <a:ext cx="2208276" cy="20467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90644" y="705612"/>
            <a:ext cx="3410711" cy="13152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077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87" y="237679"/>
            <a:ext cx="9669225" cy="638264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46109"/>
              </p:ext>
            </p:extLst>
          </p:nvPr>
        </p:nvGraphicFramePr>
        <p:xfrm>
          <a:off x="485996" y="1176355"/>
          <a:ext cx="11531076" cy="4751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0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6838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分类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型号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内核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特点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195">
                <a:tc rowSpan="6">
                  <a:txBody>
                    <a:bodyPr/>
                    <a:lstStyle/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高 性 能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F2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通用型微控制器，最高主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0MHz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F4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通用型微控制器，最高主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8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0MHz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7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51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F7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M7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通用型微控制器，最高主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6MHz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51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M3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H7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65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M7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通用型微控制器，最高主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频4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0M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z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982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602546"/>
              </p:ext>
            </p:extLst>
          </p:nvPr>
        </p:nvGraphicFramePr>
        <p:xfrm>
          <a:off x="430479" y="602297"/>
          <a:ext cx="11531076" cy="5789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0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6712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分类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型号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内核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特点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336">
                <a:tc rowSpan="7">
                  <a:txBody>
                    <a:bodyPr/>
                    <a:lstStyle/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主 流 型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M3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F0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65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 marR="191135">
                        <a:lnSpc>
                          <a:spcPct val="1501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低成本、入门级微控制器，高性价比，最高 主频4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8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F1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通用型微控制器，最高主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7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5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51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F3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侧重混合信号应用，最高主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7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51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x-M0+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系列升级产品，最高主</a:t>
                      </a:r>
                      <a:r>
                        <a:rPr sz="2400" b="1" spc="-20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6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4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51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M3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65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3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系列升级产品，最高主</a:t>
                      </a:r>
                      <a:r>
                        <a:rPr sz="2400" b="1" spc="-2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7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0M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z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550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597955"/>
              </p:ext>
            </p:extLst>
          </p:nvPr>
        </p:nvGraphicFramePr>
        <p:xfrm>
          <a:off x="449529" y="889063"/>
          <a:ext cx="11531078" cy="53549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3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838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分类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型号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内核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特点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195">
                <a:tc rowSpan="5">
                  <a:txBody>
                    <a:bodyPr/>
                    <a:lstStyle/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just">
                        <a:lnSpc>
                          <a:spcPts val="24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低 功 耗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L0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x-M0+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低功耗应用，最高主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3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1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L1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低功耗应用，最高主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3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19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低功耗应用，最高主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8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2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4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+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M4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低功耗应用，最高主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频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0MHz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72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x-M33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低功耗应用，提高了安全性，最高主频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0MHz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018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98564"/>
              </p:ext>
            </p:extLst>
          </p:nvPr>
        </p:nvGraphicFramePr>
        <p:xfrm>
          <a:off x="316179" y="2401252"/>
          <a:ext cx="11531078" cy="2858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3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446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分类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型号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内核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特点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815">
                <a:tc>
                  <a:txBody>
                    <a:bodyPr/>
                    <a:lstStyle/>
                    <a:p>
                      <a:pPr marL="414020" marR="505459" algn="ctr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ctr">
                        <a:lnSpc>
                          <a:spcPts val="2400"/>
                        </a:lnSpc>
                      </a:pPr>
                      <a:endParaRPr lang="en-US" sz="24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414020" marR="505459" algn="ctr">
                        <a:lnSpc>
                          <a:spcPts val="24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无 线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WB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329565">
                        <a:lnSpc>
                          <a:spcPct val="15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M4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Co</a:t>
                      </a:r>
                      <a:r>
                        <a:rPr sz="2400" b="1" spc="7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x-M0+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104775" algn="just">
                        <a:lnSpc>
                          <a:spcPct val="15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双核微控制器，侧重无线应用，支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持2.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4G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无 线通信、蓝牙5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和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IEE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8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.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5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4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无线标准 最高主频6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4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MHz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670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6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1.2  STM32</a:t>
            </a:r>
            <a:r>
              <a:rPr lang="zh-CN" altLang="en-US" sz="6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的引脚与封装</a:t>
            </a: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1640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332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能力目标：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了解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的引脚结构，掌握简单的单片机最小系统的设计。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任务要求：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（无）</a:t>
            </a:r>
            <a:endParaRPr lang="zh-CN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117934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4" y="336550"/>
            <a:ext cx="11669395" cy="608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一、引脚结构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本课程选择的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的型号是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STM32F103R6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，该型号芯片基于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ARM Cortex-M3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内核，其主要特性为：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⑴ 电源电压直流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2.0~3.6V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⑵ 封装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LQFP64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10×10mm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⑶ 输入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输出引脚数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⑷ 程序存储器（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Flash Memory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32KB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，静态随机存储器（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6KB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⑸ 最高主频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72MHz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⑹ 片内外设有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DMA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RTC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Timers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⑺ 通信接口有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I2C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USART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USB2.0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⑻ 工作温度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-40~+85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℃。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⑼ 工业级芯片。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591081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9" y="539234"/>
            <a:ext cx="5827920" cy="4797076"/>
          </a:xfrm>
          <a:prstGeom prst="rect">
            <a:avLst/>
          </a:prstGeom>
        </p:spPr>
      </p:pic>
      <p:pic>
        <p:nvPicPr>
          <p:cNvPr id="4" name="Picture 2" descr="D:\机电-徐亮\stm32\stm32f103r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972" y="1463757"/>
            <a:ext cx="4677485" cy="387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1"/>
          <p:cNvSpPr txBox="1"/>
          <p:nvPr/>
        </p:nvSpPr>
        <p:spPr>
          <a:xfrm>
            <a:off x="2444679" y="5679611"/>
            <a:ext cx="888877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引脚分布图                           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芯片实物图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863051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528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芯片引脚的主要功能有：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⑴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电源引脚：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VDD_x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VSS_x</a:t>
            </a:r>
            <a:r>
              <a:rPr lang="zh-CN" altLang="en-US" sz="2400" b="1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x=1~4</a:t>
            </a:r>
            <a:r>
              <a:rPr lang="zh-CN" altLang="en-US" sz="2400" b="1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VDDA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VSSA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VBAT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（电池正极）；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⑵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时钟源输入输出引脚：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OSC_IN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OSC_OUT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OSC32_IN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OSC32_OUT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⑶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复位引脚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NRST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⑷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输入输出引脚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PAx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PBx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PCx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PDx</a:t>
            </a:r>
            <a:r>
              <a:rPr lang="zh-CN" altLang="en-US" sz="2400" b="1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x=0~15</a:t>
            </a:r>
            <a:r>
              <a:rPr lang="zh-CN" altLang="en-US" sz="2400" b="1" i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，共计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个引脚；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⑸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大部分引脚具备多重功能，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比如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PA9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PA10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分别为串口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USART1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）的数据发送引脚与数据接收引脚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。具体后续章节将会介绍。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295265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208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二、最小系统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所谓单片机最小系统，即单片机运行所需最少的外部条件：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⑴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电源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●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VDD_1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~VDD_4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数字量电源正极，内部连通，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VSS_1~VSS_4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数字量电源负极，内部连通；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● VDDA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VSSA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，模拟量电源正负极，若不用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，或对精度要求不高时可以直接与数字量电源正负极相连；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●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VBAT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作为电池正极输入端，一般用于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RTC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供电，若不用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RTC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则直接与数字量电源正极相连。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通常给定电源电压为</a:t>
            </a: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3.3V</a:t>
            </a:r>
            <a:r>
              <a:rPr lang="zh-CN" alt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20322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60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⑵ 复位电路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STM32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的复位方式有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系统复位、上电复位、备份区域复位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三种，其中系统复位又分为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外部复位、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WWDG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（窗口看门狗）复位、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IWDG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（独立看门狗）复位、软件复位、低功耗管理复位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五种情况，这里仅介绍其中的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外部复位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外部复位电路的典型电路如下图所示，当系统上电或在运行过程中按下图中按钮时，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可按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BOOT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模式的设定进行复位，关于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BOOT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模式的具体内容将在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1.3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节中介绍。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100" y="3534410"/>
            <a:ext cx="7856220" cy="28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93683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92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⑶ 时钟电路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的时钟源输入引脚一共有四个，可划分为两组：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● 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OSC_IN和OSC_OUT引脚用于连接外部高速晶振（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4~16MHz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，典型值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8MHz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● 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OSC32_IN、OSC32_OUT引脚用于连接外部低速晶振（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32.768kHz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），如果不用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RTC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就不用接。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无论高速晶振还是低速晶振，当设计方案对时钟源精度要求不高时，都可以选择内部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振荡器来代替外部晶振。内部高速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振荡器频率为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8MHz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，内部低速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振荡器频率为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40kHz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专业术语：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HSI  ——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内部高速时钟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HSE ——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外部高速时钟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LSI  —— 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内部低速时钟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LSE —— 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外部低速时钟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285" y="3690620"/>
            <a:ext cx="4200525" cy="2827655"/>
          </a:xfrm>
          <a:prstGeom prst="rect">
            <a:avLst/>
          </a:prstGeom>
        </p:spPr>
      </p:pic>
      <p:pic>
        <p:nvPicPr>
          <p:cNvPr id="20" name="Picture 2" descr="D:\机电徐亮\ppt\手指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640000">
            <a:off x="5862095" y="3724927"/>
            <a:ext cx="4667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374515" y="3799840"/>
            <a:ext cx="1407160" cy="460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几种晶振</a:t>
            </a:r>
          </a:p>
        </p:txBody>
      </p:sp>
    </p:spTree>
    <p:extLst>
      <p:ext uri="{BB962C8B-B14F-4D97-AF65-F5344CB8AC3E}">
        <p14:creationId xmlns:p14="http://schemas.microsoft.com/office/powerpoint/2010/main" val="469185864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1627" y="1168516"/>
            <a:ext cx="939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时钟源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9292" y="389881"/>
            <a:ext cx="9398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52525"/>
                </a:solidFill>
                <a:latin typeface="微软雅黑"/>
                <a:cs typeface="微软雅黑"/>
              </a:rPr>
              <a:t>最小系统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84929">
              <a:lnSpc>
                <a:spcPct val="100000"/>
              </a:lnSpc>
            </a:pPr>
            <a:r>
              <a:rPr spc="-5" dirty="0">
                <a:latin typeface="微软雅黑"/>
                <a:cs typeface="微软雅黑"/>
              </a:rPr>
              <a:t>STM3</a:t>
            </a:r>
            <a:r>
              <a:rPr dirty="0">
                <a:latin typeface="微软雅黑"/>
                <a:cs typeface="微软雅黑"/>
              </a:rPr>
              <a:t>2</a:t>
            </a:r>
            <a:r>
              <a:rPr spc="-5" dirty="0"/>
              <a:t>微控制器的四个时钟源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68548" y="2144511"/>
            <a:ext cx="875157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内部低速时钟。由芯片内部</a:t>
            </a:r>
            <a:r>
              <a:rPr sz="2400" b="1" spc="5" dirty="0">
                <a:latin typeface="微软雅黑"/>
                <a:cs typeface="微软雅黑"/>
              </a:rPr>
              <a:t>的</a:t>
            </a:r>
            <a:r>
              <a:rPr sz="2400" b="1" spc="-20" dirty="0">
                <a:latin typeface="微软雅黑"/>
                <a:cs typeface="微软雅黑"/>
              </a:rPr>
              <a:t>R</a:t>
            </a:r>
            <a:r>
              <a:rPr sz="2400" b="1" dirty="0">
                <a:latin typeface="微软雅黑"/>
                <a:cs typeface="微软雅黑"/>
              </a:rPr>
              <a:t>C振荡器提供，默认频率为</a:t>
            </a:r>
            <a:r>
              <a:rPr lang="en-US" sz="2400" b="1" spc="-5" dirty="0">
                <a:latin typeface="微软雅黑"/>
                <a:cs typeface="微软雅黑"/>
              </a:rPr>
              <a:t>40</a:t>
            </a:r>
            <a:r>
              <a:rPr sz="2400" b="1" dirty="0">
                <a:latin typeface="微软雅黑"/>
                <a:cs typeface="微软雅黑"/>
              </a:rPr>
              <a:t>KH</a:t>
            </a:r>
            <a:r>
              <a:rPr sz="2400" b="1" spc="-5" dirty="0">
                <a:latin typeface="微软雅黑"/>
                <a:cs typeface="微软雅黑"/>
              </a:rPr>
              <a:t>z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431" y="1993392"/>
            <a:ext cx="958850" cy="640080"/>
          </a:xfrm>
          <a:prstGeom prst="rect">
            <a:avLst/>
          </a:prstGeom>
          <a:solidFill>
            <a:srgbClr val="E34A46"/>
          </a:solidFill>
          <a:ln w="12192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701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LSI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58111" y="2147316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434339" y="0"/>
                </a:moveTo>
                <a:lnTo>
                  <a:pt x="434339" y="83058"/>
                </a:lnTo>
                <a:lnTo>
                  <a:pt x="0" y="83058"/>
                </a:lnTo>
                <a:lnTo>
                  <a:pt x="0" y="249174"/>
                </a:lnTo>
                <a:lnTo>
                  <a:pt x="434339" y="249174"/>
                </a:lnTo>
                <a:lnTo>
                  <a:pt x="434339" y="332232"/>
                </a:lnTo>
                <a:lnTo>
                  <a:pt x="600456" y="166116"/>
                </a:lnTo>
                <a:lnTo>
                  <a:pt x="4343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58111" y="2147316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0" y="83058"/>
                </a:moveTo>
                <a:lnTo>
                  <a:pt x="434339" y="83058"/>
                </a:lnTo>
                <a:lnTo>
                  <a:pt x="434339" y="0"/>
                </a:lnTo>
                <a:lnTo>
                  <a:pt x="600456" y="166116"/>
                </a:lnTo>
                <a:lnTo>
                  <a:pt x="434339" y="332232"/>
                </a:lnTo>
                <a:lnTo>
                  <a:pt x="434339" y="249174"/>
                </a:lnTo>
                <a:lnTo>
                  <a:pt x="0" y="249174"/>
                </a:lnTo>
                <a:lnTo>
                  <a:pt x="0" y="83058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15945" y="1966722"/>
            <a:ext cx="9212580" cy="684530"/>
          </a:xfrm>
          <a:custGeom>
            <a:avLst/>
            <a:gdLst/>
            <a:ahLst/>
            <a:cxnLst/>
            <a:rect l="l" t="t" r="r" b="b"/>
            <a:pathLst>
              <a:path w="9212580" h="684530">
                <a:moveTo>
                  <a:pt x="0" y="114045"/>
                </a:moveTo>
                <a:lnTo>
                  <a:pt x="8031" y="71918"/>
                </a:lnTo>
                <a:lnTo>
                  <a:pt x="30062" y="36882"/>
                </a:lnTo>
                <a:lnTo>
                  <a:pt x="63000" y="12031"/>
                </a:lnTo>
                <a:lnTo>
                  <a:pt x="103750" y="458"/>
                </a:lnTo>
                <a:lnTo>
                  <a:pt x="9098534" y="0"/>
                </a:lnTo>
                <a:lnTo>
                  <a:pt x="9113173" y="930"/>
                </a:lnTo>
                <a:lnTo>
                  <a:pt x="9153280" y="13972"/>
                </a:lnTo>
                <a:lnTo>
                  <a:pt x="9185265" y="39982"/>
                </a:lnTo>
                <a:lnTo>
                  <a:pt x="9206034" y="75868"/>
                </a:lnTo>
                <a:lnTo>
                  <a:pt x="9212580" y="570229"/>
                </a:lnTo>
                <a:lnTo>
                  <a:pt x="9211649" y="584869"/>
                </a:lnTo>
                <a:lnTo>
                  <a:pt x="9198607" y="624976"/>
                </a:lnTo>
                <a:lnTo>
                  <a:pt x="9172597" y="656961"/>
                </a:lnTo>
                <a:lnTo>
                  <a:pt x="9136711" y="677730"/>
                </a:lnTo>
                <a:lnTo>
                  <a:pt x="114046" y="684276"/>
                </a:lnTo>
                <a:lnTo>
                  <a:pt x="99406" y="683345"/>
                </a:lnTo>
                <a:lnTo>
                  <a:pt x="59299" y="670303"/>
                </a:lnTo>
                <a:lnTo>
                  <a:pt x="27314" y="644293"/>
                </a:lnTo>
                <a:lnTo>
                  <a:pt x="6545" y="608407"/>
                </a:lnTo>
                <a:lnTo>
                  <a:pt x="0" y="11404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868548" y="3105275"/>
            <a:ext cx="885380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内部高速时钟。由芯片内部</a:t>
            </a:r>
            <a:r>
              <a:rPr sz="2400" b="1" dirty="0">
                <a:latin typeface="微软雅黑"/>
                <a:cs typeface="微软雅黑"/>
              </a:rPr>
              <a:t>的</a:t>
            </a:r>
            <a:r>
              <a:rPr sz="2400" b="1" spc="-25" dirty="0">
                <a:latin typeface="微软雅黑"/>
                <a:cs typeface="微软雅黑"/>
              </a:rPr>
              <a:t>R</a:t>
            </a:r>
            <a:r>
              <a:rPr sz="2400" b="1" dirty="0">
                <a:latin typeface="微软雅黑"/>
                <a:cs typeface="微软雅黑"/>
              </a:rPr>
              <a:t>C</a:t>
            </a:r>
            <a:r>
              <a:rPr sz="2400" b="1" spc="-5" dirty="0">
                <a:latin typeface="微软雅黑"/>
                <a:cs typeface="微软雅黑"/>
              </a:rPr>
              <a:t>振荡器提供，默认频率为</a:t>
            </a:r>
            <a:r>
              <a:rPr lang="en-US" sz="2400" b="1" dirty="0">
                <a:latin typeface="微软雅黑"/>
                <a:cs typeface="微软雅黑"/>
              </a:rPr>
              <a:t>8</a:t>
            </a:r>
            <a:r>
              <a:rPr sz="2400" b="1" spc="-5" dirty="0">
                <a:latin typeface="微软雅黑"/>
                <a:cs typeface="微软雅黑"/>
              </a:rPr>
              <a:t>MHz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8431" y="2955035"/>
            <a:ext cx="958850" cy="638810"/>
          </a:xfrm>
          <a:prstGeom prst="rect">
            <a:avLst/>
          </a:prstGeom>
          <a:solidFill>
            <a:srgbClr val="E34A46"/>
          </a:solidFill>
          <a:ln w="12192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447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H</a:t>
            </a:r>
            <a:r>
              <a:rPr sz="2400" b="1" spc="-10" dirty="0">
                <a:solidFill>
                  <a:srgbClr val="FFFFFF"/>
                </a:solidFill>
                <a:latin typeface="微软雅黑"/>
                <a:cs typeface="微软雅黑"/>
              </a:rPr>
              <a:t>S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58111" y="3108960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434339" y="0"/>
                </a:moveTo>
                <a:lnTo>
                  <a:pt x="434339" y="83057"/>
                </a:lnTo>
                <a:lnTo>
                  <a:pt x="0" y="83057"/>
                </a:lnTo>
                <a:lnTo>
                  <a:pt x="0" y="249174"/>
                </a:lnTo>
                <a:lnTo>
                  <a:pt x="434339" y="249174"/>
                </a:lnTo>
                <a:lnTo>
                  <a:pt x="434339" y="332231"/>
                </a:lnTo>
                <a:lnTo>
                  <a:pt x="600456" y="166115"/>
                </a:lnTo>
                <a:lnTo>
                  <a:pt x="4343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58111" y="3108960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0" y="83057"/>
                </a:moveTo>
                <a:lnTo>
                  <a:pt x="434339" y="83057"/>
                </a:lnTo>
                <a:lnTo>
                  <a:pt x="434339" y="0"/>
                </a:lnTo>
                <a:lnTo>
                  <a:pt x="600456" y="166115"/>
                </a:lnTo>
                <a:lnTo>
                  <a:pt x="434339" y="332231"/>
                </a:lnTo>
                <a:lnTo>
                  <a:pt x="434339" y="249174"/>
                </a:lnTo>
                <a:lnTo>
                  <a:pt x="0" y="249174"/>
                </a:lnTo>
                <a:lnTo>
                  <a:pt x="0" y="8305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15945" y="2928366"/>
            <a:ext cx="9212580" cy="684530"/>
          </a:xfrm>
          <a:custGeom>
            <a:avLst/>
            <a:gdLst/>
            <a:ahLst/>
            <a:cxnLst/>
            <a:rect l="l" t="t" r="r" b="b"/>
            <a:pathLst>
              <a:path w="9212580" h="684529">
                <a:moveTo>
                  <a:pt x="0" y="114046"/>
                </a:moveTo>
                <a:lnTo>
                  <a:pt x="8031" y="71918"/>
                </a:lnTo>
                <a:lnTo>
                  <a:pt x="30062" y="36882"/>
                </a:lnTo>
                <a:lnTo>
                  <a:pt x="63000" y="12031"/>
                </a:lnTo>
                <a:lnTo>
                  <a:pt x="103750" y="458"/>
                </a:lnTo>
                <a:lnTo>
                  <a:pt x="9098534" y="0"/>
                </a:lnTo>
                <a:lnTo>
                  <a:pt x="9113173" y="930"/>
                </a:lnTo>
                <a:lnTo>
                  <a:pt x="9153280" y="13972"/>
                </a:lnTo>
                <a:lnTo>
                  <a:pt x="9185265" y="39982"/>
                </a:lnTo>
                <a:lnTo>
                  <a:pt x="9206034" y="75868"/>
                </a:lnTo>
                <a:lnTo>
                  <a:pt x="9212580" y="570230"/>
                </a:lnTo>
                <a:lnTo>
                  <a:pt x="9211649" y="584869"/>
                </a:lnTo>
                <a:lnTo>
                  <a:pt x="9198607" y="624976"/>
                </a:lnTo>
                <a:lnTo>
                  <a:pt x="9172597" y="656961"/>
                </a:lnTo>
                <a:lnTo>
                  <a:pt x="9136711" y="677730"/>
                </a:lnTo>
                <a:lnTo>
                  <a:pt x="114046" y="684276"/>
                </a:lnTo>
                <a:lnTo>
                  <a:pt x="99406" y="683345"/>
                </a:lnTo>
                <a:lnTo>
                  <a:pt x="59299" y="670303"/>
                </a:lnTo>
                <a:lnTo>
                  <a:pt x="27314" y="644293"/>
                </a:lnTo>
                <a:lnTo>
                  <a:pt x="6545" y="608407"/>
                </a:lnTo>
                <a:lnTo>
                  <a:pt x="0" y="11404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68548" y="4068307"/>
            <a:ext cx="8735695" cy="901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1500"/>
              </a:lnSpc>
            </a:pPr>
            <a:r>
              <a:rPr sz="2400" b="1" dirty="0">
                <a:latin typeface="微软雅黑"/>
                <a:cs typeface="微软雅黑"/>
              </a:rPr>
              <a:t>外部高速时钟。通过在</a:t>
            </a:r>
            <a:r>
              <a:rPr sz="2400" b="1" spc="-5" dirty="0">
                <a:latin typeface="微软雅黑"/>
                <a:cs typeface="微软雅黑"/>
              </a:rPr>
              <a:t>OSC</a:t>
            </a:r>
            <a:r>
              <a:rPr sz="2400" b="1" spc="5" dirty="0">
                <a:latin typeface="微软雅黑"/>
                <a:cs typeface="微软雅黑"/>
              </a:rPr>
              <a:t>_</a:t>
            </a:r>
            <a:r>
              <a:rPr sz="2400" b="1" spc="-5" dirty="0">
                <a:latin typeface="微软雅黑"/>
                <a:cs typeface="微软雅黑"/>
              </a:rPr>
              <a:t>I</a:t>
            </a:r>
            <a:r>
              <a:rPr sz="2400" b="1" spc="5" dirty="0">
                <a:latin typeface="微软雅黑"/>
                <a:cs typeface="微软雅黑"/>
              </a:rPr>
              <a:t>N</a:t>
            </a:r>
            <a:r>
              <a:rPr sz="2400" b="1" dirty="0">
                <a:latin typeface="微软雅黑"/>
                <a:cs typeface="微软雅黑"/>
              </a:rPr>
              <a:t>和</a:t>
            </a:r>
            <a:r>
              <a:rPr sz="2400" b="1" spc="-5" dirty="0">
                <a:latin typeface="微软雅黑"/>
                <a:cs typeface="微软雅黑"/>
              </a:rPr>
              <a:t>OSC</a:t>
            </a:r>
            <a:r>
              <a:rPr sz="2400" b="1" spc="5" dirty="0">
                <a:latin typeface="微软雅黑"/>
                <a:cs typeface="微软雅黑"/>
              </a:rPr>
              <a:t>_</a:t>
            </a:r>
            <a:r>
              <a:rPr sz="2400" b="1" spc="-5" dirty="0">
                <a:latin typeface="微软雅黑"/>
                <a:cs typeface="微软雅黑"/>
              </a:rPr>
              <a:t>OU</a:t>
            </a:r>
            <a:r>
              <a:rPr sz="2400" b="1" spc="5" dirty="0">
                <a:latin typeface="微软雅黑"/>
                <a:cs typeface="微软雅黑"/>
              </a:rPr>
              <a:t>T</a:t>
            </a:r>
            <a:r>
              <a:rPr sz="2400" b="1" dirty="0">
                <a:latin typeface="微软雅黑"/>
                <a:cs typeface="微软雅黑"/>
              </a:rPr>
              <a:t>引脚接入晶振实现， 频率范围为4MH</a:t>
            </a:r>
            <a:r>
              <a:rPr sz="2400" b="1" spc="-5" dirty="0">
                <a:latin typeface="微软雅黑"/>
                <a:cs typeface="微软雅黑"/>
              </a:rPr>
              <a:t>z</a:t>
            </a:r>
            <a:r>
              <a:rPr sz="2400" b="1" dirty="0">
                <a:latin typeface="微软雅黑"/>
                <a:cs typeface="微软雅黑"/>
              </a:rPr>
              <a:t>～</a:t>
            </a:r>
            <a:r>
              <a:rPr lang="en-US" sz="2400" b="1" spc="-5" dirty="0">
                <a:latin typeface="微软雅黑"/>
                <a:cs typeface="微软雅黑"/>
              </a:rPr>
              <a:t>1</a:t>
            </a:r>
            <a:r>
              <a:rPr sz="2400" b="1" spc="-15" dirty="0">
                <a:latin typeface="微软雅黑"/>
                <a:cs typeface="微软雅黑"/>
              </a:rPr>
              <a:t>6</a:t>
            </a:r>
            <a:r>
              <a:rPr sz="2400" b="1" spc="-5" dirty="0">
                <a:latin typeface="微软雅黑"/>
                <a:cs typeface="微软雅黑"/>
              </a:rPr>
              <a:t>MH</a:t>
            </a:r>
            <a:r>
              <a:rPr sz="2400" b="1" spc="5" dirty="0">
                <a:latin typeface="微软雅黑"/>
                <a:cs typeface="微软雅黑"/>
              </a:rPr>
              <a:t>z</a:t>
            </a:r>
            <a:r>
              <a:rPr sz="2400" b="1" dirty="0">
                <a:latin typeface="微软雅黑"/>
                <a:cs typeface="微软雅黑"/>
              </a:rPr>
              <a:t>。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8431" y="4267200"/>
            <a:ext cx="958850" cy="640080"/>
          </a:xfrm>
          <a:prstGeom prst="rect">
            <a:avLst/>
          </a:prstGeom>
          <a:solidFill>
            <a:srgbClr val="E34A46"/>
          </a:solidFill>
          <a:ln w="12192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9545">
              <a:lnSpc>
                <a:spcPct val="100000"/>
              </a:lnSpc>
            </a:pPr>
            <a:r>
              <a:rPr sz="2400" b="1" spc="-10" dirty="0">
                <a:solidFill>
                  <a:srgbClr val="FFFFFF"/>
                </a:solidFill>
                <a:latin typeface="微软雅黑"/>
                <a:cs typeface="微软雅黑"/>
              </a:rPr>
              <a:t>HSE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58111" y="4421123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434339" y="0"/>
                </a:moveTo>
                <a:lnTo>
                  <a:pt x="434339" y="83057"/>
                </a:lnTo>
                <a:lnTo>
                  <a:pt x="0" y="83057"/>
                </a:lnTo>
                <a:lnTo>
                  <a:pt x="0" y="249174"/>
                </a:lnTo>
                <a:lnTo>
                  <a:pt x="434339" y="249174"/>
                </a:lnTo>
                <a:lnTo>
                  <a:pt x="434339" y="332231"/>
                </a:lnTo>
                <a:lnTo>
                  <a:pt x="600456" y="166115"/>
                </a:lnTo>
                <a:lnTo>
                  <a:pt x="4343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58111" y="4421123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0" y="83057"/>
                </a:moveTo>
                <a:lnTo>
                  <a:pt x="434339" y="83057"/>
                </a:lnTo>
                <a:lnTo>
                  <a:pt x="434339" y="0"/>
                </a:lnTo>
                <a:lnTo>
                  <a:pt x="600456" y="166115"/>
                </a:lnTo>
                <a:lnTo>
                  <a:pt x="434339" y="332231"/>
                </a:lnTo>
                <a:lnTo>
                  <a:pt x="434339" y="249174"/>
                </a:lnTo>
                <a:lnTo>
                  <a:pt x="0" y="249174"/>
                </a:lnTo>
                <a:lnTo>
                  <a:pt x="0" y="8305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18994" y="3911346"/>
            <a:ext cx="9212580" cy="1455420"/>
          </a:xfrm>
          <a:custGeom>
            <a:avLst/>
            <a:gdLst/>
            <a:ahLst/>
            <a:cxnLst/>
            <a:rect l="l" t="t" r="r" b="b"/>
            <a:pathLst>
              <a:path w="9212580" h="1455420">
                <a:moveTo>
                  <a:pt x="0" y="242569"/>
                </a:moveTo>
                <a:lnTo>
                  <a:pt x="3174" y="203219"/>
                </a:lnTo>
                <a:lnTo>
                  <a:pt x="12364" y="165892"/>
                </a:lnTo>
                <a:lnTo>
                  <a:pt x="36338" y="114786"/>
                </a:lnTo>
                <a:lnTo>
                  <a:pt x="71040" y="71040"/>
                </a:lnTo>
                <a:lnTo>
                  <a:pt x="114786" y="36338"/>
                </a:lnTo>
                <a:lnTo>
                  <a:pt x="165892" y="12364"/>
                </a:lnTo>
                <a:lnTo>
                  <a:pt x="203219" y="3174"/>
                </a:lnTo>
                <a:lnTo>
                  <a:pt x="242569" y="0"/>
                </a:lnTo>
                <a:lnTo>
                  <a:pt x="8970010" y="0"/>
                </a:lnTo>
                <a:lnTo>
                  <a:pt x="9009360" y="3174"/>
                </a:lnTo>
                <a:lnTo>
                  <a:pt x="9046687" y="12364"/>
                </a:lnTo>
                <a:lnTo>
                  <a:pt x="9097793" y="36338"/>
                </a:lnTo>
                <a:lnTo>
                  <a:pt x="9141539" y="71040"/>
                </a:lnTo>
                <a:lnTo>
                  <a:pt x="9176241" y="114786"/>
                </a:lnTo>
                <a:lnTo>
                  <a:pt x="9200215" y="165892"/>
                </a:lnTo>
                <a:lnTo>
                  <a:pt x="9209405" y="203219"/>
                </a:lnTo>
                <a:lnTo>
                  <a:pt x="9212580" y="242569"/>
                </a:lnTo>
                <a:lnTo>
                  <a:pt x="9212580" y="1212849"/>
                </a:lnTo>
                <a:lnTo>
                  <a:pt x="9209405" y="1252200"/>
                </a:lnTo>
                <a:lnTo>
                  <a:pt x="9200215" y="1289527"/>
                </a:lnTo>
                <a:lnTo>
                  <a:pt x="9176241" y="1340633"/>
                </a:lnTo>
                <a:lnTo>
                  <a:pt x="9141539" y="1384379"/>
                </a:lnTo>
                <a:lnTo>
                  <a:pt x="9097793" y="1419081"/>
                </a:lnTo>
                <a:lnTo>
                  <a:pt x="9046687" y="1443055"/>
                </a:lnTo>
                <a:lnTo>
                  <a:pt x="9009360" y="1452245"/>
                </a:lnTo>
                <a:lnTo>
                  <a:pt x="8970010" y="1455419"/>
                </a:lnTo>
                <a:lnTo>
                  <a:pt x="242569" y="1455419"/>
                </a:lnTo>
                <a:lnTo>
                  <a:pt x="203219" y="1452245"/>
                </a:lnTo>
                <a:lnTo>
                  <a:pt x="165892" y="1443055"/>
                </a:lnTo>
                <a:lnTo>
                  <a:pt x="114786" y="1419081"/>
                </a:lnTo>
                <a:lnTo>
                  <a:pt x="71040" y="1384379"/>
                </a:lnTo>
                <a:lnTo>
                  <a:pt x="36338" y="1340633"/>
                </a:lnTo>
                <a:lnTo>
                  <a:pt x="12364" y="1289527"/>
                </a:lnTo>
                <a:lnTo>
                  <a:pt x="3174" y="1252200"/>
                </a:lnTo>
                <a:lnTo>
                  <a:pt x="0" y="1212849"/>
                </a:lnTo>
                <a:lnTo>
                  <a:pt x="0" y="24256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88920" y="5702808"/>
            <a:ext cx="9039225" cy="988060"/>
          </a:xfrm>
          <a:custGeom>
            <a:avLst/>
            <a:gdLst/>
            <a:ahLst/>
            <a:cxnLst/>
            <a:rect l="l" t="t" r="r" b="b"/>
            <a:pathLst>
              <a:path w="9039225" h="988059">
                <a:moveTo>
                  <a:pt x="0" y="987552"/>
                </a:moveTo>
                <a:lnTo>
                  <a:pt x="9038844" y="987552"/>
                </a:lnTo>
                <a:lnTo>
                  <a:pt x="9038844" y="0"/>
                </a:lnTo>
                <a:lnTo>
                  <a:pt x="0" y="0"/>
                </a:lnTo>
                <a:lnTo>
                  <a:pt x="0" y="987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868548" y="5848755"/>
            <a:ext cx="7937500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外部低速时钟。通过</a:t>
            </a:r>
            <a:r>
              <a:rPr sz="2400" b="1" dirty="0">
                <a:latin typeface="微软雅黑"/>
                <a:cs typeface="微软雅黑"/>
              </a:rPr>
              <a:t>在</a:t>
            </a:r>
            <a:r>
              <a:rPr sz="2400" b="1" spc="-5" dirty="0">
                <a:latin typeface="微软雅黑"/>
                <a:cs typeface="微软雅黑"/>
              </a:rPr>
              <a:t>OSC3</a:t>
            </a:r>
            <a:r>
              <a:rPr sz="2400" b="1" spc="-10" dirty="0">
                <a:latin typeface="微软雅黑"/>
                <a:cs typeface="微软雅黑"/>
              </a:rPr>
              <a:t>2</a:t>
            </a:r>
            <a:r>
              <a:rPr sz="2400" b="1" spc="-5" dirty="0">
                <a:latin typeface="微软雅黑"/>
                <a:cs typeface="微软雅黑"/>
              </a:rPr>
              <a:t>_I</a:t>
            </a:r>
            <a:r>
              <a:rPr sz="2400" b="1" spc="5" dirty="0">
                <a:latin typeface="微软雅黑"/>
                <a:cs typeface="微软雅黑"/>
              </a:rPr>
              <a:t>N</a:t>
            </a:r>
            <a:r>
              <a:rPr sz="2400" b="1" spc="-5" dirty="0">
                <a:latin typeface="微软雅黑"/>
                <a:cs typeface="微软雅黑"/>
              </a:rPr>
              <a:t>和OSC3</a:t>
            </a:r>
            <a:r>
              <a:rPr sz="2400" b="1" spc="-10" dirty="0">
                <a:latin typeface="微软雅黑"/>
                <a:cs typeface="微软雅黑"/>
              </a:rPr>
              <a:t>2</a:t>
            </a:r>
            <a:r>
              <a:rPr sz="2400" b="1" spc="-5" dirty="0">
                <a:latin typeface="微软雅黑"/>
                <a:cs typeface="微软雅黑"/>
              </a:rPr>
              <a:t>_OU</a:t>
            </a:r>
            <a:r>
              <a:rPr sz="2400" b="1" dirty="0">
                <a:latin typeface="微软雅黑"/>
                <a:cs typeface="微软雅黑"/>
              </a:rPr>
              <a:t>T</a:t>
            </a:r>
            <a:r>
              <a:rPr sz="2400" b="1" spc="-5" dirty="0">
                <a:latin typeface="微软雅黑"/>
                <a:cs typeface="微软雅黑"/>
              </a:rPr>
              <a:t>引脚接入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400" b="1" spc="-5" dirty="0">
                <a:latin typeface="微软雅黑"/>
                <a:cs typeface="微软雅黑"/>
              </a:rPr>
              <a:t>3</a:t>
            </a:r>
            <a:r>
              <a:rPr sz="2400" b="1" spc="-15" dirty="0">
                <a:latin typeface="微软雅黑"/>
                <a:cs typeface="微软雅黑"/>
              </a:rPr>
              <a:t>2</a:t>
            </a:r>
            <a:r>
              <a:rPr sz="2400" b="1" spc="-5" dirty="0">
                <a:latin typeface="微软雅黑"/>
                <a:cs typeface="微软雅黑"/>
              </a:rPr>
              <a:t>.</a:t>
            </a:r>
            <a:r>
              <a:rPr sz="2400" b="1" spc="-15" dirty="0">
                <a:latin typeface="微软雅黑"/>
                <a:cs typeface="微软雅黑"/>
              </a:rPr>
              <a:t>7</a:t>
            </a:r>
            <a:r>
              <a:rPr sz="2400" b="1" spc="-5" dirty="0">
                <a:latin typeface="微软雅黑"/>
                <a:cs typeface="微软雅黑"/>
              </a:rPr>
              <a:t>6</a:t>
            </a:r>
            <a:r>
              <a:rPr sz="2400" b="1" spc="-15" dirty="0">
                <a:latin typeface="微软雅黑"/>
                <a:cs typeface="微软雅黑"/>
              </a:rPr>
              <a:t>8</a:t>
            </a:r>
            <a:r>
              <a:rPr sz="2400" b="1" spc="-5" dirty="0">
                <a:latin typeface="微软雅黑"/>
                <a:cs typeface="微软雅黑"/>
              </a:rPr>
              <a:t>KH</a:t>
            </a:r>
            <a:r>
              <a:rPr sz="2400" b="1" dirty="0">
                <a:latin typeface="微软雅黑"/>
                <a:cs typeface="微软雅黑"/>
              </a:rPr>
              <a:t>z</a:t>
            </a:r>
            <a:r>
              <a:rPr sz="2400" b="1" spc="-5" dirty="0">
                <a:latin typeface="微软雅黑"/>
                <a:cs typeface="微软雅黑"/>
              </a:rPr>
              <a:t>的晶振实现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8431" y="5733288"/>
            <a:ext cx="958850" cy="640080"/>
          </a:xfrm>
          <a:prstGeom prst="rect">
            <a:avLst/>
          </a:prstGeom>
          <a:solidFill>
            <a:srgbClr val="E34A46"/>
          </a:solidFill>
          <a:ln w="12192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ct val="100000"/>
              </a:lnSpc>
            </a:pPr>
            <a:r>
              <a:rPr sz="2400" b="1" spc="-10" dirty="0">
                <a:solidFill>
                  <a:srgbClr val="FFFFFF"/>
                </a:solidFill>
                <a:latin typeface="微软雅黑"/>
                <a:cs typeface="微软雅黑"/>
              </a:rPr>
              <a:t>LSE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58111" y="5887211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434339" y="0"/>
                </a:moveTo>
                <a:lnTo>
                  <a:pt x="434339" y="83057"/>
                </a:lnTo>
                <a:lnTo>
                  <a:pt x="0" y="83057"/>
                </a:lnTo>
                <a:lnTo>
                  <a:pt x="0" y="249173"/>
                </a:lnTo>
                <a:lnTo>
                  <a:pt x="434339" y="249173"/>
                </a:lnTo>
                <a:lnTo>
                  <a:pt x="434339" y="332231"/>
                </a:lnTo>
                <a:lnTo>
                  <a:pt x="600456" y="166115"/>
                </a:lnTo>
                <a:lnTo>
                  <a:pt x="4343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58111" y="5887211"/>
            <a:ext cx="600710" cy="332740"/>
          </a:xfrm>
          <a:custGeom>
            <a:avLst/>
            <a:gdLst/>
            <a:ahLst/>
            <a:cxnLst/>
            <a:rect l="l" t="t" r="r" b="b"/>
            <a:pathLst>
              <a:path w="600710" h="332739">
                <a:moveTo>
                  <a:pt x="0" y="83057"/>
                </a:moveTo>
                <a:lnTo>
                  <a:pt x="434339" y="83057"/>
                </a:lnTo>
                <a:lnTo>
                  <a:pt x="434339" y="0"/>
                </a:lnTo>
                <a:lnTo>
                  <a:pt x="600456" y="166115"/>
                </a:lnTo>
                <a:lnTo>
                  <a:pt x="434339" y="332231"/>
                </a:lnTo>
                <a:lnTo>
                  <a:pt x="434339" y="249173"/>
                </a:lnTo>
                <a:lnTo>
                  <a:pt x="0" y="249173"/>
                </a:lnTo>
                <a:lnTo>
                  <a:pt x="0" y="8305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615945" y="5656326"/>
            <a:ext cx="9212580" cy="1082040"/>
          </a:xfrm>
          <a:custGeom>
            <a:avLst/>
            <a:gdLst/>
            <a:ahLst/>
            <a:cxnLst/>
            <a:rect l="l" t="t" r="r" b="b"/>
            <a:pathLst>
              <a:path w="9212580" h="1082040">
                <a:moveTo>
                  <a:pt x="0" y="180340"/>
                </a:moveTo>
                <a:lnTo>
                  <a:pt x="5242" y="137004"/>
                </a:lnTo>
                <a:lnTo>
                  <a:pt x="20135" y="97465"/>
                </a:lnTo>
                <a:lnTo>
                  <a:pt x="43421" y="62978"/>
                </a:lnTo>
                <a:lnTo>
                  <a:pt x="73846" y="34796"/>
                </a:lnTo>
                <a:lnTo>
                  <a:pt x="110156" y="14172"/>
                </a:lnTo>
                <a:lnTo>
                  <a:pt x="151095" y="2360"/>
                </a:lnTo>
                <a:lnTo>
                  <a:pt x="180340" y="0"/>
                </a:lnTo>
                <a:lnTo>
                  <a:pt x="9032240" y="0"/>
                </a:lnTo>
                <a:lnTo>
                  <a:pt x="9075567" y="5241"/>
                </a:lnTo>
                <a:lnTo>
                  <a:pt x="9115102" y="20130"/>
                </a:lnTo>
                <a:lnTo>
                  <a:pt x="9149590" y="43412"/>
                </a:lnTo>
                <a:lnTo>
                  <a:pt x="9177775" y="73835"/>
                </a:lnTo>
                <a:lnTo>
                  <a:pt x="9198403" y="110145"/>
                </a:lnTo>
                <a:lnTo>
                  <a:pt x="9210218" y="151089"/>
                </a:lnTo>
                <a:lnTo>
                  <a:pt x="9212580" y="180340"/>
                </a:lnTo>
                <a:lnTo>
                  <a:pt x="9212580" y="901700"/>
                </a:lnTo>
                <a:lnTo>
                  <a:pt x="9207337" y="945035"/>
                </a:lnTo>
                <a:lnTo>
                  <a:pt x="9192444" y="984574"/>
                </a:lnTo>
                <a:lnTo>
                  <a:pt x="9169158" y="1019061"/>
                </a:lnTo>
                <a:lnTo>
                  <a:pt x="9138733" y="1047243"/>
                </a:lnTo>
                <a:lnTo>
                  <a:pt x="9102423" y="1067867"/>
                </a:lnTo>
                <a:lnTo>
                  <a:pt x="9061484" y="1079679"/>
                </a:lnTo>
                <a:lnTo>
                  <a:pt x="9032240" y="1082040"/>
                </a:lnTo>
                <a:lnTo>
                  <a:pt x="180340" y="1082040"/>
                </a:lnTo>
                <a:lnTo>
                  <a:pt x="137012" y="1076798"/>
                </a:lnTo>
                <a:lnTo>
                  <a:pt x="97477" y="1061909"/>
                </a:lnTo>
                <a:lnTo>
                  <a:pt x="62989" y="1038627"/>
                </a:lnTo>
                <a:lnTo>
                  <a:pt x="34804" y="1008204"/>
                </a:lnTo>
                <a:lnTo>
                  <a:pt x="14176" y="971894"/>
                </a:lnTo>
                <a:lnTo>
                  <a:pt x="2361" y="930950"/>
                </a:lnTo>
                <a:lnTo>
                  <a:pt x="0" y="901700"/>
                </a:lnTo>
                <a:lnTo>
                  <a:pt x="0" y="180340"/>
                </a:lnTo>
                <a:close/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3665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外部高速晶振与外部低速晶振的电路分别如下两图所示。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5" y="1142365"/>
            <a:ext cx="6393180" cy="2133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725" y="3535680"/>
            <a:ext cx="6233160" cy="21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424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115" y="913130"/>
            <a:ext cx="7904480" cy="56038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0985" y="336550"/>
            <a:ext cx="1166939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单片机最小系统典型电路如下图所示，当然可根据实际需要对电路进行修改。</a:t>
            </a:r>
          </a:p>
        </p:txBody>
      </p:sp>
    </p:spTree>
    <p:extLst>
      <p:ext uri="{BB962C8B-B14F-4D97-AF65-F5344CB8AC3E}">
        <p14:creationId xmlns:p14="http://schemas.microsoft.com/office/powerpoint/2010/main" val="1341226717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03872"/>
              </p:ext>
            </p:extLst>
          </p:nvPr>
        </p:nvGraphicFramePr>
        <p:xfrm>
          <a:off x="802386" y="630173"/>
          <a:ext cx="10436351" cy="2064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1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9190">
                        <a:lnSpc>
                          <a:spcPts val="227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1139190">
                        <a:lnSpc>
                          <a:spcPts val="227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1139190">
                        <a:lnSpc>
                          <a:spcPts val="2275"/>
                        </a:lnSpc>
                      </a:pPr>
                      <a:r>
                        <a:rPr sz="2800" b="1" dirty="0" err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狭义的最小系统</a:t>
                      </a:r>
                      <a:endParaRPr sz="28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1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7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1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1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522">
                <a:tc gridSpan="3"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仅包括电源电路、时钟电路、复位电路、调试电路及主控芯片电路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732086"/>
              </p:ext>
            </p:extLst>
          </p:nvPr>
        </p:nvGraphicFramePr>
        <p:xfrm>
          <a:off x="802386" y="2718053"/>
          <a:ext cx="10436351" cy="26755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61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9190">
                        <a:lnSpc>
                          <a:spcPts val="227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1139190">
                        <a:lnSpc>
                          <a:spcPts val="227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1139190">
                        <a:lnSpc>
                          <a:spcPts val="2275"/>
                        </a:lnSpc>
                      </a:pPr>
                      <a:r>
                        <a:rPr sz="2800" b="1" dirty="0" err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广义的最小系统</a:t>
                      </a:r>
                      <a:endParaRPr sz="28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794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8645">
                <a:tc gridSpan="3">
                  <a:txBody>
                    <a:bodyPr/>
                    <a:lstStyle/>
                    <a:p>
                      <a:pPr marL="409575" marR="531495">
                        <a:lnSpc>
                          <a:spcPct val="1501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除包括上述电路外，还包括基本的人机接口电路，如指示灯、按键、蜂 鸣器、数码管及串口通信等电路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550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54803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55260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67428" y="2066544"/>
            <a:ext cx="719327" cy="504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7428" y="2066544"/>
            <a:ext cx="719455" cy="504825"/>
          </a:xfrm>
          <a:custGeom>
            <a:avLst/>
            <a:gdLst/>
            <a:ahLst/>
            <a:cxnLst/>
            <a:rect l="l" t="t" r="r" b="b"/>
            <a:pathLst>
              <a:path w="719454" h="504825">
                <a:moveTo>
                  <a:pt x="0" y="141985"/>
                </a:moveTo>
                <a:lnTo>
                  <a:pt x="215646" y="0"/>
                </a:lnTo>
                <a:lnTo>
                  <a:pt x="215646" y="67944"/>
                </a:lnTo>
                <a:lnTo>
                  <a:pt x="305435" y="67944"/>
                </a:lnTo>
                <a:lnTo>
                  <a:pt x="372573" y="70773"/>
                </a:lnTo>
                <a:lnTo>
                  <a:pt x="436262" y="78963"/>
                </a:lnTo>
                <a:lnTo>
                  <a:pt x="495648" y="92068"/>
                </a:lnTo>
                <a:lnTo>
                  <a:pt x="549880" y="109641"/>
                </a:lnTo>
                <a:lnTo>
                  <a:pt x="598106" y="131238"/>
                </a:lnTo>
                <a:lnTo>
                  <a:pt x="639474" y="156413"/>
                </a:lnTo>
                <a:lnTo>
                  <a:pt x="673132" y="184719"/>
                </a:lnTo>
                <a:lnTo>
                  <a:pt x="698228" y="215712"/>
                </a:lnTo>
                <a:lnTo>
                  <a:pt x="717956" y="266261"/>
                </a:lnTo>
                <a:lnTo>
                  <a:pt x="719327" y="283971"/>
                </a:lnTo>
                <a:lnTo>
                  <a:pt x="719327" y="504443"/>
                </a:lnTo>
                <a:lnTo>
                  <a:pt x="503682" y="504443"/>
                </a:lnTo>
                <a:lnTo>
                  <a:pt x="503682" y="283971"/>
                </a:lnTo>
                <a:lnTo>
                  <a:pt x="502720" y="277222"/>
                </a:lnTo>
                <a:lnTo>
                  <a:pt x="471788" y="246916"/>
                </a:lnTo>
                <a:lnTo>
                  <a:pt x="435580" y="232608"/>
                </a:lnTo>
                <a:lnTo>
                  <a:pt x="389116" y="222236"/>
                </a:lnTo>
                <a:lnTo>
                  <a:pt x="334835" y="216642"/>
                </a:lnTo>
                <a:lnTo>
                  <a:pt x="215646" y="215900"/>
                </a:lnTo>
                <a:lnTo>
                  <a:pt x="215646" y="283971"/>
                </a:lnTo>
                <a:lnTo>
                  <a:pt x="0" y="14198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10839" y="1850135"/>
            <a:ext cx="1656588" cy="792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10839" y="1850135"/>
            <a:ext cx="1656714" cy="792480"/>
          </a:xfrm>
          <a:custGeom>
            <a:avLst/>
            <a:gdLst/>
            <a:ahLst/>
            <a:cxnLst/>
            <a:rect l="l" t="t" r="r" b="b"/>
            <a:pathLst>
              <a:path w="1656714" h="792479">
                <a:moveTo>
                  <a:pt x="0" y="396239"/>
                </a:moveTo>
                <a:lnTo>
                  <a:pt x="10840" y="331971"/>
                </a:lnTo>
                <a:lnTo>
                  <a:pt x="42226" y="271003"/>
                </a:lnTo>
                <a:lnTo>
                  <a:pt x="92452" y="214152"/>
                </a:lnTo>
                <a:lnTo>
                  <a:pt x="124097" y="187524"/>
                </a:lnTo>
                <a:lnTo>
                  <a:pt x="159812" y="162232"/>
                </a:lnTo>
                <a:lnTo>
                  <a:pt x="199385" y="138377"/>
                </a:lnTo>
                <a:lnTo>
                  <a:pt x="242601" y="116062"/>
                </a:lnTo>
                <a:lnTo>
                  <a:pt x="289249" y="95387"/>
                </a:lnTo>
                <a:lnTo>
                  <a:pt x="339114" y="76456"/>
                </a:lnTo>
                <a:lnTo>
                  <a:pt x="391984" y="59369"/>
                </a:lnTo>
                <a:lnTo>
                  <a:pt x="447645" y="44230"/>
                </a:lnTo>
                <a:lnTo>
                  <a:pt x="505884" y="31140"/>
                </a:lnTo>
                <a:lnTo>
                  <a:pt x="566489" y="20202"/>
                </a:lnTo>
                <a:lnTo>
                  <a:pt x="629245" y="11516"/>
                </a:lnTo>
                <a:lnTo>
                  <a:pt x="693940" y="5186"/>
                </a:lnTo>
                <a:lnTo>
                  <a:pt x="760361" y="1313"/>
                </a:lnTo>
                <a:lnTo>
                  <a:pt x="828294" y="0"/>
                </a:lnTo>
                <a:lnTo>
                  <a:pt x="896226" y="1313"/>
                </a:lnTo>
                <a:lnTo>
                  <a:pt x="962647" y="5186"/>
                </a:lnTo>
                <a:lnTo>
                  <a:pt x="1027342" y="11516"/>
                </a:lnTo>
                <a:lnTo>
                  <a:pt x="1090098" y="20202"/>
                </a:lnTo>
                <a:lnTo>
                  <a:pt x="1150703" y="31140"/>
                </a:lnTo>
                <a:lnTo>
                  <a:pt x="1208942" y="44230"/>
                </a:lnTo>
                <a:lnTo>
                  <a:pt x="1264603" y="59369"/>
                </a:lnTo>
                <a:lnTo>
                  <a:pt x="1317473" y="76456"/>
                </a:lnTo>
                <a:lnTo>
                  <a:pt x="1367338" y="95387"/>
                </a:lnTo>
                <a:lnTo>
                  <a:pt x="1413986" y="116062"/>
                </a:lnTo>
                <a:lnTo>
                  <a:pt x="1457202" y="138377"/>
                </a:lnTo>
                <a:lnTo>
                  <a:pt x="1496775" y="162232"/>
                </a:lnTo>
                <a:lnTo>
                  <a:pt x="1532490" y="187524"/>
                </a:lnTo>
                <a:lnTo>
                  <a:pt x="1564135" y="214152"/>
                </a:lnTo>
                <a:lnTo>
                  <a:pt x="1591496" y="242012"/>
                </a:lnTo>
                <a:lnTo>
                  <a:pt x="1632515" y="301024"/>
                </a:lnTo>
                <a:lnTo>
                  <a:pt x="1653842" y="363744"/>
                </a:lnTo>
                <a:lnTo>
                  <a:pt x="1656588" y="396239"/>
                </a:lnTo>
                <a:lnTo>
                  <a:pt x="1653842" y="428735"/>
                </a:lnTo>
                <a:lnTo>
                  <a:pt x="1632515" y="491455"/>
                </a:lnTo>
                <a:lnTo>
                  <a:pt x="1591496" y="550467"/>
                </a:lnTo>
                <a:lnTo>
                  <a:pt x="1564135" y="578327"/>
                </a:lnTo>
                <a:lnTo>
                  <a:pt x="1532490" y="604955"/>
                </a:lnTo>
                <a:lnTo>
                  <a:pt x="1496775" y="630247"/>
                </a:lnTo>
                <a:lnTo>
                  <a:pt x="1457202" y="654102"/>
                </a:lnTo>
                <a:lnTo>
                  <a:pt x="1413986" y="676417"/>
                </a:lnTo>
                <a:lnTo>
                  <a:pt x="1367338" y="697092"/>
                </a:lnTo>
                <a:lnTo>
                  <a:pt x="1317473" y="716023"/>
                </a:lnTo>
                <a:lnTo>
                  <a:pt x="1264603" y="733110"/>
                </a:lnTo>
                <a:lnTo>
                  <a:pt x="1208942" y="748249"/>
                </a:lnTo>
                <a:lnTo>
                  <a:pt x="1150703" y="761339"/>
                </a:lnTo>
                <a:lnTo>
                  <a:pt x="1090098" y="772277"/>
                </a:lnTo>
                <a:lnTo>
                  <a:pt x="1027342" y="780963"/>
                </a:lnTo>
                <a:lnTo>
                  <a:pt x="962647" y="787293"/>
                </a:lnTo>
                <a:lnTo>
                  <a:pt x="896226" y="791166"/>
                </a:lnTo>
                <a:lnTo>
                  <a:pt x="828294" y="792480"/>
                </a:lnTo>
                <a:lnTo>
                  <a:pt x="760361" y="791166"/>
                </a:lnTo>
                <a:lnTo>
                  <a:pt x="693940" y="787293"/>
                </a:lnTo>
                <a:lnTo>
                  <a:pt x="629245" y="780963"/>
                </a:lnTo>
                <a:lnTo>
                  <a:pt x="566489" y="772277"/>
                </a:lnTo>
                <a:lnTo>
                  <a:pt x="505884" y="761339"/>
                </a:lnTo>
                <a:lnTo>
                  <a:pt x="447645" y="748249"/>
                </a:lnTo>
                <a:lnTo>
                  <a:pt x="391984" y="733110"/>
                </a:lnTo>
                <a:lnTo>
                  <a:pt x="339114" y="716023"/>
                </a:lnTo>
                <a:lnTo>
                  <a:pt x="289249" y="697092"/>
                </a:lnTo>
                <a:lnTo>
                  <a:pt x="242601" y="676417"/>
                </a:lnTo>
                <a:lnTo>
                  <a:pt x="199385" y="654102"/>
                </a:lnTo>
                <a:lnTo>
                  <a:pt x="159812" y="630247"/>
                </a:lnTo>
                <a:lnTo>
                  <a:pt x="124097" y="604955"/>
                </a:lnTo>
                <a:lnTo>
                  <a:pt x="92452" y="578327"/>
                </a:lnTo>
                <a:lnTo>
                  <a:pt x="65091" y="550467"/>
                </a:lnTo>
                <a:lnTo>
                  <a:pt x="24072" y="491455"/>
                </a:lnTo>
                <a:lnTo>
                  <a:pt x="2745" y="428735"/>
                </a:lnTo>
                <a:lnTo>
                  <a:pt x="0" y="39623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19373" y="2068565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电源电路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67428" y="3895344"/>
            <a:ext cx="719327" cy="504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67428" y="3895344"/>
            <a:ext cx="719455" cy="504825"/>
          </a:xfrm>
          <a:custGeom>
            <a:avLst/>
            <a:gdLst/>
            <a:ahLst/>
            <a:cxnLst/>
            <a:rect l="l" t="t" r="r" b="b"/>
            <a:pathLst>
              <a:path w="719454" h="504825">
                <a:moveTo>
                  <a:pt x="0" y="362457"/>
                </a:moveTo>
                <a:lnTo>
                  <a:pt x="215646" y="504443"/>
                </a:lnTo>
                <a:lnTo>
                  <a:pt x="215646" y="436498"/>
                </a:lnTo>
                <a:lnTo>
                  <a:pt x="305435" y="436498"/>
                </a:lnTo>
                <a:lnTo>
                  <a:pt x="372573" y="433670"/>
                </a:lnTo>
                <a:lnTo>
                  <a:pt x="436262" y="425480"/>
                </a:lnTo>
                <a:lnTo>
                  <a:pt x="495648" y="412375"/>
                </a:lnTo>
                <a:lnTo>
                  <a:pt x="549880" y="394802"/>
                </a:lnTo>
                <a:lnTo>
                  <a:pt x="598106" y="373205"/>
                </a:lnTo>
                <a:lnTo>
                  <a:pt x="639474" y="348030"/>
                </a:lnTo>
                <a:lnTo>
                  <a:pt x="673132" y="319724"/>
                </a:lnTo>
                <a:lnTo>
                  <a:pt x="698228" y="288731"/>
                </a:lnTo>
                <a:lnTo>
                  <a:pt x="717956" y="238182"/>
                </a:lnTo>
                <a:lnTo>
                  <a:pt x="719327" y="220471"/>
                </a:lnTo>
                <a:lnTo>
                  <a:pt x="719327" y="0"/>
                </a:lnTo>
                <a:lnTo>
                  <a:pt x="503682" y="0"/>
                </a:lnTo>
                <a:lnTo>
                  <a:pt x="503682" y="220471"/>
                </a:lnTo>
                <a:lnTo>
                  <a:pt x="502720" y="227221"/>
                </a:lnTo>
                <a:lnTo>
                  <a:pt x="471788" y="257527"/>
                </a:lnTo>
                <a:lnTo>
                  <a:pt x="435580" y="271835"/>
                </a:lnTo>
                <a:lnTo>
                  <a:pt x="389116" y="282207"/>
                </a:lnTo>
                <a:lnTo>
                  <a:pt x="334835" y="287801"/>
                </a:lnTo>
                <a:lnTo>
                  <a:pt x="215646" y="288543"/>
                </a:lnTo>
                <a:lnTo>
                  <a:pt x="215646" y="220471"/>
                </a:lnTo>
                <a:lnTo>
                  <a:pt x="0" y="36245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10839" y="3895344"/>
            <a:ext cx="1656588" cy="7924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10839" y="3895344"/>
            <a:ext cx="1656714" cy="792480"/>
          </a:xfrm>
          <a:custGeom>
            <a:avLst/>
            <a:gdLst/>
            <a:ahLst/>
            <a:cxnLst/>
            <a:rect l="l" t="t" r="r" b="b"/>
            <a:pathLst>
              <a:path w="1656714" h="792479">
                <a:moveTo>
                  <a:pt x="0" y="396239"/>
                </a:moveTo>
                <a:lnTo>
                  <a:pt x="10840" y="331971"/>
                </a:lnTo>
                <a:lnTo>
                  <a:pt x="42226" y="271003"/>
                </a:lnTo>
                <a:lnTo>
                  <a:pt x="92452" y="214152"/>
                </a:lnTo>
                <a:lnTo>
                  <a:pt x="124097" y="187524"/>
                </a:lnTo>
                <a:lnTo>
                  <a:pt x="159812" y="162232"/>
                </a:lnTo>
                <a:lnTo>
                  <a:pt x="199385" y="138377"/>
                </a:lnTo>
                <a:lnTo>
                  <a:pt x="242601" y="116062"/>
                </a:lnTo>
                <a:lnTo>
                  <a:pt x="289249" y="95387"/>
                </a:lnTo>
                <a:lnTo>
                  <a:pt x="339114" y="76456"/>
                </a:lnTo>
                <a:lnTo>
                  <a:pt x="391984" y="59369"/>
                </a:lnTo>
                <a:lnTo>
                  <a:pt x="447645" y="44230"/>
                </a:lnTo>
                <a:lnTo>
                  <a:pt x="505884" y="31140"/>
                </a:lnTo>
                <a:lnTo>
                  <a:pt x="566489" y="20202"/>
                </a:lnTo>
                <a:lnTo>
                  <a:pt x="629245" y="11516"/>
                </a:lnTo>
                <a:lnTo>
                  <a:pt x="693940" y="5186"/>
                </a:lnTo>
                <a:lnTo>
                  <a:pt x="760361" y="1313"/>
                </a:lnTo>
                <a:lnTo>
                  <a:pt x="828294" y="0"/>
                </a:lnTo>
                <a:lnTo>
                  <a:pt x="896226" y="1313"/>
                </a:lnTo>
                <a:lnTo>
                  <a:pt x="962647" y="5186"/>
                </a:lnTo>
                <a:lnTo>
                  <a:pt x="1027342" y="11516"/>
                </a:lnTo>
                <a:lnTo>
                  <a:pt x="1090098" y="20202"/>
                </a:lnTo>
                <a:lnTo>
                  <a:pt x="1150703" y="31140"/>
                </a:lnTo>
                <a:lnTo>
                  <a:pt x="1208942" y="44230"/>
                </a:lnTo>
                <a:lnTo>
                  <a:pt x="1264603" y="59369"/>
                </a:lnTo>
                <a:lnTo>
                  <a:pt x="1317473" y="76456"/>
                </a:lnTo>
                <a:lnTo>
                  <a:pt x="1367338" y="95387"/>
                </a:lnTo>
                <a:lnTo>
                  <a:pt x="1413986" y="116062"/>
                </a:lnTo>
                <a:lnTo>
                  <a:pt x="1457202" y="138377"/>
                </a:lnTo>
                <a:lnTo>
                  <a:pt x="1496775" y="162232"/>
                </a:lnTo>
                <a:lnTo>
                  <a:pt x="1532490" y="187524"/>
                </a:lnTo>
                <a:lnTo>
                  <a:pt x="1564135" y="214152"/>
                </a:lnTo>
                <a:lnTo>
                  <a:pt x="1591496" y="242012"/>
                </a:lnTo>
                <a:lnTo>
                  <a:pt x="1632515" y="301024"/>
                </a:lnTo>
                <a:lnTo>
                  <a:pt x="1653842" y="363744"/>
                </a:lnTo>
                <a:lnTo>
                  <a:pt x="1656588" y="396239"/>
                </a:lnTo>
                <a:lnTo>
                  <a:pt x="1653842" y="428735"/>
                </a:lnTo>
                <a:lnTo>
                  <a:pt x="1632515" y="491455"/>
                </a:lnTo>
                <a:lnTo>
                  <a:pt x="1591496" y="550467"/>
                </a:lnTo>
                <a:lnTo>
                  <a:pt x="1564135" y="578327"/>
                </a:lnTo>
                <a:lnTo>
                  <a:pt x="1532490" y="604955"/>
                </a:lnTo>
                <a:lnTo>
                  <a:pt x="1496775" y="630247"/>
                </a:lnTo>
                <a:lnTo>
                  <a:pt x="1457202" y="654102"/>
                </a:lnTo>
                <a:lnTo>
                  <a:pt x="1413986" y="676417"/>
                </a:lnTo>
                <a:lnTo>
                  <a:pt x="1367338" y="697092"/>
                </a:lnTo>
                <a:lnTo>
                  <a:pt x="1317473" y="716023"/>
                </a:lnTo>
                <a:lnTo>
                  <a:pt x="1264603" y="733110"/>
                </a:lnTo>
                <a:lnTo>
                  <a:pt x="1208942" y="748249"/>
                </a:lnTo>
                <a:lnTo>
                  <a:pt x="1150703" y="761339"/>
                </a:lnTo>
                <a:lnTo>
                  <a:pt x="1090098" y="772277"/>
                </a:lnTo>
                <a:lnTo>
                  <a:pt x="1027342" y="780963"/>
                </a:lnTo>
                <a:lnTo>
                  <a:pt x="962647" y="787293"/>
                </a:lnTo>
                <a:lnTo>
                  <a:pt x="896226" y="791166"/>
                </a:lnTo>
                <a:lnTo>
                  <a:pt x="828294" y="792479"/>
                </a:lnTo>
                <a:lnTo>
                  <a:pt x="760361" y="791166"/>
                </a:lnTo>
                <a:lnTo>
                  <a:pt x="693940" y="787293"/>
                </a:lnTo>
                <a:lnTo>
                  <a:pt x="629245" y="780963"/>
                </a:lnTo>
                <a:lnTo>
                  <a:pt x="566489" y="772277"/>
                </a:lnTo>
                <a:lnTo>
                  <a:pt x="505884" y="761339"/>
                </a:lnTo>
                <a:lnTo>
                  <a:pt x="447645" y="748249"/>
                </a:lnTo>
                <a:lnTo>
                  <a:pt x="391984" y="733110"/>
                </a:lnTo>
                <a:lnTo>
                  <a:pt x="339114" y="716023"/>
                </a:lnTo>
                <a:lnTo>
                  <a:pt x="289249" y="697092"/>
                </a:lnTo>
                <a:lnTo>
                  <a:pt x="242601" y="676417"/>
                </a:lnTo>
                <a:lnTo>
                  <a:pt x="199385" y="654102"/>
                </a:lnTo>
                <a:lnTo>
                  <a:pt x="159812" y="630247"/>
                </a:lnTo>
                <a:lnTo>
                  <a:pt x="124097" y="604955"/>
                </a:lnTo>
                <a:lnTo>
                  <a:pt x="92452" y="578327"/>
                </a:lnTo>
                <a:lnTo>
                  <a:pt x="65091" y="550467"/>
                </a:lnTo>
                <a:lnTo>
                  <a:pt x="24072" y="491455"/>
                </a:lnTo>
                <a:lnTo>
                  <a:pt x="2745" y="428735"/>
                </a:lnTo>
                <a:lnTo>
                  <a:pt x="0" y="39623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17850" y="4125330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调试电路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42404" y="3906011"/>
            <a:ext cx="720851" cy="5044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42404" y="3906011"/>
            <a:ext cx="721360" cy="504825"/>
          </a:xfrm>
          <a:custGeom>
            <a:avLst/>
            <a:gdLst/>
            <a:ahLst/>
            <a:cxnLst/>
            <a:rect l="l" t="t" r="r" b="b"/>
            <a:pathLst>
              <a:path w="721359" h="504825">
                <a:moveTo>
                  <a:pt x="720851" y="362457"/>
                </a:moveTo>
                <a:lnTo>
                  <a:pt x="504825" y="504444"/>
                </a:lnTo>
                <a:lnTo>
                  <a:pt x="504825" y="436499"/>
                </a:lnTo>
                <a:lnTo>
                  <a:pt x="414781" y="436499"/>
                </a:lnTo>
                <a:lnTo>
                  <a:pt x="347494" y="433670"/>
                </a:lnTo>
                <a:lnTo>
                  <a:pt x="283667" y="425480"/>
                </a:lnTo>
                <a:lnTo>
                  <a:pt x="224152" y="412375"/>
                </a:lnTo>
                <a:lnTo>
                  <a:pt x="169804" y="394802"/>
                </a:lnTo>
                <a:lnTo>
                  <a:pt x="121475" y="373205"/>
                </a:lnTo>
                <a:lnTo>
                  <a:pt x="80020" y="348030"/>
                </a:lnTo>
                <a:lnTo>
                  <a:pt x="46291" y="319724"/>
                </a:lnTo>
                <a:lnTo>
                  <a:pt x="21142" y="288731"/>
                </a:lnTo>
                <a:lnTo>
                  <a:pt x="1374" y="238182"/>
                </a:lnTo>
                <a:lnTo>
                  <a:pt x="0" y="220471"/>
                </a:lnTo>
                <a:lnTo>
                  <a:pt x="0" y="0"/>
                </a:lnTo>
                <a:lnTo>
                  <a:pt x="216026" y="0"/>
                </a:lnTo>
                <a:lnTo>
                  <a:pt x="216026" y="220471"/>
                </a:lnTo>
                <a:lnTo>
                  <a:pt x="216987" y="227206"/>
                </a:lnTo>
                <a:lnTo>
                  <a:pt x="247902" y="257454"/>
                </a:lnTo>
                <a:lnTo>
                  <a:pt x="284078" y="271749"/>
                </a:lnTo>
                <a:lnTo>
                  <a:pt x="330487" y="282133"/>
                </a:lnTo>
                <a:lnTo>
                  <a:pt x="384683" y="287767"/>
                </a:lnTo>
                <a:lnTo>
                  <a:pt x="504825" y="288544"/>
                </a:lnTo>
                <a:lnTo>
                  <a:pt x="504825" y="220471"/>
                </a:lnTo>
                <a:lnTo>
                  <a:pt x="720851" y="36245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63256" y="3906011"/>
            <a:ext cx="1801368" cy="7909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63256" y="3906011"/>
            <a:ext cx="1801495" cy="791210"/>
          </a:xfrm>
          <a:custGeom>
            <a:avLst/>
            <a:gdLst/>
            <a:ahLst/>
            <a:cxnLst/>
            <a:rect l="l" t="t" r="r" b="b"/>
            <a:pathLst>
              <a:path w="1801495" h="791210">
                <a:moveTo>
                  <a:pt x="0" y="395478"/>
                </a:moveTo>
                <a:lnTo>
                  <a:pt x="11787" y="331323"/>
                </a:lnTo>
                <a:lnTo>
                  <a:pt x="45915" y="270467"/>
                </a:lnTo>
                <a:lnTo>
                  <a:pt x="70776" y="241530"/>
                </a:lnTo>
                <a:lnTo>
                  <a:pt x="100527" y="213722"/>
                </a:lnTo>
                <a:lnTo>
                  <a:pt x="134937" y="187146"/>
                </a:lnTo>
                <a:lnTo>
                  <a:pt x="173772" y="161903"/>
                </a:lnTo>
                <a:lnTo>
                  <a:pt x="216802" y="138095"/>
                </a:lnTo>
                <a:lnTo>
                  <a:pt x="263794" y="115824"/>
                </a:lnTo>
                <a:lnTo>
                  <a:pt x="314518" y="95190"/>
                </a:lnTo>
                <a:lnTo>
                  <a:pt x="368740" y="76297"/>
                </a:lnTo>
                <a:lnTo>
                  <a:pt x="426231" y="59246"/>
                </a:lnTo>
                <a:lnTo>
                  <a:pt x="486756" y="44138"/>
                </a:lnTo>
                <a:lnTo>
                  <a:pt x="550086" y="31075"/>
                </a:lnTo>
                <a:lnTo>
                  <a:pt x="615988" y="20159"/>
                </a:lnTo>
                <a:lnTo>
                  <a:pt x="684231" y="11492"/>
                </a:lnTo>
                <a:lnTo>
                  <a:pt x="754582" y="5175"/>
                </a:lnTo>
                <a:lnTo>
                  <a:pt x="826810" y="1310"/>
                </a:lnTo>
                <a:lnTo>
                  <a:pt x="900684" y="0"/>
                </a:lnTo>
                <a:lnTo>
                  <a:pt x="974557" y="1310"/>
                </a:lnTo>
                <a:lnTo>
                  <a:pt x="1046785" y="5175"/>
                </a:lnTo>
                <a:lnTo>
                  <a:pt x="1117136" y="11492"/>
                </a:lnTo>
                <a:lnTo>
                  <a:pt x="1185379" y="20159"/>
                </a:lnTo>
                <a:lnTo>
                  <a:pt x="1251281" y="31075"/>
                </a:lnTo>
                <a:lnTo>
                  <a:pt x="1314611" y="44138"/>
                </a:lnTo>
                <a:lnTo>
                  <a:pt x="1375136" y="59246"/>
                </a:lnTo>
                <a:lnTo>
                  <a:pt x="1432627" y="76297"/>
                </a:lnTo>
                <a:lnTo>
                  <a:pt x="1486849" y="95190"/>
                </a:lnTo>
                <a:lnTo>
                  <a:pt x="1537573" y="115824"/>
                </a:lnTo>
                <a:lnTo>
                  <a:pt x="1584565" y="138095"/>
                </a:lnTo>
                <a:lnTo>
                  <a:pt x="1627595" y="161903"/>
                </a:lnTo>
                <a:lnTo>
                  <a:pt x="1666430" y="187146"/>
                </a:lnTo>
                <a:lnTo>
                  <a:pt x="1700840" y="213722"/>
                </a:lnTo>
                <a:lnTo>
                  <a:pt x="1730591" y="241530"/>
                </a:lnTo>
                <a:lnTo>
                  <a:pt x="1755452" y="270467"/>
                </a:lnTo>
                <a:lnTo>
                  <a:pt x="1789580" y="331323"/>
                </a:lnTo>
                <a:lnTo>
                  <a:pt x="1801368" y="395478"/>
                </a:lnTo>
                <a:lnTo>
                  <a:pt x="1798382" y="427916"/>
                </a:lnTo>
                <a:lnTo>
                  <a:pt x="1775193" y="490523"/>
                </a:lnTo>
                <a:lnTo>
                  <a:pt x="1730591" y="549425"/>
                </a:lnTo>
                <a:lnTo>
                  <a:pt x="1700840" y="577233"/>
                </a:lnTo>
                <a:lnTo>
                  <a:pt x="1666430" y="603809"/>
                </a:lnTo>
                <a:lnTo>
                  <a:pt x="1627595" y="629052"/>
                </a:lnTo>
                <a:lnTo>
                  <a:pt x="1584565" y="652860"/>
                </a:lnTo>
                <a:lnTo>
                  <a:pt x="1537573" y="675132"/>
                </a:lnTo>
                <a:lnTo>
                  <a:pt x="1486849" y="695765"/>
                </a:lnTo>
                <a:lnTo>
                  <a:pt x="1432627" y="714658"/>
                </a:lnTo>
                <a:lnTo>
                  <a:pt x="1375136" y="731709"/>
                </a:lnTo>
                <a:lnTo>
                  <a:pt x="1314611" y="746817"/>
                </a:lnTo>
                <a:lnTo>
                  <a:pt x="1251281" y="759880"/>
                </a:lnTo>
                <a:lnTo>
                  <a:pt x="1185379" y="770796"/>
                </a:lnTo>
                <a:lnTo>
                  <a:pt x="1117136" y="779463"/>
                </a:lnTo>
                <a:lnTo>
                  <a:pt x="1046785" y="785780"/>
                </a:lnTo>
                <a:lnTo>
                  <a:pt x="974557" y="789645"/>
                </a:lnTo>
                <a:lnTo>
                  <a:pt x="900684" y="790956"/>
                </a:lnTo>
                <a:lnTo>
                  <a:pt x="826810" y="789645"/>
                </a:lnTo>
                <a:lnTo>
                  <a:pt x="754582" y="785780"/>
                </a:lnTo>
                <a:lnTo>
                  <a:pt x="684231" y="779463"/>
                </a:lnTo>
                <a:lnTo>
                  <a:pt x="615988" y="770796"/>
                </a:lnTo>
                <a:lnTo>
                  <a:pt x="550086" y="759880"/>
                </a:lnTo>
                <a:lnTo>
                  <a:pt x="486756" y="746817"/>
                </a:lnTo>
                <a:lnTo>
                  <a:pt x="426231" y="731709"/>
                </a:lnTo>
                <a:lnTo>
                  <a:pt x="368740" y="714658"/>
                </a:lnTo>
                <a:lnTo>
                  <a:pt x="314518" y="695765"/>
                </a:lnTo>
                <a:lnTo>
                  <a:pt x="263794" y="675132"/>
                </a:lnTo>
                <a:lnTo>
                  <a:pt x="216802" y="652860"/>
                </a:lnTo>
                <a:lnTo>
                  <a:pt x="173772" y="629052"/>
                </a:lnTo>
                <a:lnTo>
                  <a:pt x="134937" y="603809"/>
                </a:lnTo>
                <a:lnTo>
                  <a:pt x="100527" y="577233"/>
                </a:lnTo>
                <a:lnTo>
                  <a:pt x="70776" y="549425"/>
                </a:lnTo>
                <a:lnTo>
                  <a:pt x="45915" y="520488"/>
                </a:lnTo>
                <a:lnTo>
                  <a:pt x="11787" y="459632"/>
                </a:lnTo>
                <a:lnTo>
                  <a:pt x="0" y="39547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062721" y="4135118"/>
            <a:ext cx="12446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复位电路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42404" y="2084832"/>
            <a:ext cx="719327" cy="5059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42404" y="2084832"/>
            <a:ext cx="719455" cy="506095"/>
          </a:xfrm>
          <a:custGeom>
            <a:avLst/>
            <a:gdLst/>
            <a:ahLst/>
            <a:cxnLst/>
            <a:rect l="l" t="t" r="r" b="b"/>
            <a:pathLst>
              <a:path w="719454" h="506095">
                <a:moveTo>
                  <a:pt x="719327" y="142366"/>
                </a:moveTo>
                <a:lnTo>
                  <a:pt x="503681" y="0"/>
                </a:lnTo>
                <a:lnTo>
                  <a:pt x="503681" y="68198"/>
                </a:lnTo>
                <a:lnTo>
                  <a:pt x="413893" y="68198"/>
                </a:lnTo>
                <a:lnTo>
                  <a:pt x="346754" y="71035"/>
                </a:lnTo>
                <a:lnTo>
                  <a:pt x="283065" y="79245"/>
                </a:lnTo>
                <a:lnTo>
                  <a:pt x="223679" y="92383"/>
                </a:lnTo>
                <a:lnTo>
                  <a:pt x="169447" y="110001"/>
                </a:lnTo>
                <a:lnTo>
                  <a:pt x="121221" y="131651"/>
                </a:lnTo>
                <a:lnTo>
                  <a:pt x="79853" y="156886"/>
                </a:lnTo>
                <a:lnTo>
                  <a:pt x="46195" y="185259"/>
                </a:lnTo>
                <a:lnTo>
                  <a:pt x="21099" y="216323"/>
                </a:lnTo>
                <a:lnTo>
                  <a:pt x="1371" y="266985"/>
                </a:lnTo>
                <a:lnTo>
                  <a:pt x="0" y="284733"/>
                </a:lnTo>
                <a:lnTo>
                  <a:pt x="0" y="505967"/>
                </a:lnTo>
                <a:lnTo>
                  <a:pt x="215646" y="505967"/>
                </a:lnTo>
                <a:lnTo>
                  <a:pt x="215646" y="284733"/>
                </a:lnTo>
                <a:lnTo>
                  <a:pt x="216606" y="277984"/>
                </a:lnTo>
                <a:lnTo>
                  <a:pt x="247527" y="247646"/>
                </a:lnTo>
                <a:lnTo>
                  <a:pt x="283723" y="233305"/>
                </a:lnTo>
                <a:lnTo>
                  <a:pt x="330171" y="222900"/>
                </a:lnTo>
                <a:lnTo>
                  <a:pt x="384435" y="217283"/>
                </a:lnTo>
                <a:lnTo>
                  <a:pt x="503681" y="216534"/>
                </a:lnTo>
                <a:lnTo>
                  <a:pt x="503681" y="284733"/>
                </a:lnTo>
                <a:lnTo>
                  <a:pt x="719327" y="14236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63256" y="1869948"/>
            <a:ext cx="1801368" cy="7909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63256" y="1869948"/>
            <a:ext cx="1801495" cy="791210"/>
          </a:xfrm>
          <a:custGeom>
            <a:avLst/>
            <a:gdLst/>
            <a:ahLst/>
            <a:cxnLst/>
            <a:rect l="l" t="t" r="r" b="b"/>
            <a:pathLst>
              <a:path w="1801495" h="791210">
                <a:moveTo>
                  <a:pt x="0" y="395477"/>
                </a:moveTo>
                <a:lnTo>
                  <a:pt x="11787" y="331323"/>
                </a:lnTo>
                <a:lnTo>
                  <a:pt x="45915" y="270467"/>
                </a:lnTo>
                <a:lnTo>
                  <a:pt x="70776" y="241530"/>
                </a:lnTo>
                <a:lnTo>
                  <a:pt x="100527" y="213722"/>
                </a:lnTo>
                <a:lnTo>
                  <a:pt x="134937" y="187146"/>
                </a:lnTo>
                <a:lnTo>
                  <a:pt x="173772" y="161903"/>
                </a:lnTo>
                <a:lnTo>
                  <a:pt x="216802" y="138095"/>
                </a:lnTo>
                <a:lnTo>
                  <a:pt x="263794" y="115824"/>
                </a:lnTo>
                <a:lnTo>
                  <a:pt x="314518" y="95190"/>
                </a:lnTo>
                <a:lnTo>
                  <a:pt x="368740" y="76297"/>
                </a:lnTo>
                <a:lnTo>
                  <a:pt x="426231" y="59246"/>
                </a:lnTo>
                <a:lnTo>
                  <a:pt x="486756" y="44138"/>
                </a:lnTo>
                <a:lnTo>
                  <a:pt x="550086" y="31075"/>
                </a:lnTo>
                <a:lnTo>
                  <a:pt x="615988" y="20159"/>
                </a:lnTo>
                <a:lnTo>
                  <a:pt x="684231" y="11492"/>
                </a:lnTo>
                <a:lnTo>
                  <a:pt x="754582" y="5175"/>
                </a:lnTo>
                <a:lnTo>
                  <a:pt x="826810" y="1310"/>
                </a:lnTo>
                <a:lnTo>
                  <a:pt x="900684" y="0"/>
                </a:lnTo>
                <a:lnTo>
                  <a:pt x="974557" y="1310"/>
                </a:lnTo>
                <a:lnTo>
                  <a:pt x="1046785" y="5175"/>
                </a:lnTo>
                <a:lnTo>
                  <a:pt x="1117136" y="11492"/>
                </a:lnTo>
                <a:lnTo>
                  <a:pt x="1185379" y="20159"/>
                </a:lnTo>
                <a:lnTo>
                  <a:pt x="1251281" y="31075"/>
                </a:lnTo>
                <a:lnTo>
                  <a:pt x="1314611" y="44138"/>
                </a:lnTo>
                <a:lnTo>
                  <a:pt x="1375136" y="59246"/>
                </a:lnTo>
                <a:lnTo>
                  <a:pt x="1432627" y="76297"/>
                </a:lnTo>
                <a:lnTo>
                  <a:pt x="1486849" y="95190"/>
                </a:lnTo>
                <a:lnTo>
                  <a:pt x="1537573" y="115824"/>
                </a:lnTo>
                <a:lnTo>
                  <a:pt x="1584565" y="138095"/>
                </a:lnTo>
                <a:lnTo>
                  <a:pt x="1627595" y="161903"/>
                </a:lnTo>
                <a:lnTo>
                  <a:pt x="1666430" y="187146"/>
                </a:lnTo>
                <a:lnTo>
                  <a:pt x="1700840" y="213722"/>
                </a:lnTo>
                <a:lnTo>
                  <a:pt x="1730591" y="241530"/>
                </a:lnTo>
                <a:lnTo>
                  <a:pt x="1755452" y="270467"/>
                </a:lnTo>
                <a:lnTo>
                  <a:pt x="1789580" y="331323"/>
                </a:lnTo>
                <a:lnTo>
                  <a:pt x="1801368" y="395477"/>
                </a:lnTo>
                <a:lnTo>
                  <a:pt x="1798382" y="427916"/>
                </a:lnTo>
                <a:lnTo>
                  <a:pt x="1775193" y="490523"/>
                </a:lnTo>
                <a:lnTo>
                  <a:pt x="1730591" y="549425"/>
                </a:lnTo>
                <a:lnTo>
                  <a:pt x="1700840" y="577233"/>
                </a:lnTo>
                <a:lnTo>
                  <a:pt x="1666430" y="603809"/>
                </a:lnTo>
                <a:lnTo>
                  <a:pt x="1627595" y="629052"/>
                </a:lnTo>
                <a:lnTo>
                  <a:pt x="1584565" y="652860"/>
                </a:lnTo>
                <a:lnTo>
                  <a:pt x="1537573" y="675131"/>
                </a:lnTo>
                <a:lnTo>
                  <a:pt x="1486849" y="695765"/>
                </a:lnTo>
                <a:lnTo>
                  <a:pt x="1432627" y="714658"/>
                </a:lnTo>
                <a:lnTo>
                  <a:pt x="1375136" y="731709"/>
                </a:lnTo>
                <a:lnTo>
                  <a:pt x="1314611" y="746817"/>
                </a:lnTo>
                <a:lnTo>
                  <a:pt x="1251281" y="759880"/>
                </a:lnTo>
                <a:lnTo>
                  <a:pt x="1185379" y="770796"/>
                </a:lnTo>
                <a:lnTo>
                  <a:pt x="1117136" y="779463"/>
                </a:lnTo>
                <a:lnTo>
                  <a:pt x="1046785" y="785780"/>
                </a:lnTo>
                <a:lnTo>
                  <a:pt x="974557" y="789645"/>
                </a:lnTo>
                <a:lnTo>
                  <a:pt x="900684" y="790956"/>
                </a:lnTo>
                <a:lnTo>
                  <a:pt x="826810" y="789645"/>
                </a:lnTo>
                <a:lnTo>
                  <a:pt x="754582" y="785780"/>
                </a:lnTo>
                <a:lnTo>
                  <a:pt x="684231" y="779463"/>
                </a:lnTo>
                <a:lnTo>
                  <a:pt x="615988" y="770796"/>
                </a:lnTo>
                <a:lnTo>
                  <a:pt x="550086" y="759880"/>
                </a:lnTo>
                <a:lnTo>
                  <a:pt x="486756" y="746817"/>
                </a:lnTo>
                <a:lnTo>
                  <a:pt x="426231" y="731709"/>
                </a:lnTo>
                <a:lnTo>
                  <a:pt x="368740" y="714658"/>
                </a:lnTo>
                <a:lnTo>
                  <a:pt x="314518" y="695765"/>
                </a:lnTo>
                <a:lnTo>
                  <a:pt x="263794" y="675132"/>
                </a:lnTo>
                <a:lnTo>
                  <a:pt x="216802" y="652860"/>
                </a:lnTo>
                <a:lnTo>
                  <a:pt x="173772" y="629052"/>
                </a:lnTo>
                <a:lnTo>
                  <a:pt x="134937" y="603809"/>
                </a:lnTo>
                <a:lnTo>
                  <a:pt x="100527" y="577233"/>
                </a:lnTo>
                <a:lnTo>
                  <a:pt x="70776" y="549425"/>
                </a:lnTo>
                <a:lnTo>
                  <a:pt x="45915" y="520488"/>
                </a:lnTo>
                <a:lnTo>
                  <a:pt x="11787" y="459632"/>
                </a:lnTo>
                <a:lnTo>
                  <a:pt x="0" y="39547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042275" y="2098800"/>
            <a:ext cx="12446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时钟电路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81015" y="2575559"/>
            <a:ext cx="2182367" cy="13258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081015" y="2575559"/>
            <a:ext cx="2182495" cy="13258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2270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微软雅黑"/>
                <a:cs typeface="微软雅黑"/>
              </a:rPr>
              <a:t>主控芯片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463545" y="1357122"/>
            <a:ext cx="7673340" cy="3834765"/>
          </a:xfrm>
          <a:custGeom>
            <a:avLst/>
            <a:gdLst/>
            <a:ahLst/>
            <a:cxnLst/>
            <a:rect l="l" t="t" r="r" b="b"/>
            <a:pathLst>
              <a:path w="7673340" h="3834765">
                <a:moveTo>
                  <a:pt x="0" y="639063"/>
                </a:moveTo>
                <a:lnTo>
                  <a:pt x="2118" y="586652"/>
                </a:lnTo>
                <a:lnTo>
                  <a:pt x="8364" y="535407"/>
                </a:lnTo>
                <a:lnTo>
                  <a:pt x="18573" y="485493"/>
                </a:lnTo>
                <a:lnTo>
                  <a:pt x="32581" y="437075"/>
                </a:lnTo>
                <a:lnTo>
                  <a:pt x="50222" y="390316"/>
                </a:lnTo>
                <a:lnTo>
                  <a:pt x="71333" y="345382"/>
                </a:lnTo>
                <a:lnTo>
                  <a:pt x="95749" y="302437"/>
                </a:lnTo>
                <a:lnTo>
                  <a:pt x="123305" y="261646"/>
                </a:lnTo>
                <a:lnTo>
                  <a:pt x="153838" y="223173"/>
                </a:lnTo>
                <a:lnTo>
                  <a:pt x="187182" y="187182"/>
                </a:lnTo>
                <a:lnTo>
                  <a:pt x="223173" y="153838"/>
                </a:lnTo>
                <a:lnTo>
                  <a:pt x="261646" y="123305"/>
                </a:lnTo>
                <a:lnTo>
                  <a:pt x="302437" y="95749"/>
                </a:lnTo>
                <a:lnTo>
                  <a:pt x="345382" y="71333"/>
                </a:lnTo>
                <a:lnTo>
                  <a:pt x="390316" y="50222"/>
                </a:lnTo>
                <a:lnTo>
                  <a:pt x="437075" y="32581"/>
                </a:lnTo>
                <a:lnTo>
                  <a:pt x="485493" y="18573"/>
                </a:lnTo>
                <a:lnTo>
                  <a:pt x="535407" y="8364"/>
                </a:lnTo>
                <a:lnTo>
                  <a:pt x="586652" y="2118"/>
                </a:lnTo>
                <a:lnTo>
                  <a:pt x="639064" y="0"/>
                </a:lnTo>
                <a:lnTo>
                  <a:pt x="7034276" y="0"/>
                </a:lnTo>
                <a:lnTo>
                  <a:pt x="7086687" y="2118"/>
                </a:lnTo>
                <a:lnTo>
                  <a:pt x="7137932" y="8364"/>
                </a:lnTo>
                <a:lnTo>
                  <a:pt x="7187846" y="18573"/>
                </a:lnTo>
                <a:lnTo>
                  <a:pt x="7236264" y="32581"/>
                </a:lnTo>
                <a:lnTo>
                  <a:pt x="7283023" y="50222"/>
                </a:lnTo>
                <a:lnTo>
                  <a:pt x="7327957" y="71333"/>
                </a:lnTo>
                <a:lnTo>
                  <a:pt x="7370902" y="95749"/>
                </a:lnTo>
                <a:lnTo>
                  <a:pt x="7411693" y="123305"/>
                </a:lnTo>
                <a:lnTo>
                  <a:pt x="7450166" y="153838"/>
                </a:lnTo>
                <a:lnTo>
                  <a:pt x="7486157" y="187182"/>
                </a:lnTo>
                <a:lnTo>
                  <a:pt x="7519501" y="223173"/>
                </a:lnTo>
                <a:lnTo>
                  <a:pt x="7550034" y="261646"/>
                </a:lnTo>
                <a:lnTo>
                  <a:pt x="7577590" y="302437"/>
                </a:lnTo>
                <a:lnTo>
                  <a:pt x="7602006" y="345382"/>
                </a:lnTo>
                <a:lnTo>
                  <a:pt x="7623117" y="390316"/>
                </a:lnTo>
                <a:lnTo>
                  <a:pt x="7640758" y="437075"/>
                </a:lnTo>
                <a:lnTo>
                  <a:pt x="7654766" y="485493"/>
                </a:lnTo>
                <a:lnTo>
                  <a:pt x="7664975" y="535407"/>
                </a:lnTo>
                <a:lnTo>
                  <a:pt x="7671221" y="586652"/>
                </a:lnTo>
                <a:lnTo>
                  <a:pt x="7673339" y="639063"/>
                </a:lnTo>
                <a:lnTo>
                  <a:pt x="7673339" y="3195319"/>
                </a:lnTo>
                <a:lnTo>
                  <a:pt x="7671221" y="3247733"/>
                </a:lnTo>
                <a:lnTo>
                  <a:pt x="7664975" y="3298979"/>
                </a:lnTo>
                <a:lnTo>
                  <a:pt x="7654766" y="3348894"/>
                </a:lnTo>
                <a:lnTo>
                  <a:pt x="7640758" y="3397313"/>
                </a:lnTo>
                <a:lnTo>
                  <a:pt x="7623117" y="3444072"/>
                </a:lnTo>
                <a:lnTo>
                  <a:pt x="7602006" y="3489006"/>
                </a:lnTo>
                <a:lnTo>
                  <a:pt x="7577590" y="3531951"/>
                </a:lnTo>
                <a:lnTo>
                  <a:pt x="7550034" y="3572743"/>
                </a:lnTo>
                <a:lnTo>
                  <a:pt x="7519501" y="3611216"/>
                </a:lnTo>
                <a:lnTo>
                  <a:pt x="7486157" y="3647206"/>
                </a:lnTo>
                <a:lnTo>
                  <a:pt x="7450166" y="3680550"/>
                </a:lnTo>
                <a:lnTo>
                  <a:pt x="7411693" y="3711081"/>
                </a:lnTo>
                <a:lnTo>
                  <a:pt x="7370902" y="3738637"/>
                </a:lnTo>
                <a:lnTo>
                  <a:pt x="7327957" y="3763052"/>
                </a:lnTo>
                <a:lnTo>
                  <a:pt x="7283023" y="3784163"/>
                </a:lnTo>
                <a:lnTo>
                  <a:pt x="7236264" y="3801804"/>
                </a:lnTo>
                <a:lnTo>
                  <a:pt x="7187846" y="3815811"/>
                </a:lnTo>
                <a:lnTo>
                  <a:pt x="7137932" y="3826019"/>
                </a:lnTo>
                <a:lnTo>
                  <a:pt x="7086687" y="3832265"/>
                </a:lnTo>
                <a:lnTo>
                  <a:pt x="7034276" y="3834383"/>
                </a:lnTo>
                <a:lnTo>
                  <a:pt x="639064" y="3834383"/>
                </a:lnTo>
                <a:lnTo>
                  <a:pt x="586652" y="3832265"/>
                </a:lnTo>
                <a:lnTo>
                  <a:pt x="535407" y="3826019"/>
                </a:lnTo>
                <a:lnTo>
                  <a:pt x="485493" y="3815811"/>
                </a:lnTo>
                <a:lnTo>
                  <a:pt x="437075" y="3801804"/>
                </a:lnTo>
                <a:lnTo>
                  <a:pt x="390316" y="3784163"/>
                </a:lnTo>
                <a:lnTo>
                  <a:pt x="345382" y="3763052"/>
                </a:lnTo>
                <a:lnTo>
                  <a:pt x="302437" y="3738637"/>
                </a:lnTo>
                <a:lnTo>
                  <a:pt x="261646" y="3711081"/>
                </a:lnTo>
                <a:lnTo>
                  <a:pt x="223173" y="3680550"/>
                </a:lnTo>
                <a:lnTo>
                  <a:pt x="187182" y="3647206"/>
                </a:lnTo>
                <a:lnTo>
                  <a:pt x="153838" y="3611216"/>
                </a:lnTo>
                <a:lnTo>
                  <a:pt x="123305" y="3572743"/>
                </a:lnTo>
                <a:lnTo>
                  <a:pt x="95749" y="3531951"/>
                </a:lnTo>
                <a:lnTo>
                  <a:pt x="71333" y="3489006"/>
                </a:lnTo>
                <a:lnTo>
                  <a:pt x="50222" y="3444072"/>
                </a:lnTo>
                <a:lnTo>
                  <a:pt x="32581" y="3397313"/>
                </a:lnTo>
                <a:lnTo>
                  <a:pt x="18573" y="3348894"/>
                </a:lnTo>
                <a:lnTo>
                  <a:pt x="8364" y="3298979"/>
                </a:lnTo>
                <a:lnTo>
                  <a:pt x="2118" y="3247733"/>
                </a:lnTo>
                <a:lnTo>
                  <a:pt x="0" y="3195319"/>
                </a:lnTo>
                <a:lnTo>
                  <a:pt x="0" y="639063"/>
                </a:lnTo>
                <a:close/>
              </a:path>
            </a:pathLst>
          </a:custGeom>
          <a:ln w="28956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2034" y="965454"/>
            <a:ext cx="2790825" cy="1245235"/>
          </a:xfrm>
          <a:custGeom>
            <a:avLst/>
            <a:gdLst/>
            <a:ahLst/>
            <a:cxnLst/>
            <a:rect l="l" t="t" r="r" b="b"/>
            <a:pathLst>
              <a:path w="2790825" h="1245235">
                <a:moveTo>
                  <a:pt x="2649220" y="0"/>
                </a:moveTo>
                <a:lnTo>
                  <a:pt x="1627759" y="0"/>
                </a:lnTo>
                <a:lnTo>
                  <a:pt x="130520" y="399"/>
                </a:lnTo>
                <a:lnTo>
                  <a:pt x="88917" y="10006"/>
                </a:lnTo>
                <a:lnTo>
                  <a:pt x="53045" y="30912"/>
                </a:lnTo>
                <a:lnTo>
                  <a:pt x="24921" y="61098"/>
                </a:lnTo>
                <a:lnTo>
                  <a:pt x="6566" y="98542"/>
                </a:lnTo>
                <a:lnTo>
                  <a:pt x="0" y="141224"/>
                </a:lnTo>
                <a:lnTo>
                  <a:pt x="0" y="706120"/>
                </a:lnTo>
                <a:lnTo>
                  <a:pt x="5447" y="745090"/>
                </a:lnTo>
                <a:lnTo>
                  <a:pt x="22809" y="783096"/>
                </a:lnTo>
                <a:lnTo>
                  <a:pt x="50125" y="814029"/>
                </a:lnTo>
                <a:lnTo>
                  <a:pt x="85374" y="835866"/>
                </a:lnTo>
                <a:lnTo>
                  <a:pt x="126537" y="846589"/>
                </a:lnTo>
                <a:lnTo>
                  <a:pt x="141223" y="847344"/>
                </a:lnTo>
                <a:lnTo>
                  <a:pt x="1627759" y="847344"/>
                </a:lnTo>
                <a:lnTo>
                  <a:pt x="2623820" y="1244727"/>
                </a:lnTo>
                <a:lnTo>
                  <a:pt x="2325370" y="847344"/>
                </a:lnTo>
                <a:lnTo>
                  <a:pt x="2659921" y="846944"/>
                </a:lnTo>
                <a:lnTo>
                  <a:pt x="2674299" y="845122"/>
                </a:lnTo>
                <a:lnTo>
                  <a:pt x="2714214" y="831524"/>
                </a:lnTo>
                <a:lnTo>
                  <a:pt x="2747729" y="807300"/>
                </a:lnTo>
                <a:lnTo>
                  <a:pt x="2772822" y="774470"/>
                </a:lnTo>
                <a:lnTo>
                  <a:pt x="2787474" y="735056"/>
                </a:lnTo>
                <a:lnTo>
                  <a:pt x="2790443" y="706120"/>
                </a:lnTo>
                <a:lnTo>
                  <a:pt x="2790443" y="494284"/>
                </a:lnTo>
                <a:lnTo>
                  <a:pt x="2790044" y="130522"/>
                </a:lnTo>
                <a:lnTo>
                  <a:pt x="2780437" y="88923"/>
                </a:lnTo>
                <a:lnTo>
                  <a:pt x="2759531" y="53050"/>
                </a:lnTo>
                <a:lnTo>
                  <a:pt x="2729345" y="24925"/>
                </a:lnTo>
                <a:lnTo>
                  <a:pt x="2691901" y="6568"/>
                </a:lnTo>
                <a:lnTo>
                  <a:pt x="2663904" y="754"/>
                </a:lnTo>
                <a:lnTo>
                  <a:pt x="2649220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2034" y="965454"/>
            <a:ext cx="2790825" cy="1245235"/>
          </a:xfrm>
          <a:custGeom>
            <a:avLst/>
            <a:gdLst/>
            <a:ahLst/>
            <a:cxnLst/>
            <a:rect l="l" t="t" r="r" b="b"/>
            <a:pathLst>
              <a:path w="2790825" h="1245235">
                <a:moveTo>
                  <a:pt x="0" y="141224"/>
                </a:moveTo>
                <a:lnTo>
                  <a:pt x="6566" y="98542"/>
                </a:lnTo>
                <a:lnTo>
                  <a:pt x="24921" y="61098"/>
                </a:lnTo>
                <a:lnTo>
                  <a:pt x="53045" y="30912"/>
                </a:lnTo>
                <a:lnTo>
                  <a:pt x="88917" y="10006"/>
                </a:lnTo>
                <a:lnTo>
                  <a:pt x="130520" y="399"/>
                </a:lnTo>
                <a:lnTo>
                  <a:pt x="1627759" y="0"/>
                </a:lnTo>
                <a:lnTo>
                  <a:pt x="2325370" y="0"/>
                </a:lnTo>
                <a:lnTo>
                  <a:pt x="2649220" y="0"/>
                </a:lnTo>
                <a:lnTo>
                  <a:pt x="2663904" y="754"/>
                </a:lnTo>
                <a:lnTo>
                  <a:pt x="2705064" y="11477"/>
                </a:lnTo>
                <a:lnTo>
                  <a:pt x="2740313" y="33314"/>
                </a:lnTo>
                <a:lnTo>
                  <a:pt x="2767630" y="64247"/>
                </a:lnTo>
                <a:lnTo>
                  <a:pt x="2784995" y="102253"/>
                </a:lnTo>
                <a:lnTo>
                  <a:pt x="2790443" y="494284"/>
                </a:lnTo>
                <a:lnTo>
                  <a:pt x="2790443" y="706120"/>
                </a:lnTo>
                <a:lnTo>
                  <a:pt x="2789689" y="720804"/>
                </a:lnTo>
                <a:lnTo>
                  <a:pt x="2787474" y="735056"/>
                </a:lnTo>
                <a:lnTo>
                  <a:pt x="2772822" y="774470"/>
                </a:lnTo>
                <a:lnTo>
                  <a:pt x="2747729" y="807300"/>
                </a:lnTo>
                <a:lnTo>
                  <a:pt x="2714214" y="831524"/>
                </a:lnTo>
                <a:lnTo>
                  <a:pt x="2674299" y="845122"/>
                </a:lnTo>
                <a:lnTo>
                  <a:pt x="2325370" y="847344"/>
                </a:lnTo>
                <a:lnTo>
                  <a:pt x="2623820" y="1244727"/>
                </a:lnTo>
                <a:lnTo>
                  <a:pt x="1627759" y="847344"/>
                </a:lnTo>
                <a:lnTo>
                  <a:pt x="141223" y="847344"/>
                </a:lnTo>
                <a:lnTo>
                  <a:pt x="126537" y="846589"/>
                </a:lnTo>
                <a:lnTo>
                  <a:pt x="85374" y="835866"/>
                </a:lnTo>
                <a:lnTo>
                  <a:pt x="50125" y="814029"/>
                </a:lnTo>
                <a:lnTo>
                  <a:pt x="22809" y="783096"/>
                </a:lnTo>
                <a:lnTo>
                  <a:pt x="5447" y="745090"/>
                </a:lnTo>
                <a:lnTo>
                  <a:pt x="0" y="706120"/>
                </a:lnTo>
                <a:lnTo>
                  <a:pt x="0" y="494284"/>
                </a:lnTo>
                <a:lnTo>
                  <a:pt x="0" y="14122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27431" y="1062799"/>
            <a:ext cx="2479040" cy="675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710"/>
              </a:lnSpc>
            </a:pPr>
            <a:r>
              <a:rPr sz="2400" b="1" dirty="0">
                <a:latin typeface="宋体"/>
                <a:cs typeface="宋体"/>
              </a:rPr>
              <a:t>为整个电路系统提 供所需的供电电压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420606" y="965454"/>
            <a:ext cx="2420620" cy="1264285"/>
          </a:xfrm>
          <a:custGeom>
            <a:avLst/>
            <a:gdLst/>
            <a:ahLst/>
            <a:cxnLst/>
            <a:rect l="l" t="t" r="r" b="b"/>
            <a:pathLst>
              <a:path w="2420620" h="1264285">
                <a:moveTo>
                  <a:pt x="2278888" y="0"/>
                </a:moveTo>
                <a:lnTo>
                  <a:pt x="403351" y="0"/>
                </a:lnTo>
                <a:lnTo>
                  <a:pt x="130522" y="399"/>
                </a:lnTo>
                <a:lnTo>
                  <a:pt x="88923" y="10006"/>
                </a:lnTo>
                <a:lnTo>
                  <a:pt x="53050" y="30912"/>
                </a:lnTo>
                <a:lnTo>
                  <a:pt x="24925" y="61098"/>
                </a:lnTo>
                <a:lnTo>
                  <a:pt x="6568" y="98542"/>
                </a:lnTo>
                <a:lnTo>
                  <a:pt x="0" y="141224"/>
                </a:lnTo>
                <a:lnTo>
                  <a:pt x="0" y="706120"/>
                </a:lnTo>
                <a:lnTo>
                  <a:pt x="5448" y="745090"/>
                </a:lnTo>
                <a:lnTo>
                  <a:pt x="22813" y="783096"/>
                </a:lnTo>
                <a:lnTo>
                  <a:pt x="50130" y="814029"/>
                </a:lnTo>
                <a:lnTo>
                  <a:pt x="85379" y="835866"/>
                </a:lnTo>
                <a:lnTo>
                  <a:pt x="126539" y="846589"/>
                </a:lnTo>
                <a:lnTo>
                  <a:pt x="141224" y="847344"/>
                </a:lnTo>
                <a:lnTo>
                  <a:pt x="403351" y="847344"/>
                </a:lnTo>
                <a:lnTo>
                  <a:pt x="177292" y="1264031"/>
                </a:lnTo>
                <a:lnTo>
                  <a:pt x="1008379" y="847344"/>
                </a:lnTo>
                <a:lnTo>
                  <a:pt x="2289589" y="846944"/>
                </a:lnTo>
                <a:lnTo>
                  <a:pt x="2303967" y="845122"/>
                </a:lnTo>
                <a:lnTo>
                  <a:pt x="2343882" y="831524"/>
                </a:lnTo>
                <a:lnTo>
                  <a:pt x="2377397" y="807300"/>
                </a:lnTo>
                <a:lnTo>
                  <a:pt x="2402490" y="774470"/>
                </a:lnTo>
                <a:lnTo>
                  <a:pt x="2417142" y="735056"/>
                </a:lnTo>
                <a:lnTo>
                  <a:pt x="2420112" y="706120"/>
                </a:lnTo>
                <a:lnTo>
                  <a:pt x="2420112" y="494284"/>
                </a:lnTo>
                <a:lnTo>
                  <a:pt x="2419712" y="130522"/>
                </a:lnTo>
                <a:lnTo>
                  <a:pt x="2410105" y="88923"/>
                </a:lnTo>
                <a:lnTo>
                  <a:pt x="2389199" y="53050"/>
                </a:lnTo>
                <a:lnTo>
                  <a:pt x="2359013" y="24925"/>
                </a:lnTo>
                <a:lnTo>
                  <a:pt x="2321569" y="6568"/>
                </a:lnTo>
                <a:lnTo>
                  <a:pt x="2293572" y="754"/>
                </a:lnTo>
                <a:lnTo>
                  <a:pt x="227888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420606" y="965454"/>
            <a:ext cx="2420620" cy="1264285"/>
          </a:xfrm>
          <a:custGeom>
            <a:avLst/>
            <a:gdLst/>
            <a:ahLst/>
            <a:cxnLst/>
            <a:rect l="l" t="t" r="r" b="b"/>
            <a:pathLst>
              <a:path w="2420620" h="1264285">
                <a:moveTo>
                  <a:pt x="0" y="141224"/>
                </a:moveTo>
                <a:lnTo>
                  <a:pt x="6568" y="98542"/>
                </a:lnTo>
                <a:lnTo>
                  <a:pt x="24925" y="61098"/>
                </a:lnTo>
                <a:lnTo>
                  <a:pt x="53050" y="30912"/>
                </a:lnTo>
                <a:lnTo>
                  <a:pt x="88923" y="10006"/>
                </a:lnTo>
                <a:lnTo>
                  <a:pt x="130522" y="399"/>
                </a:lnTo>
                <a:lnTo>
                  <a:pt x="403351" y="0"/>
                </a:lnTo>
                <a:lnTo>
                  <a:pt x="1008379" y="0"/>
                </a:lnTo>
                <a:lnTo>
                  <a:pt x="2278888" y="0"/>
                </a:lnTo>
                <a:lnTo>
                  <a:pt x="2293572" y="754"/>
                </a:lnTo>
                <a:lnTo>
                  <a:pt x="2334732" y="11477"/>
                </a:lnTo>
                <a:lnTo>
                  <a:pt x="2369981" y="33314"/>
                </a:lnTo>
                <a:lnTo>
                  <a:pt x="2397298" y="64247"/>
                </a:lnTo>
                <a:lnTo>
                  <a:pt x="2414663" y="102253"/>
                </a:lnTo>
                <a:lnTo>
                  <a:pt x="2420112" y="494284"/>
                </a:lnTo>
                <a:lnTo>
                  <a:pt x="2420112" y="706120"/>
                </a:lnTo>
                <a:lnTo>
                  <a:pt x="2419357" y="720804"/>
                </a:lnTo>
                <a:lnTo>
                  <a:pt x="2417142" y="735056"/>
                </a:lnTo>
                <a:lnTo>
                  <a:pt x="2402490" y="774470"/>
                </a:lnTo>
                <a:lnTo>
                  <a:pt x="2377397" y="807300"/>
                </a:lnTo>
                <a:lnTo>
                  <a:pt x="2343882" y="831524"/>
                </a:lnTo>
                <a:lnTo>
                  <a:pt x="2303967" y="845122"/>
                </a:lnTo>
                <a:lnTo>
                  <a:pt x="1008379" y="847344"/>
                </a:lnTo>
                <a:lnTo>
                  <a:pt x="177292" y="1264031"/>
                </a:lnTo>
                <a:lnTo>
                  <a:pt x="403351" y="847344"/>
                </a:lnTo>
                <a:lnTo>
                  <a:pt x="141224" y="847344"/>
                </a:lnTo>
                <a:lnTo>
                  <a:pt x="126539" y="846589"/>
                </a:lnTo>
                <a:lnTo>
                  <a:pt x="85379" y="835866"/>
                </a:lnTo>
                <a:lnTo>
                  <a:pt x="50130" y="814029"/>
                </a:lnTo>
                <a:lnTo>
                  <a:pt x="22813" y="783096"/>
                </a:lnTo>
                <a:lnTo>
                  <a:pt x="5448" y="745090"/>
                </a:lnTo>
                <a:lnTo>
                  <a:pt x="0" y="706120"/>
                </a:lnTo>
                <a:lnTo>
                  <a:pt x="0" y="494284"/>
                </a:lnTo>
                <a:lnTo>
                  <a:pt x="0" y="14122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600692" y="1041463"/>
            <a:ext cx="2060575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marR="5080" indent="-251460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为</a:t>
            </a:r>
            <a:r>
              <a:rPr sz="2400" b="1" spc="-5" dirty="0">
                <a:latin typeface="Consolas"/>
                <a:cs typeface="Consolas"/>
              </a:rPr>
              <a:t>MCU</a:t>
            </a:r>
            <a:r>
              <a:rPr sz="2400" b="1" dirty="0">
                <a:latin typeface="宋体"/>
                <a:cs typeface="宋体"/>
              </a:rPr>
              <a:t>提供所需 的时钟信号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2034" y="2969514"/>
            <a:ext cx="2790825" cy="1242695"/>
          </a:xfrm>
          <a:custGeom>
            <a:avLst/>
            <a:gdLst/>
            <a:ahLst/>
            <a:cxnLst/>
            <a:rect l="l" t="t" r="r" b="b"/>
            <a:pathLst>
              <a:path w="2790825" h="1242695">
                <a:moveTo>
                  <a:pt x="2649474" y="0"/>
                </a:moveTo>
                <a:lnTo>
                  <a:pt x="1627759" y="0"/>
                </a:lnTo>
                <a:lnTo>
                  <a:pt x="130680" y="369"/>
                </a:lnTo>
                <a:lnTo>
                  <a:pt x="89039" y="9874"/>
                </a:lnTo>
                <a:lnTo>
                  <a:pt x="53124" y="30713"/>
                </a:lnTo>
                <a:lnTo>
                  <a:pt x="24961" y="60859"/>
                </a:lnTo>
                <a:lnTo>
                  <a:pt x="6578" y="98287"/>
                </a:lnTo>
                <a:lnTo>
                  <a:pt x="0" y="140969"/>
                </a:lnTo>
                <a:lnTo>
                  <a:pt x="0" y="704850"/>
                </a:lnTo>
                <a:lnTo>
                  <a:pt x="5347" y="743436"/>
                </a:lnTo>
                <a:lnTo>
                  <a:pt x="22633" y="781485"/>
                </a:lnTo>
                <a:lnTo>
                  <a:pt x="49902" y="812457"/>
                </a:lnTo>
                <a:lnTo>
                  <a:pt x="85127" y="834325"/>
                </a:lnTo>
                <a:lnTo>
                  <a:pt x="126283" y="845064"/>
                </a:lnTo>
                <a:lnTo>
                  <a:pt x="140970" y="845819"/>
                </a:lnTo>
                <a:lnTo>
                  <a:pt x="1627759" y="845819"/>
                </a:lnTo>
                <a:lnTo>
                  <a:pt x="2623820" y="1242568"/>
                </a:lnTo>
                <a:lnTo>
                  <a:pt x="2325370" y="845819"/>
                </a:lnTo>
                <a:lnTo>
                  <a:pt x="2659763" y="845450"/>
                </a:lnTo>
                <a:lnTo>
                  <a:pt x="2674155" y="843666"/>
                </a:lnTo>
                <a:lnTo>
                  <a:pt x="2714112" y="830158"/>
                </a:lnTo>
                <a:lnTo>
                  <a:pt x="2747668" y="805991"/>
                </a:lnTo>
                <a:lnTo>
                  <a:pt x="2772796" y="773193"/>
                </a:lnTo>
                <a:lnTo>
                  <a:pt x="2787470" y="733788"/>
                </a:lnTo>
                <a:lnTo>
                  <a:pt x="2790443" y="704850"/>
                </a:lnTo>
                <a:lnTo>
                  <a:pt x="2790443" y="493394"/>
                </a:lnTo>
                <a:lnTo>
                  <a:pt x="2790074" y="130680"/>
                </a:lnTo>
                <a:lnTo>
                  <a:pt x="2780569" y="89039"/>
                </a:lnTo>
                <a:lnTo>
                  <a:pt x="2759730" y="53124"/>
                </a:lnTo>
                <a:lnTo>
                  <a:pt x="2729584" y="24961"/>
                </a:lnTo>
                <a:lnTo>
                  <a:pt x="2692156" y="6578"/>
                </a:lnTo>
                <a:lnTo>
                  <a:pt x="2664160" y="755"/>
                </a:lnTo>
                <a:lnTo>
                  <a:pt x="2649474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2034" y="2969514"/>
            <a:ext cx="2790825" cy="1242695"/>
          </a:xfrm>
          <a:custGeom>
            <a:avLst/>
            <a:gdLst/>
            <a:ahLst/>
            <a:cxnLst/>
            <a:rect l="l" t="t" r="r" b="b"/>
            <a:pathLst>
              <a:path w="2790825" h="1242695">
                <a:moveTo>
                  <a:pt x="0" y="140969"/>
                </a:moveTo>
                <a:lnTo>
                  <a:pt x="6578" y="98287"/>
                </a:lnTo>
                <a:lnTo>
                  <a:pt x="24961" y="60859"/>
                </a:lnTo>
                <a:lnTo>
                  <a:pt x="53124" y="30713"/>
                </a:lnTo>
                <a:lnTo>
                  <a:pt x="89039" y="9874"/>
                </a:lnTo>
                <a:lnTo>
                  <a:pt x="130680" y="369"/>
                </a:lnTo>
                <a:lnTo>
                  <a:pt x="1627759" y="0"/>
                </a:lnTo>
                <a:lnTo>
                  <a:pt x="2325370" y="0"/>
                </a:lnTo>
                <a:lnTo>
                  <a:pt x="2649474" y="0"/>
                </a:lnTo>
                <a:lnTo>
                  <a:pt x="2664160" y="755"/>
                </a:lnTo>
                <a:lnTo>
                  <a:pt x="2705316" y="11494"/>
                </a:lnTo>
                <a:lnTo>
                  <a:pt x="2740541" y="33362"/>
                </a:lnTo>
                <a:lnTo>
                  <a:pt x="2767810" y="64334"/>
                </a:lnTo>
                <a:lnTo>
                  <a:pt x="2785096" y="102383"/>
                </a:lnTo>
                <a:lnTo>
                  <a:pt x="2790443" y="493394"/>
                </a:lnTo>
                <a:lnTo>
                  <a:pt x="2790443" y="704850"/>
                </a:lnTo>
                <a:lnTo>
                  <a:pt x="2789688" y="719536"/>
                </a:lnTo>
                <a:lnTo>
                  <a:pt x="2787470" y="733788"/>
                </a:lnTo>
                <a:lnTo>
                  <a:pt x="2772796" y="773193"/>
                </a:lnTo>
                <a:lnTo>
                  <a:pt x="2747668" y="805991"/>
                </a:lnTo>
                <a:lnTo>
                  <a:pt x="2714112" y="830158"/>
                </a:lnTo>
                <a:lnTo>
                  <a:pt x="2674155" y="843666"/>
                </a:lnTo>
                <a:lnTo>
                  <a:pt x="2325370" y="845819"/>
                </a:lnTo>
                <a:lnTo>
                  <a:pt x="2623820" y="1242568"/>
                </a:lnTo>
                <a:lnTo>
                  <a:pt x="1627759" y="845819"/>
                </a:lnTo>
                <a:lnTo>
                  <a:pt x="140970" y="845819"/>
                </a:lnTo>
                <a:lnTo>
                  <a:pt x="126283" y="845064"/>
                </a:lnTo>
                <a:lnTo>
                  <a:pt x="85127" y="834325"/>
                </a:lnTo>
                <a:lnTo>
                  <a:pt x="49902" y="812457"/>
                </a:lnTo>
                <a:lnTo>
                  <a:pt x="22633" y="781485"/>
                </a:lnTo>
                <a:lnTo>
                  <a:pt x="5347" y="743436"/>
                </a:lnTo>
                <a:lnTo>
                  <a:pt x="0" y="704850"/>
                </a:lnTo>
                <a:lnTo>
                  <a:pt x="0" y="493394"/>
                </a:lnTo>
                <a:lnTo>
                  <a:pt x="0" y="14096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82295" y="3044372"/>
            <a:ext cx="236664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为</a:t>
            </a:r>
            <a:r>
              <a:rPr sz="2400" b="1" spc="-5" dirty="0">
                <a:latin typeface="Consolas"/>
                <a:cs typeface="Consolas"/>
              </a:rPr>
              <a:t>MCU</a:t>
            </a:r>
            <a:r>
              <a:rPr sz="2400" b="1" spc="-5" dirty="0">
                <a:latin typeface="宋体"/>
                <a:cs typeface="宋体"/>
              </a:rPr>
              <a:t>提供程序下</a:t>
            </a:r>
            <a:endParaRPr sz="2400">
              <a:latin typeface="宋体"/>
              <a:cs typeface="宋体"/>
            </a:endParaRPr>
          </a:p>
          <a:p>
            <a:pPr marL="1270" algn="ctr">
              <a:lnSpc>
                <a:spcPts val="2840"/>
              </a:lnSpc>
            </a:pPr>
            <a:r>
              <a:rPr sz="2400" b="1" dirty="0">
                <a:latin typeface="宋体"/>
                <a:cs typeface="宋体"/>
              </a:rPr>
              <a:t>载和调试的接口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420606" y="2987802"/>
            <a:ext cx="2420620" cy="1264285"/>
          </a:xfrm>
          <a:custGeom>
            <a:avLst/>
            <a:gdLst/>
            <a:ahLst/>
            <a:cxnLst/>
            <a:rect l="l" t="t" r="r" b="b"/>
            <a:pathLst>
              <a:path w="2420620" h="1264285">
                <a:moveTo>
                  <a:pt x="2278888" y="0"/>
                </a:moveTo>
                <a:lnTo>
                  <a:pt x="403351" y="0"/>
                </a:lnTo>
                <a:lnTo>
                  <a:pt x="130522" y="399"/>
                </a:lnTo>
                <a:lnTo>
                  <a:pt x="88923" y="10006"/>
                </a:lnTo>
                <a:lnTo>
                  <a:pt x="53050" y="30912"/>
                </a:lnTo>
                <a:lnTo>
                  <a:pt x="24925" y="61098"/>
                </a:lnTo>
                <a:lnTo>
                  <a:pt x="6568" y="98542"/>
                </a:lnTo>
                <a:lnTo>
                  <a:pt x="0" y="141224"/>
                </a:lnTo>
                <a:lnTo>
                  <a:pt x="0" y="706120"/>
                </a:lnTo>
                <a:lnTo>
                  <a:pt x="5448" y="745090"/>
                </a:lnTo>
                <a:lnTo>
                  <a:pt x="22813" y="783096"/>
                </a:lnTo>
                <a:lnTo>
                  <a:pt x="50130" y="814029"/>
                </a:lnTo>
                <a:lnTo>
                  <a:pt x="85379" y="835866"/>
                </a:lnTo>
                <a:lnTo>
                  <a:pt x="126539" y="846589"/>
                </a:lnTo>
                <a:lnTo>
                  <a:pt x="141224" y="847344"/>
                </a:lnTo>
                <a:lnTo>
                  <a:pt x="403351" y="847344"/>
                </a:lnTo>
                <a:lnTo>
                  <a:pt x="177292" y="1264031"/>
                </a:lnTo>
                <a:lnTo>
                  <a:pt x="1008379" y="847344"/>
                </a:lnTo>
                <a:lnTo>
                  <a:pt x="2289589" y="846944"/>
                </a:lnTo>
                <a:lnTo>
                  <a:pt x="2303967" y="845122"/>
                </a:lnTo>
                <a:lnTo>
                  <a:pt x="2343882" y="831524"/>
                </a:lnTo>
                <a:lnTo>
                  <a:pt x="2377397" y="807300"/>
                </a:lnTo>
                <a:lnTo>
                  <a:pt x="2402490" y="774470"/>
                </a:lnTo>
                <a:lnTo>
                  <a:pt x="2417142" y="735056"/>
                </a:lnTo>
                <a:lnTo>
                  <a:pt x="2420112" y="706120"/>
                </a:lnTo>
                <a:lnTo>
                  <a:pt x="2420112" y="494284"/>
                </a:lnTo>
                <a:lnTo>
                  <a:pt x="2419712" y="130522"/>
                </a:lnTo>
                <a:lnTo>
                  <a:pt x="2410105" y="88923"/>
                </a:lnTo>
                <a:lnTo>
                  <a:pt x="2389199" y="53050"/>
                </a:lnTo>
                <a:lnTo>
                  <a:pt x="2359013" y="24925"/>
                </a:lnTo>
                <a:lnTo>
                  <a:pt x="2321569" y="6568"/>
                </a:lnTo>
                <a:lnTo>
                  <a:pt x="2293572" y="754"/>
                </a:lnTo>
                <a:lnTo>
                  <a:pt x="227888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420606" y="2987802"/>
            <a:ext cx="2420620" cy="1264285"/>
          </a:xfrm>
          <a:custGeom>
            <a:avLst/>
            <a:gdLst/>
            <a:ahLst/>
            <a:cxnLst/>
            <a:rect l="l" t="t" r="r" b="b"/>
            <a:pathLst>
              <a:path w="2420620" h="1264285">
                <a:moveTo>
                  <a:pt x="0" y="141224"/>
                </a:moveTo>
                <a:lnTo>
                  <a:pt x="6568" y="98542"/>
                </a:lnTo>
                <a:lnTo>
                  <a:pt x="24925" y="61098"/>
                </a:lnTo>
                <a:lnTo>
                  <a:pt x="53050" y="30912"/>
                </a:lnTo>
                <a:lnTo>
                  <a:pt x="88923" y="10006"/>
                </a:lnTo>
                <a:lnTo>
                  <a:pt x="130522" y="399"/>
                </a:lnTo>
                <a:lnTo>
                  <a:pt x="403351" y="0"/>
                </a:lnTo>
                <a:lnTo>
                  <a:pt x="1008379" y="0"/>
                </a:lnTo>
                <a:lnTo>
                  <a:pt x="2278888" y="0"/>
                </a:lnTo>
                <a:lnTo>
                  <a:pt x="2293572" y="754"/>
                </a:lnTo>
                <a:lnTo>
                  <a:pt x="2334732" y="11477"/>
                </a:lnTo>
                <a:lnTo>
                  <a:pt x="2369981" y="33314"/>
                </a:lnTo>
                <a:lnTo>
                  <a:pt x="2397298" y="64247"/>
                </a:lnTo>
                <a:lnTo>
                  <a:pt x="2414663" y="102253"/>
                </a:lnTo>
                <a:lnTo>
                  <a:pt x="2420112" y="494284"/>
                </a:lnTo>
                <a:lnTo>
                  <a:pt x="2420112" y="706120"/>
                </a:lnTo>
                <a:lnTo>
                  <a:pt x="2419357" y="720804"/>
                </a:lnTo>
                <a:lnTo>
                  <a:pt x="2417142" y="735056"/>
                </a:lnTo>
                <a:lnTo>
                  <a:pt x="2402490" y="774470"/>
                </a:lnTo>
                <a:lnTo>
                  <a:pt x="2377397" y="807300"/>
                </a:lnTo>
                <a:lnTo>
                  <a:pt x="2343882" y="831524"/>
                </a:lnTo>
                <a:lnTo>
                  <a:pt x="2303967" y="845122"/>
                </a:lnTo>
                <a:lnTo>
                  <a:pt x="1008379" y="847344"/>
                </a:lnTo>
                <a:lnTo>
                  <a:pt x="177292" y="1264031"/>
                </a:lnTo>
                <a:lnTo>
                  <a:pt x="403351" y="847344"/>
                </a:lnTo>
                <a:lnTo>
                  <a:pt x="141224" y="847344"/>
                </a:lnTo>
                <a:lnTo>
                  <a:pt x="126539" y="846589"/>
                </a:lnTo>
                <a:lnTo>
                  <a:pt x="85379" y="835866"/>
                </a:lnTo>
                <a:lnTo>
                  <a:pt x="50130" y="814029"/>
                </a:lnTo>
                <a:lnTo>
                  <a:pt x="22813" y="783096"/>
                </a:lnTo>
                <a:lnTo>
                  <a:pt x="5448" y="745090"/>
                </a:lnTo>
                <a:lnTo>
                  <a:pt x="0" y="706120"/>
                </a:lnTo>
                <a:lnTo>
                  <a:pt x="0" y="494284"/>
                </a:lnTo>
                <a:lnTo>
                  <a:pt x="0" y="14122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600692" y="3063930"/>
            <a:ext cx="2060575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5" dirty="0">
                <a:latin typeface="宋体"/>
                <a:cs typeface="宋体"/>
              </a:rPr>
              <a:t>为</a:t>
            </a:r>
            <a:r>
              <a:rPr sz="2400" b="1" spc="-5" dirty="0">
                <a:latin typeface="Consolas"/>
                <a:cs typeface="Consolas"/>
              </a:rPr>
              <a:t>MC</a:t>
            </a:r>
            <a:r>
              <a:rPr sz="2400" b="1" dirty="0">
                <a:latin typeface="Consolas"/>
                <a:cs typeface="Consolas"/>
              </a:rPr>
              <a:t>U</a:t>
            </a:r>
            <a:r>
              <a:rPr sz="2400" b="1" spc="-5" dirty="0">
                <a:latin typeface="宋体"/>
                <a:cs typeface="宋体"/>
              </a:rPr>
              <a:t>提供统一</a:t>
            </a:r>
            <a:endParaRPr sz="2400">
              <a:latin typeface="宋体"/>
              <a:cs typeface="宋体"/>
            </a:endParaRPr>
          </a:p>
          <a:p>
            <a:pPr algn="ctr">
              <a:lnSpc>
                <a:spcPts val="2835"/>
              </a:lnSpc>
            </a:pPr>
            <a:r>
              <a:rPr sz="2400" b="1" dirty="0">
                <a:latin typeface="宋体"/>
                <a:cs typeface="宋体"/>
              </a:rPr>
              <a:t>的初始状态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8" name="object 78"/>
          <p:cNvSpPr txBox="1"/>
          <p:nvPr/>
        </p:nvSpPr>
        <p:spPr>
          <a:xfrm rot="18900000">
            <a:off x="9255081" y="3687130"/>
            <a:ext cx="1405589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5"/>
              </a:lnSpc>
            </a:pPr>
            <a:r>
              <a:rPr sz="1500" dirty="0">
                <a:solidFill>
                  <a:srgbClr val="9B9B9B"/>
                </a:solidFill>
                <a:latin typeface="微软雅黑"/>
                <a:cs typeface="微软雅黑"/>
              </a:rPr>
              <a:t>中国大学MOOC</a:t>
            </a:r>
            <a:endParaRPr sz="15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029900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1.3 STM32</a:t>
            </a:r>
            <a:r>
              <a:rPr lang="zh-CN" altLang="en-US"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的内部构造</a:t>
            </a: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7999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88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能力目标：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了解与程序开发相关的部分单片机内部构造，主要包括存储结构、启动模式与时钟树三部分。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任务要求：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（无）</a:t>
            </a:r>
            <a:endParaRPr lang="zh-CN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596699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456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一、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Cortex-M3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的存储结构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Cortex-M3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的存储器（包括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Flash ROM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SRAM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等）采用统一编址方式，寻址空间为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4GB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位寻址，                                      ，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0x0000 0000~0xFFFF FFFF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4GB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寻址空间被分为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个主块（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Block0~Block7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），每块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512MB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Flash ROM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用于存放程序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）位于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Block0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中，地址范围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0x0800 0000~0x0801 FFFF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STM32F103R6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地址范围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0x0800 0000~0x08000 7FFF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（共计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32KB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SRAM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rgbClr val="6A0C1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用于存放程序运行中产生的临时数据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）位于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Block1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中，起始地址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0x2000 0000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STM32F103R6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地址范围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0x2000 0000~0x2000 17FF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（共计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6KB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Peripherals（</a:t>
            </a:r>
            <a:r>
              <a:rPr lang="zh-CN" altLang="en-US" sz="2400" b="1" dirty="0">
                <a:solidFill>
                  <a:srgbClr val="6A0C1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片上外设</a:t>
            </a:r>
            <a:r>
              <a:rPr lang="zh-CN" altLang="en-US" sz="2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映射地址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）位于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Block2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中，起始地址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0x4000 0000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41955" y="1521460"/>
          <a:ext cx="304609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r:id="rId5" imgW="1638300" imgH="203200" progId="Equation.KSEE3">
                  <p:embed/>
                </p:oleObj>
              </mc:Choice>
              <mc:Fallback>
                <p:oleObj r:id="rId5" imgW="1638300" imgH="203200" progId="Equation.KSEE3">
                  <p:embed/>
                  <p:pic>
                    <p:nvPicPr>
                      <p:cNvPr id="3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41955" y="1521460"/>
                        <a:ext cx="3046095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640774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080" y="118745"/>
            <a:ext cx="5579745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5691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44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由于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使用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语言开发程序，因此程序与数据的存储地址完全由编译器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自动分配，无需人为干预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定义变量，比如：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int a=12;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编译器为变量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自动分配一个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字节的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SRAM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空间并赋予初值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定义常量，比如：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const int b=23;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当变量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为</a:t>
            </a:r>
            <a:r>
              <a:rPr lang="zh-CN" altLang="en-US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全局变量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时，编译器为变量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自动分配一个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字节的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ROM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空间并赋予初值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23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53281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459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STM32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的启动（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BOOT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）模式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STM32F103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系列单片机具有三种启动方式，如下表所示，分别为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Main Flash memory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（主闪存）启动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System memory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系统存储器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）启动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Embedded SRAM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（内置静态随机存储器）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启动。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670" y="2305050"/>
            <a:ext cx="8357235" cy="19507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0510" y="4210685"/>
            <a:ext cx="11669395" cy="230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其中尤以前两种启动方式最为常见：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从主闪存启动即正常运行用户编写的程序，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从系统存储器启动即进入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公司预置的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BootLoader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（启动加载程序），一般用于从串口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下载用户程序（具体将在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1.4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部分介绍）。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对于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STM32F103R6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而言，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BOOT0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引脚即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60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号引脚，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BOOT1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引脚即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号引脚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PB2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90077978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4726940" cy="4488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三、时钟树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外设较多，为了实现低功耗设计，允许用户对各种外设的时钟信号进行配置，由此构成了如右图所示的时钟树。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内部采用了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PLL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Phase-Locked Loop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，锁相环）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技术，可以将总线频率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最高倍频至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72MHz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290" y="125730"/>
            <a:ext cx="6089015" cy="66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15317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1.4  STM32的</a:t>
            </a:r>
            <a:r>
              <a:rPr lang="zh-CN"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程序</a:t>
            </a:r>
            <a:r>
              <a:rPr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开发方式</a:t>
            </a: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27312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88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能力目标：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的程序开发流程，了解与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STM32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程序开发相关的软件与硬件知识。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任务要求：</a:t>
            </a:r>
            <a:endParaRPr lang="en-US" altLang="zh-CN" sz="2800" b="1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（无）</a:t>
            </a:r>
            <a:endParaRPr lang="zh-CN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035608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一、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STM32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程序开发流程概述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3617595" y="1139825"/>
            <a:ext cx="3964940" cy="116522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sym typeface="+mn-ea"/>
              </a:rPr>
              <a:t>利用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STM32CubeMX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生成工程目录与初始化代码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617595" y="2875915"/>
            <a:ext cx="3964940" cy="116522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利用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MDK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编写程序并生成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HEX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文件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292225" y="4863465"/>
            <a:ext cx="3964940" cy="14109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利用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FlyMcu</a:t>
            </a:r>
            <a:r>
              <a:rPr lang="zh-CN" altLang="en-US" sz="2400" dirty="0">
                <a:solidFill>
                  <a:schemeClr val="bg1"/>
                </a:solidFill>
                <a:sym typeface="+mn-ea"/>
              </a:rPr>
              <a:t>将程序下载至单片机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Flash ROM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059170" y="4863465"/>
            <a:ext cx="3964940" cy="14109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sym typeface="+mn-ea"/>
              </a:rPr>
              <a:t>利用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Proteus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仿真模拟</a:t>
            </a:r>
          </a:p>
        </p:txBody>
      </p:sp>
      <p:sp>
        <p:nvSpPr>
          <p:cNvPr id="8" name="下箭头 7"/>
          <p:cNvSpPr/>
          <p:nvPr/>
        </p:nvSpPr>
        <p:spPr>
          <a:xfrm>
            <a:off x="5405755" y="2305050"/>
            <a:ext cx="387985" cy="57086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4265930" y="4041140"/>
            <a:ext cx="387985" cy="82169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600190" y="4041140"/>
            <a:ext cx="387985" cy="82169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254250" y="4150995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硬件实物调试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41515" y="4150995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软件仿真模拟</a:t>
            </a:r>
          </a:p>
        </p:txBody>
      </p:sp>
    </p:spTree>
    <p:extLst>
      <p:ext uri="{BB962C8B-B14F-4D97-AF65-F5344CB8AC3E}">
        <p14:creationId xmlns:p14="http://schemas.microsoft.com/office/powerpoint/2010/main" val="3705429670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525250" cy="2089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STM32CubeMX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简介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STM32CubeMX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官方在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2016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年推出的免费的图形化配置工具，通过傻瓜化的操作即可轻松完成整个工程的初始化配置，工具内置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HAL/LL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驱动库，除了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TrueSTUDIO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，还支持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Keil MDK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IAR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等主流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IDE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11" descr="cubemx截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28" y="2426335"/>
            <a:ext cx="4913630" cy="390207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6023610" y="3957439"/>
            <a:ext cx="537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寄存器版开发，标准库开发，库函数开发等？</a:t>
            </a:r>
          </a:p>
        </p:txBody>
      </p:sp>
    </p:spTree>
    <p:extLst>
      <p:ext uri="{BB962C8B-B14F-4D97-AF65-F5344CB8AC3E}">
        <p14:creationId xmlns:p14="http://schemas.microsoft.com/office/powerpoint/2010/main" val="415210061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4" y="336550"/>
            <a:ext cx="11827705" cy="593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STM32CubeMX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简介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标准外设库（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Standard Peripherals Library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）是对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芯片的一个完整的封装，包括所有标准器件外设的器件驱动器。这应该是目前使用最多的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库。几乎全部使用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语言实现。但是，标准外设库也是针对某一系列芯片而言的，没有可移植性。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HAL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Hardware Abstraction Layer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的缩写，中文名：硬件抽象层。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HAL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库是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最新推出的抽象层嵌入式软件，可以更好的确保跨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产品的最大可移植性。该库提供了一整套一致的中间件组件，如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RTOS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USB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TCP / IP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和图形等。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HAL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库就是用来取代之前的标准外设库的，是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未来主推的库，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新出的芯片已经没有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库了，比如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系列。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LL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库（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Low Layer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新增的库，与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HAL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捆绑发布，文档也是和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HAL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文档在一起的。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库更接近硬件层，对需要复杂上层协议栈的外设不适用，直接操作寄存器。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38000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20951" y="389881"/>
            <a:ext cx="139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252525"/>
                </a:solidFill>
                <a:latin typeface="微软雅黑"/>
                <a:cs typeface="微软雅黑"/>
              </a:rPr>
              <a:t>程序开发方式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1183" y="685201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30">
              <a:lnSpc>
                <a:spcPct val="100000"/>
              </a:lnSpc>
            </a:pPr>
            <a:r>
              <a:rPr dirty="0"/>
              <a:t>寄存器开发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20717" y="1172393"/>
            <a:ext cx="375221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微软雅黑"/>
                <a:cs typeface="微软雅黑"/>
              </a:rPr>
              <a:t>以STM3</a:t>
            </a:r>
            <a:r>
              <a:rPr sz="2800" b="1" dirty="0">
                <a:latin typeface="微软雅黑"/>
                <a:cs typeface="微软雅黑"/>
              </a:rPr>
              <a:t>2</a:t>
            </a:r>
            <a:r>
              <a:rPr sz="2800" b="1" spc="-5" dirty="0">
                <a:latin typeface="微软雅黑"/>
                <a:cs typeface="微软雅黑"/>
              </a:rPr>
              <a:t>微控制器为例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683693"/>
              </p:ext>
            </p:extLst>
          </p:nvPr>
        </p:nvGraphicFramePr>
        <p:xfrm>
          <a:off x="745236" y="1701546"/>
          <a:ext cx="10436351" cy="2485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ts val="2270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228600" algn="ctr">
                        <a:lnSpc>
                          <a:spcPts val="2270"/>
                        </a:lnSpc>
                      </a:pPr>
                      <a:r>
                        <a:rPr sz="2800" b="1" dirty="0" err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优点</a:t>
                      </a:r>
                      <a:endParaRPr sz="28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7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754">
                <a:tc gridSpan="3"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从细节上更加清晰地了解和掌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握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的架构、原理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4095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程序代码简练、短小，执行效率高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388077"/>
              </p:ext>
            </p:extLst>
          </p:nvPr>
        </p:nvGraphicFramePr>
        <p:xfrm>
          <a:off x="745236" y="4015740"/>
          <a:ext cx="10436351" cy="29183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ts val="226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228600" algn="ctr">
                        <a:lnSpc>
                          <a:spcPts val="2265"/>
                        </a:lnSpc>
                      </a:pPr>
                      <a:r>
                        <a:rPr sz="2800" b="1" dirty="0" err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缺点</a:t>
                      </a:r>
                      <a:endParaRPr sz="28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70">
                <a:tc gridSpan="3">
                  <a:txBody>
                    <a:bodyPr/>
                    <a:lstStyle/>
                    <a:p>
                      <a:pPr marL="752475" marR="345440" indent="-342900">
                        <a:lnSpc>
                          <a:spcPct val="15000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STM3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的外设多，每个外设对应多个寄存器，需要用户了解每个寄存 器的功能以及寄存器中每一个位的定义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4095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程序后期维护、移植会相对困难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184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20951" y="389881"/>
            <a:ext cx="139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52525"/>
                </a:solidFill>
              </a:rPr>
              <a:t>程序开发方式</a:t>
            </a:r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6392" y="1170929"/>
            <a:ext cx="15494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库</a:t>
            </a:r>
            <a:r>
              <a:rPr lang="zh-CN" altLang="en-US" sz="2400" b="1" dirty="0">
                <a:solidFill>
                  <a:srgbClr val="FFFFFF"/>
                </a:solidFill>
                <a:latin typeface="微软雅黑"/>
                <a:cs typeface="微软雅黑"/>
              </a:rPr>
              <a:t>函数</a:t>
            </a:r>
            <a:r>
              <a:rPr sz="2400" b="1" dirty="0" err="1">
                <a:solidFill>
                  <a:srgbClr val="FFFFFF"/>
                </a:solidFill>
                <a:latin typeface="微软雅黑"/>
                <a:cs typeface="微软雅黑"/>
              </a:rPr>
              <a:t>开发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497029"/>
              </p:ext>
            </p:extLst>
          </p:nvPr>
        </p:nvGraphicFramePr>
        <p:xfrm>
          <a:off x="745236" y="1697735"/>
          <a:ext cx="10436351" cy="2485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ts val="2270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228600" algn="ctr">
                        <a:lnSpc>
                          <a:spcPts val="2270"/>
                        </a:lnSpc>
                      </a:pPr>
                      <a:r>
                        <a:rPr sz="2800" b="1" dirty="0" err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优点</a:t>
                      </a:r>
                      <a:endParaRPr sz="28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7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754">
                <a:tc gridSpan="3"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对硬件的理解要求相对较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低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，会调用函数就会写程序，容易上手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4095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程序代码容错性好，后期维护相对简单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567163"/>
              </p:ext>
            </p:extLst>
          </p:nvPr>
        </p:nvGraphicFramePr>
        <p:xfrm>
          <a:off x="745236" y="4015740"/>
          <a:ext cx="10436351" cy="22579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ts val="226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228600" algn="ctr">
                        <a:lnSpc>
                          <a:spcPts val="2265"/>
                        </a:lnSpc>
                      </a:pPr>
                      <a:endParaRPr lang="en-US" sz="2800" b="1" dirty="0">
                        <a:solidFill>
                          <a:srgbClr val="FFFFFF"/>
                        </a:solidFill>
                        <a:latin typeface="微软雅黑"/>
                        <a:cs typeface="微软雅黑"/>
                      </a:endParaRPr>
                    </a:p>
                    <a:p>
                      <a:pPr marL="228600" algn="ctr">
                        <a:lnSpc>
                          <a:spcPts val="2265"/>
                        </a:lnSpc>
                      </a:pPr>
                      <a:r>
                        <a:rPr sz="2800" b="1" dirty="0" err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缺点</a:t>
                      </a:r>
                      <a:endParaRPr sz="28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070">
                <a:tc gridSpan="3"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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程序冗余较多，代码量较大，运行速度相对会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有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所影响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957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57330" cy="11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三、编译软件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TrueSTUDIO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Keil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MDK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IAR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，用的是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Keil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MDK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660" y="1946910"/>
            <a:ext cx="6445250" cy="462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49779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161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四、硬件实物调试简介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可以通过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ST-LINK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J-LINK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三种途径下载程序，本课程主要介绍第一种程序下载方式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ISP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。芯片型号：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STM32F103ZET6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099" y="1949299"/>
            <a:ext cx="5832475" cy="503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9868493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161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五、软件仿真模拟简介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电路仿真软件采用了来自英国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Labcenter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公司出品的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工具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Proteus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2016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年末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Proteus 8.6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中开始增加对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的支持。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390" y="1946910"/>
            <a:ext cx="5137785" cy="408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22345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47539" y="1881959"/>
            <a:ext cx="1117840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语言是嵌入式开发的基础中的基础。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语言不过关，大大限制嵌入式学习进度，以及嵌入式学习深度。嵌入式武林高手都是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高手。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谭浩强的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b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程序设计 第四版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千万级销量。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如果你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语言不过关，也可以直接在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MDK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环境下测试学习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语言。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336550"/>
            <a:ext cx="11669395" cy="59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六、熟练掌握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C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语言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1383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244045" y="1231174"/>
            <a:ext cx="8137525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ea typeface="宋体" pitchFamily="2" charset="-122"/>
              </a:rPr>
              <a:t>参考资料：</a:t>
            </a:r>
            <a:endParaRPr lang="en-US" altLang="zh-CN" sz="2800" b="1" dirty="0">
              <a:ea typeface="宋体" pitchFamily="2" charset="-122"/>
            </a:endParaRPr>
          </a:p>
          <a:p>
            <a:pPr marL="342900" indent="-342900" eaLnBrk="1" hangingPunct="1">
              <a:lnSpc>
                <a:spcPts val="3400"/>
              </a:lnSpc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最底层（了解）：</a:t>
            </a:r>
            <a:r>
              <a:rPr lang="en-US" altLang="zh-CN" sz="2000" b="1" dirty="0">
                <a:ea typeface="宋体" pitchFamily="2" charset="-122"/>
              </a:rPr>
              <a:t> CM3</a:t>
            </a:r>
            <a:r>
              <a:rPr lang="zh-CN" altLang="en-US" sz="2000" b="1" dirty="0">
                <a:ea typeface="宋体" pitchFamily="2" charset="-122"/>
              </a:rPr>
              <a:t>权威指南</a:t>
            </a:r>
            <a:r>
              <a:rPr lang="en-US" altLang="zh-CN" sz="2000" b="1" dirty="0">
                <a:ea typeface="宋体" pitchFamily="2" charset="-122"/>
              </a:rPr>
              <a:t>/CM4</a:t>
            </a:r>
            <a:r>
              <a:rPr lang="zh-CN" altLang="en-US" sz="2000" b="1" dirty="0">
                <a:ea typeface="宋体" pitchFamily="2" charset="-122"/>
              </a:rPr>
              <a:t>权威指南（</a:t>
            </a:r>
            <a:r>
              <a:rPr lang="en-US" altLang="zh-CN" sz="2000" b="1" dirty="0">
                <a:ea typeface="宋体" pitchFamily="2" charset="-122"/>
              </a:rPr>
              <a:t>ARM</a:t>
            </a:r>
            <a:r>
              <a:rPr lang="zh-CN" altLang="en-US" sz="2000" b="1" dirty="0">
                <a:ea typeface="宋体" pitchFamily="2" charset="-122"/>
              </a:rPr>
              <a:t>提供）</a:t>
            </a:r>
            <a:endParaRPr lang="en-US" altLang="zh-CN" sz="2000" b="1" dirty="0">
              <a:ea typeface="宋体" pitchFamily="2" charset="-122"/>
            </a:endParaRPr>
          </a:p>
          <a:p>
            <a:pPr marL="342900" indent="-342900" eaLnBrk="1" hangingPunct="1">
              <a:lnSpc>
                <a:spcPts val="3400"/>
              </a:lnSpc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芯片参考手册（芯片功能寄存器描述特性等，详细）（了解）：</a:t>
            </a:r>
            <a:endParaRPr lang="en-US" altLang="zh-CN" sz="2000" b="1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lnSpc>
                <a:spcPts val="34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 STM32F10x</a:t>
            </a:r>
            <a:r>
              <a:rPr lang="zh-CN" altLang="en-US" sz="2000" b="1" dirty="0">
                <a:ea typeface="宋体" pitchFamily="2" charset="-122"/>
              </a:rPr>
              <a:t>中文参考手册  </a:t>
            </a:r>
            <a:r>
              <a:rPr lang="en-US" altLang="zh-CN" sz="2000" b="1" dirty="0">
                <a:ea typeface="宋体" pitchFamily="2" charset="-122"/>
              </a:rPr>
              <a:t>/STM32F4xx</a:t>
            </a:r>
            <a:r>
              <a:rPr lang="zh-CN" altLang="en-US" sz="2000" b="1" dirty="0">
                <a:ea typeface="宋体" pitchFamily="2" charset="-122"/>
              </a:rPr>
              <a:t>中文参考手册（</a:t>
            </a:r>
            <a:r>
              <a:rPr lang="en-US" altLang="zh-CN" sz="2000" b="1" dirty="0">
                <a:ea typeface="宋体" pitchFamily="2" charset="-122"/>
              </a:rPr>
              <a:t>ST</a:t>
            </a:r>
            <a:r>
              <a:rPr lang="zh-CN" altLang="en-US" sz="2000" b="1" dirty="0">
                <a:ea typeface="宋体" pitchFamily="2" charset="-122"/>
              </a:rPr>
              <a:t>提供）</a:t>
            </a:r>
            <a:endParaRPr lang="en-US" altLang="zh-CN" sz="2000" b="1" dirty="0">
              <a:ea typeface="宋体" pitchFamily="2" charset="-122"/>
            </a:endParaRPr>
          </a:p>
          <a:p>
            <a:pPr marL="342900" indent="-342900" eaLnBrk="1" hangingPunct="1">
              <a:lnSpc>
                <a:spcPts val="3400"/>
              </a:lnSpc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芯片数据手册</a:t>
            </a:r>
            <a:r>
              <a:rPr lang="en-US" altLang="zh-CN" sz="2000" b="1" dirty="0">
                <a:solidFill>
                  <a:srgbClr val="FF0000"/>
                </a:solidFill>
                <a:ea typeface="宋体" pitchFamily="2" charset="-122"/>
              </a:rPr>
              <a:t>(</a:t>
            </a:r>
            <a:r>
              <a:rPr lang="en-US" altLang="zh-CN" sz="2000" b="1" dirty="0" err="1">
                <a:solidFill>
                  <a:srgbClr val="FF0000"/>
                </a:solidFill>
                <a:ea typeface="宋体" pitchFamily="2" charset="-122"/>
              </a:rPr>
              <a:t>datasheet,ds</a:t>
            </a:r>
            <a:r>
              <a:rPr lang="en-US" altLang="zh-CN" sz="2000" b="1" dirty="0">
                <a:solidFill>
                  <a:srgbClr val="FF0000"/>
                </a:solidFill>
                <a:ea typeface="宋体" pitchFamily="2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（了解）</a:t>
            </a:r>
            <a:endParaRPr lang="en-US" altLang="zh-CN" sz="2000" b="1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lnSpc>
                <a:spcPts val="34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   STM32F103xCDE_DS_CH_V5.pdf</a:t>
            </a:r>
            <a:r>
              <a:rPr lang="zh-CN" altLang="en-US" sz="2000" b="1" dirty="0">
                <a:ea typeface="宋体" pitchFamily="2" charset="-122"/>
              </a:rPr>
              <a:t>（芯片电气参数，引脚说明等）</a:t>
            </a:r>
            <a:endParaRPr lang="en-US" altLang="zh-CN" sz="2000" b="1" dirty="0">
              <a:ea typeface="宋体" pitchFamily="2" charset="-122"/>
            </a:endParaRPr>
          </a:p>
          <a:p>
            <a:pPr marL="285750" indent="-285750" eaLnBrk="1" hangingPunct="1">
              <a:lnSpc>
                <a:spcPts val="3400"/>
              </a:lnSpc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官方其他资源和教程（了解）</a:t>
            </a:r>
            <a:endParaRPr lang="en-US" altLang="zh-CN" sz="2000" b="1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lnSpc>
                <a:spcPts val="34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    </a:t>
            </a:r>
            <a:r>
              <a:rPr lang="zh-CN" altLang="en-US" sz="2000" b="1" dirty="0">
                <a:ea typeface="宋体" pitchFamily="2" charset="-122"/>
              </a:rPr>
              <a:t>固件库包（含参考源码），一些官方培训</a:t>
            </a:r>
            <a:r>
              <a:rPr lang="en-US" altLang="zh-CN" sz="2000" b="1" dirty="0">
                <a:ea typeface="宋体" pitchFamily="2" charset="-122"/>
              </a:rPr>
              <a:t>PPT</a:t>
            </a:r>
          </a:p>
          <a:p>
            <a:pPr eaLnBrk="1" hangingPunct="1">
              <a:lnSpc>
                <a:spcPts val="34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    ST</a:t>
            </a:r>
            <a:r>
              <a:rPr lang="zh-CN" altLang="en-US" sz="2000" b="1" dirty="0">
                <a:ea typeface="宋体" pitchFamily="2" charset="-122"/>
              </a:rPr>
              <a:t>官方资料下载地址：</a:t>
            </a:r>
            <a:r>
              <a:rPr lang="en-US" altLang="zh-CN" sz="2000" b="1" u="sng" dirty="0">
                <a:solidFill>
                  <a:srgbClr val="00B0F0"/>
                </a:solidFill>
                <a:ea typeface="宋体" pitchFamily="2" charset="-122"/>
                <a:hlinkClick r:id="rId2"/>
              </a:rPr>
              <a:t>www.stmcu.org</a:t>
            </a:r>
            <a:endParaRPr lang="en-US" altLang="zh-CN" sz="2000" b="1" u="sng" dirty="0">
              <a:solidFill>
                <a:srgbClr val="00B0F0"/>
              </a:solidFill>
              <a:ea typeface="宋体" pitchFamily="2" charset="-122"/>
            </a:endParaRPr>
          </a:p>
          <a:p>
            <a:pPr marL="285750" indent="-285750" eaLnBrk="1" hangingPunct="1">
              <a:lnSpc>
                <a:spcPts val="3400"/>
              </a:lnSpc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ea typeface="宋体" pitchFamily="2" charset="-122"/>
              </a:rPr>
              <a:t>特定开发板学习教程（手册，视频，源码）（理解）</a:t>
            </a:r>
            <a:endParaRPr lang="en-US" altLang="zh-CN" sz="2000" b="1" dirty="0">
              <a:solidFill>
                <a:srgbClr val="FF0000"/>
              </a:solidFill>
              <a:ea typeface="宋体" pitchFamily="2" charset="-122"/>
            </a:endParaRPr>
          </a:p>
          <a:p>
            <a:pPr eaLnBrk="1" hangingPunct="1">
              <a:lnSpc>
                <a:spcPts val="3400"/>
              </a:lnSpc>
              <a:defRPr/>
            </a:pPr>
            <a:r>
              <a:rPr lang="en-US" altLang="zh-CN" sz="2000" b="1" dirty="0">
                <a:ea typeface="宋体" pitchFamily="2" charset="-122"/>
              </a:rPr>
              <a:t>    </a:t>
            </a:r>
            <a:r>
              <a:rPr lang="zh-CN" altLang="en-US" sz="2000" b="1" dirty="0">
                <a:ea typeface="宋体" pitchFamily="2" charset="-122"/>
              </a:rPr>
              <a:t>针对开发板的源码，教程，视频等。</a:t>
            </a:r>
            <a:endParaRPr lang="en-US" altLang="zh-CN" sz="2000" b="1" dirty="0">
              <a:ea typeface="宋体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336550"/>
            <a:ext cx="11669395" cy="59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七、参考资料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722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9750" y="1557338"/>
            <a:ext cx="8064500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开放的论坛：多交流互动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- www.openedv.com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开源电子网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- 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每天几十个帖子，几百个回复，</a:t>
            </a: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板块非常活跃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- 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正点原子几乎每天都会回复用户提问。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-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提问前请先仔细描述清楚您的问题。您的态度决定答案的准确程度。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985" y="336550"/>
            <a:ext cx="11669395" cy="59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八、网站资源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539750" y="4497751"/>
            <a:ext cx="80645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ST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中文官方网站：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www.stmcu.org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会有最新资讯和资料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8249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0985" y="336550"/>
            <a:ext cx="11669395" cy="59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九、资料不在多，而在精，而在于思考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803275" y="3860800"/>
            <a:ext cx="6769100" cy="180022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>
                <a:solidFill>
                  <a:srgbClr val="FFFFFF"/>
                </a:solidFill>
                <a:ea typeface="宋体" pitchFamily="2" charset="-122"/>
              </a:rPr>
              <a:t>不懂的，先找资料，然后提问。找资料的过程中看看别人的理解思路。</a:t>
            </a:r>
          </a:p>
        </p:txBody>
      </p:sp>
      <p:sp>
        <p:nvSpPr>
          <p:cNvPr id="6" name="椭圆 5"/>
          <p:cNvSpPr/>
          <p:nvPr/>
        </p:nvSpPr>
        <p:spPr>
          <a:xfrm>
            <a:off x="900113" y="1700213"/>
            <a:ext cx="6696075" cy="1296987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ea typeface="宋体" pitchFamily="2" charset="-122"/>
              </a:rPr>
              <a:t>不经过思考的提问，对自己没有提升。</a:t>
            </a:r>
          </a:p>
        </p:txBody>
      </p:sp>
    </p:spTree>
    <p:extLst>
      <p:ext uri="{BB962C8B-B14F-4D97-AF65-F5344CB8AC3E}">
        <p14:creationId xmlns:p14="http://schemas.microsoft.com/office/powerpoint/2010/main" val="10254275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8f037769-8830-4b38-a35e-5e049196f606}"/>
</p:tagLst>
</file>

<file path=ppt/theme/theme1.xml><?xml version="1.0" encoding="utf-8"?>
<a:theme xmlns:a="http://schemas.openxmlformats.org/drawingml/2006/main" name="Office 主题">
  <a:themeElements>
    <a:clrScheme name="碧海蓝天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080CB"/>
      </a:accent1>
      <a:accent2>
        <a:srgbClr val="0080CB"/>
      </a:accent2>
      <a:accent3>
        <a:srgbClr val="0BD0D9"/>
      </a:accent3>
      <a:accent4>
        <a:srgbClr val="C9C9C9"/>
      </a:accent4>
      <a:accent5>
        <a:srgbClr val="7CCA62"/>
      </a:accent5>
      <a:accent6>
        <a:srgbClr val="F49100"/>
      </a:accent6>
      <a:hlink>
        <a:srgbClr val="F49100"/>
      </a:hlink>
      <a:folHlink>
        <a:srgbClr val="85DFD0"/>
      </a:folHlink>
    </a:clrScheme>
    <a:fontScheme name="自定义 6">
      <a:majorFont>
        <a:latin typeface="Arial"/>
        <a:ea typeface="微软雅黑 Light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2908</Words>
  <Application>Microsoft Office PowerPoint</Application>
  <PresentationFormat>宽屏</PresentationFormat>
  <Paragraphs>337</Paragraphs>
  <Slides>48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9" baseType="lpstr">
      <vt:lpstr>黑体</vt:lpstr>
      <vt:lpstr>宋体</vt:lpstr>
      <vt:lpstr>微软雅黑</vt:lpstr>
      <vt:lpstr>微软雅黑 Light</vt:lpstr>
      <vt:lpstr>Arial</vt:lpstr>
      <vt:lpstr>Calibri</vt:lpstr>
      <vt:lpstr>Consolas</vt:lpstr>
      <vt:lpstr>Times New Roman</vt:lpstr>
      <vt:lpstr>Wingdings</vt:lpstr>
      <vt:lpstr>Office 主题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应用演变</vt:lpstr>
      <vt:lpstr>单片机应用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STM32微控制器的四个时钟源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寄存器开发</vt:lpstr>
      <vt:lpstr>程序开发方式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亮亮图文旗舰店</dc:subject>
  <dc:creator/>
  <cp:keywords>更多模版：亮亮图文旗舰店https:/liangliangtuwen.tmall.com</cp:keywords>
  <dc:description>更多模版：亮亮图文旗舰店https://liangliangtuwen.tmall.com</dc:description>
  <cp:lastModifiedBy>Administrator</cp:lastModifiedBy>
  <cp:revision>127</cp:revision>
  <dcterms:created xsi:type="dcterms:W3CDTF">2015-10-07T04:43:00Z</dcterms:created>
  <dcterms:modified xsi:type="dcterms:W3CDTF">2026-03-09T11:52:17Z</dcterms:modified>
  <cp:category>亮亮图文旗舰店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2052-11.1.0.8808</vt:lpwstr>
  </property>
</Properties>
</file>