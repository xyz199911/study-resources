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GIF" ContentType="image/gif"/>
  <Default Extension="vml" ContentType="application/vnd.openxmlformats-officedocument.vmlDrawing"/>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9"/>
  </p:notesMasterIdLst>
  <p:sldIdLst>
    <p:sldId id="324" r:id="rId2"/>
    <p:sldId id="292" r:id="rId3"/>
    <p:sldId id="325" r:id="rId4"/>
    <p:sldId id="330" r:id="rId5"/>
    <p:sldId id="331" r:id="rId6"/>
    <p:sldId id="332" r:id="rId7"/>
    <p:sldId id="345" r:id="rId8"/>
    <p:sldId id="333" r:id="rId9"/>
    <p:sldId id="340" r:id="rId10"/>
    <p:sldId id="334" r:id="rId11"/>
    <p:sldId id="346" r:id="rId12"/>
    <p:sldId id="347" r:id="rId13"/>
    <p:sldId id="348" r:id="rId14"/>
    <p:sldId id="349" r:id="rId15"/>
    <p:sldId id="335" r:id="rId16"/>
    <p:sldId id="336" r:id="rId17"/>
    <p:sldId id="337" r:id="rId18"/>
    <p:sldId id="338" r:id="rId19"/>
    <p:sldId id="341" r:id="rId20"/>
    <p:sldId id="343" r:id="rId21"/>
    <p:sldId id="354" r:id="rId22"/>
    <p:sldId id="355" r:id="rId23"/>
    <p:sldId id="356" r:id="rId24"/>
    <p:sldId id="357" r:id="rId25"/>
    <p:sldId id="358" r:id="rId26"/>
    <p:sldId id="359" r:id="rId27"/>
    <p:sldId id="360" r:id="rId28"/>
    <p:sldId id="361" r:id="rId29"/>
    <p:sldId id="362" r:id="rId30"/>
    <p:sldId id="363" r:id="rId31"/>
    <p:sldId id="364" r:id="rId32"/>
    <p:sldId id="365" r:id="rId33"/>
    <p:sldId id="367" r:id="rId34"/>
    <p:sldId id="368" r:id="rId35"/>
    <p:sldId id="369" r:id="rId36"/>
    <p:sldId id="371" r:id="rId37"/>
    <p:sldId id="375" r:id="rId38"/>
    <p:sldId id="376" r:id="rId39"/>
    <p:sldId id="377" r:id="rId40"/>
    <p:sldId id="378" r:id="rId41"/>
    <p:sldId id="379" r:id="rId42"/>
    <p:sldId id="380" r:id="rId43"/>
    <p:sldId id="381" r:id="rId44"/>
    <p:sldId id="382" r:id="rId45"/>
    <p:sldId id="383" r:id="rId46"/>
    <p:sldId id="384" r:id="rId47"/>
    <p:sldId id="385" r:id="rId48"/>
    <p:sldId id="386" r:id="rId49"/>
    <p:sldId id="387" r:id="rId50"/>
    <p:sldId id="389" r:id="rId51"/>
    <p:sldId id="390" r:id="rId52"/>
    <p:sldId id="391" r:id="rId53"/>
    <p:sldId id="392" r:id="rId54"/>
    <p:sldId id="394" r:id="rId55"/>
    <p:sldId id="395" r:id="rId56"/>
    <p:sldId id="396" r:id="rId57"/>
    <p:sldId id="397" r:id="rId58"/>
    <p:sldId id="413" r:id="rId59"/>
    <p:sldId id="414" r:id="rId60"/>
    <p:sldId id="415" r:id="rId61"/>
    <p:sldId id="416" r:id="rId62"/>
    <p:sldId id="417" r:id="rId63"/>
    <p:sldId id="418" r:id="rId64"/>
    <p:sldId id="419" r:id="rId65"/>
    <p:sldId id="420" r:id="rId66"/>
    <p:sldId id="421" r:id="rId67"/>
    <p:sldId id="422" r:id="rId68"/>
    <p:sldId id="445" r:id="rId69"/>
    <p:sldId id="446" r:id="rId70"/>
    <p:sldId id="449" r:id="rId71"/>
    <p:sldId id="450" r:id="rId72"/>
    <p:sldId id="451" r:id="rId73"/>
    <p:sldId id="452" r:id="rId74"/>
    <p:sldId id="453" r:id="rId75"/>
    <p:sldId id="454" r:id="rId76"/>
    <p:sldId id="456" r:id="rId77"/>
    <p:sldId id="457" r:id="rId78"/>
  </p:sldIdLst>
  <p:sldSz cx="12192000" cy="6858000"/>
  <p:notesSz cx="6858000" cy="9144000"/>
  <p:custDataLst>
    <p:tags r:id="rId80"/>
  </p:custDataLst>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Light" panose="020B0502040204020203" pitchFamily="34"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Light" panose="020B0502040204020203" pitchFamily="34"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Light" panose="020B0502040204020203" pitchFamily="34"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Light" panose="020B0502040204020203" pitchFamily="34"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Light" panose="020B0502040204020203" pitchFamily="34"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Light" panose="020B0502040204020203" pitchFamily="34"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Light" panose="020B0502040204020203" pitchFamily="34"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Light" panose="020B0502040204020203" pitchFamily="34"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Light" panose="020B0502040204020203" pitchFamily="34" charset="-122"/>
        <a:cs typeface="+mn-cs"/>
      </a:defRPr>
    </a:lvl9pPr>
  </p:defaultTextStyle>
  <p:extLst>
    <p:ext uri="{EFAFB233-063F-42B5-8137-9DF3F51BA10A}">
      <p15:sldGuideLst xmlns:p15="http://schemas.microsoft.com/office/powerpoint/2012/main">
        <p15:guide id="1" orient="horz" pos="2178">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3CB19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p:restoredTop sz="89074"/>
  </p:normalViewPr>
  <p:slideViewPr>
    <p:cSldViewPr snapToGrid="0">
      <p:cViewPr varScale="1">
        <p:scale>
          <a:sx n="73" d="100"/>
          <a:sy n="73" d="100"/>
        </p:scale>
        <p:origin x="618" y="60"/>
      </p:cViewPr>
      <p:guideLst>
        <p:guide orient="horz" pos="2178"/>
        <p:guide pos="3839"/>
      </p:guideLst>
    </p:cSldViewPr>
  </p:slideViewPr>
  <p:notesTextViewPr>
    <p:cViewPr>
      <p:scale>
        <a:sx n="100" d="100"/>
        <a:sy n="100" d="100"/>
      </p:scale>
      <p:origin x="0" y="0"/>
    </p:cViewPr>
  </p:notesTextViewPr>
  <p:sorterViewPr showFormatting="0">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gs" Target="tags/tag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单击此处编辑母版文本样式</a:t>
            </a:r>
          </a:p>
          <a:p>
            <a:pPr marL="457200" marR="0" lvl="1"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第二级</a:t>
            </a:r>
          </a:p>
          <a:p>
            <a:pPr marL="914400" marR="0" lvl="2"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第三级</a:t>
            </a:r>
          </a:p>
          <a:p>
            <a:pPr marL="1371600" marR="0" lvl="3"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第四级</a:t>
            </a:r>
          </a:p>
          <a:p>
            <a:pPr marL="1828800" marR="0" lvl="4"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defRPr/>
            </a:pPr>
            <a:fld id="{316656F9-9585-4187-A8F5-014ED0150952}" type="slidenum">
              <a:rPr kumimoji="0" lang="zh-CN" altLang="en-US" sz="1200" b="0" i="0" u="none" strike="noStrike" kern="1200" cap="none" spc="0" normalizeH="0" baseline="0" noProof="0" smtClean="0">
                <a:ln>
                  <a:noFill/>
                </a:ln>
                <a:solidFill>
                  <a:schemeClr val="tx1"/>
                </a:solidFill>
                <a:effectLst/>
                <a:uLnTx/>
                <a:uFillTx/>
                <a:latin typeface="+mn-lt"/>
                <a:ea typeface="+mn-ea"/>
                <a:cs typeface="+mn-cs"/>
              </a:rPr>
              <a:t>‹#›</a:t>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幻灯片图像占位符 1"/>
          <p:cNvSpPr>
            <a:spLocks noGrp="1" noRot="1" noChangeAspect="1" noTextEdit="1"/>
          </p:cNvSpPr>
          <p:nvPr>
            <p:ph type="sldImg"/>
          </p:nvPr>
        </p:nvSpPr>
        <p:spPr>
          <a:ln>
            <a:solidFill>
              <a:srgbClr val="000000">
                <a:alpha val="100000"/>
              </a:srgbClr>
            </a:solidFill>
            <a:miter lim="800000"/>
          </a:ln>
        </p:spPr>
      </p:sp>
      <p:sp>
        <p:nvSpPr>
          <p:cNvPr id="5123" name="备注占位符 2"/>
          <p:cNvSpPr>
            <a:spLocks noGrp="1"/>
          </p:cNvSpPr>
          <p:nvPr>
            <p:ph type="body" idx="1"/>
          </p:nvPr>
        </p:nvSpPr>
        <p:spPr>
          <a:noFill/>
          <a:ln>
            <a:noFill/>
          </a:ln>
        </p:spPr>
        <p:txBody>
          <a:bodyPr wrap="square" lIns="91440" tIns="45720" rIns="91440" bIns="45720" anchor="t"/>
          <a:lstStyle/>
          <a:p>
            <a:pPr lvl="0">
              <a:spcBef>
                <a:spcPct val="0"/>
              </a:spcBef>
            </a:pPr>
            <a:endParaRPr lang="zh-CN" altLang="en-US" dirty="0"/>
          </a:p>
        </p:txBody>
      </p:sp>
      <p:sp>
        <p:nvSpPr>
          <p:cNvPr id="5124"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latin typeface="Calibri" panose="020F0502020204030204" pitchFamily="34" charset="0"/>
                <a:ea typeface="宋体" panose="02010600030101010101" pitchFamily="2" charset="-122"/>
              </a:rPr>
              <a:t>1</a:t>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7171" name="备注占位符 2"/>
          <p:cNvSpPr>
            <a:spLocks noGrp="1"/>
          </p:cNvSpPr>
          <p:nvPr>
            <p:ph type="body" idx="1"/>
          </p:nvPr>
        </p:nvSpPr>
        <p:spPr>
          <a:noFill/>
          <a:ln>
            <a:noFill/>
          </a:ln>
        </p:spPr>
        <p:txBody>
          <a:bodyPr wrap="square" lIns="91440" tIns="45720" rIns="91440" bIns="45720" anchor="t"/>
          <a:lstStyle/>
          <a:p>
            <a:pPr lvl="0">
              <a:spcBef>
                <a:spcPct val="0"/>
              </a:spcBef>
            </a:pPr>
            <a:endParaRPr lang="zh-CN" altLang="en-US" dirty="0"/>
          </a:p>
        </p:txBody>
      </p:sp>
      <p:sp>
        <p:nvSpPr>
          <p:cNvPr id="7172"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latin typeface="Calibri" panose="020F0502020204030204" pitchFamily="34" charset="0"/>
                <a:ea typeface="宋体" panose="02010600030101010101" pitchFamily="2" charset="-122"/>
              </a:rPr>
              <a:t>2</a:t>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7171" name="备注占位符 2"/>
          <p:cNvSpPr>
            <a:spLocks noGrp="1"/>
          </p:cNvSpPr>
          <p:nvPr>
            <p:ph type="body" idx="1"/>
          </p:nvPr>
        </p:nvSpPr>
        <p:spPr>
          <a:noFill/>
          <a:ln>
            <a:noFill/>
          </a:ln>
        </p:spPr>
        <p:txBody>
          <a:bodyPr wrap="square" lIns="91440" tIns="45720" rIns="91440" bIns="45720" anchor="t"/>
          <a:lstStyle/>
          <a:p>
            <a:pPr lvl="0">
              <a:spcBef>
                <a:spcPct val="0"/>
              </a:spcBef>
            </a:pPr>
            <a:endParaRPr lang="zh-CN" altLang="en-US" dirty="0"/>
          </a:p>
        </p:txBody>
      </p:sp>
      <p:sp>
        <p:nvSpPr>
          <p:cNvPr id="7172"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latin typeface="Calibri" panose="020F0502020204030204" pitchFamily="34" charset="0"/>
                <a:ea typeface="宋体" panose="02010600030101010101" pitchFamily="2" charset="-122"/>
              </a:rPr>
              <a:t>3</a:t>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7171" name="备注占位符 2"/>
          <p:cNvSpPr>
            <a:spLocks noGrp="1"/>
          </p:cNvSpPr>
          <p:nvPr>
            <p:ph type="body" idx="1"/>
          </p:nvPr>
        </p:nvSpPr>
        <p:spPr>
          <a:noFill/>
          <a:ln>
            <a:noFill/>
          </a:ln>
        </p:spPr>
        <p:txBody>
          <a:bodyPr wrap="square" lIns="91440" tIns="45720" rIns="91440" bIns="45720" anchor="t"/>
          <a:lstStyle/>
          <a:p>
            <a:pPr lvl="0">
              <a:spcBef>
                <a:spcPct val="0"/>
              </a:spcBef>
            </a:pPr>
            <a:endParaRPr lang="zh-CN" altLang="en-US" dirty="0"/>
          </a:p>
        </p:txBody>
      </p:sp>
      <p:sp>
        <p:nvSpPr>
          <p:cNvPr id="7172"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latin typeface="Calibri" panose="020F0502020204030204" pitchFamily="34" charset="0"/>
                <a:ea typeface="宋体" panose="02010600030101010101" pitchFamily="2" charset="-122"/>
              </a:rPr>
              <a:t>4</a:t>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7171" name="备注占位符 2"/>
          <p:cNvSpPr>
            <a:spLocks noGrp="1"/>
          </p:cNvSpPr>
          <p:nvPr>
            <p:ph type="body" idx="1"/>
          </p:nvPr>
        </p:nvSpPr>
        <p:spPr>
          <a:noFill/>
          <a:ln>
            <a:noFill/>
          </a:ln>
        </p:spPr>
        <p:txBody>
          <a:bodyPr wrap="square" lIns="91440" tIns="45720" rIns="91440" bIns="45720" anchor="t"/>
          <a:lstStyle/>
          <a:p>
            <a:pPr lvl="0">
              <a:spcBef>
                <a:spcPct val="0"/>
              </a:spcBef>
            </a:pPr>
            <a:endParaRPr lang="zh-CN" altLang="en-US" dirty="0"/>
          </a:p>
        </p:txBody>
      </p:sp>
      <p:sp>
        <p:nvSpPr>
          <p:cNvPr id="7172"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latin typeface="Calibri" panose="020F0502020204030204" pitchFamily="34" charset="0"/>
                <a:ea typeface="宋体" panose="02010600030101010101" pitchFamily="2" charset="-122"/>
              </a:rPr>
              <a:t>5</a:t>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7171" name="备注占位符 2"/>
          <p:cNvSpPr>
            <a:spLocks noGrp="1"/>
          </p:cNvSpPr>
          <p:nvPr>
            <p:ph type="body" idx="1"/>
          </p:nvPr>
        </p:nvSpPr>
        <p:spPr>
          <a:noFill/>
          <a:ln>
            <a:noFill/>
          </a:ln>
        </p:spPr>
        <p:txBody>
          <a:bodyPr wrap="square" lIns="91440" tIns="45720" rIns="91440" bIns="45720" anchor="t"/>
          <a:lstStyle/>
          <a:p>
            <a:pPr lvl="0">
              <a:spcBef>
                <a:spcPct val="0"/>
              </a:spcBef>
            </a:pPr>
            <a:endParaRPr lang="zh-CN" altLang="en-US" dirty="0"/>
          </a:p>
        </p:txBody>
      </p:sp>
      <p:sp>
        <p:nvSpPr>
          <p:cNvPr id="7172"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latin typeface="Calibri" panose="020F0502020204030204" pitchFamily="34" charset="0"/>
                <a:ea typeface="宋体" panose="02010600030101010101" pitchFamily="2" charset="-122"/>
              </a:rPr>
              <a:t>6</a:t>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7171" name="备注占位符 2"/>
          <p:cNvSpPr>
            <a:spLocks noGrp="1"/>
          </p:cNvSpPr>
          <p:nvPr>
            <p:ph type="body" idx="1"/>
          </p:nvPr>
        </p:nvSpPr>
        <p:spPr>
          <a:noFill/>
          <a:ln>
            <a:noFill/>
          </a:ln>
        </p:spPr>
        <p:txBody>
          <a:bodyPr wrap="square" lIns="91440" tIns="45720" rIns="91440" bIns="45720" anchor="t"/>
          <a:lstStyle/>
          <a:p>
            <a:pPr lvl="0">
              <a:spcBef>
                <a:spcPct val="0"/>
              </a:spcBef>
            </a:pPr>
            <a:endParaRPr lang="zh-CN" altLang="en-US" dirty="0"/>
          </a:p>
        </p:txBody>
      </p:sp>
      <p:sp>
        <p:nvSpPr>
          <p:cNvPr id="7172"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latin typeface="Calibri" panose="020F0502020204030204" pitchFamily="34" charset="0"/>
                <a:ea typeface="宋体" panose="02010600030101010101" pitchFamily="2" charset="-122"/>
              </a:rPr>
              <a:t>7</a:t>
            </a:fld>
            <a:endParaRPr lang="zh-CN" altLang="en-US" sz="1200" dirty="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9323769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7171" name="备注占位符 2"/>
          <p:cNvSpPr>
            <a:spLocks noGrp="1"/>
          </p:cNvSpPr>
          <p:nvPr>
            <p:ph type="body" idx="1"/>
          </p:nvPr>
        </p:nvSpPr>
        <p:spPr>
          <a:noFill/>
          <a:ln>
            <a:noFill/>
          </a:ln>
        </p:spPr>
        <p:txBody>
          <a:bodyPr wrap="square" lIns="91440" tIns="45720" rIns="91440" bIns="45720" anchor="t"/>
          <a:lstStyle/>
          <a:p>
            <a:pPr lvl="0">
              <a:spcBef>
                <a:spcPct val="0"/>
              </a:spcBef>
            </a:pPr>
            <a:endParaRPr lang="zh-CN" altLang="en-US" dirty="0"/>
          </a:p>
        </p:txBody>
      </p:sp>
      <p:sp>
        <p:nvSpPr>
          <p:cNvPr id="7172"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latin typeface="Calibri" panose="020F0502020204030204" pitchFamily="34" charset="0"/>
                <a:ea typeface="宋体" panose="02010600030101010101" pitchFamily="2" charset="-122"/>
              </a:rPr>
              <a:t>8</a:t>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7171" name="备注占位符 2"/>
          <p:cNvSpPr>
            <a:spLocks noGrp="1"/>
          </p:cNvSpPr>
          <p:nvPr>
            <p:ph type="body" idx="1"/>
          </p:nvPr>
        </p:nvSpPr>
        <p:spPr>
          <a:noFill/>
          <a:ln>
            <a:noFill/>
          </a:ln>
        </p:spPr>
        <p:txBody>
          <a:bodyPr wrap="square" lIns="91440" tIns="45720" rIns="91440" bIns="45720" anchor="t"/>
          <a:lstStyle/>
          <a:p>
            <a:pPr lvl="0">
              <a:spcBef>
                <a:spcPct val="0"/>
              </a:spcBef>
            </a:pPr>
            <a:endParaRPr lang="zh-CN" altLang="en-US" dirty="0"/>
          </a:p>
        </p:txBody>
      </p:sp>
      <p:sp>
        <p:nvSpPr>
          <p:cNvPr id="7172"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latin typeface="Calibri" panose="020F0502020204030204" pitchFamily="34" charset="0"/>
                <a:ea typeface="宋体" panose="02010600030101010101" pitchFamily="2" charset="-122"/>
              </a:rPr>
              <a:t>9</a:t>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7171" name="备注占位符 2"/>
          <p:cNvSpPr>
            <a:spLocks noGrp="1"/>
          </p:cNvSpPr>
          <p:nvPr>
            <p:ph type="body" idx="1"/>
          </p:nvPr>
        </p:nvSpPr>
        <p:spPr>
          <a:noFill/>
          <a:ln>
            <a:noFill/>
          </a:ln>
        </p:spPr>
        <p:txBody>
          <a:bodyPr wrap="square" lIns="91440" tIns="45720" rIns="91440" bIns="45720" anchor="t"/>
          <a:lstStyle/>
          <a:p>
            <a:pPr lvl="0">
              <a:spcBef>
                <a:spcPct val="0"/>
              </a:spcBef>
            </a:pPr>
            <a:endParaRPr lang="zh-CN" altLang="en-US" dirty="0"/>
          </a:p>
        </p:txBody>
      </p:sp>
      <p:sp>
        <p:nvSpPr>
          <p:cNvPr id="7172"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latin typeface="Calibri" panose="020F0502020204030204" pitchFamily="34" charset="0"/>
                <a:ea typeface="宋体" panose="02010600030101010101" pitchFamily="2" charset="-122"/>
              </a:rPr>
              <a:t>10</a:t>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7171" name="备注占位符 2"/>
          <p:cNvSpPr>
            <a:spLocks noGrp="1"/>
          </p:cNvSpPr>
          <p:nvPr>
            <p:ph type="body" idx="1"/>
          </p:nvPr>
        </p:nvSpPr>
        <p:spPr>
          <a:noFill/>
          <a:ln>
            <a:noFill/>
          </a:ln>
        </p:spPr>
        <p:txBody>
          <a:bodyPr wrap="square" lIns="91440" tIns="45720" rIns="91440" bIns="45720" anchor="t"/>
          <a:lstStyle/>
          <a:p>
            <a:pPr lvl="0">
              <a:spcBef>
                <a:spcPct val="0"/>
              </a:spcBef>
            </a:pPr>
            <a:endParaRPr lang="zh-CN" altLang="en-US" dirty="0"/>
          </a:p>
        </p:txBody>
      </p:sp>
      <p:sp>
        <p:nvSpPr>
          <p:cNvPr id="7172"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latin typeface="Calibri" panose="020F0502020204030204" pitchFamily="34" charset="0"/>
                <a:ea typeface="宋体" panose="02010600030101010101" pitchFamily="2" charset="-122"/>
              </a:rPr>
              <a:t>11</a:t>
            </a:fld>
            <a:endParaRPr lang="zh-CN" altLang="en-US" sz="1200" dirty="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19118817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7171" name="备注占位符 2"/>
          <p:cNvSpPr>
            <a:spLocks noGrp="1"/>
          </p:cNvSpPr>
          <p:nvPr>
            <p:ph type="body" idx="1"/>
          </p:nvPr>
        </p:nvSpPr>
        <p:spPr>
          <a:noFill/>
          <a:ln>
            <a:noFill/>
          </a:ln>
        </p:spPr>
        <p:txBody>
          <a:bodyPr wrap="square" lIns="91440" tIns="45720" rIns="91440" bIns="45720" anchor="t"/>
          <a:lstStyle/>
          <a:p>
            <a:pPr lvl="0">
              <a:spcBef>
                <a:spcPct val="0"/>
              </a:spcBef>
            </a:pPr>
            <a:endParaRPr lang="zh-CN" altLang="en-US" dirty="0"/>
          </a:p>
        </p:txBody>
      </p:sp>
      <p:sp>
        <p:nvSpPr>
          <p:cNvPr id="7172"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latin typeface="Calibri" panose="020F0502020204030204" pitchFamily="34" charset="0"/>
                <a:ea typeface="宋体" panose="02010600030101010101" pitchFamily="2" charset="-122"/>
              </a:rPr>
              <a:t>12</a:t>
            </a:fld>
            <a:endParaRPr lang="zh-CN" altLang="en-US" sz="1200" dirty="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19616995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7171" name="备注占位符 2"/>
          <p:cNvSpPr>
            <a:spLocks noGrp="1"/>
          </p:cNvSpPr>
          <p:nvPr>
            <p:ph type="body" idx="1"/>
          </p:nvPr>
        </p:nvSpPr>
        <p:spPr>
          <a:noFill/>
          <a:ln>
            <a:noFill/>
          </a:ln>
        </p:spPr>
        <p:txBody>
          <a:bodyPr wrap="square" lIns="91440" tIns="45720" rIns="91440" bIns="45720" anchor="t"/>
          <a:lstStyle/>
          <a:p>
            <a:pPr lvl="0">
              <a:spcBef>
                <a:spcPct val="0"/>
              </a:spcBef>
            </a:pPr>
            <a:endParaRPr lang="zh-CN" altLang="en-US" dirty="0"/>
          </a:p>
        </p:txBody>
      </p:sp>
      <p:sp>
        <p:nvSpPr>
          <p:cNvPr id="7172"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latin typeface="Calibri" panose="020F0502020204030204" pitchFamily="34" charset="0"/>
                <a:ea typeface="宋体" panose="02010600030101010101" pitchFamily="2" charset="-122"/>
              </a:rPr>
              <a:t>13</a:t>
            </a:fld>
            <a:endParaRPr lang="zh-CN" altLang="en-US" sz="1200" dirty="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175102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7171" name="备注占位符 2"/>
          <p:cNvSpPr>
            <a:spLocks noGrp="1"/>
          </p:cNvSpPr>
          <p:nvPr>
            <p:ph type="body" idx="1"/>
          </p:nvPr>
        </p:nvSpPr>
        <p:spPr>
          <a:noFill/>
          <a:ln>
            <a:noFill/>
          </a:ln>
        </p:spPr>
        <p:txBody>
          <a:bodyPr wrap="square" lIns="91440" tIns="45720" rIns="91440" bIns="45720" anchor="t"/>
          <a:lstStyle/>
          <a:p>
            <a:pPr lvl="0">
              <a:spcBef>
                <a:spcPct val="0"/>
              </a:spcBef>
            </a:pPr>
            <a:endParaRPr lang="zh-CN" altLang="en-US" dirty="0"/>
          </a:p>
        </p:txBody>
      </p:sp>
      <p:sp>
        <p:nvSpPr>
          <p:cNvPr id="7172"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latin typeface="Calibri" panose="020F0502020204030204" pitchFamily="34" charset="0"/>
                <a:ea typeface="宋体" panose="02010600030101010101" pitchFamily="2" charset="-122"/>
              </a:rPr>
              <a:t>14</a:t>
            </a:fld>
            <a:endParaRPr lang="zh-CN" altLang="en-US" sz="1200" dirty="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20517670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7171" name="备注占位符 2"/>
          <p:cNvSpPr>
            <a:spLocks noGrp="1"/>
          </p:cNvSpPr>
          <p:nvPr>
            <p:ph type="body" idx="1"/>
          </p:nvPr>
        </p:nvSpPr>
        <p:spPr>
          <a:noFill/>
          <a:ln>
            <a:noFill/>
          </a:ln>
        </p:spPr>
        <p:txBody>
          <a:bodyPr wrap="square" lIns="91440" tIns="45720" rIns="91440" bIns="45720" anchor="t"/>
          <a:lstStyle/>
          <a:p>
            <a:pPr lvl="0">
              <a:spcBef>
                <a:spcPct val="0"/>
              </a:spcBef>
            </a:pPr>
            <a:endParaRPr lang="zh-CN" altLang="en-US" dirty="0"/>
          </a:p>
        </p:txBody>
      </p:sp>
      <p:sp>
        <p:nvSpPr>
          <p:cNvPr id="7172"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latin typeface="Calibri" panose="020F0502020204030204" pitchFamily="34" charset="0"/>
                <a:ea typeface="宋体" panose="02010600030101010101" pitchFamily="2" charset="-122"/>
              </a:rPr>
              <a:t>15</a:t>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7171" name="备注占位符 2"/>
          <p:cNvSpPr>
            <a:spLocks noGrp="1"/>
          </p:cNvSpPr>
          <p:nvPr>
            <p:ph type="body" idx="1"/>
          </p:nvPr>
        </p:nvSpPr>
        <p:spPr>
          <a:noFill/>
          <a:ln>
            <a:noFill/>
          </a:ln>
        </p:spPr>
        <p:txBody>
          <a:bodyPr wrap="square" lIns="91440" tIns="45720" rIns="91440" bIns="45720" anchor="t"/>
          <a:lstStyle/>
          <a:p>
            <a:pPr lvl="0">
              <a:spcBef>
                <a:spcPct val="0"/>
              </a:spcBef>
            </a:pPr>
            <a:endParaRPr lang="zh-CN" altLang="en-US" dirty="0"/>
          </a:p>
        </p:txBody>
      </p:sp>
      <p:sp>
        <p:nvSpPr>
          <p:cNvPr id="7172"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latin typeface="Calibri" panose="020F0502020204030204" pitchFamily="34" charset="0"/>
                <a:ea typeface="宋体" panose="02010600030101010101" pitchFamily="2" charset="-122"/>
              </a:rPr>
              <a:t>16</a:t>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7171" name="备注占位符 2"/>
          <p:cNvSpPr>
            <a:spLocks noGrp="1"/>
          </p:cNvSpPr>
          <p:nvPr>
            <p:ph type="body" idx="1"/>
          </p:nvPr>
        </p:nvSpPr>
        <p:spPr>
          <a:noFill/>
          <a:ln>
            <a:noFill/>
          </a:ln>
        </p:spPr>
        <p:txBody>
          <a:bodyPr wrap="square" lIns="91440" tIns="45720" rIns="91440" bIns="45720" anchor="t"/>
          <a:lstStyle/>
          <a:p>
            <a:pPr lvl="0">
              <a:spcBef>
                <a:spcPct val="0"/>
              </a:spcBef>
            </a:pPr>
            <a:endParaRPr lang="zh-CN" altLang="en-US" dirty="0"/>
          </a:p>
        </p:txBody>
      </p:sp>
      <p:sp>
        <p:nvSpPr>
          <p:cNvPr id="7172"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latin typeface="Calibri" panose="020F0502020204030204" pitchFamily="34" charset="0"/>
                <a:ea typeface="宋体" panose="02010600030101010101" pitchFamily="2" charset="-122"/>
              </a:rPr>
              <a:t>17</a:t>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7171" name="备注占位符 2"/>
          <p:cNvSpPr>
            <a:spLocks noGrp="1"/>
          </p:cNvSpPr>
          <p:nvPr>
            <p:ph type="body" idx="1"/>
          </p:nvPr>
        </p:nvSpPr>
        <p:spPr>
          <a:noFill/>
          <a:ln>
            <a:noFill/>
          </a:ln>
        </p:spPr>
        <p:txBody>
          <a:bodyPr wrap="square" lIns="91440" tIns="45720" rIns="91440" bIns="45720" anchor="t"/>
          <a:lstStyle/>
          <a:p>
            <a:pPr lvl="0">
              <a:spcBef>
                <a:spcPct val="0"/>
              </a:spcBef>
            </a:pPr>
            <a:endParaRPr lang="zh-CN" altLang="en-US" dirty="0"/>
          </a:p>
        </p:txBody>
      </p:sp>
      <p:sp>
        <p:nvSpPr>
          <p:cNvPr id="7172"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latin typeface="Calibri" panose="020F0502020204030204" pitchFamily="34" charset="0"/>
                <a:ea typeface="宋体" panose="02010600030101010101" pitchFamily="2" charset="-122"/>
              </a:rPr>
              <a:t>18</a:t>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7171" name="备注占位符 2"/>
          <p:cNvSpPr>
            <a:spLocks noGrp="1"/>
          </p:cNvSpPr>
          <p:nvPr>
            <p:ph type="body" idx="1"/>
          </p:nvPr>
        </p:nvSpPr>
        <p:spPr>
          <a:noFill/>
          <a:ln>
            <a:noFill/>
          </a:ln>
        </p:spPr>
        <p:txBody>
          <a:bodyPr wrap="square" lIns="91440" tIns="45720" rIns="91440" bIns="45720" anchor="t"/>
          <a:lstStyle/>
          <a:p>
            <a:pPr lvl="0">
              <a:spcBef>
                <a:spcPct val="0"/>
              </a:spcBef>
            </a:pPr>
            <a:endParaRPr lang="zh-CN" altLang="en-US" dirty="0"/>
          </a:p>
        </p:txBody>
      </p:sp>
      <p:sp>
        <p:nvSpPr>
          <p:cNvPr id="7172"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latin typeface="Calibri" panose="020F0502020204030204" pitchFamily="34" charset="0"/>
                <a:ea typeface="宋体" panose="02010600030101010101" pitchFamily="2" charset="-122"/>
              </a:rPr>
              <a:t>19</a:t>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7171" name="备注占位符 2"/>
          <p:cNvSpPr>
            <a:spLocks noGrp="1"/>
          </p:cNvSpPr>
          <p:nvPr>
            <p:ph type="body" idx="1"/>
          </p:nvPr>
        </p:nvSpPr>
        <p:spPr>
          <a:noFill/>
          <a:ln>
            <a:noFill/>
          </a:ln>
        </p:spPr>
        <p:txBody>
          <a:bodyPr wrap="square" lIns="91440" tIns="45720" rIns="91440" bIns="45720" anchor="t"/>
          <a:lstStyle/>
          <a:p>
            <a:pPr lvl="0">
              <a:spcBef>
                <a:spcPct val="0"/>
              </a:spcBef>
            </a:pPr>
            <a:endParaRPr lang="zh-CN" altLang="en-US" dirty="0"/>
          </a:p>
        </p:txBody>
      </p:sp>
      <p:sp>
        <p:nvSpPr>
          <p:cNvPr id="7172"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latin typeface="Calibri" panose="020F0502020204030204" pitchFamily="34" charset="0"/>
                <a:ea typeface="宋体" panose="02010600030101010101" pitchFamily="2" charset="-122"/>
              </a:rPr>
              <a:t>20</a:t>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3C22917-E04A-4D8E-BE96-1E0BF77A4B73}" type="slidenum">
              <a:rPr lang="zh-CN" altLang="en-US" smtClean="0"/>
              <a:t>61</a:t>
            </a:fld>
            <a:endParaRPr lang="zh-CN" altLang="en-US"/>
          </a:p>
        </p:txBody>
      </p:sp>
    </p:spTree>
    <p:extLst>
      <p:ext uri="{BB962C8B-B14F-4D97-AF65-F5344CB8AC3E}">
        <p14:creationId xmlns:p14="http://schemas.microsoft.com/office/powerpoint/2010/main" val="309500739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标题和内容">
    <p:bg>
      <p:bgPr>
        <a:solidFill>
          <a:schemeClr val="bg1"/>
        </a:solidFill>
        <a:effectLst/>
      </p:bgPr>
    </p:bg>
    <p:spTree>
      <p:nvGrpSpPr>
        <p:cNvPr id="1" name=""/>
        <p:cNvGrpSpPr/>
        <p:nvPr/>
      </p:nvGrpSpPr>
      <p:grpSpPr>
        <a:xfrm>
          <a:off x="0" y="0"/>
          <a:ext cx="0" cy="0"/>
          <a:chOff x="0" y="0"/>
          <a:chExt cx="0" cy="0"/>
        </a:xfrm>
      </p:grpSpPr>
      <p:sp>
        <p:nvSpPr>
          <p:cNvPr id="7" name="矩形 6"/>
          <p:cNvSpPr/>
          <p:nvPr/>
        </p:nvSpPr>
        <p:spPr>
          <a:xfrm>
            <a:off x="0" y="0"/>
            <a:ext cx="12192000" cy="6858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101D03D8-F7CE-4A92-B791-1A55E7B8B125}"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t>‹#›</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252525"/>
                </a:solidFill>
                <a:latin typeface="微软雅黑"/>
                <a:cs typeface="微软雅黑"/>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12/7/2021</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8386575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12/7/2021</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291256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252525"/>
                </a:solidFill>
                <a:latin typeface="微软雅黑"/>
                <a:cs typeface="微软雅黑"/>
              </a:defRPr>
            </a:lvl1pPr>
          </a:lstStyle>
          <a:p>
            <a:endParaRPr/>
          </a:p>
        </p:txBody>
      </p:sp>
      <p:sp>
        <p:nvSpPr>
          <p:cNvPr id="3" name="Holder 3"/>
          <p:cNvSpPr>
            <a:spLocks noGrp="1"/>
          </p:cNvSpPr>
          <p:nvPr>
            <p:ph sz="half" idx="2"/>
          </p:nvPr>
        </p:nvSpPr>
        <p:spPr>
          <a:xfrm>
            <a:off x="560323" y="2254239"/>
            <a:ext cx="4556760" cy="3671570"/>
          </a:xfrm>
          <a:prstGeom prst="rect">
            <a:avLst/>
          </a:prstGeom>
        </p:spPr>
        <p:txBody>
          <a:bodyPr wrap="square" lIns="0" tIns="0" rIns="0" bIns="0">
            <a:spAutoFit/>
          </a:bodyPr>
          <a:lstStyle>
            <a:lvl1pPr>
              <a:defRPr sz="2400" b="1" i="0">
                <a:solidFill>
                  <a:schemeClr val="bg1"/>
                </a:solidFill>
                <a:latin typeface="微软雅黑"/>
                <a:cs typeface="微软雅黑"/>
              </a:defRPr>
            </a:lvl1pPr>
          </a:lstStyle>
          <a:p>
            <a:endParaRPr/>
          </a:p>
        </p:txBody>
      </p:sp>
      <p:sp>
        <p:nvSpPr>
          <p:cNvPr id="4" name="Holder 4"/>
          <p:cNvSpPr>
            <a:spLocks noGrp="1"/>
          </p:cNvSpPr>
          <p:nvPr>
            <p:ph sz="half" idx="3"/>
          </p:nvPr>
        </p:nvSpPr>
        <p:spPr>
          <a:xfrm>
            <a:off x="6278879"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12/7/2021</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91519922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838200" y="365125"/>
            <a:ext cx="10515600" cy="1325563"/>
          </a:xfrm>
          <a:prstGeom prst="rect">
            <a:avLst/>
          </a:prstGeom>
          <a:noFill/>
          <a:ln w="9525">
            <a:noFill/>
          </a:ln>
        </p:spPr>
        <p:txBody>
          <a:bodyPr anchor="ctr"/>
          <a:lstStyle/>
          <a:p>
            <a:pPr lvl="0"/>
            <a:r>
              <a:rPr lang="zh-CN" altLang="en-US" dirty="0"/>
              <a:t>单击此处编辑母版标题样式</a:t>
            </a:r>
          </a:p>
        </p:txBody>
      </p:sp>
      <p:sp>
        <p:nvSpPr>
          <p:cNvPr id="1027" name="文本占位符 2"/>
          <p:cNvSpPr>
            <a:spLocks noGrp="1"/>
          </p:cNvSpPr>
          <p:nvPr>
            <p:ph type="body" idx="1"/>
          </p:nvPr>
        </p:nvSpPr>
        <p:spPr>
          <a:xfrm>
            <a:off x="838200" y="1825625"/>
            <a:ext cx="10515600" cy="4351338"/>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101D03D8-F7CE-4A92-B791-1A55E7B8B125}"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t>‹#›</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GIF"/></Relationships>
</file>

<file path=ppt/slides/_rels/slide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5.emf"/><Relationship Id="rId5" Type="http://schemas.openxmlformats.org/officeDocument/2006/relationships/oleObject" Target="../embeddings/oleObject1.bin"/><Relationship Id="rId4" Type="http://schemas.openxmlformats.org/officeDocument/2006/relationships/image" Target="../media/image4.GIF"/></Relationships>
</file>

<file path=ppt/slides/_rels/slide4.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vmlDrawing" Target="../drawings/vmlDrawing2.vml"/><Relationship Id="rId6" Type="http://schemas.openxmlformats.org/officeDocument/2006/relationships/image" Target="../media/image7.emf"/><Relationship Id="rId5" Type="http://schemas.openxmlformats.org/officeDocument/2006/relationships/oleObject" Target="../embeddings/oleObject2.bin"/><Relationship Id="rId4" Type="http://schemas.openxmlformats.org/officeDocument/2006/relationships/image" Target="../media/image4.GIF"/></Relationships>
</file>

<file path=ppt/slides/_rels/slide7.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33.jpg"/></Relationships>
</file>

<file path=ppt/slides/_rels/slide30.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5.png"/><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jpg"/></Relationships>
</file>

<file path=ppt/slides/_rels/slide34.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9.jpg"/></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41.jp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4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51.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46.png"/><Relationship Id="rId2"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52.xml.rels><?xml version="1.0" encoding="UTF-8" standalone="yes"?>
<Relationships xmlns="http://schemas.openxmlformats.org/package/2006/relationships"><Relationship Id="rId2" Type="http://schemas.openxmlformats.org/officeDocument/2006/relationships/image" Target="../media/image47.jp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image" Target="../media/image48.jp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5.png"/><Relationship Id="rId1" Type="http://schemas.openxmlformats.org/officeDocument/2006/relationships/slideLayout" Target="../slideLayouts/slideLayout3.xml"/><Relationship Id="rId4"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019175"/>
            <a:ext cx="12192000" cy="26860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4" name="文本框 13"/>
          <p:cNvSpPr txBox="1"/>
          <p:nvPr/>
        </p:nvSpPr>
        <p:spPr>
          <a:xfrm>
            <a:off x="312420" y="1839595"/>
            <a:ext cx="11614150" cy="1045210"/>
          </a:xfrm>
          <a:prstGeom prst="rect">
            <a:avLst/>
          </a:prstGeom>
          <a:noFill/>
        </p:spPr>
        <p:txBody>
          <a:bodyPr wrap="square">
            <a:spAutoFit/>
          </a:bodyPr>
          <a:lstStyle/>
          <a:p>
            <a:pPr marR="0" algn="ctr" defTabSz="914400" eaLnBrk="1" fontAlgn="auto" hangingPunct="1">
              <a:spcBef>
                <a:spcPts val="0"/>
              </a:spcBef>
              <a:spcAft>
                <a:spcPts val="0"/>
              </a:spcAft>
              <a:buClrTx/>
              <a:buSzTx/>
              <a:buFontTx/>
              <a:buNone/>
              <a:defRPr/>
            </a:pPr>
            <a:r>
              <a:rPr lang="en-US" sz="6200" noProof="0" dirty="0">
                <a:solidFill>
                  <a:schemeClr val="bg1"/>
                </a:solidFill>
                <a:effectLst>
                  <a:outerShdw blurRad="50800" dist="38100" dir="2700000" algn="tl" rotWithShape="0">
                    <a:prstClr val="black">
                      <a:alpha val="40000"/>
                    </a:prstClr>
                  </a:outerShdw>
                </a:effectLst>
                <a:latin typeface="黑体" panose="02010609060101010101" charset="-122"/>
                <a:ea typeface="黑体" panose="02010609060101010101" charset="-122"/>
                <a:sym typeface="+mn-ea"/>
              </a:rPr>
              <a:t>7</a:t>
            </a:r>
            <a:r>
              <a:rPr sz="6200" noProof="0" dirty="0" smtClean="0">
                <a:solidFill>
                  <a:schemeClr val="bg1"/>
                </a:solidFill>
                <a:effectLst>
                  <a:outerShdw blurRad="50800" dist="38100" dir="2700000" algn="tl" rotWithShape="0">
                    <a:prstClr val="black">
                      <a:alpha val="40000"/>
                    </a:prstClr>
                  </a:outerShdw>
                </a:effectLst>
                <a:latin typeface="黑体" panose="02010609060101010101" charset="-122"/>
                <a:ea typeface="黑体" panose="02010609060101010101" charset="-122"/>
                <a:sym typeface="+mn-ea"/>
              </a:rPr>
              <a:t>  串口通信之单字节通信</a:t>
            </a:r>
          </a:p>
        </p:txBody>
      </p:sp>
      <p:pic>
        <p:nvPicPr>
          <p:cNvPr id="6" name="图片 5" descr="cubeGIF"/>
          <p:cNvPicPr>
            <a:picLocks noChangeAspect="1"/>
          </p:cNvPicPr>
          <p:nvPr/>
        </p:nvPicPr>
        <p:blipFill>
          <a:blip r:embed="rId3"/>
          <a:stretch>
            <a:fillRect/>
          </a:stretch>
        </p:blipFill>
        <p:spPr>
          <a:xfrm>
            <a:off x="9072880" y="3316605"/>
            <a:ext cx="2557780" cy="3325495"/>
          </a:xfrm>
          <a:prstGeom prst="rect">
            <a:avLst/>
          </a:prstGeom>
        </p:spPr>
      </p:pic>
      <p:pic>
        <p:nvPicPr>
          <p:cNvPr id="2" name="图片 1" descr="chipGIF"/>
          <p:cNvPicPr>
            <a:picLocks noChangeAspect="1"/>
          </p:cNvPicPr>
          <p:nvPr/>
        </p:nvPicPr>
        <p:blipFill>
          <a:blip r:embed="rId4"/>
          <a:stretch>
            <a:fillRect/>
          </a:stretch>
        </p:blipFill>
        <p:spPr>
          <a:xfrm>
            <a:off x="624840" y="75565"/>
            <a:ext cx="1724025" cy="1552575"/>
          </a:xfrm>
          <a:prstGeom prst="rect">
            <a:avLst/>
          </a:prstGeom>
        </p:spPr>
      </p:pic>
    </p:spTree>
  </p:cSld>
  <p:clrMapOvr>
    <a:masterClrMapping/>
  </p:clrMapOvr>
  <p:transition spd="slow"/>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60985" y="336550"/>
            <a:ext cx="11669395" cy="3608705"/>
          </a:xfrm>
          <a:prstGeom prst="rect">
            <a:avLst/>
          </a:prstGeom>
          <a:noFill/>
        </p:spPr>
        <p:txBody>
          <a:bodyPr wrap="square" rtlCol="0">
            <a:spAutoFit/>
          </a:bodyPr>
          <a:lstStyle/>
          <a:p>
            <a:pPr>
              <a:lnSpc>
                <a:spcPct val="130000"/>
              </a:lnSpc>
            </a:pPr>
            <a:r>
              <a:rPr lang="zh-CN" altLang="en-US" sz="2800" b="1" dirty="0">
                <a:solidFill>
                  <a:srgbClr val="7030A0"/>
                </a:solidFill>
                <a:latin typeface="黑体" panose="02010609060101010101" charset="-122"/>
                <a:ea typeface="黑体" panose="02010609060101010101" charset="-122"/>
              </a:rPr>
              <a:t>能力</a:t>
            </a:r>
            <a:r>
              <a:rPr lang="zh-CN" altLang="en-US" sz="2800" b="1" dirty="0" smtClean="0">
                <a:solidFill>
                  <a:srgbClr val="7030A0"/>
                </a:solidFill>
                <a:latin typeface="黑体" panose="02010609060101010101" charset="-122"/>
                <a:ea typeface="黑体" panose="02010609060101010101" charset="-122"/>
              </a:rPr>
              <a:t>目标：</a:t>
            </a:r>
            <a:endParaRPr lang="en-US" altLang="zh-CN" sz="2800" b="1" dirty="0" smtClean="0">
              <a:solidFill>
                <a:srgbClr val="7030A0"/>
              </a:solidFill>
              <a:latin typeface="黑体" panose="02010609060101010101" charset="-122"/>
              <a:ea typeface="黑体" panose="02010609060101010101" charset="-122"/>
            </a:endParaRPr>
          </a:p>
          <a:p>
            <a:pPr>
              <a:lnSpc>
                <a:spcPct val="130000"/>
              </a:lnSpc>
            </a:pPr>
            <a:r>
              <a:rPr lang="en-US" altLang="zh-CN" sz="2400" b="1" dirty="0" smtClean="0">
                <a:solidFill>
                  <a:schemeClr val="tx1"/>
                </a:solidFill>
                <a:uFillTx/>
                <a:latin typeface="Times New Roman" panose="02020603050405020304" pitchFamily="18" charset="0"/>
                <a:ea typeface="宋体" panose="02010600030101010101" pitchFamily="2" charset="-122"/>
              </a:rPr>
              <a:t>     </a:t>
            </a:r>
            <a:r>
              <a:rPr sz="2400" b="1" dirty="0">
                <a:solidFill>
                  <a:schemeClr val="tx1"/>
                </a:solidFill>
                <a:uFillTx/>
                <a:latin typeface="Times New Roman" panose="02020603050405020304" pitchFamily="18" charset="0"/>
                <a:ea typeface="宋体" panose="02010600030101010101" pitchFamily="2" charset="-122"/>
              </a:rPr>
              <a:t>理解并掌握STM32单片机通过串口接收/发送单个字节的方法</a:t>
            </a:r>
            <a:r>
              <a:rPr lang="zh-CN" altLang="en-US" sz="2400" b="1" dirty="0" smtClean="0">
                <a:solidFill>
                  <a:schemeClr val="tx1"/>
                </a:solidFill>
                <a:uFillTx/>
                <a:latin typeface="Times New Roman" panose="02020603050405020304" pitchFamily="18" charset="0"/>
                <a:ea typeface="宋体" panose="02010600030101010101" pitchFamily="2" charset="-122"/>
              </a:rPr>
              <a:t>。</a:t>
            </a:r>
            <a:endParaRPr lang="en-US" altLang="zh-CN" sz="2400" b="1" dirty="0" smtClean="0">
              <a:latin typeface="宋体" panose="02010600030101010101" pitchFamily="2" charset="-122"/>
              <a:ea typeface="宋体" panose="02010600030101010101" pitchFamily="2" charset="-122"/>
            </a:endParaRPr>
          </a:p>
          <a:p>
            <a:pPr>
              <a:lnSpc>
                <a:spcPct val="130000"/>
              </a:lnSpc>
            </a:pPr>
            <a:r>
              <a:rPr lang="zh-CN" altLang="en-US" sz="2800" b="1" dirty="0" smtClean="0">
                <a:solidFill>
                  <a:srgbClr val="7030A0"/>
                </a:solidFill>
                <a:latin typeface="黑体" panose="02010609060101010101" charset="-122"/>
                <a:ea typeface="黑体" panose="02010609060101010101" charset="-122"/>
              </a:rPr>
              <a:t>任务要求：</a:t>
            </a:r>
            <a:endParaRPr lang="en-US" altLang="zh-CN" sz="2800" b="1" dirty="0" smtClean="0">
              <a:solidFill>
                <a:srgbClr val="7030A0"/>
              </a:solidFill>
              <a:latin typeface="黑体" panose="02010609060101010101" charset="-122"/>
              <a:ea typeface="黑体" panose="02010609060101010101" charset="-122"/>
            </a:endParaRPr>
          </a:p>
          <a:p>
            <a:pPr algn="l">
              <a:lnSpc>
                <a:spcPct val="130000"/>
              </a:lnSpc>
              <a:buClrTx/>
              <a:buSzTx/>
              <a:buFontTx/>
            </a:pPr>
            <a:r>
              <a:rPr lang="en-US" altLang="zh-CN" sz="2400" b="1" dirty="0" smtClean="0">
                <a:uFillTx/>
                <a:latin typeface="Times New Roman" panose="02020603050405020304" pitchFamily="18" charset="0"/>
                <a:ea typeface="宋体" panose="02010600030101010101" pitchFamily="2" charset="-122"/>
              </a:rPr>
              <a:t>    将单片机实验板通过串口数据线与计算机相连，打开计算机上的串口助手，通过串口助手发送单字节数据，单片机收到该字节数据后，交换高四位与低四位，将新的数据通过串口发回串口助手。</a:t>
            </a:r>
            <a:r>
              <a:rPr lang="en-US" altLang="zh-CN" sz="2400" b="1" i="1" dirty="0" smtClean="0">
                <a:solidFill>
                  <a:srgbClr val="00B050"/>
                </a:solidFill>
                <a:uFillTx/>
                <a:latin typeface="Times New Roman" panose="02020603050405020304" pitchFamily="18" charset="0"/>
                <a:ea typeface="宋体" panose="02010600030101010101" pitchFamily="2" charset="-122"/>
              </a:rPr>
              <a:t>（例如：串口助手发送数据“AB”，单片机返回数据“BA”。）</a:t>
            </a:r>
          </a:p>
        </p:txBody>
      </p:sp>
      <p:pic>
        <p:nvPicPr>
          <p:cNvPr id="1026" name="Picture 2" descr="E:\教学\课程改革\单片机2019\pic\蝴蝶GIF.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72092" y="5857875"/>
            <a:ext cx="916598" cy="91659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60985" y="336550"/>
            <a:ext cx="11669395" cy="5927090"/>
          </a:xfrm>
          <a:prstGeom prst="rect">
            <a:avLst/>
          </a:prstGeom>
          <a:noFill/>
        </p:spPr>
        <p:txBody>
          <a:bodyPr wrap="square" rtlCol="0">
            <a:spAutoFit/>
          </a:bodyPr>
          <a:lstStyle/>
          <a:p>
            <a:pPr>
              <a:lnSpc>
                <a:spcPct val="130000"/>
              </a:lnSpc>
            </a:pPr>
            <a:r>
              <a:rPr lang="en-US" altLang="zh-CN" sz="2800" b="1" dirty="0">
                <a:solidFill>
                  <a:srgbClr val="0000FF"/>
                </a:solidFill>
                <a:latin typeface="Times New Roman" panose="02020603050405020304" pitchFamily="18" charset="0"/>
                <a:ea typeface="黑体" panose="02010609060101010101" charset="-122"/>
              </a:rPr>
              <a:t>7</a:t>
            </a:r>
            <a:r>
              <a:rPr lang="zh-CN" altLang="en-US" sz="2800" b="1" dirty="0" smtClean="0">
                <a:solidFill>
                  <a:srgbClr val="0000FF"/>
                </a:solidFill>
                <a:latin typeface="Times New Roman" panose="02020603050405020304" pitchFamily="18" charset="0"/>
                <a:ea typeface="黑体" panose="02010609060101010101" charset="-122"/>
              </a:rPr>
              <a:t>.1  串口通信</a:t>
            </a:r>
          </a:p>
          <a:p>
            <a:pPr>
              <a:lnSpc>
                <a:spcPct val="130000"/>
              </a:lnSpc>
            </a:pPr>
            <a:r>
              <a:rPr lang="en-US" altLang="zh-CN" sz="2400" b="1" dirty="0" smtClean="0">
                <a:solidFill>
                  <a:srgbClr val="FF0000"/>
                </a:solidFill>
                <a:latin typeface="Times New Roman" panose="02020603050405020304" pitchFamily="18" charset="0"/>
                <a:ea typeface="宋体" panose="02010600030101010101" pitchFamily="2" charset="-122"/>
              </a:rPr>
              <a:t>（1）并行通信与串行通信</a:t>
            </a:r>
          </a:p>
          <a:p>
            <a:pPr>
              <a:lnSpc>
                <a:spcPct val="130000"/>
              </a:lnSpc>
            </a:pPr>
            <a:endParaRPr lang="en-US" altLang="zh-CN" sz="2400" b="1" dirty="0" smtClean="0">
              <a:latin typeface="Times New Roman" panose="02020603050405020304" pitchFamily="18" charset="0"/>
              <a:ea typeface="宋体" panose="02010600030101010101" pitchFamily="2" charset="-122"/>
            </a:endParaRPr>
          </a:p>
          <a:p>
            <a:pPr>
              <a:lnSpc>
                <a:spcPct val="130000"/>
              </a:lnSpc>
            </a:pPr>
            <a:endParaRPr lang="en-US" altLang="zh-CN" sz="2400" b="1" dirty="0" smtClean="0">
              <a:latin typeface="Times New Roman" panose="02020603050405020304" pitchFamily="18" charset="0"/>
              <a:ea typeface="宋体" panose="02010600030101010101" pitchFamily="2" charset="-122"/>
            </a:endParaRPr>
          </a:p>
          <a:p>
            <a:pPr>
              <a:lnSpc>
                <a:spcPct val="130000"/>
              </a:lnSpc>
            </a:pPr>
            <a:endParaRPr lang="en-US" altLang="zh-CN" sz="2400" b="1" dirty="0" smtClean="0">
              <a:latin typeface="Times New Roman" panose="02020603050405020304" pitchFamily="18" charset="0"/>
              <a:ea typeface="宋体" panose="02010600030101010101" pitchFamily="2" charset="-122"/>
            </a:endParaRPr>
          </a:p>
          <a:p>
            <a:pPr>
              <a:lnSpc>
                <a:spcPct val="130000"/>
              </a:lnSpc>
            </a:pPr>
            <a:endParaRPr lang="en-US" altLang="zh-CN" sz="2400" b="1" dirty="0" smtClean="0">
              <a:latin typeface="Times New Roman" panose="02020603050405020304" pitchFamily="18" charset="0"/>
              <a:ea typeface="宋体" panose="02010600030101010101" pitchFamily="2" charset="-122"/>
            </a:endParaRPr>
          </a:p>
          <a:p>
            <a:pPr>
              <a:lnSpc>
                <a:spcPct val="130000"/>
              </a:lnSpc>
            </a:pPr>
            <a:endParaRPr lang="en-US" altLang="zh-CN" sz="2400" b="1" dirty="0" smtClean="0">
              <a:latin typeface="Times New Roman" panose="02020603050405020304" pitchFamily="18" charset="0"/>
              <a:ea typeface="宋体" panose="02010600030101010101" pitchFamily="2" charset="-122"/>
            </a:endParaRPr>
          </a:p>
          <a:p>
            <a:pPr>
              <a:lnSpc>
                <a:spcPct val="130000"/>
              </a:lnSpc>
            </a:pPr>
            <a:endParaRPr lang="en-US" altLang="zh-CN" sz="2400" b="1" dirty="0" smtClean="0">
              <a:latin typeface="Times New Roman" panose="02020603050405020304" pitchFamily="18" charset="0"/>
              <a:ea typeface="宋体" panose="02010600030101010101" pitchFamily="2" charset="-122"/>
            </a:endParaRPr>
          </a:p>
          <a:p>
            <a:pPr>
              <a:lnSpc>
                <a:spcPct val="130000"/>
              </a:lnSpc>
            </a:pPr>
            <a:endParaRPr lang="en-US" altLang="zh-CN" sz="2400" b="1" dirty="0" smtClean="0">
              <a:latin typeface="Times New Roman" panose="02020603050405020304" pitchFamily="18" charset="0"/>
              <a:ea typeface="宋体" panose="02010600030101010101" pitchFamily="2" charset="-122"/>
            </a:endParaRPr>
          </a:p>
          <a:p>
            <a:pPr algn="ctr">
              <a:lnSpc>
                <a:spcPct val="130000"/>
              </a:lnSpc>
            </a:pPr>
            <a:r>
              <a:rPr lang="zh-CN" altLang="en-US" sz="2400" b="1" dirty="0" smtClean="0">
                <a:solidFill>
                  <a:schemeClr val="tx1"/>
                </a:solidFill>
                <a:latin typeface="Times New Roman" panose="02020603050405020304" pitchFamily="18" charset="0"/>
                <a:ea typeface="宋体" panose="02010600030101010101" pitchFamily="2" charset="-122"/>
              </a:rPr>
              <a:t>并行通信                                 串行通信</a:t>
            </a:r>
          </a:p>
          <a:p>
            <a:pPr algn="ctr">
              <a:lnSpc>
                <a:spcPct val="130000"/>
              </a:lnSpc>
            </a:pPr>
            <a:r>
              <a:rPr lang="zh-CN" altLang="en-US" sz="2400" b="1" dirty="0" smtClean="0">
                <a:solidFill>
                  <a:srgbClr val="00B050"/>
                </a:solidFill>
                <a:latin typeface="Times New Roman" panose="02020603050405020304" pitchFamily="18" charset="0"/>
                <a:ea typeface="宋体" panose="02010600030101010101" pitchFamily="2" charset="-122"/>
              </a:rPr>
              <a:t>优势：通信速度快</a:t>
            </a:r>
            <a:r>
              <a:rPr lang="zh-CN" altLang="en-US" sz="2400" b="1" dirty="0" smtClean="0">
                <a:latin typeface="Times New Roman" panose="02020603050405020304" pitchFamily="18" charset="0"/>
                <a:ea typeface="宋体" panose="02010600030101010101" pitchFamily="2" charset="-122"/>
              </a:rPr>
              <a:t>                            </a:t>
            </a:r>
            <a:r>
              <a:rPr lang="zh-CN" altLang="en-US" sz="2400" b="1" dirty="0" smtClean="0">
                <a:solidFill>
                  <a:srgbClr val="00B050"/>
                </a:solidFill>
                <a:latin typeface="Times New Roman" panose="02020603050405020304" pitchFamily="18" charset="0"/>
                <a:ea typeface="宋体" panose="02010600030101010101" pitchFamily="2" charset="-122"/>
              </a:rPr>
              <a:t>优点：通信成本低</a:t>
            </a:r>
            <a:endParaRPr lang="zh-CN" altLang="en-US" sz="2400" b="1" dirty="0" smtClean="0">
              <a:latin typeface="Times New Roman" panose="02020603050405020304" pitchFamily="18" charset="0"/>
              <a:ea typeface="宋体" panose="02010600030101010101" pitchFamily="2" charset="-122"/>
            </a:endParaRPr>
          </a:p>
          <a:p>
            <a:pPr algn="ctr">
              <a:lnSpc>
                <a:spcPct val="130000"/>
              </a:lnSpc>
            </a:pPr>
            <a:r>
              <a:rPr lang="zh-CN" altLang="en-US" sz="2400" b="1" dirty="0" smtClean="0">
                <a:solidFill>
                  <a:srgbClr val="7030A0"/>
                </a:solidFill>
                <a:latin typeface="Times New Roman" panose="02020603050405020304" pitchFamily="18" charset="0"/>
                <a:ea typeface="宋体" panose="02010600030101010101" pitchFamily="2" charset="-122"/>
              </a:rPr>
              <a:t>缺点：通信成本高                           缺点：通信速度慢</a:t>
            </a:r>
          </a:p>
        </p:txBody>
      </p:sp>
      <p:pic>
        <p:nvPicPr>
          <p:cNvPr id="1026" name="Picture 2" descr="E:\教学\课程改革\单片机2019\pic\蝴蝶GIF.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72092" y="5857875"/>
            <a:ext cx="916598" cy="91659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对象 -2147482571"/>
          <p:cNvGraphicFramePr>
            <a:graphicFrameLocks noChangeAspect="1"/>
          </p:cNvGraphicFramePr>
          <p:nvPr/>
        </p:nvGraphicFramePr>
        <p:xfrm>
          <a:off x="2118995" y="1633220"/>
          <a:ext cx="7954010" cy="3054350"/>
        </p:xfrm>
        <a:graphic>
          <a:graphicData uri="http://schemas.openxmlformats.org/presentationml/2006/ole">
            <mc:AlternateContent xmlns:mc="http://schemas.openxmlformats.org/markup-compatibility/2006">
              <mc:Choice xmlns:v="urn:schemas-microsoft-com:vml" Requires="v">
                <p:oleObj spid="_x0000_s3085" r:id="rId5" imgW="5638800" imgH="2171700" progId="Visio.Drawing.11">
                  <p:embed/>
                </p:oleObj>
              </mc:Choice>
              <mc:Fallback>
                <p:oleObj r:id="rId5" imgW="5638800" imgH="2171700" progId="Visio.Drawing.11">
                  <p:embed/>
                  <p:pic>
                    <p:nvPicPr>
                      <p:cNvPr id="0" name="图片 3075"/>
                      <p:cNvPicPr/>
                      <p:nvPr/>
                    </p:nvPicPr>
                    <p:blipFill>
                      <a:blip r:embed="rId6"/>
                      <a:stretch>
                        <a:fillRect/>
                      </a:stretch>
                    </p:blipFill>
                    <p:spPr>
                      <a:xfrm>
                        <a:off x="2118995" y="1633220"/>
                        <a:ext cx="7954010" cy="3054350"/>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60985" y="336550"/>
            <a:ext cx="11669395" cy="5846445"/>
          </a:xfrm>
          <a:prstGeom prst="rect">
            <a:avLst/>
          </a:prstGeom>
          <a:noFill/>
        </p:spPr>
        <p:txBody>
          <a:bodyPr wrap="square" rtlCol="0">
            <a:spAutoFit/>
          </a:bodyPr>
          <a:lstStyle/>
          <a:p>
            <a:pPr>
              <a:lnSpc>
                <a:spcPct val="130000"/>
              </a:lnSpc>
            </a:pPr>
            <a:r>
              <a:rPr lang="en-US" altLang="zh-CN" sz="2400" b="1" dirty="0" smtClean="0">
                <a:solidFill>
                  <a:srgbClr val="FF0000"/>
                </a:solidFill>
                <a:latin typeface="Times New Roman" panose="02020603050405020304" pitchFamily="18" charset="0"/>
                <a:ea typeface="宋体" panose="02010600030101010101" pitchFamily="2" charset="-122"/>
              </a:rPr>
              <a:t>（2）通信波特率</a:t>
            </a:r>
          </a:p>
          <a:p>
            <a:pPr>
              <a:lnSpc>
                <a:spcPct val="130000"/>
              </a:lnSpc>
            </a:pPr>
            <a:r>
              <a:rPr lang="en-US" altLang="zh-CN" sz="2400" b="1" dirty="0" smtClean="0">
                <a:latin typeface="Times New Roman" panose="02020603050405020304" pitchFamily="18" charset="0"/>
                <a:ea typeface="宋体" panose="02010600030101010101" pitchFamily="2" charset="-122"/>
              </a:rPr>
              <a:t>    通常用波特率</a:t>
            </a:r>
            <a:r>
              <a:rPr lang="en-US" altLang="zh-CN" sz="2400" b="1" i="1" dirty="0" smtClean="0">
                <a:solidFill>
                  <a:srgbClr val="7030A0"/>
                </a:solidFill>
                <a:latin typeface="Times New Roman" panose="02020603050405020304" pitchFamily="18" charset="0"/>
                <a:ea typeface="宋体" panose="02010600030101010101" pitchFamily="2" charset="-122"/>
              </a:rPr>
              <a:t>（Baud Rate）</a:t>
            </a:r>
            <a:r>
              <a:rPr lang="en-US" altLang="zh-CN" sz="2400" b="1" dirty="0" smtClean="0">
                <a:latin typeface="Times New Roman" panose="02020603050405020304" pitchFamily="18" charset="0"/>
                <a:ea typeface="宋体" panose="02010600030101010101" pitchFamily="2" charset="-122"/>
              </a:rPr>
              <a:t>来衡量数据通信的速度。波特率是指每秒钟传送数据的位数，单位为</a:t>
            </a:r>
            <a:r>
              <a:rPr lang="en-US" altLang="zh-CN" sz="2400" b="1" dirty="0" smtClean="0">
                <a:solidFill>
                  <a:srgbClr val="FF0000"/>
                </a:solidFill>
                <a:latin typeface="Times New Roman" panose="02020603050405020304" pitchFamily="18" charset="0"/>
                <a:ea typeface="宋体" panose="02010600030101010101" pitchFamily="2" charset="-122"/>
              </a:rPr>
              <a:t>bps</a:t>
            </a:r>
            <a:r>
              <a:rPr lang="en-US" altLang="zh-CN" sz="2400" b="1" i="1" dirty="0" smtClean="0">
                <a:solidFill>
                  <a:srgbClr val="7030A0"/>
                </a:solidFill>
                <a:latin typeface="Times New Roman" panose="02020603050405020304" pitchFamily="18" charset="0"/>
                <a:ea typeface="宋体" panose="02010600030101010101" pitchFamily="2" charset="-122"/>
              </a:rPr>
              <a:t>（Bit Per Second）</a:t>
            </a:r>
            <a:r>
              <a:rPr lang="en-US" altLang="zh-CN" sz="2400" b="1" dirty="0" smtClean="0">
                <a:latin typeface="Times New Roman" panose="02020603050405020304" pitchFamily="18" charset="0"/>
                <a:ea typeface="宋体" panose="02010600030101010101" pitchFamily="2" charset="-122"/>
              </a:rPr>
              <a:t>，用户可根据需要进行设定。</a:t>
            </a:r>
          </a:p>
          <a:p>
            <a:pPr>
              <a:lnSpc>
                <a:spcPct val="130000"/>
              </a:lnSpc>
            </a:pPr>
            <a:r>
              <a:rPr lang="en-US" altLang="zh-CN" sz="2400" b="1" dirty="0" smtClean="0">
                <a:solidFill>
                  <a:srgbClr val="FF0000"/>
                </a:solidFill>
                <a:latin typeface="Times New Roman" panose="02020603050405020304" pitchFamily="18" charset="0"/>
                <a:ea typeface="宋体" panose="02010600030101010101" pitchFamily="2" charset="-122"/>
              </a:rPr>
              <a:t>（3）异步通信与同步通信</a:t>
            </a:r>
          </a:p>
          <a:p>
            <a:pPr>
              <a:lnSpc>
                <a:spcPct val="130000"/>
              </a:lnSpc>
            </a:pPr>
            <a:r>
              <a:rPr lang="en-US" altLang="zh-CN" sz="2400" b="1" dirty="0" smtClean="0">
                <a:solidFill>
                  <a:srgbClr val="0070C0"/>
                </a:solidFill>
                <a:latin typeface="Times New Roman" panose="02020603050405020304" pitchFamily="18" charset="0"/>
                <a:ea typeface="宋体" panose="02010600030101010101" pitchFamily="2" charset="-122"/>
              </a:rPr>
              <a:t>① 异步通信</a:t>
            </a:r>
          </a:p>
          <a:p>
            <a:pPr>
              <a:lnSpc>
                <a:spcPct val="130000"/>
              </a:lnSpc>
            </a:pPr>
            <a:r>
              <a:rPr lang="en-US" altLang="zh-CN" sz="2400" b="1" dirty="0" smtClean="0">
                <a:latin typeface="Times New Roman" panose="02020603050405020304" pitchFamily="18" charset="0"/>
                <a:ea typeface="宋体" panose="02010600030101010101" pitchFamily="2" charset="-122"/>
              </a:rPr>
              <a:t>    在异步通信中，数据通常是以字节为最小单位组成数据帧传送，数据帧按照固定“节拍”</a:t>
            </a:r>
            <a:r>
              <a:rPr lang="en-US" altLang="zh-CN" sz="2400" b="1" i="1" dirty="0" smtClean="0">
                <a:solidFill>
                  <a:srgbClr val="7030A0"/>
                </a:solidFill>
                <a:latin typeface="Times New Roman" panose="02020603050405020304" pitchFamily="18" charset="0"/>
                <a:ea typeface="宋体" panose="02010600030101010101" pitchFamily="2" charset="-122"/>
              </a:rPr>
              <a:t>（即波特率）</a:t>
            </a:r>
            <a:r>
              <a:rPr lang="en-US" altLang="zh-CN" sz="2400" b="1" dirty="0" smtClean="0">
                <a:latin typeface="Times New Roman" panose="02020603050405020304" pitchFamily="18" charset="0"/>
                <a:ea typeface="宋体" panose="02010600030101010101" pitchFamily="2" charset="-122"/>
              </a:rPr>
              <a:t>通过发送端一帧一帧地发送，接送端则一帧一帧地接收。每一帧数据由以下四部分组成：</a:t>
            </a:r>
          </a:p>
          <a:p>
            <a:pPr>
              <a:lnSpc>
                <a:spcPct val="130000"/>
              </a:lnSpc>
            </a:pPr>
            <a:r>
              <a:rPr lang="en-US" altLang="zh-CN" sz="2400" b="1" dirty="0" smtClean="0">
                <a:latin typeface="Times New Roman" panose="02020603050405020304" pitchFamily="18" charset="0"/>
                <a:ea typeface="宋体" panose="02010600030101010101" pitchFamily="2" charset="-122"/>
              </a:rPr>
              <a:t>● </a:t>
            </a:r>
            <a:r>
              <a:rPr lang="en-US" altLang="zh-CN" sz="2400" b="1" dirty="0" smtClean="0">
                <a:solidFill>
                  <a:srgbClr val="FF0000"/>
                </a:solidFill>
                <a:latin typeface="Times New Roman" panose="02020603050405020304" pitchFamily="18" charset="0"/>
                <a:ea typeface="宋体" panose="02010600030101010101" pitchFamily="2" charset="-122"/>
              </a:rPr>
              <a:t>起始位</a:t>
            </a:r>
            <a:r>
              <a:rPr lang="en-US" altLang="zh-CN" sz="2400" b="1" dirty="0" smtClean="0">
                <a:latin typeface="Times New Roman" panose="02020603050405020304" pitchFamily="18" charset="0"/>
                <a:ea typeface="宋体" panose="02010600030101010101" pitchFamily="2" charset="-122"/>
              </a:rPr>
              <a:t>，</a:t>
            </a:r>
            <a:r>
              <a:rPr lang="en-US" altLang="zh-CN" sz="2400" b="1" i="1" dirty="0" smtClean="0">
                <a:solidFill>
                  <a:srgbClr val="00B050"/>
                </a:solidFill>
                <a:latin typeface="Times New Roman" panose="02020603050405020304" pitchFamily="18" charset="0"/>
                <a:ea typeface="宋体" panose="02010600030101010101" pitchFamily="2" charset="-122"/>
              </a:rPr>
              <a:t>位于数据帧开头，仅占1位，为逻辑“0”信号。空闲状态时传送线为常态逻辑“1”信号，接收端接收到逻辑“0”信号即知道发送端开始发送数据。</a:t>
            </a:r>
          </a:p>
          <a:p>
            <a:pPr algn="l">
              <a:lnSpc>
                <a:spcPct val="130000"/>
              </a:lnSpc>
              <a:buClrTx/>
              <a:buSzTx/>
              <a:buFontTx/>
            </a:pPr>
            <a:r>
              <a:rPr lang="en-US" altLang="zh-CN" sz="2400" b="1" dirty="0" smtClean="0">
                <a:latin typeface="Times New Roman" panose="02020603050405020304" pitchFamily="18" charset="0"/>
                <a:ea typeface="宋体" panose="02010600030101010101" pitchFamily="2" charset="-122"/>
              </a:rPr>
              <a:t>● </a:t>
            </a:r>
            <a:r>
              <a:rPr lang="en-US" altLang="zh-CN" sz="2400" b="1" dirty="0" smtClean="0">
                <a:solidFill>
                  <a:srgbClr val="FF0000"/>
                </a:solidFill>
                <a:latin typeface="Times New Roman" panose="02020603050405020304" pitchFamily="18" charset="0"/>
                <a:ea typeface="宋体" panose="02010600030101010101" pitchFamily="2" charset="-122"/>
              </a:rPr>
              <a:t>数据位</a:t>
            </a:r>
            <a:r>
              <a:rPr lang="en-US" altLang="zh-CN" sz="2400" b="1" dirty="0" smtClean="0">
                <a:latin typeface="Times New Roman" panose="02020603050405020304" pitchFamily="18" charset="0"/>
                <a:ea typeface="宋体" panose="02010600030101010101" pitchFamily="2" charset="-122"/>
              </a:rPr>
              <a:t>，</a:t>
            </a:r>
            <a:r>
              <a:rPr lang="en-US" altLang="zh-CN" sz="2400" b="1" i="1" dirty="0" smtClean="0">
                <a:solidFill>
                  <a:srgbClr val="00B050"/>
                </a:solidFill>
                <a:latin typeface="Times New Roman" panose="02020603050405020304" pitchFamily="18" charset="0"/>
                <a:ea typeface="宋体" panose="02010600030101010101" pitchFamily="2" charset="-122"/>
              </a:rPr>
              <a:t>位于起始位之后，根据情况可取5位、6位、7位或8位，发送顺序为低位在前高位在后。</a:t>
            </a:r>
          </a:p>
        </p:txBody>
      </p:sp>
      <p:pic>
        <p:nvPicPr>
          <p:cNvPr id="1026" name="Picture 2" descr="E:\教学\课程改革\单片机2019\pic\蝴蝶GIF.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72092" y="5857875"/>
            <a:ext cx="916598" cy="91659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60985" y="336550"/>
            <a:ext cx="11669395" cy="6326505"/>
          </a:xfrm>
          <a:prstGeom prst="rect">
            <a:avLst/>
          </a:prstGeom>
          <a:noFill/>
        </p:spPr>
        <p:txBody>
          <a:bodyPr wrap="square" rtlCol="0">
            <a:spAutoFit/>
          </a:bodyPr>
          <a:lstStyle/>
          <a:p>
            <a:pPr>
              <a:lnSpc>
                <a:spcPct val="130000"/>
              </a:lnSpc>
            </a:pPr>
            <a:r>
              <a:rPr lang="en-US" altLang="zh-CN" sz="2400" b="1" dirty="0" smtClean="0">
                <a:latin typeface="Times New Roman" panose="02020603050405020304" pitchFamily="18" charset="0"/>
                <a:ea typeface="宋体" panose="02010600030101010101" pitchFamily="2" charset="-122"/>
              </a:rPr>
              <a:t>● </a:t>
            </a:r>
            <a:r>
              <a:rPr lang="en-US" altLang="zh-CN" sz="2400" b="1" dirty="0" smtClean="0">
                <a:solidFill>
                  <a:srgbClr val="FF0000"/>
                </a:solidFill>
                <a:latin typeface="Times New Roman" panose="02020603050405020304" pitchFamily="18" charset="0"/>
                <a:ea typeface="宋体" panose="02010600030101010101" pitchFamily="2" charset="-122"/>
              </a:rPr>
              <a:t>奇偶校验位</a:t>
            </a:r>
            <a:r>
              <a:rPr lang="en-US" altLang="zh-CN" sz="2400" b="1" dirty="0" smtClean="0">
                <a:latin typeface="Times New Roman" panose="02020603050405020304" pitchFamily="18" charset="0"/>
                <a:ea typeface="宋体" panose="02010600030101010101" pitchFamily="2" charset="-122"/>
              </a:rPr>
              <a:t>，</a:t>
            </a:r>
            <a:r>
              <a:rPr lang="en-US" altLang="zh-CN" sz="2400" b="1" i="1" dirty="0" smtClean="0">
                <a:solidFill>
                  <a:srgbClr val="00B050"/>
                </a:solidFill>
                <a:latin typeface="Times New Roman" panose="02020603050405020304" pitchFamily="18" charset="0"/>
                <a:ea typeface="宋体" panose="02010600030101010101" pitchFamily="2" charset="-122"/>
              </a:rPr>
              <a:t>位于所有数据位之后，仅占一位。通信双方约定统一采用奇校验或者偶校验。所谓奇校验即当传送数据中1的个数为奇数时，奇偶校验位则取1，否则取0；偶校验即当传送数据中1的个数为偶数时，奇偶校验位取1，否则取0。这是一种简单的校验方法，也可以选择无校验模式，即没有奇偶校验位。</a:t>
            </a:r>
            <a:endParaRPr lang="en-US" altLang="zh-CN" sz="2400" b="1" dirty="0" smtClean="0">
              <a:latin typeface="Times New Roman" panose="02020603050405020304" pitchFamily="18" charset="0"/>
              <a:ea typeface="宋体" panose="02010600030101010101" pitchFamily="2" charset="-122"/>
            </a:endParaRPr>
          </a:p>
          <a:p>
            <a:pPr>
              <a:lnSpc>
                <a:spcPct val="130000"/>
              </a:lnSpc>
            </a:pPr>
            <a:r>
              <a:rPr lang="en-US" altLang="zh-CN" sz="2400" b="1" dirty="0" smtClean="0">
                <a:latin typeface="Times New Roman" panose="02020603050405020304" pitchFamily="18" charset="0"/>
                <a:ea typeface="宋体" panose="02010600030101010101" pitchFamily="2" charset="-122"/>
              </a:rPr>
              <a:t>● </a:t>
            </a:r>
            <a:r>
              <a:rPr lang="en-US" altLang="zh-CN" sz="2400" b="1" dirty="0" smtClean="0">
                <a:solidFill>
                  <a:srgbClr val="FF0000"/>
                </a:solidFill>
                <a:latin typeface="Times New Roman" panose="02020603050405020304" pitchFamily="18" charset="0"/>
                <a:ea typeface="宋体" panose="02010600030101010101" pitchFamily="2" charset="-122"/>
              </a:rPr>
              <a:t>停止位</a:t>
            </a:r>
            <a:r>
              <a:rPr lang="en-US" altLang="zh-CN" sz="2400" b="1" dirty="0" smtClean="0">
                <a:latin typeface="Times New Roman" panose="02020603050405020304" pitchFamily="18" charset="0"/>
                <a:ea typeface="宋体" panose="02010600030101010101" pitchFamily="2" charset="-122"/>
              </a:rPr>
              <a:t>，</a:t>
            </a:r>
            <a:r>
              <a:rPr lang="en-US" altLang="zh-CN" sz="2400" b="1" i="1" dirty="0" smtClean="0">
                <a:solidFill>
                  <a:srgbClr val="00B050"/>
                </a:solidFill>
                <a:latin typeface="Times New Roman" panose="02020603050405020304" pitchFamily="18" charset="0"/>
                <a:ea typeface="宋体" panose="02010600030101010101" pitchFamily="2" charset="-122"/>
              </a:rPr>
              <a:t>位于数据帧末尾，为逻辑“1”，通常可取1位，1.5位或2位，用于向接收端表示一帧数据已发送完毕。</a:t>
            </a:r>
          </a:p>
          <a:p>
            <a:pPr>
              <a:lnSpc>
                <a:spcPct val="130000"/>
              </a:lnSpc>
            </a:pPr>
            <a:endParaRPr lang="en-US" altLang="zh-CN" sz="2400" b="1" i="1" dirty="0" smtClean="0">
              <a:solidFill>
                <a:srgbClr val="00B050"/>
              </a:solidFill>
              <a:latin typeface="Times New Roman" panose="02020603050405020304" pitchFamily="18" charset="0"/>
              <a:ea typeface="宋体" panose="02010600030101010101" pitchFamily="2" charset="-122"/>
            </a:endParaRPr>
          </a:p>
          <a:p>
            <a:pPr>
              <a:lnSpc>
                <a:spcPct val="130000"/>
              </a:lnSpc>
            </a:pPr>
            <a:endParaRPr lang="en-US" altLang="zh-CN" sz="2400" b="1" i="1" dirty="0" smtClean="0">
              <a:solidFill>
                <a:srgbClr val="00B050"/>
              </a:solidFill>
              <a:latin typeface="Times New Roman" panose="02020603050405020304" pitchFamily="18" charset="0"/>
              <a:ea typeface="宋体" panose="02010600030101010101" pitchFamily="2" charset="-122"/>
            </a:endParaRPr>
          </a:p>
          <a:p>
            <a:pPr>
              <a:lnSpc>
                <a:spcPct val="130000"/>
              </a:lnSpc>
            </a:pPr>
            <a:endParaRPr lang="en-US" altLang="zh-CN" sz="2400" b="1" i="1" dirty="0" smtClean="0">
              <a:solidFill>
                <a:srgbClr val="00B050"/>
              </a:solidFill>
              <a:latin typeface="Times New Roman" panose="02020603050405020304" pitchFamily="18" charset="0"/>
              <a:ea typeface="宋体" panose="02010600030101010101" pitchFamily="2" charset="-122"/>
            </a:endParaRPr>
          </a:p>
          <a:p>
            <a:pPr>
              <a:lnSpc>
                <a:spcPct val="130000"/>
              </a:lnSpc>
            </a:pPr>
            <a:endParaRPr lang="en-US" altLang="zh-CN" sz="2400" b="1" i="1" dirty="0" smtClean="0">
              <a:solidFill>
                <a:srgbClr val="00B050"/>
              </a:solidFill>
              <a:latin typeface="Times New Roman" panose="02020603050405020304" pitchFamily="18" charset="0"/>
              <a:ea typeface="宋体" panose="02010600030101010101" pitchFamily="2" charset="-122"/>
            </a:endParaRPr>
          </a:p>
          <a:p>
            <a:pPr>
              <a:lnSpc>
                <a:spcPct val="130000"/>
              </a:lnSpc>
            </a:pPr>
            <a:endParaRPr lang="en-US" altLang="zh-CN" sz="2400" b="1" i="1" dirty="0" smtClean="0">
              <a:solidFill>
                <a:srgbClr val="00B050"/>
              </a:solidFill>
              <a:latin typeface="Times New Roman" panose="02020603050405020304" pitchFamily="18" charset="0"/>
              <a:ea typeface="宋体" panose="02010600030101010101" pitchFamily="2" charset="-122"/>
            </a:endParaRPr>
          </a:p>
          <a:p>
            <a:pPr>
              <a:lnSpc>
                <a:spcPct val="130000"/>
              </a:lnSpc>
            </a:pPr>
            <a:r>
              <a:rPr lang="en-US" altLang="zh-CN" sz="2400" b="1" dirty="0" smtClean="0">
                <a:solidFill>
                  <a:schemeClr val="tx1"/>
                </a:solidFill>
                <a:latin typeface="Times New Roman" panose="02020603050405020304" pitchFamily="18" charset="0"/>
                <a:ea typeface="宋体" panose="02010600030101010101" pitchFamily="2" charset="-122"/>
              </a:rPr>
              <a:t>    异步通信发送端与接收端双方采用不同的时钟信号，一般来说</a:t>
            </a:r>
            <a:r>
              <a:rPr lang="en-US" altLang="zh-CN" sz="2400" b="1" u="sng" dirty="0" smtClean="0">
                <a:solidFill>
                  <a:srgbClr val="FF0000"/>
                </a:solidFill>
                <a:latin typeface="Times New Roman" panose="02020603050405020304" pitchFamily="18" charset="0"/>
                <a:ea typeface="宋体" panose="02010600030101010101" pitchFamily="2" charset="-122"/>
              </a:rPr>
              <a:t>波特率误差相差</a:t>
            </a:r>
          </a:p>
          <a:p>
            <a:pPr>
              <a:lnSpc>
                <a:spcPct val="130000"/>
              </a:lnSpc>
            </a:pPr>
            <a:r>
              <a:rPr lang="en-US" altLang="zh-CN" sz="2400" b="1" u="sng" dirty="0" smtClean="0">
                <a:solidFill>
                  <a:srgbClr val="FF0000"/>
                </a:solidFill>
                <a:latin typeface="Times New Roman" panose="02020603050405020304" pitchFamily="18" charset="0"/>
                <a:ea typeface="宋体" panose="02010600030101010101" pitchFamily="2" charset="-122"/>
              </a:rPr>
              <a:t>不超过1%均可顺利通信</a:t>
            </a:r>
            <a:r>
              <a:rPr lang="en-US" altLang="zh-CN" sz="2400" b="1" dirty="0" smtClean="0">
                <a:solidFill>
                  <a:schemeClr val="tx1"/>
                </a:solidFill>
                <a:latin typeface="Times New Roman" panose="02020603050405020304" pitchFamily="18" charset="0"/>
                <a:ea typeface="宋体" panose="02010600030101010101" pitchFamily="2" charset="-122"/>
              </a:rPr>
              <a:t>。</a:t>
            </a:r>
          </a:p>
        </p:txBody>
      </p:sp>
      <p:pic>
        <p:nvPicPr>
          <p:cNvPr id="1026" name="Picture 2" descr="E:\教学\课程改革\单片机2019\pic\蝴蝶GIF.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72092" y="5857875"/>
            <a:ext cx="916598" cy="916598"/>
          </a:xfrm>
          <a:prstGeom prst="rect">
            <a:avLst/>
          </a:prstGeom>
          <a:noFill/>
          <a:extLst>
            <a:ext uri="{909E8E84-426E-40DD-AFC4-6F175D3DCCD1}">
              <a14:hiddenFill xmlns:a14="http://schemas.microsoft.com/office/drawing/2010/main">
                <a:solidFill>
                  <a:srgbClr val="FFFFFF"/>
                </a:solidFill>
              </a14:hiddenFill>
            </a:ext>
          </a:extLst>
        </p:spPr>
      </p:pic>
      <p:pic>
        <p:nvPicPr>
          <p:cNvPr id="4" name="图片 3" descr="123"/>
          <p:cNvPicPr>
            <a:picLocks noChangeAspect="1"/>
          </p:cNvPicPr>
          <p:nvPr/>
        </p:nvPicPr>
        <p:blipFill>
          <a:blip r:embed="rId4"/>
          <a:srcRect b="18532"/>
          <a:stretch>
            <a:fillRect/>
          </a:stretch>
        </p:blipFill>
        <p:spPr>
          <a:xfrm>
            <a:off x="2540635" y="3305175"/>
            <a:ext cx="5993130" cy="2273300"/>
          </a:xfrm>
          <a:prstGeom prst="rect">
            <a:avLst/>
          </a:prstGeom>
        </p:spPr>
      </p:pic>
    </p:spTree>
  </p:cSld>
  <p:clrMapOvr>
    <a:masterClrMapping/>
  </p:clrMapOvr>
  <p:transition spd="slow"/>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60985" y="336550"/>
            <a:ext cx="11669395" cy="3453253"/>
          </a:xfrm>
          <a:prstGeom prst="rect">
            <a:avLst/>
          </a:prstGeom>
          <a:noFill/>
        </p:spPr>
        <p:txBody>
          <a:bodyPr wrap="square" rtlCol="0">
            <a:spAutoFit/>
          </a:bodyPr>
          <a:lstStyle/>
          <a:p>
            <a:pPr>
              <a:lnSpc>
                <a:spcPct val="130000"/>
              </a:lnSpc>
            </a:pPr>
            <a:r>
              <a:rPr lang="en-US" altLang="zh-CN" sz="2400" b="1" dirty="0" smtClean="0">
                <a:solidFill>
                  <a:srgbClr val="0070C0"/>
                </a:solidFill>
                <a:latin typeface="Times New Roman" panose="02020603050405020304" pitchFamily="18" charset="0"/>
                <a:ea typeface="宋体" panose="02010600030101010101" pitchFamily="2" charset="-122"/>
              </a:rPr>
              <a:t>② 同步通信</a:t>
            </a:r>
          </a:p>
          <a:p>
            <a:pPr>
              <a:lnSpc>
                <a:spcPct val="130000"/>
              </a:lnSpc>
            </a:pPr>
            <a:r>
              <a:rPr lang="zh-CN" altLang="en-US" sz="2400" b="1" dirty="0" smtClean="0">
                <a:latin typeface="Times New Roman" panose="02020603050405020304" pitchFamily="18" charset="0"/>
                <a:ea typeface="宋体" panose="02010600030101010101" pitchFamily="2" charset="-122"/>
              </a:rPr>
              <a:t>    （</a:t>
            </a:r>
            <a:r>
              <a:rPr lang="en-US" altLang="zh-CN" sz="2400" b="1" dirty="0" smtClean="0">
                <a:latin typeface="Times New Roman" panose="02020603050405020304" pitchFamily="18" charset="0"/>
                <a:ea typeface="宋体" panose="02010600030101010101" pitchFamily="2" charset="-122"/>
                <a:sym typeface="+mn-ea"/>
              </a:rPr>
              <a:t>本书不做介绍</a:t>
            </a:r>
            <a:r>
              <a:rPr lang="en-US" altLang="zh-CN" sz="2400" b="1" dirty="0" smtClean="0">
                <a:ea typeface="宋体" panose="02010600030101010101" pitchFamily="2" charset="-122"/>
                <a:cs typeface="Arial" panose="020B0604020202020204" pitchFamily="34" charset="0"/>
                <a:sym typeface="+mn-ea"/>
              </a:rPr>
              <a:t>…</a:t>
            </a:r>
            <a:r>
              <a:rPr lang="zh-CN" altLang="en-US" sz="2400" b="1" dirty="0" smtClean="0">
                <a:latin typeface="Times New Roman" panose="02020603050405020304" pitchFamily="18" charset="0"/>
                <a:ea typeface="宋体" panose="02010600030101010101" pitchFamily="2" charset="-122"/>
              </a:rPr>
              <a:t>）</a:t>
            </a:r>
          </a:p>
          <a:p>
            <a:pPr>
              <a:lnSpc>
                <a:spcPct val="130000"/>
              </a:lnSpc>
            </a:pPr>
            <a:r>
              <a:rPr lang="zh-CN" altLang="en-US" sz="2400" b="1" dirty="0" smtClean="0">
                <a:solidFill>
                  <a:srgbClr val="FF0000"/>
                </a:solidFill>
                <a:latin typeface="Times New Roman" panose="02020603050405020304" pitchFamily="18" charset="0"/>
                <a:ea typeface="宋体" panose="02010600030101010101" pitchFamily="2" charset="-122"/>
              </a:rPr>
              <a:t>（4）串行通信的数据传输模式</a:t>
            </a:r>
          </a:p>
          <a:p>
            <a:pPr>
              <a:lnSpc>
                <a:spcPct val="130000"/>
              </a:lnSpc>
            </a:pPr>
            <a:endParaRPr lang="zh-CN" altLang="en-US" sz="2400" b="1" dirty="0" smtClean="0">
              <a:solidFill>
                <a:srgbClr val="FF0000"/>
              </a:solidFill>
              <a:latin typeface="Times New Roman" panose="02020603050405020304" pitchFamily="18" charset="0"/>
              <a:ea typeface="宋体" panose="02010600030101010101" pitchFamily="2" charset="-122"/>
            </a:endParaRPr>
          </a:p>
          <a:p>
            <a:pPr>
              <a:lnSpc>
                <a:spcPct val="130000"/>
              </a:lnSpc>
            </a:pPr>
            <a:endParaRPr lang="zh-CN" altLang="en-US" sz="2400" b="1" dirty="0" smtClean="0">
              <a:solidFill>
                <a:srgbClr val="FF0000"/>
              </a:solidFill>
              <a:latin typeface="Times New Roman" panose="02020603050405020304" pitchFamily="18" charset="0"/>
              <a:ea typeface="宋体" panose="02010600030101010101" pitchFamily="2" charset="-122"/>
            </a:endParaRPr>
          </a:p>
          <a:p>
            <a:pPr>
              <a:lnSpc>
                <a:spcPct val="130000"/>
              </a:lnSpc>
            </a:pPr>
            <a:endParaRPr lang="zh-CN" altLang="en-US" sz="2400" b="1" dirty="0" smtClean="0">
              <a:solidFill>
                <a:srgbClr val="FF0000"/>
              </a:solidFill>
              <a:latin typeface="Times New Roman" panose="02020603050405020304" pitchFamily="18" charset="0"/>
              <a:ea typeface="宋体" panose="02010600030101010101" pitchFamily="2" charset="-122"/>
            </a:endParaRPr>
          </a:p>
          <a:p>
            <a:pPr>
              <a:lnSpc>
                <a:spcPct val="130000"/>
              </a:lnSpc>
            </a:pPr>
            <a:r>
              <a:rPr lang="zh-CN" altLang="en-US" sz="2400" b="1" dirty="0" smtClean="0">
                <a:solidFill>
                  <a:schemeClr val="tx1"/>
                </a:solidFill>
                <a:latin typeface="Times New Roman" panose="02020603050405020304" pitchFamily="18" charset="0"/>
                <a:ea typeface="宋体" panose="02010600030101010101" pitchFamily="2" charset="-122"/>
              </a:rPr>
              <a:t>                  单工                                            半双工                                          全双工</a:t>
            </a:r>
          </a:p>
        </p:txBody>
      </p:sp>
      <p:pic>
        <p:nvPicPr>
          <p:cNvPr id="1026" name="Picture 2" descr="E:\教学\课程改革\单片机2019\pic\蝴蝶GIF.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72092" y="5857875"/>
            <a:ext cx="916598" cy="91659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对象 -2147482592"/>
          <p:cNvGraphicFramePr>
            <a:graphicFrameLocks noChangeAspect="1"/>
          </p:cNvGraphicFramePr>
          <p:nvPr/>
        </p:nvGraphicFramePr>
        <p:xfrm>
          <a:off x="260985" y="1866265"/>
          <a:ext cx="11690350" cy="1374775"/>
        </p:xfrm>
        <a:graphic>
          <a:graphicData uri="http://schemas.openxmlformats.org/presentationml/2006/ole">
            <mc:AlternateContent xmlns:mc="http://schemas.openxmlformats.org/markup-compatibility/2006">
              <mc:Choice xmlns:v="urn:schemas-microsoft-com:vml" Requires="v">
                <p:oleObj spid="_x0000_s4104" r:id="rId5" imgW="7442200" imgH="889000" progId="Visio.Drawing.11">
                  <p:embed/>
                </p:oleObj>
              </mc:Choice>
              <mc:Fallback>
                <p:oleObj r:id="rId5" imgW="7442200" imgH="889000" progId="Visio.Drawing.11">
                  <p:embed/>
                  <p:pic>
                    <p:nvPicPr>
                      <p:cNvPr id="0" name="图片 3075"/>
                      <p:cNvPicPr/>
                      <p:nvPr/>
                    </p:nvPicPr>
                    <p:blipFill>
                      <a:blip r:embed="rId6"/>
                      <a:stretch>
                        <a:fillRect/>
                      </a:stretch>
                    </p:blipFill>
                    <p:spPr>
                      <a:xfrm>
                        <a:off x="260985" y="1866265"/>
                        <a:ext cx="11690350" cy="1374775"/>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教学\课程改革\单片机2019\pic\蝴蝶GIF.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72092" y="5857875"/>
            <a:ext cx="916598" cy="916598"/>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1"/>
          <p:cNvSpPr>
            <a:spLocks noChangeArrowheads="1"/>
          </p:cNvSpPr>
          <p:nvPr/>
        </p:nvSpPr>
        <p:spPr bwMode="auto">
          <a:xfrm>
            <a:off x="490086" y="512309"/>
            <a:ext cx="770413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hlink"/>
              </a:buClr>
              <a:buFont typeface="Wingdings" panose="05000000000000000000" pitchFamily="2" charset="2"/>
              <a:buChar char="v"/>
              <a:defRPr sz="2800" b="1">
                <a:solidFill>
                  <a:schemeClr val="tx2"/>
                </a:solidFill>
                <a:latin typeface="Verdana" panose="020B0604030504040204" pitchFamily="34"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eaLnBrk="0" hangingPunct="0">
              <a:spcBef>
                <a:spcPct val="20000"/>
              </a:spcBef>
              <a:buClr>
                <a:schemeClr val="tx1"/>
              </a:buClr>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3200">
                <a:solidFill>
                  <a:schemeClr val="tx1"/>
                </a:solidFill>
                <a:latin typeface="Arial" panose="020B0604020202020204" pitchFamily="34" charset="0"/>
                <a:ea typeface="宋体" panose="02010600030101010101" pitchFamily="2" charset="-122"/>
              </a:rPr>
              <a:t> </a:t>
            </a:r>
            <a:endParaRPr lang="zh-CN" altLang="en-US" sz="2400" b="0">
              <a:solidFill>
                <a:schemeClr val="tx1"/>
              </a:solidFill>
              <a:latin typeface="Arial" panose="020B0604020202020204" pitchFamily="34" charset="0"/>
              <a:ea typeface="宋体" panose="02010600030101010101" pitchFamily="2" charset="-122"/>
            </a:endParaRPr>
          </a:p>
        </p:txBody>
      </p:sp>
      <p:sp>
        <p:nvSpPr>
          <p:cNvPr id="6" name="TextBox 1"/>
          <p:cNvSpPr txBox="1">
            <a:spLocks noChangeArrowheads="1"/>
          </p:cNvSpPr>
          <p:nvPr/>
        </p:nvSpPr>
        <p:spPr bwMode="auto">
          <a:xfrm>
            <a:off x="632961" y="583746"/>
            <a:ext cx="469423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285750" indent="-285750" eaLnBrk="0" hangingPunct="0">
              <a:spcBef>
                <a:spcPct val="20000"/>
              </a:spcBef>
              <a:buClr>
                <a:schemeClr val="hlink"/>
              </a:buClr>
              <a:buFont typeface="Wingdings" panose="05000000000000000000" pitchFamily="2" charset="2"/>
              <a:buChar char="v"/>
              <a:defRPr sz="2800" b="1">
                <a:solidFill>
                  <a:schemeClr val="tx2"/>
                </a:solidFill>
                <a:latin typeface="Verdana" panose="020B0604030504040204" pitchFamily="34"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eaLnBrk="0" hangingPunct="0">
              <a:spcBef>
                <a:spcPct val="20000"/>
              </a:spcBef>
              <a:buClr>
                <a:schemeClr val="tx1"/>
              </a:buClr>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 typeface="Wingdings" panose="05000000000000000000" pitchFamily="2" charset="2"/>
              <a:buChar char="u"/>
            </a:pPr>
            <a:r>
              <a:rPr lang="zh-CN" altLang="en-US" sz="3200" b="0">
                <a:solidFill>
                  <a:schemeClr val="tx1"/>
                </a:solidFill>
                <a:latin typeface="Arial" panose="020B0604020202020204" pitchFamily="34" charset="0"/>
                <a:ea typeface="宋体" panose="02010600030101010101" pitchFamily="2" charset="-122"/>
              </a:rPr>
              <a:t>常见的串行通信接口：</a:t>
            </a:r>
            <a:endParaRPr lang="en-US" altLang="zh-CN" sz="3200" b="0">
              <a:solidFill>
                <a:schemeClr val="tx1"/>
              </a:solidFill>
              <a:latin typeface="Arial" panose="020B0604020202020204" pitchFamily="34" charset="0"/>
              <a:ea typeface="宋体" panose="02010600030101010101" pitchFamily="2" charset="-122"/>
            </a:endParaRPr>
          </a:p>
        </p:txBody>
      </p:sp>
      <p:graphicFrame>
        <p:nvGraphicFramePr>
          <p:cNvPr id="7" name="表格 6"/>
          <p:cNvGraphicFramePr>
            <a:graphicFrameLocks noGrp="1"/>
          </p:cNvGraphicFramePr>
          <p:nvPr>
            <p:extLst>
              <p:ext uri="{D42A27DB-BD31-4B8C-83A1-F6EECF244321}">
                <p14:modId xmlns:p14="http://schemas.microsoft.com/office/powerpoint/2010/main" val="186718957"/>
              </p:ext>
            </p:extLst>
          </p:nvPr>
        </p:nvGraphicFramePr>
        <p:xfrm>
          <a:off x="1137785" y="1447347"/>
          <a:ext cx="7200900" cy="3278189"/>
        </p:xfrm>
        <a:graphic>
          <a:graphicData uri="http://schemas.openxmlformats.org/drawingml/2006/table">
            <a:tbl>
              <a:tblPr/>
              <a:tblGrid>
                <a:gridCol w="1800225">
                  <a:extLst>
                    <a:ext uri="{9D8B030D-6E8A-4147-A177-3AD203B41FA5}">
                      <a16:colId xmlns:a16="http://schemas.microsoft.com/office/drawing/2014/main" val="20000"/>
                    </a:ext>
                  </a:extLst>
                </a:gridCol>
                <a:gridCol w="2663825">
                  <a:extLst>
                    <a:ext uri="{9D8B030D-6E8A-4147-A177-3AD203B41FA5}">
                      <a16:colId xmlns:a16="http://schemas.microsoft.com/office/drawing/2014/main" val="20001"/>
                    </a:ext>
                  </a:extLst>
                </a:gridCol>
                <a:gridCol w="1512887">
                  <a:extLst>
                    <a:ext uri="{9D8B030D-6E8A-4147-A177-3AD203B41FA5}">
                      <a16:colId xmlns:a16="http://schemas.microsoft.com/office/drawing/2014/main" val="20002"/>
                    </a:ext>
                  </a:extLst>
                </a:gridCol>
                <a:gridCol w="1223963">
                  <a:extLst>
                    <a:ext uri="{9D8B030D-6E8A-4147-A177-3AD203B41FA5}">
                      <a16:colId xmlns:a16="http://schemas.microsoft.com/office/drawing/2014/main" val="20003"/>
                    </a:ext>
                  </a:extLst>
                </a:gridCol>
              </a:tblGrid>
              <a:tr h="60495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smtClean="0">
                          <a:ln>
                            <a:noFill/>
                          </a:ln>
                          <a:solidFill>
                            <a:srgbClr val="FFFFFF"/>
                          </a:solidFill>
                          <a:effectLst/>
                          <a:latin typeface="Verdana" pitchFamily="34" charset="0"/>
                          <a:ea typeface="宋体" pitchFamily="2" charset="-122"/>
                        </a:rPr>
                        <a:t>通信标准</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smtClean="0">
                          <a:ln>
                            <a:noFill/>
                          </a:ln>
                          <a:solidFill>
                            <a:srgbClr val="FFFFFF"/>
                          </a:solidFill>
                          <a:effectLst/>
                          <a:latin typeface="Verdana" pitchFamily="34" charset="0"/>
                          <a:ea typeface="宋体" pitchFamily="2" charset="-122"/>
                        </a:rPr>
                        <a:t>引脚说明</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smtClean="0">
                          <a:ln>
                            <a:noFill/>
                          </a:ln>
                          <a:solidFill>
                            <a:srgbClr val="FFFFFF"/>
                          </a:solidFill>
                          <a:effectLst/>
                          <a:latin typeface="Verdana" pitchFamily="34" charset="0"/>
                          <a:ea typeface="宋体" pitchFamily="2" charset="-122"/>
                        </a:rPr>
                        <a:t>通信方式</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smtClean="0">
                          <a:ln>
                            <a:noFill/>
                          </a:ln>
                          <a:solidFill>
                            <a:srgbClr val="FFFFFF"/>
                          </a:solidFill>
                          <a:effectLst/>
                          <a:latin typeface="Verdana" pitchFamily="34" charset="0"/>
                          <a:ea typeface="宋体" pitchFamily="2" charset="-122"/>
                        </a:rPr>
                        <a:t>通信方向</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73166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rgbClr val="000066"/>
                          </a:solidFill>
                          <a:effectLst/>
                          <a:latin typeface="Verdana" pitchFamily="34" charset="0"/>
                          <a:ea typeface="宋体" pitchFamily="2" charset="-122"/>
                        </a:rPr>
                        <a:t>  UART</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rgbClr val="000066"/>
                          </a:solidFill>
                          <a:effectLst/>
                          <a:latin typeface="Verdana" pitchFamily="34" charset="0"/>
                          <a:ea typeface="宋体" pitchFamily="2" charset="-122"/>
                        </a:rPr>
                        <a:t>(</a:t>
                      </a:r>
                      <a:r>
                        <a:rPr kumimoji="0" lang="zh-CN" altLang="en-US" sz="1400" b="0" i="0" u="none" strike="noStrike" cap="none" normalizeH="0" baseline="0" dirty="0" smtClean="0">
                          <a:ln>
                            <a:noFill/>
                          </a:ln>
                          <a:solidFill>
                            <a:srgbClr val="000066"/>
                          </a:solidFill>
                          <a:effectLst/>
                          <a:latin typeface="Verdana" pitchFamily="34" charset="0"/>
                          <a:ea typeface="宋体" pitchFamily="2" charset="-122"/>
                        </a:rPr>
                        <a:t>通用异步收发器</a:t>
                      </a:r>
                      <a:r>
                        <a:rPr kumimoji="0" lang="en-US" altLang="zh-CN" sz="1400" b="0" i="0" u="none" strike="noStrike" cap="none" normalizeH="0" baseline="0" dirty="0" smtClean="0">
                          <a:ln>
                            <a:noFill/>
                          </a:ln>
                          <a:solidFill>
                            <a:srgbClr val="000066"/>
                          </a:solidFill>
                          <a:effectLst/>
                          <a:latin typeface="Verdana" pitchFamily="34" charset="0"/>
                          <a:ea typeface="宋体" pitchFamily="2" charset="-122"/>
                        </a:rPr>
                        <a:t>)</a:t>
                      </a:r>
                      <a:endParaRPr kumimoji="0" lang="zh-CN" altLang="en-US" sz="1400" b="0" i="0" u="none" strike="noStrike" cap="none" normalizeH="0" baseline="0" dirty="0" smtClean="0">
                        <a:ln>
                          <a:noFill/>
                        </a:ln>
                        <a:solidFill>
                          <a:srgbClr val="000066"/>
                        </a:solidFill>
                        <a:effectLst/>
                        <a:latin typeface="Verdana" pitchFamily="34" charset="0"/>
                        <a:ea typeface="宋体" pitchFamily="2" charset="-122"/>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DFDB"/>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rgbClr val="000066"/>
                          </a:solidFill>
                          <a:effectLst/>
                          <a:latin typeface="Verdana" pitchFamily="34" charset="0"/>
                          <a:ea typeface="宋体" pitchFamily="2" charset="-122"/>
                        </a:rPr>
                        <a:t>TXD:</a:t>
                      </a:r>
                      <a:r>
                        <a:rPr kumimoji="0" lang="zh-CN" altLang="en-US" sz="1400" b="0" i="0" u="none" strike="noStrike" cap="none" normalizeH="0" baseline="0" smtClean="0">
                          <a:ln>
                            <a:noFill/>
                          </a:ln>
                          <a:solidFill>
                            <a:srgbClr val="000066"/>
                          </a:solidFill>
                          <a:effectLst/>
                          <a:latin typeface="Verdana" pitchFamily="34" charset="0"/>
                          <a:ea typeface="宋体" pitchFamily="2" charset="-122"/>
                        </a:rPr>
                        <a:t>发送端</a:t>
                      </a:r>
                      <a:endParaRPr kumimoji="0" lang="en-US" altLang="zh-CN" sz="1400" b="0" i="0" u="none" strike="noStrike" cap="none" normalizeH="0" baseline="0" smtClean="0">
                        <a:ln>
                          <a:noFill/>
                        </a:ln>
                        <a:solidFill>
                          <a:srgbClr val="000066"/>
                        </a:solidFill>
                        <a:effectLst/>
                        <a:latin typeface="Verdana" pitchFamily="34" charset="0"/>
                        <a:ea typeface="宋体" pitchFamily="2" charset="-122"/>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rgbClr val="000066"/>
                          </a:solidFill>
                          <a:effectLst/>
                          <a:latin typeface="Verdana" pitchFamily="34" charset="0"/>
                          <a:ea typeface="宋体" pitchFamily="2" charset="-122"/>
                        </a:rPr>
                        <a:t>RXD:</a:t>
                      </a:r>
                      <a:r>
                        <a:rPr kumimoji="0" lang="zh-CN" altLang="en-US" sz="1400" b="0" i="0" u="none" strike="noStrike" cap="none" normalizeH="0" baseline="0" smtClean="0">
                          <a:ln>
                            <a:noFill/>
                          </a:ln>
                          <a:solidFill>
                            <a:srgbClr val="000066"/>
                          </a:solidFill>
                          <a:effectLst/>
                          <a:latin typeface="Verdana" pitchFamily="34" charset="0"/>
                          <a:ea typeface="宋体" pitchFamily="2" charset="-122"/>
                        </a:rPr>
                        <a:t>接受端</a:t>
                      </a:r>
                      <a:endParaRPr kumimoji="0" lang="en-US" altLang="zh-CN" sz="1400" b="0" i="0" u="none" strike="noStrike" cap="none" normalizeH="0" baseline="0" smtClean="0">
                        <a:ln>
                          <a:noFill/>
                        </a:ln>
                        <a:solidFill>
                          <a:srgbClr val="000066"/>
                        </a:solidFill>
                        <a:effectLst/>
                        <a:latin typeface="Verdana" pitchFamily="34" charset="0"/>
                        <a:ea typeface="宋体" pitchFamily="2" charset="-122"/>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rgbClr val="000066"/>
                          </a:solidFill>
                          <a:effectLst/>
                          <a:latin typeface="Verdana" pitchFamily="34" charset="0"/>
                          <a:ea typeface="宋体" pitchFamily="2" charset="-122"/>
                        </a:rPr>
                        <a:t>GND:</a:t>
                      </a:r>
                      <a:r>
                        <a:rPr kumimoji="0" lang="zh-CN" altLang="en-US" sz="1400" b="0" i="0" u="none" strike="noStrike" cap="none" normalizeH="0" baseline="0" smtClean="0">
                          <a:ln>
                            <a:noFill/>
                          </a:ln>
                          <a:solidFill>
                            <a:srgbClr val="000066"/>
                          </a:solidFill>
                          <a:effectLst/>
                          <a:latin typeface="Verdana" pitchFamily="34" charset="0"/>
                          <a:ea typeface="宋体" pitchFamily="2" charset="-122"/>
                        </a:rPr>
                        <a:t>公共地</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DFDB"/>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smtClean="0">
                          <a:ln>
                            <a:noFill/>
                          </a:ln>
                          <a:solidFill>
                            <a:srgbClr val="000066"/>
                          </a:solidFill>
                          <a:effectLst/>
                          <a:latin typeface="Verdana" pitchFamily="34" charset="0"/>
                          <a:ea typeface="宋体" pitchFamily="2" charset="-122"/>
                        </a:rPr>
                        <a:t>异步通信</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DFDB"/>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smtClean="0">
                          <a:ln>
                            <a:noFill/>
                          </a:ln>
                          <a:solidFill>
                            <a:srgbClr val="000066"/>
                          </a:solidFill>
                          <a:effectLst/>
                          <a:latin typeface="Verdana" pitchFamily="34" charset="0"/>
                          <a:ea typeface="宋体" pitchFamily="2" charset="-122"/>
                        </a:rPr>
                        <a:t>全双工</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DFDB"/>
                    </a:solidFill>
                  </a:tcPr>
                </a:tc>
                <a:extLst>
                  <a:ext uri="{0D108BD9-81ED-4DB2-BD59-A6C34878D82A}">
                    <a16:rowId xmlns:a16="http://schemas.microsoft.com/office/drawing/2014/main" val="10001"/>
                  </a:ext>
                </a:extLst>
              </a:tr>
              <a:tr h="60495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0" i="0" u="none" strike="noStrike" cap="none" normalizeH="0" baseline="0" smtClean="0">
                          <a:ln>
                            <a:noFill/>
                          </a:ln>
                          <a:solidFill>
                            <a:srgbClr val="000066"/>
                          </a:solidFill>
                          <a:effectLst/>
                          <a:latin typeface="Verdana" pitchFamily="34" charset="0"/>
                          <a:ea typeface="宋体" pitchFamily="2" charset="-122"/>
                        </a:rPr>
                        <a:t>  单总线</a:t>
                      </a:r>
                      <a:endParaRPr kumimoji="0" lang="en-US" altLang="zh-CN" sz="1400" b="0" i="0" u="none" strike="noStrike" cap="none" normalizeH="0" baseline="0" smtClean="0">
                        <a:ln>
                          <a:noFill/>
                        </a:ln>
                        <a:solidFill>
                          <a:srgbClr val="000066"/>
                        </a:solidFill>
                        <a:effectLst/>
                        <a:latin typeface="Verdana" pitchFamily="34" charset="0"/>
                        <a:ea typeface="宋体" pitchFamily="2" charset="-122"/>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0" i="0" u="none" strike="noStrike" cap="none" normalizeH="0" baseline="0" smtClean="0">
                          <a:ln>
                            <a:noFill/>
                          </a:ln>
                          <a:solidFill>
                            <a:srgbClr val="000066"/>
                          </a:solidFill>
                          <a:effectLst/>
                          <a:latin typeface="Verdana" pitchFamily="34" charset="0"/>
                          <a:ea typeface="宋体" pitchFamily="2" charset="-122"/>
                        </a:rPr>
                        <a:t>（</a:t>
                      </a:r>
                      <a:r>
                        <a:rPr kumimoji="0" lang="en-US" altLang="zh-CN" sz="1400" b="0" i="0" u="none" strike="noStrike" cap="none" normalizeH="0" baseline="0" smtClean="0">
                          <a:ln>
                            <a:noFill/>
                          </a:ln>
                          <a:solidFill>
                            <a:srgbClr val="000066"/>
                          </a:solidFill>
                          <a:effectLst/>
                          <a:latin typeface="Verdana" pitchFamily="34" charset="0"/>
                          <a:ea typeface="宋体" pitchFamily="2" charset="-122"/>
                        </a:rPr>
                        <a:t>1-wire)</a:t>
                      </a:r>
                      <a:endParaRPr kumimoji="0" lang="zh-CN" altLang="en-US" sz="1400" b="0" i="0" u="none" strike="noStrike" cap="none" normalizeH="0" baseline="0" smtClean="0">
                        <a:ln>
                          <a:noFill/>
                        </a:ln>
                        <a:solidFill>
                          <a:srgbClr val="000066"/>
                        </a:solidFill>
                        <a:effectLst/>
                        <a:latin typeface="Verdana" pitchFamily="34" charset="0"/>
                        <a:ea typeface="宋体" pitchFamily="2" charset="-122"/>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F0EE"/>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rgbClr val="000066"/>
                          </a:solidFill>
                          <a:effectLst/>
                          <a:latin typeface="Verdana" pitchFamily="34" charset="0"/>
                          <a:ea typeface="宋体" pitchFamily="2" charset="-122"/>
                        </a:rPr>
                        <a:t>DQ:</a:t>
                      </a:r>
                      <a:r>
                        <a:rPr kumimoji="0" lang="zh-CN" altLang="en-US" sz="1400" b="0" i="0" u="none" strike="noStrike" cap="none" normalizeH="0" baseline="0" smtClean="0">
                          <a:ln>
                            <a:noFill/>
                          </a:ln>
                          <a:solidFill>
                            <a:srgbClr val="000066"/>
                          </a:solidFill>
                          <a:effectLst/>
                          <a:latin typeface="Verdana" pitchFamily="34" charset="0"/>
                          <a:ea typeface="宋体" pitchFamily="2" charset="-122"/>
                        </a:rPr>
                        <a:t>发送</a:t>
                      </a:r>
                      <a:r>
                        <a:rPr kumimoji="0" lang="en-US" altLang="zh-CN" sz="1400" b="0" i="0" u="none" strike="noStrike" cap="none" normalizeH="0" baseline="0" smtClean="0">
                          <a:ln>
                            <a:noFill/>
                          </a:ln>
                          <a:solidFill>
                            <a:srgbClr val="000066"/>
                          </a:solidFill>
                          <a:effectLst/>
                          <a:latin typeface="Verdana" pitchFamily="34" charset="0"/>
                          <a:ea typeface="宋体" pitchFamily="2" charset="-122"/>
                        </a:rPr>
                        <a:t>/</a:t>
                      </a:r>
                      <a:r>
                        <a:rPr kumimoji="0" lang="zh-CN" altLang="en-US" sz="1400" b="0" i="0" u="none" strike="noStrike" cap="none" normalizeH="0" baseline="0" smtClean="0">
                          <a:ln>
                            <a:noFill/>
                          </a:ln>
                          <a:solidFill>
                            <a:srgbClr val="000066"/>
                          </a:solidFill>
                          <a:effectLst/>
                          <a:latin typeface="Verdana" pitchFamily="34" charset="0"/>
                          <a:ea typeface="宋体" pitchFamily="2" charset="-122"/>
                        </a:rPr>
                        <a:t>接受端</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F0E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smtClean="0">
                          <a:ln>
                            <a:noFill/>
                          </a:ln>
                          <a:solidFill>
                            <a:srgbClr val="000066"/>
                          </a:solidFill>
                          <a:effectLst/>
                          <a:latin typeface="Verdana" pitchFamily="34" charset="0"/>
                          <a:ea typeface="宋体" pitchFamily="2" charset="-122"/>
                        </a:rPr>
                        <a:t>异步通信</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F0E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smtClean="0">
                          <a:ln>
                            <a:noFill/>
                          </a:ln>
                          <a:solidFill>
                            <a:srgbClr val="000066"/>
                          </a:solidFill>
                          <a:effectLst/>
                          <a:latin typeface="Verdana" pitchFamily="34" charset="0"/>
                          <a:ea typeface="宋体" pitchFamily="2" charset="-122"/>
                        </a:rPr>
                        <a:t>半双工</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F0EE"/>
                    </a:solidFill>
                  </a:tcPr>
                </a:tc>
                <a:extLst>
                  <a:ext uri="{0D108BD9-81ED-4DB2-BD59-A6C34878D82A}">
                    <a16:rowId xmlns:a16="http://schemas.microsoft.com/office/drawing/2014/main" val="10002"/>
                  </a:ext>
                </a:extLst>
              </a:tr>
              <a:tr h="73166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rgbClr val="000066"/>
                          </a:solidFill>
                          <a:effectLst/>
                          <a:latin typeface="Verdana" pitchFamily="34" charset="0"/>
                          <a:ea typeface="宋体" pitchFamily="2" charset="-122"/>
                        </a:rPr>
                        <a:t>SPI</a:t>
                      </a:r>
                      <a:endParaRPr kumimoji="0" lang="zh-CN" altLang="en-US" sz="1400" b="0" i="0" u="none" strike="noStrike" cap="none" normalizeH="0" baseline="0" dirty="0" smtClean="0">
                        <a:ln>
                          <a:noFill/>
                        </a:ln>
                        <a:solidFill>
                          <a:srgbClr val="000066"/>
                        </a:solidFill>
                        <a:effectLst/>
                        <a:latin typeface="Verdana" pitchFamily="34" charset="0"/>
                        <a:ea typeface="宋体" pitchFamily="2" charset="-122"/>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DFDB"/>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rgbClr val="000066"/>
                          </a:solidFill>
                          <a:effectLst/>
                          <a:latin typeface="Verdana" pitchFamily="34" charset="0"/>
                          <a:ea typeface="宋体" pitchFamily="2" charset="-122"/>
                        </a:rPr>
                        <a:t>SCK:</a:t>
                      </a:r>
                      <a:r>
                        <a:rPr kumimoji="0" lang="zh-CN" altLang="en-US" sz="1400" b="0" i="0" u="none" strike="noStrike" cap="none" normalizeH="0" baseline="0" dirty="0" smtClean="0">
                          <a:ln>
                            <a:noFill/>
                          </a:ln>
                          <a:solidFill>
                            <a:srgbClr val="000066"/>
                          </a:solidFill>
                          <a:effectLst/>
                          <a:latin typeface="Verdana" pitchFamily="34" charset="0"/>
                          <a:ea typeface="宋体" pitchFamily="2" charset="-122"/>
                        </a:rPr>
                        <a:t>同步时钟</a:t>
                      </a:r>
                      <a:endParaRPr kumimoji="0" lang="en-US" altLang="zh-CN" sz="1400" b="0" i="0" u="none" strike="noStrike" cap="none" normalizeH="0" baseline="0" dirty="0" smtClean="0">
                        <a:ln>
                          <a:noFill/>
                        </a:ln>
                        <a:solidFill>
                          <a:srgbClr val="000066"/>
                        </a:solidFill>
                        <a:effectLst/>
                        <a:latin typeface="Verdana" pitchFamily="34" charset="0"/>
                        <a:ea typeface="宋体" pitchFamily="2" charset="-122"/>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rgbClr val="000066"/>
                          </a:solidFill>
                          <a:effectLst/>
                          <a:latin typeface="Verdana" pitchFamily="34" charset="0"/>
                          <a:ea typeface="宋体" pitchFamily="2" charset="-122"/>
                        </a:rPr>
                        <a:t>MISO:</a:t>
                      </a:r>
                      <a:r>
                        <a:rPr kumimoji="0" lang="zh-CN" altLang="en-US" sz="1400" b="0" i="0" u="none" strike="noStrike" cap="none" normalizeH="0" baseline="0" dirty="0" smtClean="0">
                          <a:ln>
                            <a:noFill/>
                          </a:ln>
                          <a:solidFill>
                            <a:srgbClr val="000066"/>
                          </a:solidFill>
                          <a:effectLst/>
                          <a:latin typeface="Verdana" pitchFamily="34" charset="0"/>
                          <a:ea typeface="宋体" pitchFamily="2" charset="-122"/>
                        </a:rPr>
                        <a:t>主机输入，从机输出</a:t>
                      </a:r>
                      <a:endParaRPr kumimoji="0" lang="en-US" altLang="zh-CN" sz="1400" b="0" i="0" u="none" strike="noStrike" cap="none" normalizeH="0" baseline="0" dirty="0" smtClean="0">
                        <a:ln>
                          <a:noFill/>
                        </a:ln>
                        <a:solidFill>
                          <a:srgbClr val="000066"/>
                        </a:solidFill>
                        <a:effectLst/>
                        <a:latin typeface="Verdana" pitchFamily="34" charset="0"/>
                        <a:ea typeface="宋体" pitchFamily="2" charset="-122"/>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rgbClr val="000066"/>
                          </a:solidFill>
                          <a:effectLst/>
                          <a:latin typeface="Verdana" pitchFamily="34" charset="0"/>
                          <a:ea typeface="宋体" pitchFamily="2" charset="-122"/>
                        </a:rPr>
                        <a:t>MOSI:</a:t>
                      </a:r>
                      <a:r>
                        <a:rPr kumimoji="0" lang="zh-CN" altLang="en-US" sz="1400" b="0" i="0" u="none" strike="noStrike" cap="none" normalizeH="0" baseline="0" dirty="0" smtClean="0">
                          <a:ln>
                            <a:noFill/>
                          </a:ln>
                          <a:solidFill>
                            <a:srgbClr val="000066"/>
                          </a:solidFill>
                          <a:effectLst/>
                          <a:latin typeface="Verdana" pitchFamily="34" charset="0"/>
                          <a:ea typeface="宋体" pitchFamily="2" charset="-122"/>
                        </a:rPr>
                        <a:t>主机输出，从机输入</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DFDB"/>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smtClean="0">
                          <a:ln>
                            <a:noFill/>
                          </a:ln>
                          <a:solidFill>
                            <a:srgbClr val="000066"/>
                          </a:solidFill>
                          <a:effectLst/>
                          <a:latin typeface="Verdana" pitchFamily="34" charset="0"/>
                          <a:ea typeface="宋体" pitchFamily="2" charset="-122"/>
                        </a:rPr>
                        <a:t>同步通信</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DFDB"/>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smtClean="0">
                          <a:ln>
                            <a:noFill/>
                          </a:ln>
                          <a:solidFill>
                            <a:srgbClr val="000066"/>
                          </a:solidFill>
                          <a:effectLst/>
                          <a:latin typeface="Verdana" pitchFamily="34" charset="0"/>
                          <a:ea typeface="宋体" pitchFamily="2" charset="-122"/>
                        </a:rPr>
                        <a:t>全双工</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DFDB"/>
                    </a:solidFill>
                  </a:tcPr>
                </a:tc>
                <a:extLst>
                  <a:ext uri="{0D108BD9-81ED-4DB2-BD59-A6C34878D82A}">
                    <a16:rowId xmlns:a16="http://schemas.microsoft.com/office/drawing/2014/main" val="10003"/>
                  </a:ext>
                </a:extLst>
              </a:tr>
              <a:tr h="60495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rgbClr val="000066"/>
                          </a:solidFill>
                          <a:effectLst/>
                          <a:latin typeface="Verdana" pitchFamily="34" charset="0"/>
                          <a:ea typeface="宋体" pitchFamily="2" charset="-122"/>
                        </a:rPr>
                        <a:t>I2C</a:t>
                      </a:r>
                      <a:endParaRPr kumimoji="0" lang="zh-CN" altLang="en-US" sz="1400" b="0" i="0" u="none" strike="noStrike" cap="none" normalizeH="0" baseline="0" dirty="0" smtClean="0">
                        <a:ln>
                          <a:noFill/>
                        </a:ln>
                        <a:solidFill>
                          <a:srgbClr val="000066"/>
                        </a:solidFill>
                        <a:effectLst/>
                        <a:latin typeface="Verdana" pitchFamily="34" charset="0"/>
                        <a:ea typeface="宋体" pitchFamily="2" charset="-122"/>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F0EE"/>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rgbClr val="000066"/>
                          </a:solidFill>
                          <a:effectLst/>
                          <a:latin typeface="Verdana" pitchFamily="34" charset="0"/>
                          <a:ea typeface="宋体" pitchFamily="2" charset="-122"/>
                        </a:rPr>
                        <a:t>SCL:</a:t>
                      </a:r>
                      <a:r>
                        <a:rPr kumimoji="0" lang="zh-CN" altLang="en-US" sz="1400" b="0" i="0" u="none" strike="noStrike" cap="none" normalizeH="0" baseline="0" smtClean="0">
                          <a:ln>
                            <a:noFill/>
                          </a:ln>
                          <a:solidFill>
                            <a:srgbClr val="000066"/>
                          </a:solidFill>
                          <a:effectLst/>
                          <a:latin typeface="Verdana" pitchFamily="34" charset="0"/>
                          <a:ea typeface="宋体" pitchFamily="2" charset="-122"/>
                        </a:rPr>
                        <a:t>同步时钟</a:t>
                      </a:r>
                      <a:endParaRPr kumimoji="0" lang="en-US" altLang="zh-CN" sz="1400" b="0" i="0" u="none" strike="noStrike" cap="none" normalizeH="0" baseline="0" smtClean="0">
                        <a:ln>
                          <a:noFill/>
                        </a:ln>
                        <a:solidFill>
                          <a:srgbClr val="000066"/>
                        </a:solidFill>
                        <a:effectLst/>
                        <a:latin typeface="Verdana" pitchFamily="34" charset="0"/>
                        <a:ea typeface="宋体" pitchFamily="2" charset="-122"/>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rgbClr val="000066"/>
                          </a:solidFill>
                          <a:effectLst/>
                          <a:latin typeface="Verdana" pitchFamily="34" charset="0"/>
                          <a:ea typeface="宋体" pitchFamily="2" charset="-122"/>
                        </a:rPr>
                        <a:t>SDA:</a:t>
                      </a:r>
                      <a:r>
                        <a:rPr kumimoji="0" lang="zh-CN" altLang="en-US" sz="1400" b="0" i="0" u="none" strike="noStrike" cap="none" normalizeH="0" baseline="0" smtClean="0">
                          <a:ln>
                            <a:noFill/>
                          </a:ln>
                          <a:solidFill>
                            <a:srgbClr val="000066"/>
                          </a:solidFill>
                          <a:effectLst/>
                          <a:latin typeface="Verdana" pitchFamily="34" charset="0"/>
                          <a:ea typeface="宋体" pitchFamily="2" charset="-122"/>
                        </a:rPr>
                        <a:t>数据输入</a:t>
                      </a:r>
                      <a:r>
                        <a:rPr kumimoji="0" lang="en-US" altLang="zh-CN" sz="1400" b="0" i="0" u="none" strike="noStrike" cap="none" normalizeH="0" baseline="0" smtClean="0">
                          <a:ln>
                            <a:noFill/>
                          </a:ln>
                          <a:solidFill>
                            <a:srgbClr val="000066"/>
                          </a:solidFill>
                          <a:effectLst/>
                          <a:latin typeface="Verdana" pitchFamily="34" charset="0"/>
                          <a:ea typeface="宋体" pitchFamily="2" charset="-122"/>
                        </a:rPr>
                        <a:t>/</a:t>
                      </a:r>
                      <a:r>
                        <a:rPr kumimoji="0" lang="zh-CN" altLang="en-US" sz="1400" b="0" i="0" u="none" strike="noStrike" cap="none" normalizeH="0" baseline="0" smtClean="0">
                          <a:ln>
                            <a:noFill/>
                          </a:ln>
                          <a:solidFill>
                            <a:srgbClr val="000066"/>
                          </a:solidFill>
                          <a:effectLst/>
                          <a:latin typeface="Verdana" pitchFamily="34" charset="0"/>
                          <a:ea typeface="宋体" pitchFamily="2" charset="-122"/>
                        </a:rPr>
                        <a:t>输出端</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F0E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smtClean="0">
                          <a:ln>
                            <a:noFill/>
                          </a:ln>
                          <a:solidFill>
                            <a:srgbClr val="000066"/>
                          </a:solidFill>
                          <a:effectLst/>
                          <a:latin typeface="Verdana" pitchFamily="34" charset="0"/>
                          <a:ea typeface="宋体" pitchFamily="2" charset="-122"/>
                        </a:rPr>
                        <a:t>同步通信</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F0E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smtClean="0">
                          <a:ln>
                            <a:noFill/>
                          </a:ln>
                          <a:solidFill>
                            <a:srgbClr val="000066"/>
                          </a:solidFill>
                          <a:effectLst/>
                          <a:latin typeface="Verdana" pitchFamily="34" charset="0"/>
                          <a:ea typeface="宋体" pitchFamily="2" charset="-122"/>
                        </a:rPr>
                        <a:t>半双工</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7F0EE"/>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919174206"/>
      </p:ext>
    </p:extLst>
  </p:cSld>
  <p:clrMapOvr>
    <a:masterClrMapping/>
  </p:clrMapOvr>
  <p:transition spd="slow"/>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60985" y="336550"/>
            <a:ext cx="11669395" cy="5453801"/>
          </a:xfrm>
          <a:prstGeom prst="rect">
            <a:avLst/>
          </a:prstGeom>
          <a:noFill/>
        </p:spPr>
        <p:txBody>
          <a:bodyPr wrap="square" rtlCol="0">
            <a:spAutoFit/>
          </a:bodyPr>
          <a:lstStyle/>
          <a:p>
            <a:pPr>
              <a:lnSpc>
                <a:spcPct val="130000"/>
              </a:lnSpc>
            </a:pPr>
            <a:r>
              <a:rPr lang="en-US" altLang="zh-CN" sz="2800" b="1" dirty="0">
                <a:solidFill>
                  <a:srgbClr val="0000FF"/>
                </a:solidFill>
                <a:latin typeface="Times New Roman" panose="02020603050405020304" pitchFamily="18" charset="0"/>
                <a:ea typeface="黑体" panose="02010609060101010101" charset="-122"/>
              </a:rPr>
              <a:t>7</a:t>
            </a:r>
            <a:r>
              <a:rPr lang="zh-CN" altLang="en-US" sz="2800" b="1" dirty="0" smtClean="0">
                <a:solidFill>
                  <a:srgbClr val="0000FF"/>
                </a:solidFill>
                <a:latin typeface="Times New Roman" panose="02020603050405020304" pitchFamily="18" charset="0"/>
                <a:ea typeface="黑体" panose="02010609060101010101" charset="-122"/>
              </a:rPr>
              <a:t>.</a:t>
            </a:r>
            <a:r>
              <a:rPr lang="zh-CN" altLang="en-US" sz="2800" b="1" dirty="0">
                <a:solidFill>
                  <a:srgbClr val="0000FF"/>
                </a:solidFill>
                <a:latin typeface="Times New Roman" panose="02020603050405020304" pitchFamily="18" charset="0"/>
                <a:ea typeface="黑体" panose="02010609060101010101" charset="-122"/>
              </a:rPr>
              <a:t>2  单片机与计算机的串口通信</a:t>
            </a:r>
          </a:p>
          <a:p>
            <a:pPr>
              <a:lnSpc>
                <a:spcPct val="130000"/>
              </a:lnSpc>
            </a:pPr>
            <a:r>
              <a:rPr lang="zh-CN" altLang="en-US" sz="2400" b="1" dirty="0">
                <a:solidFill>
                  <a:srgbClr val="FF0000"/>
                </a:solidFill>
                <a:latin typeface="Times New Roman" panose="02020603050405020304" pitchFamily="18" charset="0"/>
                <a:ea typeface="宋体" panose="02010600030101010101" pitchFamily="2" charset="-122"/>
              </a:rPr>
              <a:t>（1）STM32单片机串口</a:t>
            </a:r>
          </a:p>
          <a:p>
            <a:pPr>
              <a:lnSpc>
                <a:spcPct val="130000"/>
              </a:lnSpc>
            </a:pPr>
            <a:r>
              <a:rPr lang="zh-CN" altLang="en-US" sz="2400" b="1" dirty="0">
                <a:latin typeface="Times New Roman" panose="02020603050405020304" pitchFamily="18" charset="0"/>
                <a:ea typeface="宋体" panose="02010600030101010101" pitchFamily="2" charset="-122"/>
              </a:rPr>
              <a:t>    STM32串口通信采用TTL电平，由</a:t>
            </a:r>
            <a:r>
              <a:rPr lang="en-US" altLang="zh-CN" sz="2400" b="1" u="sng" dirty="0" err="1">
                <a:solidFill>
                  <a:srgbClr val="FF0000"/>
                </a:solidFill>
                <a:latin typeface="Times New Roman" panose="02020603050405020304" pitchFamily="18" charset="0"/>
                <a:ea typeface="宋体" panose="02010600030101010101" pitchFamily="2" charset="-122"/>
              </a:rPr>
              <a:t>TxD</a:t>
            </a:r>
            <a:r>
              <a:rPr lang="zh-CN" altLang="en-US" sz="2400" b="1" i="1" u="sng" dirty="0">
                <a:solidFill>
                  <a:srgbClr val="00B050"/>
                </a:solidFill>
                <a:latin typeface="Times New Roman" panose="02020603050405020304" pitchFamily="18" charset="0"/>
                <a:ea typeface="宋体" panose="02010600030101010101" pitchFamily="2" charset="-122"/>
              </a:rPr>
              <a:t>（发送）</a:t>
            </a:r>
            <a:r>
              <a:rPr lang="zh-CN" altLang="en-US" sz="2400" b="1" u="sng" dirty="0">
                <a:latin typeface="Times New Roman" panose="02020603050405020304" pitchFamily="18" charset="0"/>
                <a:ea typeface="宋体" panose="02010600030101010101" pitchFamily="2" charset="-122"/>
              </a:rPr>
              <a:t>、</a:t>
            </a:r>
            <a:r>
              <a:rPr lang="en-US" altLang="zh-CN" sz="2400" b="1" u="sng" dirty="0" err="1">
                <a:solidFill>
                  <a:srgbClr val="FF0000"/>
                </a:solidFill>
                <a:latin typeface="Times New Roman" panose="02020603050405020304" pitchFamily="18" charset="0"/>
                <a:ea typeface="宋体" panose="02010600030101010101" pitchFamily="2" charset="-122"/>
              </a:rPr>
              <a:t>RxD</a:t>
            </a:r>
            <a:r>
              <a:rPr lang="zh-CN" altLang="en-US" sz="2400" b="1" i="1" u="sng" dirty="0">
                <a:solidFill>
                  <a:srgbClr val="00B050"/>
                </a:solidFill>
                <a:latin typeface="Times New Roman" panose="02020603050405020304" pitchFamily="18" charset="0"/>
                <a:ea typeface="宋体" panose="02010600030101010101" pitchFamily="2" charset="-122"/>
              </a:rPr>
              <a:t>（接收）</a:t>
            </a:r>
            <a:r>
              <a:rPr lang="zh-CN" altLang="en-US" sz="2400" b="1" u="sng" dirty="0">
                <a:latin typeface="Times New Roman" panose="02020603050405020304" pitchFamily="18" charset="0"/>
                <a:ea typeface="宋体" panose="02010600030101010101" pitchFamily="2" charset="-122"/>
              </a:rPr>
              <a:t>、</a:t>
            </a:r>
            <a:r>
              <a:rPr lang="en-US" altLang="zh-CN" sz="2400" b="1" u="sng" dirty="0">
                <a:solidFill>
                  <a:srgbClr val="FF0000"/>
                </a:solidFill>
                <a:latin typeface="Times New Roman" panose="02020603050405020304" pitchFamily="18" charset="0"/>
                <a:ea typeface="宋体" panose="02010600030101010101" pitchFamily="2" charset="-122"/>
              </a:rPr>
              <a:t>GND</a:t>
            </a:r>
            <a:r>
              <a:rPr lang="zh-CN" altLang="en-US" sz="2400" b="1" i="1" u="sng" dirty="0">
                <a:solidFill>
                  <a:srgbClr val="00B050"/>
                </a:solidFill>
                <a:latin typeface="Times New Roman" panose="02020603050405020304" pitchFamily="18" charset="0"/>
                <a:ea typeface="宋体" panose="02010600030101010101" pitchFamily="2" charset="-122"/>
              </a:rPr>
              <a:t>（信号/电源地）</a:t>
            </a:r>
            <a:r>
              <a:rPr lang="zh-CN" altLang="en-US" sz="2400" b="1" dirty="0">
                <a:latin typeface="Times New Roman" panose="02020603050405020304" pitchFamily="18" charset="0"/>
                <a:ea typeface="宋体" panose="02010600030101010101" pitchFamily="2" charset="-122"/>
              </a:rPr>
              <a:t>三条线构成，</a:t>
            </a:r>
            <a:r>
              <a:rPr lang="zh-CN" altLang="en-US" sz="2400" b="1" dirty="0">
                <a:solidFill>
                  <a:srgbClr val="FF0000"/>
                </a:solidFill>
                <a:latin typeface="Times New Roman" panose="02020603050405020304" pitchFamily="18" charset="0"/>
                <a:ea typeface="宋体" panose="02010600030101010101" pitchFamily="2" charset="-122"/>
              </a:rPr>
              <a:t>高电平</a:t>
            </a:r>
            <a:r>
              <a:rPr lang="zh-CN" altLang="en-US" sz="2400" b="1" dirty="0">
                <a:latin typeface="Times New Roman" panose="02020603050405020304" pitchFamily="18" charset="0"/>
                <a:ea typeface="宋体" panose="02010600030101010101" pitchFamily="2" charset="-122"/>
              </a:rPr>
              <a:t>+3.3V代表逻辑</a:t>
            </a:r>
            <a:r>
              <a:rPr lang="zh-CN" altLang="en-US" sz="2400" b="1" dirty="0">
                <a:solidFill>
                  <a:srgbClr val="FF0000"/>
                </a:solidFill>
                <a:latin typeface="Times New Roman" panose="02020603050405020304" pitchFamily="18" charset="0"/>
                <a:ea typeface="宋体" panose="02010600030101010101" pitchFamily="2" charset="-122"/>
              </a:rPr>
              <a:t>“1”</a:t>
            </a:r>
            <a:r>
              <a:rPr lang="zh-CN" altLang="en-US" sz="2400" b="1" dirty="0">
                <a:latin typeface="Times New Roman" panose="02020603050405020304" pitchFamily="18" charset="0"/>
                <a:ea typeface="宋体" panose="02010600030101010101" pitchFamily="2" charset="-122"/>
              </a:rPr>
              <a:t>，</a:t>
            </a:r>
            <a:r>
              <a:rPr lang="zh-CN" altLang="en-US" sz="2400" b="1" dirty="0">
                <a:solidFill>
                  <a:srgbClr val="FF0000"/>
                </a:solidFill>
                <a:latin typeface="Times New Roman" panose="02020603050405020304" pitchFamily="18" charset="0"/>
                <a:ea typeface="宋体" panose="02010600030101010101" pitchFamily="2" charset="-122"/>
              </a:rPr>
              <a:t>低电平</a:t>
            </a:r>
            <a:r>
              <a:rPr lang="zh-CN" altLang="en-US" sz="2400" b="1" dirty="0">
                <a:latin typeface="Times New Roman" panose="02020603050405020304" pitchFamily="18" charset="0"/>
                <a:ea typeface="宋体" panose="02010600030101010101" pitchFamily="2" charset="-122"/>
              </a:rPr>
              <a:t>0V代表逻辑</a:t>
            </a:r>
            <a:r>
              <a:rPr lang="zh-CN" altLang="en-US" sz="2400" b="1" dirty="0">
                <a:solidFill>
                  <a:srgbClr val="FF0000"/>
                </a:solidFill>
                <a:latin typeface="Times New Roman" panose="02020603050405020304" pitchFamily="18" charset="0"/>
                <a:ea typeface="宋体" panose="02010600030101010101" pitchFamily="2" charset="-122"/>
              </a:rPr>
              <a:t>“0”</a:t>
            </a:r>
            <a:r>
              <a:rPr lang="zh-CN" altLang="en-US" sz="2400" b="1" dirty="0">
                <a:latin typeface="Times New Roman" panose="02020603050405020304" pitchFamily="18" charset="0"/>
                <a:ea typeface="宋体" panose="02010600030101010101" pitchFamily="2" charset="-122"/>
              </a:rPr>
              <a:t>。</a:t>
            </a:r>
          </a:p>
          <a:p>
            <a:pPr>
              <a:lnSpc>
                <a:spcPct val="130000"/>
              </a:lnSpc>
            </a:pPr>
            <a:endParaRPr lang="en-US" altLang="zh-CN" sz="2400" b="1" dirty="0">
              <a:solidFill>
                <a:srgbClr val="FF0000"/>
              </a:solidFill>
              <a:latin typeface="Times New Roman" panose="02020603050405020304" pitchFamily="18" charset="0"/>
              <a:ea typeface="宋体" panose="02010600030101010101" pitchFamily="2" charset="-122"/>
            </a:endParaRPr>
          </a:p>
          <a:p>
            <a:pPr>
              <a:lnSpc>
                <a:spcPct val="130000"/>
              </a:lnSpc>
            </a:pPr>
            <a:r>
              <a:rPr lang="en-US" altLang="zh-CN" sz="2400" b="1" dirty="0" smtClean="0">
                <a:solidFill>
                  <a:srgbClr val="FF0000"/>
                </a:solidFill>
                <a:latin typeface="Times New Roman" panose="02020603050405020304" pitchFamily="18" charset="0"/>
                <a:ea typeface="宋体" panose="02010600030101010101" pitchFamily="2" charset="-122"/>
              </a:rPr>
              <a:t>（2）计算机RS-232串口</a:t>
            </a:r>
          </a:p>
          <a:p>
            <a:pPr>
              <a:lnSpc>
                <a:spcPct val="130000"/>
              </a:lnSpc>
            </a:pPr>
            <a:r>
              <a:rPr lang="en-US" altLang="zh-CN" sz="2400" b="1" dirty="0" smtClean="0">
                <a:solidFill>
                  <a:schemeClr val="tx1"/>
                </a:solidFill>
                <a:latin typeface="Times New Roman" panose="02020603050405020304" pitchFamily="18" charset="0"/>
                <a:ea typeface="宋体" panose="02010600030101010101" pitchFamily="2" charset="-122"/>
              </a:rPr>
              <a:t>    RS-232是一种重要的计算机串口通信技术，有25线与9线（简化）两种常见接口，实际上与单片机做串口通信时经常只用到其中的三条线：</a:t>
            </a:r>
            <a:r>
              <a:rPr lang="en-US" altLang="zh-CN" sz="2400" b="1" u="sng" dirty="0" smtClean="0">
                <a:solidFill>
                  <a:srgbClr val="FF0000"/>
                </a:solidFill>
                <a:latin typeface="Times New Roman" panose="02020603050405020304" pitchFamily="18" charset="0"/>
                <a:ea typeface="宋体" panose="02010600030101010101" pitchFamily="2" charset="-122"/>
                <a:sym typeface="+mn-ea"/>
              </a:rPr>
              <a:t>TxD</a:t>
            </a:r>
            <a:r>
              <a:rPr lang="zh-CN" altLang="en-US" sz="2400" b="1" i="1" u="sng" dirty="0" smtClean="0">
                <a:solidFill>
                  <a:srgbClr val="00B050"/>
                </a:solidFill>
                <a:latin typeface="Times New Roman" panose="02020603050405020304" pitchFamily="18" charset="0"/>
                <a:ea typeface="宋体" panose="02010600030101010101" pitchFamily="2" charset="-122"/>
                <a:sym typeface="+mn-ea"/>
              </a:rPr>
              <a:t>（发送）</a:t>
            </a:r>
            <a:r>
              <a:rPr lang="zh-CN" altLang="en-US" sz="2400" b="1" u="sng" dirty="0" smtClean="0">
                <a:latin typeface="Times New Roman" panose="02020603050405020304" pitchFamily="18" charset="0"/>
                <a:ea typeface="宋体" panose="02010600030101010101" pitchFamily="2" charset="-122"/>
                <a:sym typeface="+mn-ea"/>
              </a:rPr>
              <a:t>、</a:t>
            </a:r>
            <a:r>
              <a:rPr lang="en-US" altLang="zh-CN" sz="2400" b="1" u="sng" dirty="0" smtClean="0">
                <a:solidFill>
                  <a:srgbClr val="FF0000"/>
                </a:solidFill>
                <a:latin typeface="Times New Roman" panose="02020603050405020304" pitchFamily="18" charset="0"/>
                <a:ea typeface="宋体" panose="02010600030101010101" pitchFamily="2" charset="-122"/>
                <a:sym typeface="+mn-ea"/>
              </a:rPr>
              <a:t>RxD</a:t>
            </a:r>
            <a:r>
              <a:rPr lang="zh-CN" altLang="en-US" sz="2400" b="1" i="1" u="sng" dirty="0" smtClean="0">
                <a:solidFill>
                  <a:srgbClr val="00B050"/>
                </a:solidFill>
                <a:latin typeface="Times New Roman" panose="02020603050405020304" pitchFamily="18" charset="0"/>
                <a:ea typeface="宋体" panose="02010600030101010101" pitchFamily="2" charset="-122"/>
                <a:sym typeface="+mn-ea"/>
              </a:rPr>
              <a:t>（接收）</a:t>
            </a:r>
            <a:r>
              <a:rPr lang="zh-CN" altLang="en-US" sz="2400" b="1" u="sng" dirty="0" smtClean="0">
                <a:latin typeface="Times New Roman" panose="02020603050405020304" pitchFamily="18" charset="0"/>
                <a:ea typeface="宋体" panose="02010600030101010101" pitchFamily="2" charset="-122"/>
                <a:sym typeface="+mn-ea"/>
              </a:rPr>
              <a:t>、</a:t>
            </a:r>
            <a:r>
              <a:rPr lang="en-US" altLang="zh-CN" sz="2400" b="1" u="sng" dirty="0" smtClean="0">
                <a:solidFill>
                  <a:srgbClr val="FF0000"/>
                </a:solidFill>
                <a:latin typeface="Times New Roman" panose="02020603050405020304" pitchFamily="18" charset="0"/>
                <a:ea typeface="宋体" panose="02010600030101010101" pitchFamily="2" charset="-122"/>
                <a:sym typeface="+mn-ea"/>
              </a:rPr>
              <a:t>GND</a:t>
            </a:r>
            <a:r>
              <a:rPr lang="zh-CN" altLang="en-US" sz="2400" b="1" i="1" u="sng" dirty="0" smtClean="0">
                <a:solidFill>
                  <a:srgbClr val="00B050"/>
                </a:solidFill>
                <a:latin typeface="Times New Roman" panose="02020603050405020304" pitchFamily="18" charset="0"/>
                <a:ea typeface="宋体" panose="02010600030101010101" pitchFamily="2" charset="-122"/>
                <a:sym typeface="+mn-ea"/>
              </a:rPr>
              <a:t>（信号/电源地）</a:t>
            </a:r>
            <a:r>
              <a:rPr lang="zh-CN" altLang="en-US" sz="2400" b="1" dirty="0" smtClean="0">
                <a:latin typeface="Times New Roman" panose="02020603050405020304" pitchFamily="18" charset="0"/>
                <a:ea typeface="宋体" panose="02010600030101010101" pitchFamily="2" charset="-122"/>
                <a:sym typeface="+mn-ea"/>
              </a:rPr>
              <a:t>。</a:t>
            </a:r>
          </a:p>
          <a:p>
            <a:pPr>
              <a:lnSpc>
                <a:spcPct val="130000"/>
              </a:lnSpc>
            </a:pPr>
            <a:r>
              <a:rPr lang="zh-CN" altLang="en-US" sz="2400" b="1" dirty="0" smtClean="0">
                <a:latin typeface="Times New Roman" panose="02020603050405020304" pitchFamily="18" charset="0"/>
                <a:ea typeface="宋体" panose="02010600030101010101" pitchFamily="2" charset="-122"/>
                <a:sym typeface="+mn-ea"/>
              </a:rPr>
              <a:t>    </a:t>
            </a:r>
            <a:r>
              <a:rPr lang="en-US" altLang="zh-CN" sz="2400" b="1" dirty="0" smtClean="0">
                <a:solidFill>
                  <a:schemeClr val="tx1"/>
                </a:solidFill>
                <a:latin typeface="Times New Roman" panose="02020603050405020304" pitchFamily="18" charset="0"/>
                <a:ea typeface="宋体" panose="02010600030101010101" pitchFamily="2" charset="-122"/>
              </a:rPr>
              <a:t>RS-232标准规定-3~-15V代表逻辑“1”，+3~+15V代表逻辑“0”，通信逻辑与单片机一致。</a:t>
            </a:r>
          </a:p>
        </p:txBody>
      </p:sp>
      <p:pic>
        <p:nvPicPr>
          <p:cNvPr id="1026" name="Picture 2" descr="E:\教学\课程改革\单片机2019\pic\蝴蝶GIF.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72092" y="5857875"/>
            <a:ext cx="916598" cy="91659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教学\课程改革\单片机2019\pic\蝴蝶GIF.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72092" y="5857875"/>
            <a:ext cx="916598" cy="916598"/>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p:cNvSpPr txBox="1"/>
          <p:nvPr/>
        </p:nvSpPr>
        <p:spPr>
          <a:xfrm>
            <a:off x="370205" y="473075"/>
            <a:ext cx="11383010" cy="2009775"/>
          </a:xfrm>
          <a:prstGeom prst="rect">
            <a:avLst/>
          </a:prstGeom>
          <a:noFill/>
        </p:spPr>
        <p:txBody>
          <a:bodyPr wrap="square" rtlCol="0" anchor="t">
            <a:spAutoFit/>
          </a:bodyPr>
          <a:lstStyle/>
          <a:p>
            <a:pPr algn="l">
              <a:lnSpc>
                <a:spcPct val="130000"/>
              </a:lnSpc>
              <a:buClrTx/>
              <a:buSzTx/>
              <a:buFontTx/>
            </a:pPr>
            <a:r>
              <a:rPr lang="en-US" altLang="zh-CN" sz="2400" b="1" dirty="0" smtClean="0">
                <a:solidFill>
                  <a:srgbClr val="FF0000"/>
                </a:solidFill>
                <a:latin typeface="Times New Roman" panose="02020603050405020304" pitchFamily="18" charset="0"/>
                <a:ea typeface="宋体" panose="02010600030101010101" pitchFamily="2" charset="-122"/>
                <a:sym typeface="+mn-ea"/>
              </a:rPr>
              <a:t>（3）单片机与计算机之间的串口通信</a:t>
            </a:r>
            <a:endParaRPr lang="en-US" altLang="zh-CN" sz="2400" b="1" dirty="0" smtClean="0">
              <a:solidFill>
                <a:srgbClr val="FF0000"/>
              </a:solidFill>
              <a:latin typeface="Times New Roman" panose="02020603050405020304" pitchFamily="18" charset="0"/>
              <a:ea typeface="宋体" panose="02010600030101010101" pitchFamily="2" charset="-122"/>
            </a:endParaRPr>
          </a:p>
          <a:p>
            <a:pPr algn="l">
              <a:lnSpc>
                <a:spcPct val="130000"/>
              </a:lnSpc>
              <a:buClrTx/>
              <a:buSzTx/>
              <a:buFontTx/>
            </a:pPr>
            <a:r>
              <a:rPr lang="en-US" altLang="zh-CN" sz="2400" b="1" dirty="0" smtClean="0">
                <a:latin typeface="Times New Roman" panose="02020603050405020304" pitchFamily="18" charset="0"/>
                <a:ea typeface="宋体" panose="02010600030101010101" pitchFamily="2" charset="-122"/>
                <a:sym typeface="+mn-ea"/>
              </a:rPr>
              <a:t>    单片机与计算机RS-232通信逻辑一致，但逻辑电平不匹配，因此仅需要在计算机RS-232串口与单片机串口之间加上一个电平转换电路即可顺利通信，常用电路为MAX3232芯片。</a:t>
            </a:r>
            <a:endParaRPr lang="en-US" altLang="zh-CN" sz="2400" b="1" dirty="0" smtClean="0">
              <a:latin typeface="Times New Roman" panose="02020603050405020304" pitchFamily="18" charset="0"/>
              <a:ea typeface="宋体" panose="02010600030101010101" pitchFamily="2" charset="-122"/>
            </a:endParaRPr>
          </a:p>
        </p:txBody>
      </p:sp>
      <p:pic>
        <p:nvPicPr>
          <p:cNvPr id="5" name="图片 4"/>
          <p:cNvPicPr>
            <a:picLocks noChangeAspect="1"/>
          </p:cNvPicPr>
          <p:nvPr/>
        </p:nvPicPr>
        <p:blipFill>
          <a:blip r:embed="rId4"/>
          <a:stretch>
            <a:fillRect/>
          </a:stretch>
        </p:blipFill>
        <p:spPr>
          <a:xfrm>
            <a:off x="4940935" y="4968875"/>
            <a:ext cx="1950720" cy="1365250"/>
          </a:xfrm>
          <a:prstGeom prst="rect">
            <a:avLst/>
          </a:prstGeom>
        </p:spPr>
      </p:pic>
      <p:pic>
        <p:nvPicPr>
          <p:cNvPr id="6" name="图片 5"/>
          <p:cNvPicPr>
            <a:picLocks noChangeAspect="1"/>
          </p:cNvPicPr>
          <p:nvPr/>
        </p:nvPicPr>
        <p:blipFill>
          <a:blip r:embed="rId5"/>
          <a:stretch>
            <a:fillRect/>
          </a:stretch>
        </p:blipFill>
        <p:spPr>
          <a:xfrm>
            <a:off x="1180465" y="2482850"/>
            <a:ext cx="3413125" cy="4218305"/>
          </a:xfrm>
          <a:prstGeom prst="rect">
            <a:avLst/>
          </a:prstGeom>
        </p:spPr>
      </p:pic>
      <p:pic>
        <p:nvPicPr>
          <p:cNvPr id="7" name="图片 6"/>
          <p:cNvPicPr>
            <a:picLocks noChangeAspect="1"/>
          </p:cNvPicPr>
          <p:nvPr/>
        </p:nvPicPr>
        <p:blipFill>
          <a:blip r:embed="rId6"/>
          <a:stretch>
            <a:fillRect/>
          </a:stretch>
        </p:blipFill>
        <p:spPr>
          <a:xfrm>
            <a:off x="4940935" y="2482850"/>
            <a:ext cx="5871845" cy="2486025"/>
          </a:xfrm>
          <a:prstGeom prst="rect">
            <a:avLst/>
          </a:prstGeom>
        </p:spPr>
      </p:pic>
    </p:spTree>
  </p:cSld>
  <p:clrMapOvr>
    <a:masterClrMapping/>
  </p:clrMapOvr>
  <p:transition spd="slow"/>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60985" y="336550"/>
            <a:ext cx="11669395" cy="1529715"/>
          </a:xfrm>
          <a:prstGeom prst="rect">
            <a:avLst/>
          </a:prstGeom>
          <a:noFill/>
        </p:spPr>
        <p:txBody>
          <a:bodyPr wrap="square" rtlCol="0">
            <a:spAutoFit/>
          </a:bodyPr>
          <a:lstStyle/>
          <a:p>
            <a:pPr>
              <a:lnSpc>
                <a:spcPct val="130000"/>
              </a:lnSpc>
            </a:pPr>
            <a:r>
              <a:rPr lang="en-US" altLang="zh-CN" sz="2400" b="1" dirty="0" smtClean="0">
                <a:latin typeface="Times New Roman" panose="02020603050405020304" pitchFamily="18" charset="0"/>
                <a:ea typeface="宋体" panose="02010600030101010101" pitchFamily="2" charset="-122"/>
              </a:rPr>
              <a:t>    由于RS-232技术过于老旧，目前市面上大部分个人计算机已经不再配备RS-232接口，因此也可以采用USB转串口芯片实现计算机与单片机之间的串口通信，常用芯片有FT232、PL2303、CH340。</a:t>
            </a:r>
          </a:p>
        </p:txBody>
      </p:sp>
      <p:pic>
        <p:nvPicPr>
          <p:cNvPr id="1026" name="Picture 2" descr="E:\教学\课程改革\单片机2019\pic\蝴蝶GIF.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72092" y="5857875"/>
            <a:ext cx="916598" cy="916598"/>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p:cNvPicPr>
            <a:picLocks noChangeAspect="1"/>
          </p:cNvPicPr>
          <p:nvPr/>
        </p:nvPicPr>
        <p:blipFill>
          <a:blip r:embed="rId4"/>
          <a:stretch>
            <a:fillRect/>
          </a:stretch>
        </p:blipFill>
        <p:spPr>
          <a:xfrm>
            <a:off x="5410835" y="4044950"/>
            <a:ext cx="2258060" cy="1660525"/>
          </a:xfrm>
          <a:prstGeom prst="rect">
            <a:avLst/>
          </a:prstGeom>
        </p:spPr>
      </p:pic>
      <p:pic>
        <p:nvPicPr>
          <p:cNvPr id="5" name="图片 4"/>
          <p:cNvPicPr>
            <a:picLocks noChangeAspect="1"/>
          </p:cNvPicPr>
          <p:nvPr/>
        </p:nvPicPr>
        <p:blipFill>
          <a:blip r:embed="rId5"/>
          <a:stretch>
            <a:fillRect/>
          </a:stretch>
        </p:blipFill>
        <p:spPr>
          <a:xfrm>
            <a:off x="1938655" y="1866265"/>
            <a:ext cx="2999740" cy="2643505"/>
          </a:xfrm>
          <a:prstGeom prst="rect">
            <a:avLst/>
          </a:prstGeom>
        </p:spPr>
      </p:pic>
      <p:pic>
        <p:nvPicPr>
          <p:cNvPr id="6" name="图片 5"/>
          <p:cNvPicPr>
            <a:picLocks noChangeAspect="1"/>
          </p:cNvPicPr>
          <p:nvPr/>
        </p:nvPicPr>
        <p:blipFill>
          <a:blip r:embed="rId6"/>
          <a:stretch>
            <a:fillRect/>
          </a:stretch>
        </p:blipFill>
        <p:spPr>
          <a:xfrm>
            <a:off x="5410835" y="1866265"/>
            <a:ext cx="4025900" cy="2178685"/>
          </a:xfrm>
          <a:prstGeom prst="rect">
            <a:avLst/>
          </a:prstGeom>
        </p:spPr>
      </p:pic>
    </p:spTree>
  </p:cSld>
  <p:clrMapOvr>
    <a:masterClrMapping/>
  </p:clrMapOvr>
  <p:transition spd="slow"/>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教学\课程改革\单片机2019\pic\蝴蝶GIF.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72092" y="5857875"/>
            <a:ext cx="916598" cy="916598"/>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1"/>
          <p:cNvSpPr>
            <a:spLocks noChangeArrowheads="1"/>
          </p:cNvSpPr>
          <p:nvPr/>
        </p:nvSpPr>
        <p:spPr bwMode="auto">
          <a:xfrm>
            <a:off x="690382" y="1217703"/>
            <a:ext cx="770413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hlink"/>
              </a:buClr>
              <a:buFont typeface="Wingdings" panose="05000000000000000000" pitchFamily="2" charset="2"/>
              <a:buChar char="v"/>
              <a:defRPr sz="2800" b="1">
                <a:solidFill>
                  <a:schemeClr val="tx2"/>
                </a:solidFill>
                <a:latin typeface="Verdana" panose="020B0604030504040204" pitchFamily="34"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eaLnBrk="0" hangingPunct="0">
              <a:spcBef>
                <a:spcPct val="20000"/>
              </a:spcBef>
              <a:buClr>
                <a:schemeClr val="tx1"/>
              </a:buClr>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3200">
                <a:solidFill>
                  <a:schemeClr val="tx1"/>
                </a:solidFill>
                <a:latin typeface="Arial" panose="020B0604020202020204" pitchFamily="34" charset="0"/>
                <a:ea typeface="宋体" panose="02010600030101010101" pitchFamily="2" charset="-122"/>
              </a:rPr>
              <a:t> </a:t>
            </a:r>
            <a:endParaRPr lang="zh-CN" altLang="en-US" sz="2400" b="0">
              <a:solidFill>
                <a:schemeClr val="tx1"/>
              </a:solidFill>
              <a:latin typeface="Arial" panose="020B0604020202020204" pitchFamily="34" charset="0"/>
              <a:ea typeface="宋体" panose="02010600030101010101" pitchFamily="2" charset="-122"/>
            </a:endParaRPr>
          </a:p>
        </p:txBody>
      </p:sp>
      <p:sp>
        <p:nvSpPr>
          <p:cNvPr id="8" name="TextBox 1"/>
          <p:cNvSpPr txBox="1">
            <a:spLocks noChangeArrowheads="1"/>
          </p:cNvSpPr>
          <p:nvPr/>
        </p:nvSpPr>
        <p:spPr bwMode="auto">
          <a:xfrm>
            <a:off x="330019" y="814478"/>
            <a:ext cx="7848600"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spcBef>
                <a:spcPct val="20000"/>
              </a:spcBef>
              <a:buClr>
                <a:schemeClr val="hlink"/>
              </a:buClr>
              <a:buFont typeface="Wingdings" panose="05000000000000000000" pitchFamily="2" charset="2"/>
              <a:buChar char="v"/>
              <a:defRPr sz="2800" b="1">
                <a:solidFill>
                  <a:schemeClr val="tx2"/>
                </a:solidFill>
                <a:latin typeface="Verdana" panose="020B0604030504040204" pitchFamily="34" charset="0"/>
              </a:defRPr>
            </a:lvl1pPr>
            <a:lvl2pPr marL="800100" indent="-342900" eaLnBrk="0" hangingPunct="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eaLnBrk="0" hangingPunct="0">
              <a:spcBef>
                <a:spcPct val="20000"/>
              </a:spcBef>
              <a:buClr>
                <a:schemeClr val="tx1"/>
              </a:buClr>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lvl="1" eaLnBrk="1" hangingPunct="1">
              <a:lnSpc>
                <a:spcPct val="150000"/>
              </a:lnSpc>
              <a:spcBef>
                <a:spcPct val="0"/>
              </a:spcBef>
              <a:buClrTx/>
              <a:buFont typeface="Wingdings" panose="05000000000000000000" pitchFamily="2" charset="2"/>
              <a:buChar char="u"/>
            </a:pPr>
            <a:r>
              <a:rPr lang="en-US" altLang="zh-CN" b="1">
                <a:ea typeface="宋体" panose="02010600030101010101" pitchFamily="2" charset="-122"/>
              </a:rPr>
              <a:t>UART</a:t>
            </a:r>
            <a:r>
              <a:rPr lang="zh-CN" altLang="en-US" b="1">
                <a:ea typeface="宋体" panose="02010600030101010101" pitchFamily="2" charset="-122"/>
              </a:rPr>
              <a:t>异步通信方式引脚连接方法：</a:t>
            </a:r>
            <a:endParaRPr lang="en-US" altLang="zh-CN" b="1">
              <a:ea typeface="宋体" panose="02010600030101010101" pitchFamily="2" charset="-122"/>
            </a:endParaRPr>
          </a:p>
        </p:txBody>
      </p:sp>
      <p:sp>
        <p:nvSpPr>
          <p:cNvPr id="9" name="TextBox 2"/>
          <p:cNvSpPr txBox="1">
            <a:spLocks noChangeArrowheads="1"/>
          </p:cNvSpPr>
          <p:nvPr/>
        </p:nvSpPr>
        <p:spPr bwMode="auto">
          <a:xfrm>
            <a:off x="1122182" y="1554253"/>
            <a:ext cx="76327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hlink"/>
              </a:buClr>
              <a:buFont typeface="Wingdings" panose="05000000000000000000" pitchFamily="2" charset="2"/>
              <a:buChar char="v"/>
              <a:defRPr sz="2800" b="1">
                <a:solidFill>
                  <a:schemeClr val="tx2"/>
                </a:solidFill>
                <a:latin typeface="Verdana" panose="020B0604030504040204" pitchFamily="34"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eaLnBrk="0" hangingPunct="0">
              <a:spcBef>
                <a:spcPct val="20000"/>
              </a:spcBef>
              <a:buClr>
                <a:schemeClr val="tx1"/>
              </a:buClr>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spcBef>
                <a:spcPct val="0"/>
              </a:spcBef>
              <a:buClrTx/>
              <a:buFontTx/>
              <a:buNone/>
            </a:pPr>
            <a:r>
              <a:rPr lang="en-US" altLang="zh-CN" sz="2000">
                <a:solidFill>
                  <a:schemeClr val="tx1"/>
                </a:solidFill>
                <a:latin typeface="Arial" panose="020B0604020202020204" pitchFamily="34" charset="0"/>
                <a:ea typeface="宋体" panose="02010600030101010101" pitchFamily="2" charset="-122"/>
              </a:rPr>
              <a:t>-RXD:</a:t>
            </a:r>
            <a:r>
              <a:rPr lang="zh-CN" altLang="en-US" sz="2000">
                <a:solidFill>
                  <a:schemeClr val="tx1"/>
                </a:solidFill>
                <a:latin typeface="Arial" panose="020B0604020202020204" pitchFamily="34" charset="0"/>
                <a:ea typeface="宋体" panose="02010600030101010101" pitchFamily="2" charset="-122"/>
              </a:rPr>
              <a:t>数据输入引脚。数据接受。</a:t>
            </a:r>
            <a:endParaRPr lang="en-US" altLang="zh-CN" sz="2000">
              <a:solidFill>
                <a:schemeClr val="tx1"/>
              </a:solidFill>
              <a:latin typeface="Arial" panose="020B0604020202020204" pitchFamily="34" charset="0"/>
              <a:ea typeface="宋体" panose="02010600030101010101" pitchFamily="2" charset="-122"/>
            </a:endParaRPr>
          </a:p>
          <a:p>
            <a:pPr eaLnBrk="1" hangingPunct="1">
              <a:lnSpc>
                <a:spcPct val="150000"/>
              </a:lnSpc>
              <a:spcBef>
                <a:spcPct val="0"/>
              </a:spcBef>
              <a:buClrTx/>
              <a:buFontTx/>
              <a:buNone/>
            </a:pPr>
            <a:r>
              <a:rPr lang="en-US" altLang="zh-CN" sz="2000">
                <a:solidFill>
                  <a:schemeClr val="tx1"/>
                </a:solidFill>
                <a:latin typeface="Arial" panose="020B0604020202020204" pitchFamily="34" charset="0"/>
                <a:ea typeface="宋体" panose="02010600030101010101" pitchFamily="2" charset="-122"/>
              </a:rPr>
              <a:t>-TXD:</a:t>
            </a:r>
            <a:r>
              <a:rPr lang="zh-CN" altLang="en-US" sz="2000">
                <a:solidFill>
                  <a:schemeClr val="tx1"/>
                </a:solidFill>
                <a:latin typeface="Arial" panose="020B0604020202020204" pitchFamily="34" charset="0"/>
                <a:ea typeface="宋体" panose="02010600030101010101" pitchFamily="2" charset="-122"/>
              </a:rPr>
              <a:t>数据发送引脚。数据发送。</a:t>
            </a:r>
            <a:endParaRPr lang="en-US" altLang="zh-CN" sz="2000">
              <a:solidFill>
                <a:schemeClr val="tx1"/>
              </a:solidFill>
              <a:latin typeface="Arial" panose="020B0604020202020204" pitchFamily="34" charset="0"/>
              <a:ea typeface="宋体" panose="02010600030101010101" pitchFamily="2" charset="-122"/>
            </a:endParaRPr>
          </a:p>
        </p:txBody>
      </p:sp>
      <p:pic>
        <p:nvPicPr>
          <p:cNvPr id="1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1357" y="2944903"/>
            <a:ext cx="3238500" cy="1873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6257" y="2944903"/>
            <a:ext cx="4494212" cy="1800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75680201"/>
      </p:ext>
    </p:extLst>
  </p:cSld>
  <p:clrMapOvr>
    <a:masterClrMapping/>
  </p:clrMapOvr>
  <p:transition spd="slow"/>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教学\课程改革\单片机2019\pic\蝴蝶GIF.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72092" y="5857875"/>
            <a:ext cx="916598" cy="916598"/>
          </a:xfrm>
          <a:prstGeom prst="rect">
            <a:avLst/>
          </a:prstGeom>
          <a:noFill/>
          <a:extLst>
            <a:ext uri="{909E8E84-426E-40DD-AFC4-6F175D3DCCD1}">
              <a14:hiddenFill xmlns:a14="http://schemas.microsoft.com/office/drawing/2010/main">
                <a:solidFill>
                  <a:srgbClr val="FFFFFF"/>
                </a:solidFill>
              </a14:hiddenFill>
            </a:ext>
          </a:extLst>
        </p:spPr>
      </p:pic>
      <p:sp>
        <p:nvSpPr>
          <p:cNvPr id="15" name="矩形 1"/>
          <p:cNvSpPr>
            <a:spLocks noChangeArrowheads="1"/>
          </p:cNvSpPr>
          <p:nvPr/>
        </p:nvSpPr>
        <p:spPr bwMode="auto">
          <a:xfrm>
            <a:off x="559753" y="956447"/>
            <a:ext cx="770413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hlink"/>
              </a:buClr>
              <a:buFont typeface="Wingdings" panose="05000000000000000000" pitchFamily="2" charset="2"/>
              <a:buChar char="v"/>
              <a:defRPr sz="2800" b="1">
                <a:solidFill>
                  <a:schemeClr val="tx2"/>
                </a:solidFill>
                <a:latin typeface="Verdana" panose="020B0604030504040204" pitchFamily="34"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eaLnBrk="0" hangingPunct="0">
              <a:spcBef>
                <a:spcPct val="20000"/>
              </a:spcBef>
              <a:buClr>
                <a:schemeClr val="tx1"/>
              </a:buClr>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3200">
                <a:solidFill>
                  <a:schemeClr val="tx1"/>
                </a:solidFill>
                <a:latin typeface="Arial" panose="020B0604020202020204" pitchFamily="34" charset="0"/>
                <a:ea typeface="宋体" panose="02010600030101010101" pitchFamily="2" charset="-122"/>
              </a:rPr>
              <a:t> </a:t>
            </a:r>
            <a:endParaRPr lang="zh-CN" altLang="en-US" sz="2400" b="0">
              <a:solidFill>
                <a:schemeClr val="tx1"/>
              </a:solidFill>
              <a:latin typeface="Arial" panose="020B0604020202020204" pitchFamily="34" charset="0"/>
              <a:ea typeface="宋体" panose="02010600030101010101" pitchFamily="2" charset="-122"/>
            </a:endParaRPr>
          </a:p>
        </p:txBody>
      </p:sp>
      <p:sp>
        <p:nvSpPr>
          <p:cNvPr id="16" name="TextBox 1"/>
          <p:cNvSpPr txBox="1">
            <a:spLocks noChangeArrowheads="1"/>
          </p:cNvSpPr>
          <p:nvPr/>
        </p:nvSpPr>
        <p:spPr bwMode="auto">
          <a:xfrm>
            <a:off x="199390" y="553222"/>
            <a:ext cx="7848600"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spcBef>
                <a:spcPct val="20000"/>
              </a:spcBef>
              <a:buClr>
                <a:schemeClr val="hlink"/>
              </a:buClr>
              <a:buFont typeface="Wingdings" panose="05000000000000000000" pitchFamily="2" charset="2"/>
              <a:buChar char="v"/>
              <a:defRPr sz="2800" b="1">
                <a:solidFill>
                  <a:schemeClr val="tx2"/>
                </a:solidFill>
                <a:latin typeface="Verdana" panose="020B0604030504040204" pitchFamily="34" charset="0"/>
              </a:defRPr>
            </a:lvl1pPr>
            <a:lvl2pPr marL="800100" indent="-342900" eaLnBrk="0" hangingPunct="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eaLnBrk="0" hangingPunct="0">
              <a:spcBef>
                <a:spcPct val="20000"/>
              </a:spcBef>
              <a:buClr>
                <a:schemeClr val="tx1"/>
              </a:buClr>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lvl="1" eaLnBrk="1" hangingPunct="1">
              <a:lnSpc>
                <a:spcPct val="150000"/>
              </a:lnSpc>
              <a:spcBef>
                <a:spcPct val="0"/>
              </a:spcBef>
              <a:buClrTx/>
              <a:buFont typeface="Wingdings" panose="05000000000000000000" pitchFamily="2" charset="2"/>
              <a:buChar char="u"/>
            </a:pPr>
            <a:r>
              <a:rPr lang="en-US" altLang="zh-CN" b="1">
                <a:ea typeface="宋体" panose="02010600030101010101" pitchFamily="2" charset="-122"/>
              </a:rPr>
              <a:t>UART</a:t>
            </a:r>
            <a:r>
              <a:rPr lang="zh-CN" altLang="en-US" b="1">
                <a:ea typeface="宋体" panose="02010600030101010101" pitchFamily="2" charset="-122"/>
              </a:rPr>
              <a:t>异步通信方式特点：</a:t>
            </a:r>
            <a:endParaRPr lang="en-US" altLang="zh-CN" b="1">
              <a:ea typeface="宋体" panose="02010600030101010101" pitchFamily="2" charset="-122"/>
            </a:endParaRPr>
          </a:p>
        </p:txBody>
      </p:sp>
      <p:sp>
        <p:nvSpPr>
          <p:cNvPr id="17" name="TextBox 2"/>
          <p:cNvSpPr txBox="1">
            <a:spLocks noChangeArrowheads="1"/>
          </p:cNvSpPr>
          <p:nvPr/>
        </p:nvSpPr>
        <p:spPr bwMode="auto">
          <a:xfrm>
            <a:off x="918528" y="1240609"/>
            <a:ext cx="7632700" cy="470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eaLnBrk="0" hangingPunct="0">
              <a:spcBef>
                <a:spcPct val="20000"/>
              </a:spcBef>
              <a:buClr>
                <a:schemeClr val="hlink"/>
              </a:buClr>
              <a:buFont typeface="Wingdings" panose="05000000000000000000" pitchFamily="2" charset="2"/>
              <a:buChar char="v"/>
              <a:defRPr sz="2800" b="1">
                <a:solidFill>
                  <a:schemeClr val="tx2"/>
                </a:solidFill>
                <a:latin typeface="Verdana" panose="020B0604030504040204" pitchFamily="34"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eaLnBrk="0" hangingPunct="0">
              <a:spcBef>
                <a:spcPct val="20000"/>
              </a:spcBef>
              <a:buClr>
                <a:schemeClr val="tx1"/>
              </a:buClr>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spcBef>
                <a:spcPct val="0"/>
              </a:spcBef>
              <a:buClrTx/>
              <a:buFont typeface="Wingdings" panose="05000000000000000000" pitchFamily="2" charset="2"/>
              <a:buChar char="l"/>
            </a:pPr>
            <a:r>
              <a:rPr lang="zh-CN" altLang="en-US" sz="2000" dirty="0">
                <a:solidFill>
                  <a:schemeClr val="tx1"/>
                </a:solidFill>
                <a:latin typeface="Arial" panose="020B0604020202020204" pitchFamily="34" charset="0"/>
                <a:ea typeface="宋体" panose="02010600030101010101" pitchFamily="2" charset="-122"/>
              </a:rPr>
              <a:t>全双工异步通信。</a:t>
            </a:r>
            <a:endParaRPr lang="en-US" altLang="zh-CN" sz="2000" dirty="0">
              <a:solidFill>
                <a:schemeClr val="tx1"/>
              </a:solidFill>
              <a:latin typeface="Arial" panose="020B0604020202020204" pitchFamily="34" charset="0"/>
              <a:ea typeface="宋体" panose="02010600030101010101" pitchFamily="2" charset="-122"/>
            </a:endParaRPr>
          </a:p>
          <a:p>
            <a:pPr eaLnBrk="1" hangingPunct="1">
              <a:lnSpc>
                <a:spcPct val="150000"/>
              </a:lnSpc>
              <a:spcBef>
                <a:spcPct val="0"/>
              </a:spcBef>
              <a:buClrTx/>
              <a:buFont typeface="Wingdings" panose="05000000000000000000" pitchFamily="2" charset="2"/>
              <a:buChar char="l"/>
            </a:pPr>
            <a:r>
              <a:rPr lang="zh-CN" altLang="en-US" sz="2000" dirty="0">
                <a:solidFill>
                  <a:schemeClr val="tx1"/>
                </a:solidFill>
                <a:latin typeface="Arial" panose="020B0604020202020204" pitchFamily="34" charset="0"/>
                <a:ea typeface="宋体" panose="02010600030101010101" pitchFamily="2" charset="-122"/>
              </a:rPr>
              <a:t>分数波特率发生器系统，提供精确的波特率。</a:t>
            </a:r>
            <a:endParaRPr lang="en-US" altLang="zh-CN" sz="2000" dirty="0">
              <a:solidFill>
                <a:schemeClr val="tx1"/>
              </a:solidFill>
              <a:latin typeface="Arial" panose="020B0604020202020204" pitchFamily="34" charset="0"/>
              <a:ea typeface="宋体" panose="02010600030101010101" pitchFamily="2" charset="-122"/>
            </a:endParaRPr>
          </a:p>
          <a:p>
            <a:pPr eaLnBrk="1" hangingPunct="1">
              <a:lnSpc>
                <a:spcPct val="150000"/>
              </a:lnSpc>
              <a:spcBef>
                <a:spcPct val="0"/>
              </a:spcBef>
              <a:buClrTx/>
              <a:buFontTx/>
              <a:buNone/>
            </a:pPr>
            <a:r>
              <a:rPr lang="en-US" altLang="zh-CN" sz="2000" dirty="0">
                <a:solidFill>
                  <a:schemeClr val="tx1"/>
                </a:solidFill>
                <a:latin typeface="Arial" panose="020B0604020202020204" pitchFamily="34" charset="0"/>
                <a:ea typeface="宋体" panose="02010600030101010101" pitchFamily="2" charset="-122"/>
              </a:rPr>
              <a:t>     -</a:t>
            </a:r>
            <a:r>
              <a:rPr lang="zh-CN" altLang="en-US" sz="2000" dirty="0">
                <a:solidFill>
                  <a:schemeClr val="tx1"/>
                </a:solidFill>
                <a:latin typeface="Arial" panose="020B0604020202020204" pitchFamily="34" charset="0"/>
                <a:ea typeface="宋体" panose="02010600030101010101" pitchFamily="2" charset="-122"/>
              </a:rPr>
              <a:t>发送和接受共用的可编程波特率，最高可达</a:t>
            </a:r>
            <a:r>
              <a:rPr lang="en-US" altLang="zh-CN" sz="2000" dirty="0">
                <a:solidFill>
                  <a:schemeClr val="tx1"/>
                </a:solidFill>
                <a:latin typeface="Arial" panose="020B0604020202020204" pitchFamily="34" charset="0"/>
                <a:ea typeface="宋体" panose="02010600030101010101" pitchFamily="2" charset="-122"/>
              </a:rPr>
              <a:t>4.5Mbits/s</a:t>
            </a:r>
          </a:p>
          <a:p>
            <a:pPr eaLnBrk="1" hangingPunct="1">
              <a:lnSpc>
                <a:spcPct val="150000"/>
              </a:lnSpc>
              <a:spcBef>
                <a:spcPct val="0"/>
              </a:spcBef>
              <a:buClrTx/>
              <a:buFont typeface="Wingdings" panose="05000000000000000000" pitchFamily="2" charset="2"/>
              <a:buChar char="l"/>
            </a:pPr>
            <a:r>
              <a:rPr lang="zh-CN" altLang="en-US" sz="2000" dirty="0">
                <a:solidFill>
                  <a:schemeClr val="tx1"/>
                </a:solidFill>
                <a:latin typeface="Arial" panose="020B0604020202020204" pitchFamily="34" charset="0"/>
                <a:ea typeface="宋体" panose="02010600030101010101" pitchFamily="2" charset="-122"/>
              </a:rPr>
              <a:t>可编程的数据字长度（</a:t>
            </a:r>
            <a:r>
              <a:rPr lang="en-US" altLang="zh-CN" sz="2000" dirty="0">
                <a:solidFill>
                  <a:schemeClr val="tx1"/>
                </a:solidFill>
                <a:latin typeface="Arial" panose="020B0604020202020204" pitchFamily="34" charset="0"/>
                <a:ea typeface="宋体" panose="02010600030101010101" pitchFamily="2" charset="-122"/>
              </a:rPr>
              <a:t>8</a:t>
            </a:r>
            <a:r>
              <a:rPr lang="zh-CN" altLang="en-US" sz="2000" dirty="0">
                <a:solidFill>
                  <a:schemeClr val="tx1"/>
                </a:solidFill>
                <a:latin typeface="Arial" panose="020B0604020202020204" pitchFamily="34" charset="0"/>
                <a:ea typeface="宋体" panose="02010600030101010101" pitchFamily="2" charset="-122"/>
              </a:rPr>
              <a:t>位或者</a:t>
            </a:r>
            <a:r>
              <a:rPr lang="en-US" altLang="zh-CN" sz="2000" dirty="0">
                <a:solidFill>
                  <a:schemeClr val="tx1"/>
                </a:solidFill>
                <a:latin typeface="Arial" panose="020B0604020202020204" pitchFamily="34" charset="0"/>
                <a:ea typeface="宋体" panose="02010600030101010101" pitchFamily="2" charset="-122"/>
              </a:rPr>
              <a:t>9</a:t>
            </a:r>
            <a:r>
              <a:rPr lang="zh-CN" altLang="en-US" sz="2000" dirty="0">
                <a:solidFill>
                  <a:schemeClr val="tx1"/>
                </a:solidFill>
                <a:latin typeface="Arial" panose="020B0604020202020204" pitchFamily="34" charset="0"/>
                <a:ea typeface="宋体" panose="02010600030101010101" pitchFamily="2" charset="-122"/>
              </a:rPr>
              <a:t>位）；</a:t>
            </a:r>
            <a:endParaRPr lang="en-US" altLang="zh-CN" sz="2000" dirty="0">
              <a:solidFill>
                <a:schemeClr val="tx1"/>
              </a:solidFill>
              <a:latin typeface="Arial" panose="020B0604020202020204" pitchFamily="34" charset="0"/>
              <a:ea typeface="宋体" panose="02010600030101010101" pitchFamily="2" charset="-122"/>
            </a:endParaRPr>
          </a:p>
          <a:p>
            <a:pPr eaLnBrk="1" hangingPunct="1">
              <a:lnSpc>
                <a:spcPct val="150000"/>
              </a:lnSpc>
              <a:spcBef>
                <a:spcPct val="0"/>
              </a:spcBef>
              <a:buClrTx/>
              <a:buFont typeface="Wingdings" panose="05000000000000000000" pitchFamily="2" charset="2"/>
              <a:buChar char="l"/>
            </a:pPr>
            <a:r>
              <a:rPr lang="zh-CN" altLang="en-US" sz="2000" dirty="0">
                <a:solidFill>
                  <a:schemeClr val="tx1"/>
                </a:solidFill>
                <a:latin typeface="Arial" panose="020B0604020202020204" pitchFamily="34" charset="0"/>
                <a:ea typeface="宋体" panose="02010600030101010101" pitchFamily="2" charset="-122"/>
              </a:rPr>
              <a:t>可配置的停止位（支持</a:t>
            </a:r>
            <a:r>
              <a:rPr lang="en-US" altLang="zh-CN" sz="2000" dirty="0">
                <a:solidFill>
                  <a:schemeClr val="tx1"/>
                </a:solidFill>
                <a:latin typeface="Arial" panose="020B0604020202020204" pitchFamily="34" charset="0"/>
                <a:ea typeface="宋体" panose="02010600030101010101" pitchFamily="2" charset="-122"/>
              </a:rPr>
              <a:t>1</a:t>
            </a:r>
            <a:r>
              <a:rPr lang="zh-CN" altLang="en-US" sz="2000" dirty="0">
                <a:solidFill>
                  <a:schemeClr val="tx1"/>
                </a:solidFill>
                <a:latin typeface="Arial" panose="020B0604020202020204" pitchFamily="34" charset="0"/>
                <a:ea typeface="宋体" panose="02010600030101010101" pitchFamily="2" charset="-122"/>
              </a:rPr>
              <a:t>或者</a:t>
            </a:r>
            <a:r>
              <a:rPr lang="en-US" altLang="zh-CN" sz="2000" dirty="0">
                <a:solidFill>
                  <a:schemeClr val="tx1"/>
                </a:solidFill>
                <a:latin typeface="Arial" panose="020B0604020202020204" pitchFamily="34" charset="0"/>
                <a:ea typeface="宋体" panose="02010600030101010101" pitchFamily="2" charset="-122"/>
              </a:rPr>
              <a:t>2</a:t>
            </a:r>
            <a:r>
              <a:rPr lang="zh-CN" altLang="en-US" sz="2000" dirty="0">
                <a:solidFill>
                  <a:schemeClr val="tx1"/>
                </a:solidFill>
                <a:latin typeface="Arial" panose="020B0604020202020204" pitchFamily="34" charset="0"/>
                <a:ea typeface="宋体" panose="02010600030101010101" pitchFamily="2" charset="-122"/>
              </a:rPr>
              <a:t>位停止位）；</a:t>
            </a:r>
            <a:endParaRPr lang="en-US" altLang="zh-CN" sz="2000" dirty="0">
              <a:solidFill>
                <a:schemeClr val="tx1"/>
              </a:solidFill>
              <a:latin typeface="Arial" panose="020B0604020202020204" pitchFamily="34" charset="0"/>
              <a:ea typeface="宋体" panose="02010600030101010101" pitchFamily="2" charset="-122"/>
            </a:endParaRPr>
          </a:p>
          <a:p>
            <a:pPr eaLnBrk="1" hangingPunct="1">
              <a:lnSpc>
                <a:spcPct val="150000"/>
              </a:lnSpc>
              <a:spcBef>
                <a:spcPct val="0"/>
              </a:spcBef>
              <a:buClrTx/>
              <a:buFont typeface="Wingdings" panose="05000000000000000000" pitchFamily="2" charset="2"/>
              <a:buChar char="l"/>
            </a:pPr>
            <a:r>
              <a:rPr lang="zh-CN" altLang="en-US" sz="2000" dirty="0">
                <a:solidFill>
                  <a:schemeClr val="tx1"/>
                </a:solidFill>
                <a:latin typeface="Arial" panose="020B0604020202020204" pitchFamily="34" charset="0"/>
                <a:ea typeface="宋体" panose="02010600030101010101" pitchFamily="2" charset="-122"/>
              </a:rPr>
              <a:t>可配置的使用</a:t>
            </a:r>
            <a:r>
              <a:rPr lang="en-US" altLang="zh-CN" sz="2000" dirty="0">
                <a:solidFill>
                  <a:schemeClr val="tx1"/>
                </a:solidFill>
                <a:latin typeface="Arial" panose="020B0604020202020204" pitchFamily="34" charset="0"/>
                <a:ea typeface="宋体" panose="02010600030101010101" pitchFamily="2" charset="-122"/>
              </a:rPr>
              <a:t>DMA</a:t>
            </a:r>
            <a:r>
              <a:rPr lang="zh-CN" altLang="en-US" sz="2000" dirty="0">
                <a:solidFill>
                  <a:schemeClr val="tx1"/>
                </a:solidFill>
                <a:latin typeface="Arial" panose="020B0604020202020204" pitchFamily="34" charset="0"/>
                <a:ea typeface="宋体" panose="02010600030101010101" pitchFamily="2" charset="-122"/>
              </a:rPr>
              <a:t>多缓冲器通信。</a:t>
            </a:r>
            <a:endParaRPr lang="en-US" altLang="zh-CN" sz="2000" dirty="0">
              <a:solidFill>
                <a:schemeClr val="tx1"/>
              </a:solidFill>
              <a:latin typeface="Arial" panose="020B0604020202020204" pitchFamily="34" charset="0"/>
              <a:ea typeface="宋体" panose="02010600030101010101" pitchFamily="2" charset="-122"/>
            </a:endParaRPr>
          </a:p>
          <a:p>
            <a:pPr eaLnBrk="1" hangingPunct="1">
              <a:lnSpc>
                <a:spcPct val="150000"/>
              </a:lnSpc>
              <a:spcBef>
                <a:spcPct val="0"/>
              </a:spcBef>
              <a:buClrTx/>
              <a:buFont typeface="Wingdings" panose="05000000000000000000" pitchFamily="2" charset="2"/>
              <a:buChar char="l"/>
            </a:pPr>
            <a:r>
              <a:rPr lang="zh-CN" altLang="en-US" sz="2000" dirty="0">
                <a:solidFill>
                  <a:schemeClr val="tx1"/>
                </a:solidFill>
                <a:latin typeface="Arial" panose="020B0604020202020204" pitchFamily="34" charset="0"/>
                <a:ea typeface="宋体" panose="02010600030101010101" pitchFamily="2" charset="-122"/>
              </a:rPr>
              <a:t>单独的发送器和接收器使能位。</a:t>
            </a:r>
            <a:endParaRPr lang="en-US" altLang="zh-CN" sz="2000" dirty="0">
              <a:solidFill>
                <a:schemeClr val="tx1"/>
              </a:solidFill>
              <a:latin typeface="Arial" panose="020B0604020202020204" pitchFamily="34" charset="0"/>
              <a:ea typeface="宋体" panose="02010600030101010101" pitchFamily="2" charset="-122"/>
            </a:endParaRPr>
          </a:p>
          <a:p>
            <a:pPr eaLnBrk="1" hangingPunct="1">
              <a:lnSpc>
                <a:spcPct val="150000"/>
              </a:lnSpc>
              <a:spcBef>
                <a:spcPct val="0"/>
              </a:spcBef>
              <a:buClrTx/>
              <a:buFont typeface="Wingdings" panose="05000000000000000000" pitchFamily="2" charset="2"/>
              <a:buChar char="l"/>
            </a:pPr>
            <a:r>
              <a:rPr lang="zh-CN" altLang="en-US" sz="2000" dirty="0">
                <a:solidFill>
                  <a:schemeClr val="tx1"/>
                </a:solidFill>
                <a:latin typeface="Arial" panose="020B0604020202020204" pitchFamily="34" charset="0"/>
                <a:ea typeface="宋体" panose="02010600030101010101" pitchFamily="2" charset="-122"/>
              </a:rPr>
              <a:t>检测标志：①</a:t>
            </a:r>
            <a:r>
              <a:rPr lang="en-US" altLang="zh-CN" sz="2000" dirty="0">
                <a:solidFill>
                  <a:schemeClr val="tx1"/>
                </a:solidFill>
                <a:latin typeface="Arial" panose="020B0604020202020204" pitchFamily="34" charset="0"/>
                <a:ea typeface="宋体" panose="02010600030101010101" pitchFamily="2" charset="-122"/>
              </a:rPr>
              <a:t> </a:t>
            </a:r>
            <a:r>
              <a:rPr lang="zh-CN" altLang="en-US" sz="2000" dirty="0">
                <a:solidFill>
                  <a:schemeClr val="tx1"/>
                </a:solidFill>
                <a:latin typeface="Arial" panose="020B0604020202020204" pitchFamily="34" charset="0"/>
                <a:ea typeface="宋体" panose="02010600030101010101" pitchFamily="2" charset="-122"/>
              </a:rPr>
              <a:t>接受缓冲器  ②发送缓冲器空 ③传输结束标志</a:t>
            </a:r>
            <a:endParaRPr lang="en-US" altLang="zh-CN" sz="2000" dirty="0">
              <a:solidFill>
                <a:schemeClr val="tx1"/>
              </a:solidFill>
              <a:latin typeface="Arial" panose="020B0604020202020204" pitchFamily="34" charset="0"/>
              <a:ea typeface="宋体" panose="02010600030101010101" pitchFamily="2" charset="-122"/>
            </a:endParaRPr>
          </a:p>
          <a:p>
            <a:pPr eaLnBrk="1" hangingPunct="1">
              <a:lnSpc>
                <a:spcPct val="150000"/>
              </a:lnSpc>
              <a:spcBef>
                <a:spcPct val="0"/>
              </a:spcBef>
              <a:buClrTx/>
              <a:buFont typeface="Wingdings" panose="05000000000000000000" pitchFamily="2" charset="2"/>
              <a:buChar char="l"/>
            </a:pPr>
            <a:r>
              <a:rPr lang="zh-CN" altLang="en-US" sz="2000" dirty="0">
                <a:solidFill>
                  <a:schemeClr val="tx1"/>
                </a:solidFill>
                <a:latin typeface="Arial" panose="020B0604020202020204" pitchFamily="34" charset="0"/>
                <a:ea typeface="宋体" panose="02010600030101010101" pitchFamily="2" charset="-122"/>
              </a:rPr>
              <a:t>多个带标志的中断源。触发中断。</a:t>
            </a:r>
            <a:endParaRPr lang="en-US" altLang="zh-CN" sz="2000" dirty="0">
              <a:solidFill>
                <a:schemeClr val="tx1"/>
              </a:solidFill>
              <a:latin typeface="Arial" panose="020B0604020202020204" pitchFamily="34" charset="0"/>
              <a:ea typeface="宋体" panose="02010600030101010101" pitchFamily="2" charset="-122"/>
            </a:endParaRPr>
          </a:p>
          <a:p>
            <a:pPr eaLnBrk="1" hangingPunct="1">
              <a:lnSpc>
                <a:spcPct val="150000"/>
              </a:lnSpc>
              <a:spcBef>
                <a:spcPct val="0"/>
              </a:spcBef>
              <a:buClrTx/>
              <a:buFont typeface="Wingdings" panose="05000000000000000000" pitchFamily="2" charset="2"/>
              <a:buChar char="l"/>
            </a:pPr>
            <a:r>
              <a:rPr lang="zh-CN" altLang="en-US" sz="2000" dirty="0">
                <a:solidFill>
                  <a:schemeClr val="tx1"/>
                </a:solidFill>
                <a:latin typeface="Arial" panose="020B0604020202020204" pitchFamily="34" charset="0"/>
                <a:ea typeface="宋体" panose="02010600030101010101" pitchFamily="2" charset="-122"/>
              </a:rPr>
              <a:t>其他：校验控制，四个错误检测标志。</a:t>
            </a:r>
            <a:endParaRPr lang="en-US" altLang="zh-CN" sz="2000" dirty="0">
              <a:solidFill>
                <a:schemeClr val="tx1"/>
              </a:solidFill>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758201520"/>
      </p:ext>
    </p:extLst>
  </p:cSld>
  <p:clrMapOvr>
    <a:masterClrMapping/>
  </p:clrMapOvr>
  <p:transition spd="slow"/>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教学\课程改革\单片机2019\pic\蝴蝶GIF.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72092" y="5857875"/>
            <a:ext cx="916598" cy="91659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7832" y="509452"/>
            <a:ext cx="5473208" cy="6059067"/>
          </a:xfrm>
          <a:prstGeom prst="rect">
            <a:avLst/>
          </a:prstGeom>
          <a:noFill/>
          <a:ln>
            <a:noFill/>
          </a:ln>
          <a:effectLst>
            <a:prstShdw prst="shdw13" dist="53882" dir="13500000">
              <a:schemeClr val="bg2">
                <a:alpha val="50000"/>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91967369"/>
      </p:ext>
    </p:extLst>
  </p:cSld>
  <p:clrMapOvr>
    <a:masterClrMapping/>
  </p:clrMapOvr>
  <p:transition spd="slow"/>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教学\课程改革\单片机2019\pic\蝴蝶GIF.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72092" y="5857875"/>
            <a:ext cx="916598" cy="916598"/>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1"/>
          <p:cNvSpPr>
            <a:spLocks noChangeArrowheads="1"/>
          </p:cNvSpPr>
          <p:nvPr/>
        </p:nvSpPr>
        <p:spPr bwMode="auto">
          <a:xfrm>
            <a:off x="1500279" y="1283018"/>
            <a:ext cx="77041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hlink"/>
              </a:buClr>
              <a:buFont typeface="Wingdings" panose="05000000000000000000" pitchFamily="2" charset="2"/>
              <a:buChar char="v"/>
              <a:defRPr sz="2800" b="1">
                <a:solidFill>
                  <a:schemeClr val="tx2"/>
                </a:solidFill>
                <a:latin typeface="Verdana" panose="020B0604030504040204" pitchFamily="34"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eaLnBrk="0" hangingPunct="0">
              <a:spcBef>
                <a:spcPct val="20000"/>
              </a:spcBef>
              <a:buClr>
                <a:schemeClr val="tx1"/>
              </a:buClr>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2400">
                <a:solidFill>
                  <a:schemeClr val="tx1"/>
                </a:solidFill>
                <a:latin typeface="Arial" panose="020B0604020202020204" pitchFamily="34" charset="0"/>
                <a:ea typeface="宋体" panose="02010600030101010101" pitchFamily="2" charset="-122"/>
              </a:rPr>
              <a:t> </a:t>
            </a:r>
            <a:endParaRPr lang="zh-CN" altLang="en-US" sz="2400">
              <a:solidFill>
                <a:schemeClr val="tx1"/>
              </a:solidFill>
              <a:latin typeface="Arial" panose="020B0604020202020204" pitchFamily="34" charset="0"/>
              <a:ea typeface="宋体" panose="02010600030101010101" pitchFamily="2" charset="-122"/>
            </a:endParaRPr>
          </a:p>
        </p:txBody>
      </p:sp>
      <p:sp>
        <p:nvSpPr>
          <p:cNvPr id="5" name="TextBox 1"/>
          <p:cNvSpPr txBox="1">
            <a:spLocks noChangeArrowheads="1"/>
          </p:cNvSpPr>
          <p:nvPr/>
        </p:nvSpPr>
        <p:spPr bwMode="auto">
          <a:xfrm>
            <a:off x="1308191" y="1051243"/>
            <a:ext cx="27035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285750" indent="-285750" eaLnBrk="0" hangingPunct="0">
              <a:spcBef>
                <a:spcPct val="20000"/>
              </a:spcBef>
              <a:buClr>
                <a:schemeClr val="hlink"/>
              </a:buClr>
              <a:buFont typeface="Wingdings" panose="05000000000000000000" pitchFamily="2" charset="2"/>
              <a:buChar char="v"/>
              <a:defRPr sz="2800" b="1">
                <a:solidFill>
                  <a:schemeClr val="tx2"/>
                </a:solidFill>
                <a:latin typeface="Verdana" panose="020B0604030504040204" pitchFamily="34"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eaLnBrk="0" hangingPunct="0">
              <a:spcBef>
                <a:spcPct val="20000"/>
              </a:spcBef>
              <a:buClr>
                <a:schemeClr val="tx1"/>
              </a:buClr>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 typeface="Wingdings" panose="05000000000000000000" pitchFamily="2" charset="2"/>
              <a:buChar char="u"/>
            </a:pPr>
            <a:r>
              <a:rPr lang="zh-CN" altLang="en-US">
                <a:solidFill>
                  <a:schemeClr val="tx1"/>
                </a:solidFill>
                <a:latin typeface="Arial" panose="020B0604020202020204" pitchFamily="34" charset="0"/>
                <a:ea typeface="宋体" panose="02010600030101010101" pitchFamily="2" charset="-122"/>
              </a:rPr>
              <a:t>串口通信过程</a:t>
            </a:r>
          </a:p>
        </p:txBody>
      </p:sp>
      <p:sp>
        <p:nvSpPr>
          <p:cNvPr id="7" name="TextBox 2"/>
          <p:cNvSpPr txBox="1">
            <a:spLocks noChangeArrowheads="1"/>
          </p:cNvSpPr>
          <p:nvPr/>
        </p:nvSpPr>
        <p:spPr bwMode="auto">
          <a:xfrm>
            <a:off x="3813266" y="1641793"/>
            <a:ext cx="23510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hlink"/>
              </a:buClr>
              <a:buFont typeface="Wingdings" panose="05000000000000000000" pitchFamily="2" charset="2"/>
              <a:buChar char="v"/>
              <a:defRPr sz="2800" b="1">
                <a:solidFill>
                  <a:schemeClr val="tx2"/>
                </a:solidFill>
                <a:latin typeface="Verdana" panose="020B0604030504040204" pitchFamily="34"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eaLnBrk="0" hangingPunct="0">
              <a:spcBef>
                <a:spcPct val="20000"/>
              </a:spcBef>
              <a:buClr>
                <a:schemeClr val="tx1"/>
              </a:buClr>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zh-CN" altLang="en-US" sz="2400">
                <a:solidFill>
                  <a:srgbClr val="FF0000"/>
                </a:solidFill>
                <a:latin typeface="Arial" panose="020B0604020202020204" pitchFamily="34" charset="0"/>
                <a:ea typeface="宋体" panose="02010600030101010101" pitchFamily="2" charset="-122"/>
              </a:rPr>
              <a:t>数据接收过程：</a:t>
            </a:r>
          </a:p>
        </p:txBody>
      </p:sp>
      <p:sp>
        <p:nvSpPr>
          <p:cNvPr id="8" name="矩形 7"/>
          <p:cNvSpPr/>
          <p:nvPr/>
        </p:nvSpPr>
        <p:spPr>
          <a:xfrm>
            <a:off x="1478054" y="2362518"/>
            <a:ext cx="1079500" cy="1223962"/>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a:solidFill>
                  <a:srgbClr val="FFFFFF"/>
                </a:solidFill>
                <a:ea typeface="宋体" pitchFamily="2" charset="-122"/>
              </a:rPr>
              <a:t>MCU</a:t>
            </a:r>
          </a:p>
          <a:p>
            <a:pPr algn="ctr">
              <a:defRPr/>
            </a:pPr>
            <a:r>
              <a:rPr lang="zh-CN" altLang="en-US">
                <a:solidFill>
                  <a:srgbClr val="FFFFFF"/>
                </a:solidFill>
                <a:ea typeface="宋体" pitchFamily="2" charset="-122"/>
              </a:rPr>
              <a:t>内核</a:t>
            </a:r>
          </a:p>
        </p:txBody>
      </p:sp>
      <p:sp>
        <p:nvSpPr>
          <p:cNvPr id="9" name="矩形 8"/>
          <p:cNvSpPr/>
          <p:nvPr/>
        </p:nvSpPr>
        <p:spPr>
          <a:xfrm>
            <a:off x="3349716" y="2370455"/>
            <a:ext cx="1081088" cy="1216025"/>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a:solidFill>
                  <a:srgbClr val="FFFFFF"/>
                </a:solidFill>
                <a:ea typeface="宋体" pitchFamily="2" charset="-122"/>
              </a:rPr>
              <a:t>输入数据缓冲器</a:t>
            </a:r>
          </a:p>
        </p:txBody>
      </p:sp>
      <p:sp>
        <p:nvSpPr>
          <p:cNvPr id="10" name="矩形 9"/>
          <p:cNvSpPr/>
          <p:nvPr/>
        </p:nvSpPr>
        <p:spPr>
          <a:xfrm>
            <a:off x="5149941" y="2370455"/>
            <a:ext cx="1081088" cy="1216025"/>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solidFill>
                  <a:srgbClr val="FFFFFF"/>
                </a:solidFill>
                <a:ea typeface="宋体" pitchFamily="2" charset="-122"/>
              </a:rPr>
              <a:t>串行输入移位寄存器</a:t>
            </a:r>
          </a:p>
        </p:txBody>
      </p:sp>
      <p:cxnSp>
        <p:nvCxnSpPr>
          <p:cNvPr id="11" name="直接连接符 10"/>
          <p:cNvCxnSpPr/>
          <p:nvPr/>
        </p:nvCxnSpPr>
        <p:spPr>
          <a:xfrm>
            <a:off x="6672354" y="2961005"/>
            <a:ext cx="0" cy="42386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V="1">
            <a:off x="7104154" y="2961005"/>
            <a:ext cx="0" cy="42386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7532779" y="2968943"/>
            <a:ext cx="0" cy="43338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V="1">
            <a:off x="7964579" y="2961005"/>
            <a:ext cx="0" cy="42386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6672354" y="3394393"/>
            <a:ext cx="4318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7094629" y="2968943"/>
            <a:ext cx="4318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964579" y="2968943"/>
            <a:ext cx="4318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7532779" y="3384868"/>
            <a:ext cx="4318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8396379" y="3392805"/>
            <a:ext cx="4318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V="1">
            <a:off x="8396379" y="2956243"/>
            <a:ext cx="0" cy="42386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flipH="1">
            <a:off x="6231029" y="2968943"/>
            <a:ext cx="431800" cy="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V="1">
            <a:off x="8823416" y="2956243"/>
            <a:ext cx="0" cy="42386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flipH="1">
            <a:off x="4430804" y="2649855"/>
            <a:ext cx="719137"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flipH="1">
            <a:off x="4430804" y="2802255"/>
            <a:ext cx="719137"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flipH="1">
            <a:off x="4430804" y="3226118"/>
            <a:ext cx="719137"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flipH="1">
            <a:off x="4430804" y="3370580"/>
            <a:ext cx="719137"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a:stCxn id="9" idx="1"/>
            <a:endCxn id="8" idx="3"/>
          </p:cNvCxnSpPr>
          <p:nvPr/>
        </p:nvCxnSpPr>
        <p:spPr>
          <a:xfrm flipH="1" flipV="1">
            <a:off x="2557554" y="2975293"/>
            <a:ext cx="792162" cy="3175"/>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sp>
        <p:nvSpPr>
          <p:cNvPr id="28" name="矩形 27"/>
          <p:cNvSpPr/>
          <p:nvPr/>
        </p:nvSpPr>
        <p:spPr>
          <a:xfrm>
            <a:off x="1478054" y="4378643"/>
            <a:ext cx="1079500" cy="1223962"/>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a:solidFill>
                  <a:srgbClr val="FFFFFF"/>
                </a:solidFill>
                <a:ea typeface="宋体" pitchFamily="2" charset="-122"/>
              </a:rPr>
              <a:t>MCU</a:t>
            </a:r>
          </a:p>
          <a:p>
            <a:pPr algn="ctr">
              <a:defRPr/>
            </a:pPr>
            <a:r>
              <a:rPr lang="zh-CN" altLang="en-US">
                <a:solidFill>
                  <a:srgbClr val="FFFFFF"/>
                </a:solidFill>
                <a:ea typeface="宋体" pitchFamily="2" charset="-122"/>
              </a:rPr>
              <a:t>内核</a:t>
            </a:r>
          </a:p>
        </p:txBody>
      </p:sp>
      <p:sp>
        <p:nvSpPr>
          <p:cNvPr id="29" name="矩形 28"/>
          <p:cNvSpPr/>
          <p:nvPr/>
        </p:nvSpPr>
        <p:spPr>
          <a:xfrm>
            <a:off x="3298916" y="4378643"/>
            <a:ext cx="1079500" cy="1216025"/>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a:solidFill>
                  <a:srgbClr val="FFFFFF"/>
                </a:solidFill>
                <a:ea typeface="宋体" pitchFamily="2" charset="-122"/>
              </a:rPr>
              <a:t>输出数据缓冲器</a:t>
            </a:r>
          </a:p>
        </p:txBody>
      </p:sp>
      <p:sp>
        <p:nvSpPr>
          <p:cNvPr id="30" name="矩形 29"/>
          <p:cNvSpPr/>
          <p:nvPr/>
        </p:nvSpPr>
        <p:spPr>
          <a:xfrm>
            <a:off x="5129304" y="4386580"/>
            <a:ext cx="1079500" cy="1216025"/>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a:solidFill>
                  <a:srgbClr val="FFFFFF"/>
                </a:solidFill>
                <a:ea typeface="宋体" pitchFamily="2" charset="-122"/>
              </a:rPr>
              <a:t>串行输出移位寄存器</a:t>
            </a:r>
          </a:p>
        </p:txBody>
      </p:sp>
      <p:cxnSp>
        <p:nvCxnSpPr>
          <p:cNvPr id="31" name="直接箭头连接符 30"/>
          <p:cNvCxnSpPr>
            <a:stCxn id="28" idx="3"/>
            <a:endCxn id="29" idx="1"/>
          </p:cNvCxnSpPr>
          <p:nvPr/>
        </p:nvCxnSpPr>
        <p:spPr>
          <a:xfrm flipV="1">
            <a:off x="2557554" y="4986655"/>
            <a:ext cx="741362" cy="4763"/>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a:off x="4378416" y="4667568"/>
            <a:ext cx="750888"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a:off x="4378416" y="4810443"/>
            <a:ext cx="750888"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p:nvPr/>
        </p:nvCxnSpPr>
        <p:spPr>
          <a:xfrm>
            <a:off x="4378416" y="5315268"/>
            <a:ext cx="750888"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a:off x="4381591" y="5458143"/>
            <a:ext cx="750888"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6667591" y="4962843"/>
            <a:ext cx="0" cy="42386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V="1">
            <a:off x="7099391" y="4962843"/>
            <a:ext cx="0" cy="42386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7526429" y="4972368"/>
            <a:ext cx="0" cy="4318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V="1">
            <a:off x="7958229" y="4962843"/>
            <a:ext cx="0" cy="42386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6667591" y="5396230"/>
            <a:ext cx="4318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7088279" y="4972368"/>
            <a:ext cx="4318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7958229" y="4972368"/>
            <a:ext cx="4318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7526429" y="5386705"/>
            <a:ext cx="4318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8390029" y="5396230"/>
            <a:ext cx="43338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V="1">
            <a:off x="8390029" y="4959668"/>
            <a:ext cx="0" cy="42386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V="1">
            <a:off x="8817066" y="4959668"/>
            <a:ext cx="0" cy="42386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7" name="直接箭头连接符 46"/>
          <p:cNvCxnSpPr>
            <a:stCxn id="30" idx="3"/>
          </p:cNvCxnSpPr>
          <p:nvPr/>
        </p:nvCxnSpPr>
        <p:spPr>
          <a:xfrm flipV="1">
            <a:off x="6208804" y="4986655"/>
            <a:ext cx="458787" cy="7938"/>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p:nvPr/>
        </p:nvCxnSpPr>
        <p:spPr>
          <a:xfrm flipH="1">
            <a:off x="8817066" y="2961005"/>
            <a:ext cx="431800" cy="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p:nvPr/>
        </p:nvCxnSpPr>
        <p:spPr>
          <a:xfrm flipV="1">
            <a:off x="8791666" y="4950143"/>
            <a:ext cx="457200" cy="9525"/>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50" name="TextBox 86"/>
          <p:cNvSpPr txBox="1">
            <a:spLocks noChangeArrowheads="1"/>
          </p:cNvSpPr>
          <p:nvPr/>
        </p:nvSpPr>
        <p:spPr bwMode="auto">
          <a:xfrm>
            <a:off x="3798979" y="3802380"/>
            <a:ext cx="23510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hlink"/>
              </a:buClr>
              <a:buFont typeface="Wingdings" panose="05000000000000000000" pitchFamily="2" charset="2"/>
              <a:buChar char="v"/>
              <a:defRPr sz="2800" b="1">
                <a:solidFill>
                  <a:schemeClr val="tx2"/>
                </a:solidFill>
                <a:latin typeface="Verdana" panose="020B0604030504040204" pitchFamily="34"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eaLnBrk="0" hangingPunct="0">
              <a:spcBef>
                <a:spcPct val="20000"/>
              </a:spcBef>
              <a:buClr>
                <a:schemeClr val="tx1"/>
              </a:buClr>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zh-CN" altLang="en-US" sz="2400">
                <a:solidFill>
                  <a:srgbClr val="FF0000"/>
                </a:solidFill>
                <a:latin typeface="Arial" panose="020B0604020202020204" pitchFamily="34" charset="0"/>
                <a:ea typeface="宋体" panose="02010600030101010101" pitchFamily="2" charset="-122"/>
              </a:rPr>
              <a:t>数据发送过程：</a:t>
            </a:r>
          </a:p>
        </p:txBody>
      </p:sp>
      <p:sp>
        <p:nvSpPr>
          <p:cNvPr id="51" name="TextBox 7191"/>
          <p:cNvSpPr txBox="1">
            <a:spLocks noChangeArrowheads="1"/>
          </p:cNvSpPr>
          <p:nvPr/>
        </p:nvSpPr>
        <p:spPr bwMode="auto">
          <a:xfrm>
            <a:off x="6337391" y="2373630"/>
            <a:ext cx="6715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hlink"/>
              </a:buClr>
              <a:buFont typeface="Wingdings" panose="05000000000000000000" pitchFamily="2" charset="2"/>
              <a:buChar char="v"/>
              <a:defRPr sz="2800" b="1">
                <a:solidFill>
                  <a:schemeClr val="tx2"/>
                </a:solidFill>
                <a:latin typeface="Verdana" panose="020B0604030504040204" pitchFamily="34"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eaLnBrk="0" hangingPunct="0">
              <a:spcBef>
                <a:spcPct val="20000"/>
              </a:spcBef>
              <a:buClr>
                <a:schemeClr val="tx1"/>
              </a:buClr>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a:solidFill>
                  <a:schemeClr val="tx1"/>
                </a:solidFill>
                <a:latin typeface="Arial" panose="020B0604020202020204" pitchFamily="34" charset="0"/>
                <a:ea typeface="宋体" panose="02010600030101010101" pitchFamily="2" charset="-122"/>
              </a:rPr>
              <a:t>RXD</a:t>
            </a:r>
            <a:endParaRPr lang="zh-CN" altLang="en-US" sz="1800">
              <a:solidFill>
                <a:schemeClr val="tx1"/>
              </a:solidFill>
              <a:latin typeface="Arial" panose="020B0604020202020204" pitchFamily="34" charset="0"/>
              <a:ea typeface="宋体" panose="02010600030101010101" pitchFamily="2" charset="-122"/>
            </a:endParaRPr>
          </a:p>
        </p:txBody>
      </p:sp>
      <p:sp>
        <p:nvSpPr>
          <p:cNvPr id="52" name="TextBox 7192"/>
          <p:cNvSpPr txBox="1">
            <a:spLocks noChangeArrowheads="1"/>
          </p:cNvSpPr>
          <p:nvPr/>
        </p:nvSpPr>
        <p:spPr bwMode="auto">
          <a:xfrm>
            <a:off x="6437404" y="4378643"/>
            <a:ext cx="6461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hlink"/>
              </a:buClr>
              <a:buFont typeface="Wingdings" panose="05000000000000000000" pitchFamily="2" charset="2"/>
              <a:buChar char="v"/>
              <a:defRPr sz="2800" b="1">
                <a:solidFill>
                  <a:schemeClr val="tx2"/>
                </a:solidFill>
                <a:latin typeface="Verdana" panose="020B0604030504040204" pitchFamily="34"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eaLnBrk="0" hangingPunct="0">
              <a:spcBef>
                <a:spcPct val="20000"/>
              </a:spcBef>
              <a:buClr>
                <a:schemeClr val="tx1"/>
              </a:buClr>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a:solidFill>
                  <a:schemeClr val="tx1"/>
                </a:solidFill>
                <a:latin typeface="Arial" panose="020B0604020202020204" pitchFamily="34" charset="0"/>
                <a:ea typeface="宋体" panose="02010600030101010101" pitchFamily="2" charset="-122"/>
              </a:rPr>
              <a:t>TXD</a:t>
            </a:r>
            <a:endParaRPr lang="zh-CN" altLang="en-US" sz="1800">
              <a:solidFill>
                <a:schemeClr val="tx1"/>
              </a:solidFill>
              <a:latin typeface="Arial" panose="020B0604020202020204" pitchFamily="34" charset="0"/>
              <a:ea typeface="宋体" panose="02010600030101010101" pitchFamily="2" charset="-122"/>
            </a:endParaRPr>
          </a:p>
        </p:txBody>
      </p:sp>
      <p:sp>
        <p:nvSpPr>
          <p:cNvPr id="53" name="TextBox 7193"/>
          <p:cNvSpPr txBox="1">
            <a:spLocks noChangeArrowheads="1"/>
          </p:cNvSpPr>
          <p:nvPr/>
        </p:nvSpPr>
        <p:spPr bwMode="auto">
          <a:xfrm>
            <a:off x="7448641" y="2384743"/>
            <a:ext cx="15700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hlink"/>
              </a:buClr>
              <a:buFont typeface="Wingdings" panose="05000000000000000000" pitchFamily="2" charset="2"/>
              <a:buChar char="v"/>
              <a:defRPr sz="2800" b="1">
                <a:solidFill>
                  <a:schemeClr val="tx2"/>
                </a:solidFill>
                <a:latin typeface="Verdana" panose="020B0604030504040204" pitchFamily="34"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eaLnBrk="0" hangingPunct="0">
              <a:spcBef>
                <a:spcPct val="20000"/>
              </a:spcBef>
              <a:buClr>
                <a:schemeClr val="tx1"/>
              </a:buClr>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zh-CN" altLang="en-US" sz="1800">
                <a:solidFill>
                  <a:schemeClr val="tx1"/>
                </a:solidFill>
                <a:latin typeface="Arial" panose="020B0604020202020204" pitchFamily="34" charset="0"/>
                <a:ea typeface="宋体" panose="02010600030101010101" pitchFamily="2" charset="-122"/>
              </a:rPr>
              <a:t>串行数据输入</a:t>
            </a:r>
          </a:p>
        </p:txBody>
      </p:sp>
      <p:sp>
        <p:nvSpPr>
          <p:cNvPr id="54" name="TextBox 7194"/>
          <p:cNvSpPr txBox="1">
            <a:spLocks noChangeArrowheads="1"/>
          </p:cNvSpPr>
          <p:nvPr/>
        </p:nvSpPr>
        <p:spPr bwMode="auto">
          <a:xfrm>
            <a:off x="7532779" y="4481830"/>
            <a:ext cx="15684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hlink"/>
              </a:buClr>
              <a:buFont typeface="Wingdings" panose="05000000000000000000" pitchFamily="2" charset="2"/>
              <a:buChar char="v"/>
              <a:defRPr sz="2800" b="1">
                <a:solidFill>
                  <a:schemeClr val="tx2"/>
                </a:solidFill>
                <a:latin typeface="Verdana" panose="020B0604030504040204" pitchFamily="34"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eaLnBrk="0" hangingPunct="0">
              <a:spcBef>
                <a:spcPct val="20000"/>
              </a:spcBef>
              <a:buClr>
                <a:schemeClr val="tx1"/>
              </a:buClr>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zh-CN" altLang="en-US" sz="1800">
                <a:solidFill>
                  <a:schemeClr val="tx1"/>
                </a:solidFill>
                <a:latin typeface="Arial" panose="020B0604020202020204" pitchFamily="34" charset="0"/>
                <a:ea typeface="宋体" panose="02010600030101010101" pitchFamily="2" charset="-122"/>
              </a:rPr>
              <a:t>串行数据输出</a:t>
            </a:r>
          </a:p>
        </p:txBody>
      </p:sp>
      <p:sp>
        <p:nvSpPr>
          <p:cNvPr id="55" name="矩形 54"/>
          <p:cNvSpPr/>
          <p:nvPr/>
        </p:nvSpPr>
        <p:spPr>
          <a:xfrm>
            <a:off x="9371104" y="2357755"/>
            <a:ext cx="554037" cy="12239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a:solidFill>
                  <a:srgbClr val="FFFFFF"/>
                </a:solidFill>
                <a:ea typeface="宋体" pitchFamily="2" charset="-122"/>
              </a:rPr>
              <a:t>外部设备</a:t>
            </a:r>
          </a:p>
        </p:txBody>
      </p:sp>
      <p:sp>
        <p:nvSpPr>
          <p:cNvPr id="56" name="矩形 55"/>
          <p:cNvSpPr/>
          <p:nvPr/>
        </p:nvSpPr>
        <p:spPr>
          <a:xfrm>
            <a:off x="9371104" y="4338955"/>
            <a:ext cx="554037" cy="12239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a:solidFill>
                  <a:srgbClr val="FFFFFF"/>
                </a:solidFill>
                <a:ea typeface="宋体" pitchFamily="2" charset="-122"/>
              </a:rPr>
              <a:t>外部设备</a:t>
            </a:r>
          </a:p>
        </p:txBody>
      </p:sp>
      <p:sp>
        <p:nvSpPr>
          <p:cNvPr id="57" name="TextBox 7196"/>
          <p:cNvSpPr txBox="1">
            <a:spLocks noChangeArrowheads="1"/>
          </p:cNvSpPr>
          <p:nvPr/>
        </p:nvSpPr>
        <p:spPr bwMode="auto">
          <a:xfrm>
            <a:off x="4635591" y="2824480"/>
            <a:ext cx="493713"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eaLnBrk="0" hangingPunct="0">
              <a:spcBef>
                <a:spcPct val="20000"/>
              </a:spcBef>
              <a:buClr>
                <a:schemeClr val="hlink"/>
              </a:buClr>
              <a:buFont typeface="Wingdings" panose="05000000000000000000" pitchFamily="2" charset="2"/>
              <a:buChar char="v"/>
              <a:defRPr sz="2800" b="1">
                <a:solidFill>
                  <a:schemeClr val="tx2"/>
                </a:solidFill>
                <a:latin typeface="Verdana" panose="020B0604030504040204" pitchFamily="34"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eaLnBrk="0" hangingPunct="0">
              <a:spcBef>
                <a:spcPct val="20000"/>
              </a:spcBef>
              <a:buClr>
                <a:schemeClr val="tx1"/>
              </a:buClr>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2000" b="0">
                <a:solidFill>
                  <a:schemeClr val="tx1"/>
                </a:solidFill>
                <a:latin typeface="Arial" panose="020B0604020202020204" pitchFamily="34" charset="0"/>
                <a:ea typeface="宋体" panose="02010600030101010101" pitchFamily="2" charset="-122"/>
              </a:rPr>
              <a:t>…</a:t>
            </a:r>
            <a:endParaRPr lang="zh-CN" altLang="en-US" sz="2000" b="0">
              <a:solidFill>
                <a:schemeClr val="tx1"/>
              </a:solidFill>
              <a:latin typeface="Arial" panose="020B0604020202020204" pitchFamily="34" charset="0"/>
              <a:ea typeface="宋体" panose="02010600030101010101" pitchFamily="2" charset="-122"/>
            </a:endParaRPr>
          </a:p>
        </p:txBody>
      </p:sp>
      <p:sp>
        <p:nvSpPr>
          <p:cNvPr id="58" name="TextBox 100"/>
          <p:cNvSpPr txBox="1">
            <a:spLocks noChangeArrowheads="1"/>
          </p:cNvSpPr>
          <p:nvPr/>
        </p:nvSpPr>
        <p:spPr bwMode="auto">
          <a:xfrm>
            <a:off x="4599079" y="4851718"/>
            <a:ext cx="492125"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eaLnBrk="0" hangingPunct="0">
              <a:spcBef>
                <a:spcPct val="20000"/>
              </a:spcBef>
              <a:buClr>
                <a:schemeClr val="hlink"/>
              </a:buClr>
              <a:buFont typeface="Wingdings" panose="05000000000000000000" pitchFamily="2" charset="2"/>
              <a:buChar char="v"/>
              <a:defRPr sz="2800" b="1">
                <a:solidFill>
                  <a:schemeClr val="tx2"/>
                </a:solidFill>
                <a:latin typeface="Verdana" panose="020B0604030504040204" pitchFamily="34"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eaLnBrk="0" hangingPunct="0">
              <a:spcBef>
                <a:spcPct val="20000"/>
              </a:spcBef>
              <a:buClr>
                <a:schemeClr val="tx1"/>
              </a:buClr>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2000" b="0">
                <a:solidFill>
                  <a:schemeClr val="tx1"/>
                </a:solidFill>
                <a:latin typeface="Arial" panose="020B0604020202020204" pitchFamily="34" charset="0"/>
                <a:ea typeface="宋体" panose="02010600030101010101" pitchFamily="2" charset="-122"/>
              </a:rPr>
              <a:t>…</a:t>
            </a:r>
            <a:endParaRPr lang="zh-CN" altLang="en-US" sz="2000" b="0">
              <a:solidFill>
                <a:schemeClr val="tx1"/>
              </a:solidFill>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818845256"/>
      </p:ext>
    </p:extLst>
  </p:cSld>
  <p:clrMapOvr>
    <a:masterClrMapping/>
  </p:clrMapOvr>
  <p:transition spd="slow"/>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60985" y="336550"/>
            <a:ext cx="11669395" cy="2009775"/>
          </a:xfrm>
          <a:prstGeom prst="rect">
            <a:avLst/>
          </a:prstGeom>
          <a:noFill/>
        </p:spPr>
        <p:txBody>
          <a:bodyPr wrap="square" rtlCol="0">
            <a:spAutoFit/>
          </a:bodyPr>
          <a:lstStyle/>
          <a:p>
            <a:pPr>
              <a:lnSpc>
                <a:spcPct val="130000"/>
              </a:lnSpc>
            </a:pPr>
            <a:r>
              <a:rPr lang="en-US" altLang="zh-CN" sz="2400" b="1" dirty="0" smtClean="0">
                <a:solidFill>
                  <a:srgbClr val="FF0000"/>
                </a:solidFill>
                <a:latin typeface="Times New Roman" panose="02020603050405020304" pitchFamily="18" charset="0"/>
                <a:ea typeface="宋体" panose="02010600030101010101" pitchFamily="2" charset="-122"/>
              </a:rPr>
              <a:t>（4）虚拟串口</a:t>
            </a:r>
          </a:p>
          <a:p>
            <a:pPr algn="l">
              <a:lnSpc>
                <a:spcPct val="130000"/>
              </a:lnSpc>
              <a:buClrTx/>
              <a:buSzTx/>
              <a:buFontTx/>
            </a:pPr>
            <a:r>
              <a:rPr lang="en-US" altLang="zh-CN" sz="2400" b="1" dirty="0" smtClean="0">
                <a:latin typeface="Times New Roman" panose="02020603050405020304" pitchFamily="18" charset="0"/>
                <a:ea typeface="宋体" panose="02010600030101010101" pitchFamily="2" charset="-122"/>
              </a:rPr>
              <a:t>    如果想让计算机与Proteus仿真电路中的单片机实现串口通信，那必须借助于第三方虚拟串口软件，常用来自Eltima Software公司的产品VSPD</a:t>
            </a:r>
            <a:r>
              <a:rPr lang="en-US" altLang="zh-CN" sz="2000" b="1" i="1" dirty="0" smtClean="0">
                <a:solidFill>
                  <a:srgbClr val="00B050"/>
                </a:solidFill>
                <a:latin typeface="Times New Roman" panose="02020603050405020304" pitchFamily="18" charset="0"/>
                <a:ea typeface="宋体" panose="02010600030101010101" pitchFamily="2" charset="-122"/>
              </a:rPr>
              <a:t>（Visual Serial Port Driver）</a:t>
            </a:r>
            <a:r>
              <a:rPr lang="en-US" altLang="zh-CN" sz="2400" b="1" dirty="0" smtClean="0">
                <a:latin typeface="Times New Roman" panose="02020603050405020304" pitchFamily="18" charset="0"/>
                <a:ea typeface="宋体" panose="02010600030101010101" pitchFamily="2" charset="-122"/>
              </a:rPr>
              <a:t>。</a:t>
            </a:r>
          </a:p>
          <a:p>
            <a:pPr algn="l">
              <a:lnSpc>
                <a:spcPct val="130000"/>
              </a:lnSpc>
              <a:buClrTx/>
              <a:buSzTx/>
              <a:buFontTx/>
            </a:pPr>
            <a:endParaRPr lang="en-US" altLang="zh-CN" sz="2400" b="1" dirty="0" smtClean="0">
              <a:latin typeface="Times New Roman" panose="02020603050405020304" pitchFamily="18" charset="0"/>
              <a:ea typeface="宋体" panose="02010600030101010101" pitchFamily="2" charset="-122"/>
            </a:endParaRPr>
          </a:p>
        </p:txBody>
      </p:sp>
      <p:pic>
        <p:nvPicPr>
          <p:cNvPr id="1026" name="Picture 2" descr="E:\教学\课程改革\单片机2019\pic\蝴蝶GIF.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72092" y="5857875"/>
            <a:ext cx="916598" cy="916598"/>
          </a:xfrm>
          <a:prstGeom prst="rect">
            <a:avLst/>
          </a:prstGeom>
          <a:noFill/>
          <a:extLst>
            <a:ext uri="{909E8E84-426E-40DD-AFC4-6F175D3DCCD1}">
              <a14:hiddenFill xmlns:a14="http://schemas.microsoft.com/office/drawing/2010/main">
                <a:solidFill>
                  <a:srgbClr val="FFFFFF"/>
                </a:solidFill>
              </a14:hiddenFill>
            </a:ext>
          </a:extLst>
        </p:spPr>
      </p:pic>
      <p:pic>
        <p:nvPicPr>
          <p:cNvPr id="105" name="图片 22"/>
          <p:cNvPicPr>
            <a:picLocks noChangeAspect="1"/>
          </p:cNvPicPr>
          <p:nvPr/>
        </p:nvPicPr>
        <p:blipFill>
          <a:blip r:embed="rId4"/>
          <a:stretch>
            <a:fillRect/>
          </a:stretch>
        </p:blipFill>
        <p:spPr>
          <a:xfrm>
            <a:off x="561340" y="2036445"/>
            <a:ext cx="6203950" cy="4259580"/>
          </a:xfrm>
          <a:prstGeom prst="rect">
            <a:avLst/>
          </a:prstGeom>
          <a:noFill/>
          <a:ln>
            <a:noFill/>
          </a:ln>
        </p:spPr>
      </p:pic>
      <p:pic>
        <p:nvPicPr>
          <p:cNvPr id="107" name="图片 23"/>
          <p:cNvPicPr>
            <a:picLocks noChangeAspect="1"/>
          </p:cNvPicPr>
          <p:nvPr/>
        </p:nvPicPr>
        <p:blipFill>
          <a:blip r:embed="rId5"/>
          <a:stretch>
            <a:fillRect/>
          </a:stretch>
        </p:blipFill>
        <p:spPr>
          <a:xfrm>
            <a:off x="6948805" y="2300605"/>
            <a:ext cx="4469130" cy="2313940"/>
          </a:xfrm>
          <a:prstGeom prst="rect">
            <a:avLst/>
          </a:prstGeom>
          <a:noFill/>
          <a:ln>
            <a:noFill/>
          </a:ln>
        </p:spPr>
      </p:pic>
    </p:spTree>
  </p:cSld>
  <p:clrMapOvr>
    <a:masterClrMapping/>
  </p:clrMapOvr>
  <p:transition spd="slow"/>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60985" y="336550"/>
            <a:ext cx="4329430" cy="4008120"/>
          </a:xfrm>
          <a:prstGeom prst="rect">
            <a:avLst/>
          </a:prstGeom>
          <a:noFill/>
        </p:spPr>
        <p:txBody>
          <a:bodyPr wrap="square" rtlCol="0">
            <a:spAutoFit/>
          </a:bodyPr>
          <a:lstStyle/>
          <a:p>
            <a:pPr>
              <a:lnSpc>
                <a:spcPct val="130000"/>
              </a:lnSpc>
            </a:pPr>
            <a:r>
              <a:rPr lang="en-US" altLang="zh-CN" sz="2800" b="1" dirty="0">
                <a:solidFill>
                  <a:srgbClr val="0000FF"/>
                </a:solidFill>
                <a:latin typeface="Times New Roman" panose="02020603050405020304" pitchFamily="18" charset="0"/>
                <a:ea typeface="黑体" panose="02010609060101010101" charset="-122"/>
              </a:rPr>
              <a:t>7</a:t>
            </a:r>
            <a:r>
              <a:rPr lang="zh-CN" altLang="en-US" sz="2800" b="1" dirty="0" smtClean="0">
                <a:solidFill>
                  <a:srgbClr val="0000FF"/>
                </a:solidFill>
                <a:latin typeface="Times New Roman" panose="02020603050405020304" pitchFamily="18" charset="0"/>
                <a:ea typeface="黑体" panose="02010609060101010101" charset="-122"/>
              </a:rPr>
              <a:t>.3  任务程序的编写</a:t>
            </a:r>
          </a:p>
          <a:p>
            <a:pPr>
              <a:lnSpc>
                <a:spcPct val="130000"/>
              </a:lnSpc>
            </a:pPr>
            <a:r>
              <a:rPr lang="en-US" altLang="zh-CN" sz="2400" b="1" dirty="0" smtClean="0">
                <a:latin typeface="Times New Roman" panose="02020603050405020304" pitchFamily="18" charset="0"/>
                <a:ea typeface="宋体" panose="02010600030101010101" pitchFamily="2" charset="-122"/>
              </a:rPr>
              <a:t>    设定串口USART1为</a:t>
            </a:r>
            <a:r>
              <a:rPr lang="en-US" altLang="zh-CN" sz="2400" b="1" dirty="0" smtClean="0">
                <a:solidFill>
                  <a:srgbClr val="7030A0"/>
                </a:solidFill>
                <a:latin typeface="Times New Roman" panose="02020603050405020304" pitchFamily="18" charset="0"/>
                <a:ea typeface="宋体" panose="02010600030101010101" pitchFamily="2" charset="-122"/>
              </a:rPr>
              <a:t>“Asynchronous”</a:t>
            </a:r>
            <a:r>
              <a:rPr lang="en-US" altLang="zh-CN" sz="2400" b="1" dirty="0" smtClean="0">
                <a:latin typeface="Times New Roman" panose="02020603050405020304" pitchFamily="18" charset="0"/>
                <a:ea typeface="宋体" panose="02010600030101010101" pitchFamily="2" charset="-122"/>
              </a:rPr>
              <a:t>（异步）通信模式，通信基本参数设定波特率</a:t>
            </a:r>
            <a:r>
              <a:rPr lang="en-US" altLang="zh-CN" sz="2400" b="1" dirty="0" smtClean="0">
                <a:solidFill>
                  <a:srgbClr val="7030A0"/>
                </a:solidFill>
                <a:latin typeface="Times New Roman" panose="02020603050405020304" pitchFamily="18" charset="0"/>
                <a:ea typeface="宋体" panose="02010600030101010101" pitchFamily="2" charset="-122"/>
              </a:rPr>
              <a:t>19200bps、8bits字长、无校验、1位停止位</a:t>
            </a:r>
            <a:r>
              <a:rPr lang="en-US" altLang="zh-CN" sz="2400" b="1" dirty="0" smtClean="0">
                <a:latin typeface="Times New Roman" panose="02020603050405020304" pitchFamily="18" charset="0"/>
                <a:ea typeface="宋体" panose="02010600030101010101" pitchFamily="2" charset="-122"/>
              </a:rPr>
              <a:t>，通信高级参数设定为</a:t>
            </a:r>
            <a:r>
              <a:rPr lang="en-US" altLang="zh-CN" sz="2400" b="1" dirty="0" smtClean="0">
                <a:solidFill>
                  <a:srgbClr val="7030A0"/>
                </a:solidFill>
                <a:latin typeface="Times New Roman" panose="02020603050405020304" pitchFamily="18" charset="0"/>
                <a:ea typeface="宋体" panose="02010600030101010101" pitchFamily="2" charset="-122"/>
              </a:rPr>
              <a:t>“Receive and Transmit”</a:t>
            </a:r>
            <a:r>
              <a:rPr lang="en-US" altLang="zh-CN" sz="2400" b="1" dirty="0" smtClean="0">
                <a:latin typeface="Times New Roman" panose="02020603050405020304" pitchFamily="18" charset="0"/>
                <a:ea typeface="宋体" panose="02010600030101010101" pitchFamily="2" charset="-122"/>
              </a:rPr>
              <a:t>（接收与发送）模式。</a:t>
            </a:r>
          </a:p>
        </p:txBody>
      </p:sp>
      <p:pic>
        <p:nvPicPr>
          <p:cNvPr id="1026" name="Picture 2" descr="E:\教学\课程改革\单片机2019\pic\蝴蝶GIF.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72092" y="5857875"/>
            <a:ext cx="916598" cy="916598"/>
          </a:xfrm>
          <a:prstGeom prst="rect">
            <a:avLst/>
          </a:prstGeom>
          <a:noFill/>
          <a:extLst>
            <a:ext uri="{909E8E84-426E-40DD-AFC4-6F175D3DCCD1}">
              <a14:hiddenFill xmlns:a14="http://schemas.microsoft.com/office/drawing/2010/main">
                <a:solidFill>
                  <a:srgbClr val="FFFFFF"/>
                </a:solidFill>
              </a14:hiddenFill>
            </a:ext>
          </a:extLst>
        </p:spPr>
      </p:pic>
      <p:pic>
        <p:nvPicPr>
          <p:cNvPr id="109" name="图片 109" descr="串口设置"/>
          <p:cNvPicPr>
            <a:picLocks noChangeAspect="1"/>
          </p:cNvPicPr>
          <p:nvPr/>
        </p:nvPicPr>
        <p:blipFill>
          <a:blip r:embed="rId4"/>
          <a:stretch>
            <a:fillRect/>
          </a:stretch>
        </p:blipFill>
        <p:spPr>
          <a:xfrm>
            <a:off x="4590415" y="540385"/>
            <a:ext cx="7348855" cy="5185410"/>
          </a:xfrm>
          <a:prstGeom prst="rect">
            <a:avLst/>
          </a:prstGeom>
          <a:ln>
            <a:solidFill>
              <a:schemeClr val="tx1"/>
            </a:solidFill>
          </a:ln>
        </p:spPr>
      </p:pic>
    </p:spTree>
  </p:cSld>
  <p:clrMapOvr>
    <a:masterClrMapping/>
  </p:clrMapOvr>
  <p:transition spd="slow"/>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60985" y="336550"/>
            <a:ext cx="11669395" cy="5367020"/>
          </a:xfrm>
          <a:prstGeom prst="rect">
            <a:avLst/>
          </a:prstGeom>
          <a:noFill/>
        </p:spPr>
        <p:txBody>
          <a:bodyPr wrap="square" rtlCol="0">
            <a:spAutoFit/>
          </a:bodyPr>
          <a:lstStyle/>
          <a:p>
            <a:pPr>
              <a:lnSpc>
                <a:spcPct val="130000"/>
              </a:lnSpc>
            </a:pPr>
            <a:r>
              <a:rPr lang="en-US" altLang="zh-CN" sz="2400" b="1" dirty="0" smtClean="0">
                <a:latin typeface="Times New Roman" panose="02020603050405020304" pitchFamily="18" charset="0"/>
                <a:ea typeface="宋体" panose="02010600030101010101" pitchFamily="2" charset="-122"/>
              </a:rPr>
              <a:t>    然后在</a:t>
            </a:r>
            <a:r>
              <a:rPr lang="en-US" altLang="zh-CN" sz="2400" b="1" dirty="0" smtClean="0">
                <a:solidFill>
                  <a:srgbClr val="7030A0"/>
                </a:solidFill>
                <a:latin typeface="Times New Roman" panose="02020603050405020304" pitchFamily="18" charset="0"/>
                <a:ea typeface="宋体" panose="02010600030101010101" pitchFamily="2" charset="-122"/>
              </a:rPr>
              <a:t>“NVIC Configuration”</a:t>
            </a:r>
            <a:r>
              <a:rPr lang="en-US" altLang="zh-CN" sz="2400" b="1" i="1" dirty="0" smtClean="0">
                <a:solidFill>
                  <a:srgbClr val="00B050"/>
                </a:solidFill>
                <a:latin typeface="Times New Roman" panose="02020603050405020304" pitchFamily="18" charset="0"/>
                <a:ea typeface="宋体" panose="02010600030101010101" pitchFamily="2" charset="-122"/>
              </a:rPr>
              <a:t>（NVIC配置）</a:t>
            </a:r>
            <a:r>
              <a:rPr lang="en-US" altLang="zh-CN" sz="2400" b="1" dirty="0" smtClean="0">
                <a:latin typeface="Times New Roman" panose="02020603050405020304" pitchFamily="18" charset="0"/>
                <a:ea typeface="宋体" panose="02010600030101010101" pitchFamily="2" charset="-122"/>
              </a:rPr>
              <a:t>页中，将</a:t>
            </a:r>
            <a:r>
              <a:rPr lang="en-US" altLang="zh-CN" sz="2400" b="1" dirty="0" smtClean="0">
                <a:solidFill>
                  <a:srgbClr val="7030A0"/>
                </a:solidFill>
                <a:latin typeface="Times New Roman" panose="02020603050405020304" pitchFamily="18" charset="0"/>
                <a:ea typeface="宋体" panose="02010600030101010101" pitchFamily="2" charset="-122"/>
              </a:rPr>
              <a:t>“USART1 global interrupt”</a:t>
            </a:r>
            <a:r>
              <a:rPr lang="en-US" altLang="zh-CN" sz="2400" b="1" i="1" dirty="0" smtClean="0">
                <a:solidFill>
                  <a:srgbClr val="00B050"/>
                </a:solidFill>
                <a:latin typeface="Times New Roman" panose="02020603050405020304" pitchFamily="18" charset="0"/>
                <a:ea typeface="宋体" panose="02010600030101010101" pitchFamily="2" charset="-122"/>
              </a:rPr>
              <a:t>（USART1全局中断）</a:t>
            </a:r>
            <a:r>
              <a:rPr lang="en-US" altLang="zh-CN" sz="2400" b="1" dirty="0" smtClean="0">
                <a:latin typeface="Times New Roman" panose="02020603050405020304" pitchFamily="18" charset="0"/>
                <a:ea typeface="宋体" panose="02010600030101010101" pitchFamily="2" charset="-122"/>
              </a:rPr>
              <a:t>打勾，使能串口1的中断功能。</a:t>
            </a:r>
          </a:p>
          <a:p>
            <a:pPr>
              <a:lnSpc>
                <a:spcPct val="130000"/>
              </a:lnSpc>
            </a:pPr>
            <a:endParaRPr lang="en-US" altLang="zh-CN" sz="2400" b="1" dirty="0" smtClean="0">
              <a:latin typeface="Times New Roman" panose="02020603050405020304" pitchFamily="18" charset="0"/>
              <a:ea typeface="宋体" panose="02010600030101010101" pitchFamily="2" charset="-122"/>
            </a:endParaRPr>
          </a:p>
          <a:p>
            <a:pPr algn="l">
              <a:lnSpc>
                <a:spcPct val="130000"/>
              </a:lnSpc>
              <a:buClrTx/>
              <a:buSzTx/>
              <a:buFontTx/>
            </a:pPr>
            <a:r>
              <a:rPr lang="en-US" altLang="zh-CN" sz="2400" b="1" dirty="0" smtClean="0">
                <a:latin typeface="Times New Roman" panose="02020603050405020304" pitchFamily="18" charset="0"/>
                <a:ea typeface="宋体" panose="02010600030101010101" pitchFamily="2" charset="-122"/>
              </a:rPr>
              <a:t>    本次任务需要用到的新的API函数有：</a:t>
            </a:r>
            <a:endParaRPr lang="en-US" altLang="zh-CN" sz="2400" b="1" dirty="0" smtClean="0">
              <a:solidFill>
                <a:srgbClr val="7030A0"/>
              </a:solidFill>
              <a:latin typeface="Times New Roman" panose="02020603050405020304" pitchFamily="18" charset="0"/>
              <a:ea typeface="宋体" panose="02010600030101010101" pitchFamily="2" charset="-122"/>
            </a:endParaRPr>
          </a:p>
          <a:p>
            <a:pPr algn="l">
              <a:lnSpc>
                <a:spcPct val="130000"/>
              </a:lnSpc>
              <a:buClrTx/>
              <a:buSzTx/>
              <a:buFontTx/>
            </a:pPr>
            <a:r>
              <a:rPr lang="en-US" altLang="zh-CN" sz="2400" b="1" dirty="0" smtClean="0">
                <a:solidFill>
                  <a:srgbClr val="7030A0"/>
                </a:solidFill>
                <a:latin typeface="Times New Roman" panose="02020603050405020304" pitchFamily="18" charset="0"/>
                <a:ea typeface="宋体" panose="02010600030101010101" pitchFamily="2" charset="-122"/>
              </a:rPr>
              <a:t>    ① 串口接收</a:t>
            </a:r>
            <a:r>
              <a:rPr lang="en-US" altLang="zh-CN" sz="2400" b="1" dirty="0" smtClean="0">
                <a:solidFill>
                  <a:srgbClr val="7030A0"/>
                </a:solidFill>
                <a:latin typeface="Times New Roman" panose="02020603050405020304" pitchFamily="18" charset="0"/>
                <a:ea typeface="宋体" panose="02010600030101010101" pitchFamily="2" charset="-122"/>
                <a:sym typeface="+mn-ea"/>
              </a:rPr>
              <a:t>函数（带中断） </a:t>
            </a:r>
            <a:r>
              <a:rPr lang="en-US" altLang="zh-CN" sz="2400" b="1" dirty="0" smtClean="0">
                <a:solidFill>
                  <a:srgbClr val="7030A0"/>
                </a:solidFill>
                <a:latin typeface="Times New Roman" panose="02020603050405020304" pitchFamily="18" charset="0"/>
                <a:ea typeface="宋体" panose="02010600030101010101" pitchFamily="2" charset="-122"/>
              </a:rPr>
              <a:t>HAL_UART_Receive_IT</a:t>
            </a:r>
          </a:p>
          <a:p>
            <a:pPr algn="l">
              <a:lnSpc>
                <a:spcPct val="130000"/>
              </a:lnSpc>
              <a:buClrTx/>
              <a:buSzTx/>
              <a:buFontTx/>
            </a:pPr>
            <a:endParaRPr lang="en-US" altLang="zh-CN" sz="2400" b="1" dirty="0" smtClean="0">
              <a:solidFill>
                <a:srgbClr val="7030A0"/>
              </a:solidFill>
              <a:latin typeface="Times New Roman" panose="02020603050405020304" pitchFamily="18" charset="0"/>
              <a:ea typeface="宋体" panose="02010600030101010101" pitchFamily="2" charset="-122"/>
            </a:endParaRPr>
          </a:p>
          <a:p>
            <a:pPr algn="l">
              <a:lnSpc>
                <a:spcPct val="130000"/>
              </a:lnSpc>
              <a:buClrTx/>
              <a:buSzTx/>
              <a:buFontTx/>
            </a:pPr>
            <a:endParaRPr lang="en-US" altLang="zh-CN" sz="2400" b="1" dirty="0" smtClean="0">
              <a:solidFill>
                <a:srgbClr val="7030A0"/>
              </a:solidFill>
              <a:latin typeface="Times New Roman" panose="02020603050405020304" pitchFamily="18" charset="0"/>
              <a:ea typeface="宋体" panose="02010600030101010101" pitchFamily="2" charset="-122"/>
            </a:endParaRPr>
          </a:p>
          <a:p>
            <a:pPr algn="l">
              <a:lnSpc>
                <a:spcPct val="130000"/>
              </a:lnSpc>
              <a:buClrTx/>
              <a:buSzTx/>
              <a:buFontTx/>
            </a:pPr>
            <a:endParaRPr lang="en-US" altLang="zh-CN" sz="2400" b="1" dirty="0" smtClean="0">
              <a:solidFill>
                <a:srgbClr val="7030A0"/>
              </a:solidFill>
              <a:latin typeface="Times New Roman" panose="02020603050405020304" pitchFamily="18" charset="0"/>
              <a:ea typeface="宋体" panose="02010600030101010101" pitchFamily="2" charset="-122"/>
            </a:endParaRPr>
          </a:p>
          <a:p>
            <a:pPr algn="l">
              <a:lnSpc>
                <a:spcPct val="130000"/>
              </a:lnSpc>
              <a:buClrTx/>
              <a:buSzTx/>
              <a:buFontTx/>
            </a:pPr>
            <a:endParaRPr lang="en-US" altLang="zh-CN" sz="2400" b="1" dirty="0" smtClean="0">
              <a:solidFill>
                <a:srgbClr val="7030A0"/>
              </a:solidFill>
              <a:latin typeface="Times New Roman" panose="02020603050405020304" pitchFamily="18" charset="0"/>
              <a:ea typeface="宋体" panose="02010600030101010101" pitchFamily="2" charset="-122"/>
            </a:endParaRPr>
          </a:p>
          <a:p>
            <a:pPr algn="l">
              <a:lnSpc>
                <a:spcPct val="130000"/>
              </a:lnSpc>
              <a:buClrTx/>
              <a:buSzTx/>
              <a:buFontTx/>
            </a:pPr>
            <a:endParaRPr lang="en-US" altLang="zh-CN" sz="2400" b="1" dirty="0" smtClean="0">
              <a:solidFill>
                <a:srgbClr val="7030A0"/>
              </a:solidFill>
              <a:latin typeface="Times New Roman" panose="02020603050405020304" pitchFamily="18" charset="0"/>
              <a:ea typeface="宋体" panose="02010600030101010101" pitchFamily="2" charset="-122"/>
            </a:endParaRPr>
          </a:p>
          <a:p>
            <a:pPr>
              <a:lnSpc>
                <a:spcPct val="130000"/>
              </a:lnSpc>
            </a:pPr>
            <a:r>
              <a:rPr lang="zh-CN" altLang="en-US" sz="2400" b="1" dirty="0" smtClean="0">
                <a:solidFill>
                  <a:srgbClr val="C00000"/>
                </a:solidFill>
                <a:latin typeface="Times New Roman" panose="02020603050405020304" pitchFamily="18" charset="0"/>
                <a:ea typeface="宋体" panose="02010600030101010101" pitchFamily="2" charset="-122"/>
              </a:rPr>
              <a:t>    例程：</a:t>
            </a:r>
            <a:endParaRPr lang="zh-CN" altLang="en-US" sz="2400" b="1" dirty="0" smtClean="0">
              <a:latin typeface="Times New Roman" panose="02020603050405020304" pitchFamily="18" charset="0"/>
              <a:ea typeface="宋体" panose="02010600030101010101" pitchFamily="2" charset="-122"/>
            </a:endParaRPr>
          </a:p>
        </p:txBody>
      </p:sp>
      <p:pic>
        <p:nvPicPr>
          <p:cNvPr id="1026" name="Picture 2" descr="E:\教学\课程改革\单片机2019\pic\蝴蝶GIF.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72092" y="5857875"/>
            <a:ext cx="916598" cy="916598"/>
          </a:xfrm>
          <a:prstGeom prst="rect">
            <a:avLst/>
          </a:prstGeom>
          <a:noFill/>
          <a:extLst>
            <a:ext uri="{909E8E84-426E-40DD-AFC4-6F175D3DCCD1}">
              <a14:hiddenFill xmlns:a14="http://schemas.microsoft.com/office/drawing/2010/main">
                <a:solidFill>
                  <a:srgbClr val="FFFFFF"/>
                </a:solidFill>
              </a14:hiddenFill>
            </a:ext>
          </a:extLst>
        </p:spPr>
      </p:pic>
      <p:pic>
        <p:nvPicPr>
          <p:cNvPr id="110" name="图片 110" descr="串口中断打开"/>
          <p:cNvPicPr>
            <a:picLocks noChangeAspect="1"/>
          </p:cNvPicPr>
          <p:nvPr/>
        </p:nvPicPr>
        <p:blipFill>
          <a:blip r:embed="rId4"/>
          <a:stretch>
            <a:fillRect/>
          </a:stretch>
        </p:blipFill>
        <p:spPr>
          <a:xfrm>
            <a:off x="7110730" y="868045"/>
            <a:ext cx="4819650" cy="1428115"/>
          </a:xfrm>
          <a:prstGeom prst="rect">
            <a:avLst/>
          </a:prstGeom>
          <a:ln>
            <a:solidFill>
              <a:schemeClr val="tx1"/>
            </a:solidFill>
          </a:ln>
        </p:spPr>
      </p:pic>
      <p:pic>
        <p:nvPicPr>
          <p:cNvPr id="3" name="图片 2"/>
          <p:cNvPicPr>
            <a:picLocks noChangeAspect="1"/>
          </p:cNvPicPr>
          <p:nvPr/>
        </p:nvPicPr>
        <p:blipFill>
          <a:blip r:embed="rId5"/>
          <a:stretch>
            <a:fillRect/>
          </a:stretch>
        </p:blipFill>
        <p:spPr>
          <a:xfrm>
            <a:off x="260985" y="2806065"/>
            <a:ext cx="7680960" cy="2430780"/>
          </a:xfrm>
          <a:prstGeom prst="rect">
            <a:avLst/>
          </a:prstGeom>
        </p:spPr>
      </p:pic>
      <p:sp>
        <p:nvSpPr>
          <p:cNvPr id="6" name="文本框 5"/>
          <p:cNvSpPr txBox="1"/>
          <p:nvPr/>
        </p:nvSpPr>
        <p:spPr>
          <a:xfrm>
            <a:off x="260985" y="5622290"/>
            <a:ext cx="9454515" cy="891540"/>
          </a:xfrm>
          <a:prstGeom prst="rect">
            <a:avLst/>
          </a:prstGeom>
          <a:solidFill>
            <a:schemeClr val="accent3">
              <a:lumMod val="20000"/>
              <a:lumOff val="80000"/>
            </a:schemeClr>
          </a:solidFill>
          <a:ln w="28575" cmpd="sng">
            <a:solidFill>
              <a:schemeClr val="accent1">
                <a:shade val="50000"/>
              </a:schemeClr>
            </a:solidFill>
            <a:prstDash val="solid"/>
          </a:ln>
        </p:spPr>
        <p:txBody>
          <a:bodyPr wrap="square" rtlCol="0">
            <a:spAutoFit/>
          </a:bodyPr>
          <a:lstStyle/>
          <a:p>
            <a:pPr>
              <a:lnSpc>
                <a:spcPct val="130000"/>
              </a:lnSpc>
            </a:pPr>
            <a:r>
              <a:rPr lang="zh-CN" altLang="en-US" sz="2000" b="1" dirty="0" smtClean="0">
                <a:solidFill>
                  <a:srgbClr val="00B050"/>
                </a:solidFill>
                <a:latin typeface="Times New Roman" panose="02020603050405020304" pitchFamily="18" charset="0"/>
                <a:ea typeface="宋体" panose="02010600030101010101" pitchFamily="2" charset="-122"/>
                <a:sym typeface="+mn-ea"/>
              </a:rPr>
              <a:t>//打开串口1接收中断，接收数据存入dat数组，数组长度为1</a:t>
            </a:r>
            <a:endParaRPr lang="zh-CN" altLang="en-US" sz="2000" b="1" dirty="0" smtClean="0">
              <a:solidFill>
                <a:srgbClr val="00B050"/>
              </a:solidFill>
              <a:latin typeface="Times New Roman" panose="02020603050405020304" pitchFamily="18" charset="0"/>
              <a:ea typeface="宋体" panose="02010600030101010101" pitchFamily="2" charset="-122"/>
            </a:endParaRPr>
          </a:p>
          <a:p>
            <a:pPr>
              <a:lnSpc>
                <a:spcPct val="130000"/>
              </a:lnSpc>
            </a:pPr>
            <a:r>
              <a:rPr lang="en-US" altLang="zh-CN" sz="2000" b="1" dirty="0" smtClean="0">
                <a:latin typeface="Times New Roman" panose="02020603050405020304" pitchFamily="18" charset="0"/>
                <a:ea typeface="宋体" panose="02010600030101010101" pitchFamily="2" charset="-122"/>
                <a:sym typeface="+mn-ea"/>
              </a:rPr>
              <a:t>i</a:t>
            </a:r>
            <a:r>
              <a:rPr lang="zh-CN" altLang="en-US" sz="2000" b="1" dirty="0" smtClean="0">
                <a:latin typeface="Times New Roman" panose="02020603050405020304" pitchFamily="18" charset="0"/>
                <a:ea typeface="宋体" panose="02010600030101010101" pitchFamily="2" charset="-122"/>
                <a:sym typeface="+mn-ea"/>
              </a:rPr>
              <a:t>f( HAL_UART_Receive_IT(&amp;huart1,dat,1) != HAL_OK ) { Error_Handler(); }</a:t>
            </a:r>
            <a:endParaRPr lang="zh-CN" altLang="en-US" sz="2000" b="1" dirty="0" smtClean="0">
              <a:solidFill>
                <a:srgbClr val="00B050"/>
              </a:solidFill>
              <a:latin typeface="Times New Roman" panose="02020603050405020304" pitchFamily="18" charset="0"/>
              <a:ea typeface="宋体" panose="02010600030101010101" pitchFamily="2" charset="-122"/>
              <a:sym typeface="+mn-ea"/>
            </a:endParaRPr>
          </a:p>
        </p:txBody>
      </p:sp>
    </p:spTree>
  </p:cSld>
  <p:clrMapOvr>
    <a:masterClrMapping/>
  </p:clrMapOvr>
  <p:transition spd="slow"/>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60985" y="336550"/>
            <a:ext cx="11669395" cy="3928110"/>
          </a:xfrm>
          <a:prstGeom prst="rect">
            <a:avLst/>
          </a:prstGeom>
          <a:noFill/>
        </p:spPr>
        <p:txBody>
          <a:bodyPr wrap="square" rtlCol="0">
            <a:spAutoFit/>
          </a:bodyPr>
          <a:lstStyle/>
          <a:p>
            <a:pPr>
              <a:lnSpc>
                <a:spcPct val="130000"/>
              </a:lnSpc>
            </a:pPr>
            <a:r>
              <a:rPr lang="en-US" altLang="zh-CN" sz="2400" b="1" dirty="0" smtClean="0">
                <a:solidFill>
                  <a:srgbClr val="7030A0"/>
                </a:solidFill>
                <a:latin typeface="Times New Roman" panose="02020603050405020304" pitchFamily="18" charset="0"/>
                <a:ea typeface="宋体" panose="02010600030101010101" pitchFamily="2" charset="-122"/>
              </a:rPr>
              <a:t>    ② </a:t>
            </a:r>
            <a:r>
              <a:rPr lang="zh-CN" altLang="en-US" sz="2400" b="1" dirty="0" smtClean="0">
                <a:solidFill>
                  <a:srgbClr val="7030A0"/>
                </a:solidFill>
                <a:latin typeface="Times New Roman" panose="02020603050405020304" pitchFamily="18" charset="0"/>
                <a:ea typeface="宋体" panose="02010600030101010101" pitchFamily="2" charset="-122"/>
              </a:rPr>
              <a:t>串口发送函数（不带中断） </a:t>
            </a:r>
            <a:r>
              <a:rPr lang="en-US" altLang="zh-CN" sz="2400" b="1" dirty="0" smtClean="0">
                <a:solidFill>
                  <a:srgbClr val="7030A0"/>
                </a:solidFill>
                <a:latin typeface="Times New Roman" panose="02020603050405020304" pitchFamily="18" charset="0"/>
                <a:ea typeface="宋体" panose="02010600030101010101" pitchFamily="2" charset="-122"/>
              </a:rPr>
              <a:t>HAL_UART_Transmit</a:t>
            </a:r>
          </a:p>
          <a:p>
            <a:pPr>
              <a:lnSpc>
                <a:spcPct val="130000"/>
              </a:lnSpc>
            </a:pPr>
            <a:endParaRPr lang="en-US" altLang="zh-CN" sz="2400" b="1" dirty="0" smtClean="0">
              <a:latin typeface="Times New Roman" panose="02020603050405020304" pitchFamily="18" charset="0"/>
              <a:ea typeface="宋体" panose="02010600030101010101" pitchFamily="2" charset="-122"/>
            </a:endParaRPr>
          </a:p>
          <a:p>
            <a:pPr>
              <a:lnSpc>
                <a:spcPct val="130000"/>
              </a:lnSpc>
            </a:pPr>
            <a:endParaRPr lang="en-US" altLang="zh-CN" sz="2400" b="1" dirty="0" smtClean="0">
              <a:latin typeface="Times New Roman" panose="02020603050405020304" pitchFamily="18" charset="0"/>
              <a:ea typeface="宋体" panose="02010600030101010101" pitchFamily="2" charset="-122"/>
            </a:endParaRPr>
          </a:p>
          <a:p>
            <a:pPr>
              <a:lnSpc>
                <a:spcPct val="130000"/>
              </a:lnSpc>
            </a:pPr>
            <a:endParaRPr lang="en-US" altLang="zh-CN" sz="2400" b="1" dirty="0" smtClean="0">
              <a:latin typeface="Times New Roman" panose="02020603050405020304" pitchFamily="18" charset="0"/>
              <a:ea typeface="宋体" panose="02010600030101010101" pitchFamily="2" charset="-122"/>
            </a:endParaRPr>
          </a:p>
          <a:p>
            <a:pPr>
              <a:lnSpc>
                <a:spcPct val="130000"/>
              </a:lnSpc>
            </a:pPr>
            <a:endParaRPr lang="en-US" altLang="zh-CN" sz="2400" b="1" dirty="0" smtClean="0">
              <a:latin typeface="Times New Roman" panose="02020603050405020304" pitchFamily="18" charset="0"/>
              <a:ea typeface="宋体" panose="02010600030101010101" pitchFamily="2" charset="-122"/>
            </a:endParaRPr>
          </a:p>
          <a:p>
            <a:pPr>
              <a:lnSpc>
                <a:spcPct val="130000"/>
              </a:lnSpc>
            </a:pPr>
            <a:endParaRPr lang="en-US" altLang="zh-CN" sz="2400" b="1" dirty="0" smtClean="0">
              <a:latin typeface="Times New Roman" panose="02020603050405020304" pitchFamily="18" charset="0"/>
              <a:ea typeface="宋体" panose="02010600030101010101" pitchFamily="2" charset="-122"/>
            </a:endParaRPr>
          </a:p>
          <a:p>
            <a:pPr>
              <a:lnSpc>
                <a:spcPct val="130000"/>
              </a:lnSpc>
            </a:pPr>
            <a:r>
              <a:rPr lang="zh-CN" altLang="en-US" sz="2400" b="1" dirty="0" smtClean="0">
                <a:solidFill>
                  <a:srgbClr val="C00000"/>
                </a:solidFill>
                <a:latin typeface="Times New Roman" panose="02020603050405020304" pitchFamily="18" charset="0"/>
                <a:ea typeface="宋体" panose="02010600030101010101" pitchFamily="2" charset="-122"/>
              </a:rPr>
              <a:t>    例如：</a:t>
            </a:r>
            <a:endParaRPr lang="en-US" altLang="zh-CN" sz="2400" b="1" dirty="0" smtClean="0">
              <a:solidFill>
                <a:srgbClr val="C00000"/>
              </a:solidFill>
              <a:latin typeface="Times New Roman" panose="02020603050405020304" pitchFamily="18" charset="0"/>
              <a:ea typeface="宋体" panose="02010600030101010101" pitchFamily="2" charset="-122"/>
            </a:endParaRPr>
          </a:p>
          <a:p>
            <a:pPr>
              <a:lnSpc>
                <a:spcPct val="130000"/>
              </a:lnSpc>
            </a:pPr>
            <a:r>
              <a:rPr lang="zh-CN" altLang="en-US" sz="2400" b="1" dirty="0" smtClean="0">
                <a:solidFill>
                  <a:srgbClr val="C00000"/>
                </a:solidFill>
                <a:latin typeface="Times New Roman" panose="02020603050405020304" pitchFamily="18" charset="0"/>
                <a:ea typeface="宋体" panose="02010600030101010101" pitchFamily="2" charset="-122"/>
              </a:rPr>
              <a:t>    例程：</a:t>
            </a:r>
            <a:endParaRPr lang="en-US" altLang="zh-CN" sz="2400" b="1" dirty="0" smtClean="0">
              <a:latin typeface="Times New Roman" panose="02020603050405020304" pitchFamily="18" charset="0"/>
              <a:ea typeface="宋体" panose="02010600030101010101" pitchFamily="2" charset="-122"/>
            </a:endParaRPr>
          </a:p>
        </p:txBody>
      </p:sp>
      <p:pic>
        <p:nvPicPr>
          <p:cNvPr id="1026" name="Picture 2" descr="E:\教学\课程改革\单片机2019\pic\蝴蝶GIF.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72092" y="5857875"/>
            <a:ext cx="916598" cy="916598"/>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p:cNvPicPr>
            <a:picLocks noChangeAspect="1"/>
          </p:cNvPicPr>
          <p:nvPr/>
        </p:nvPicPr>
        <p:blipFill>
          <a:blip r:embed="rId4"/>
          <a:stretch>
            <a:fillRect/>
          </a:stretch>
        </p:blipFill>
        <p:spPr>
          <a:xfrm>
            <a:off x="260985" y="862330"/>
            <a:ext cx="7726680" cy="2910840"/>
          </a:xfrm>
          <a:prstGeom prst="rect">
            <a:avLst/>
          </a:prstGeom>
        </p:spPr>
      </p:pic>
      <p:sp>
        <p:nvSpPr>
          <p:cNvPr id="6" name="文本框 5"/>
          <p:cNvSpPr txBox="1"/>
          <p:nvPr/>
        </p:nvSpPr>
        <p:spPr>
          <a:xfrm>
            <a:off x="260985" y="4331335"/>
            <a:ext cx="9506585" cy="891540"/>
          </a:xfrm>
          <a:prstGeom prst="rect">
            <a:avLst/>
          </a:prstGeom>
          <a:solidFill>
            <a:schemeClr val="accent3">
              <a:lumMod val="20000"/>
              <a:lumOff val="80000"/>
            </a:schemeClr>
          </a:solidFill>
          <a:ln w="28575" cmpd="sng">
            <a:solidFill>
              <a:schemeClr val="accent1">
                <a:shade val="50000"/>
              </a:schemeClr>
            </a:solidFill>
            <a:prstDash val="solid"/>
          </a:ln>
        </p:spPr>
        <p:txBody>
          <a:bodyPr wrap="square" rtlCol="0">
            <a:spAutoFit/>
          </a:bodyPr>
          <a:lstStyle/>
          <a:p>
            <a:pPr>
              <a:lnSpc>
                <a:spcPct val="130000"/>
              </a:lnSpc>
            </a:pPr>
            <a:r>
              <a:rPr lang="en-US" altLang="zh-CN" sz="2000" b="1" dirty="0" smtClean="0">
                <a:solidFill>
                  <a:srgbClr val="00B050"/>
                </a:solidFill>
                <a:latin typeface="Times New Roman" panose="02020603050405020304" pitchFamily="18" charset="0"/>
                <a:ea typeface="宋体" panose="02010600030101010101" pitchFamily="2" charset="-122"/>
                <a:sym typeface="+mn-ea"/>
              </a:rPr>
              <a:t>//由串口1发送存在dat数组中的数据包，数组长度为1，超时1s</a:t>
            </a:r>
            <a:endParaRPr lang="en-US" altLang="zh-CN" sz="2000" b="1" dirty="0" smtClean="0">
              <a:solidFill>
                <a:srgbClr val="00B050"/>
              </a:solidFill>
              <a:latin typeface="Times New Roman" panose="02020603050405020304" pitchFamily="18" charset="0"/>
              <a:ea typeface="宋体" panose="02010600030101010101" pitchFamily="2" charset="-122"/>
            </a:endParaRPr>
          </a:p>
          <a:p>
            <a:pPr>
              <a:lnSpc>
                <a:spcPct val="130000"/>
              </a:lnSpc>
            </a:pPr>
            <a:r>
              <a:rPr lang="en-US" altLang="zh-CN" sz="2000" b="1" dirty="0" smtClean="0">
                <a:latin typeface="Times New Roman" panose="02020603050405020304" pitchFamily="18" charset="0"/>
                <a:ea typeface="宋体" panose="02010600030101010101" pitchFamily="2" charset="-122"/>
                <a:sym typeface="+mn-ea"/>
              </a:rPr>
              <a:t>if( HAL_UART_Transmit(&amp;huart1,dat,1,1000) != HAL_OK ) { Error_Handler(); }</a:t>
            </a:r>
            <a:endParaRPr lang="en-US" altLang="zh-CN" sz="2000" b="1" dirty="0" smtClean="0">
              <a:solidFill>
                <a:srgbClr val="00B050"/>
              </a:solidFill>
              <a:latin typeface="Times New Roman" panose="02020603050405020304" pitchFamily="18" charset="0"/>
              <a:ea typeface="宋体" panose="02010600030101010101" pitchFamily="2" charset="-122"/>
              <a:sym typeface="+mn-ea"/>
            </a:endParaRPr>
          </a:p>
        </p:txBody>
      </p:sp>
    </p:spTree>
  </p:cSld>
  <p:clrMapOvr>
    <a:masterClrMapping/>
  </p:clrMapOvr>
  <p:transition spd="slow"/>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60985" y="336550"/>
            <a:ext cx="11669395" cy="6327775"/>
          </a:xfrm>
          <a:prstGeom prst="rect">
            <a:avLst/>
          </a:prstGeom>
          <a:noFill/>
        </p:spPr>
        <p:txBody>
          <a:bodyPr wrap="square" rtlCol="0">
            <a:spAutoFit/>
          </a:bodyPr>
          <a:lstStyle/>
          <a:p>
            <a:pPr>
              <a:lnSpc>
                <a:spcPct val="130000"/>
              </a:lnSpc>
            </a:pPr>
            <a:r>
              <a:rPr lang="en-US" altLang="zh-CN" sz="2400" b="1" dirty="0" smtClean="0">
                <a:solidFill>
                  <a:srgbClr val="7030A0"/>
                </a:solidFill>
                <a:latin typeface="Times New Roman" panose="02020603050405020304" pitchFamily="18" charset="0"/>
                <a:ea typeface="宋体" panose="02010600030101010101" pitchFamily="2" charset="-122"/>
              </a:rPr>
              <a:t>    ③ </a:t>
            </a:r>
            <a:r>
              <a:rPr lang="zh-CN" altLang="en-US" sz="2400" b="1" dirty="0" smtClean="0">
                <a:solidFill>
                  <a:srgbClr val="7030A0"/>
                </a:solidFill>
                <a:latin typeface="Times New Roman" panose="02020603050405020304" pitchFamily="18" charset="0"/>
                <a:ea typeface="宋体" panose="02010600030101010101" pitchFamily="2" charset="-122"/>
              </a:rPr>
              <a:t>串口接收回调函数 </a:t>
            </a:r>
            <a:r>
              <a:rPr lang="en-US" altLang="zh-CN" sz="2400" b="1" dirty="0" smtClean="0">
                <a:solidFill>
                  <a:srgbClr val="7030A0"/>
                </a:solidFill>
                <a:latin typeface="Times New Roman" panose="02020603050405020304" pitchFamily="18" charset="0"/>
                <a:ea typeface="宋体" panose="02010600030101010101" pitchFamily="2" charset="-122"/>
              </a:rPr>
              <a:t>HAL_UART_RxCpltCallback</a:t>
            </a:r>
          </a:p>
          <a:p>
            <a:pPr>
              <a:lnSpc>
                <a:spcPct val="130000"/>
              </a:lnSpc>
            </a:pPr>
            <a:endParaRPr lang="en-US" altLang="zh-CN" sz="2400" b="1" dirty="0" smtClean="0">
              <a:latin typeface="Times New Roman" panose="02020603050405020304" pitchFamily="18" charset="0"/>
              <a:ea typeface="宋体" panose="02010600030101010101" pitchFamily="2" charset="-122"/>
            </a:endParaRPr>
          </a:p>
          <a:p>
            <a:pPr>
              <a:lnSpc>
                <a:spcPct val="130000"/>
              </a:lnSpc>
            </a:pPr>
            <a:endParaRPr lang="en-US" altLang="zh-CN" sz="2400" b="1" dirty="0" smtClean="0">
              <a:latin typeface="Times New Roman" panose="02020603050405020304" pitchFamily="18" charset="0"/>
              <a:ea typeface="宋体" panose="02010600030101010101" pitchFamily="2" charset="-122"/>
            </a:endParaRPr>
          </a:p>
          <a:p>
            <a:pPr>
              <a:lnSpc>
                <a:spcPct val="130000"/>
              </a:lnSpc>
            </a:pPr>
            <a:endParaRPr lang="en-US" altLang="zh-CN" sz="2400" b="1" dirty="0" smtClean="0">
              <a:latin typeface="Times New Roman" panose="02020603050405020304" pitchFamily="18" charset="0"/>
              <a:ea typeface="宋体" panose="02010600030101010101" pitchFamily="2" charset="-122"/>
            </a:endParaRPr>
          </a:p>
          <a:p>
            <a:pPr>
              <a:lnSpc>
                <a:spcPct val="130000"/>
              </a:lnSpc>
            </a:pPr>
            <a:endParaRPr lang="en-US" altLang="zh-CN" sz="2400" b="1" dirty="0" smtClean="0">
              <a:latin typeface="Times New Roman" panose="02020603050405020304" pitchFamily="18" charset="0"/>
              <a:ea typeface="宋体" panose="02010600030101010101" pitchFamily="2" charset="-122"/>
            </a:endParaRPr>
          </a:p>
          <a:p>
            <a:pPr>
              <a:lnSpc>
                <a:spcPct val="130000"/>
              </a:lnSpc>
            </a:pPr>
            <a:r>
              <a:rPr lang="zh-CN" altLang="en-US" sz="2400" b="1" dirty="0" smtClean="0">
                <a:solidFill>
                  <a:srgbClr val="C00000"/>
                </a:solidFill>
                <a:latin typeface="Times New Roman" panose="02020603050405020304" pitchFamily="18" charset="0"/>
                <a:ea typeface="宋体" panose="02010600030101010101" pitchFamily="2" charset="-122"/>
              </a:rPr>
              <a:t>    例程：</a:t>
            </a:r>
          </a:p>
          <a:p>
            <a:pPr>
              <a:lnSpc>
                <a:spcPct val="130000"/>
              </a:lnSpc>
            </a:pPr>
            <a:r>
              <a:rPr lang="zh-CN" altLang="en-US" sz="2800" b="1" dirty="0" smtClean="0">
                <a:solidFill>
                  <a:srgbClr val="7030A0"/>
                </a:solidFill>
                <a:latin typeface="Times New Roman" panose="02020603050405020304" pitchFamily="18" charset="0"/>
                <a:ea typeface="宋体" panose="02010600030101010101" pitchFamily="2" charset="-122"/>
                <a:sym typeface="+mn-ea"/>
              </a:rPr>
              <a:t> </a:t>
            </a:r>
          </a:p>
          <a:p>
            <a:pPr>
              <a:lnSpc>
                <a:spcPct val="130000"/>
              </a:lnSpc>
            </a:pPr>
            <a:endParaRPr lang="zh-CN" altLang="en-US" sz="2800" b="1" dirty="0" smtClean="0">
              <a:solidFill>
                <a:srgbClr val="7030A0"/>
              </a:solidFill>
              <a:latin typeface="Times New Roman" panose="02020603050405020304" pitchFamily="18" charset="0"/>
              <a:ea typeface="宋体" panose="02010600030101010101" pitchFamily="2" charset="-122"/>
              <a:sym typeface="+mn-ea"/>
            </a:endParaRPr>
          </a:p>
          <a:p>
            <a:pPr>
              <a:lnSpc>
                <a:spcPct val="130000"/>
              </a:lnSpc>
            </a:pPr>
            <a:endParaRPr lang="zh-CN" altLang="en-US" sz="2800" b="1" dirty="0" smtClean="0">
              <a:solidFill>
                <a:srgbClr val="7030A0"/>
              </a:solidFill>
              <a:latin typeface="Times New Roman" panose="02020603050405020304" pitchFamily="18" charset="0"/>
              <a:ea typeface="宋体" panose="02010600030101010101" pitchFamily="2" charset="-122"/>
              <a:sym typeface="+mn-ea"/>
            </a:endParaRPr>
          </a:p>
          <a:p>
            <a:pPr>
              <a:lnSpc>
                <a:spcPct val="130000"/>
              </a:lnSpc>
            </a:pPr>
            <a:endParaRPr lang="zh-CN" altLang="en-US" sz="2800" b="1" dirty="0" smtClean="0">
              <a:solidFill>
                <a:srgbClr val="7030A0"/>
              </a:solidFill>
              <a:latin typeface="Times New Roman" panose="02020603050405020304" pitchFamily="18" charset="0"/>
              <a:ea typeface="宋体" panose="02010600030101010101" pitchFamily="2" charset="-122"/>
              <a:sym typeface="+mn-ea"/>
            </a:endParaRPr>
          </a:p>
          <a:p>
            <a:pPr>
              <a:lnSpc>
                <a:spcPct val="130000"/>
              </a:lnSpc>
            </a:pPr>
            <a:r>
              <a:rPr lang="zh-CN" altLang="en-US" sz="2800" b="1" dirty="0" smtClean="0">
                <a:solidFill>
                  <a:srgbClr val="7030A0"/>
                </a:solidFill>
                <a:latin typeface="Times New Roman" panose="02020603050405020304" pitchFamily="18" charset="0"/>
                <a:ea typeface="宋体" panose="02010600030101010101" pitchFamily="2" charset="-122"/>
                <a:sym typeface="+mn-ea"/>
              </a:rPr>
              <a:t>   </a:t>
            </a:r>
          </a:p>
          <a:p>
            <a:pPr>
              <a:lnSpc>
                <a:spcPct val="130000"/>
              </a:lnSpc>
            </a:pPr>
            <a:r>
              <a:rPr lang="zh-CN" altLang="en-US" sz="2800" b="1" dirty="0" smtClean="0">
                <a:solidFill>
                  <a:srgbClr val="7030A0"/>
                </a:solidFill>
                <a:latin typeface="Times New Roman" panose="02020603050405020304" pitchFamily="18" charset="0"/>
                <a:ea typeface="宋体" panose="02010600030101010101" pitchFamily="2" charset="-122"/>
                <a:sym typeface="+mn-ea"/>
              </a:rPr>
              <a:t>（现场操作演示</a:t>
            </a:r>
            <a:r>
              <a:rPr lang="zh-CN" altLang="en-US" sz="2800" b="1" dirty="0" smtClean="0">
                <a:solidFill>
                  <a:srgbClr val="7030A0"/>
                </a:solidFill>
                <a:ea typeface="宋体" panose="02010600030101010101" pitchFamily="2" charset="-122"/>
                <a:cs typeface="Arial" panose="020B0604020202020204" pitchFamily="34" charset="0"/>
                <a:sym typeface="+mn-ea"/>
              </a:rPr>
              <a:t>…</a:t>
            </a:r>
            <a:r>
              <a:rPr lang="zh-CN" altLang="en-US" sz="2800" b="1" dirty="0" smtClean="0">
                <a:solidFill>
                  <a:srgbClr val="7030A0"/>
                </a:solidFill>
                <a:latin typeface="Times New Roman" panose="02020603050405020304" pitchFamily="18" charset="0"/>
                <a:ea typeface="宋体" panose="02010600030101010101" pitchFamily="2" charset="-122"/>
                <a:sym typeface="+mn-ea"/>
              </a:rPr>
              <a:t>）</a:t>
            </a:r>
          </a:p>
        </p:txBody>
      </p:sp>
      <p:pic>
        <p:nvPicPr>
          <p:cNvPr id="1026" name="Picture 2" descr="E:\教学\课程改革\单片机2019\pic\蝴蝶GIF.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72092" y="5857875"/>
            <a:ext cx="916598" cy="916598"/>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p:cNvPicPr>
            <a:picLocks noChangeAspect="1"/>
          </p:cNvPicPr>
          <p:nvPr/>
        </p:nvPicPr>
        <p:blipFill>
          <a:blip r:embed="rId4"/>
          <a:stretch>
            <a:fillRect/>
          </a:stretch>
        </p:blipFill>
        <p:spPr>
          <a:xfrm>
            <a:off x="260985" y="862330"/>
            <a:ext cx="7680960" cy="1927860"/>
          </a:xfrm>
          <a:prstGeom prst="rect">
            <a:avLst/>
          </a:prstGeom>
        </p:spPr>
      </p:pic>
      <p:sp>
        <p:nvSpPr>
          <p:cNvPr id="6" name="文本框 5"/>
          <p:cNvSpPr txBox="1"/>
          <p:nvPr/>
        </p:nvSpPr>
        <p:spPr>
          <a:xfrm>
            <a:off x="325755" y="3368675"/>
            <a:ext cx="8177530" cy="1938020"/>
          </a:xfrm>
          <a:prstGeom prst="rect">
            <a:avLst/>
          </a:prstGeom>
          <a:solidFill>
            <a:schemeClr val="accent3">
              <a:lumMod val="20000"/>
              <a:lumOff val="80000"/>
            </a:schemeClr>
          </a:solidFill>
          <a:ln w="28575" cmpd="sng">
            <a:solidFill>
              <a:schemeClr val="accent1">
                <a:shade val="50000"/>
              </a:schemeClr>
            </a:solidFill>
            <a:prstDash val="solid"/>
          </a:ln>
        </p:spPr>
        <p:txBody>
          <a:bodyPr wrap="square" rtlCol="0">
            <a:spAutoFit/>
          </a:bodyPr>
          <a:lstStyle/>
          <a:p>
            <a:pPr>
              <a:lnSpc>
                <a:spcPct val="120000"/>
              </a:lnSpc>
            </a:pPr>
            <a:r>
              <a:rPr lang="zh-CN" altLang="en-US" sz="2000" b="1" dirty="0" smtClean="0">
                <a:solidFill>
                  <a:srgbClr val="00B050"/>
                </a:solidFill>
                <a:latin typeface="Times New Roman" panose="02020603050405020304" pitchFamily="18" charset="0"/>
                <a:ea typeface="宋体" panose="02010600030101010101" pitchFamily="2" charset="-122"/>
                <a:sym typeface="+mn-ea"/>
              </a:rPr>
              <a:t>//串口1接收完毕回调</a:t>
            </a:r>
            <a:endParaRPr lang="zh-CN" altLang="en-US" sz="2000" b="1" dirty="0" smtClean="0">
              <a:solidFill>
                <a:srgbClr val="00B050"/>
              </a:solidFill>
              <a:latin typeface="Times New Roman" panose="02020603050405020304" pitchFamily="18" charset="0"/>
              <a:ea typeface="宋体" panose="02010600030101010101" pitchFamily="2" charset="-122"/>
            </a:endParaRPr>
          </a:p>
          <a:p>
            <a:pPr>
              <a:lnSpc>
                <a:spcPct val="120000"/>
              </a:lnSpc>
            </a:pPr>
            <a:r>
              <a:rPr lang="zh-CN" altLang="en-US" sz="2000" b="1" dirty="0" smtClean="0">
                <a:latin typeface="Times New Roman" panose="02020603050405020304" pitchFamily="18" charset="0"/>
                <a:ea typeface="宋体" panose="02010600030101010101" pitchFamily="2" charset="-122"/>
                <a:sym typeface="+mn-ea"/>
              </a:rPr>
              <a:t>void HAL_UART_RxCpltCallback (UART_HandleTypeDef *huart)</a:t>
            </a:r>
            <a:endParaRPr lang="zh-CN" altLang="en-US" sz="2000" b="1" dirty="0" smtClean="0">
              <a:latin typeface="Times New Roman" panose="02020603050405020304" pitchFamily="18" charset="0"/>
              <a:ea typeface="宋体" panose="02010600030101010101" pitchFamily="2" charset="-122"/>
            </a:endParaRPr>
          </a:p>
          <a:p>
            <a:pPr>
              <a:lnSpc>
                <a:spcPct val="120000"/>
              </a:lnSpc>
            </a:pPr>
            <a:r>
              <a:rPr lang="zh-CN" altLang="en-US" sz="2000" b="1" dirty="0" smtClean="0">
                <a:latin typeface="Times New Roman" panose="02020603050405020304" pitchFamily="18" charset="0"/>
                <a:ea typeface="宋体" panose="02010600030101010101" pitchFamily="2" charset="-122"/>
                <a:sym typeface="+mn-ea"/>
              </a:rPr>
              <a:t>{</a:t>
            </a:r>
            <a:endParaRPr lang="zh-CN" altLang="en-US" sz="2000" b="1" dirty="0" smtClean="0">
              <a:latin typeface="Times New Roman" panose="02020603050405020304" pitchFamily="18" charset="0"/>
              <a:ea typeface="宋体" panose="02010600030101010101" pitchFamily="2" charset="-122"/>
            </a:endParaRPr>
          </a:p>
          <a:p>
            <a:pPr>
              <a:lnSpc>
                <a:spcPct val="120000"/>
              </a:lnSpc>
            </a:pPr>
            <a:r>
              <a:rPr lang="zh-CN" altLang="en-US" sz="2000" b="1" dirty="0" smtClean="0">
                <a:latin typeface="Times New Roman" panose="02020603050405020304" pitchFamily="18" charset="0"/>
                <a:ea typeface="宋体" panose="02010600030101010101" pitchFamily="2" charset="-122"/>
                <a:sym typeface="+mn-ea"/>
              </a:rPr>
              <a:t>	if(huart==&amp;huart1){…}</a:t>
            </a:r>
            <a:endParaRPr lang="zh-CN" altLang="en-US" sz="2000" b="1" dirty="0" smtClean="0">
              <a:latin typeface="Times New Roman" panose="02020603050405020304" pitchFamily="18" charset="0"/>
              <a:ea typeface="宋体" panose="02010600030101010101" pitchFamily="2" charset="-122"/>
            </a:endParaRPr>
          </a:p>
          <a:p>
            <a:pPr>
              <a:lnSpc>
                <a:spcPct val="120000"/>
              </a:lnSpc>
            </a:pPr>
            <a:r>
              <a:rPr lang="zh-CN" altLang="en-US" sz="2000" b="1" dirty="0" smtClean="0">
                <a:latin typeface="Times New Roman" panose="02020603050405020304" pitchFamily="18" charset="0"/>
                <a:ea typeface="宋体" panose="02010600030101010101" pitchFamily="2" charset="-122"/>
                <a:sym typeface="+mn-ea"/>
              </a:rPr>
              <a:t>}</a:t>
            </a:r>
            <a:endParaRPr lang="zh-CN" altLang="en-US" sz="2000" b="1" dirty="0" smtClean="0">
              <a:solidFill>
                <a:srgbClr val="00B050"/>
              </a:solidFill>
              <a:latin typeface="Times New Roman" panose="02020603050405020304" pitchFamily="18" charset="0"/>
              <a:ea typeface="宋体" panose="02010600030101010101" pitchFamily="2" charset="-122"/>
              <a:sym typeface="+mn-ea"/>
            </a:endParaRPr>
          </a:p>
        </p:txBody>
      </p:sp>
    </p:spTree>
  </p:cSld>
  <p:clrMapOvr>
    <a:masterClrMapping/>
  </p:clrMapOvr>
  <p:transition spd="slow"/>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60985" y="336550"/>
            <a:ext cx="11669395" cy="1130300"/>
          </a:xfrm>
          <a:prstGeom prst="rect">
            <a:avLst/>
          </a:prstGeom>
          <a:noFill/>
        </p:spPr>
        <p:txBody>
          <a:bodyPr wrap="square" rtlCol="0">
            <a:spAutoFit/>
          </a:bodyPr>
          <a:lstStyle/>
          <a:p>
            <a:pPr>
              <a:lnSpc>
                <a:spcPct val="130000"/>
              </a:lnSpc>
            </a:pPr>
            <a:r>
              <a:rPr lang="zh-CN" altLang="en-US" sz="2800" b="1" dirty="0" smtClean="0">
                <a:solidFill>
                  <a:srgbClr val="7030A0"/>
                </a:solidFill>
                <a:latin typeface="黑体" panose="02010609060101010101" charset="-122"/>
                <a:ea typeface="黑体" panose="02010609060101010101" charset="-122"/>
                <a:sym typeface="+mn-ea"/>
              </a:rPr>
              <a:t>技能训练：</a:t>
            </a:r>
            <a:endParaRPr lang="en-US" altLang="zh-CN" sz="2800" b="1" dirty="0" smtClean="0">
              <a:solidFill>
                <a:srgbClr val="7030A0"/>
              </a:solidFill>
              <a:latin typeface="黑体" panose="02010609060101010101" charset="-122"/>
              <a:ea typeface="黑体" panose="02010609060101010101" charset="-122"/>
            </a:endParaRPr>
          </a:p>
          <a:p>
            <a:pPr>
              <a:lnSpc>
                <a:spcPct val="130000"/>
              </a:lnSpc>
            </a:pPr>
            <a:r>
              <a:rPr lang="en-US" altLang="zh-CN" sz="2400" b="1" dirty="0" smtClean="0">
                <a:latin typeface="Times New Roman" panose="02020603050405020304" pitchFamily="18" charset="0"/>
                <a:ea typeface="宋体" panose="02010600030101010101" pitchFamily="2" charset="-122"/>
                <a:sym typeface="+mn-ea"/>
              </a:rPr>
              <a:t>    </a:t>
            </a:r>
            <a:r>
              <a:rPr lang="zh-CN" altLang="en-US" sz="2400" b="1" dirty="0" smtClean="0">
                <a:latin typeface="Times New Roman" panose="02020603050405020304" pitchFamily="18" charset="0"/>
                <a:ea typeface="宋体" panose="02010600030101010101" pitchFamily="2" charset="-122"/>
                <a:sym typeface="+mn-ea"/>
              </a:rPr>
              <a:t>单片机接收来自于计算机的字母</a:t>
            </a:r>
            <a:r>
              <a:rPr lang="en-US" altLang="zh-CN" sz="2400" b="1" dirty="0" smtClean="0">
                <a:latin typeface="Times New Roman" panose="02020603050405020304" pitchFamily="18" charset="0"/>
                <a:ea typeface="宋体" panose="02010600030101010101" pitchFamily="2" charset="-122"/>
                <a:sym typeface="+mn-ea"/>
              </a:rPr>
              <a:t>ASCII</a:t>
            </a:r>
            <a:r>
              <a:rPr lang="zh-CN" altLang="en-US" sz="2400" b="1" dirty="0" smtClean="0">
                <a:latin typeface="Times New Roman" panose="02020603050405020304" pitchFamily="18" charset="0"/>
                <a:ea typeface="宋体" panose="02010600030101010101" pitchFamily="2" charset="-122"/>
                <a:sym typeface="+mn-ea"/>
              </a:rPr>
              <a:t>码，自动实现大小写转换并返回给计算机。</a:t>
            </a:r>
          </a:p>
        </p:txBody>
      </p:sp>
      <p:pic>
        <p:nvPicPr>
          <p:cNvPr id="1026" name="Picture 2" descr="E:\教学\课程改革\单片机2019\pic\蝴蝶GIF.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72092" y="5857875"/>
            <a:ext cx="916598" cy="916598"/>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descr="ASCII（百度百科）"/>
          <p:cNvPicPr>
            <a:picLocks noChangeAspect="1"/>
          </p:cNvPicPr>
          <p:nvPr/>
        </p:nvPicPr>
        <p:blipFill>
          <a:blip r:embed="rId4"/>
          <a:stretch>
            <a:fillRect/>
          </a:stretch>
        </p:blipFill>
        <p:spPr>
          <a:xfrm>
            <a:off x="2023110" y="1466850"/>
            <a:ext cx="7970520" cy="5191125"/>
          </a:xfrm>
          <a:prstGeom prst="rect">
            <a:avLst/>
          </a:prstGeom>
        </p:spPr>
      </p:pic>
    </p:spTree>
  </p:cSld>
  <p:clrMapOvr>
    <a:masterClrMapping/>
  </p:clrMapOvr>
  <p:transition spd="slow"/>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2179320"/>
            <a:ext cx="12192000" cy="1914525"/>
          </a:xfrm>
          <a:custGeom>
            <a:avLst/>
            <a:gdLst/>
            <a:ahLst/>
            <a:cxnLst/>
            <a:rect l="l" t="t" r="r" b="b"/>
            <a:pathLst>
              <a:path w="12192000" h="1914525">
                <a:moveTo>
                  <a:pt x="0" y="1914143"/>
                </a:moveTo>
                <a:lnTo>
                  <a:pt x="12192000" y="1914143"/>
                </a:lnTo>
                <a:lnTo>
                  <a:pt x="12192000" y="0"/>
                </a:lnTo>
                <a:lnTo>
                  <a:pt x="0" y="0"/>
                </a:lnTo>
                <a:lnTo>
                  <a:pt x="0" y="1914143"/>
                </a:lnTo>
                <a:close/>
              </a:path>
            </a:pathLst>
          </a:custGeom>
          <a:solidFill>
            <a:srgbClr val="E34A46"/>
          </a:solidFill>
        </p:spPr>
        <p:txBody>
          <a:bodyPr wrap="square" lIns="0" tIns="0" rIns="0" bIns="0" rtlCol="0"/>
          <a:lstStyle/>
          <a:p>
            <a:endParaRPr/>
          </a:p>
        </p:txBody>
      </p:sp>
      <p:sp>
        <p:nvSpPr>
          <p:cNvPr id="3" name="object 3"/>
          <p:cNvSpPr txBox="1">
            <a:spLocks noGrp="1"/>
          </p:cNvSpPr>
          <p:nvPr>
            <p:ph type="title"/>
          </p:nvPr>
        </p:nvSpPr>
        <p:spPr>
          <a:xfrm>
            <a:off x="2237613" y="2772004"/>
            <a:ext cx="7715884" cy="711200"/>
          </a:xfrm>
          <a:prstGeom prst="rect">
            <a:avLst/>
          </a:prstGeom>
        </p:spPr>
        <p:txBody>
          <a:bodyPr vert="horz" wrap="square" lIns="0" tIns="0" rIns="0" bIns="0" rtlCol="0">
            <a:spAutoFit/>
          </a:bodyPr>
          <a:lstStyle/>
          <a:p>
            <a:pPr marL="12700">
              <a:lnSpc>
                <a:spcPct val="100000"/>
              </a:lnSpc>
              <a:tabLst>
                <a:tab pos="844550" algn="l"/>
              </a:tabLst>
            </a:pPr>
            <a:r>
              <a:rPr sz="5400" spc="-5" dirty="0">
                <a:solidFill>
                  <a:srgbClr val="FFFFFF"/>
                </a:solidFill>
                <a:latin typeface="微软雅黑"/>
                <a:cs typeface="微软雅黑"/>
              </a:rPr>
              <a:t>1	</a:t>
            </a:r>
            <a:r>
              <a:rPr sz="5400" spc="-5" dirty="0">
                <a:solidFill>
                  <a:srgbClr val="FFFFFF"/>
                </a:solidFill>
              </a:rPr>
              <a:t>计算机通信的基本概念</a:t>
            </a:r>
            <a:endParaRPr sz="5400">
              <a:latin typeface="微软雅黑"/>
              <a:cs typeface="微软雅黑"/>
            </a:endParaRPr>
          </a:p>
        </p:txBody>
      </p:sp>
    </p:spTree>
    <p:extLst>
      <p:ext uri="{BB962C8B-B14F-4D97-AF65-F5344CB8AC3E}">
        <p14:creationId xmlns:p14="http://schemas.microsoft.com/office/powerpoint/2010/main" val="12551219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23" y="6516623"/>
            <a:ext cx="12190730" cy="341630"/>
          </a:xfrm>
          <a:prstGeom prst="rect">
            <a:avLst/>
          </a:prstGeom>
        </p:spPr>
        <p:txBody>
          <a:bodyPr vert="horz" wrap="square" lIns="0" tIns="0" rIns="0" bIns="0" rtlCol="0">
            <a:spAutoFit/>
          </a:bodyPr>
          <a:lstStyle/>
          <a:p>
            <a:pPr marR="200660" algn="r">
              <a:lnSpc>
                <a:spcPct val="100000"/>
              </a:lnSpc>
            </a:pPr>
            <a:r>
              <a:rPr sz="1200" b="1" spc="-5" dirty="0">
                <a:solidFill>
                  <a:srgbClr val="FFFFFF"/>
                </a:solidFill>
                <a:latin typeface="微软雅黑"/>
                <a:cs typeface="微软雅黑"/>
              </a:rPr>
              <a:t>--</a:t>
            </a:r>
            <a:r>
              <a:rPr sz="1200" b="1" spc="5" dirty="0">
                <a:solidFill>
                  <a:srgbClr val="FFFFFF"/>
                </a:solidFill>
                <a:latin typeface="微软雅黑"/>
                <a:cs typeface="微软雅黑"/>
              </a:rPr>
              <a:t> </a:t>
            </a:r>
            <a:r>
              <a:rPr sz="1200" b="1" dirty="0">
                <a:solidFill>
                  <a:srgbClr val="FFFFFF"/>
                </a:solidFill>
                <a:latin typeface="微软雅黑"/>
                <a:cs typeface="微软雅黑"/>
              </a:rPr>
              <a:t>南昌大学“卓越”辅导员培养工程建设</a:t>
            </a:r>
            <a:endParaRPr sz="1200">
              <a:latin typeface="微软雅黑"/>
              <a:cs typeface="微软雅黑"/>
            </a:endParaRPr>
          </a:p>
        </p:txBody>
      </p:sp>
      <p:sp>
        <p:nvSpPr>
          <p:cNvPr id="3" name="object 3"/>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4" name="object 4"/>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5" name="object 5"/>
          <p:cNvSpPr/>
          <p:nvPr/>
        </p:nvSpPr>
        <p:spPr>
          <a:xfrm>
            <a:off x="1523" y="6470903"/>
            <a:ext cx="12190730" cy="45720"/>
          </a:xfrm>
          <a:custGeom>
            <a:avLst/>
            <a:gdLst/>
            <a:ahLst/>
            <a:cxnLst/>
            <a:rect l="l" t="t" r="r" b="b"/>
            <a:pathLst>
              <a:path w="12190730" h="45720">
                <a:moveTo>
                  <a:pt x="0" y="45719"/>
                </a:moveTo>
                <a:lnTo>
                  <a:pt x="12190476" y="45719"/>
                </a:lnTo>
                <a:lnTo>
                  <a:pt x="12190476" y="0"/>
                </a:lnTo>
                <a:lnTo>
                  <a:pt x="0" y="0"/>
                </a:lnTo>
                <a:lnTo>
                  <a:pt x="0" y="45719"/>
                </a:lnTo>
              </a:path>
            </a:pathLst>
          </a:custGeom>
          <a:solidFill>
            <a:srgbClr val="FFE699"/>
          </a:solidFill>
        </p:spPr>
        <p:txBody>
          <a:bodyPr wrap="square" lIns="0" tIns="0" rIns="0" bIns="0" rtlCol="0"/>
          <a:lstStyle/>
          <a:p>
            <a:endParaRPr/>
          </a:p>
        </p:txBody>
      </p:sp>
      <p:sp>
        <p:nvSpPr>
          <p:cNvPr id="6" name="object 6"/>
          <p:cNvSpPr/>
          <p:nvPr/>
        </p:nvSpPr>
        <p:spPr>
          <a:xfrm>
            <a:off x="1523" y="6516623"/>
            <a:ext cx="12190730" cy="341630"/>
          </a:xfrm>
          <a:custGeom>
            <a:avLst/>
            <a:gdLst/>
            <a:ahLst/>
            <a:cxnLst/>
            <a:rect l="l" t="t" r="r" b="b"/>
            <a:pathLst>
              <a:path w="12190730" h="341629">
                <a:moveTo>
                  <a:pt x="0" y="341376"/>
                </a:moveTo>
                <a:lnTo>
                  <a:pt x="12190476" y="341376"/>
                </a:lnTo>
                <a:lnTo>
                  <a:pt x="12190476" y="0"/>
                </a:lnTo>
                <a:lnTo>
                  <a:pt x="0" y="0"/>
                </a:lnTo>
                <a:lnTo>
                  <a:pt x="0" y="341376"/>
                </a:lnTo>
              </a:path>
            </a:pathLst>
          </a:custGeom>
          <a:solidFill>
            <a:srgbClr val="E34A46"/>
          </a:solidFill>
        </p:spPr>
        <p:txBody>
          <a:bodyPr wrap="square" lIns="0" tIns="0" rIns="0" bIns="0" rtlCol="0"/>
          <a:lstStyle/>
          <a:p>
            <a:endParaRPr/>
          </a:p>
        </p:txBody>
      </p:sp>
      <p:sp>
        <p:nvSpPr>
          <p:cNvPr id="7" name="object 7"/>
          <p:cNvSpPr/>
          <p:nvPr/>
        </p:nvSpPr>
        <p:spPr>
          <a:xfrm>
            <a:off x="0" y="963155"/>
            <a:ext cx="2171699" cy="769632"/>
          </a:xfrm>
          <a:prstGeom prst="rect">
            <a:avLst/>
          </a:prstGeom>
          <a:blipFill>
            <a:blip r:embed="rId2" cstate="print"/>
            <a:stretch>
              <a:fillRect/>
            </a:stretch>
          </a:blipFill>
        </p:spPr>
        <p:txBody>
          <a:bodyPr wrap="square" lIns="0" tIns="0" rIns="0" bIns="0" rtlCol="0"/>
          <a:lstStyle/>
          <a:p>
            <a:endParaRPr/>
          </a:p>
        </p:txBody>
      </p:sp>
      <p:sp>
        <p:nvSpPr>
          <p:cNvPr id="8" name="object 8"/>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9" name="object 9"/>
          <p:cNvSpPr/>
          <p:nvPr/>
        </p:nvSpPr>
        <p:spPr>
          <a:xfrm>
            <a:off x="0" y="995172"/>
            <a:ext cx="2087880" cy="655320"/>
          </a:xfrm>
          <a:custGeom>
            <a:avLst/>
            <a:gdLst/>
            <a:ahLst/>
            <a:cxnLst/>
            <a:rect l="l" t="t" r="r" b="b"/>
            <a:pathLst>
              <a:path w="2087880" h="655319">
                <a:moveTo>
                  <a:pt x="0" y="0"/>
                </a:moveTo>
                <a:lnTo>
                  <a:pt x="1836420" y="0"/>
                </a:lnTo>
                <a:lnTo>
                  <a:pt x="2087880" y="327660"/>
                </a:lnTo>
                <a:lnTo>
                  <a:pt x="1836420" y="655319"/>
                </a:lnTo>
                <a:lnTo>
                  <a:pt x="0" y="655319"/>
                </a:lnTo>
              </a:path>
            </a:pathLst>
          </a:custGeom>
          <a:ln w="12192">
            <a:solidFill>
              <a:srgbClr val="E34A46"/>
            </a:solidFill>
          </a:ln>
        </p:spPr>
        <p:txBody>
          <a:bodyPr wrap="square" lIns="0" tIns="0" rIns="0" bIns="0" rtlCol="0"/>
          <a:lstStyle/>
          <a:p>
            <a:endParaRPr/>
          </a:p>
        </p:txBody>
      </p:sp>
      <p:sp>
        <p:nvSpPr>
          <p:cNvPr id="10" name="object 10"/>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11" name="object 11"/>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2" name="object 12"/>
          <p:cNvSpPr txBox="1"/>
          <p:nvPr/>
        </p:nvSpPr>
        <p:spPr>
          <a:xfrm>
            <a:off x="352145" y="1173088"/>
            <a:ext cx="12446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基本概念</a:t>
            </a:r>
            <a:endParaRPr sz="2400">
              <a:latin typeface="微软雅黑"/>
              <a:cs typeface="微软雅黑"/>
            </a:endParaRPr>
          </a:p>
        </p:txBody>
      </p:sp>
      <p:sp>
        <p:nvSpPr>
          <p:cNvPr id="13" name="object 13"/>
          <p:cNvSpPr/>
          <p:nvPr/>
        </p:nvSpPr>
        <p:spPr>
          <a:xfrm>
            <a:off x="878586" y="2291333"/>
            <a:ext cx="10436860" cy="2219325"/>
          </a:xfrm>
          <a:custGeom>
            <a:avLst/>
            <a:gdLst/>
            <a:ahLst/>
            <a:cxnLst/>
            <a:rect l="l" t="t" r="r" b="b"/>
            <a:pathLst>
              <a:path w="10436860" h="2219325">
                <a:moveTo>
                  <a:pt x="0" y="2218944"/>
                </a:moveTo>
                <a:lnTo>
                  <a:pt x="10436352" y="2218944"/>
                </a:lnTo>
                <a:lnTo>
                  <a:pt x="10436352" y="0"/>
                </a:lnTo>
                <a:lnTo>
                  <a:pt x="0" y="0"/>
                </a:lnTo>
                <a:lnTo>
                  <a:pt x="0" y="2218944"/>
                </a:lnTo>
                <a:close/>
              </a:path>
            </a:pathLst>
          </a:custGeom>
          <a:ln w="38100">
            <a:solidFill>
              <a:srgbClr val="E34A46"/>
            </a:solidFill>
          </a:ln>
        </p:spPr>
        <p:txBody>
          <a:bodyPr wrap="square" lIns="0" tIns="0" rIns="0" bIns="0" rtlCol="0"/>
          <a:lstStyle/>
          <a:p>
            <a:endParaRPr/>
          </a:p>
        </p:txBody>
      </p:sp>
      <p:sp>
        <p:nvSpPr>
          <p:cNvPr id="14" name="object 14"/>
          <p:cNvSpPr/>
          <p:nvPr/>
        </p:nvSpPr>
        <p:spPr>
          <a:xfrm>
            <a:off x="4779264" y="1956816"/>
            <a:ext cx="2345690" cy="638810"/>
          </a:xfrm>
          <a:custGeom>
            <a:avLst/>
            <a:gdLst/>
            <a:ahLst/>
            <a:cxnLst/>
            <a:rect l="l" t="t" r="r" b="b"/>
            <a:pathLst>
              <a:path w="2345690" h="638810">
                <a:moveTo>
                  <a:pt x="0" y="638555"/>
                </a:moveTo>
                <a:lnTo>
                  <a:pt x="2345436" y="638555"/>
                </a:lnTo>
                <a:lnTo>
                  <a:pt x="2345436" y="0"/>
                </a:lnTo>
                <a:lnTo>
                  <a:pt x="0" y="0"/>
                </a:lnTo>
                <a:lnTo>
                  <a:pt x="0" y="638555"/>
                </a:lnTo>
                <a:close/>
              </a:path>
            </a:pathLst>
          </a:custGeom>
          <a:solidFill>
            <a:srgbClr val="E34A46"/>
          </a:solidFill>
        </p:spPr>
        <p:txBody>
          <a:bodyPr wrap="square" lIns="0" tIns="0" rIns="0" bIns="0" rtlCol="0"/>
          <a:lstStyle/>
          <a:p>
            <a:endParaRPr/>
          </a:p>
        </p:txBody>
      </p:sp>
      <p:sp>
        <p:nvSpPr>
          <p:cNvPr id="15" name="object 15"/>
          <p:cNvSpPr/>
          <p:nvPr/>
        </p:nvSpPr>
        <p:spPr>
          <a:xfrm>
            <a:off x="4779264" y="1956816"/>
            <a:ext cx="2345690" cy="638810"/>
          </a:xfrm>
          <a:custGeom>
            <a:avLst/>
            <a:gdLst/>
            <a:ahLst/>
            <a:cxnLst/>
            <a:rect l="l" t="t" r="r" b="b"/>
            <a:pathLst>
              <a:path w="2345690" h="638810">
                <a:moveTo>
                  <a:pt x="0" y="638555"/>
                </a:moveTo>
                <a:lnTo>
                  <a:pt x="2345436" y="638555"/>
                </a:lnTo>
                <a:lnTo>
                  <a:pt x="2345436" y="0"/>
                </a:lnTo>
                <a:lnTo>
                  <a:pt x="0" y="0"/>
                </a:lnTo>
                <a:lnTo>
                  <a:pt x="0" y="638555"/>
                </a:lnTo>
                <a:close/>
              </a:path>
            </a:pathLst>
          </a:custGeom>
          <a:ln w="12192">
            <a:solidFill>
              <a:srgbClr val="E34A46"/>
            </a:solidFill>
          </a:ln>
        </p:spPr>
        <p:txBody>
          <a:bodyPr wrap="square" lIns="0" tIns="0" rIns="0" bIns="0" rtlCol="0"/>
          <a:lstStyle/>
          <a:p>
            <a:endParaRPr/>
          </a:p>
        </p:txBody>
      </p:sp>
      <p:sp>
        <p:nvSpPr>
          <p:cNvPr id="16" name="object 16"/>
          <p:cNvSpPr txBox="1"/>
          <p:nvPr/>
        </p:nvSpPr>
        <p:spPr>
          <a:xfrm>
            <a:off x="1294891" y="2106995"/>
            <a:ext cx="9483725" cy="4044315"/>
          </a:xfrm>
          <a:prstGeom prst="rect">
            <a:avLst/>
          </a:prstGeom>
        </p:spPr>
        <p:txBody>
          <a:bodyPr vert="horz" wrap="square" lIns="0" tIns="0" rIns="0" bIns="0" rtlCol="0">
            <a:spAutoFit/>
          </a:bodyPr>
          <a:lstStyle/>
          <a:p>
            <a:pPr marR="83820" algn="ctr">
              <a:lnSpc>
                <a:spcPct val="100000"/>
              </a:lnSpc>
            </a:pPr>
            <a:r>
              <a:rPr sz="2800" b="1" spc="-10" dirty="0">
                <a:solidFill>
                  <a:srgbClr val="FFFFFF"/>
                </a:solidFill>
                <a:latin typeface="微软雅黑"/>
                <a:cs typeface="微软雅黑"/>
              </a:rPr>
              <a:t>计算机通信</a:t>
            </a:r>
            <a:endParaRPr sz="2800">
              <a:latin typeface="微软雅黑"/>
              <a:cs typeface="微软雅黑"/>
            </a:endParaRPr>
          </a:p>
          <a:p>
            <a:pPr marL="12700" marR="5080" algn="just">
              <a:lnSpc>
                <a:spcPct val="150000"/>
              </a:lnSpc>
              <a:spcBef>
                <a:spcPts val="1440"/>
              </a:spcBef>
            </a:pPr>
            <a:r>
              <a:rPr sz="2400" b="1" dirty="0">
                <a:latin typeface="微软雅黑"/>
                <a:cs typeface="微软雅黑"/>
              </a:rPr>
              <a:t>将计算机技术和通信技术相结合，完成计算机与外部设备或计算机与计 算机之间的信息交换。按照数据传输方式的不同，可以分为串行通信和 并行通信两类。</a:t>
            </a:r>
            <a:endParaRPr sz="2400">
              <a:latin typeface="微软雅黑"/>
              <a:cs typeface="微软雅黑"/>
            </a:endParaRPr>
          </a:p>
          <a:p>
            <a:pPr>
              <a:lnSpc>
                <a:spcPct val="100000"/>
              </a:lnSpc>
            </a:pPr>
            <a:endParaRPr sz="2400">
              <a:latin typeface="Times New Roman"/>
              <a:cs typeface="Times New Roman"/>
            </a:endParaRPr>
          </a:p>
          <a:p>
            <a:pPr>
              <a:lnSpc>
                <a:spcPct val="100000"/>
              </a:lnSpc>
              <a:spcBef>
                <a:spcPts val="36"/>
              </a:spcBef>
            </a:pPr>
            <a:endParaRPr sz="2650">
              <a:latin typeface="Times New Roman"/>
              <a:cs typeface="Times New Roman"/>
            </a:endParaRPr>
          </a:p>
          <a:p>
            <a:pPr marL="2522220">
              <a:lnSpc>
                <a:spcPct val="100000"/>
              </a:lnSpc>
              <a:tabLst>
                <a:tab pos="2962275" algn="l"/>
              </a:tabLst>
            </a:pPr>
            <a:r>
              <a:rPr sz="2400" spc="10" dirty="0">
                <a:solidFill>
                  <a:srgbClr val="0066CC"/>
                </a:solidFill>
                <a:latin typeface="Segoe UI Symbol"/>
                <a:cs typeface="Segoe UI Symbol"/>
              </a:rPr>
              <a:t>❑	</a:t>
            </a:r>
            <a:r>
              <a:rPr sz="2400" b="1" spc="10" dirty="0">
                <a:latin typeface="微软雅黑"/>
                <a:cs typeface="微软雅黑"/>
              </a:rPr>
              <a:t>串行通信：数据逐位传输</a:t>
            </a:r>
            <a:endParaRPr sz="2400">
              <a:latin typeface="微软雅黑"/>
              <a:cs typeface="微软雅黑"/>
            </a:endParaRPr>
          </a:p>
          <a:p>
            <a:pPr>
              <a:lnSpc>
                <a:spcPct val="100000"/>
              </a:lnSpc>
              <a:spcBef>
                <a:spcPts val="19"/>
              </a:spcBef>
            </a:pPr>
            <a:endParaRPr sz="2450">
              <a:latin typeface="Times New Roman"/>
              <a:cs typeface="Times New Roman"/>
            </a:endParaRPr>
          </a:p>
          <a:p>
            <a:pPr marR="27940" algn="ctr">
              <a:lnSpc>
                <a:spcPct val="100000"/>
              </a:lnSpc>
              <a:tabLst>
                <a:tab pos="440055" algn="l"/>
              </a:tabLst>
            </a:pPr>
            <a:r>
              <a:rPr sz="2400" spc="10" dirty="0">
                <a:solidFill>
                  <a:srgbClr val="0066CC"/>
                </a:solidFill>
                <a:latin typeface="Segoe UI Symbol"/>
                <a:cs typeface="Segoe UI Symbol"/>
              </a:rPr>
              <a:t>❑	</a:t>
            </a:r>
            <a:r>
              <a:rPr sz="2400" b="1" spc="10" dirty="0">
                <a:latin typeface="微软雅黑"/>
                <a:cs typeface="微软雅黑"/>
              </a:rPr>
              <a:t>并行通信：多位数据同时传输</a:t>
            </a:r>
            <a:endParaRPr sz="2400">
              <a:latin typeface="微软雅黑"/>
              <a:cs typeface="微软雅黑"/>
            </a:endParaRPr>
          </a:p>
        </p:txBody>
      </p:sp>
      <p:sp>
        <p:nvSpPr>
          <p:cNvPr id="17" name="object 17"/>
          <p:cNvSpPr txBox="1"/>
          <p:nvPr/>
        </p:nvSpPr>
        <p:spPr>
          <a:xfrm>
            <a:off x="2385441" y="389881"/>
            <a:ext cx="668655" cy="254000"/>
          </a:xfrm>
          <a:prstGeom prst="rect">
            <a:avLst/>
          </a:prstGeom>
        </p:spPr>
        <p:txBody>
          <a:bodyPr vert="horz" wrap="square" lIns="0" tIns="0" rIns="0" bIns="0" rtlCol="0">
            <a:spAutoFit/>
          </a:bodyPr>
          <a:lstStyle/>
          <a:p>
            <a:pPr marL="12700">
              <a:lnSpc>
                <a:spcPct val="100000"/>
              </a:lnSpc>
            </a:pPr>
            <a:r>
              <a:rPr sz="1800" b="1" spc="-45" dirty="0">
                <a:solidFill>
                  <a:srgbClr val="252525"/>
                </a:solidFill>
                <a:latin typeface="微软雅黑"/>
                <a:cs typeface="微软雅黑"/>
              </a:rPr>
              <a:t>U</a:t>
            </a:r>
            <a:r>
              <a:rPr sz="1800" b="1" dirty="0">
                <a:solidFill>
                  <a:srgbClr val="252525"/>
                </a:solidFill>
                <a:latin typeface="微软雅黑"/>
                <a:cs typeface="微软雅黑"/>
              </a:rPr>
              <a:t>A</a:t>
            </a:r>
            <a:r>
              <a:rPr sz="1800" b="1" spc="-35" dirty="0">
                <a:solidFill>
                  <a:srgbClr val="252525"/>
                </a:solidFill>
                <a:latin typeface="微软雅黑"/>
                <a:cs typeface="微软雅黑"/>
              </a:rPr>
              <a:t>R</a:t>
            </a:r>
            <a:r>
              <a:rPr sz="1800" b="1" dirty="0">
                <a:solidFill>
                  <a:srgbClr val="252525"/>
                </a:solidFill>
                <a:latin typeface="微软雅黑"/>
                <a:cs typeface="微软雅黑"/>
              </a:rPr>
              <a:t>T</a:t>
            </a:r>
            <a:endParaRPr sz="1800">
              <a:latin typeface="微软雅黑"/>
              <a:cs typeface="微软雅黑"/>
            </a:endParaRPr>
          </a:p>
        </p:txBody>
      </p:sp>
      <p:sp>
        <p:nvSpPr>
          <p:cNvPr id="18" name="object 18"/>
          <p:cNvSpPr txBox="1">
            <a:spLocks noGrp="1"/>
          </p:cNvSpPr>
          <p:nvPr>
            <p:ph type="title"/>
          </p:nvPr>
        </p:nvSpPr>
        <p:spPr>
          <a:prstGeom prst="rect">
            <a:avLst/>
          </a:prstGeom>
        </p:spPr>
        <p:txBody>
          <a:bodyPr vert="horz" wrap="square" lIns="0" tIns="0" rIns="0" bIns="0" rtlCol="0">
            <a:spAutoFit/>
          </a:bodyPr>
          <a:lstStyle/>
          <a:p>
            <a:pPr marL="1446530">
              <a:lnSpc>
                <a:spcPct val="100000"/>
              </a:lnSpc>
            </a:pPr>
            <a:r>
              <a:rPr spc="-5" dirty="0"/>
              <a:t>计算机通信的概念</a:t>
            </a:r>
          </a:p>
        </p:txBody>
      </p:sp>
    </p:spTree>
    <p:extLst>
      <p:ext uri="{BB962C8B-B14F-4D97-AF65-F5344CB8AC3E}">
        <p14:creationId xmlns:p14="http://schemas.microsoft.com/office/powerpoint/2010/main" val="535564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200133" y="6608820"/>
            <a:ext cx="2796540" cy="177800"/>
          </a:xfrm>
          <a:prstGeom prst="rect">
            <a:avLst/>
          </a:prstGeom>
        </p:spPr>
        <p:txBody>
          <a:bodyPr vert="horz" wrap="square" lIns="0" tIns="0" rIns="0" bIns="0" rtlCol="0">
            <a:spAutoFit/>
          </a:bodyPr>
          <a:lstStyle/>
          <a:p>
            <a:pPr marL="12700">
              <a:lnSpc>
                <a:spcPct val="100000"/>
              </a:lnSpc>
            </a:pPr>
            <a:r>
              <a:rPr sz="1200" b="1" spc="-5" dirty="0">
                <a:solidFill>
                  <a:srgbClr val="FFFFFF"/>
                </a:solidFill>
                <a:latin typeface="微软雅黑"/>
                <a:cs typeface="微软雅黑"/>
              </a:rPr>
              <a:t>--</a:t>
            </a:r>
            <a:r>
              <a:rPr sz="1200" b="1" spc="5" dirty="0">
                <a:solidFill>
                  <a:srgbClr val="FFFFFF"/>
                </a:solidFill>
                <a:latin typeface="微软雅黑"/>
                <a:cs typeface="微软雅黑"/>
              </a:rPr>
              <a:t> </a:t>
            </a:r>
            <a:r>
              <a:rPr sz="1200" b="1" dirty="0">
                <a:solidFill>
                  <a:srgbClr val="FFFFFF"/>
                </a:solidFill>
                <a:latin typeface="微软雅黑"/>
                <a:cs typeface="微软雅黑"/>
              </a:rPr>
              <a:t>南昌大学“卓越”辅导员培养工程建设</a:t>
            </a:r>
            <a:endParaRPr sz="1200">
              <a:latin typeface="微软雅黑"/>
              <a:cs typeface="微软雅黑"/>
            </a:endParaRPr>
          </a:p>
        </p:txBody>
      </p:sp>
      <p:sp>
        <p:nvSpPr>
          <p:cNvPr id="3" name="object 3"/>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4" name="object 4"/>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5" name="object 5"/>
          <p:cNvSpPr txBox="1"/>
          <p:nvPr/>
        </p:nvSpPr>
        <p:spPr>
          <a:xfrm>
            <a:off x="2385441" y="389881"/>
            <a:ext cx="668655" cy="254000"/>
          </a:xfrm>
          <a:prstGeom prst="rect">
            <a:avLst/>
          </a:prstGeom>
        </p:spPr>
        <p:txBody>
          <a:bodyPr vert="horz" wrap="square" lIns="0" tIns="0" rIns="0" bIns="0" rtlCol="0">
            <a:spAutoFit/>
          </a:bodyPr>
          <a:lstStyle/>
          <a:p>
            <a:pPr marL="12700">
              <a:lnSpc>
                <a:spcPct val="100000"/>
              </a:lnSpc>
            </a:pPr>
            <a:r>
              <a:rPr sz="1800" b="1" spc="-45" dirty="0">
                <a:solidFill>
                  <a:srgbClr val="252525"/>
                </a:solidFill>
                <a:latin typeface="微软雅黑"/>
                <a:cs typeface="微软雅黑"/>
              </a:rPr>
              <a:t>U</a:t>
            </a:r>
            <a:r>
              <a:rPr sz="1800" b="1" dirty="0">
                <a:solidFill>
                  <a:srgbClr val="252525"/>
                </a:solidFill>
                <a:latin typeface="微软雅黑"/>
                <a:cs typeface="微软雅黑"/>
              </a:rPr>
              <a:t>A</a:t>
            </a:r>
            <a:r>
              <a:rPr sz="1800" b="1" spc="-35" dirty="0">
                <a:solidFill>
                  <a:srgbClr val="252525"/>
                </a:solidFill>
                <a:latin typeface="微软雅黑"/>
                <a:cs typeface="微软雅黑"/>
              </a:rPr>
              <a:t>R</a:t>
            </a:r>
            <a:r>
              <a:rPr sz="1800" b="1" dirty="0">
                <a:solidFill>
                  <a:srgbClr val="252525"/>
                </a:solidFill>
                <a:latin typeface="微软雅黑"/>
                <a:cs typeface="微软雅黑"/>
              </a:rPr>
              <a:t>T</a:t>
            </a:r>
            <a:endParaRPr sz="1800">
              <a:latin typeface="微软雅黑"/>
              <a:cs typeface="微软雅黑"/>
            </a:endParaRPr>
          </a:p>
        </p:txBody>
      </p:sp>
      <p:sp>
        <p:nvSpPr>
          <p:cNvPr id="6" name="object 6"/>
          <p:cNvSpPr/>
          <p:nvPr/>
        </p:nvSpPr>
        <p:spPr>
          <a:xfrm>
            <a:off x="0" y="963155"/>
            <a:ext cx="2171699" cy="769632"/>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8" name="object 8"/>
          <p:cNvSpPr/>
          <p:nvPr/>
        </p:nvSpPr>
        <p:spPr>
          <a:xfrm>
            <a:off x="0" y="995172"/>
            <a:ext cx="2087880" cy="655320"/>
          </a:xfrm>
          <a:custGeom>
            <a:avLst/>
            <a:gdLst/>
            <a:ahLst/>
            <a:cxnLst/>
            <a:rect l="l" t="t" r="r" b="b"/>
            <a:pathLst>
              <a:path w="2087880" h="655319">
                <a:moveTo>
                  <a:pt x="0" y="0"/>
                </a:moveTo>
                <a:lnTo>
                  <a:pt x="1836420" y="0"/>
                </a:lnTo>
                <a:lnTo>
                  <a:pt x="2087880" y="327660"/>
                </a:lnTo>
                <a:lnTo>
                  <a:pt x="1836420" y="655319"/>
                </a:lnTo>
                <a:lnTo>
                  <a:pt x="0" y="655319"/>
                </a:lnTo>
              </a:path>
            </a:pathLst>
          </a:custGeom>
          <a:ln w="12192">
            <a:solidFill>
              <a:srgbClr val="E34A46"/>
            </a:solidFill>
          </a:ln>
        </p:spPr>
        <p:txBody>
          <a:bodyPr wrap="square" lIns="0" tIns="0" rIns="0" bIns="0" rtlCol="0"/>
          <a:lstStyle/>
          <a:p>
            <a:endParaRPr/>
          </a:p>
        </p:txBody>
      </p:sp>
      <p:sp>
        <p:nvSpPr>
          <p:cNvPr id="9" name="object 9"/>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1" name="object 11"/>
          <p:cNvSpPr txBox="1"/>
          <p:nvPr/>
        </p:nvSpPr>
        <p:spPr>
          <a:xfrm>
            <a:off x="352145" y="1173088"/>
            <a:ext cx="12446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并行通信</a:t>
            </a:r>
            <a:endParaRPr sz="2400">
              <a:latin typeface="微软雅黑"/>
              <a:cs typeface="微软雅黑"/>
            </a:endParaRPr>
          </a:p>
        </p:txBody>
      </p:sp>
      <p:sp>
        <p:nvSpPr>
          <p:cNvPr id="12" name="object 12"/>
          <p:cNvSpPr/>
          <p:nvPr/>
        </p:nvSpPr>
        <p:spPr>
          <a:xfrm>
            <a:off x="1609525" y="1892658"/>
            <a:ext cx="1489075" cy="3326765"/>
          </a:xfrm>
          <a:custGeom>
            <a:avLst/>
            <a:gdLst/>
            <a:ahLst/>
            <a:cxnLst/>
            <a:rect l="l" t="t" r="r" b="b"/>
            <a:pathLst>
              <a:path w="1489075" h="3326765">
                <a:moveTo>
                  <a:pt x="0" y="3326700"/>
                </a:moveTo>
                <a:lnTo>
                  <a:pt x="1488836" y="3326700"/>
                </a:lnTo>
                <a:lnTo>
                  <a:pt x="1488836" y="0"/>
                </a:lnTo>
                <a:lnTo>
                  <a:pt x="0" y="0"/>
                </a:lnTo>
                <a:lnTo>
                  <a:pt x="0" y="3326700"/>
                </a:lnTo>
                <a:close/>
              </a:path>
            </a:pathLst>
          </a:custGeom>
          <a:solidFill>
            <a:srgbClr val="CDCDCD"/>
          </a:solidFill>
        </p:spPr>
        <p:txBody>
          <a:bodyPr wrap="square" lIns="0" tIns="0" rIns="0" bIns="0" rtlCol="0"/>
          <a:lstStyle/>
          <a:p>
            <a:endParaRPr/>
          </a:p>
        </p:txBody>
      </p:sp>
      <p:sp>
        <p:nvSpPr>
          <p:cNvPr id="13" name="object 13"/>
          <p:cNvSpPr/>
          <p:nvPr/>
        </p:nvSpPr>
        <p:spPr>
          <a:xfrm>
            <a:off x="1609525" y="1892658"/>
            <a:ext cx="1489075" cy="3326765"/>
          </a:xfrm>
          <a:custGeom>
            <a:avLst/>
            <a:gdLst/>
            <a:ahLst/>
            <a:cxnLst/>
            <a:rect l="l" t="t" r="r" b="b"/>
            <a:pathLst>
              <a:path w="1489075" h="3326765">
                <a:moveTo>
                  <a:pt x="0" y="3326700"/>
                </a:moveTo>
                <a:lnTo>
                  <a:pt x="1488836" y="3326700"/>
                </a:lnTo>
                <a:lnTo>
                  <a:pt x="1488836" y="0"/>
                </a:lnTo>
                <a:lnTo>
                  <a:pt x="0" y="0"/>
                </a:lnTo>
                <a:lnTo>
                  <a:pt x="0" y="3326700"/>
                </a:lnTo>
                <a:close/>
              </a:path>
            </a:pathLst>
          </a:custGeom>
          <a:ln w="24529">
            <a:solidFill>
              <a:srgbClr val="000000"/>
            </a:solidFill>
          </a:ln>
        </p:spPr>
        <p:txBody>
          <a:bodyPr wrap="square" lIns="0" tIns="0" rIns="0" bIns="0" rtlCol="0"/>
          <a:lstStyle/>
          <a:p>
            <a:endParaRPr/>
          </a:p>
        </p:txBody>
      </p:sp>
      <p:sp>
        <p:nvSpPr>
          <p:cNvPr id="14" name="object 14"/>
          <p:cNvSpPr/>
          <p:nvPr/>
        </p:nvSpPr>
        <p:spPr>
          <a:xfrm>
            <a:off x="9053853" y="1892659"/>
            <a:ext cx="1489075" cy="3326765"/>
          </a:xfrm>
          <a:custGeom>
            <a:avLst/>
            <a:gdLst/>
            <a:ahLst/>
            <a:cxnLst/>
            <a:rect l="l" t="t" r="r" b="b"/>
            <a:pathLst>
              <a:path w="1489075" h="3326765">
                <a:moveTo>
                  <a:pt x="0" y="3326700"/>
                </a:moveTo>
                <a:lnTo>
                  <a:pt x="1488836" y="3326700"/>
                </a:lnTo>
                <a:lnTo>
                  <a:pt x="1488836" y="0"/>
                </a:lnTo>
                <a:lnTo>
                  <a:pt x="0" y="0"/>
                </a:lnTo>
                <a:lnTo>
                  <a:pt x="0" y="3326700"/>
                </a:lnTo>
                <a:close/>
              </a:path>
            </a:pathLst>
          </a:custGeom>
          <a:solidFill>
            <a:srgbClr val="CDCDCD"/>
          </a:solidFill>
        </p:spPr>
        <p:txBody>
          <a:bodyPr wrap="square" lIns="0" tIns="0" rIns="0" bIns="0" rtlCol="0"/>
          <a:lstStyle/>
          <a:p>
            <a:endParaRPr/>
          </a:p>
        </p:txBody>
      </p:sp>
      <p:sp>
        <p:nvSpPr>
          <p:cNvPr id="15" name="object 15"/>
          <p:cNvSpPr/>
          <p:nvPr/>
        </p:nvSpPr>
        <p:spPr>
          <a:xfrm>
            <a:off x="9053853" y="1892659"/>
            <a:ext cx="1489075" cy="3326765"/>
          </a:xfrm>
          <a:custGeom>
            <a:avLst/>
            <a:gdLst/>
            <a:ahLst/>
            <a:cxnLst/>
            <a:rect l="l" t="t" r="r" b="b"/>
            <a:pathLst>
              <a:path w="1489075" h="3326765">
                <a:moveTo>
                  <a:pt x="0" y="3326700"/>
                </a:moveTo>
                <a:lnTo>
                  <a:pt x="1488836" y="3326700"/>
                </a:lnTo>
                <a:lnTo>
                  <a:pt x="1488836" y="0"/>
                </a:lnTo>
                <a:lnTo>
                  <a:pt x="0" y="0"/>
                </a:lnTo>
                <a:lnTo>
                  <a:pt x="0" y="3326700"/>
                </a:lnTo>
                <a:close/>
              </a:path>
            </a:pathLst>
          </a:custGeom>
          <a:ln w="24529">
            <a:solidFill>
              <a:srgbClr val="000000"/>
            </a:solidFill>
          </a:ln>
        </p:spPr>
        <p:txBody>
          <a:bodyPr wrap="square" lIns="0" tIns="0" rIns="0" bIns="0" rtlCol="0"/>
          <a:lstStyle/>
          <a:p>
            <a:endParaRPr/>
          </a:p>
        </p:txBody>
      </p:sp>
      <p:sp>
        <p:nvSpPr>
          <p:cNvPr id="16" name="object 16"/>
          <p:cNvSpPr/>
          <p:nvPr/>
        </p:nvSpPr>
        <p:spPr>
          <a:xfrm>
            <a:off x="3223383" y="2246114"/>
            <a:ext cx="5830570" cy="0"/>
          </a:xfrm>
          <a:custGeom>
            <a:avLst/>
            <a:gdLst/>
            <a:ahLst/>
            <a:cxnLst/>
            <a:rect l="l" t="t" r="r" b="b"/>
            <a:pathLst>
              <a:path w="5830570">
                <a:moveTo>
                  <a:pt x="5830469" y="0"/>
                </a:moveTo>
                <a:lnTo>
                  <a:pt x="0" y="0"/>
                </a:lnTo>
              </a:path>
            </a:pathLst>
          </a:custGeom>
          <a:ln w="7041">
            <a:solidFill>
              <a:srgbClr val="000000"/>
            </a:solidFill>
          </a:ln>
        </p:spPr>
        <p:txBody>
          <a:bodyPr wrap="square" lIns="0" tIns="0" rIns="0" bIns="0" rtlCol="0"/>
          <a:lstStyle/>
          <a:p>
            <a:endParaRPr/>
          </a:p>
        </p:txBody>
      </p:sp>
      <p:sp>
        <p:nvSpPr>
          <p:cNvPr id="17" name="object 17"/>
          <p:cNvSpPr/>
          <p:nvPr/>
        </p:nvSpPr>
        <p:spPr>
          <a:xfrm>
            <a:off x="3223383" y="2454055"/>
            <a:ext cx="5830570" cy="0"/>
          </a:xfrm>
          <a:custGeom>
            <a:avLst/>
            <a:gdLst/>
            <a:ahLst/>
            <a:cxnLst/>
            <a:rect l="l" t="t" r="r" b="b"/>
            <a:pathLst>
              <a:path w="5830570">
                <a:moveTo>
                  <a:pt x="5830469" y="0"/>
                </a:moveTo>
                <a:lnTo>
                  <a:pt x="0" y="0"/>
                </a:lnTo>
              </a:path>
            </a:pathLst>
          </a:custGeom>
          <a:ln w="7041">
            <a:solidFill>
              <a:srgbClr val="000000"/>
            </a:solidFill>
          </a:ln>
        </p:spPr>
        <p:txBody>
          <a:bodyPr wrap="square" lIns="0" tIns="0" rIns="0" bIns="0" rtlCol="0"/>
          <a:lstStyle/>
          <a:p>
            <a:endParaRPr/>
          </a:p>
        </p:txBody>
      </p:sp>
      <p:sp>
        <p:nvSpPr>
          <p:cNvPr id="18" name="object 18"/>
          <p:cNvSpPr/>
          <p:nvPr/>
        </p:nvSpPr>
        <p:spPr>
          <a:xfrm>
            <a:off x="3223383" y="2661951"/>
            <a:ext cx="5830570" cy="0"/>
          </a:xfrm>
          <a:custGeom>
            <a:avLst/>
            <a:gdLst/>
            <a:ahLst/>
            <a:cxnLst/>
            <a:rect l="l" t="t" r="r" b="b"/>
            <a:pathLst>
              <a:path w="5830570">
                <a:moveTo>
                  <a:pt x="5830469" y="0"/>
                </a:moveTo>
                <a:lnTo>
                  <a:pt x="0" y="0"/>
                </a:lnTo>
              </a:path>
            </a:pathLst>
          </a:custGeom>
          <a:ln w="7041">
            <a:solidFill>
              <a:srgbClr val="000000"/>
            </a:solidFill>
          </a:ln>
        </p:spPr>
        <p:txBody>
          <a:bodyPr wrap="square" lIns="0" tIns="0" rIns="0" bIns="0" rtlCol="0"/>
          <a:lstStyle/>
          <a:p>
            <a:endParaRPr/>
          </a:p>
        </p:txBody>
      </p:sp>
      <p:sp>
        <p:nvSpPr>
          <p:cNvPr id="19" name="object 19"/>
          <p:cNvSpPr/>
          <p:nvPr/>
        </p:nvSpPr>
        <p:spPr>
          <a:xfrm>
            <a:off x="3223383" y="2869892"/>
            <a:ext cx="5830570" cy="0"/>
          </a:xfrm>
          <a:custGeom>
            <a:avLst/>
            <a:gdLst/>
            <a:ahLst/>
            <a:cxnLst/>
            <a:rect l="l" t="t" r="r" b="b"/>
            <a:pathLst>
              <a:path w="5830570">
                <a:moveTo>
                  <a:pt x="5830469" y="0"/>
                </a:moveTo>
                <a:lnTo>
                  <a:pt x="0" y="0"/>
                </a:lnTo>
              </a:path>
            </a:pathLst>
          </a:custGeom>
          <a:ln w="7041">
            <a:solidFill>
              <a:srgbClr val="000000"/>
            </a:solidFill>
          </a:ln>
        </p:spPr>
        <p:txBody>
          <a:bodyPr wrap="square" lIns="0" tIns="0" rIns="0" bIns="0" rtlCol="0"/>
          <a:lstStyle/>
          <a:p>
            <a:endParaRPr/>
          </a:p>
        </p:txBody>
      </p:sp>
      <p:sp>
        <p:nvSpPr>
          <p:cNvPr id="20" name="object 20"/>
          <p:cNvSpPr/>
          <p:nvPr/>
        </p:nvSpPr>
        <p:spPr>
          <a:xfrm>
            <a:off x="3098348" y="2186277"/>
            <a:ext cx="142875" cy="120014"/>
          </a:xfrm>
          <a:custGeom>
            <a:avLst/>
            <a:gdLst/>
            <a:ahLst/>
            <a:cxnLst/>
            <a:rect l="l" t="t" r="r" b="b"/>
            <a:pathLst>
              <a:path w="142875" h="120014">
                <a:moveTo>
                  <a:pt x="142875" y="0"/>
                </a:moveTo>
                <a:lnTo>
                  <a:pt x="0" y="59836"/>
                </a:lnTo>
                <a:lnTo>
                  <a:pt x="142875" y="119672"/>
                </a:lnTo>
                <a:lnTo>
                  <a:pt x="142875" y="0"/>
                </a:lnTo>
                <a:close/>
              </a:path>
            </a:pathLst>
          </a:custGeom>
          <a:solidFill>
            <a:srgbClr val="000000"/>
          </a:solidFill>
        </p:spPr>
        <p:txBody>
          <a:bodyPr wrap="square" lIns="0" tIns="0" rIns="0" bIns="0" rtlCol="0"/>
          <a:lstStyle/>
          <a:p>
            <a:endParaRPr/>
          </a:p>
        </p:txBody>
      </p:sp>
      <p:sp>
        <p:nvSpPr>
          <p:cNvPr id="21" name="object 21"/>
          <p:cNvSpPr/>
          <p:nvPr/>
        </p:nvSpPr>
        <p:spPr>
          <a:xfrm>
            <a:off x="3098348" y="2394174"/>
            <a:ext cx="142875" cy="120014"/>
          </a:xfrm>
          <a:custGeom>
            <a:avLst/>
            <a:gdLst/>
            <a:ahLst/>
            <a:cxnLst/>
            <a:rect l="l" t="t" r="r" b="b"/>
            <a:pathLst>
              <a:path w="142875" h="120014">
                <a:moveTo>
                  <a:pt x="142875" y="0"/>
                </a:moveTo>
                <a:lnTo>
                  <a:pt x="0" y="59880"/>
                </a:lnTo>
                <a:lnTo>
                  <a:pt x="142875" y="119716"/>
                </a:lnTo>
                <a:lnTo>
                  <a:pt x="142875" y="0"/>
                </a:lnTo>
                <a:close/>
              </a:path>
            </a:pathLst>
          </a:custGeom>
          <a:solidFill>
            <a:srgbClr val="000000"/>
          </a:solidFill>
        </p:spPr>
        <p:txBody>
          <a:bodyPr wrap="square" lIns="0" tIns="0" rIns="0" bIns="0" rtlCol="0"/>
          <a:lstStyle/>
          <a:p>
            <a:endParaRPr/>
          </a:p>
        </p:txBody>
      </p:sp>
      <p:sp>
        <p:nvSpPr>
          <p:cNvPr id="22" name="object 22"/>
          <p:cNvSpPr/>
          <p:nvPr/>
        </p:nvSpPr>
        <p:spPr>
          <a:xfrm>
            <a:off x="3098348" y="2602115"/>
            <a:ext cx="142875" cy="120014"/>
          </a:xfrm>
          <a:custGeom>
            <a:avLst/>
            <a:gdLst/>
            <a:ahLst/>
            <a:cxnLst/>
            <a:rect l="l" t="t" r="r" b="b"/>
            <a:pathLst>
              <a:path w="142875" h="120014">
                <a:moveTo>
                  <a:pt x="142875" y="0"/>
                </a:moveTo>
                <a:lnTo>
                  <a:pt x="0" y="59836"/>
                </a:lnTo>
                <a:lnTo>
                  <a:pt x="142875" y="119672"/>
                </a:lnTo>
                <a:lnTo>
                  <a:pt x="142875" y="0"/>
                </a:lnTo>
                <a:close/>
              </a:path>
            </a:pathLst>
          </a:custGeom>
          <a:solidFill>
            <a:srgbClr val="000000"/>
          </a:solidFill>
        </p:spPr>
        <p:txBody>
          <a:bodyPr wrap="square" lIns="0" tIns="0" rIns="0" bIns="0" rtlCol="0"/>
          <a:lstStyle/>
          <a:p>
            <a:endParaRPr/>
          </a:p>
        </p:txBody>
      </p:sp>
      <p:sp>
        <p:nvSpPr>
          <p:cNvPr id="23" name="object 23"/>
          <p:cNvSpPr/>
          <p:nvPr/>
        </p:nvSpPr>
        <p:spPr>
          <a:xfrm>
            <a:off x="3098348" y="2810012"/>
            <a:ext cx="142875" cy="120014"/>
          </a:xfrm>
          <a:custGeom>
            <a:avLst/>
            <a:gdLst/>
            <a:ahLst/>
            <a:cxnLst/>
            <a:rect l="l" t="t" r="r" b="b"/>
            <a:pathLst>
              <a:path w="142875" h="120014">
                <a:moveTo>
                  <a:pt x="142875" y="0"/>
                </a:moveTo>
                <a:lnTo>
                  <a:pt x="0" y="59880"/>
                </a:lnTo>
                <a:lnTo>
                  <a:pt x="142875" y="119716"/>
                </a:lnTo>
                <a:lnTo>
                  <a:pt x="142875" y="0"/>
                </a:lnTo>
                <a:close/>
              </a:path>
            </a:pathLst>
          </a:custGeom>
          <a:solidFill>
            <a:srgbClr val="000000"/>
          </a:solidFill>
        </p:spPr>
        <p:txBody>
          <a:bodyPr wrap="square" lIns="0" tIns="0" rIns="0" bIns="0" rtlCol="0"/>
          <a:lstStyle/>
          <a:p>
            <a:endParaRPr/>
          </a:p>
        </p:txBody>
      </p:sp>
      <p:sp>
        <p:nvSpPr>
          <p:cNvPr id="24" name="object 24"/>
          <p:cNvSpPr/>
          <p:nvPr/>
        </p:nvSpPr>
        <p:spPr>
          <a:xfrm>
            <a:off x="3223383" y="3077789"/>
            <a:ext cx="5830570" cy="0"/>
          </a:xfrm>
          <a:custGeom>
            <a:avLst/>
            <a:gdLst/>
            <a:ahLst/>
            <a:cxnLst/>
            <a:rect l="l" t="t" r="r" b="b"/>
            <a:pathLst>
              <a:path w="5830570">
                <a:moveTo>
                  <a:pt x="5830469" y="0"/>
                </a:moveTo>
                <a:lnTo>
                  <a:pt x="0" y="0"/>
                </a:lnTo>
              </a:path>
            </a:pathLst>
          </a:custGeom>
          <a:ln w="7041">
            <a:solidFill>
              <a:srgbClr val="000000"/>
            </a:solidFill>
          </a:ln>
        </p:spPr>
        <p:txBody>
          <a:bodyPr wrap="square" lIns="0" tIns="0" rIns="0" bIns="0" rtlCol="0"/>
          <a:lstStyle/>
          <a:p>
            <a:endParaRPr/>
          </a:p>
        </p:txBody>
      </p:sp>
      <p:sp>
        <p:nvSpPr>
          <p:cNvPr id="25" name="object 25"/>
          <p:cNvSpPr/>
          <p:nvPr/>
        </p:nvSpPr>
        <p:spPr>
          <a:xfrm>
            <a:off x="3223383" y="3285730"/>
            <a:ext cx="5830570" cy="0"/>
          </a:xfrm>
          <a:custGeom>
            <a:avLst/>
            <a:gdLst/>
            <a:ahLst/>
            <a:cxnLst/>
            <a:rect l="l" t="t" r="r" b="b"/>
            <a:pathLst>
              <a:path w="5830570">
                <a:moveTo>
                  <a:pt x="5830469" y="0"/>
                </a:moveTo>
                <a:lnTo>
                  <a:pt x="0" y="0"/>
                </a:lnTo>
              </a:path>
            </a:pathLst>
          </a:custGeom>
          <a:ln w="7041">
            <a:solidFill>
              <a:srgbClr val="000000"/>
            </a:solidFill>
          </a:ln>
        </p:spPr>
        <p:txBody>
          <a:bodyPr wrap="square" lIns="0" tIns="0" rIns="0" bIns="0" rtlCol="0"/>
          <a:lstStyle/>
          <a:p>
            <a:endParaRPr/>
          </a:p>
        </p:txBody>
      </p:sp>
      <p:sp>
        <p:nvSpPr>
          <p:cNvPr id="26" name="object 26"/>
          <p:cNvSpPr/>
          <p:nvPr/>
        </p:nvSpPr>
        <p:spPr>
          <a:xfrm>
            <a:off x="3223383" y="3493626"/>
            <a:ext cx="5830570" cy="0"/>
          </a:xfrm>
          <a:custGeom>
            <a:avLst/>
            <a:gdLst/>
            <a:ahLst/>
            <a:cxnLst/>
            <a:rect l="l" t="t" r="r" b="b"/>
            <a:pathLst>
              <a:path w="5830570">
                <a:moveTo>
                  <a:pt x="5830469" y="0"/>
                </a:moveTo>
                <a:lnTo>
                  <a:pt x="0" y="0"/>
                </a:lnTo>
              </a:path>
            </a:pathLst>
          </a:custGeom>
          <a:ln w="7041">
            <a:solidFill>
              <a:srgbClr val="000000"/>
            </a:solidFill>
          </a:ln>
        </p:spPr>
        <p:txBody>
          <a:bodyPr wrap="square" lIns="0" tIns="0" rIns="0" bIns="0" rtlCol="0"/>
          <a:lstStyle/>
          <a:p>
            <a:endParaRPr/>
          </a:p>
        </p:txBody>
      </p:sp>
      <p:sp>
        <p:nvSpPr>
          <p:cNvPr id="27" name="object 27"/>
          <p:cNvSpPr/>
          <p:nvPr/>
        </p:nvSpPr>
        <p:spPr>
          <a:xfrm>
            <a:off x="3223383" y="3701567"/>
            <a:ext cx="5830570" cy="0"/>
          </a:xfrm>
          <a:custGeom>
            <a:avLst/>
            <a:gdLst/>
            <a:ahLst/>
            <a:cxnLst/>
            <a:rect l="l" t="t" r="r" b="b"/>
            <a:pathLst>
              <a:path w="5830570">
                <a:moveTo>
                  <a:pt x="5830469" y="0"/>
                </a:moveTo>
                <a:lnTo>
                  <a:pt x="0" y="0"/>
                </a:lnTo>
              </a:path>
            </a:pathLst>
          </a:custGeom>
          <a:ln w="7041">
            <a:solidFill>
              <a:srgbClr val="000000"/>
            </a:solidFill>
          </a:ln>
        </p:spPr>
        <p:txBody>
          <a:bodyPr wrap="square" lIns="0" tIns="0" rIns="0" bIns="0" rtlCol="0"/>
          <a:lstStyle/>
          <a:p>
            <a:endParaRPr/>
          </a:p>
        </p:txBody>
      </p:sp>
      <p:sp>
        <p:nvSpPr>
          <p:cNvPr id="28" name="object 28"/>
          <p:cNvSpPr/>
          <p:nvPr/>
        </p:nvSpPr>
        <p:spPr>
          <a:xfrm>
            <a:off x="3098348" y="3017952"/>
            <a:ext cx="142875" cy="120014"/>
          </a:xfrm>
          <a:custGeom>
            <a:avLst/>
            <a:gdLst/>
            <a:ahLst/>
            <a:cxnLst/>
            <a:rect l="l" t="t" r="r" b="b"/>
            <a:pathLst>
              <a:path w="142875" h="120014">
                <a:moveTo>
                  <a:pt x="142875" y="0"/>
                </a:moveTo>
                <a:lnTo>
                  <a:pt x="0" y="59836"/>
                </a:lnTo>
                <a:lnTo>
                  <a:pt x="142875" y="119672"/>
                </a:lnTo>
                <a:lnTo>
                  <a:pt x="142875" y="0"/>
                </a:lnTo>
                <a:close/>
              </a:path>
            </a:pathLst>
          </a:custGeom>
          <a:solidFill>
            <a:srgbClr val="000000"/>
          </a:solidFill>
        </p:spPr>
        <p:txBody>
          <a:bodyPr wrap="square" lIns="0" tIns="0" rIns="0" bIns="0" rtlCol="0"/>
          <a:lstStyle/>
          <a:p>
            <a:endParaRPr/>
          </a:p>
        </p:txBody>
      </p:sp>
      <p:sp>
        <p:nvSpPr>
          <p:cNvPr id="29" name="object 29"/>
          <p:cNvSpPr/>
          <p:nvPr/>
        </p:nvSpPr>
        <p:spPr>
          <a:xfrm>
            <a:off x="3098348" y="3225849"/>
            <a:ext cx="142875" cy="120014"/>
          </a:xfrm>
          <a:custGeom>
            <a:avLst/>
            <a:gdLst/>
            <a:ahLst/>
            <a:cxnLst/>
            <a:rect l="l" t="t" r="r" b="b"/>
            <a:pathLst>
              <a:path w="142875" h="120014">
                <a:moveTo>
                  <a:pt x="142875" y="0"/>
                </a:moveTo>
                <a:lnTo>
                  <a:pt x="0" y="59880"/>
                </a:lnTo>
                <a:lnTo>
                  <a:pt x="142875" y="119716"/>
                </a:lnTo>
                <a:lnTo>
                  <a:pt x="142875" y="0"/>
                </a:lnTo>
                <a:close/>
              </a:path>
            </a:pathLst>
          </a:custGeom>
          <a:solidFill>
            <a:srgbClr val="000000"/>
          </a:solidFill>
        </p:spPr>
        <p:txBody>
          <a:bodyPr wrap="square" lIns="0" tIns="0" rIns="0" bIns="0" rtlCol="0"/>
          <a:lstStyle/>
          <a:p>
            <a:endParaRPr/>
          </a:p>
        </p:txBody>
      </p:sp>
      <p:sp>
        <p:nvSpPr>
          <p:cNvPr id="30" name="object 30"/>
          <p:cNvSpPr/>
          <p:nvPr/>
        </p:nvSpPr>
        <p:spPr>
          <a:xfrm>
            <a:off x="3098348" y="3433790"/>
            <a:ext cx="142875" cy="120014"/>
          </a:xfrm>
          <a:custGeom>
            <a:avLst/>
            <a:gdLst/>
            <a:ahLst/>
            <a:cxnLst/>
            <a:rect l="l" t="t" r="r" b="b"/>
            <a:pathLst>
              <a:path w="142875" h="120014">
                <a:moveTo>
                  <a:pt x="142875" y="0"/>
                </a:moveTo>
                <a:lnTo>
                  <a:pt x="0" y="59836"/>
                </a:lnTo>
                <a:lnTo>
                  <a:pt x="142875" y="119672"/>
                </a:lnTo>
                <a:lnTo>
                  <a:pt x="142875" y="0"/>
                </a:lnTo>
                <a:close/>
              </a:path>
            </a:pathLst>
          </a:custGeom>
          <a:solidFill>
            <a:srgbClr val="000000"/>
          </a:solidFill>
        </p:spPr>
        <p:txBody>
          <a:bodyPr wrap="square" lIns="0" tIns="0" rIns="0" bIns="0" rtlCol="0"/>
          <a:lstStyle/>
          <a:p>
            <a:endParaRPr/>
          </a:p>
        </p:txBody>
      </p:sp>
      <p:sp>
        <p:nvSpPr>
          <p:cNvPr id="31" name="object 31"/>
          <p:cNvSpPr/>
          <p:nvPr/>
        </p:nvSpPr>
        <p:spPr>
          <a:xfrm>
            <a:off x="3098348" y="3641687"/>
            <a:ext cx="142875" cy="120014"/>
          </a:xfrm>
          <a:custGeom>
            <a:avLst/>
            <a:gdLst/>
            <a:ahLst/>
            <a:cxnLst/>
            <a:rect l="l" t="t" r="r" b="b"/>
            <a:pathLst>
              <a:path w="142875" h="120014">
                <a:moveTo>
                  <a:pt x="142875" y="0"/>
                </a:moveTo>
                <a:lnTo>
                  <a:pt x="0" y="59880"/>
                </a:lnTo>
                <a:lnTo>
                  <a:pt x="142875" y="119716"/>
                </a:lnTo>
                <a:lnTo>
                  <a:pt x="142875" y="0"/>
                </a:lnTo>
                <a:close/>
              </a:path>
            </a:pathLst>
          </a:custGeom>
          <a:solidFill>
            <a:srgbClr val="000000"/>
          </a:solidFill>
        </p:spPr>
        <p:txBody>
          <a:bodyPr wrap="square" lIns="0" tIns="0" rIns="0" bIns="0" rtlCol="0"/>
          <a:lstStyle/>
          <a:p>
            <a:endParaRPr/>
          </a:p>
        </p:txBody>
      </p:sp>
      <p:sp>
        <p:nvSpPr>
          <p:cNvPr id="32" name="object 32"/>
          <p:cNvSpPr/>
          <p:nvPr/>
        </p:nvSpPr>
        <p:spPr>
          <a:xfrm>
            <a:off x="3252763" y="4387666"/>
            <a:ext cx="5801360" cy="0"/>
          </a:xfrm>
          <a:custGeom>
            <a:avLst/>
            <a:gdLst/>
            <a:ahLst/>
            <a:cxnLst/>
            <a:rect l="l" t="t" r="r" b="b"/>
            <a:pathLst>
              <a:path w="5801359">
                <a:moveTo>
                  <a:pt x="5801089" y="0"/>
                </a:moveTo>
                <a:lnTo>
                  <a:pt x="0" y="0"/>
                </a:lnTo>
              </a:path>
            </a:pathLst>
          </a:custGeom>
          <a:ln w="21124">
            <a:solidFill>
              <a:srgbClr val="000000"/>
            </a:solidFill>
          </a:ln>
        </p:spPr>
        <p:txBody>
          <a:bodyPr wrap="square" lIns="0" tIns="0" rIns="0" bIns="0" rtlCol="0"/>
          <a:lstStyle/>
          <a:p>
            <a:endParaRPr/>
          </a:p>
        </p:txBody>
      </p:sp>
      <p:sp>
        <p:nvSpPr>
          <p:cNvPr id="33" name="object 33"/>
          <p:cNvSpPr/>
          <p:nvPr/>
        </p:nvSpPr>
        <p:spPr>
          <a:xfrm>
            <a:off x="3098348" y="4313725"/>
            <a:ext cx="176530" cy="147955"/>
          </a:xfrm>
          <a:custGeom>
            <a:avLst/>
            <a:gdLst/>
            <a:ahLst/>
            <a:cxnLst/>
            <a:rect l="l" t="t" r="r" b="b"/>
            <a:pathLst>
              <a:path w="176529" h="147954">
                <a:moveTo>
                  <a:pt x="176489" y="0"/>
                </a:moveTo>
                <a:lnTo>
                  <a:pt x="0" y="73941"/>
                </a:lnTo>
                <a:lnTo>
                  <a:pt x="176490" y="147882"/>
                </a:lnTo>
                <a:lnTo>
                  <a:pt x="176489" y="0"/>
                </a:lnTo>
                <a:close/>
              </a:path>
            </a:pathLst>
          </a:custGeom>
          <a:solidFill>
            <a:srgbClr val="000000"/>
          </a:solidFill>
        </p:spPr>
        <p:txBody>
          <a:bodyPr wrap="square" lIns="0" tIns="0" rIns="0" bIns="0" rtlCol="0"/>
          <a:lstStyle/>
          <a:p>
            <a:endParaRPr/>
          </a:p>
        </p:txBody>
      </p:sp>
      <p:sp>
        <p:nvSpPr>
          <p:cNvPr id="34" name="object 34"/>
          <p:cNvSpPr/>
          <p:nvPr/>
        </p:nvSpPr>
        <p:spPr>
          <a:xfrm>
            <a:off x="3098348" y="4803504"/>
            <a:ext cx="5801360" cy="0"/>
          </a:xfrm>
          <a:custGeom>
            <a:avLst/>
            <a:gdLst/>
            <a:ahLst/>
            <a:cxnLst/>
            <a:rect l="l" t="t" r="r" b="b"/>
            <a:pathLst>
              <a:path w="5801359">
                <a:moveTo>
                  <a:pt x="5800930" y="0"/>
                </a:moveTo>
                <a:lnTo>
                  <a:pt x="0" y="0"/>
                </a:lnTo>
              </a:path>
            </a:pathLst>
          </a:custGeom>
          <a:ln w="21124">
            <a:solidFill>
              <a:srgbClr val="000000"/>
            </a:solidFill>
          </a:ln>
        </p:spPr>
        <p:txBody>
          <a:bodyPr wrap="square" lIns="0" tIns="0" rIns="0" bIns="0" rtlCol="0"/>
          <a:lstStyle/>
          <a:p>
            <a:endParaRPr/>
          </a:p>
        </p:txBody>
      </p:sp>
      <p:sp>
        <p:nvSpPr>
          <p:cNvPr id="35" name="object 35"/>
          <p:cNvSpPr/>
          <p:nvPr/>
        </p:nvSpPr>
        <p:spPr>
          <a:xfrm>
            <a:off x="8877045" y="4729562"/>
            <a:ext cx="177165" cy="147955"/>
          </a:xfrm>
          <a:custGeom>
            <a:avLst/>
            <a:gdLst/>
            <a:ahLst/>
            <a:cxnLst/>
            <a:rect l="l" t="t" r="r" b="b"/>
            <a:pathLst>
              <a:path w="177165" h="147954">
                <a:moveTo>
                  <a:pt x="0" y="0"/>
                </a:moveTo>
                <a:lnTo>
                  <a:pt x="0" y="147891"/>
                </a:lnTo>
                <a:lnTo>
                  <a:pt x="176807" y="73941"/>
                </a:lnTo>
                <a:lnTo>
                  <a:pt x="0" y="0"/>
                </a:lnTo>
                <a:close/>
              </a:path>
            </a:pathLst>
          </a:custGeom>
          <a:solidFill>
            <a:srgbClr val="000000"/>
          </a:solidFill>
        </p:spPr>
        <p:txBody>
          <a:bodyPr wrap="square" lIns="0" tIns="0" rIns="0" bIns="0" rtlCol="0"/>
          <a:lstStyle/>
          <a:p>
            <a:endParaRPr/>
          </a:p>
        </p:txBody>
      </p:sp>
      <p:sp>
        <p:nvSpPr>
          <p:cNvPr id="36" name="object 36"/>
          <p:cNvSpPr txBox="1"/>
          <p:nvPr/>
        </p:nvSpPr>
        <p:spPr>
          <a:xfrm>
            <a:off x="2166142" y="2651760"/>
            <a:ext cx="375920" cy="1375410"/>
          </a:xfrm>
          <a:prstGeom prst="rect">
            <a:avLst/>
          </a:prstGeom>
        </p:spPr>
        <p:txBody>
          <a:bodyPr vert="horz" wrap="square" lIns="0" tIns="0" rIns="0" bIns="0" rtlCol="0">
            <a:spAutoFit/>
          </a:bodyPr>
          <a:lstStyle/>
          <a:p>
            <a:pPr marL="12700" marR="5080" algn="just">
              <a:lnSpc>
                <a:spcPct val="100400"/>
              </a:lnSpc>
            </a:pPr>
            <a:r>
              <a:rPr sz="2300" spc="355" dirty="0">
                <a:latin typeface="宋体"/>
                <a:cs typeface="宋体"/>
              </a:rPr>
              <a:t>接 收 设 备</a:t>
            </a:r>
            <a:endParaRPr sz="2300">
              <a:latin typeface="宋体"/>
              <a:cs typeface="宋体"/>
            </a:endParaRPr>
          </a:p>
        </p:txBody>
      </p:sp>
      <p:sp>
        <p:nvSpPr>
          <p:cNvPr id="37" name="object 37"/>
          <p:cNvSpPr txBox="1"/>
          <p:nvPr/>
        </p:nvSpPr>
        <p:spPr>
          <a:xfrm>
            <a:off x="9659979" y="2539184"/>
            <a:ext cx="375920" cy="1375410"/>
          </a:xfrm>
          <a:prstGeom prst="rect">
            <a:avLst/>
          </a:prstGeom>
        </p:spPr>
        <p:txBody>
          <a:bodyPr vert="horz" wrap="square" lIns="0" tIns="0" rIns="0" bIns="0" rtlCol="0">
            <a:spAutoFit/>
          </a:bodyPr>
          <a:lstStyle/>
          <a:p>
            <a:pPr marL="12700" marR="5080" algn="just">
              <a:lnSpc>
                <a:spcPct val="100400"/>
              </a:lnSpc>
            </a:pPr>
            <a:r>
              <a:rPr sz="2300" spc="355" dirty="0">
                <a:latin typeface="宋体"/>
                <a:cs typeface="宋体"/>
              </a:rPr>
              <a:t>发 送 设 备</a:t>
            </a:r>
            <a:endParaRPr sz="2300">
              <a:latin typeface="宋体"/>
              <a:cs typeface="宋体"/>
            </a:endParaRPr>
          </a:p>
        </p:txBody>
      </p:sp>
      <p:sp>
        <p:nvSpPr>
          <p:cNvPr id="38" name="object 38"/>
          <p:cNvSpPr/>
          <p:nvPr/>
        </p:nvSpPr>
        <p:spPr>
          <a:xfrm>
            <a:off x="7862783" y="2009075"/>
            <a:ext cx="347345" cy="1846580"/>
          </a:xfrm>
          <a:custGeom>
            <a:avLst/>
            <a:gdLst/>
            <a:ahLst/>
            <a:cxnLst/>
            <a:rect l="l" t="t" r="r" b="b"/>
            <a:pathLst>
              <a:path w="347345" h="1846579">
                <a:moveTo>
                  <a:pt x="173631" y="0"/>
                </a:moveTo>
                <a:lnTo>
                  <a:pt x="131931" y="26829"/>
                </a:lnTo>
                <a:lnTo>
                  <a:pt x="106079" y="72546"/>
                </a:lnTo>
                <a:lnTo>
                  <a:pt x="82204" y="138310"/>
                </a:lnTo>
                <a:lnTo>
                  <a:pt x="71121" y="178116"/>
                </a:lnTo>
                <a:lnTo>
                  <a:pt x="60666" y="222221"/>
                </a:lnTo>
                <a:lnTo>
                  <a:pt x="50885" y="270388"/>
                </a:lnTo>
                <a:lnTo>
                  <a:pt x="41822" y="322379"/>
                </a:lnTo>
                <a:lnTo>
                  <a:pt x="33523" y="377956"/>
                </a:lnTo>
                <a:lnTo>
                  <a:pt x="26032" y="436883"/>
                </a:lnTo>
                <a:lnTo>
                  <a:pt x="19395" y="498920"/>
                </a:lnTo>
                <a:lnTo>
                  <a:pt x="13655" y="563832"/>
                </a:lnTo>
                <a:lnTo>
                  <a:pt x="8859" y="631379"/>
                </a:lnTo>
                <a:lnTo>
                  <a:pt x="5050" y="701326"/>
                </a:lnTo>
                <a:lnTo>
                  <a:pt x="2274" y="773433"/>
                </a:lnTo>
                <a:lnTo>
                  <a:pt x="576" y="847464"/>
                </a:lnTo>
                <a:lnTo>
                  <a:pt x="0" y="923181"/>
                </a:lnTo>
                <a:lnTo>
                  <a:pt x="576" y="998892"/>
                </a:lnTo>
                <a:lnTo>
                  <a:pt x="2274" y="1072917"/>
                </a:lnTo>
                <a:lnTo>
                  <a:pt x="5050" y="1145019"/>
                </a:lnTo>
                <a:lnTo>
                  <a:pt x="8859" y="1214961"/>
                </a:lnTo>
                <a:lnTo>
                  <a:pt x="13655" y="1282505"/>
                </a:lnTo>
                <a:lnTo>
                  <a:pt x="19395" y="1347413"/>
                </a:lnTo>
                <a:lnTo>
                  <a:pt x="26032" y="1409447"/>
                </a:lnTo>
                <a:lnTo>
                  <a:pt x="33523" y="1468371"/>
                </a:lnTo>
                <a:lnTo>
                  <a:pt x="41822" y="1523946"/>
                </a:lnTo>
                <a:lnTo>
                  <a:pt x="50885" y="1575935"/>
                </a:lnTo>
                <a:lnTo>
                  <a:pt x="60666" y="1624100"/>
                </a:lnTo>
                <a:lnTo>
                  <a:pt x="71121" y="1668204"/>
                </a:lnTo>
                <a:lnTo>
                  <a:pt x="82204" y="1708009"/>
                </a:lnTo>
                <a:lnTo>
                  <a:pt x="106079" y="1773773"/>
                </a:lnTo>
                <a:lnTo>
                  <a:pt x="131931" y="1819489"/>
                </a:lnTo>
                <a:lnTo>
                  <a:pt x="173631" y="1846318"/>
                </a:lnTo>
                <a:lnTo>
                  <a:pt x="187861" y="1843258"/>
                </a:lnTo>
                <a:lnTo>
                  <a:pt x="228482" y="1799255"/>
                </a:lnTo>
                <a:lnTo>
                  <a:pt x="253390" y="1743278"/>
                </a:lnTo>
                <a:lnTo>
                  <a:pt x="276141" y="1668204"/>
                </a:lnTo>
                <a:lnTo>
                  <a:pt x="286596" y="1624100"/>
                </a:lnTo>
                <a:lnTo>
                  <a:pt x="296377" y="1575935"/>
                </a:lnTo>
                <a:lnTo>
                  <a:pt x="305440" y="1523946"/>
                </a:lnTo>
                <a:lnTo>
                  <a:pt x="313739" y="1468371"/>
                </a:lnTo>
                <a:lnTo>
                  <a:pt x="321230" y="1409447"/>
                </a:lnTo>
                <a:lnTo>
                  <a:pt x="327867" y="1347413"/>
                </a:lnTo>
                <a:lnTo>
                  <a:pt x="333606" y="1282505"/>
                </a:lnTo>
                <a:lnTo>
                  <a:pt x="338403" y="1214961"/>
                </a:lnTo>
                <a:lnTo>
                  <a:pt x="342212" y="1145019"/>
                </a:lnTo>
                <a:lnTo>
                  <a:pt x="344988" y="1072917"/>
                </a:lnTo>
                <a:lnTo>
                  <a:pt x="346686" y="998892"/>
                </a:lnTo>
                <a:lnTo>
                  <a:pt x="347262" y="923181"/>
                </a:lnTo>
                <a:lnTo>
                  <a:pt x="346686" y="847464"/>
                </a:lnTo>
                <a:lnTo>
                  <a:pt x="344988" y="773433"/>
                </a:lnTo>
                <a:lnTo>
                  <a:pt x="342212" y="701326"/>
                </a:lnTo>
                <a:lnTo>
                  <a:pt x="338403" y="631379"/>
                </a:lnTo>
                <a:lnTo>
                  <a:pt x="333606" y="563832"/>
                </a:lnTo>
                <a:lnTo>
                  <a:pt x="327867" y="498920"/>
                </a:lnTo>
                <a:lnTo>
                  <a:pt x="321229" y="436883"/>
                </a:lnTo>
                <a:lnTo>
                  <a:pt x="313739" y="377956"/>
                </a:lnTo>
                <a:lnTo>
                  <a:pt x="305440" y="322379"/>
                </a:lnTo>
                <a:lnTo>
                  <a:pt x="296377" y="270388"/>
                </a:lnTo>
                <a:lnTo>
                  <a:pt x="286596" y="222221"/>
                </a:lnTo>
                <a:lnTo>
                  <a:pt x="276141" y="178116"/>
                </a:lnTo>
                <a:lnTo>
                  <a:pt x="265057" y="138310"/>
                </a:lnTo>
                <a:lnTo>
                  <a:pt x="241183" y="72546"/>
                </a:lnTo>
                <a:lnTo>
                  <a:pt x="215331" y="26829"/>
                </a:lnTo>
                <a:lnTo>
                  <a:pt x="173631" y="0"/>
                </a:lnTo>
                <a:close/>
              </a:path>
            </a:pathLst>
          </a:custGeom>
          <a:solidFill>
            <a:srgbClr val="FFFFFF"/>
          </a:solidFill>
        </p:spPr>
        <p:txBody>
          <a:bodyPr wrap="square" lIns="0" tIns="0" rIns="0" bIns="0" rtlCol="0"/>
          <a:lstStyle/>
          <a:p>
            <a:endParaRPr/>
          </a:p>
        </p:txBody>
      </p:sp>
      <p:sp>
        <p:nvSpPr>
          <p:cNvPr id="39" name="object 39"/>
          <p:cNvSpPr/>
          <p:nvPr/>
        </p:nvSpPr>
        <p:spPr>
          <a:xfrm>
            <a:off x="7862783" y="2009075"/>
            <a:ext cx="347345" cy="1846580"/>
          </a:xfrm>
          <a:custGeom>
            <a:avLst/>
            <a:gdLst/>
            <a:ahLst/>
            <a:cxnLst/>
            <a:rect l="l" t="t" r="r" b="b"/>
            <a:pathLst>
              <a:path w="347345" h="1846579">
                <a:moveTo>
                  <a:pt x="347262" y="923181"/>
                </a:moveTo>
                <a:lnTo>
                  <a:pt x="346686" y="847464"/>
                </a:lnTo>
                <a:lnTo>
                  <a:pt x="344988" y="773433"/>
                </a:lnTo>
                <a:lnTo>
                  <a:pt x="342212" y="701326"/>
                </a:lnTo>
                <a:lnTo>
                  <a:pt x="338403" y="631379"/>
                </a:lnTo>
                <a:lnTo>
                  <a:pt x="333606" y="563832"/>
                </a:lnTo>
                <a:lnTo>
                  <a:pt x="327867" y="498920"/>
                </a:lnTo>
                <a:lnTo>
                  <a:pt x="321229" y="436883"/>
                </a:lnTo>
                <a:lnTo>
                  <a:pt x="313739" y="377956"/>
                </a:lnTo>
                <a:lnTo>
                  <a:pt x="305440" y="322379"/>
                </a:lnTo>
                <a:lnTo>
                  <a:pt x="296377" y="270388"/>
                </a:lnTo>
                <a:lnTo>
                  <a:pt x="286596" y="222221"/>
                </a:lnTo>
                <a:lnTo>
                  <a:pt x="276141" y="178116"/>
                </a:lnTo>
                <a:lnTo>
                  <a:pt x="265057" y="138310"/>
                </a:lnTo>
                <a:lnTo>
                  <a:pt x="241183" y="72546"/>
                </a:lnTo>
                <a:lnTo>
                  <a:pt x="215331" y="26829"/>
                </a:lnTo>
                <a:lnTo>
                  <a:pt x="173631" y="0"/>
                </a:lnTo>
                <a:lnTo>
                  <a:pt x="159401" y="3060"/>
                </a:lnTo>
                <a:lnTo>
                  <a:pt x="118780" y="47063"/>
                </a:lnTo>
                <a:lnTo>
                  <a:pt x="93872" y="103041"/>
                </a:lnTo>
                <a:lnTo>
                  <a:pt x="71121" y="178116"/>
                </a:lnTo>
                <a:lnTo>
                  <a:pt x="60666" y="222221"/>
                </a:lnTo>
                <a:lnTo>
                  <a:pt x="50885" y="270388"/>
                </a:lnTo>
                <a:lnTo>
                  <a:pt x="41822" y="322379"/>
                </a:lnTo>
                <a:lnTo>
                  <a:pt x="33523" y="377956"/>
                </a:lnTo>
                <a:lnTo>
                  <a:pt x="26032" y="436883"/>
                </a:lnTo>
                <a:lnTo>
                  <a:pt x="19395" y="498920"/>
                </a:lnTo>
                <a:lnTo>
                  <a:pt x="13655" y="563832"/>
                </a:lnTo>
                <a:lnTo>
                  <a:pt x="8859" y="631379"/>
                </a:lnTo>
                <a:lnTo>
                  <a:pt x="5050" y="701326"/>
                </a:lnTo>
                <a:lnTo>
                  <a:pt x="2274" y="773433"/>
                </a:lnTo>
                <a:lnTo>
                  <a:pt x="576" y="847464"/>
                </a:lnTo>
                <a:lnTo>
                  <a:pt x="0" y="923181"/>
                </a:lnTo>
                <a:lnTo>
                  <a:pt x="576" y="998892"/>
                </a:lnTo>
                <a:lnTo>
                  <a:pt x="2274" y="1072917"/>
                </a:lnTo>
                <a:lnTo>
                  <a:pt x="5050" y="1145019"/>
                </a:lnTo>
                <a:lnTo>
                  <a:pt x="8859" y="1214961"/>
                </a:lnTo>
                <a:lnTo>
                  <a:pt x="13655" y="1282505"/>
                </a:lnTo>
                <a:lnTo>
                  <a:pt x="19395" y="1347413"/>
                </a:lnTo>
                <a:lnTo>
                  <a:pt x="26032" y="1409447"/>
                </a:lnTo>
                <a:lnTo>
                  <a:pt x="33523" y="1468371"/>
                </a:lnTo>
                <a:lnTo>
                  <a:pt x="41822" y="1523946"/>
                </a:lnTo>
                <a:lnTo>
                  <a:pt x="50885" y="1575935"/>
                </a:lnTo>
                <a:lnTo>
                  <a:pt x="60666" y="1624100"/>
                </a:lnTo>
                <a:lnTo>
                  <a:pt x="71121" y="1668204"/>
                </a:lnTo>
                <a:lnTo>
                  <a:pt x="82204" y="1708009"/>
                </a:lnTo>
                <a:lnTo>
                  <a:pt x="106079" y="1773773"/>
                </a:lnTo>
                <a:lnTo>
                  <a:pt x="131931" y="1819489"/>
                </a:lnTo>
                <a:lnTo>
                  <a:pt x="173631" y="1846318"/>
                </a:lnTo>
                <a:lnTo>
                  <a:pt x="187861" y="1843258"/>
                </a:lnTo>
                <a:lnTo>
                  <a:pt x="228482" y="1799255"/>
                </a:lnTo>
                <a:lnTo>
                  <a:pt x="253390" y="1743278"/>
                </a:lnTo>
                <a:lnTo>
                  <a:pt x="276141" y="1668204"/>
                </a:lnTo>
                <a:lnTo>
                  <a:pt x="286596" y="1624100"/>
                </a:lnTo>
                <a:lnTo>
                  <a:pt x="296377" y="1575935"/>
                </a:lnTo>
                <a:lnTo>
                  <a:pt x="305440" y="1523946"/>
                </a:lnTo>
                <a:lnTo>
                  <a:pt x="313739" y="1468371"/>
                </a:lnTo>
                <a:lnTo>
                  <a:pt x="321230" y="1409447"/>
                </a:lnTo>
                <a:lnTo>
                  <a:pt x="327867" y="1347413"/>
                </a:lnTo>
                <a:lnTo>
                  <a:pt x="333606" y="1282505"/>
                </a:lnTo>
                <a:lnTo>
                  <a:pt x="338403" y="1214961"/>
                </a:lnTo>
                <a:lnTo>
                  <a:pt x="342212" y="1145019"/>
                </a:lnTo>
                <a:lnTo>
                  <a:pt x="344988" y="1072917"/>
                </a:lnTo>
                <a:lnTo>
                  <a:pt x="346686" y="998892"/>
                </a:lnTo>
                <a:lnTo>
                  <a:pt x="347262" y="923181"/>
                </a:lnTo>
                <a:close/>
              </a:path>
            </a:pathLst>
          </a:custGeom>
          <a:ln w="25071">
            <a:solidFill>
              <a:srgbClr val="000000"/>
            </a:solidFill>
          </a:ln>
        </p:spPr>
        <p:txBody>
          <a:bodyPr wrap="square" lIns="0" tIns="0" rIns="0" bIns="0" rtlCol="0"/>
          <a:lstStyle/>
          <a:p>
            <a:endParaRPr/>
          </a:p>
        </p:txBody>
      </p:sp>
      <p:sp>
        <p:nvSpPr>
          <p:cNvPr id="40" name="object 40"/>
          <p:cNvSpPr txBox="1"/>
          <p:nvPr/>
        </p:nvSpPr>
        <p:spPr>
          <a:xfrm>
            <a:off x="1157122" y="4020142"/>
            <a:ext cx="9474835" cy="2634615"/>
          </a:xfrm>
          <a:prstGeom prst="rect">
            <a:avLst/>
          </a:prstGeom>
        </p:spPr>
        <p:txBody>
          <a:bodyPr vert="horz" wrap="square" lIns="0" tIns="0" rIns="0" bIns="0" rtlCol="0">
            <a:spAutoFit/>
          </a:bodyPr>
          <a:lstStyle/>
          <a:p>
            <a:pPr marL="263525" algn="ctr">
              <a:lnSpc>
                <a:spcPct val="100000"/>
              </a:lnSpc>
            </a:pPr>
            <a:r>
              <a:rPr sz="2300" spc="455" dirty="0">
                <a:latin typeface="宋体"/>
                <a:cs typeface="宋体"/>
              </a:rPr>
              <a:t>询问</a:t>
            </a:r>
            <a:endParaRPr sz="2300">
              <a:latin typeface="宋体"/>
              <a:cs typeface="宋体"/>
            </a:endParaRPr>
          </a:p>
          <a:p>
            <a:pPr>
              <a:lnSpc>
                <a:spcPct val="100000"/>
              </a:lnSpc>
              <a:spcBef>
                <a:spcPts val="1"/>
              </a:spcBef>
            </a:pPr>
            <a:endParaRPr sz="3200">
              <a:latin typeface="Times New Roman"/>
              <a:cs typeface="Times New Roman"/>
            </a:endParaRPr>
          </a:p>
          <a:p>
            <a:pPr marL="263525" algn="ctr">
              <a:lnSpc>
                <a:spcPct val="100000"/>
              </a:lnSpc>
            </a:pPr>
            <a:r>
              <a:rPr sz="2300" spc="455" dirty="0">
                <a:latin typeface="宋体"/>
                <a:cs typeface="宋体"/>
              </a:rPr>
              <a:t>应答</a:t>
            </a:r>
            <a:endParaRPr sz="2300">
              <a:latin typeface="宋体"/>
              <a:cs typeface="宋体"/>
            </a:endParaRPr>
          </a:p>
          <a:p>
            <a:pPr>
              <a:lnSpc>
                <a:spcPct val="100000"/>
              </a:lnSpc>
            </a:pPr>
            <a:endParaRPr sz="2300">
              <a:latin typeface="Times New Roman"/>
              <a:cs typeface="Times New Roman"/>
            </a:endParaRPr>
          </a:p>
          <a:p>
            <a:pPr marL="12700">
              <a:lnSpc>
                <a:spcPct val="100000"/>
              </a:lnSpc>
              <a:spcBef>
                <a:spcPts val="1815"/>
              </a:spcBef>
            </a:pPr>
            <a:r>
              <a:rPr sz="2400" b="1" dirty="0">
                <a:solidFill>
                  <a:srgbClr val="FF0000"/>
                </a:solidFill>
                <a:latin typeface="微软雅黑"/>
                <a:cs typeface="微软雅黑"/>
              </a:rPr>
              <a:t>特点：</a:t>
            </a:r>
            <a:r>
              <a:rPr sz="2400" b="1" dirty="0">
                <a:latin typeface="微软雅黑"/>
                <a:cs typeface="微软雅黑"/>
              </a:rPr>
              <a:t>多位数据同时传输，传输控制简单，传输速度快，但是在长距离</a:t>
            </a:r>
            <a:endParaRPr sz="2400">
              <a:latin typeface="微软雅黑"/>
              <a:cs typeface="微软雅黑"/>
            </a:endParaRPr>
          </a:p>
          <a:p>
            <a:pPr marL="918210">
              <a:lnSpc>
                <a:spcPct val="100000"/>
              </a:lnSpc>
              <a:spcBef>
                <a:spcPts val="1440"/>
              </a:spcBef>
            </a:pPr>
            <a:r>
              <a:rPr sz="2400" b="1" spc="-5" dirty="0">
                <a:latin typeface="微软雅黑"/>
                <a:cs typeface="微软雅黑"/>
              </a:rPr>
              <a:t>传输时硬件成本较高。</a:t>
            </a:r>
            <a:endParaRPr sz="2400">
              <a:latin typeface="微软雅黑"/>
              <a:cs typeface="微软雅黑"/>
            </a:endParaRPr>
          </a:p>
        </p:txBody>
      </p:sp>
      <p:sp>
        <p:nvSpPr>
          <p:cNvPr id="41" name="object 41"/>
          <p:cNvSpPr txBox="1"/>
          <p:nvPr/>
        </p:nvSpPr>
        <p:spPr>
          <a:xfrm>
            <a:off x="7996187" y="2111096"/>
            <a:ext cx="130810" cy="201930"/>
          </a:xfrm>
          <a:prstGeom prst="rect">
            <a:avLst/>
          </a:prstGeom>
        </p:spPr>
        <p:txBody>
          <a:bodyPr vert="horz" wrap="square" lIns="0" tIns="0" rIns="0" bIns="0" rtlCol="0">
            <a:spAutoFit/>
          </a:bodyPr>
          <a:lstStyle/>
          <a:p>
            <a:pPr marL="12700">
              <a:lnSpc>
                <a:spcPct val="100000"/>
              </a:lnSpc>
            </a:pPr>
            <a:r>
              <a:rPr sz="1350" spc="150" dirty="0">
                <a:latin typeface="宋体"/>
                <a:cs typeface="宋体"/>
              </a:rPr>
              <a:t>1</a:t>
            </a:r>
            <a:endParaRPr sz="1350">
              <a:latin typeface="宋体"/>
              <a:cs typeface="宋体"/>
            </a:endParaRPr>
          </a:p>
        </p:txBody>
      </p:sp>
      <p:sp>
        <p:nvSpPr>
          <p:cNvPr id="42" name="object 42"/>
          <p:cNvSpPr txBox="1"/>
          <p:nvPr/>
        </p:nvSpPr>
        <p:spPr>
          <a:xfrm>
            <a:off x="7996187" y="2322364"/>
            <a:ext cx="130810" cy="201930"/>
          </a:xfrm>
          <a:prstGeom prst="rect">
            <a:avLst/>
          </a:prstGeom>
        </p:spPr>
        <p:txBody>
          <a:bodyPr vert="horz" wrap="square" lIns="0" tIns="0" rIns="0" bIns="0" rtlCol="0">
            <a:spAutoFit/>
          </a:bodyPr>
          <a:lstStyle/>
          <a:p>
            <a:pPr marL="12700">
              <a:lnSpc>
                <a:spcPct val="100000"/>
              </a:lnSpc>
            </a:pPr>
            <a:r>
              <a:rPr sz="1350" spc="150" dirty="0">
                <a:latin typeface="宋体"/>
                <a:cs typeface="宋体"/>
              </a:rPr>
              <a:t>0</a:t>
            </a:r>
            <a:endParaRPr sz="1350">
              <a:latin typeface="宋体"/>
              <a:cs typeface="宋体"/>
            </a:endParaRPr>
          </a:p>
        </p:txBody>
      </p:sp>
      <p:sp>
        <p:nvSpPr>
          <p:cNvPr id="43" name="object 43"/>
          <p:cNvSpPr txBox="1"/>
          <p:nvPr/>
        </p:nvSpPr>
        <p:spPr>
          <a:xfrm>
            <a:off x="7996187" y="2533632"/>
            <a:ext cx="130810" cy="201930"/>
          </a:xfrm>
          <a:prstGeom prst="rect">
            <a:avLst/>
          </a:prstGeom>
        </p:spPr>
        <p:txBody>
          <a:bodyPr vert="horz" wrap="square" lIns="0" tIns="0" rIns="0" bIns="0" rtlCol="0">
            <a:spAutoFit/>
          </a:bodyPr>
          <a:lstStyle/>
          <a:p>
            <a:pPr marL="12700">
              <a:lnSpc>
                <a:spcPct val="100000"/>
              </a:lnSpc>
            </a:pPr>
            <a:r>
              <a:rPr sz="1350" spc="150" dirty="0">
                <a:latin typeface="宋体"/>
                <a:cs typeface="宋体"/>
              </a:rPr>
              <a:t>1</a:t>
            </a:r>
            <a:endParaRPr sz="1350">
              <a:latin typeface="宋体"/>
              <a:cs typeface="宋体"/>
            </a:endParaRPr>
          </a:p>
        </p:txBody>
      </p:sp>
      <p:sp>
        <p:nvSpPr>
          <p:cNvPr id="44" name="object 44"/>
          <p:cNvSpPr txBox="1"/>
          <p:nvPr/>
        </p:nvSpPr>
        <p:spPr>
          <a:xfrm>
            <a:off x="7996187" y="2744855"/>
            <a:ext cx="130810" cy="201930"/>
          </a:xfrm>
          <a:prstGeom prst="rect">
            <a:avLst/>
          </a:prstGeom>
        </p:spPr>
        <p:txBody>
          <a:bodyPr vert="horz" wrap="square" lIns="0" tIns="0" rIns="0" bIns="0" rtlCol="0">
            <a:spAutoFit/>
          </a:bodyPr>
          <a:lstStyle/>
          <a:p>
            <a:pPr marL="12700">
              <a:lnSpc>
                <a:spcPct val="100000"/>
              </a:lnSpc>
            </a:pPr>
            <a:r>
              <a:rPr sz="1350" spc="150" dirty="0">
                <a:latin typeface="宋体"/>
                <a:cs typeface="宋体"/>
              </a:rPr>
              <a:t>0</a:t>
            </a:r>
            <a:endParaRPr sz="1350">
              <a:latin typeface="宋体"/>
              <a:cs typeface="宋体"/>
            </a:endParaRPr>
          </a:p>
        </p:txBody>
      </p:sp>
      <p:sp>
        <p:nvSpPr>
          <p:cNvPr id="45" name="object 45"/>
          <p:cNvSpPr txBox="1"/>
          <p:nvPr/>
        </p:nvSpPr>
        <p:spPr>
          <a:xfrm>
            <a:off x="7996188" y="2956078"/>
            <a:ext cx="130810" cy="201930"/>
          </a:xfrm>
          <a:prstGeom prst="rect">
            <a:avLst/>
          </a:prstGeom>
        </p:spPr>
        <p:txBody>
          <a:bodyPr vert="horz" wrap="square" lIns="0" tIns="0" rIns="0" bIns="0" rtlCol="0">
            <a:spAutoFit/>
          </a:bodyPr>
          <a:lstStyle/>
          <a:p>
            <a:pPr marL="12700">
              <a:lnSpc>
                <a:spcPct val="100000"/>
              </a:lnSpc>
            </a:pPr>
            <a:r>
              <a:rPr sz="1350" spc="150" dirty="0">
                <a:latin typeface="宋体"/>
                <a:cs typeface="宋体"/>
              </a:rPr>
              <a:t>1</a:t>
            </a:r>
            <a:endParaRPr sz="1350">
              <a:latin typeface="宋体"/>
              <a:cs typeface="宋体"/>
            </a:endParaRPr>
          </a:p>
        </p:txBody>
      </p:sp>
      <p:sp>
        <p:nvSpPr>
          <p:cNvPr id="46" name="object 46"/>
          <p:cNvSpPr txBox="1"/>
          <p:nvPr/>
        </p:nvSpPr>
        <p:spPr>
          <a:xfrm>
            <a:off x="7996188" y="3167346"/>
            <a:ext cx="130810" cy="201930"/>
          </a:xfrm>
          <a:prstGeom prst="rect">
            <a:avLst/>
          </a:prstGeom>
        </p:spPr>
        <p:txBody>
          <a:bodyPr vert="horz" wrap="square" lIns="0" tIns="0" rIns="0" bIns="0" rtlCol="0">
            <a:spAutoFit/>
          </a:bodyPr>
          <a:lstStyle/>
          <a:p>
            <a:pPr marL="12700">
              <a:lnSpc>
                <a:spcPct val="100000"/>
              </a:lnSpc>
            </a:pPr>
            <a:r>
              <a:rPr sz="1350" spc="150" dirty="0">
                <a:latin typeface="宋体"/>
                <a:cs typeface="宋体"/>
              </a:rPr>
              <a:t>1</a:t>
            </a:r>
            <a:endParaRPr sz="1350">
              <a:latin typeface="宋体"/>
              <a:cs typeface="宋体"/>
            </a:endParaRPr>
          </a:p>
        </p:txBody>
      </p:sp>
      <p:sp>
        <p:nvSpPr>
          <p:cNvPr id="47" name="object 47"/>
          <p:cNvSpPr txBox="1"/>
          <p:nvPr/>
        </p:nvSpPr>
        <p:spPr>
          <a:xfrm>
            <a:off x="7996188" y="3378569"/>
            <a:ext cx="130810" cy="201930"/>
          </a:xfrm>
          <a:prstGeom prst="rect">
            <a:avLst/>
          </a:prstGeom>
        </p:spPr>
        <p:txBody>
          <a:bodyPr vert="horz" wrap="square" lIns="0" tIns="0" rIns="0" bIns="0" rtlCol="0">
            <a:spAutoFit/>
          </a:bodyPr>
          <a:lstStyle/>
          <a:p>
            <a:pPr marL="12700">
              <a:lnSpc>
                <a:spcPct val="100000"/>
              </a:lnSpc>
            </a:pPr>
            <a:r>
              <a:rPr sz="1350" spc="150" dirty="0">
                <a:latin typeface="宋体"/>
                <a:cs typeface="宋体"/>
              </a:rPr>
              <a:t>0</a:t>
            </a:r>
            <a:endParaRPr sz="1350">
              <a:latin typeface="宋体"/>
              <a:cs typeface="宋体"/>
            </a:endParaRPr>
          </a:p>
        </p:txBody>
      </p:sp>
      <p:sp>
        <p:nvSpPr>
          <p:cNvPr id="48" name="object 48"/>
          <p:cNvSpPr txBox="1"/>
          <p:nvPr/>
        </p:nvSpPr>
        <p:spPr>
          <a:xfrm>
            <a:off x="7996188" y="3589837"/>
            <a:ext cx="130810" cy="201930"/>
          </a:xfrm>
          <a:prstGeom prst="rect">
            <a:avLst/>
          </a:prstGeom>
        </p:spPr>
        <p:txBody>
          <a:bodyPr vert="horz" wrap="square" lIns="0" tIns="0" rIns="0" bIns="0" rtlCol="0">
            <a:spAutoFit/>
          </a:bodyPr>
          <a:lstStyle/>
          <a:p>
            <a:pPr marL="12700">
              <a:lnSpc>
                <a:spcPct val="100000"/>
              </a:lnSpc>
            </a:pPr>
            <a:r>
              <a:rPr sz="1350" spc="150" dirty="0">
                <a:latin typeface="宋体"/>
                <a:cs typeface="宋体"/>
              </a:rPr>
              <a:t>0</a:t>
            </a:r>
            <a:endParaRPr sz="1350">
              <a:latin typeface="宋体"/>
              <a:cs typeface="宋体"/>
            </a:endParaRPr>
          </a:p>
        </p:txBody>
      </p:sp>
      <p:sp>
        <p:nvSpPr>
          <p:cNvPr id="49" name="object 49"/>
          <p:cNvSpPr txBox="1"/>
          <p:nvPr/>
        </p:nvSpPr>
        <p:spPr>
          <a:xfrm>
            <a:off x="5621513" y="1906534"/>
            <a:ext cx="1951355" cy="319405"/>
          </a:xfrm>
          <a:prstGeom prst="rect">
            <a:avLst/>
          </a:prstGeom>
        </p:spPr>
        <p:txBody>
          <a:bodyPr vert="horz" wrap="square" lIns="0" tIns="0" rIns="0" bIns="0" rtlCol="0">
            <a:spAutoFit/>
          </a:bodyPr>
          <a:lstStyle/>
          <a:p>
            <a:pPr marL="12700">
              <a:lnSpc>
                <a:spcPts val="2725"/>
              </a:lnSpc>
            </a:pPr>
            <a:r>
              <a:rPr sz="2300" spc="415" dirty="0">
                <a:latin typeface="宋体"/>
                <a:cs typeface="宋体"/>
              </a:rPr>
              <a:t>8位同时传送</a:t>
            </a:r>
            <a:endParaRPr sz="2300">
              <a:latin typeface="宋体"/>
              <a:cs typeface="宋体"/>
            </a:endParaRPr>
          </a:p>
        </p:txBody>
      </p:sp>
      <p:sp>
        <p:nvSpPr>
          <p:cNvPr id="50" name="object 50"/>
          <p:cNvSpPr/>
          <p:nvPr/>
        </p:nvSpPr>
        <p:spPr>
          <a:xfrm>
            <a:off x="4667171" y="2058976"/>
            <a:ext cx="838200" cy="0"/>
          </a:xfrm>
          <a:custGeom>
            <a:avLst/>
            <a:gdLst/>
            <a:ahLst/>
            <a:cxnLst/>
            <a:rect l="l" t="t" r="r" b="b"/>
            <a:pathLst>
              <a:path w="838200">
                <a:moveTo>
                  <a:pt x="838142" y="0"/>
                </a:moveTo>
                <a:lnTo>
                  <a:pt x="0" y="0"/>
                </a:lnTo>
              </a:path>
            </a:pathLst>
          </a:custGeom>
          <a:ln w="21124">
            <a:solidFill>
              <a:srgbClr val="000000"/>
            </a:solidFill>
          </a:ln>
        </p:spPr>
        <p:txBody>
          <a:bodyPr wrap="square" lIns="0" tIns="0" rIns="0" bIns="0" rtlCol="0"/>
          <a:lstStyle/>
          <a:p>
            <a:endParaRPr/>
          </a:p>
        </p:txBody>
      </p:sp>
      <p:sp>
        <p:nvSpPr>
          <p:cNvPr id="51" name="object 51"/>
          <p:cNvSpPr/>
          <p:nvPr/>
        </p:nvSpPr>
        <p:spPr>
          <a:xfrm>
            <a:off x="4512755" y="1985034"/>
            <a:ext cx="176530" cy="147955"/>
          </a:xfrm>
          <a:custGeom>
            <a:avLst/>
            <a:gdLst/>
            <a:ahLst/>
            <a:cxnLst/>
            <a:rect l="l" t="t" r="r" b="b"/>
            <a:pathLst>
              <a:path w="176529" h="147955">
                <a:moveTo>
                  <a:pt x="176489" y="0"/>
                </a:moveTo>
                <a:lnTo>
                  <a:pt x="0" y="73941"/>
                </a:lnTo>
                <a:lnTo>
                  <a:pt x="176490" y="147882"/>
                </a:lnTo>
                <a:lnTo>
                  <a:pt x="176489" y="0"/>
                </a:lnTo>
                <a:close/>
              </a:path>
            </a:pathLst>
          </a:custGeom>
          <a:solidFill>
            <a:srgbClr val="000000"/>
          </a:solidFill>
        </p:spPr>
        <p:txBody>
          <a:bodyPr wrap="square" lIns="0" tIns="0" rIns="0" bIns="0" rtlCol="0"/>
          <a:lstStyle/>
          <a:p>
            <a:endParaRPr/>
          </a:p>
        </p:txBody>
      </p:sp>
      <p:sp>
        <p:nvSpPr>
          <p:cNvPr id="52" name="object 52"/>
          <p:cNvSpPr/>
          <p:nvPr/>
        </p:nvSpPr>
        <p:spPr>
          <a:xfrm>
            <a:off x="878586" y="5560314"/>
            <a:ext cx="10436860" cy="1149350"/>
          </a:xfrm>
          <a:custGeom>
            <a:avLst/>
            <a:gdLst/>
            <a:ahLst/>
            <a:cxnLst/>
            <a:rect l="l" t="t" r="r" b="b"/>
            <a:pathLst>
              <a:path w="10436860" h="1149350">
                <a:moveTo>
                  <a:pt x="0" y="1149096"/>
                </a:moveTo>
                <a:lnTo>
                  <a:pt x="10436352" y="1149096"/>
                </a:lnTo>
                <a:lnTo>
                  <a:pt x="10436352" y="0"/>
                </a:lnTo>
                <a:lnTo>
                  <a:pt x="0" y="0"/>
                </a:lnTo>
                <a:lnTo>
                  <a:pt x="0" y="1149096"/>
                </a:lnTo>
                <a:close/>
              </a:path>
            </a:pathLst>
          </a:custGeom>
          <a:ln w="38100">
            <a:solidFill>
              <a:srgbClr val="E34A46"/>
            </a:solidFill>
          </a:ln>
        </p:spPr>
        <p:txBody>
          <a:bodyPr wrap="square" lIns="0" tIns="0" rIns="0" bIns="0" rtlCol="0"/>
          <a:lstStyle/>
          <a:p>
            <a:endParaRPr/>
          </a:p>
        </p:txBody>
      </p:sp>
      <p:sp>
        <p:nvSpPr>
          <p:cNvPr id="53" name="object 53"/>
          <p:cNvSpPr txBox="1">
            <a:spLocks noGrp="1"/>
          </p:cNvSpPr>
          <p:nvPr>
            <p:ph type="title"/>
          </p:nvPr>
        </p:nvSpPr>
        <p:spPr>
          <a:prstGeom prst="rect">
            <a:avLst/>
          </a:prstGeom>
        </p:spPr>
        <p:txBody>
          <a:bodyPr vert="horz" wrap="square" lIns="0" tIns="0" rIns="0" bIns="0" rtlCol="0">
            <a:spAutoFit/>
          </a:bodyPr>
          <a:lstStyle/>
          <a:p>
            <a:pPr marL="1635760">
              <a:lnSpc>
                <a:spcPct val="100000"/>
              </a:lnSpc>
            </a:pPr>
            <a:r>
              <a:rPr spc="-5" dirty="0"/>
              <a:t>并行通信的特点</a:t>
            </a:r>
          </a:p>
        </p:txBody>
      </p:sp>
    </p:spTree>
    <p:extLst>
      <p:ext uri="{BB962C8B-B14F-4D97-AF65-F5344CB8AC3E}">
        <p14:creationId xmlns:p14="http://schemas.microsoft.com/office/powerpoint/2010/main" val="35829947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200133" y="6608820"/>
            <a:ext cx="2796540" cy="177800"/>
          </a:xfrm>
          <a:prstGeom prst="rect">
            <a:avLst/>
          </a:prstGeom>
        </p:spPr>
        <p:txBody>
          <a:bodyPr vert="horz" wrap="square" lIns="0" tIns="0" rIns="0" bIns="0" rtlCol="0">
            <a:spAutoFit/>
          </a:bodyPr>
          <a:lstStyle/>
          <a:p>
            <a:pPr marL="12700">
              <a:lnSpc>
                <a:spcPct val="100000"/>
              </a:lnSpc>
            </a:pPr>
            <a:r>
              <a:rPr sz="1200" b="1" spc="-5" dirty="0">
                <a:solidFill>
                  <a:srgbClr val="FFFFFF"/>
                </a:solidFill>
                <a:latin typeface="微软雅黑"/>
                <a:cs typeface="微软雅黑"/>
              </a:rPr>
              <a:t>--</a:t>
            </a:r>
            <a:r>
              <a:rPr sz="1200" b="1" spc="5" dirty="0">
                <a:solidFill>
                  <a:srgbClr val="FFFFFF"/>
                </a:solidFill>
                <a:latin typeface="微软雅黑"/>
                <a:cs typeface="微软雅黑"/>
              </a:rPr>
              <a:t> </a:t>
            </a:r>
            <a:r>
              <a:rPr sz="1200" b="1" dirty="0">
                <a:solidFill>
                  <a:srgbClr val="FFFFFF"/>
                </a:solidFill>
                <a:latin typeface="微软雅黑"/>
                <a:cs typeface="微软雅黑"/>
              </a:rPr>
              <a:t>南昌大学“卓越”辅导员培养工程建设</a:t>
            </a:r>
            <a:endParaRPr sz="1200">
              <a:latin typeface="微软雅黑"/>
              <a:cs typeface="微软雅黑"/>
            </a:endParaRPr>
          </a:p>
        </p:txBody>
      </p:sp>
      <p:sp>
        <p:nvSpPr>
          <p:cNvPr id="3" name="object 3"/>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4" name="object 4"/>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5" name="object 5"/>
          <p:cNvSpPr/>
          <p:nvPr/>
        </p:nvSpPr>
        <p:spPr>
          <a:xfrm>
            <a:off x="0" y="963155"/>
            <a:ext cx="2171699" cy="769632"/>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7" name="object 7"/>
          <p:cNvSpPr/>
          <p:nvPr/>
        </p:nvSpPr>
        <p:spPr>
          <a:xfrm>
            <a:off x="0" y="995172"/>
            <a:ext cx="2087880" cy="655320"/>
          </a:xfrm>
          <a:custGeom>
            <a:avLst/>
            <a:gdLst/>
            <a:ahLst/>
            <a:cxnLst/>
            <a:rect l="l" t="t" r="r" b="b"/>
            <a:pathLst>
              <a:path w="2087880" h="655319">
                <a:moveTo>
                  <a:pt x="0" y="0"/>
                </a:moveTo>
                <a:lnTo>
                  <a:pt x="1836420" y="0"/>
                </a:lnTo>
                <a:lnTo>
                  <a:pt x="2087880" y="327660"/>
                </a:lnTo>
                <a:lnTo>
                  <a:pt x="1836420" y="655319"/>
                </a:lnTo>
                <a:lnTo>
                  <a:pt x="0" y="655319"/>
                </a:lnTo>
              </a:path>
            </a:pathLst>
          </a:custGeom>
          <a:ln w="12192">
            <a:solidFill>
              <a:srgbClr val="E34A46"/>
            </a:solidFill>
          </a:ln>
        </p:spPr>
        <p:txBody>
          <a:bodyPr wrap="square" lIns="0" tIns="0" rIns="0" bIns="0" rtlCol="0"/>
          <a:lstStyle/>
          <a:p>
            <a:endParaRPr/>
          </a:p>
        </p:txBody>
      </p:sp>
      <p:sp>
        <p:nvSpPr>
          <p:cNvPr id="8" name="object 8"/>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9" name="object 9"/>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0" name="object 10"/>
          <p:cNvSpPr txBox="1"/>
          <p:nvPr/>
        </p:nvSpPr>
        <p:spPr>
          <a:xfrm>
            <a:off x="352145" y="1173088"/>
            <a:ext cx="12446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串行通信</a:t>
            </a:r>
            <a:endParaRPr sz="2400">
              <a:latin typeface="微软雅黑"/>
              <a:cs typeface="微软雅黑"/>
            </a:endParaRPr>
          </a:p>
        </p:txBody>
      </p:sp>
      <p:sp>
        <p:nvSpPr>
          <p:cNvPr id="11" name="object 11"/>
          <p:cNvSpPr/>
          <p:nvPr/>
        </p:nvSpPr>
        <p:spPr>
          <a:xfrm>
            <a:off x="1075182" y="4868417"/>
            <a:ext cx="10043160" cy="1858010"/>
          </a:xfrm>
          <a:custGeom>
            <a:avLst/>
            <a:gdLst/>
            <a:ahLst/>
            <a:cxnLst/>
            <a:rect l="l" t="t" r="r" b="b"/>
            <a:pathLst>
              <a:path w="10043160" h="1858009">
                <a:moveTo>
                  <a:pt x="0" y="1857755"/>
                </a:moveTo>
                <a:lnTo>
                  <a:pt x="10043160" y="1857755"/>
                </a:lnTo>
                <a:lnTo>
                  <a:pt x="10043160" y="0"/>
                </a:lnTo>
                <a:lnTo>
                  <a:pt x="0" y="0"/>
                </a:lnTo>
                <a:lnTo>
                  <a:pt x="0" y="1857755"/>
                </a:lnTo>
                <a:close/>
              </a:path>
            </a:pathLst>
          </a:custGeom>
          <a:ln w="38100">
            <a:solidFill>
              <a:srgbClr val="E34A46"/>
            </a:solidFill>
          </a:ln>
        </p:spPr>
        <p:txBody>
          <a:bodyPr wrap="square" lIns="0" tIns="0" rIns="0" bIns="0" rtlCol="0"/>
          <a:lstStyle/>
          <a:p>
            <a:endParaRPr/>
          </a:p>
        </p:txBody>
      </p:sp>
      <p:sp>
        <p:nvSpPr>
          <p:cNvPr id="12" name="object 12"/>
          <p:cNvSpPr txBox="1"/>
          <p:nvPr/>
        </p:nvSpPr>
        <p:spPr>
          <a:xfrm>
            <a:off x="1356741" y="5083428"/>
            <a:ext cx="9474835" cy="1428115"/>
          </a:xfrm>
          <a:prstGeom prst="rect">
            <a:avLst/>
          </a:prstGeom>
        </p:spPr>
        <p:txBody>
          <a:bodyPr vert="horz" wrap="square" lIns="0" tIns="0" rIns="0" bIns="0" rtlCol="0">
            <a:spAutoFit/>
          </a:bodyPr>
          <a:lstStyle/>
          <a:p>
            <a:pPr marL="918210" marR="5080" indent="-906144" algn="just">
              <a:lnSpc>
                <a:spcPct val="150000"/>
              </a:lnSpc>
            </a:pPr>
            <a:r>
              <a:rPr sz="2400" b="1" spc="-5" dirty="0">
                <a:solidFill>
                  <a:srgbClr val="FF0000"/>
                </a:solidFill>
                <a:latin typeface="微软雅黑"/>
                <a:cs typeface="微软雅黑"/>
              </a:rPr>
              <a:t>特点</a:t>
            </a:r>
            <a:r>
              <a:rPr sz="2400" b="1" dirty="0">
                <a:solidFill>
                  <a:srgbClr val="FF0000"/>
                </a:solidFill>
                <a:latin typeface="微软雅黑"/>
                <a:cs typeface="微软雅黑"/>
              </a:rPr>
              <a:t>：</a:t>
            </a:r>
            <a:r>
              <a:rPr sz="2400" b="1" spc="-5" dirty="0">
                <a:latin typeface="微软雅黑"/>
                <a:cs typeface="微软雅黑"/>
              </a:rPr>
              <a:t>数据逐位传输，传输线少，长距离传输时成本低，但数据的传输 </a:t>
            </a:r>
            <a:r>
              <a:rPr sz="2400" b="1" dirty="0">
                <a:latin typeface="微软雅黑"/>
                <a:cs typeface="微软雅黑"/>
              </a:rPr>
              <a:t>控制较复杂。按照实现数据同步的方式，可以分为同步串行和异 步串行两种。</a:t>
            </a:r>
            <a:endParaRPr sz="2400">
              <a:latin typeface="微软雅黑"/>
              <a:cs typeface="微软雅黑"/>
            </a:endParaRPr>
          </a:p>
        </p:txBody>
      </p:sp>
      <p:sp>
        <p:nvSpPr>
          <p:cNvPr id="13" name="object 13"/>
          <p:cNvSpPr/>
          <p:nvPr/>
        </p:nvSpPr>
        <p:spPr>
          <a:xfrm>
            <a:off x="1751076" y="1813560"/>
            <a:ext cx="1153668" cy="2857500"/>
          </a:xfrm>
          <a:prstGeom prst="rect">
            <a:avLst/>
          </a:prstGeom>
          <a:blipFill>
            <a:blip r:embed="rId4" cstate="print"/>
            <a:stretch>
              <a:fillRect/>
            </a:stretch>
          </a:blipFill>
        </p:spPr>
        <p:txBody>
          <a:bodyPr wrap="square" lIns="0" tIns="0" rIns="0" bIns="0" rtlCol="0"/>
          <a:lstStyle/>
          <a:p>
            <a:endParaRPr/>
          </a:p>
        </p:txBody>
      </p:sp>
      <p:sp>
        <p:nvSpPr>
          <p:cNvPr id="14" name="object 14"/>
          <p:cNvSpPr/>
          <p:nvPr/>
        </p:nvSpPr>
        <p:spPr>
          <a:xfrm>
            <a:off x="9272016" y="1813560"/>
            <a:ext cx="1168907" cy="2849880"/>
          </a:xfrm>
          <a:prstGeom prst="rect">
            <a:avLst/>
          </a:prstGeom>
          <a:blipFill>
            <a:blip r:embed="rId5" cstate="print"/>
            <a:stretch>
              <a:fillRect/>
            </a:stretch>
          </a:blipFill>
        </p:spPr>
        <p:txBody>
          <a:bodyPr wrap="square" lIns="0" tIns="0" rIns="0" bIns="0" rtlCol="0"/>
          <a:lstStyle/>
          <a:p>
            <a:endParaRPr/>
          </a:p>
        </p:txBody>
      </p:sp>
      <p:sp>
        <p:nvSpPr>
          <p:cNvPr id="15" name="object 15"/>
          <p:cNvSpPr/>
          <p:nvPr/>
        </p:nvSpPr>
        <p:spPr>
          <a:xfrm>
            <a:off x="2904744" y="2514600"/>
            <a:ext cx="6367272" cy="1578864"/>
          </a:xfrm>
          <a:prstGeom prst="rect">
            <a:avLst/>
          </a:prstGeom>
          <a:blipFill>
            <a:blip r:embed="rId6" cstate="print"/>
            <a:stretch>
              <a:fillRect/>
            </a:stretch>
          </a:blipFill>
        </p:spPr>
        <p:txBody>
          <a:bodyPr wrap="square" lIns="0" tIns="0" rIns="0" bIns="0" rtlCol="0"/>
          <a:lstStyle/>
          <a:p>
            <a:endParaRPr/>
          </a:p>
        </p:txBody>
      </p:sp>
      <p:sp>
        <p:nvSpPr>
          <p:cNvPr id="16" name="object 16"/>
          <p:cNvSpPr txBox="1"/>
          <p:nvPr/>
        </p:nvSpPr>
        <p:spPr>
          <a:xfrm>
            <a:off x="2385441" y="389881"/>
            <a:ext cx="668655" cy="254000"/>
          </a:xfrm>
          <a:prstGeom prst="rect">
            <a:avLst/>
          </a:prstGeom>
        </p:spPr>
        <p:txBody>
          <a:bodyPr vert="horz" wrap="square" lIns="0" tIns="0" rIns="0" bIns="0" rtlCol="0">
            <a:spAutoFit/>
          </a:bodyPr>
          <a:lstStyle/>
          <a:p>
            <a:pPr marL="12700">
              <a:lnSpc>
                <a:spcPct val="100000"/>
              </a:lnSpc>
            </a:pPr>
            <a:r>
              <a:rPr sz="1800" b="1" spc="-45" dirty="0">
                <a:solidFill>
                  <a:srgbClr val="252525"/>
                </a:solidFill>
                <a:latin typeface="微软雅黑"/>
                <a:cs typeface="微软雅黑"/>
              </a:rPr>
              <a:t>U</a:t>
            </a:r>
            <a:r>
              <a:rPr sz="1800" b="1" dirty="0">
                <a:solidFill>
                  <a:srgbClr val="252525"/>
                </a:solidFill>
                <a:latin typeface="微软雅黑"/>
                <a:cs typeface="微软雅黑"/>
              </a:rPr>
              <a:t>A</a:t>
            </a:r>
            <a:r>
              <a:rPr sz="1800" b="1" spc="-35" dirty="0">
                <a:solidFill>
                  <a:srgbClr val="252525"/>
                </a:solidFill>
                <a:latin typeface="微软雅黑"/>
                <a:cs typeface="微软雅黑"/>
              </a:rPr>
              <a:t>R</a:t>
            </a:r>
            <a:r>
              <a:rPr sz="1800" b="1" dirty="0">
                <a:solidFill>
                  <a:srgbClr val="252525"/>
                </a:solidFill>
                <a:latin typeface="微软雅黑"/>
                <a:cs typeface="微软雅黑"/>
              </a:rPr>
              <a:t>T</a:t>
            </a:r>
            <a:endParaRPr sz="1800">
              <a:latin typeface="微软雅黑"/>
              <a:cs typeface="微软雅黑"/>
            </a:endParaRPr>
          </a:p>
        </p:txBody>
      </p:sp>
      <p:sp>
        <p:nvSpPr>
          <p:cNvPr id="17" name="object 17"/>
          <p:cNvSpPr txBox="1">
            <a:spLocks noGrp="1"/>
          </p:cNvSpPr>
          <p:nvPr>
            <p:ph type="title"/>
          </p:nvPr>
        </p:nvSpPr>
        <p:spPr>
          <a:prstGeom prst="rect">
            <a:avLst/>
          </a:prstGeom>
        </p:spPr>
        <p:txBody>
          <a:bodyPr vert="horz" wrap="square" lIns="0" tIns="0" rIns="0" bIns="0" rtlCol="0">
            <a:spAutoFit/>
          </a:bodyPr>
          <a:lstStyle/>
          <a:p>
            <a:pPr marL="1612900">
              <a:lnSpc>
                <a:spcPct val="100000"/>
              </a:lnSpc>
            </a:pPr>
            <a:r>
              <a:rPr spc="-5" dirty="0"/>
              <a:t>串行通信的特点</a:t>
            </a:r>
          </a:p>
        </p:txBody>
      </p:sp>
    </p:spTree>
    <p:extLst>
      <p:ext uri="{BB962C8B-B14F-4D97-AF65-F5344CB8AC3E}">
        <p14:creationId xmlns:p14="http://schemas.microsoft.com/office/powerpoint/2010/main" val="18856320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200133" y="6608820"/>
            <a:ext cx="2796540" cy="177800"/>
          </a:xfrm>
          <a:prstGeom prst="rect">
            <a:avLst/>
          </a:prstGeom>
        </p:spPr>
        <p:txBody>
          <a:bodyPr vert="horz" wrap="square" lIns="0" tIns="0" rIns="0" bIns="0" rtlCol="0">
            <a:spAutoFit/>
          </a:bodyPr>
          <a:lstStyle/>
          <a:p>
            <a:pPr marL="12700">
              <a:lnSpc>
                <a:spcPct val="100000"/>
              </a:lnSpc>
            </a:pPr>
            <a:r>
              <a:rPr sz="1200" b="1" spc="-5" dirty="0">
                <a:solidFill>
                  <a:srgbClr val="FFFFFF"/>
                </a:solidFill>
                <a:latin typeface="微软雅黑"/>
                <a:cs typeface="微软雅黑"/>
              </a:rPr>
              <a:t>--</a:t>
            </a:r>
            <a:r>
              <a:rPr sz="1200" b="1" spc="5" dirty="0">
                <a:solidFill>
                  <a:srgbClr val="FFFFFF"/>
                </a:solidFill>
                <a:latin typeface="微软雅黑"/>
                <a:cs typeface="微软雅黑"/>
              </a:rPr>
              <a:t> </a:t>
            </a:r>
            <a:r>
              <a:rPr sz="1200" b="1" dirty="0">
                <a:solidFill>
                  <a:srgbClr val="FFFFFF"/>
                </a:solidFill>
                <a:latin typeface="微软雅黑"/>
                <a:cs typeface="微软雅黑"/>
              </a:rPr>
              <a:t>南昌大学“卓越”辅导员培养工程建设</a:t>
            </a:r>
            <a:endParaRPr sz="1200">
              <a:latin typeface="微软雅黑"/>
              <a:cs typeface="微软雅黑"/>
            </a:endParaRPr>
          </a:p>
        </p:txBody>
      </p:sp>
      <p:sp>
        <p:nvSpPr>
          <p:cNvPr id="3" name="object 3"/>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4" name="object 4"/>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5" name="object 5"/>
          <p:cNvSpPr/>
          <p:nvPr/>
        </p:nvSpPr>
        <p:spPr>
          <a:xfrm>
            <a:off x="0" y="963155"/>
            <a:ext cx="2171699" cy="769632"/>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7" name="object 7"/>
          <p:cNvSpPr/>
          <p:nvPr/>
        </p:nvSpPr>
        <p:spPr>
          <a:xfrm>
            <a:off x="0" y="995172"/>
            <a:ext cx="2087880" cy="655320"/>
          </a:xfrm>
          <a:custGeom>
            <a:avLst/>
            <a:gdLst/>
            <a:ahLst/>
            <a:cxnLst/>
            <a:rect l="l" t="t" r="r" b="b"/>
            <a:pathLst>
              <a:path w="2087880" h="655319">
                <a:moveTo>
                  <a:pt x="0" y="0"/>
                </a:moveTo>
                <a:lnTo>
                  <a:pt x="1836420" y="0"/>
                </a:lnTo>
                <a:lnTo>
                  <a:pt x="2087880" y="327660"/>
                </a:lnTo>
                <a:lnTo>
                  <a:pt x="1836420" y="655319"/>
                </a:lnTo>
                <a:lnTo>
                  <a:pt x="0" y="655319"/>
                </a:lnTo>
              </a:path>
            </a:pathLst>
          </a:custGeom>
          <a:ln w="12192">
            <a:solidFill>
              <a:srgbClr val="E34A46"/>
            </a:solidFill>
          </a:ln>
        </p:spPr>
        <p:txBody>
          <a:bodyPr wrap="square" lIns="0" tIns="0" rIns="0" bIns="0" rtlCol="0"/>
          <a:lstStyle/>
          <a:p>
            <a:endParaRPr/>
          </a:p>
        </p:txBody>
      </p:sp>
      <p:sp>
        <p:nvSpPr>
          <p:cNvPr id="8" name="object 8"/>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9" name="object 9"/>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0" name="object 10"/>
          <p:cNvSpPr txBox="1"/>
          <p:nvPr/>
        </p:nvSpPr>
        <p:spPr>
          <a:xfrm>
            <a:off x="328675" y="1191630"/>
            <a:ext cx="12446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同步串行</a:t>
            </a:r>
            <a:endParaRPr sz="2400">
              <a:latin typeface="微软雅黑"/>
              <a:cs typeface="微软雅黑"/>
            </a:endParaRPr>
          </a:p>
        </p:txBody>
      </p:sp>
      <p:sp>
        <p:nvSpPr>
          <p:cNvPr id="11" name="object 11"/>
          <p:cNvSpPr/>
          <p:nvPr/>
        </p:nvSpPr>
        <p:spPr>
          <a:xfrm>
            <a:off x="204215" y="1825751"/>
            <a:ext cx="11783568" cy="3066288"/>
          </a:xfrm>
          <a:prstGeom prst="rect">
            <a:avLst/>
          </a:prstGeom>
          <a:blipFill>
            <a:blip r:embed="rId4" cstate="print"/>
            <a:stretch>
              <a:fillRect/>
            </a:stretch>
          </a:blipFill>
        </p:spPr>
        <p:txBody>
          <a:bodyPr wrap="square" lIns="0" tIns="0" rIns="0" bIns="0" rtlCol="0"/>
          <a:lstStyle/>
          <a:p>
            <a:endParaRPr/>
          </a:p>
        </p:txBody>
      </p:sp>
      <p:sp>
        <p:nvSpPr>
          <p:cNvPr id="12" name="object 12"/>
          <p:cNvSpPr txBox="1"/>
          <p:nvPr/>
        </p:nvSpPr>
        <p:spPr>
          <a:xfrm>
            <a:off x="2385441" y="389881"/>
            <a:ext cx="668655" cy="254000"/>
          </a:xfrm>
          <a:prstGeom prst="rect">
            <a:avLst/>
          </a:prstGeom>
        </p:spPr>
        <p:txBody>
          <a:bodyPr vert="horz" wrap="square" lIns="0" tIns="0" rIns="0" bIns="0" rtlCol="0">
            <a:spAutoFit/>
          </a:bodyPr>
          <a:lstStyle/>
          <a:p>
            <a:pPr marL="12700">
              <a:lnSpc>
                <a:spcPct val="100000"/>
              </a:lnSpc>
            </a:pPr>
            <a:r>
              <a:rPr sz="1800" b="1" spc="-45" dirty="0">
                <a:solidFill>
                  <a:srgbClr val="252525"/>
                </a:solidFill>
                <a:latin typeface="微软雅黑"/>
                <a:cs typeface="微软雅黑"/>
              </a:rPr>
              <a:t>U</a:t>
            </a:r>
            <a:r>
              <a:rPr sz="1800" b="1" dirty="0">
                <a:solidFill>
                  <a:srgbClr val="252525"/>
                </a:solidFill>
                <a:latin typeface="微软雅黑"/>
                <a:cs typeface="微软雅黑"/>
              </a:rPr>
              <a:t>A</a:t>
            </a:r>
            <a:r>
              <a:rPr sz="1800" b="1" spc="-35" dirty="0">
                <a:solidFill>
                  <a:srgbClr val="252525"/>
                </a:solidFill>
                <a:latin typeface="微软雅黑"/>
                <a:cs typeface="微软雅黑"/>
              </a:rPr>
              <a:t>R</a:t>
            </a:r>
            <a:r>
              <a:rPr sz="1800" b="1" dirty="0">
                <a:solidFill>
                  <a:srgbClr val="252525"/>
                </a:solidFill>
                <a:latin typeface="微软雅黑"/>
                <a:cs typeface="微软雅黑"/>
              </a:rPr>
              <a:t>T</a:t>
            </a:r>
            <a:endParaRPr sz="1800">
              <a:latin typeface="微软雅黑"/>
              <a:cs typeface="微软雅黑"/>
            </a:endParaRPr>
          </a:p>
        </p:txBody>
      </p:sp>
      <p:sp>
        <p:nvSpPr>
          <p:cNvPr id="13" name="object 13"/>
          <p:cNvSpPr/>
          <p:nvPr/>
        </p:nvSpPr>
        <p:spPr>
          <a:xfrm>
            <a:off x="878586" y="4982716"/>
            <a:ext cx="10436860" cy="1765300"/>
          </a:xfrm>
          <a:custGeom>
            <a:avLst/>
            <a:gdLst/>
            <a:ahLst/>
            <a:cxnLst/>
            <a:rect l="l" t="t" r="r" b="b"/>
            <a:pathLst>
              <a:path w="10436860" h="1765300">
                <a:moveTo>
                  <a:pt x="0" y="1764792"/>
                </a:moveTo>
                <a:lnTo>
                  <a:pt x="10436352" y="1764792"/>
                </a:lnTo>
                <a:lnTo>
                  <a:pt x="10436352" y="0"/>
                </a:lnTo>
                <a:lnTo>
                  <a:pt x="0" y="0"/>
                </a:lnTo>
                <a:lnTo>
                  <a:pt x="0" y="1764792"/>
                </a:lnTo>
                <a:close/>
              </a:path>
            </a:pathLst>
          </a:custGeom>
          <a:ln w="38100">
            <a:solidFill>
              <a:srgbClr val="E34A46"/>
            </a:solidFill>
          </a:ln>
        </p:spPr>
        <p:txBody>
          <a:bodyPr wrap="square" lIns="0" tIns="0" rIns="0" bIns="0" rtlCol="0"/>
          <a:lstStyle/>
          <a:p>
            <a:endParaRPr/>
          </a:p>
        </p:txBody>
      </p:sp>
      <p:sp>
        <p:nvSpPr>
          <p:cNvPr id="14" name="object 14"/>
          <p:cNvSpPr txBox="1"/>
          <p:nvPr/>
        </p:nvSpPr>
        <p:spPr>
          <a:xfrm>
            <a:off x="1225397" y="5194044"/>
            <a:ext cx="9474835" cy="1428115"/>
          </a:xfrm>
          <a:prstGeom prst="rect">
            <a:avLst/>
          </a:prstGeom>
        </p:spPr>
        <p:txBody>
          <a:bodyPr vert="horz" wrap="square" lIns="0" tIns="0" rIns="0" bIns="0" rtlCol="0">
            <a:spAutoFit/>
          </a:bodyPr>
          <a:lstStyle/>
          <a:p>
            <a:pPr marL="918210" marR="5080" indent="-906144" algn="just">
              <a:lnSpc>
                <a:spcPct val="150000"/>
              </a:lnSpc>
            </a:pPr>
            <a:r>
              <a:rPr sz="2400" b="1" spc="-5" dirty="0">
                <a:solidFill>
                  <a:srgbClr val="FF0000"/>
                </a:solidFill>
                <a:latin typeface="微软雅黑"/>
                <a:cs typeface="微软雅黑"/>
              </a:rPr>
              <a:t>特点：</a:t>
            </a:r>
            <a:r>
              <a:rPr sz="2400" b="1" spc="-5" dirty="0">
                <a:latin typeface="微软雅黑"/>
                <a:cs typeface="微软雅黑"/>
              </a:rPr>
              <a:t>数据传输以数据块（一组字符）为单位，在一个数据块内，字符 </a:t>
            </a:r>
            <a:r>
              <a:rPr sz="2400" b="1" dirty="0">
                <a:latin typeface="微软雅黑"/>
                <a:cs typeface="微软雅黑"/>
              </a:rPr>
              <a:t>与字符间无间隔，收发双方依靠独立的时钟线进行信号的同步。 适用于大批量的数据传输。</a:t>
            </a:r>
            <a:endParaRPr sz="2400">
              <a:latin typeface="微软雅黑"/>
              <a:cs typeface="微软雅黑"/>
            </a:endParaRPr>
          </a:p>
        </p:txBody>
      </p:sp>
      <p:sp>
        <p:nvSpPr>
          <p:cNvPr id="15" name="object 15"/>
          <p:cNvSpPr txBox="1">
            <a:spLocks noGrp="1"/>
          </p:cNvSpPr>
          <p:nvPr>
            <p:ph type="title"/>
          </p:nvPr>
        </p:nvSpPr>
        <p:spPr>
          <a:prstGeom prst="rect">
            <a:avLst/>
          </a:prstGeom>
        </p:spPr>
        <p:txBody>
          <a:bodyPr vert="horz" wrap="square" lIns="0" tIns="0" rIns="0" bIns="0" rtlCol="0">
            <a:spAutoFit/>
          </a:bodyPr>
          <a:lstStyle/>
          <a:p>
            <a:pPr marL="1289685">
              <a:lnSpc>
                <a:spcPct val="100000"/>
              </a:lnSpc>
            </a:pPr>
            <a:r>
              <a:rPr spc="-5" dirty="0"/>
              <a:t>同步串行通信的特点</a:t>
            </a:r>
          </a:p>
        </p:txBody>
      </p:sp>
    </p:spTree>
    <p:extLst>
      <p:ext uri="{BB962C8B-B14F-4D97-AF65-F5344CB8AC3E}">
        <p14:creationId xmlns:p14="http://schemas.microsoft.com/office/powerpoint/2010/main" val="35804661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200133" y="6608820"/>
            <a:ext cx="2796540" cy="177800"/>
          </a:xfrm>
          <a:prstGeom prst="rect">
            <a:avLst/>
          </a:prstGeom>
        </p:spPr>
        <p:txBody>
          <a:bodyPr vert="horz" wrap="square" lIns="0" tIns="0" rIns="0" bIns="0" rtlCol="0">
            <a:spAutoFit/>
          </a:bodyPr>
          <a:lstStyle/>
          <a:p>
            <a:pPr marL="12700">
              <a:lnSpc>
                <a:spcPct val="100000"/>
              </a:lnSpc>
            </a:pPr>
            <a:r>
              <a:rPr sz="1200" b="1" spc="-5" dirty="0">
                <a:solidFill>
                  <a:srgbClr val="FFFFFF"/>
                </a:solidFill>
                <a:latin typeface="微软雅黑"/>
                <a:cs typeface="微软雅黑"/>
              </a:rPr>
              <a:t>--</a:t>
            </a:r>
            <a:r>
              <a:rPr sz="1200" b="1" spc="5" dirty="0">
                <a:solidFill>
                  <a:srgbClr val="FFFFFF"/>
                </a:solidFill>
                <a:latin typeface="微软雅黑"/>
                <a:cs typeface="微软雅黑"/>
              </a:rPr>
              <a:t> </a:t>
            </a:r>
            <a:r>
              <a:rPr sz="1200" b="1" dirty="0">
                <a:solidFill>
                  <a:srgbClr val="FFFFFF"/>
                </a:solidFill>
                <a:latin typeface="微软雅黑"/>
                <a:cs typeface="微软雅黑"/>
              </a:rPr>
              <a:t>南昌大学“卓越”辅导员培养工程建设</a:t>
            </a:r>
            <a:endParaRPr sz="1200">
              <a:latin typeface="微软雅黑"/>
              <a:cs typeface="微软雅黑"/>
            </a:endParaRPr>
          </a:p>
        </p:txBody>
      </p:sp>
      <p:sp>
        <p:nvSpPr>
          <p:cNvPr id="3" name="object 3"/>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4" name="object 4"/>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5" name="object 5"/>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sp>
        <p:nvSpPr>
          <p:cNvPr id="6" name="object 6"/>
          <p:cNvSpPr/>
          <p:nvPr/>
        </p:nvSpPr>
        <p:spPr>
          <a:xfrm>
            <a:off x="0" y="963155"/>
            <a:ext cx="2171699" cy="769632"/>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8" name="object 8"/>
          <p:cNvSpPr/>
          <p:nvPr/>
        </p:nvSpPr>
        <p:spPr>
          <a:xfrm>
            <a:off x="0" y="995172"/>
            <a:ext cx="2087880" cy="655320"/>
          </a:xfrm>
          <a:custGeom>
            <a:avLst/>
            <a:gdLst/>
            <a:ahLst/>
            <a:cxnLst/>
            <a:rect l="l" t="t" r="r" b="b"/>
            <a:pathLst>
              <a:path w="2087880" h="655319">
                <a:moveTo>
                  <a:pt x="0" y="0"/>
                </a:moveTo>
                <a:lnTo>
                  <a:pt x="1836420" y="0"/>
                </a:lnTo>
                <a:lnTo>
                  <a:pt x="2087880" y="327660"/>
                </a:lnTo>
                <a:lnTo>
                  <a:pt x="1836420" y="655319"/>
                </a:lnTo>
                <a:lnTo>
                  <a:pt x="0" y="655319"/>
                </a:lnTo>
              </a:path>
            </a:pathLst>
          </a:custGeom>
          <a:ln w="12192">
            <a:solidFill>
              <a:srgbClr val="E34A46"/>
            </a:solidFill>
          </a:ln>
        </p:spPr>
        <p:txBody>
          <a:bodyPr wrap="square" lIns="0" tIns="0" rIns="0" bIns="0" rtlCol="0"/>
          <a:lstStyle/>
          <a:p>
            <a:endParaRPr/>
          </a:p>
        </p:txBody>
      </p:sp>
      <p:sp>
        <p:nvSpPr>
          <p:cNvPr id="9" name="object 9"/>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1" name="object 11"/>
          <p:cNvSpPr txBox="1"/>
          <p:nvPr/>
        </p:nvSpPr>
        <p:spPr>
          <a:xfrm>
            <a:off x="328675" y="1162674"/>
            <a:ext cx="12446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异步串行</a:t>
            </a:r>
            <a:endParaRPr sz="2400">
              <a:latin typeface="微软雅黑"/>
              <a:cs typeface="微软雅黑"/>
            </a:endParaRPr>
          </a:p>
        </p:txBody>
      </p:sp>
      <p:sp>
        <p:nvSpPr>
          <p:cNvPr id="12" name="object 12"/>
          <p:cNvSpPr/>
          <p:nvPr/>
        </p:nvSpPr>
        <p:spPr>
          <a:xfrm>
            <a:off x="187452" y="2101595"/>
            <a:ext cx="11817096" cy="2260091"/>
          </a:xfrm>
          <a:prstGeom prst="rect">
            <a:avLst/>
          </a:prstGeom>
          <a:blipFill>
            <a:blip r:embed="rId4" cstate="print"/>
            <a:stretch>
              <a:fillRect/>
            </a:stretch>
          </a:blipFill>
        </p:spPr>
        <p:txBody>
          <a:bodyPr wrap="square" lIns="0" tIns="0" rIns="0" bIns="0" rtlCol="0"/>
          <a:lstStyle/>
          <a:p>
            <a:endParaRPr/>
          </a:p>
        </p:txBody>
      </p:sp>
      <p:sp>
        <p:nvSpPr>
          <p:cNvPr id="13" name="object 13"/>
          <p:cNvSpPr txBox="1"/>
          <p:nvPr/>
        </p:nvSpPr>
        <p:spPr>
          <a:xfrm>
            <a:off x="878586" y="4799838"/>
            <a:ext cx="10436860" cy="1765300"/>
          </a:xfrm>
          <a:prstGeom prst="rect">
            <a:avLst/>
          </a:prstGeom>
          <a:ln w="38100">
            <a:solidFill>
              <a:srgbClr val="E34A46"/>
            </a:solidFill>
          </a:ln>
        </p:spPr>
        <p:txBody>
          <a:bodyPr vert="horz" wrap="square" lIns="0" tIns="0" rIns="0" bIns="0" rtlCol="0">
            <a:spAutoFit/>
          </a:bodyPr>
          <a:lstStyle/>
          <a:p>
            <a:pPr marL="1245870" marR="600710" indent="-906144" algn="just">
              <a:lnSpc>
                <a:spcPct val="150000"/>
              </a:lnSpc>
            </a:pPr>
            <a:r>
              <a:rPr sz="2400" b="1" dirty="0">
                <a:solidFill>
                  <a:srgbClr val="FF0000"/>
                </a:solidFill>
                <a:latin typeface="微软雅黑"/>
                <a:cs typeface="微软雅黑"/>
              </a:rPr>
              <a:t>特点：</a:t>
            </a:r>
            <a:r>
              <a:rPr sz="2400" b="1" dirty="0">
                <a:latin typeface="微软雅黑"/>
                <a:cs typeface="微软雅黑"/>
              </a:rPr>
              <a:t>数据传输以单个字符为单位，字符和字符之间的间隙任意，字符 内部每一位持续的时间相同。收发双方没有专门的时钟信号，而 是依靠事先约定的字符格式和通信速率来完成通信。</a:t>
            </a:r>
            <a:endParaRPr sz="2400">
              <a:latin typeface="微软雅黑"/>
              <a:cs typeface="微软雅黑"/>
            </a:endParaRPr>
          </a:p>
        </p:txBody>
      </p:sp>
      <p:sp>
        <p:nvSpPr>
          <p:cNvPr id="14" name="object 14"/>
          <p:cNvSpPr txBox="1">
            <a:spLocks noGrp="1"/>
          </p:cNvSpPr>
          <p:nvPr>
            <p:ph type="title"/>
          </p:nvPr>
        </p:nvSpPr>
        <p:spPr>
          <a:prstGeom prst="rect">
            <a:avLst/>
          </a:prstGeom>
        </p:spPr>
        <p:txBody>
          <a:bodyPr vert="horz" wrap="square" lIns="0" tIns="0" rIns="0" bIns="0" rtlCol="0">
            <a:spAutoFit/>
          </a:bodyPr>
          <a:lstStyle/>
          <a:p>
            <a:pPr marL="1289685">
              <a:lnSpc>
                <a:spcPct val="100000"/>
              </a:lnSpc>
            </a:pPr>
            <a:r>
              <a:rPr spc="-5" dirty="0"/>
              <a:t>异步串行通信的特点</a:t>
            </a:r>
          </a:p>
        </p:txBody>
      </p:sp>
    </p:spTree>
    <p:extLst>
      <p:ext uri="{BB962C8B-B14F-4D97-AF65-F5344CB8AC3E}">
        <p14:creationId xmlns:p14="http://schemas.microsoft.com/office/powerpoint/2010/main" val="31353939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3" name="object 3"/>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4" name="object 4"/>
          <p:cNvSpPr/>
          <p:nvPr/>
        </p:nvSpPr>
        <p:spPr>
          <a:xfrm>
            <a:off x="0" y="963155"/>
            <a:ext cx="2171699" cy="769632"/>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6" name="object 6"/>
          <p:cNvSpPr/>
          <p:nvPr/>
        </p:nvSpPr>
        <p:spPr>
          <a:xfrm>
            <a:off x="0" y="995172"/>
            <a:ext cx="2087880" cy="655320"/>
          </a:xfrm>
          <a:custGeom>
            <a:avLst/>
            <a:gdLst/>
            <a:ahLst/>
            <a:cxnLst/>
            <a:rect l="l" t="t" r="r" b="b"/>
            <a:pathLst>
              <a:path w="2087880" h="655319">
                <a:moveTo>
                  <a:pt x="0" y="0"/>
                </a:moveTo>
                <a:lnTo>
                  <a:pt x="1836420" y="0"/>
                </a:lnTo>
                <a:lnTo>
                  <a:pt x="2087880" y="327660"/>
                </a:lnTo>
                <a:lnTo>
                  <a:pt x="1836420" y="655319"/>
                </a:lnTo>
                <a:lnTo>
                  <a:pt x="0" y="655319"/>
                </a:lnTo>
              </a:path>
            </a:pathLst>
          </a:custGeom>
          <a:ln w="12192">
            <a:solidFill>
              <a:srgbClr val="E34A46"/>
            </a:solidFill>
          </a:ln>
        </p:spPr>
        <p:txBody>
          <a:bodyPr wrap="square" lIns="0" tIns="0" rIns="0" bIns="0" rtlCol="0"/>
          <a:lstStyle/>
          <a:p>
            <a:endParaRPr/>
          </a:p>
        </p:txBody>
      </p:sp>
      <p:sp>
        <p:nvSpPr>
          <p:cNvPr id="7" name="object 7"/>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9" name="object 9"/>
          <p:cNvSpPr txBox="1"/>
          <p:nvPr/>
        </p:nvSpPr>
        <p:spPr>
          <a:xfrm>
            <a:off x="328675" y="1162674"/>
            <a:ext cx="12446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字符格式</a:t>
            </a:r>
            <a:endParaRPr sz="2400">
              <a:latin typeface="微软雅黑"/>
              <a:cs typeface="微软雅黑"/>
            </a:endParaRPr>
          </a:p>
        </p:txBody>
      </p:sp>
      <p:sp>
        <p:nvSpPr>
          <p:cNvPr id="10" name="object 10"/>
          <p:cNvSpPr/>
          <p:nvPr/>
        </p:nvSpPr>
        <p:spPr>
          <a:xfrm>
            <a:off x="605027" y="1766316"/>
            <a:ext cx="10981944" cy="3288791"/>
          </a:xfrm>
          <a:prstGeom prst="rect">
            <a:avLst/>
          </a:prstGeom>
          <a:blipFill>
            <a:blip r:embed="rId4" cstate="print"/>
            <a:stretch>
              <a:fillRect/>
            </a:stretch>
          </a:blipFill>
        </p:spPr>
        <p:txBody>
          <a:bodyPr wrap="square" lIns="0" tIns="0" rIns="0" bIns="0" rtlCol="0"/>
          <a:lstStyle/>
          <a:p>
            <a:endParaRPr/>
          </a:p>
        </p:txBody>
      </p:sp>
      <p:sp>
        <p:nvSpPr>
          <p:cNvPr id="11" name="object 11"/>
          <p:cNvSpPr txBox="1"/>
          <p:nvPr/>
        </p:nvSpPr>
        <p:spPr>
          <a:xfrm>
            <a:off x="2349754" y="5346615"/>
            <a:ext cx="7385684" cy="332740"/>
          </a:xfrm>
          <a:prstGeom prst="rect">
            <a:avLst/>
          </a:prstGeom>
        </p:spPr>
        <p:txBody>
          <a:bodyPr vert="horz" wrap="square" lIns="0" tIns="0" rIns="0" bIns="0" rtlCol="0">
            <a:spAutoFit/>
          </a:bodyPr>
          <a:lstStyle/>
          <a:p>
            <a:pPr marL="12700">
              <a:lnSpc>
                <a:spcPct val="100000"/>
              </a:lnSpc>
              <a:tabLst>
                <a:tab pos="452755" algn="l"/>
                <a:tab pos="2014220" algn="l"/>
                <a:tab pos="2454910" algn="l"/>
                <a:tab pos="4015740" algn="l"/>
                <a:tab pos="4456430" algn="l"/>
                <a:tab pos="6017260" algn="l"/>
                <a:tab pos="6457950" algn="l"/>
              </a:tabLst>
            </a:pPr>
            <a:r>
              <a:rPr sz="2400" spc="10" dirty="0">
                <a:solidFill>
                  <a:srgbClr val="0066CC"/>
                </a:solidFill>
                <a:latin typeface="Segoe UI Symbol"/>
                <a:cs typeface="Segoe UI Symbol"/>
              </a:rPr>
              <a:t>❑	</a:t>
            </a:r>
            <a:r>
              <a:rPr sz="2400" b="1" spc="10" dirty="0">
                <a:latin typeface="微软雅黑"/>
                <a:cs typeface="微软雅黑"/>
              </a:rPr>
              <a:t>起始位	</a:t>
            </a:r>
            <a:r>
              <a:rPr sz="2400" spc="10" dirty="0">
                <a:solidFill>
                  <a:srgbClr val="0066CC"/>
                </a:solidFill>
                <a:latin typeface="Segoe UI Symbol"/>
                <a:cs typeface="Segoe UI Symbol"/>
              </a:rPr>
              <a:t>❑	</a:t>
            </a:r>
            <a:r>
              <a:rPr sz="2400" b="1" spc="10" dirty="0">
                <a:latin typeface="微软雅黑"/>
                <a:cs typeface="微软雅黑"/>
              </a:rPr>
              <a:t>数据位	</a:t>
            </a:r>
            <a:r>
              <a:rPr sz="2400" spc="10" dirty="0">
                <a:solidFill>
                  <a:srgbClr val="0066CC"/>
                </a:solidFill>
                <a:latin typeface="Segoe UI Symbol"/>
                <a:cs typeface="Segoe UI Symbol"/>
              </a:rPr>
              <a:t>❑	</a:t>
            </a:r>
            <a:r>
              <a:rPr sz="2400" b="1" spc="10" dirty="0">
                <a:latin typeface="微软雅黑"/>
                <a:cs typeface="微软雅黑"/>
              </a:rPr>
              <a:t>校验位	</a:t>
            </a:r>
            <a:r>
              <a:rPr sz="2400" spc="10" dirty="0">
                <a:solidFill>
                  <a:srgbClr val="0066CC"/>
                </a:solidFill>
                <a:latin typeface="Segoe UI Symbol"/>
                <a:cs typeface="Segoe UI Symbol"/>
              </a:rPr>
              <a:t>❑	</a:t>
            </a:r>
            <a:r>
              <a:rPr sz="2400" b="1" spc="10" dirty="0">
                <a:latin typeface="微软雅黑"/>
                <a:cs typeface="微软雅黑"/>
              </a:rPr>
              <a:t>停止位</a:t>
            </a:r>
            <a:endParaRPr sz="2400">
              <a:latin typeface="微软雅黑"/>
              <a:cs typeface="微软雅黑"/>
            </a:endParaRPr>
          </a:p>
        </p:txBody>
      </p:sp>
      <p:sp>
        <p:nvSpPr>
          <p:cNvPr id="12" name="object 12"/>
          <p:cNvSpPr txBox="1"/>
          <p:nvPr/>
        </p:nvSpPr>
        <p:spPr>
          <a:xfrm>
            <a:off x="2385441" y="389881"/>
            <a:ext cx="668655" cy="254000"/>
          </a:xfrm>
          <a:prstGeom prst="rect">
            <a:avLst/>
          </a:prstGeom>
        </p:spPr>
        <p:txBody>
          <a:bodyPr vert="horz" wrap="square" lIns="0" tIns="0" rIns="0" bIns="0" rtlCol="0">
            <a:spAutoFit/>
          </a:bodyPr>
          <a:lstStyle/>
          <a:p>
            <a:pPr marL="12700">
              <a:lnSpc>
                <a:spcPct val="100000"/>
              </a:lnSpc>
            </a:pPr>
            <a:r>
              <a:rPr sz="1800" b="1" spc="-45" dirty="0">
                <a:solidFill>
                  <a:srgbClr val="252525"/>
                </a:solidFill>
                <a:latin typeface="微软雅黑"/>
                <a:cs typeface="微软雅黑"/>
              </a:rPr>
              <a:t>U</a:t>
            </a:r>
            <a:r>
              <a:rPr sz="1800" b="1" dirty="0">
                <a:solidFill>
                  <a:srgbClr val="252525"/>
                </a:solidFill>
                <a:latin typeface="微软雅黑"/>
                <a:cs typeface="微软雅黑"/>
              </a:rPr>
              <a:t>A</a:t>
            </a:r>
            <a:r>
              <a:rPr sz="1800" b="1" spc="-35" dirty="0">
                <a:solidFill>
                  <a:srgbClr val="252525"/>
                </a:solidFill>
                <a:latin typeface="微软雅黑"/>
                <a:cs typeface="微软雅黑"/>
              </a:rPr>
              <a:t>R</a:t>
            </a:r>
            <a:r>
              <a:rPr sz="1800" b="1" dirty="0">
                <a:solidFill>
                  <a:srgbClr val="252525"/>
                </a:solidFill>
                <a:latin typeface="微软雅黑"/>
                <a:cs typeface="微软雅黑"/>
              </a:rPr>
              <a:t>T</a:t>
            </a:r>
            <a:endParaRPr sz="1800">
              <a:latin typeface="微软雅黑"/>
              <a:cs typeface="微软雅黑"/>
            </a:endParaRPr>
          </a:p>
        </p:txBody>
      </p:sp>
      <p:sp>
        <p:nvSpPr>
          <p:cNvPr id="13" name="object 13"/>
          <p:cNvSpPr txBox="1"/>
          <p:nvPr/>
        </p:nvSpPr>
        <p:spPr>
          <a:xfrm>
            <a:off x="1465325" y="5936741"/>
            <a:ext cx="9263380" cy="634365"/>
          </a:xfrm>
          <a:prstGeom prst="rect">
            <a:avLst/>
          </a:prstGeom>
          <a:ln w="38100">
            <a:solidFill>
              <a:srgbClr val="E34A46"/>
            </a:solidFill>
          </a:ln>
        </p:spPr>
        <p:txBody>
          <a:bodyPr vert="horz" wrap="square" lIns="0" tIns="0" rIns="0" bIns="0" rtlCol="0">
            <a:spAutoFit/>
          </a:bodyPr>
          <a:lstStyle/>
          <a:p>
            <a:pPr marL="309880">
              <a:lnSpc>
                <a:spcPct val="100000"/>
              </a:lnSpc>
              <a:tabLst>
                <a:tab pos="4121785" algn="l"/>
                <a:tab pos="5800090" algn="l"/>
                <a:tab pos="7505700" algn="l"/>
              </a:tabLst>
            </a:pPr>
            <a:r>
              <a:rPr sz="2400" b="1" dirty="0">
                <a:solidFill>
                  <a:srgbClr val="FF0000"/>
                </a:solidFill>
                <a:latin typeface="微软雅黑"/>
                <a:cs typeface="微软雅黑"/>
              </a:rPr>
              <a:t>常用字符格式：</a:t>
            </a:r>
            <a:r>
              <a:rPr sz="2400" b="1" spc="-10" dirty="0">
                <a:latin typeface="微软雅黑"/>
                <a:cs typeface="微软雅黑"/>
              </a:rPr>
              <a:t>1</a:t>
            </a:r>
            <a:r>
              <a:rPr sz="2400" b="1" dirty="0">
                <a:latin typeface="微软雅黑"/>
                <a:cs typeface="微软雅黑"/>
              </a:rPr>
              <a:t>位起始位	</a:t>
            </a:r>
            <a:r>
              <a:rPr sz="2400" b="1" spc="-10" dirty="0">
                <a:latin typeface="微软雅黑"/>
                <a:cs typeface="微软雅黑"/>
              </a:rPr>
              <a:t>8</a:t>
            </a:r>
            <a:r>
              <a:rPr sz="2400" b="1" dirty="0">
                <a:latin typeface="微软雅黑"/>
                <a:cs typeface="微软雅黑"/>
              </a:rPr>
              <a:t>位数据位	无奇偶校验	</a:t>
            </a:r>
            <a:r>
              <a:rPr sz="2400" b="1" spc="-10" dirty="0">
                <a:latin typeface="微软雅黑"/>
                <a:cs typeface="微软雅黑"/>
              </a:rPr>
              <a:t>1</a:t>
            </a:r>
            <a:r>
              <a:rPr sz="2400" b="1" dirty="0">
                <a:latin typeface="微软雅黑"/>
                <a:cs typeface="微软雅黑"/>
              </a:rPr>
              <a:t>位停止位</a:t>
            </a:r>
            <a:endParaRPr sz="2400">
              <a:latin typeface="微软雅黑"/>
              <a:cs typeface="微软雅黑"/>
            </a:endParaRPr>
          </a:p>
        </p:txBody>
      </p:sp>
      <p:sp>
        <p:nvSpPr>
          <p:cNvPr id="14" name="object 14"/>
          <p:cNvSpPr txBox="1">
            <a:spLocks noGrp="1"/>
          </p:cNvSpPr>
          <p:nvPr>
            <p:ph type="title"/>
          </p:nvPr>
        </p:nvSpPr>
        <p:spPr>
          <a:prstGeom prst="rect">
            <a:avLst/>
          </a:prstGeom>
        </p:spPr>
        <p:txBody>
          <a:bodyPr vert="horz" wrap="square" lIns="0" tIns="0" rIns="0" bIns="0" rtlCol="0">
            <a:spAutoFit/>
          </a:bodyPr>
          <a:lstStyle/>
          <a:p>
            <a:pPr marL="924560">
              <a:lnSpc>
                <a:spcPct val="100000"/>
              </a:lnSpc>
            </a:pPr>
            <a:r>
              <a:rPr spc="-5" dirty="0"/>
              <a:t>异步串行通信的字符格式</a:t>
            </a:r>
          </a:p>
        </p:txBody>
      </p:sp>
    </p:spTree>
    <p:extLst>
      <p:ext uri="{BB962C8B-B14F-4D97-AF65-F5344CB8AC3E}">
        <p14:creationId xmlns:p14="http://schemas.microsoft.com/office/powerpoint/2010/main" val="28572848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3" name="object 3"/>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4" name="object 4"/>
          <p:cNvSpPr/>
          <p:nvPr/>
        </p:nvSpPr>
        <p:spPr>
          <a:xfrm>
            <a:off x="0" y="963155"/>
            <a:ext cx="2171699" cy="769632"/>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6" name="object 6"/>
          <p:cNvSpPr/>
          <p:nvPr/>
        </p:nvSpPr>
        <p:spPr>
          <a:xfrm>
            <a:off x="0" y="995172"/>
            <a:ext cx="2087880" cy="655320"/>
          </a:xfrm>
          <a:custGeom>
            <a:avLst/>
            <a:gdLst/>
            <a:ahLst/>
            <a:cxnLst/>
            <a:rect l="l" t="t" r="r" b="b"/>
            <a:pathLst>
              <a:path w="2087880" h="655319">
                <a:moveTo>
                  <a:pt x="0" y="0"/>
                </a:moveTo>
                <a:lnTo>
                  <a:pt x="1836420" y="0"/>
                </a:lnTo>
                <a:lnTo>
                  <a:pt x="2087880" y="327660"/>
                </a:lnTo>
                <a:lnTo>
                  <a:pt x="1836420" y="655319"/>
                </a:lnTo>
                <a:lnTo>
                  <a:pt x="0" y="655319"/>
                </a:lnTo>
              </a:path>
            </a:pathLst>
          </a:custGeom>
          <a:ln w="12192">
            <a:solidFill>
              <a:srgbClr val="E34A46"/>
            </a:solidFill>
          </a:ln>
        </p:spPr>
        <p:txBody>
          <a:bodyPr wrap="square" lIns="0" tIns="0" rIns="0" bIns="0" rtlCol="0"/>
          <a:lstStyle/>
          <a:p>
            <a:endParaRPr/>
          </a:p>
        </p:txBody>
      </p:sp>
      <p:sp>
        <p:nvSpPr>
          <p:cNvPr id="7" name="object 7"/>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9" name="object 9"/>
          <p:cNvSpPr txBox="1"/>
          <p:nvPr/>
        </p:nvSpPr>
        <p:spPr>
          <a:xfrm>
            <a:off x="351231" y="1181606"/>
            <a:ext cx="1244600" cy="330835"/>
          </a:xfrm>
          <a:prstGeom prst="rect">
            <a:avLst/>
          </a:prstGeom>
        </p:spPr>
        <p:txBody>
          <a:bodyPr vert="horz" wrap="square" lIns="0" tIns="0" rIns="0" bIns="0" rtlCol="0">
            <a:spAutoFit/>
          </a:bodyPr>
          <a:lstStyle/>
          <a:p>
            <a:pPr marL="12700">
              <a:lnSpc>
                <a:spcPct val="100000"/>
              </a:lnSpc>
            </a:pPr>
            <a:r>
              <a:rPr sz="2400" b="1" spc="-5" dirty="0">
                <a:solidFill>
                  <a:srgbClr val="FFFFFF"/>
                </a:solidFill>
                <a:latin typeface="微软雅黑"/>
                <a:cs typeface="微软雅黑"/>
              </a:rPr>
              <a:t>通信速率</a:t>
            </a:r>
            <a:endParaRPr sz="2400">
              <a:latin typeface="微软雅黑"/>
              <a:cs typeface="微软雅黑"/>
            </a:endParaRPr>
          </a:p>
        </p:txBody>
      </p:sp>
      <p:sp>
        <p:nvSpPr>
          <p:cNvPr id="10" name="object 10"/>
          <p:cNvSpPr txBox="1"/>
          <p:nvPr/>
        </p:nvSpPr>
        <p:spPr>
          <a:xfrm>
            <a:off x="2385441" y="389881"/>
            <a:ext cx="668655" cy="254000"/>
          </a:xfrm>
          <a:prstGeom prst="rect">
            <a:avLst/>
          </a:prstGeom>
        </p:spPr>
        <p:txBody>
          <a:bodyPr vert="horz" wrap="square" lIns="0" tIns="0" rIns="0" bIns="0" rtlCol="0">
            <a:spAutoFit/>
          </a:bodyPr>
          <a:lstStyle/>
          <a:p>
            <a:pPr marL="12700">
              <a:lnSpc>
                <a:spcPct val="100000"/>
              </a:lnSpc>
            </a:pPr>
            <a:r>
              <a:rPr sz="1800" b="1" spc="-45" dirty="0">
                <a:solidFill>
                  <a:srgbClr val="252525"/>
                </a:solidFill>
                <a:latin typeface="微软雅黑"/>
                <a:cs typeface="微软雅黑"/>
              </a:rPr>
              <a:t>U</a:t>
            </a:r>
            <a:r>
              <a:rPr sz="1800" b="1" dirty="0">
                <a:solidFill>
                  <a:srgbClr val="252525"/>
                </a:solidFill>
                <a:latin typeface="微软雅黑"/>
                <a:cs typeface="微软雅黑"/>
              </a:rPr>
              <a:t>A</a:t>
            </a:r>
            <a:r>
              <a:rPr sz="1800" b="1" spc="-35" dirty="0">
                <a:solidFill>
                  <a:srgbClr val="252525"/>
                </a:solidFill>
                <a:latin typeface="微软雅黑"/>
                <a:cs typeface="微软雅黑"/>
              </a:rPr>
              <a:t>R</a:t>
            </a:r>
            <a:r>
              <a:rPr sz="1800" b="1" dirty="0">
                <a:solidFill>
                  <a:srgbClr val="252525"/>
                </a:solidFill>
                <a:latin typeface="微软雅黑"/>
                <a:cs typeface="微软雅黑"/>
              </a:rPr>
              <a:t>T</a:t>
            </a:r>
            <a:endParaRPr sz="1800">
              <a:latin typeface="微软雅黑"/>
              <a:cs typeface="微软雅黑"/>
            </a:endParaRPr>
          </a:p>
        </p:txBody>
      </p:sp>
      <p:sp>
        <p:nvSpPr>
          <p:cNvPr id="11" name="object 11"/>
          <p:cNvSpPr/>
          <p:nvPr/>
        </p:nvSpPr>
        <p:spPr>
          <a:xfrm>
            <a:off x="1776222" y="2448305"/>
            <a:ext cx="8641080" cy="1213485"/>
          </a:xfrm>
          <a:custGeom>
            <a:avLst/>
            <a:gdLst/>
            <a:ahLst/>
            <a:cxnLst/>
            <a:rect l="l" t="t" r="r" b="b"/>
            <a:pathLst>
              <a:path w="8641080" h="1213485">
                <a:moveTo>
                  <a:pt x="0" y="1213103"/>
                </a:moveTo>
                <a:lnTo>
                  <a:pt x="8641080" y="1213103"/>
                </a:lnTo>
                <a:lnTo>
                  <a:pt x="8641080" y="0"/>
                </a:lnTo>
                <a:lnTo>
                  <a:pt x="0" y="0"/>
                </a:lnTo>
                <a:lnTo>
                  <a:pt x="0" y="1213103"/>
                </a:lnTo>
                <a:close/>
              </a:path>
            </a:pathLst>
          </a:custGeom>
          <a:ln w="38099">
            <a:solidFill>
              <a:srgbClr val="E34A46"/>
            </a:solidFill>
          </a:ln>
        </p:spPr>
        <p:txBody>
          <a:bodyPr wrap="square" lIns="0" tIns="0" rIns="0" bIns="0" rtlCol="0"/>
          <a:lstStyle/>
          <a:p>
            <a:endParaRPr/>
          </a:p>
        </p:txBody>
      </p:sp>
      <p:sp>
        <p:nvSpPr>
          <p:cNvPr id="12" name="object 12"/>
          <p:cNvSpPr/>
          <p:nvPr/>
        </p:nvSpPr>
        <p:spPr>
          <a:xfrm>
            <a:off x="5285232" y="2113788"/>
            <a:ext cx="1621790" cy="638810"/>
          </a:xfrm>
          <a:custGeom>
            <a:avLst/>
            <a:gdLst/>
            <a:ahLst/>
            <a:cxnLst/>
            <a:rect l="l" t="t" r="r" b="b"/>
            <a:pathLst>
              <a:path w="1621790" h="638810">
                <a:moveTo>
                  <a:pt x="0" y="638555"/>
                </a:moveTo>
                <a:lnTo>
                  <a:pt x="1621536" y="638555"/>
                </a:lnTo>
                <a:lnTo>
                  <a:pt x="1621536" y="0"/>
                </a:lnTo>
                <a:lnTo>
                  <a:pt x="0" y="0"/>
                </a:lnTo>
                <a:lnTo>
                  <a:pt x="0" y="638555"/>
                </a:lnTo>
                <a:close/>
              </a:path>
            </a:pathLst>
          </a:custGeom>
          <a:solidFill>
            <a:srgbClr val="E34A46"/>
          </a:solidFill>
        </p:spPr>
        <p:txBody>
          <a:bodyPr wrap="square" lIns="0" tIns="0" rIns="0" bIns="0" rtlCol="0"/>
          <a:lstStyle/>
          <a:p>
            <a:endParaRPr/>
          </a:p>
        </p:txBody>
      </p:sp>
      <p:sp>
        <p:nvSpPr>
          <p:cNvPr id="13" name="object 13"/>
          <p:cNvSpPr/>
          <p:nvPr/>
        </p:nvSpPr>
        <p:spPr>
          <a:xfrm>
            <a:off x="5285232" y="2113788"/>
            <a:ext cx="1621790" cy="638810"/>
          </a:xfrm>
          <a:custGeom>
            <a:avLst/>
            <a:gdLst/>
            <a:ahLst/>
            <a:cxnLst/>
            <a:rect l="l" t="t" r="r" b="b"/>
            <a:pathLst>
              <a:path w="1621790" h="638810">
                <a:moveTo>
                  <a:pt x="0" y="638555"/>
                </a:moveTo>
                <a:lnTo>
                  <a:pt x="1621536" y="638555"/>
                </a:lnTo>
                <a:lnTo>
                  <a:pt x="1621536" y="0"/>
                </a:lnTo>
                <a:lnTo>
                  <a:pt x="0" y="0"/>
                </a:lnTo>
                <a:lnTo>
                  <a:pt x="0" y="638555"/>
                </a:lnTo>
                <a:close/>
              </a:path>
            </a:pathLst>
          </a:custGeom>
          <a:ln w="12192">
            <a:solidFill>
              <a:srgbClr val="E34A46"/>
            </a:solidFill>
          </a:ln>
        </p:spPr>
        <p:txBody>
          <a:bodyPr wrap="square" lIns="0" tIns="0" rIns="0" bIns="0" rtlCol="0"/>
          <a:lstStyle/>
          <a:p>
            <a:endParaRPr/>
          </a:p>
        </p:txBody>
      </p:sp>
      <p:sp>
        <p:nvSpPr>
          <p:cNvPr id="14" name="object 14"/>
          <p:cNvSpPr txBox="1"/>
          <p:nvPr/>
        </p:nvSpPr>
        <p:spPr>
          <a:xfrm>
            <a:off x="2218435" y="2264221"/>
            <a:ext cx="7700009" cy="1112520"/>
          </a:xfrm>
          <a:prstGeom prst="rect">
            <a:avLst/>
          </a:prstGeom>
        </p:spPr>
        <p:txBody>
          <a:bodyPr vert="horz" wrap="square" lIns="0" tIns="0" rIns="0" bIns="0" rtlCol="0">
            <a:spAutoFit/>
          </a:bodyPr>
          <a:lstStyle/>
          <a:p>
            <a:pPr marL="55244" algn="ctr">
              <a:lnSpc>
                <a:spcPct val="100000"/>
              </a:lnSpc>
            </a:pPr>
            <a:r>
              <a:rPr sz="2800" b="1" spc="-10" dirty="0">
                <a:solidFill>
                  <a:srgbClr val="FFFFFF"/>
                </a:solidFill>
                <a:latin typeface="微软雅黑"/>
                <a:cs typeface="微软雅黑"/>
              </a:rPr>
              <a:t>波特率</a:t>
            </a:r>
            <a:endParaRPr sz="2800">
              <a:latin typeface="微软雅黑"/>
              <a:cs typeface="微软雅黑"/>
            </a:endParaRPr>
          </a:p>
          <a:p>
            <a:pPr>
              <a:lnSpc>
                <a:spcPct val="100000"/>
              </a:lnSpc>
              <a:spcBef>
                <a:spcPts val="4"/>
              </a:spcBef>
            </a:pPr>
            <a:endParaRPr sz="2500">
              <a:latin typeface="Times New Roman"/>
              <a:cs typeface="Times New Roman"/>
            </a:endParaRPr>
          </a:p>
          <a:p>
            <a:pPr algn="ctr">
              <a:lnSpc>
                <a:spcPct val="100000"/>
              </a:lnSpc>
            </a:pPr>
            <a:r>
              <a:rPr sz="2400" b="1" dirty="0">
                <a:latin typeface="微软雅黑"/>
                <a:cs typeface="微软雅黑"/>
              </a:rPr>
              <a:t>每秒钟传送二进制数码的位数，</a:t>
            </a:r>
            <a:r>
              <a:rPr sz="2400" b="1" spc="5" dirty="0">
                <a:latin typeface="微软雅黑"/>
                <a:cs typeface="微软雅黑"/>
              </a:rPr>
              <a:t>以</a:t>
            </a:r>
            <a:r>
              <a:rPr sz="2400" b="1" spc="-5" dirty="0">
                <a:solidFill>
                  <a:srgbClr val="FF0000"/>
                </a:solidFill>
                <a:latin typeface="微软雅黑"/>
                <a:cs typeface="微软雅黑"/>
              </a:rPr>
              <a:t>bit/</a:t>
            </a:r>
            <a:r>
              <a:rPr sz="2400" b="1" dirty="0">
                <a:solidFill>
                  <a:srgbClr val="FF0000"/>
                </a:solidFill>
                <a:latin typeface="微软雅黑"/>
                <a:cs typeface="微软雅黑"/>
              </a:rPr>
              <a:t>s（bps）</a:t>
            </a:r>
            <a:r>
              <a:rPr sz="2400" b="1" dirty="0">
                <a:latin typeface="微软雅黑"/>
                <a:cs typeface="微软雅黑"/>
              </a:rPr>
              <a:t>为单位。</a:t>
            </a:r>
            <a:endParaRPr sz="2400">
              <a:latin typeface="微软雅黑"/>
              <a:cs typeface="微软雅黑"/>
            </a:endParaRPr>
          </a:p>
        </p:txBody>
      </p:sp>
      <p:sp>
        <p:nvSpPr>
          <p:cNvPr id="15" name="object 15"/>
          <p:cNvSpPr txBox="1"/>
          <p:nvPr/>
        </p:nvSpPr>
        <p:spPr>
          <a:xfrm>
            <a:off x="962405" y="4432553"/>
            <a:ext cx="10269220" cy="1763395"/>
          </a:xfrm>
          <a:prstGeom prst="rect">
            <a:avLst/>
          </a:prstGeom>
          <a:ln w="38100">
            <a:solidFill>
              <a:srgbClr val="41709C"/>
            </a:solidFill>
          </a:ln>
        </p:spPr>
        <p:txBody>
          <a:bodyPr vert="horz" wrap="square" lIns="0" tIns="0" rIns="0" bIns="0" rtlCol="0">
            <a:spAutoFit/>
          </a:bodyPr>
          <a:lstStyle/>
          <a:p>
            <a:pPr marL="684530">
              <a:lnSpc>
                <a:spcPct val="100000"/>
              </a:lnSpc>
            </a:pPr>
            <a:r>
              <a:rPr sz="2400" spc="-235" dirty="0">
                <a:latin typeface="Segoe UI Symbol"/>
                <a:cs typeface="Segoe UI Symbol"/>
              </a:rPr>
              <a:t>⚫</a:t>
            </a:r>
            <a:r>
              <a:rPr sz="2400" spc="250" dirty="0">
                <a:latin typeface="Segoe UI Symbol"/>
                <a:cs typeface="Segoe UI Symbol"/>
              </a:rPr>
              <a:t> </a:t>
            </a:r>
            <a:r>
              <a:rPr sz="2400" b="1" dirty="0">
                <a:latin typeface="微软雅黑"/>
                <a:cs typeface="微软雅黑"/>
              </a:rPr>
              <a:t>常用的波特率有：</a:t>
            </a:r>
            <a:r>
              <a:rPr sz="2400" b="1" spc="-10" dirty="0">
                <a:latin typeface="微软雅黑"/>
                <a:cs typeface="微软雅黑"/>
              </a:rPr>
              <a:t>9600</a:t>
            </a:r>
            <a:r>
              <a:rPr sz="2400" b="1" dirty="0">
                <a:latin typeface="微软雅黑"/>
                <a:cs typeface="微软雅黑"/>
              </a:rPr>
              <a:t>、</a:t>
            </a:r>
            <a:r>
              <a:rPr sz="2400" b="1" spc="-10" dirty="0">
                <a:latin typeface="微软雅黑"/>
                <a:cs typeface="微软雅黑"/>
              </a:rPr>
              <a:t>19200</a:t>
            </a:r>
            <a:r>
              <a:rPr sz="2400" b="1" dirty="0">
                <a:latin typeface="微软雅黑"/>
                <a:cs typeface="微软雅黑"/>
              </a:rPr>
              <a:t>、</a:t>
            </a:r>
            <a:r>
              <a:rPr sz="2400" b="1" spc="-10" dirty="0">
                <a:latin typeface="微软雅黑"/>
                <a:cs typeface="微软雅黑"/>
              </a:rPr>
              <a:t>38400</a:t>
            </a:r>
            <a:r>
              <a:rPr sz="2400" b="1" dirty="0">
                <a:latin typeface="微软雅黑"/>
                <a:cs typeface="微软雅黑"/>
              </a:rPr>
              <a:t>、</a:t>
            </a:r>
            <a:r>
              <a:rPr sz="2400" b="1" spc="-10" dirty="0">
                <a:latin typeface="微软雅黑"/>
                <a:cs typeface="微软雅黑"/>
              </a:rPr>
              <a:t>57600</a:t>
            </a:r>
            <a:r>
              <a:rPr sz="2400" b="1" dirty="0">
                <a:latin typeface="微软雅黑"/>
                <a:cs typeface="微软雅黑"/>
              </a:rPr>
              <a:t>和</a:t>
            </a:r>
            <a:r>
              <a:rPr sz="2400" b="1" spc="-10" dirty="0">
                <a:latin typeface="微软雅黑"/>
                <a:cs typeface="微软雅黑"/>
              </a:rPr>
              <a:t>115200</a:t>
            </a:r>
            <a:r>
              <a:rPr sz="2400" b="1" dirty="0">
                <a:latin typeface="微软雅黑"/>
                <a:cs typeface="微软雅黑"/>
              </a:rPr>
              <a:t>；</a:t>
            </a:r>
            <a:endParaRPr sz="2400" dirty="0">
              <a:latin typeface="微软雅黑"/>
              <a:cs typeface="微软雅黑"/>
            </a:endParaRPr>
          </a:p>
          <a:p>
            <a:pPr marL="684530">
              <a:lnSpc>
                <a:spcPct val="100000"/>
              </a:lnSpc>
              <a:spcBef>
                <a:spcPts val="1115"/>
              </a:spcBef>
            </a:pPr>
            <a:r>
              <a:rPr sz="2400" spc="-229" dirty="0">
                <a:latin typeface="Segoe UI Symbol"/>
                <a:cs typeface="Segoe UI Symbol"/>
              </a:rPr>
              <a:t>⚫</a:t>
            </a:r>
            <a:r>
              <a:rPr sz="2400" spc="250" dirty="0">
                <a:latin typeface="Segoe UI Symbol"/>
                <a:cs typeface="Segoe UI Symbol"/>
              </a:rPr>
              <a:t> </a:t>
            </a:r>
            <a:r>
              <a:rPr sz="2400" b="1" spc="-5" dirty="0">
                <a:latin typeface="微软雅黑"/>
                <a:cs typeface="微软雅黑"/>
              </a:rPr>
              <a:t>波特率为</a:t>
            </a:r>
            <a:r>
              <a:rPr sz="2400" b="1" spc="-10" dirty="0">
                <a:latin typeface="微软雅黑"/>
                <a:cs typeface="微软雅黑"/>
              </a:rPr>
              <a:t>11520</a:t>
            </a:r>
            <a:r>
              <a:rPr sz="2400" b="1" spc="-5" dirty="0">
                <a:latin typeface="微软雅黑"/>
                <a:cs typeface="微软雅黑"/>
              </a:rPr>
              <a:t>0，表示每秒传</a:t>
            </a:r>
            <a:r>
              <a:rPr sz="2400" b="1" dirty="0">
                <a:latin typeface="微软雅黑"/>
                <a:cs typeface="微软雅黑"/>
              </a:rPr>
              <a:t>输</a:t>
            </a:r>
            <a:r>
              <a:rPr sz="2400" b="1" spc="-10" dirty="0">
                <a:latin typeface="微软雅黑"/>
                <a:cs typeface="微软雅黑"/>
              </a:rPr>
              <a:t>115200</a:t>
            </a:r>
            <a:r>
              <a:rPr sz="2400" b="1" spc="-5" dirty="0">
                <a:latin typeface="微软雅黑"/>
                <a:cs typeface="微软雅黑"/>
              </a:rPr>
              <a:t>位，且每一位数据在数</a:t>
            </a:r>
            <a:endParaRPr sz="2400" dirty="0">
              <a:latin typeface="微软雅黑"/>
              <a:cs typeface="微软雅黑"/>
            </a:endParaRPr>
          </a:p>
          <a:p>
            <a:pPr marL="1027430">
              <a:lnSpc>
                <a:spcPct val="100000"/>
              </a:lnSpc>
              <a:spcBef>
                <a:spcPts val="1130"/>
              </a:spcBef>
            </a:pPr>
            <a:r>
              <a:rPr sz="2400" b="1" dirty="0">
                <a:latin typeface="微软雅黑"/>
                <a:cs typeface="微软雅黑"/>
              </a:rPr>
              <a:t>据线上持续时间为</a:t>
            </a:r>
            <a:r>
              <a:rPr sz="2400" b="1" spc="-5" dirty="0">
                <a:latin typeface="微软雅黑"/>
                <a:cs typeface="微软雅黑"/>
              </a:rPr>
              <a:t>T</a:t>
            </a:r>
            <a:r>
              <a:rPr sz="2400" b="1" spc="-7" baseline="-20833" dirty="0">
                <a:latin typeface="微软雅黑"/>
                <a:cs typeface="微软雅黑"/>
              </a:rPr>
              <a:t>bit </a:t>
            </a:r>
            <a:r>
              <a:rPr sz="2400" b="1" dirty="0">
                <a:latin typeface="微软雅黑"/>
                <a:cs typeface="微软雅黑"/>
              </a:rPr>
              <a:t>=</a:t>
            </a:r>
            <a:r>
              <a:rPr sz="2400" b="1" spc="-15" dirty="0">
                <a:latin typeface="微软雅黑"/>
                <a:cs typeface="微软雅黑"/>
              </a:rPr>
              <a:t> </a:t>
            </a:r>
            <a:r>
              <a:rPr sz="2400" b="1" spc="-5" dirty="0">
                <a:latin typeface="微软雅黑"/>
                <a:cs typeface="微软雅黑"/>
              </a:rPr>
              <a:t>1/1</a:t>
            </a:r>
            <a:r>
              <a:rPr sz="2400" b="1" spc="-15" dirty="0">
                <a:latin typeface="微软雅黑"/>
                <a:cs typeface="微软雅黑"/>
              </a:rPr>
              <a:t>1</a:t>
            </a:r>
            <a:r>
              <a:rPr sz="2400" b="1" spc="-5" dirty="0">
                <a:latin typeface="微软雅黑"/>
                <a:cs typeface="微软雅黑"/>
              </a:rPr>
              <a:t>5</a:t>
            </a:r>
            <a:r>
              <a:rPr sz="2400" b="1" spc="-15" dirty="0">
                <a:latin typeface="微软雅黑"/>
                <a:cs typeface="微软雅黑"/>
              </a:rPr>
              <a:t>2</a:t>
            </a:r>
            <a:r>
              <a:rPr sz="2400" b="1" spc="-5" dirty="0">
                <a:latin typeface="微软雅黑"/>
                <a:cs typeface="微软雅黑"/>
              </a:rPr>
              <a:t>00</a:t>
            </a:r>
            <a:r>
              <a:rPr sz="2400" b="1" spc="-15" dirty="0">
                <a:latin typeface="微软雅黑"/>
                <a:cs typeface="微软雅黑"/>
              </a:rPr>
              <a:t> </a:t>
            </a:r>
            <a:r>
              <a:rPr sz="2400" b="1" dirty="0">
                <a:latin typeface="微软雅黑"/>
                <a:cs typeface="微软雅黑"/>
              </a:rPr>
              <a:t>≈</a:t>
            </a:r>
            <a:r>
              <a:rPr sz="2400" b="1" spc="-15" dirty="0">
                <a:latin typeface="微软雅黑"/>
                <a:cs typeface="微软雅黑"/>
              </a:rPr>
              <a:t> </a:t>
            </a:r>
            <a:r>
              <a:rPr sz="2400" b="1" spc="-5" dirty="0">
                <a:latin typeface="微软雅黑"/>
                <a:cs typeface="微软雅黑"/>
              </a:rPr>
              <a:t>8</a:t>
            </a:r>
            <a:r>
              <a:rPr sz="2400" b="1" spc="-15" dirty="0">
                <a:latin typeface="微软雅黑"/>
                <a:cs typeface="微软雅黑"/>
              </a:rPr>
              <a:t>.</a:t>
            </a:r>
            <a:r>
              <a:rPr sz="2400" b="1" spc="-5" dirty="0">
                <a:latin typeface="微软雅黑"/>
                <a:cs typeface="微软雅黑"/>
              </a:rPr>
              <a:t>6</a:t>
            </a:r>
            <a:r>
              <a:rPr sz="2400" b="1" spc="-15" dirty="0">
                <a:latin typeface="微软雅黑"/>
                <a:cs typeface="微软雅黑"/>
              </a:rPr>
              <a:t>8</a:t>
            </a:r>
            <a:r>
              <a:rPr sz="2400" b="1" spc="-5" dirty="0">
                <a:latin typeface="微软雅黑"/>
                <a:cs typeface="微软雅黑"/>
              </a:rPr>
              <a:t>u</a:t>
            </a:r>
            <a:r>
              <a:rPr sz="2400" b="1" dirty="0">
                <a:latin typeface="微软雅黑"/>
                <a:cs typeface="微软雅黑"/>
              </a:rPr>
              <a:t>s。</a:t>
            </a:r>
            <a:endParaRPr sz="2400" dirty="0">
              <a:latin typeface="微软雅黑"/>
              <a:cs typeface="微软雅黑"/>
            </a:endParaRPr>
          </a:p>
        </p:txBody>
      </p:sp>
      <p:sp>
        <p:nvSpPr>
          <p:cNvPr id="16" name="object 16"/>
          <p:cNvSpPr txBox="1">
            <a:spLocks noGrp="1"/>
          </p:cNvSpPr>
          <p:nvPr>
            <p:ph type="title"/>
          </p:nvPr>
        </p:nvSpPr>
        <p:spPr>
          <a:prstGeom prst="rect">
            <a:avLst/>
          </a:prstGeom>
        </p:spPr>
        <p:txBody>
          <a:bodyPr vert="horz" wrap="square" lIns="0" tIns="0" rIns="0" bIns="0" rtlCol="0">
            <a:spAutoFit/>
          </a:bodyPr>
          <a:lstStyle/>
          <a:p>
            <a:pPr marL="943610">
              <a:lnSpc>
                <a:spcPct val="100000"/>
              </a:lnSpc>
            </a:pPr>
            <a:r>
              <a:rPr spc="-10" dirty="0"/>
              <a:t>异步串行通信的通信速率</a:t>
            </a:r>
          </a:p>
        </p:txBody>
      </p:sp>
      <p:sp>
        <p:nvSpPr>
          <p:cNvPr id="17" name="object 17"/>
          <p:cNvSpPr/>
          <p:nvPr/>
        </p:nvSpPr>
        <p:spPr>
          <a:xfrm>
            <a:off x="1523" y="6470903"/>
            <a:ext cx="12190730" cy="45720"/>
          </a:xfrm>
          <a:custGeom>
            <a:avLst/>
            <a:gdLst/>
            <a:ahLst/>
            <a:cxnLst/>
            <a:rect l="l" t="t" r="r" b="b"/>
            <a:pathLst>
              <a:path w="12190730" h="45720">
                <a:moveTo>
                  <a:pt x="0" y="45719"/>
                </a:moveTo>
                <a:lnTo>
                  <a:pt x="12190476" y="45719"/>
                </a:lnTo>
                <a:lnTo>
                  <a:pt x="12190476" y="0"/>
                </a:lnTo>
                <a:lnTo>
                  <a:pt x="0" y="0"/>
                </a:lnTo>
                <a:lnTo>
                  <a:pt x="0" y="45719"/>
                </a:lnTo>
              </a:path>
            </a:pathLst>
          </a:custGeom>
          <a:solidFill>
            <a:srgbClr val="FFE699"/>
          </a:solidFill>
        </p:spPr>
        <p:txBody>
          <a:bodyPr wrap="square" lIns="0" tIns="0" rIns="0" bIns="0" rtlCol="0"/>
          <a:lstStyle/>
          <a:p>
            <a:endParaRPr/>
          </a:p>
        </p:txBody>
      </p:sp>
      <p:sp>
        <p:nvSpPr>
          <p:cNvPr id="18" name="object 18"/>
          <p:cNvSpPr/>
          <p:nvPr/>
        </p:nvSpPr>
        <p:spPr>
          <a:xfrm>
            <a:off x="1523" y="6516623"/>
            <a:ext cx="12190730" cy="341630"/>
          </a:xfrm>
          <a:custGeom>
            <a:avLst/>
            <a:gdLst/>
            <a:ahLst/>
            <a:cxnLst/>
            <a:rect l="l" t="t" r="r" b="b"/>
            <a:pathLst>
              <a:path w="12190730" h="341629">
                <a:moveTo>
                  <a:pt x="0" y="341376"/>
                </a:moveTo>
                <a:lnTo>
                  <a:pt x="12190476" y="341376"/>
                </a:lnTo>
                <a:lnTo>
                  <a:pt x="12190476" y="0"/>
                </a:lnTo>
                <a:lnTo>
                  <a:pt x="0" y="0"/>
                </a:lnTo>
                <a:lnTo>
                  <a:pt x="0" y="341376"/>
                </a:lnTo>
              </a:path>
            </a:pathLst>
          </a:custGeom>
          <a:solidFill>
            <a:srgbClr val="E34A46"/>
          </a:solidFill>
        </p:spPr>
        <p:txBody>
          <a:bodyPr wrap="square" lIns="0" tIns="0" rIns="0" bIns="0" rtlCol="0"/>
          <a:lstStyle/>
          <a:p>
            <a:endParaRPr/>
          </a:p>
        </p:txBody>
      </p:sp>
    </p:spTree>
    <p:extLst>
      <p:ext uri="{BB962C8B-B14F-4D97-AF65-F5344CB8AC3E}">
        <p14:creationId xmlns:p14="http://schemas.microsoft.com/office/powerpoint/2010/main" val="23110109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3" name="object 3"/>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4" name="object 4"/>
          <p:cNvSpPr/>
          <p:nvPr/>
        </p:nvSpPr>
        <p:spPr>
          <a:xfrm>
            <a:off x="0" y="963155"/>
            <a:ext cx="2171699" cy="769632"/>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6" name="object 6"/>
          <p:cNvSpPr/>
          <p:nvPr/>
        </p:nvSpPr>
        <p:spPr>
          <a:xfrm>
            <a:off x="0" y="995172"/>
            <a:ext cx="2087880" cy="655320"/>
          </a:xfrm>
          <a:custGeom>
            <a:avLst/>
            <a:gdLst/>
            <a:ahLst/>
            <a:cxnLst/>
            <a:rect l="l" t="t" r="r" b="b"/>
            <a:pathLst>
              <a:path w="2087880" h="655319">
                <a:moveTo>
                  <a:pt x="0" y="0"/>
                </a:moveTo>
                <a:lnTo>
                  <a:pt x="1836420" y="0"/>
                </a:lnTo>
                <a:lnTo>
                  <a:pt x="2087880" y="327660"/>
                </a:lnTo>
                <a:lnTo>
                  <a:pt x="1836420" y="655319"/>
                </a:lnTo>
                <a:lnTo>
                  <a:pt x="0" y="655319"/>
                </a:lnTo>
              </a:path>
            </a:pathLst>
          </a:custGeom>
          <a:ln w="12192">
            <a:solidFill>
              <a:srgbClr val="E34A46"/>
            </a:solidFill>
          </a:ln>
        </p:spPr>
        <p:txBody>
          <a:bodyPr wrap="square" lIns="0" tIns="0" rIns="0" bIns="0" rtlCol="0"/>
          <a:lstStyle/>
          <a:p>
            <a:endParaRPr/>
          </a:p>
        </p:txBody>
      </p:sp>
      <p:sp>
        <p:nvSpPr>
          <p:cNvPr id="7" name="object 7"/>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9" name="object 9"/>
          <p:cNvSpPr txBox="1"/>
          <p:nvPr/>
        </p:nvSpPr>
        <p:spPr>
          <a:xfrm>
            <a:off x="197307" y="1181606"/>
            <a:ext cx="1549400" cy="330835"/>
          </a:xfrm>
          <a:prstGeom prst="rect">
            <a:avLst/>
          </a:prstGeom>
        </p:spPr>
        <p:txBody>
          <a:bodyPr vert="horz" wrap="square" lIns="0" tIns="0" rIns="0" bIns="0" rtlCol="0">
            <a:spAutoFit/>
          </a:bodyPr>
          <a:lstStyle/>
          <a:p>
            <a:pPr marL="12700">
              <a:lnSpc>
                <a:spcPct val="100000"/>
              </a:lnSpc>
            </a:pPr>
            <a:r>
              <a:rPr sz="2400" b="1" spc="-5" dirty="0">
                <a:solidFill>
                  <a:srgbClr val="FFFFFF"/>
                </a:solidFill>
                <a:latin typeface="微软雅黑"/>
                <a:cs typeface="微软雅黑"/>
              </a:rPr>
              <a:t>通信准确性</a:t>
            </a:r>
            <a:endParaRPr sz="2400">
              <a:latin typeface="微软雅黑"/>
              <a:cs typeface="微软雅黑"/>
            </a:endParaRPr>
          </a:p>
        </p:txBody>
      </p:sp>
      <p:sp>
        <p:nvSpPr>
          <p:cNvPr id="10" name="object 10"/>
          <p:cNvSpPr txBox="1"/>
          <p:nvPr/>
        </p:nvSpPr>
        <p:spPr>
          <a:xfrm>
            <a:off x="2385441" y="389881"/>
            <a:ext cx="668655" cy="254000"/>
          </a:xfrm>
          <a:prstGeom prst="rect">
            <a:avLst/>
          </a:prstGeom>
        </p:spPr>
        <p:txBody>
          <a:bodyPr vert="horz" wrap="square" lIns="0" tIns="0" rIns="0" bIns="0" rtlCol="0">
            <a:spAutoFit/>
          </a:bodyPr>
          <a:lstStyle/>
          <a:p>
            <a:pPr marL="12700">
              <a:lnSpc>
                <a:spcPct val="100000"/>
              </a:lnSpc>
            </a:pPr>
            <a:r>
              <a:rPr sz="1800" b="1" spc="-45" dirty="0">
                <a:solidFill>
                  <a:srgbClr val="252525"/>
                </a:solidFill>
                <a:latin typeface="微软雅黑"/>
                <a:cs typeface="微软雅黑"/>
              </a:rPr>
              <a:t>U</a:t>
            </a:r>
            <a:r>
              <a:rPr sz="1800" b="1" dirty="0">
                <a:solidFill>
                  <a:srgbClr val="252525"/>
                </a:solidFill>
                <a:latin typeface="微软雅黑"/>
                <a:cs typeface="微软雅黑"/>
              </a:rPr>
              <a:t>A</a:t>
            </a:r>
            <a:r>
              <a:rPr sz="1800" b="1" spc="-35" dirty="0">
                <a:solidFill>
                  <a:srgbClr val="252525"/>
                </a:solidFill>
                <a:latin typeface="微软雅黑"/>
                <a:cs typeface="微软雅黑"/>
              </a:rPr>
              <a:t>R</a:t>
            </a:r>
            <a:r>
              <a:rPr sz="1800" b="1" dirty="0">
                <a:solidFill>
                  <a:srgbClr val="252525"/>
                </a:solidFill>
                <a:latin typeface="微软雅黑"/>
                <a:cs typeface="微软雅黑"/>
              </a:rPr>
              <a:t>T</a:t>
            </a:r>
            <a:endParaRPr sz="1800">
              <a:latin typeface="微软雅黑"/>
              <a:cs typeface="微软雅黑"/>
            </a:endParaRPr>
          </a:p>
        </p:txBody>
      </p:sp>
      <p:sp>
        <p:nvSpPr>
          <p:cNvPr id="11" name="object 11"/>
          <p:cNvSpPr txBox="1">
            <a:spLocks noGrp="1"/>
          </p:cNvSpPr>
          <p:nvPr>
            <p:ph type="title"/>
          </p:nvPr>
        </p:nvSpPr>
        <p:spPr>
          <a:prstGeom prst="rect">
            <a:avLst/>
          </a:prstGeom>
        </p:spPr>
        <p:txBody>
          <a:bodyPr vert="horz" wrap="square" lIns="0" tIns="0" rIns="0" bIns="0" rtlCol="0">
            <a:spAutoFit/>
          </a:bodyPr>
          <a:lstStyle/>
          <a:p>
            <a:pPr marL="748030">
              <a:lnSpc>
                <a:spcPct val="100000"/>
              </a:lnSpc>
            </a:pPr>
            <a:r>
              <a:rPr spc="-5" dirty="0"/>
              <a:t>异步串行通信的两个关键点</a:t>
            </a:r>
          </a:p>
        </p:txBody>
      </p:sp>
      <p:sp>
        <p:nvSpPr>
          <p:cNvPr id="12" name="object 12"/>
          <p:cNvSpPr/>
          <p:nvPr/>
        </p:nvSpPr>
        <p:spPr>
          <a:xfrm>
            <a:off x="688848" y="3837432"/>
            <a:ext cx="10814304" cy="2596895"/>
          </a:xfrm>
          <a:prstGeom prst="rect">
            <a:avLst/>
          </a:prstGeom>
          <a:blipFill>
            <a:blip r:embed="rId4" cstate="print"/>
            <a:stretch>
              <a:fillRect/>
            </a:stretch>
          </a:blipFill>
        </p:spPr>
        <p:txBody>
          <a:bodyPr wrap="square" lIns="0" tIns="0" rIns="0" bIns="0" rtlCol="0"/>
          <a:lstStyle/>
          <a:p>
            <a:endParaRPr/>
          </a:p>
        </p:txBody>
      </p:sp>
      <p:sp>
        <p:nvSpPr>
          <p:cNvPr id="13" name="object 13"/>
          <p:cNvSpPr txBox="1"/>
          <p:nvPr/>
        </p:nvSpPr>
        <p:spPr>
          <a:xfrm>
            <a:off x="2053589" y="2951226"/>
            <a:ext cx="2636520" cy="654050"/>
          </a:xfrm>
          <a:prstGeom prst="rect">
            <a:avLst/>
          </a:prstGeom>
          <a:ln w="38100">
            <a:solidFill>
              <a:srgbClr val="E34A46"/>
            </a:solidFill>
          </a:ln>
        </p:spPr>
        <p:txBody>
          <a:bodyPr vert="horz" wrap="square" lIns="0" tIns="0" rIns="0" bIns="0" rtlCol="0">
            <a:spAutoFit/>
          </a:bodyPr>
          <a:lstStyle/>
          <a:p>
            <a:pPr marL="555625">
              <a:lnSpc>
                <a:spcPct val="100000"/>
              </a:lnSpc>
            </a:pPr>
            <a:r>
              <a:rPr sz="2800" b="1" spc="-10" dirty="0">
                <a:solidFill>
                  <a:srgbClr val="252525"/>
                </a:solidFill>
                <a:latin typeface="微软雅黑"/>
                <a:cs typeface="微软雅黑"/>
              </a:rPr>
              <a:t>字符格式</a:t>
            </a:r>
            <a:endParaRPr sz="2800">
              <a:latin typeface="微软雅黑"/>
              <a:cs typeface="微软雅黑"/>
            </a:endParaRPr>
          </a:p>
        </p:txBody>
      </p:sp>
      <p:sp>
        <p:nvSpPr>
          <p:cNvPr id="14" name="object 14"/>
          <p:cNvSpPr txBox="1"/>
          <p:nvPr/>
        </p:nvSpPr>
        <p:spPr>
          <a:xfrm>
            <a:off x="6517385" y="2951226"/>
            <a:ext cx="2638425" cy="654050"/>
          </a:xfrm>
          <a:prstGeom prst="rect">
            <a:avLst/>
          </a:prstGeom>
          <a:ln w="38100">
            <a:solidFill>
              <a:srgbClr val="E34A46"/>
            </a:solidFill>
          </a:ln>
        </p:spPr>
        <p:txBody>
          <a:bodyPr vert="horz" wrap="square" lIns="0" tIns="0" rIns="0" bIns="0" rtlCol="0">
            <a:spAutoFit/>
          </a:bodyPr>
          <a:lstStyle/>
          <a:p>
            <a:pPr marL="816610">
              <a:lnSpc>
                <a:spcPct val="100000"/>
              </a:lnSpc>
            </a:pPr>
            <a:r>
              <a:rPr sz="2800" b="1" spc="-5" dirty="0">
                <a:solidFill>
                  <a:srgbClr val="252525"/>
                </a:solidFill>
                <a:latin typeface="微软雅黑"/>
                <a:cs typeface="微软雅黑"/>
              </a:rPr>
              <a:t>波特率</a:t>
            </a:r>
            <a:endParaRPr sz="2800">
              <a:latin typeface="微软雅黑"/>
              <a:cs typeface="微软雅黑"/>
            </a:endParaRPr>
          </a:p>
        </p:txBody>
      </p:sp>
      <p:sp>
        <p:nvSpPr>
          <p:cNvPr id="15" name="object 15"/>
          <p:cNvSpPr/>
          <p:nvPr/>
        </p:nvSpPr>
        <p:spPr>
          <a:xfrm>
            <a:off x="8861321" y="1777745"/>
            <a:ext cx="2971800" cy="1162685"/>
          </a:xfrm>
          <a:custGeom>
            <a:avLst/>
            <a:gdLst/>
            <a:ahLst/>
            <a:cxnLst/>
            <a:rect l="l" t="t" r="r" b="b"/>
            <a:pathLst>
              <a:path w="2971800" h="1162685">
                <a:moveTo>
                  <a:pt x="2808454" y="0"/>
                </a:moveTo>
                <a:lnTo>
                  <a:pt x="160526" y="23"/>
                </a:lnTo>
                <a:lnTo>
                  <a:pt x="117768" y="6436"/>
                </a:lnTo>
                <a:lnTo>
                  <a:pt x="79394" y="23186"/>
                </a:lnTo>
                <a:lnTo>
                  <a:pt x="46916" y="48761"/>
                </a:lnTo>
                <a:lnTo>
                  <a:pt x="21846" y="81650"/>
                </a:lnTo>
                <a:lnTo>
                  <a:pt x="5696" y="120341"/>
                </a:lnTo>
                <a:lnTo>
                  <a:pt x="100" y="160549"/>
                </a:lnTo>
                <a:lnTo>
                  <a:pt x="0" y="819382"/>
                </a:lnTo>
                <a:lnTo>
                  <a:pt x="895" y="834029"/>
                </a:lnTo>
                <a:lnTo>
                  <a:pt x="10922" y="875493"/>
                </a:lnTo>
                <a:lnTo>
                  <a:pt x="30782" y="912069"/>
                </a:lnTo>
                <a:lnTo>
                  <a:pt x="58963" y="942246"/>
                </a:lnTo>
                <a:lnTo>
                  <a:pt x="93954" y="964511"/>
                </a:lnTo>
                <a:lnTo>
                  <a:pt x="134243" y="977352"/>
                </a:lnTo>
                <a:lnTo>
                  <a:pt x="163298" y="979931"/>
                </a:lnTo>
                <a:lnTo>
                  <a:pt x="495276" y="979931"/>
                </a:lnTo>
                <a:lnTo>
                  <a:pt x="312650" y="1162303"/>
                </a:lnTo>
                <a:lnTo>
                  <a:pt x="1238226" y="979931"/>
                </a:lnTo>
                <a:lnTo>
                  <a:pt x="2811227" y="979908"/>
                </a:lnTo>
                <a:lnTo>
                  <a:pt x="2825874" y="979013"/>
                </a:lnTo>
                <a:lnTo>
                  <a:pt x="2867338" y="968986"/>
                </a:lnTo>
                <a:lnTo>
                  <a:pt x="2903914" y="949126"/>
                </a:lnTo>
                <a:lnTo>
                  <a:pt x="2934091" y="920945"/>
                </a:lnTo>
                <a:lnTo>
                  <a:pt x="2956356" y="885954"/>
                </a:lnTo>
                <a:lnTo>
                  <a:pt x="2969197" y="845665"/>
                </a:lnTo>
                <a:lnTo>
                  <a:pt x="2971753" y="160549"/>
                </a:lnTo>
                <a:lnTo>
                  <a:pt x="2970858" y="145902"/>
                </a:lnTo>
                <a:lnTo>
                  <a:pt x="2960831" y="104438"/>
                </a:lnTo>
                <a:lnTo>
                  <a:pt x="2940971" y="67862"/>
                </a:lnTo>
                <a:lnTo>
                  <a:pt x="2912790" y="37685"/>
                </a:lnTo>
                <a:lnTo>
                  <a:pt x="2877799" y="15420"/>
                </a:lnTo>
                <a:lnTo>
                  <a:pt x="2837510" y="2579"/>
                </a:lnTo>
                <a:lnTo>
                  <a:pt x="2823165" y="654"/>
                </a:lnTo>
                <a:lnTo>
                  <a:pt x="2808454" y="0"/>
                </a:lnTo>
                <a:close/>
              </a:path>
            </a:pathLst>
          </a:custGeom>
          <a:solidFill>
            <a:srgbClr val="FFFFC7"/>
          </a:solidFill>
        </p:spPr>
        <p:txBody>
          <a:bodyPr wrap="square" lIns="0" tIns="0" rIns="0" bIns="0" rtlCol="0"/>
          <a:lstStyle/>
          <a:p>
            <a:endParaRPr/>
          </a:p>
        </p:txBody>
      </p:sp>
      <p:sp>
        <p:nvSpPr>
          <p:cNvPr id="16" name="object 16"/>
          <p:cNvSpPr/>
          <p:nvPr/>
        </p:nvSpPr>
        <p:spPr>
          <a:xfrm>
            <a:off x="8861297" y="1777745"/>
            <a:ext cx="2971800" cy="1162685"/>
          </a:xfrm>
          <a:custGeom>
            <a:avLst/>
            <a:gdLst/>
            <a:ahLst/>
            <a:cxnLst/>
            <a:rect l="l" t="t" r="r" b="b"/>
            <a:pathLst>
              <a:path w="2971800" h="1162685">
                <a:moveTo>
                  <a:pt x="0" y="163321"/>
                </a:moveTo>
                <a:lnTo>
                  <a:pt x="5719" y="120341"/>
                </a:lnTo>
                <a:lnTo>
                  <a:pt x="21870" y="81650"/>
                </a:lnTo>
                <a:lnTo>
                  <a:pt x="46940" y="48761"/>
                </a:lnTo>
                <a:lnTo>
                  <a:pt x="79417" y="23186"/>
                </a:lnTo>
                <a:lnTo>
                  <a:pt x="117791" y="6436"/>
                </a:lnTo>
                <a:lnTo>
                  <a:pt x="160549" y="23"/>
                </a:lnTo>
                <a:lnTo>
                  <a:pt x="495300" y="0"/>
                </a:lnTo>
                <a:lnTo>
                  <a:pt x="1238250" y="0"/>
                </a:lnTo>
                <a:lnTo>
                  <a:pt x="2808478" y="0"/>
                </a:lnTo>
                <a:lnTo>
                  <a:pt x="2823188" y="654"/>
                </a:lnTo>
                <a:lnTo>
                  <a:pt x="2864907" y="10018"/>
                </a:lnTo>
                <a:lnTo>
                  <a:pt x="2901831" y="29310"/>
                </a:lnTo>
                <a:lnTo>
                  <a:pt x="2932450" y="57017"/>
                </a:lnTo>
                <a:lnTo>
                  <a:pt x="2955252" y="91628"/>
                </a:lnTo>
                <a:lnTo>
                  <a:pt x="2968724" y="131631"/>
                </a:lnTo>
                <a:lnTo>
                  <a:pt x="2971800" y="571626"/>
                </a:lnTo>
                <a:lnTo>
                  <a:pt x="2971800" y="816609"/>
                </a:lnTo>
                <a:lnTo>
                  <a:pt x="2971145" y="831320"/>
                </a:lnTo>
                <a:lnTo>
                  <a:pt x="2969220" y="845665"/>
                </a:lnTo>
                <a:lnTo>
                  <a:pt x="2956379" y="885954"/>
                </a:lnTo>
                <a:lnTo>
                  <a:pt x="2934114" y="920945"/>
                </a:lnTo>
                <a:lnTo>
                  <a:pt x="2903937" y="949126"/>
                </a:lnTo>
                <a:lnTo>
                  <a:pt x="2867361" y="968986"/>
                </a:lnTo>
                <a:lnTo>
                  <a:pt x="2825897" y="979013"/>
                </a:lnTo>
                <a:lnTo>
                  <a:pt x="1238250" y="979931"/>
                </a:lnTo>
                <a:lnTo>
                  <a:pt x="312674" y="1162303"/>
                </a:lnTo>
                <a:lnTo>
                  <a:pt x="495300" y="979931"/>
                </a:lnTo>
                <a:lnTo>
                  <a:pt x="163322" y="979931"/>
                </a:lnTo>
                <a:lnTo>
                  <a:pt x="148611" y="979277"/>
                </a:lnTo>
                <a:lnTo>
                  <a:pt x="106892" y="969913"/>
                </a:lnTo>
                <a:lnTo>
                  <a:pt x="69968" y="950621"/>
                </a:lnTo>
                <a:lnTo>
                  <a:pt x="39349" y="922914"/>
                </a:lnTo>
                <a:lnTo>
                  <a:pt x="16547" y="888303"/>
                </a:lnTo>
                <a:lnTo>
                  <a:pt x="3075" y="848300"/>
                </a:lnTo>
                <a:lnTo>
                  <a:pt x="0" y="816609"/>
                </a:lnTo>
                <a:lnTo>
                  <a:pt x="0" y="571626"/>
                </a:lnTo>
                <a:lnTo>
                  <a:pt x="0" y="163321"/>
                </a:lnTo>
                <a:close/>
              </a:path>
            </a:pathLst>
          </a:custGeom>
          <a:ln w="28956">
            <a:solidFill>
              <a:srgbClr val="000000"/>
            </a:solidFill>
          </a:ln>
        </p:spPr>
        <p:txBody>
          <a:bodyPr wrap="square" lIns="0" tIns="0" rIns="0" bIns="0" rtlCol="0"/>
          <a:lstStyle/>
          <a:p>
            <a:endParaRPr/>
          </a:p>
        </p:txBody>
      </p:sp>
      <p:sp>
        <p:nvSpPr>
          <p:cNvPr id="17" name="object 17"/>
          <p:cNvSpPr txBox="1"/>
          <p:nvPr/>
        </p:nvSpPr>
        <p:spPr>
          <a:xfrm>
            <a:off x="9109964" y="1940623"/>
            <a:ext cx="2476500" cy="675005"/>
          </a:xfrm>
          <a:prstGeom prst="rect">
            <a:avLst/>
          </a:prstGeom>
        </p:spPr>
        <p:txBody>
          <a:bodyPr vert="horz" wrap="square" lIns="0" tIns="0" rIns="0" bIns="0" rtlCol="0">
            <a:spAutoFit/>
          </a:bodyPr>
          <a:lstStyle/>
          <a:p>
            <a:pPr marL="12700" marR="5080">
              <a:lnSpc>
                <a:spcPts val="2710"/>
              </a:lnSpc>
            </a:pPr>
            <a:r>
              <a:rPr sz="2400" b="1" spc="10" dirty="0">
                <a:latin typeface="Microsoft JhengHei"/>
                <a:cs typeface="Microsoft JhengHei"/>
              </a:rPr>
              <a:t>决定了字符中每一 位数据的持续时间</a:t>
            </a:r>
            <a:endParaRPr sz="2400">
              <a:latin typeface="Microsoft JhengHei"/>
              <a:cs typeface="Microsoft JhengHei"/>
            </a:endParaRPr>
          </a:p>
        </p:txBody>
      </p:sp>
      <p:sp>
        <p:nvSpPr>
          <p:cNvPr id="18" name="object 18"/>
          <p:cNvSpPr/>
          <p:nvPr/>
        </p:nvSpPr>
        <p:spPr>
          <a:xfrm>
            <a:off x="4290845" y="1738122"/>
            <a:ext cx="2971800" cy="1162685"/>
          </a:xfrm>
          <a:custGeom>
            <a:avLst/>
            <a:gdLst/>
            <a:ahLst/>
            <a:cxnLst/>
            <a:rect l="l" t="t" r="r" b="b"/>
            <a:pathLst>
              <a:path w="2971800" h="1162685">
                <a:moveTo>
                  <a:pt x="2808454" y="0"/>
                </a:moveTo>
                <a:lnTo>
                  <a:pt x="160526" y="23"/>
                </a:lnTo>
                <a:lnTo>
                  <a:pt x="117768" y="6436"/>
                </a:lnTo>
                <a:lnTo>
                  <a:pt x="79394" y="23186"/>
                </a:lnTo>
                <a:lnTo>
                  <a:pt x="46916" y="48761"/>
                </a:lnTo>
                <a:lnTo>
                  <a:pt x="21846" y="81650"/>
                </a:lnTo>
                <a:lnTo>
                  <a:pt x="5696" y="120341"/>
                </a:lnTo>
                <a:lnTo>
                  <a:pt x="100" y="160549"/>
                </a:lnTo>
                <a:lnTo>
                  <a:pt x="0" y="819382"/>
                </a:lnTo>
                <a:lnTo>
                  <a:pt x="895" y="834029"/>
                </a:lnTo>
                <a:lnTo>
                  <a:pt x="10922" y="875493"/>
                </a:lnTo>
                <a:lnTo>
                  <a:pt x="30782" y="912069"/>
                </a:lnTo>
                <a:lnTo>
                  <a:pt x="58963" y="942246"/>
                </a:lnTo>
                <a:lnTo>
                  <a:pt x="93954" y="964511"/>
                </a:lnTo>
                <a:lnTo>
                  <a:pt x="134243" y="977352"/>
                </a:lnTo>
                <a:lnTo>
                  <a:pt x="163298" y="979931"/>
                </a:lnTo>
                <a:lnTo>
                  <a:pt x="495276" y="979931"/>
                </a:lnTo>
                <a:lnTo>
                  <a:pt x="312650" y="1162303"/>
                </a:lnTo>
                <a:lnTo>
                  <a:pt x="1238226" y="979931"/>
                </a:lnTo>
                <a:lnTo>
                  <a:pt x="2811227" y="979908"/>
                </a:lnTo>
                <a:lnTo>
                  <a:pt x="2825874" y="979013"/>
                </a:lnTo>
                <a:lnTo>
                  <a:pt x="2867338" y="968986"/>
                </a:lnTo>
                <a:lnTo>
                  <a:pt x="2903914" y="949126"/>
                </a:lnTo>
                <a:lnTo>
                  <a:pt x="2934091" y="920945"/>
                </a:lnTo>
                <a:lnTo>
                  <a:pt x="2956356" y="885954"/>
                </a:lnTo>
                <a:lnTo>
                  <a:pt x="2969197" y="845665"/>
                </a:lnTo>
                <a:lnTo>
                  <a:pt x="2971753" y="160549"/>
                </a:lnTo>
                <a:lnTo>
                  <a:pt x="2970858" y="145902"/>
                </a:lnTo>
                <a:lnTo>
                  <a:pt x="2960831" y="104438"/>
                </a:lnTo>
                <a:lnTo>
                  <a:pt x="2940971" y="67862"/>
                </a:lnTo>
                <a:lnTo>
                  <a:pt x="2912790" y="37685"/>
                </a:lnTo>
                <a:lnTo>
                  <a:pt x="2877799" y="15420"/>
                </a:lnTo>
                <a:lnTo>
                  <a:pt x="2837510" y="2579"/>
                </a:lnTo>
                <a:lnTo>
                  <a:pt x="2823165" y="654"/>
                </a:lnTo>
                <a:lnTo>
                  <a:pt x="2808454" y="0"/>
                </a:lnTo>
                <a:close/>
              </a:path>
            </a:pathLst>
          </a:custGeom>
          <a:solidFill>
            <a:srgbClr val="FFFFC7"/>
          </a:solidFill>
        </p:spPr>
        <p:txBody>
          <a:bodyPr wrap="square" lIns="0" tIns="0" rIns="0" bIns="0" rtlCol="0"/>
          <a:lstStyle/>
          <a:p>
            <a:endParaRPr/>
          </a:p>
        </p:txBody>
      </p:sp>
      <p:sp>
        <p:nvSpPr>
          <p:cNvPr id="19" name="object 19"/>
          <p:cNvSpPr/>
          <p:nvPr/>
        </p:nvSpPr>
        <p:spPr>
          <a:xfrm>
            <a:off x="4290821" y="1738122"/>
            <a:ext cx="2971800" cy="1162685"/>
          </a:xfrm>
          <a:custGeom>
            <a:avLst/>
            <a:gdLst/>
            <a:ahLst/>
            <a:cxnLst/>
            <a:rect l="l" t="t" r="r" b="b"/>
            <a:pathLst>
              <a:path w="2971800" h="1162685">
                <a:moveTo>
                  <a:pt x="0" y="163322"/>
                </a:moveTo>
                <a:lnTo>
                  <a:pt x="5719" y="120341"/>
                </a:lnTo>
                <a:lnTo>
                  <a:pt x="21870" y="81650"/>
                </a:lnTo>
                <a:lnTo>
                  <a:pt x="46940" y="48761"/>
                </a:lnTo>
                <a:lnTo>
                  <a:pt x="79417" y="23186"/>
                </a:lnTo>
                <a:lnTo>
                  <a:pt x="117791" y="6436"/>
                </a:lnTo>
                <a:lnTo>
                  <a:pt x="160549" y="23"/>
                </a:lnTo>
                <a:lnTo>
                  <a:pt x="495300" y="0"/>
                </a:lnTo>
                <a:lnTo>
                  <a:pt x="1238250" y="0"/>
                </a:lnTo>
                <a:lnTo>
                  <a:pt x="2808478" y="0"/>
                </a:lnTo>
                <a:lnTo>
                  <a:pt x="2823188" y="654"/>
                </a:lnTo>
                <a:lnTo>
                  <a:pt x="2864907" y="10018"/>
                </a:lnTo>
                <a:lnTo>
                  <a:pt x="2901831" y="29310"/>
                </a:lnTo>
                <a:lnTo>
                  <a:pt x="2932450" y="57017"/>
                </a:lnTo>
                <a:lnTo>
                  <a:pt x="2955252" y="91628"/>
                </a:lnTo>
                <a:lnTo>
                  <a:pt x="2968724" y="131631"/>
                </a:lnTo>
                <a:lnTo>
                  <a:pt x="2971800" y="571626"/>
                </a:lnTo>
                <a:lnTo>
                  <a:pt x="2971800" y="816610"/>
                </a:lnTo>
                <a:lnTo>
                  <a:pt x="2971145" y="831320"/>
                </a:lnTo>
                <a:lnTo>
                  <a:pt x="2969220" y="845665"/>
                </a:lnTo>
                <a:lnTo>
                  <a:pt x="2956379" y="885954"/>
                </a:lnTo>
                <a:lnTo>
                  <a:pt x="2934114" y="920945"/>
                </a:lnTo>
                <a:lnTo>
                  <a:pt x="2903937" y="949126"/>
                </a:lnTo>
                <a:lnTo>
                  <a:pt x="2867361" y="968986"/>
                </a:lnTo>
                <a:lnTo>
                  <a:pt x="2825897" y="979013"/>
                </a:lnTo>
                <a:lnTo>
                  <a:pt x="1238250" y="979931"/>
                </a:lnTo>
                <a:lnTo>
                  <a:pt x="312674" y="1162303"/>
                </a:lnTo>
                <a:lnTo>
                  <a:pt x="495300" y="979931"/>
                </a:lnTo>
                <a:lnTo>
                  <a:pt x="163322" y="979931"/>
                </a:lnTo>
                <a:lnTo>
                  <a:pt x="148611" y="979277"/>
                </a:lnTo>
                <a:lnTo>
                  <a:pt x="106892" y="969913"/>
                </a:lnTo>
                <a:lnTo>
                  <a:pt x="69968" y="950621"/>
                </a:lnTo>
                <a:lnTo>
                  <a:pt x="39349" y="922914"/>
                </a:lnTo>
                <a:lnTo>
                  <a:pt x="16547" y="888303"/>
                </a:lnTo>
                <a:lnTo>
                  <a:pt x="3075" y="848300"/>
                </a:lnTo>
                <a:lnTo>
                  <a:pt x="0" y="816610"/>
                </a:lnTo>
                <a:lnTo>
                  <a:pt x="0" y="571626"/>
                </a:lnTo>
                <a:lnTo>
                  <a:pt x="0" y="163322"/>
                </a:lnTo>
                <a:close/>
              </a:path>
            </a:pathLst>
          </a:custGeom>
          <a:ln w="28956">
            <a:solidFill>
              <a:srgbClr val="000000"/>
            </a:solidFill>
          </a:ln>
        </p:spPr>
        <p:txBody>
          <a:bodyPr wrap="square" lIns="0" tIns="0" rIns="0" bIns="0" rtlCol="0"/>
          <a:lstStyle/>
          <a:p>
            <a:endParaRPr/>
          </a:p>
        </p:txBody>
      </p:sp>
      <p:sp>
        <p:nvSpPr>
          <p:cNvPr id="20" name="object 20"/>
          <p:cNvSpPr txBox="1"/>
          <p:nvPr/>
        </p:nvSpPr>
        <p:spPr>
          <a:xfrm>
            <a:off x="4538598" y="1901634"/>
            <a:ext cx="2479040" cy="675005"/>
          </a:xfrm>
          <a:prstGeom prst="rect">
            <a:avLst/>
          </a:prstGeom>
        </p:spPr>
        <p:txBody>
          <a:bodyPr vert="horz" wrap="square" lIns="0" tIns="0" rIns="0" bIns="0" rtlCol="0">
            <a:spAutoFit/>
          </a:bodyPr>
          <a:lstStyle/>
          <a:p>
            <a:pPr algn="ctr">
              <a:lnSpc>
                <a:spcPts val="2795"/>
              </a:lnSpc>
            </a:pPr>
            <a:r>
              <a:rPr sz="2400" b="1" spc="10" dirty="0">
                <a:latin typeface="Microsoft JhengHei"/>
                <a:cs typeface="Microsoft JhengHei"/>
              </a:rPr>
              <a:t>决定了字符中数据</a:t>
            </a:r>
            <a:endParaRPr sz="2400">
              <a:latin typeface="Microsoft JhengHei"/>
              <a:cs typeface="Microsoft JhengHei"/>
            </a:endParaRPr>
          </a:p>
          <a:p>
            <a:pPr algn="ctr">
              <a:lnSpc>
                <a:spcPts val="2755"/>
              </a:lnSpc>
            </a:pPr>
            <a:r>
              <a:rPr sz="2400" b="1" spc="5" dirty="0">
                <a:latin typeface="Microsoft JhengHei"/>
                <a:cs typeface="Microsoft JhengHei"/>
              </a:rPr>
              <a:t>的传输形式</a:t>
            </a:r>
            <a:endParaRPr sz="2400">
              <a:latin typeface="Microsoft JhengHei"/>
              <a:cs typeface="Microsoft JhengHei"/>
            </a:endParaRPr>
          </a:p>
        </p:txBody>
      </p:sp>
      <p:sp>
        <p:nvSpPr>
          <p:cNvPr id="21" name="object 21"/>
          <p:cNvSpPr/>
          <p:nvPr/>
        </p:nvSpPr>
        <p:spPr>
          <a:xfrm>
            <a:off x="2692145" y="6025134"/>
            <a:ext cx="6809740" cy="626745"/>
          </a:xfrm>
          <a:custGeom>
            <a:avLst/>
            <a:gdLst/>
            <a:ahLst/>
            <a:cxnLst/>
            <a:rect l="l" t="t" r="r" b="b"/>
            <a:pathLst>
              <a:path w="6809740" h="626745">
                <a:moveTo>
                  <a:pt x="6704837" y="0"/>
                </a:moveTo>
                <a:lnTo>
                  <a:pt x="1134871" y="0"/>
                </a:lnTo>
                <a:lnTo>
                  <a:pt x="95196" y="399"/>
                </a:lnTo>
                <a:lnTo>
                  <a:pt x="54729" y="12546"/>
                </a:lnTo>
                <a:lnTo>
                  <a:pt x="23088" y="38906"/>
                </a:lnTo>
                <a:lnTo>
                  <a:pt x="3967" y="75786"/>
                </a:lnTo>
                <a:lnTo>
                  <a:pt x="0" y="104393"/>
                </a:lnTo>
                <a:lnTo>
                  <a:pt x="0" y="521969"/>
                </a:lnTo>
                <a:lnTo>
                  <a:pt x="12546" y="571634"/>
                </a:lnTo>
                <a:lnTo>
                  <a:pt x="38906" y="603275"/>
                </a:lnTo>
                <a:lnTo>
                  <a:pt x="75786" y="622396"/>
                </a:lnTo>
                <a:lnTo>
                  <a:pt x="104393" y="626363"/>
                </a:lnTo>
                <a:lnTo>
                  <a:pt x="2837180" y="626363"/>
                </a:lnTo>
                <a:lnTo>
                  <a:pt x="6714035" y="625964"/>
                </a:lnTo>
                <a:lnTo>
                  <a:pt x="6754502" y="613817"/>
                </a:lnTo>
                <a:lnTo>
                  <a:pt x="6786143" y="587457"/>
                </a:lnTo>
                <a:lnTo>
                  <a:pt x="6805264" y="550577"/>
                </a:lnTo>
                <a:lnTo>
                  <a:pt x="6809232" y="521969"/>
                </a:lnTo>
                <a:lnTo>
                  <a:pt x="6809232" y="365378"/>
                </a:lnTo>
                <a:lnTo>
                  <a:pt x="6808832" y="95196"/>
                </a:lnTo>
                <a:lnTo>
                  <a:pt x="6796685" y="54729"/>
                </a:lnTo>
                <a:lnTo>
                  <a:pt x="6770325" y="23088"/>
                </a:lnTo>
                <a:lnTo>
                  <a:pt x="6733445" y="3967"/>
                </a:lnTo>
                <a:lnTo>
                  <a:pt x="6704837" y="0"/>
                </a:lnTo>
                <a:close/>
              </a:path>
            </a:pathLst>
          </a:custGeom>
          <a:solidFill>
            <a:srgbClr val="FFFFC7"/>
          </a:solidFill>
        </p:spPr>
        <p:txBody>
          <a:bodyPr wrap="square" lIns="0" tIns="0" rIns="0" bIns="0" rtlCol="0"/>
          <a:lstStyle/>
          <a:p>
            <a:endParaRPr/>
          </a:p>
        </p:txBody>
      </p:sp>
      <p:sp>
        <p:nvSpPr>
          <p:cNvPr id="22" name="object 22"/>
          <p:cNvSpPr/>
          <p:nvPr/>
        </p:nvSpPr>
        <p:spPr>
          <a:xfrm>
            <a:off x="2692145" y="6025134"/>
            <a:ext cx="6809740" cy="626745"/>
          </a:xfrm>
          <a:custGeom>
            <a:avLst/>
            <a:gdLst/>
            <a:ahLst/>
            <a:cxnLst/>
            <a:rect l="l" t="t" r="r" b="b"/>
            <a:pathLst>
              <a:path w="6809740" h="626745">
                <a:moveTo>
                  <a:pt x="0" y="104393"/>
                </a:moveTo>
                <a:lnTo>
                  <a:pt x="8722" y="62552"/>
                </a:lnTo>
                <a:lnTo>
                  <a:pt x="32426" y="28768"/>
                </a:lnTo>
                <a:lnTo>
                  <a:pt x="67420" y="6736"/>
                </a:lnTo>
                <a:lnTo>
                  <a:pt x="1134871" y="0"/>
                </a:lnTo>
                <a:lnTo>
                  <a:pt x="2837180" y="0"/>
                </a:lnTo>
                <a:lnTo>
                  <a:pt x="6704837" y="0"/>
                </a:lnTo>
                <a:lnTo>
                  <a:pt x="6719452" y="1014"/>
                </a:lnTo>
                <a:lnTo>
                  <a:pt x="6759018" y="15141"/>
                </a:lnTo>
                <a:lnTo>
                  <a:pt x="6789295" y="43019"/>
                </a:lnTo>
                <a:lnTo>
                  <a:pt x="6806590" y="80954"/>
                </a:lnTo>
                <a:lnTo>
                  <a:pt x="6809232" y="365378"/>
                </a:lnTo>
                <a:lnTo>
                  <a:pt x="6809232" y="521969"/>
                </a:lnTo>
                <a:lnTo>
                  <a:pt x="6808217" y="536584"/>
                </a:lnTo>
                <a:lnTo>
                  <a:pt x="6805264" y="550577"/>
                </a:lnTo>
                <a:lnTo>
                  <a:pt x="6786143" y="587457"/>
                </a:lnTo>
                <a:lnTo>
                  <a:pt x="6754502" y="613817"/>
                </a:lnTo>
                <a:lnTo>
                  <a:pt x="6714035" y="625964"/>
                </a:lnTo>
                <a:lnTo>
                  <a:pt x="2837180" y="626363"/>
                </a:lnTo>
                <a:lnTo>
                  <a:pt x="2446655" y="626363"/>
                </a:lnTo>
                <a:lnTo>
                  <a:pt x="1134871" y="626363"/>
                </a:lnTo>
                <a:lnTo>
                  <a:pt x="104393" y="626363"/>
                </a:lnTo>
                <a:lnTo>
                  <a:pt x="89779" y="625349"/>
                </a:lnTo>
                <a:lnTo>
                  <a:pt x="50213" y="611222"/>
                </a:lnTo>
                <a:lnTo>
                  <a:pt x="19936" y="583344"/>
                </a:lnTo>
                <a:lnTo>
                  <a:pt x="2641" y="545409"/>
                </a:lnTo>
                <a:lnTo>
                  <a:pt x="0" y="521969"/>
                </a:lnTo>
                <a:lnTo>
                  <a:pt x="0" y="365378"/>
                </a:lnTo>
                <a:lnTo>
                  <a:pt x="0" y="104393"/>
                </a:lnTo>
                <a:close/>
              </a:path>
            </a:pathLst>
          </a:custGeom>
          <a:ln w="28956">
            <a:solidFill>
              <a:srgbClr val="000000"/>
            </a:solidFill>
          </a:ln>
        </p:spPr>
        <p:txBody>
          <a:bodyPr wrap="square" lIns="0" tIns="0" rIns="0" bIns="0" rtlCol="0"/>
          <a:lstStyle/>
          <a:p>
            <a:endParaRPr/>
          </a:p>
        </p:txBody>
      </p:sp>
      <p:sp>
        <p:nvSpPr>
          <p:cNvPr id="23" name="object 23"/>
          <p:cNvSpPr txBox="1"/>
          <p:nvPr/>
        </p:nvSpPr>
        <p:spPr>
          <a:xfrm>
            <a:off x="2991357" y="6174320"/>
            <a:ext cx="6210935" cy="365760"/>
          </a:xfrm>
          <a:prstGeom prst="rect">
            <a:avLst/>
          </a:prstGeom>
        </p:spPr>
        <p:txBody>
          <a:bodyPr vert="horz" wrap="square" lIns="0" tIns="0" rIns="0" bIns="0" rtlCol="0">
            <a:spAutoFit/>
          </a:bodyPr>
          <a:lstStyle/>
          <a:p>
            <a:pPr marL="12700">
              <a:lnSpc>
                <a:spcPct val="100000"/>
              </a:lnSpc>
            </a:pPr>
            <a:r>
              <a:rPr sz="2400" b="1" spc="10" dirty="0">
                <a:latin typeface="Microsoft JhengHei"/>
                <a:cs typeface="Microsoft JhengHei"/>
              </a:rPr>
              <a:t>传输时低位在前，高位在后，发送数据</a:t>
            </a:r>
            <a:r>
              <a:rPr sz="2400" b="1" spc="15" dirty="0">
                <a:latin typeface="Microsoft JhengHei"/>
                <a:cs typeface="Microsoft JhengHei"/>
              </a:rPr>
              <a:t>为</a:t>
            </a:r>
            <a:r>
              <a:rPr sz="2400" b="1" spc="-5" dirty="0">
                <a:latin typeface="Consolas"/>
                <a:cs typeface="Consolas"/>
              </a:rPr>
              <a:t>0xE9</a:t>
            </a:r>
            <a:endParaRPr sz="2400">
              <a:latin typeface="Consolas"/>
              <a:cs typeface="Consolas"/>
            </a:endParaRPr>
          </a:p>
        </p:txBody>
      </p:sp>
      <p:sp>
        <p:nvSpPr>
          <p:cNvPr id="24" name="object 24"/>
          <p:cNvSpPr/>
          <p:nvPr/>
        </p:nvSpPr>
        <p:spPr>
          <a:xfrm>
            <a:off x="1780794" y="3810761"/>
            <a:ext cx="8632190" cy="626745"/>
          </a:xfrm>
          <a:custGeom>
            <a:avLst/>
            <a:gdLst/>
            <a:ahLst/>
            <a:cxnLst/>
            <a:rect l="l" t="t" r="r" b="b"/>
            <a:pathLst>
              <a:path w="8632190" h="626745">
                <a:moveTo>
                  <a:pt x="8527541" y="0"/>
                </a:moveTo>
                <a:lnTo>
                  <a:pt x="1438656" y="0"/>
                </a:lnTo>
                <a:lnTo>
                  <a:pt x="95196" y="399"/>
                </a:lnTo>
                <a:lnTo>
                  <a:pt x="54729" y="12546"/>
                </a:lnTo>
                <a:lnTo>
                  <a:pt x="23088" y="38906"/>
                </a:lnTo>
                <a:lnTo>
                  <a:pt x="3967" y="75786"/>
                </a:lnTo>
                <a:lnTo>
                  <a:pt x="0" y="104393"/>
                </a:lnTo>
                <a:lnTo>
                  <a:pt x="0" y="521969"/>
                </a:lnTo>
                <a:lnTo>
                  <a:pt x="12546" y="571634"/>
                </a:lnTo>
                <a:lnTo>
                  <a:pt x="38906" y="603275"/>
                </a:lnTo>
                <a:lnTo>
                  <a:pt x="75786" y="622396"/>
                </a:lnTo>
                <a:lnTo>
                  <a:pt x="104393" y="626363"/>
                </a:lnTo>
                <a:lnTo>
                  <a:pt x="3596640" y="626363"/>
                </a:lnTo>
                <a:lnTo>
                  <a:pt x="8536739" y="625964"/>
                </a:lnTo>
                <a:lnTo>
                  <a:pt x="8577206" y="613817"/>
                </a:lnTo>
                <a:lnTo>
                  <a:pt x="8608847" y="587457"/>
                </a:lnTo>
                <a:lnTo>
                  <a:pt x="8627968" y="550577"/>
                </a:lnTo>
                <a:lnTo>
                  <a:pt x="8631936" y="521969"/>
                </a:lnTo>
                <a:lnTo>
                  <a:pt x="8631936" y="365379"/>
                </a:lnTo>
                <a:lnTo>
                  <a:pt x="8631536" y="95196"/>
                </a:lnTo>
                <a:lnTo>
                  <a:pt x="8619389" y="54729"/>
                </a:lnTo>
                <a:lnTo>
                  <a:pt x="8593029" y="23088"/>
                </a:lnTo>
                <a:lnTo>
                  <a:pt x="8556149" y="3967"/>
                </a:lnTo>
                <a:lnTo>
                  <a:pt x="8527541" y="0"/>
                </a:lnTo>
                <a:close/>
              </a:path>
            </a:pathLst>
          </a:custGeom>
          <a:solidFill>
            <a:srgbClr val="FFFFC7"/>
          </a:solidFill>
        </p:spPr>
        <p:txBody>
          <a:bodyPr wrap="square" lIns="0" tIns="0" rIns="0" bIns="0" rtlCol="0"/>
          <a:lstStyle/>
          <a:p>
            <a:endParaRPr/>
          </a:p>
        </p:txBody>
      </p:sp>
      <p:sp>
        <p:nvSpPr>
          <p:cNvPr id="25" name="object 25"/>
          <p:cNvSpPr/>
          <p:nvPr/>
        </p:nvSpPr>
        <p:spPr>
          <a:xfrm>
            <a:off x="1780794" y="3810761"/>
            <a:ext cx="8632190" cy="626745"/>
          </a:xfrm>
          <a:custGeom>
            <a:avLst/>
            <a:gdLst/>
            <a:ahLst/>
            <a:cxnLst/>
            <a:rect l="l" t="t" r="r" b="b"/>
            <a:pathLst>
              <a:path w="8632190" h="626745">
                <a:moveTo>
                  <a:pt x="0" y="104393"/>
                </a:moveTo>
                <a:lnTo>
                  <a:pt x="8722" y="62552"/>
                </a:lnTo>
                <a:lnTo>
                  <a:pt x="32426" y="28768"/>
                </a:lnTo>
                <a:lnTo>
                  <a:pt x="67420" y="6736"/>
                </a:lnTo>
                <a:lnTo>
                  <a:pt x="1438656" y="0"/>
                </a:lnTo>
                <a:lnTo>
                  <a:pt x="3596640" y="0"/>
                </a:lnTo>
                <a:lnTo>
                  <a:pt x="8527541" y="0"/>
                </a:lnTo>
                <a:lnTo>
                  <a:pt x="8542156" y="1014"/>
                </a:lnTo>
                <a:lnTo>
                  <a:pt x="8581722" y="15141"/>
                </a:lnTo>
                <a:lnTo>
                  <a:pt x="8611999" y="43019"/>
                </a:lnTo>
                <a:lnTo>
                  <a:pt x="8629294" y="80954"/>
                </a:lnTo>
                <a:lnTo>
                  <a:pt x="8631936" y="365379"/>
                </a:lnTo>
                <a:lnTo>
                  <a:pt x="8631936" y="521969"/>
                </a:lnTo>
                <a:lnTo>
                  <a:pt x="8630921" y="536584"/>
                </a:lnTo>
                <a:lnTo>
                  <a:pt x="8627968" y="550577"/>
                </a:lnTo>
                <a:lnTo>
                  <a:pt x="8608847" y="587457"/>
                </a:lnTo>
                <a:lnTo>
                  <a:pt x="8577206" y="613817"/>
                </a:lnTo>
                <a:lnTo>
                  <a:pt x="8536739" y="625964"/>
                </a:lnTo>
                <a:lnTo>
                  <a:pt x="3596640" y="626363"/>
                </a:lnTo>
                <a:lnTo>
                  <a:pt x="3101594" y="626363"/>
                </a:lnTo>
                <a:lnTo>
                  <a:pt x="1438656" y="626363"/>
                </a:lnTo>
                <a:lnTo>
                  <a:pt x="104393" y="626363"/>
                </a:lnTo>
                <a:lnTo>
                  <a:pt x="89779" y="625349"/>
                </a:lnTo>
                <a:lnTo>
                  <a:pt x="50213" y="611222"/>
                </a:lnTo>
                <a:lnTo>
                  <a:pt x="19936" y="583344"/>
                </a:lnTo>
                <a:lnTo>
                  <a:pt x="2641" y="545409"/>
                </a:lnTo>
                <a:lnTo>
                  <a:pt x="0" y="521969"/>
                </a:lnTo>
                <a:lnTo>
                  <a:pt x="0" y="365379"/>
                </a:lnTo>
                <a:lnTo>
                  <a:pt x="0" y="104393"/>
                </a:lnTo>
                <a:close/>
              </a:path>
            </a:pathLst>
          </a:custGeom>
          <a:ln w="28956">
            <a:solidFill>
              <a:srgbClr val="000000"/>
            </a:solidFill>
          </a:ln>
        </p:spPr>
        <p:txBody>
          <a:bodyPr wrap="square" lIns="0" tIns="0" rIns="0" bIns="0" rtlCol="0"/>
          <a:lstStyle/>
          <a:p>
            <a:endParaRPr/>
          </a:p>
        </p:txBody>
      </p:sp>
      <p:sp>
        <p:nvSpPr>
          <p:cNvPr id="26" name="object 26"/>
          <p:cNvSpPr txBox="1"/>
          <p:nvPr/>
        </p:nvSpPr>
        <p:spPr>
          <a:xfrm>
            <a:off x="1902332" y="3958780"/>
            <a:ext cx="8390255" cy="365760"/>
          </a:xfrm>
          <a:prstGeom prst="rect">
            <a:avLst/>
          </a:prstGeom>
        </p:spPr>
        <p:txBody>
          <a:bodyPr vert="horz" wrap="square" lIns="0" tIns="0" rIns="0" bIns="0" rtlCol="0">
            <a:spAutoFit/>
          </a:bodyPr>
          <a:lstStyle/>
          <a:p>
            <a:pPr marL="12700">
              <a:lnSpc>
                <a:spcPct val="100000"/>
              </a:lnSpc>
              <a:tabLst>
                <a:tab pos="3719195" algn="l"/>
                <a:tab pos="5281930" algn="l"/>
                <a:tab pos="6982459" algn="l"/>
              </a:tabLst>
            </a:pPr>
            <a:r>
              <a:rPr sz="2400" b="1" spc="10" dirty="0">
                <a:latin typeface="Microsoft JhengHei"/>
                <a:cs typeface="Microsoft JhengHei"/>
              </a:rPr>
              <a:t>字符格式实例</a:t>
            </a:r>
            <a:r>
              <a:rPr sz="2400" b="1" spc="15" dirty="0">
                <a:latin typeface="Microsoft JhengHei"/>
                <a:cs typeface="Microsoft JhengHei"/>
              </a:rPr>
              <a:t>：</a:t>
            </a:r>
            <a:r>
              <a:rPr sz="2400" b="1" spc="-5" dirty="0">
                <a:latin typeface="Consolas"/>
                <a:cs typeface="Consolas"/>
              </a:rPr>
              <a:t>1</a:t>
            </a:r>
            <a:r>
              <a:rPr sz="2400" b="1" spc="10" dirty="0">
                <a:latin typeface="Microsoft JhengHei"/>
                <a:cs typeface="Microsoft JhengHei"/>
              </a:rPr>
              <a:t>位起始</a:t>
            </a:r>
            <a:r>
              <a:rPr sz="2400" b="1" dirty="0">
                <a:latin typeface="Microsoft JhengHei"/>
                <a:cs typeface="Microsoft JhengHei"/>
              </a:rPr>
              <a:t>位	</a:t>
            </a:r>
            <a:r>
              <a:rPr sz="2400" b="1" spc="-5" dirty="0">
                <a:latin typeface="Consolas"/>
                <a:cs typeface="Consolas"/>
              </a:rPr>
              <a:t>8</a:t>
            </a:r>
            <a:r>
              <a:rPr sz="2400" b="1" spc="10" dirty="0">
                <a:latin typeface="Microsoft JhengHei"/>
                <a:cs typeface="Microsoft JhengHei"/>
              </a:rPr>
              <a:t>位数据</a:t>
            </a:r>
            <a:r>
              <a:rPr sz="2400" b="1" dirty="0">
                <a:latin typeface="Microsoft JhengHei"/>
                <a:cs typeface="Microsoft JhengHei"/>
              </a:rPr>
              <a:t>位	</a:t>
            </a:r>
            <a:r>
              <a:rPr sz="2400" b="1" spc="10" dirty="0">
                <a:latin typeface="Microsoft JhengHei"/>
                <a:cs typeface="Microsoft JhengHei"/>
              </a:rPr>
              <a:t>无奇偶校</a:t>
            </a:r>
            <a:r>
              <a:rPr sz="2400" b="1" dirty="0">
                <a:latin typeface="Microsoft JhengHei"/>
                <a:cs typeface="Microsoft JhengHei"/>
              </a:rPr>
              <a:t>验	</a:t>
            </a:r>
            <a:r>
              <a:rPr sz="2400" b="1" spc="-5" dirty="0">
                <a:latin typeface="Consolas"/>
                <a:cs typeface="Consolas"/>
              </a:rPr>
              <a:t>1</a:t>
            </a:r>
            <a:r>
              <a:rPr sz="2400" b="1" spc="10" dirty="0">
                <a:latin typeface="Microsoft JhengHei"/>
                <a:cs typeface="Microsoft JhengHei"/>
              </a:rPr>
              <a:t>位停止位</a:t>
            </a:r>
            <a:endParaRPr sz="2400">
              <a:latin typeface="Microsoft JhengHei"/>
              <a:cs typeface="Microsoft JhengHei"/>
            </a:endParaRPr>
          </a:p>
        </p:txBody>
      </p:sp>
    </p:spTree>
    <p:extLst>
      <p:ext uri="{BB962C8B-B14F-4D97-AF65-F5344CB8AC3E}">
        <p14:creationId xmlns:p14="http://schemas.microsoft.com/office/powerpoint/2010/main" val="14126395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63136" y="248604"/>
            <a:ext cx="4641850" cy="381000"/>
          </a:xfrm>
          <a:prstGeom prst="rect">
            <a:avLst/>
          </a:prstGeom>
        </p:spPr>
        <p:txBody>
          <a:bodyPr vert="horz" wrap="square" lIns="0" tIns="0" rIns="0" bIns="0" rtlCol="0">
            <a:spAutoFit/>
          </a:bodyPr>
          <a:lstStyle/>
          <a:p>
            <a:pPr marL="12700">
              <a:lnSpc>
                <a:spcPct val="100000"/>
              </a:lnSpc>
            </a:pPr>
            <a:r>
              <a:rPr spc="-10" dirty="0"/>
              <a:t>异步串行通信的数据接收过程</a:t>
            </a:r>
          </a:p>
        </p:txBody>
      </p:sp>
      <p:sp>
        <p:nvSpPr>
          <p:cNvPr id="3" name="object 3"/>
          <p:cNvSpPr/>
          <p:nvPr/>
        </p:nvSpPr>
        <p:spPr>
          <a:xfrm>
            <a:off x="1025652" y="804672"/>
            <a:ext cx="10024872" cy="1839467"/>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1011174" y="790194"/>
            <a:ext cx="10053955" cy="1868805"/>
          </a:xfrm>
          <a:custGeom>
            <a:avLst/>
            <a:gdLst/>
            <a:ahLst/>
            <a:cxnLst/>
            <a:rect l="l" t="t" r="r" b="b"/>
            <a:pathLst>
              <a:path w="10053955" h="1868805">
                <a:moveTo>
                  <a:pt x="0" y="1868424"/>
                </a:moveTo>
                <a:lnTo>
                  <a:pt x="10053828" y="1868424"/>
                </a:lnTo>
                <a:lnTo>
                  <a:pt x="10053828" y="0"/>
                </a:lnTo>
                <a:lnTo>
                  <a:pt x="0" y="0"/>
                </a:lnTo>
                <a:lnTo>
                  <a:pt x="0" y="1868424"/>
                </a:lnTo>
                <a:close/>
              </a:path>
            </a:pathLst>
          </a:custGeom>
          <a:ln w="28956">
            <a:solidFill>
              <a:srgbClr val="5B9BD4"/>
            </a:solidFill>
          </a:ln>
        </p:spPr>
        <p:txBody>
          <a:bodyPr wrap="square" lIns="0" tIns="0" rIns="0" bIns="0" rtlCol="0"/>
          <a:lstStyle/>
          <a:p>
            <a:endParaRPr/>
          </a:p>
        </p:txBody>
      </p:sp>
      <p:sp>
        <p:nvSpPr>
          <p:cNvPr id="5" name="object 5"/>
          <p:cNvSpPr txBox="1"/>
          <p:nvPr/>
        </p:nvSpPr>
        <p:spPr>
          <a:xfrm>
            <a:off x="833119" y="3002278"/>
            <a:ext cx="5055870" cy="330835"/>
          </a:xfrm>
          <a:prstGeom prst="rect">
            <a:avLst/>
          </a:prstGeom>
        </p:spPr>
        <p:txBody>
          <a:bodyPr vert="horz" wrap="square" lIns="0" tIns="0" rIns="0" bIns="0" rtlCol="0">
            <a:spAutoFit/>
          </a:bodyPr>
          <a:lstStyle/>
          <a:p>
            <a:pPr marL="12700">
              <a:lnSpc>
                <a:spcPct val="100000"/>
              </a:lnSpc>
              <a:tabLst>
                <a:tab pos="469265" algn="l"/>
              </a:tabLst>
            </a:pPr>
            <a:r>
              <a:rPr sz="2400" b="1" dirty="0">
                <a:latin typeface="微软雅黑"/>
                <a:cs typeface="微软雅黑"/>
              </a:rPr>
              <a:t>①	</a:t>
            </a:r>
            <a:r>
              <a:rPr sz="2400" b="1" spc="-5" dirty="0">
                <a:latin typeface="微软雅黑"/>
                <a:cs typeface="微软雅黑"/>
              </a:rPr>
              <a:t>接收过程由起始位的下降沿启</a:t>
            </a:r>
            <a:r>
              <a:rPr sz="2400" b="1" dirty="0">
                <a:latin typeface="微软雅黑"/>
                <a:cs typeface="微软雅黑"/>
              </a:rPr>
              <a:t>动；</a:t>
            </a:r>
            <a:endParaRPr sz="2400">
              <a:latin typeface="微软雅黑"/>
              <a:cs typeface="微软雅黑"/>
            </a:endParaRPr>
          </a:p>
        </p:txBody>
      </p:sp>
      <p:sp>
        <p:nvSpPr>
          <p:cNvPr id="6" name="object 6"/>
          <p:cNvSpPr txBox="1"/>
          <p:nvPr/>
        </p:nvSpPr>
        <p:spPr>
          <a:xfrm>
            <a:off x="833119" y="3551417"/>
            <a:ext cx="9815830" cy="3074035"/>
          </a:xfrm>
          <a:prstGeom prst="rect">
            <a:avLst/>
          </a:prstGeom>
        </p:spPr>
        <p:txBody>
          <a:bodyPr vert="horz" wrap="square" lIns="0" tIns="0" rIns="0" bIns="0" rtlCol="0">
            <a:spAutoFit/>
          </a:bodyPr>
          <a:lstStyle/>
          <a:p>
            <a:pPr marL="12700">
              <a:lnSpc>
                <a:spcPct val="100000"/>
              </a:lnSpc>
              <a:tabLst>
                <a:tab pos="469265" algn="l"/>
              </a:tabLst>
            </a:pPr>
            <a:r>
              <a:rPr sz="2400" b="1" dirty="0">
                <a:latin typeface="微软雅黑"/>
                <a:cs typeface="微软雅黑"/>
              </a:rPr>
              <a:t>②	接收端等待</a:t>
            </a:r>
            <a:r>
              <a:rPr sz="2400" b="1" spc="-10" dirty="0">
                <a:latin typeface="微软雅黑"/>
                <a:cs typeface="微软雅黑"/>
              </a:rPr>
              <a:t>8</a:t>
            </a:r>
            <a:r>
              <a:rPr sz="2400" b="1" dirty="0">
                <a:latin typeface="微软雅黑"/>
                <a:cs typeface="微软雅黑"/>
              </a:rPr>
              <a:t>个时钟周期，以便建立一个接近比特周期中间的采样</a:t>
            </a:r>
            <a:r>
              <a:rPr sz="2400" b="1" spc="5" dirty="0">
                <a:latin typeface="微软雅黑"/>
                <a:cs typeface="微软雅黑"/>
              </a:rPr>
              <a:t>点</a:t>
            </a:r>
            <a:r>
              <a:rPr sz="2400" b="1" dirty="0">
                <a:latin typeface="微软雅黑"/>
                <a:cs typeface="微软雅黑"/>
              </a:rPr>
              <a:t>；</a:t>
            </a:r>
            <a:endParaRPr sz="2400">
              <a:latin typeface="微软雅黑"/>
              <a:cs typeface="微软雅黑"/>
            </a:endParaRPr>
          </a:p>
          <a:p>
            <a:pPr marL="12700">
              <a:lnSpc>
                <a:spcPct val="100000"/>
              </a:lnSpc>
              <a:spcBef>
                <a:spcPts val="1440"/>
              </a:spcBef>
              <a:tabLst>
                <a:tab pos="469265" algn="l"/>
              </a:tabLst>
            </a:pPr>
            <a:r>
              <a:rPr sz="2400" b="1" dirty="0">
                <a:latin typeface="微软雅黑"/>
                <a:cs typeface="微软雅黑"/>
              </a:rPr>
              <a:t>③	</a:t>
            </a:r>
            <a:r>
              <a:rPr sz="2400" b="1" spc="-5" dirty="0">
                <a:latin typeface="微软雅黑"/>
                <a:cs typeface="微软雅黑"/>
              </a:rPr>
              <a:t>接收端等待</a:t>
            </a:r>
            <a:r>
              <a:rPr sz="2400" b="1" spc="-10" dirty="0">
                <a:latin typeface="微软雅黑"/>
                <a:cs typeface="微软雅黑"/>
              </a:rPr>
              <a:t>16</a:t>
            </a:r>
            <a:r>
              <a:rPr sz="2400" b="1" spc="-5" dirty="0">
                <a:latin typeface="微软雅黑"/>
                <a:cs typeface="微软雅黑"/>
              </a:rPr>
              <a:t>个时钟周期，使其进入第一个数据位周期的</a:t>
            </a:r>
            <a:r>
              <a:rPr sz="2400" b="1" dirty="0">
                <a:latin typeface="微软雅黑"/>
                <a:cs typeface="微软雅黑"/>
              </a:rPr>
              <a:t>中点；</a:t>
            </a:r>
            <a:endParaRPr sz="2400">
              <a:latin typeface="微软雅黑"/>
              <a:cs typeface="微软雅黑"/>
            </a:endParaRPr>
          </a:p>
          <a:p>
            <a:pPr marL="12700">
              <a:lnSpc>
                <a:spcPct val="100000"/>
              </a:lnSpc>
              <a:spcBef>
                <a:spcPts val="1440"/>
              </a:spcBef>
              <a:tabLst>
                <a:tab pos="469265" algn="l"/>
              </a:tabLst>
            </a:pPr>
            <a:r>
              <a:rPr sz="2400" b="1" dirty="0">
                <a:latin typeface="微软雅黑"/>
                <a:cs typeface="微软雅黑"/>
              </a:rPr>
              <a:t>④	第一个数据位被采样并存储在接收寄存器</a:t>
            </a:r>
            <a:r>
              <a:rPr sz="2400" b="1" spc="5" dirty="0">
                <a:latin typeface="微软雅黑"/>
                <a:cs typeface="微软雅黑"/>
              </a:rPr>
              <a:t>中</a:t>
            </a:r>
            <a:r>
              <a:rPr sz="2400" b="1" dirty="0">
                <a:latin typeface="微软雅黑"/>
                <a:cs typeface="微软雅黑"/>
              </a:rPr>
              <a:t>；</a:t>
            </a:r>
            <a:endParaRPr sz="2400">
              <a:latin typeface="微软雅黑"/>
              <a:cs typeface="微软雅黑"/>
            </a:endParaRPr>
          </a:p>
          <a:p>
            <a:pPr marL="12700">
              <a:lnSpc>
                <a:spcPct val="100000"/>
              </a:lnSpc>
              <a:spcBef>
                <a:spcPts val="1440"/>
              </a:spcBef>
              <a:tabLst>
                <a:tab pos="469265" algn="l"/>
              </a:tabLst>
            </a:pPr>
            <a:r>
              <a:rPr sz="2400" b="1" dirty="0">
                <a:latin typeface="微软雅黑"/>
                <a:cs typeface="微软雅黑"/>
              </a:rPr>
              <a:t>⑤	串口模块在采样第二个数据位之前等待另</a:t>
            </a:r>
            <a:r>
              <a:rPr sz="2400" b="1" spc="-30" dirty="0">
                <a:latin typeface="微软雅黑"/>
                <a:cs typeface="微软雅黑"/>
              </a:rPr>
              <a:t>外</a:t>
            </a:r>
            <a:r>
              <a:rPr sz="2400" b="1" spc="-10" dirty="0">
                <a:latin typeface="微软雅黑"/>
                <a:cs typeface="微软雅黑"/>
              </a:rPr>
              <a:t>16</a:t>
            </a:r>
            <a:r>
              <a:rPr sz="2400" b="1" dirty="0">
                <a:latin typeface="微软雅黑"/>
                <a:cs typeface="微软雅黑"/>
              </a:rPr>
              <a:t>个时钟周期；</a:t>
            </a:r>
            <a:endParaRPr sz="2400">
              <a:latin typeface="微软雅黑"/>
              <a:cs typeface="微软雅黑"/>
            </a:endParaRPr>
          </a:p>
          <a:p>
            <a:pPr marL="12700">
              <a:lnSpc>
                <a:spcPct val="100000"/>
              </a:lnSpc>
              <a:spcBef>
                <a:spcPts val="1440"/>
              </a:spcBef>
              <a:tabLst>
                <a:tab pos="469265" algn="l"/>
              </a:tabLst>
            </a:pPr>
            <a:r>
              <a:rPr sz="2400" b="1" dirty="0">
                <a:latin typeface="微软雅黑"/>
                <a:cs typeface="微软雅黑"/>
              </a:rPr>
              <a:t>⑥	重复此过程，直到所有数据位都被采样和存</a:t>
            </a:r>
            <a:r>
              <a:rPr sz="2400" b="1" spc="5" dirty="0">
                <a:latin typeface="微软雅黑"/>
                <a:cs typeface="微软雅黑"/>
              </a:rPr>
              <a:t>储</a:t>
            </a:r>
            <a:r>
              <a:rPr sz="2400" b="1" dirty="0">
                <a:latin typeface="微软雅黑"/>
                <a:cs typeface="微软雅黑"/>
              </a:rPr>
              <a:t>；</a:t>
            </a:r>
            <a:endParaRPr sz="2400">
              <a:latin typeface="微软雅黑"/>
              <a:cs typeface="微软雅黑"/>
            </a:endParaRPr>
          </a:p>
          <a:p>
            <a:pPr marL="12700">
              <a:lnSpc>
                <a:spcPct val="100000"/>
              </a:lnSpc>
              <a:spcBef>
                <a:spcPts val="1440"/>
              </a:spcBef>
              <a:tabLst>
                <a:tab pos="469265" algn="l"/>
              </a:tabLst>
            </a:pPr>
            <a:r>
              <a:rPr sz="2400" b="1" dirty="0">
                <a:latin typeface="微软雅黑"/>
                <a:cs typeface="微软雅黑"/>
              </a:rPr>
              <a:t>⑦	由停止位的上升沿使数据线返回到空闲状态。</a:t>
            </a:r>
            <a:endParaRPr sz="2400">
              <a:latin typeface="微软雅黑"/>
              <a:cs typeface="微软雅黑"/>
            </a:endParaRPr>
          </a:p>
        </p:txBody>
      </p:sp>
      <p:sp>
        <p:nvSpPr>
          <p:cNvPr id="7" name="object 7"/>
          <p:cNvSpPr/>
          <p:nvPr/>
        </p:nvSpPr>
        <p:spPr>
          <a:xfrm>
            <a:off x="654558" y="2818638"/>
            <a:ext cx="10884535" cy="3906520"/>
          </a:xfrm>
          <a:custGeom>
            <a:avLst/>
            <a:gdLst/>
            <a:ahLst/>
            <a:cxnLst/>
            <a:rect l="l" t="t" r="r" b="b"/>
            <a:pathLst>
              <a:path w="10884535" h="3906520">
                <a:moveTo>
                  <a:pt x="0" y="3906012"/>
                </a:moveTo>
                <a:lnTo>
                  <a:pt x="10884408" y="3906012"/>
                </a:lnTo>
                <a:lnTo>
                  <a:pt x="10884408" y="0"/>
                </a:lnTo>
                <a:lnTo>
                  <a:pt x="0" y="0"/>
                </a:lnTo>
                <a:lnTo>
                  <a:pt x="0" y="3906012"/>
                </a:lnTo>
                <a:close/>
              </a:path>
            </a:pathLst>
          </a:custGeom>
          <a:ln w="38100">
            <a:solidFill>
              <a:srgbClr val="E34A46"/>
            </a:solidFill>
          </a:ln>
        </p:spPr>
        <p:txBody>
          <a:bodyPr wrap="square" lIns="0" tIns="0" rIns="0" bIns="0" rtlCol="0"/>
          <a:lstStyle/>
          <a:p>
            <a:endParaRPr/>
          </a:p>
        </p:txBody>
      </p:sp>
      <p:sp>
        <p:nvSpPr>
          <p:cNvPr id="8" name="object 8"/>
          <p:cNvSpPr/>
          <p:nvPr/>
        </p:nvSpPr>
        <p:spPr>
          <a:xfrm>
            <a:off x="6983730" y="2487929"/>
            <a:ext cx="5053965" cy="942340"/>
          </a:xfrm>
          <a:custGeom>
            <a:avLst/>
            <a:gdLst/>
            <a:ahLst/>
            <a:cxnLst/>
            <a:rect l="l" t="t" r="r" b="b"/>
            <a:pathLst>
              <a:path w="5053965" h="942339">
                <a:moveTo>
                  <a:pt x="4896612" y="0"/>
                </a:moveTo>
                <a:lnTo>
                  <a:pt x="842264" y="0"/>
                </a:lnTo>
                <a:lnTo>
                  <a:pt x="149869" y="157"/>
                </a:lnTo>
                <a:lnTo>
                  <a:pt x="107556" y="7925"/>
                </a:lnTo>
                <a:lnTo>
                  <a:pt x="70050" y="26216"/>
                </a:lnTo>
                <a:lnTo>
                  <a:pt x="38982" y="53399"/>
                </a:lnTo>
                <a:lnTo>
                  <a:pt x="15982" y="87846"/>
                </a:lnTo>
                <a:lnTo>
                  <a:pt x="2677" y="127926"/>
                </a:lnTo>
                <a:lnTo>
                  <a:pt x="0" y="156972"/>
                </a:lnTo>
                <a:lnTo>
                  <a:pt x="0" y="784860"/>
                </a:lnTo>
                <a:lnTo>
                  <a:pt x="7925" y="834275"/>
                </a:lnTo>
                <a:lnTo>
                  <a:pt x="26216" y="871781"/>
                </a:lnTo>
                <a:lnTo>
                  <a:pt x="53399" y="902849"/>
                </a:lnTo>
                <a:lnTo>
                  <a:pt x="87846" y="925849"/>
                </a:lnTo>
                <a:lnTo>
                  <a:pt x="127926" y="939154"/>
                </a:lnTo>
                <a:lnTo>
                  <a:pt x="156972" y="941832"/>
                </a:lnTo>
                <a:lnTo>
                  <a:pt x="2105660" y="941832"/>
                </a:lnTo>
                <a:lnTo>
                  <a:pt x="4903714" y="941674"/>
                </a:lnTo>
                <a:lnTo>
                  <a:pt x="4946027" y="933906"/>
                </a:lnTo>
                <a:lnTo>
                  <a:pt x="4983533" y="915615"/>
                </a:lnTo>
                <a:lnTo>
                  <a:pt x="5014601" y="888432"/>
                </a:lnTo>
                <a:lnTo>
                  <a:pt x="5037601" y="853985"/>
                </a:lnTo>
                <a:lnTo>
                  <a:pt x="5050906" y="813905"/>
                </a:lnTo>
                <a:lnTo>
                  <a:pt x="5053584" y="784860"/>
                </a:lnTo>
                <a:lnTo>
                  <a:pt x="5053584" y="549402"/>
                </a:lnTo>
                <a:lnTo>
                  <a:pt x="5053426" y="149869"/>
                </a:lnTo>
                <a:lnTo>
                  <a:pt x="5045658" y="107556"/>
                </a:lnTo>
                <a:lnTo>
                  <a:pt x="5027367" y="70050"/>
                </a:lnTo>
                <a:lnTo>
                  <a:pt x="5000184" y="38982"/>
                </a:lnTo>
                <a:lnTo>
                  <a:pt x="4965737" y="15982"/>
                </a:lnTo>
                <a:lnTo>
                  <a:pt x="4925657" y="2677"/>
                </a:lnTo>
                <a:lnTo>
                  <a:pt x="4896612" y="0"/>
                </a:lnTo>
                <a:close/>
              </a:path>
            </a:pathLst>
          </a:custGeom>
          <a:solidFill>
            <a:srgbClr val="FFFFC7"/>
          </a:solidFill>
        </p:spPr>
        <p:txBody>
          <a:bodyPr wrap="square" lIns="0" tIns="0" rIns="0" bIns="0" rtlCol="0"/>
          <a:lstStyle/>
          <a:p>
            <a:endParaRPr/>
          </a:p>
        </p:txBody>
      </p:sp>
      <p:sp>
        <p:nvSpPr>
          <p:cNvPr id="9" name="object 9"/>
          <p:cNvSpPr/>
          <p:nvPr/>
        </p:nvSpPr>
        <p:spPr>
          <a:xfrm>
            <a:off x="6983730" y="2487929"/>
            <a:ext cx="5053965" cy="942340"/>
          </a:xfrm>
          <a:custGeom>
            <a:avLst/>
            <a:gdLst/>
            <a:ahLst/>
            <a:cxnLst/>
            <a:rect l="l" t="t" r="r" b="b"/>
            <a:pathLst>
              <a:path w="5053965" h="942339">
                <a:moveTo>
                  <a:pt x="0" y="156972"/>
                </a:moveTo>
                <a:lnTo>
                  <a:pt x="5934" y="114041"/>
                </a:lnTo>
                <a:lnTo>
                  <a:pt x="22652" y="75657"/>
                </a:lnTo>
                <a:lnTo>
                  <a:pt x="48522" y="43450"/>
                </a:lnTo>
                <a:lnTo>
                  <a:pt x="81917" y="19050"/>
                </a:lnTo>
                <a:lnTo>
                  <a:pt x="121206" y="4086"/>
                </a:lnTo>
                <a:lnTo>
                  <a:pt x="842264" y="0"/>
                </a:lnTo>
                <a:lnTo>
                  <a:pt x="2105660" y="0"/>
                </a:lnTo>
                <a:lnTo>
                  <a:pt x="4896612" y="0"/>
                </a:lnTo>
                <a:lnTo>
                  <a:pt x="4911327" y="679"/>
                </a:lnTo>
                <a:lnTo>
                  <a:pt x="4952923" y="10389"/>
                </a:lnTo>
                <a:lnTo>
                  <a:pt x="4989428" y="30339"/>
                </a:lnTo>
                <a:lnTo>
                  <a:pt x="5019214" y="58899"/>
                </a:lnTo>
                <a:lnTo>
                  <a:pt x="5040650" y="94439"/>
                </a:lnTo>
                <a:lnTo>
                  <a:pt x="5052106" y="135331"/>
                </a:lnTo>
                <a:lnTo>
                  <a:pt x="5053584" y="549402"/>
                </a:lnTo>
                <a:lnTo>
                  <a:pt x="5053584" y="784860"/>
                </a:lnTo>
                <a:lnTo>
                  <a:pt x="5052904" y="799575"/>
                </a:lnTo>
                <a:lnTo>
                  <a:pt x="5050906" y="813905"/>
                </a:lnTo>
                <a:lnTo>
                  <a:pt x="5037601" y="853985"/>
                </a:lnTo>
                <a:lnTo>
                  <a:pt x="5014601" y="888432"/>
                </a:lnTo>
                <a:lnTo>
                  <a:pt x="4983533" y="915615"/>
                </a:lnTo>
                <a:lnTo>
                  <a:pt x="4946027" y="933906"/>
                </a:lnTo>
                <a:lnTo>
                  <a:pt x="4903714" y="941674"/>
                </a:lnTo>
                <a:lnTo>
                  <a:pt x="2105660" y="941832"/>
                </a:lnTo>
                <a:lnTo>
                  <a:pt x="1815846" y="941832"/>
                </a:lnTo>
                <a:lnTo>
                  <a:pt x="842264" y="941832"/>
                </a:lnTo>
                <a:lnTo>
                  <a:pt x="156972" y="941832"/>
                </a:lnTo>
                <a:lnTo>
                  <a:pt x="142256" y="941152"/>
                </a:lnTo>
                <a:lnTo>
                  <a:pt x="100660" y="931442"/>
                </a:lnTo>
                <a:lnTo>
                  <a:pt x="64155" y="911492"/>
                </a:lnTo>
                <a:lnTo>
                  <a:pt x="34369" y="882932"/>
                </a:lnTo>
                <a:lnTo>
                  <a:pt x="12933" y="847392"/>
                </a:lnTo>
                <a:lnTo>
                  <a:pt x="1477" y="806500"/>
                </a:lnTo>
                <a:lnTo>
                  <a:pt x="0" y="784860"/>
                </a:lnTo>
                <a:lnTo>
                  <a:pt x="0" y="549402"/>
                </a:lnTo>
                <a:lnTo>
                  <a:pt x="0" y="156972"/>
                </a:lnTo>
                <a:close/>
              </a:path>
            </a:pathLst>
          </a:custGeom>
          <a:ln w="28956">
            <a:solidFill>
              <a:srgbClr val="000000"/>
            </a:solidFill>
          </a:ln>
        </p:spPr>
        <p:txBody>
          <a:bodyPr wrap="square" lIns="0" tIns="0" rIns="0" bIns="0" rtlCol="0"/>
          <a:lstStyle/>
          <a:p>
            <a:endParaRPr/>
          </a:p>
        </p:txBody>
      </p:sp>
      <p:sp>
        <p:nvSpPr>
          <p:cNvPr id="10" name="object 10"/>
          <p:cNvSpPr txBox="1"/>
          <p:nvPr/>
        </p:nvSpPr>
        <p:spPr>
          <a:xfrm>
            <a:off x="7108063" y="2632519"/>
            <a:ext cx="4620260" cy="330200"/>
          </a:xfrm>
          <a:prstGeom prst="rect">
            <a:avLst/>
          </a:prstGeom>
        </p:spPr>
        <p:txBody>
          <a:bodyPr vert="horz" wrap="square" lIns="0" tIns="0" rIns="0" bIns="0" rtlCol="0">
            <a:spAutoFit/>
          </a:bodyPr>
          <a:lstStyle/>
          <a:p>
            <a:pPr marL="12700">
              <a:lnSpc>
                <a:spcPts val="2835"/>
              </a:lnSpc>
            </a:pPr>
            <a:r>
              <a:rPr sz="2400" b="1" spc="10" dirty="0">
                <a:latin typeface="Microsoft JhengHei"/>
                <a:cs typeface="Microsoft JhengHei"/>
              </a:rPr>
              <a:t>接收过程的本质是数据采样，假设</a:t>
            </a:r>
            <a:endParaRPr sz="2400">
              <a:latin typeface="Microsoft JhengHei"/>
              <a:cs typeface="Microsoft JhengHei"/>
            </a:endParaRPr>
          </a:p>
        </p:txBody>
      </p:sp>
      <p:sp>
        <p:nvSpPr>
          <p:cNvPr id="11" name="object 11"/>
          <p:cNvSpPr txBox="1"/>
          <p:nvPr/>
        </p:nvSpPr>
        <p:spPr>
          <a:xfrm>
            <a:off x="7108063" y="2976943"/>
            <a:ext cx="4958080" cy="365760"/>
          </a:xfrm>
          <a:prstGeom prst="rect">
            <a:avLst/>
          </a:prstGeom>
        </p:spPr>
        <p:txBody>
          <a:bodyPr vert="horz" wrap="square" lIns="0" tIns="0" rIns="0" bIns="0" rtlCol="0">
            <a:spAutoFit/>
          </a:bodyPr>
          <a:lstStyle/>
          <a:p>
            <a:pPr marL="12700">
              <a:lnSpc>
                <a:spcPct val="100000"/>
              </a:lnSpc>
            </a:pPr>
            <a:r>
              <a:rPr sz="2400" b="1" spc="10" dirty="0">
                <a:latin typeface="Microsoft JhengHei"/>
                <a:cs typeface="Microsoft JhengHei"/>
              </a:rPr>
              <a:t>接收端的采样时钟是波特率</a:t>
            </a:r>
            <a:r>
              <a:rPr sz="2400" b="1" spc="15" dirty="0">
                <a:latin typeface="Microsoft JhengHei"/>
                <a:cs typeface="Microsoft JhengHei"/>
              </a:rPr>
              <a:t>的</a:t>
            </a:r>
            <a:r>
              <a:rPr sz="2400" b="1" spc="-5" dirty="0">
                <a:latin typeface="Consolas"/>
                <a:cs typeface="Consolas"/>
              </a:rPr>
              <a:t>1</a:t>
            </a:r>
            <a:r>
              <a:rPr sz="2400" b="1" spc="0" dirty="0">
                <a:latin typeface="Consolas"/>
                <a:cs typeface="Consolas"/>
              </a:rPr>
              <a:t>6</a:t>
            </a:r>
            <a:r>
              <a:rPr sz="2400" b="1" spc="10" dirty="0">
                <a:latin typeface="Microsoft JhengHei"/>
                <a:cs typeface="Microsoft JhengHei"/>
              </a:rPr>
              <a:t>倍。</a:t>
            </a:r>
            <a:endParaRPr sz="2400">
              <a:latin typeface="Microsoft JhengHei"/>
              <a:cs typeface="Microsoft JhengHei"/>
            </a:endParaRPr>
          </a:p>
        </p:txBody>
      </p:sp>
    </p:spTree>
    <p:extLst>
      <p:ext uri="{BB962C8B-B14F-4D97-AF65-F5344CB8AC3E}">
        <p14:creationId xmlns:p14="http://schemas.microsoft.com/office/powerpoint/2010/main" val="3880496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3" name="object 3"/>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4" name="object 4"/>
          <p:cNvSpPr/>
          <p:nvPr/>
        </p:nvSpPr>
        <p:spPr>
          <a:xfrm>
            <a:off x="0" y="963155"/>
            <a:ext cx="2171699" cy="769632"/>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6" name="object 6"/>
          <p:cNvSpPr/>
          <p:nvPr/>
        </p:nvSpPr>
        <p:spPr>
          <a:xfrm>
            <a:off x="0" y="995172"/>
            <a:ext cx="2087880" cy="655320"/>
          </a:xfrm>
          <a:custGeom>
            <a:avLst/>
            <a:gdLst/>
            <a:ahLst/>
            <a:cxnLst/>
            <a:rect l="l" t="t" r="r" b="b"/>
            <a:pathLst>
              <a:path w="2087880" h="655319">
                <a:moveTo>
                  <a:pt x="0" y="0"/>
                </a:moveTo>
                <a:lnTo>
                  <a:pt x="1836420" y="0"/>
                </a:lnTo>
                <a:lnTo>
                  <a:pt x="2087880" y="327660"/>
                </a:lnTo>
                <a:lnTo>
                  <a:pt x="1836420" y="655319"/>
                </a:lnTo>
                <a:lnTo>
                  <a:pt x="0" y="655319"/>
                </a:lnTo>
              </a:path>
            </a:pathLst>
          </a:custGeom>
          <a:ln w="12192">
            <a:solidFill>
              <a:srgbClr val="E34A46"/>
            </a:solidFill>
          </a:ln>
        </p:spPr>
        <p:txBody>
          <a:bodyPr wrap="square" lIns="0" tIns="0" rIns="0" bIns="0" rtlCol="0"/>
          <a:lstStyle/>
          <a:p>
            <a:endParaRPr/>
          </a:p>
        </p:txBody>
      </p:sp>
      <p:sp>
        <p:nvSpPr>
          <p:cNvPr id="7" name="object 7"/>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9" name="object 9"/>
          <p:cNvSpPr txBox="1"/>
          <p:nvPr/>
        </p:nvSpPr>
        <p:spPr>
          <a:xfrm>
            <a:off x="68072" y="1181606"/>
            <a:ext cx="1854200" cy="330835"/>
          </a:xfrm>
          <a:prstGeom prst="rect">
            <a:avLst/>
          </a:prstGeom>
        </p:spPr>
        <p:txBody>
          <a:bodyPr vert="horz" wrap="square" lIns="0" tIns="0" rIns="0" bIns="0" rtlCol="0">
            <a:spAutoFit/>
          </a:bodyPr>
          <a:lstStyle/>
          <a:p>
            <a:pPr marL="12700">
              <a:lnSpc>
                <a:spcPct val="100000"/>
              </a:lnSpc>
            </a:pPr>
            <a:r>
              <a:rPr sz="2400" b="1" spc="-5" dirty="0">
                <a:solidFill>
                  <a:srgbClr val="FFFFFF"/>
                </a:solidFill>
                <a:latin typeface="微软雅黑"/>
                <a:cs typeface="微软雅黑"/>
              </a:rPr>
              <a:t>通信传输方向</a:t>
            </a:r>
            <a:endParaRPr sz="2400">
              <a:latin typeface="微软雅黑"/>
              <a:cs typeface="微软雅黑"/>
            </a:endParaRPr>
          </a:p>
        </p:txBody>
      </p:sp>
      <p:sp>
        <p:nvSpPr>
          <p:cNvPr id="10" name="object 10"/>
          <p:cNvSpPr txBox="1"/>
          <p:nvPr/>
        </p:nvSpPr>
        <p:spPr>
          <a:xfrm>
            <a:off x="2385441" y="389881"/>
            <a:ext cx="668655" cy="254000"/>
          </a:xfrm>
          <a:prstGeom prst="rect">
            <a:avLst/>
          </a:prstGeom>
        </p:spPr>
        <p:txBody>
          <a:bodyPr vert="horz" wrap="square" lIns="0" tIns="0" rIns="0" bIns="0" rtlCol="0">
            <a:spAutoFit/>
          </a:bodyPr>
          <a:lstStyle/>
          <a:p>
            <a:pPr marL="12700">
              <a:lnSpc>
                <a:spcPct val="100000"/>
              </a:lnSpc>
            </a:pPr>
            <a:r>
              <a:rPr sz="1800" b="1" spc="-45" dirty="0">
                <a:solidFill>
                  <a:srgbClr val="252525"/>
                </a:solidFill>
                <a:latin typeface="微软雅黑"/>
                <a:cs typeface="微软雅黑"/>
              </a:rPr>
              <a:t>U</a:t>
            </a:r>
            <a:r>
              <a:rPr sz="1800" b="1" dirty="0">
                <a:solidFill>
                  <a:srgbClr val="252525"/>
                </a:solidFill>
                <a:latin typeface="微软雅黑"/>
                <a:cs typeface="微软雅黑"/>
              </a:rPr>
              <a:t>A</a:t>
            </a:r>
            <a:r>
              <a:rPr sz="1800" b="1" spc="-35" dirty="0">
                <a:solidFill>
                  <a:srgbClr val="252525"/>
                </a:solidFill>
                <a:latin typeface="微软雅黑"/>
                <a:cs typeface="微软雅黑"/>
              </a:rPr>
              <a:t>R</a:t>
            </a:r>
            <a:r>
              <a:rPr sz="1800" b="1" dirty="0">
                <a:solidFill>
                  <a:srgbClr val="252525"/>
                </a:solidFill>
                <a:latin typeface="微软雅黑"/>
                <a:cs typeface="微软雅黑"/>
              </a:rPr>
              <a:t>T</a:t>
            </a:r>
            <a:endParaRPr sz="1800">
              <a:latin typeface="微软雅黑"/>
              <a:cs typeface="微软雅黑"/>
            </a:endParaRPr>
          </a:p>
        </p:txBody>
      </p:sp>
      <p:sp>
        <p:nvSpPr>
          <p:cNvPr id="11" name="object 11"/>
          <p:cNvSpPr/>
          <p:nvPr/>
        </p:nvSpPr>
        <p:spPr>
          <a:xfrm>
            <a:off x="2131093" y="2686675"/>
            <a:ext cx="308610" cy="0"/>
          </a:xfrm>
          <a:custGeom>
            <a:avLst/>
            <a:gdLst/>
            <a:ahLst/>
            <a:cxnLst/>
            <a:rect l="l" t="t" r="r" b="b"/>
            <a:pathLst>
              <a:path w="308610">
                <a:moveTo>
                  <a:pt x="0" y="0"/>
                </a:moveTo>
                <a:lnTo>
                  <a:pt x="308617" y="0"/>
                </a:lnTo>
              </a:path>
            </a:pathLst>
          </a:custGeom>
          <a:ln w="29215">
            <a:solidFill>
              <a:srgbClr val="000000"/>
            </a:solidFill>
          </a:ln>
        </p:spPr>
        <p:txBody>
          <a:bodyPr wrap="square" lIns="0" tIns="0" rIns="0" bIns="0" rtlCol="0"/>
          <a:lstStyle/>
          <a:p>
            <a:endParaRPr/>
          </a:p>
        </p:txBody>
      </p:sp>
      <p:sp>
        <p:nvSpPr>
          <p:cNvPr id="12" name="object 12"/>
          <p:cNvSpPr/>
          <p:nvPr/>
        </p:nvSpPr>
        <p:spPr>
          <a:xfrm>
            <a:off x="2423686" y="2599013"/>
            <a:ext cx="128270" cy="175260"/>
          </a:xfrm>
          <a:custGeom>
            <a:avLst/>
            <a:gdLst/>
            <a:ahLst/>
            <a:cxnLst/>
            <a:rect l="l" t="t" r="r" b="b"/>
            <a:pathLst>
              <a:path w="128269" h="175260">
                <a:moveTo>
                  <a:pt x="0" y="0"/>
                </a:moveTo>
                <a:lnTo>
                  <a:pt x="0" y="175262"/>
                </a:lnTo>
                <a:lnTo>
                  <a:pt x="128250" y="87662"/>
                </a:lnTo>
                <a:lnTo>
                  <a:pt x="0" y="0"/>
                </a:lnTo>
                <a:close/>
              </a:path>
            </a:pathLst>
          </a:custGeom>
          <a:solidFill>
            <a:srgbClr val="000000"/>
          </a:solidFill>
        </p:spPr>
        <p:txBody>
          <a:bodyPr wrap="square" lIns="0" tIns="0" rIns="0" bIns="0" rtlCol="0"/>
          <a:lstStyle/>
          <a:p>
            <a:endParaRPr/>
          </a:p>
        </p:txBody>
      </p:sp>
      <p:sp>
        <p:nvSpPr>
          <p:cNvPr id="13" name="object 13"/>
          <p:cNvSpPr/>
          <p:nvPr/>
        </p:nvSpPr>
        <p:spPr>
          <a:xfrm>
            <a:off x="868577" y="2111535"/>
            <a:ext cx="1010285" cy="1840864"/>
          </a:xfrm>
          <a:custGeom>
            <a:avLst/>
            <a:gdLst/>
            <a:ahLst/>
            <a:cxnLst/>
            <a:rect l="l" t="t" r="r" b="b"/>
            <a:pathLst>
              <a:path w="1010285" h="1840864">
                <a:moveTo>
                  <a:pt x="0" y="1840350"/>
                </a:moveTo>
                <a:lnTo>
                  <a:pt x="1010022" y="1840350"/>
                </a:lnTo>
                <a:lnTo>
                  <a:pt x="1010022" y="0"/>
                </a:lnTo>
                <a:lnTo>
                  <a:pt x="0" y="0"/>
                </a:lnTo>
                <a:lnTo>
                  <a:pt x="0" y="1840350"/>
                </a:lnTo>
                <a:close/>
              </a:path>
            </a:pathLst>
          </a:custGeom>
          <a:solidFill>
            <a:srgbClr val="CDCDCD"/>
          </a:solidFill>
        </p:spPr>
        <p:txBody>
          <a:bodyPr wrap="square" lIns="0" tIns="0" rIns="0" bIns="0" rtlCol="0"/>
          <a:lstStyle/>
          <a:p>
            <a:endParaRPr/>
          </a:p>
        </p:txBody>
      </p:sp>
      <p:sp>
        <p:nvSpPr>
          <p:cNvPr id="14" name="object 14"/>
          <p:cNvSpPr/>
          <p:nvPr/>
        </p:nvSpPr>
        <p:spPr>
          <a:xfrm>
            <a:off x="868577" y="2111535"/>
            <a:ext cx="1010285" cy="1840864"/>
          </a:xfrm>
          <a:custGeom>
            <a:avLst/>
            <a:gdLst/>
            <a:ahLst/>
            <a:cxnLst/>
            <a:rect l="l" t="t" r="r" b="b"/>
            <a:pathLst>
              <a:path w="1010285" h="1840864">
                <a:moveTo>
                  <a:pt x="0" y="1840350"/>
                </a:moveTo>
                <a:lnTo>
                  <a:pt x="1010022" y="1840350"/>
                </a:lnTo>
                <a:lnTo>
                  <a:pt x="1010022" y="0"/>
                </a:lnTo>
                <a:lnTo>
                  <a:pt x="0" y="0"/>
                </a:lnTo>
                <a:lnTo>
                  <a:pt x="0" y="1840350"/>
                </a:lnTo>
                <a:close/>
              </a:path>
            </a:pathLst>
          </a:custGeom>
          <a:ln w="23192">
            <a:solidFill>
              <a:srgbClr val="000000"/>
            </a:solidFill>
          </a:ln>
        </p:spPr>
        <p:txBody>
          <a:bodyPr wrap="square" lIns="0" tIns="0" rIns="0" bIns="0" rtlCol="0"/>
          <a:lstStyle/>
          <a:p>
            <a:endParaRPr/>
          </a:p>
        </p:txBody>
      </p:sp>
      <p:sp>
        <p:nvSpPr>
          <p:cNvPr id="15" name="object 15"/>
          <p:cNvSpPr/>
          <p:nvPr/>
        </p:nvSpPr>
        <p:spPr>
          <a:xfrm>
            <a:off x="2720273" y="2111535"/>
            <a:ext cx="1010285" cy="1840864"/>
          </a:xfrm>
          <a:custGeom>
            <a:avLst/>
            <a:gdLst/>
            <a:ahLst/>
            <a:cxnLst/>
            <a:rect l="l" t="t" r="r" b="b"/>
            <a:pathLst>
              <a:path w="1010285" h="1840864">
                <a:moveTo>
                  <a:pt x="0" y="1840350"/>
                </a:moveTo>
                <a:lnTo>
                  <a:pt x="1010022" y="1840350"/>
                </a:lnTo>
                <a:lnTo>
                  <a:pt x="1010022" y="0"/>
                </a:lnTo>
                <a:lnTo>
                  <a:pt x="0" y="0"/>
                </a:lnTo>
                <a:lnTo>
                  <a:pt x="0" y="1840350"/>
                </a:lnTo>
                <a:close/>
              </a:path>
            </a:pathLst>
          </a:custGeom>
          <a:solidFill>
            <a:srgbClr val="CDCDCD"/>
          </a:solidFill>
        </p:spPr>
        <p:txBody>
          <a:bodyPr wrap="square" lIns="0" tIns="0" rIns="0" bIns="0" rtlCol="0"/>
          <a:lstStyle/>
          <a:p>
            <a:endParaRPr/>
          </a:p>
        </p:txBody>
      </p:sp>
      <p:sp>
        <p:nvSpPr>
          <p:cNvPr id="16" name="object 16"/>
          <p:cNvSpPr/>
          <p:nvPr/>
        </p:nvSpPr>
        <p:spPr>
          <a:xfrm>
            <a:off x="2720273" y="2111535"/>
            <a:ext cx="1010285" cy="1840864"/>
          </a:xfrm>
          <a:custGeom>
            <a:avLst/>
            <a:gdLst/>
            <a:ahLst/>
            <a:cxnLst/>
            <a:rect l="l" t="t" r="r" b="b"/>
            <a:pathLst>
              <a:path w="1010285" h="1840864">
                <a:moveTo>
                  <a:pt x="0" y="1840350"/>
                </a:moveTo>
                <a:lnTo>
                  <a:pt x="1010022" y="1840350"/>
                </a:lnTo>
                <a:lnTo>
                  <a:pt x="1010022" y="0"/>
                </a:lnTo>
                <a:lnTo>
                  <a:pt x="0" y="0"/>
                </a:lnTo>
                <a:lnTo>
                  <a:pt x="0" y="1840350"/>
                </a:lnTo>
                <a:close/>
              </a:path>
            </a:pathLst>
          </a:custGeom>
          <a:ln w="23192">
            <a:solidFill>
              <a:srgbClr val="000000"/>
            </a:solidFill>
          </a:ln>
        </p:spPr>
        <p:txBody>
          <a:bodyPr wrap="square" lIns="0" tIns="0" rIns="0" bIns="0" rtlCol="0"/>
          <a:lstStyle/>
          <a:p>
            <a:endParaRPr/>
          </a:p>
        </p:txBody>
      </p:sp>
      <p:sp>
        <p:nvSpPr>
          <p:cNvPr id="17" name="object 17"/>
          <p:cNvSpPr txBox="1"/>
          <p:nvPr/>
        </p:nvSpPr>
        <p:spPr>
          <a:xfrm>
            <a:off x="2857547" y="2765737"/>
            <a:ext cx="723900" cy="569595"/>
          </a:xfrm>
          <a:prstGeom prst="rect">
            <a:avLst/>
          </a:prstGeom>
          <a:solidFill>
            <a:srgbClr val="FFFFFF"/>
          </a:solidFill>
          <a:ln w="9088">
            <a:solidFill>
              <a:srgbClr val="000000"/>
            </a:solidFill>
          </a:ln>
        </p:spPr>
        <p:txBody>
          <a:bodyPr vert="horz" wrap="square" lIns="0" tIns="0" rIns="0" bIns="0" rtlCol="0">
            <a:spAutoFit/>
          </a:bodyPr>
          <a:lstStyle/>
          <a:p>
            <a:pPr marL="119380">
              <a:lnSpc>
                <a:spcPct val="100000"/>
              </a:lnSpc>
            </a:pPr>
            <a:r>
              <a:rPr sz="2550" spc="-680" dirty="0">
                <a:latin typeface="宋体"/>
                <a:cs typeface="宋体"/>
              </a:rPr>
              <a:t>接收</a:t>
            </a:r>
            <a:endParaRPr sz="2550">
              <a:latin typeface="宋体"/>
              <a:cs typeface="宋体"/>
            </a:endParaRPr>
          </a:p>
        </p:txBody>
      </p:sp>
      <p:sp>
        <p:nvSpPr>
          <p:cNvPr id="18" name="object 18"/>
          <p:cNvSpPr/>
          <p:nvPr/>
        </p:nvSpPr>
        <p:spPr>
          <a:xfrm>
            <a:off x="988987" y="2765749"/>
            <a:ext cx="757555" cy="575310"/>
          </a:xfrm>
          <a:custGeom>
            <a:avLst/>
            <a:gdLst/>
            <a:ahLst/>
            <a:cxnLst/>
            <a:rect l="l" t="t" r="r" b="b"/>
            <a:pathLst>
              <a:path w="757555" h="575310">
                <a:moveTo>
                  <a:pt x="0" y="575109"/>
                </a:moveTo>
                <a:lnTo>
                  <a:pt x="757516" y="575109"/>
                </a:lnTo>
                <a:lnTo>
                  <a:pt x="757516" y="0"/>
                </a:lnTo>
                <a:lnTo>
                  <a:pt x="0" y="0"/>
                </a:lnTo>
                <a:lnTo>
                  <a:pt x="0" y="575109"/>
                </a:lnTo>
                <a:close/>
              </a:path>
            </a:pathLst>
          </a:custGeom>
          <a:solidFill>
            <a:srgbClr val="FFFFFF"/>
          </a:solidFill>
        </p:spPr>
        <p:txBody>
          <a:bodyPr wrap="square" lIns="0" tIns="0" rIns="0" bIns="0" rtlCol="0"/>
          <a:lstStyle/>
          <a:p>
            <a:endParaRPr/>
          </a:p>
        </p:txBody>
      </p:sp>
      <p:sp>
        <p:nvSpPr>
          <p:cNvPr id="19" name="object 19"/>
          <p:cNvSpPr/>
          <p:nvPr/>
        </p:nvSpPr>
        <p:spPr>
          <a:xfrm>
            <a:off x="988987" y="2765749"/>
            <a:ext cx="757555" cy="575310"/>
          </a:xfrm>
          <a:custGeom>
            <a:avLst/>
            <a:gdLst/>
            <a:ahLst/>
            <a:cxnLst/>
            <a:rect l="l" t="t" r="r" b="b"/>
            <a:pathLst>
              <a:path w="757555" h="575310">
                <a:moveTo>
                  <a:pt x="0" y="575109"/>
                </a:moveTo>
                <a:lnTo>
                  <a:pt x="757516" y="575109"/>
                </a:lnTo>
                <a:lnTo>
                  <a:pt x="757516" y="0"/>
                </a:lnTo>
                <a:lnTo>
                  <a:pt x="0" y="0"/>
                </a:lnTo>
                <a:lnTo>
                  <a:pt x="0" y="575109"/>
                </a:lnTo>
                <a:close/>
              </a:path>
            </a:pathLst>
          </a:custGeom>
          <a:ln w="8783">
            <a:solidFill>
              <a:srgbClr val="000000"/>
            </a:solidFill>
          </a:ln>
        </p:spPr>
        <p:txBody>
          <a:bodyPr wrap="square" lIns="0" tIns="0" rIns="0" bIns="0" rtlCol="0"/>
          <a:lstStyle/>
          <a:p>
            <a:endParaRPr/>
          </a:p>
        </p:txBody>
      </p:sp>
      <p:sp>
        <p:nvSpPr>
          <p:cNvPr id="20" name="object 20"/>
          <p:cNvSpPr txBox="1"/>
          <p:nvPr/>
        </p:nvSpPr>
        <p:spPr>
          <a:xfrm>
            <a:off x="1117502" y="2859024"/>
            <a:ext cx="501015" cy="350520"/>
          </a:xfrm>
          <a:prstGeom prst="rect">
            <a:avLst/>
          </a:prstGeom>
        </p:spPr>
        <p:txBody>
          <a:bodyPr vert="horz" wrap="square" lIns="0" tIns="0" rIns="0" bIns="0" rtlCol="0">
            <a:spAutoFit/>
          </a:bodyPr>
          <a:lstStyle/>
          <a:p>
            <a:pPr marL="12700">
              <a:lnSpc>
                <a:spcPts val="3010"/>
              </a:lnSpc>
            </a:pPr>
            <a:r>
              <a:rPr sz="2550" spc="-680" dirty="0">
                <a:latin typeface="宋体"/>
                <a:cs typeface="宋体"/>
              </a:rPr>
              <a:t>发送</a:t>
            </a:r>
            <a:endParaRPr sz="2550">
              <a:latin typeface="宋体"/>
              <a:cs typeface="宋体"/>
            </a:endParaRPr>
          </a:p>
        </p:txBody>
      </p:sp>
      <p:sp>
        <p:nvSpPr>
          <p:cNvPr id="21" name="object 21"/>
          <p:cNvSpPr/>
          <p:nvPr/>
        </p:nvSpPr>
        <p:spPr>
          <a:xfrm>
            <a:off x="4640393" y="2111535"/>
            <a:ext cx="1010285" cy="1840864"/>
          </a:xfrm>
          <a:custGeom>
            <a:avLst/>
            <a:gdLst/>
            <a:ahLst/>
            <a:cxnLst/>
            <a:rect l="l" t="t" r="r" b="b"/>
            <a:pathLst>
              <a:path w="1010285" h="1840864">
                <a:moveTo>
                  <a:pt x="0" y="1840350"/>
                </a:moveTo>
                <a:lnTo>
                  <a:pt x="1010022" y="1840350"/>
                </a:lnTo>
                <a:lnTo>
                  <a:pt x="1010022" y="0"/>
                </a:lnTo>
                <a:lnTo>
                  <a:pt x="0" y="0"/>
                </a:lnTo>
                <a:lnTo>
                  <a:pt x="0" y="1840350"/>
                </a:lnTo>
                <a:close/>
              </a:path>
            </a:pathLst>
          </a:custGeom>
          <a:solidFill>
            <a:srgbClr val="CDCDCD"/>
          </a:solidFill>
        </p:spPr>
        <p:txBody>
          <a:bodyPr wrap="square" lIns="0" tIns="0" rIns="0" bIns="0" rtlCol="0"/>
          <a:lstStyle/>
          <a:p>
            <a:endParaRPr/>
          </a:p>
        </p:txBody>
      </p:sp>
      <p:sp>
        <p:nvSpPr>
          <p:cNvPr id="22" name="object 22"/>
          <p:cNvSpPr/>
          <p:nvPr/>
        </p:nvSpPr>
        <p:spPr>
          <a:xfrm>
            <a:off x="4640393" y="2111535"/>
            <a:ext cx="1010285" cy="1840864"/>
          </a:xfrm>
          <a:custGeom>
            <a:avLst/>
            <a:gdLst/>
            <a:ahLst/>
            <a:cxnLst/>
            <a:rect l="l" t="t" r="r" b="b"/>
            <a:pathLst>
              <a:path w="1010285" h="1840864">
                <a:moveTo>
                  <a:pt x="0" y="1840350"/>
                </a:moveTo>
                <a:lnTo>
                  <a:pt x="1010022" y="1840350"/>
                </a:lnTo>
                <a:lnTo>
                  <a:pt x="1010022" y="0"/>
                </a:lnTo>
                <a:lnTo>
                  <a:pt x="0" y="0"/>
                </a:lnTo>
                <a:lnTo>
                  <a:pt x="0" y="1840350"/>
                </a:lnTo>
                <a:close/>
              </a:path>
            </a:pathLst>
          </a:custGeom>
          <a:ln w="23192">
            <a:solidFill>
              <a:srgbClr val="000000"/>
            </a:solidFill>
          </a:ln>
        </p:spPr>
        <p:txBody>
          <a:bodyPr wrap="square" lIns="0" tIns="0" rIns="0" bIns="0" rtlCol="0"/>
          <a:lstStyle/>
          <a:p>
            <a:endParaRPr/>
          </a:p>
        </p:txBody>
      </p:sp>
      <p:sp>
        <p:nvSpPr>
          <p:cNvPr id="23" name="object 23"/>
          <p:cNvSpPr/>
          <p:nvPr/>
        </p:nvSpPr>
        <p:spPr>
          <a:xfrm>
            <a:off x="6492281" y="2111535"/>
            <a:ext cx="1010285" cy="1840864"/>
          </a:xfrm>
          <a:custGeom>
            <a:avLst/>
            <a:gdLst/>
            <a:ahLst/>
            <a:cxnLst/>
            <a:rect l="l" t="t" r="r" b="b"/>
            <a:pathLst>
              <a:path w="1010284" h="1840864">
                <a:moveTo>
                  <a:pt x="0" y="1840350"/>
                </a:moveTo>
                <a:lnTo>
                  <a:pt x="1010022" y="1840350"/>
                </a:lnTo>
                <a:lnTo>
                  <a:pt x="1010022" y="0"/>
                </a:lnTo>
                <a:lnTo>
                  <a:pt x="0" y="0"/>
                </a:lnTo>
                <a:lnTo>
                  <a:pt x="0" y="1840350"/>
                </a:lnTo>
                <a:close/>
              </a:path>
            </a:pathLst>
          </a:custGeom>
          <a:solidFill>
            <a:srgbClr val="CDCDCD"/>
          </a:solidFill>
        </p:spPr>
        <p:txBody>
          <a:bodyPr wrap="square" lIns="0" tIns="0" rIns="0" bIns="0" rtlCol="0"/>
          <a:lstStyle/>
          <a:p>
            <a:endParaRPr/>
          </a:p>
        </p:txBody>
      </p:sp>
      <p:sp>
        <p:nvSpPr>
          <p:cNvPr id="24" name="object 24"/>
          <p:cNvSpPr/>
          <p:nvPr/>
        </p:nvSpPr>
        <p:spPr>
          <a:xfrm>
            <a:off x="6492281" y="2111535"/>
            <a:ext cx="1010285" cy="1840864"/>
          </a:xfrm>
          <a:custGeom>
            <a:avLst/>
            <a:gdLst/>
            <a:ahLst/>
            <a:cxnLst/>
            <a:rect l="l" t="t" r="r" b="b"/>
            <a:pathLst>
              <a:path w="1010284" h="1840864">
                <a:moveTo>
                  <a:pt x="0" y="1840350"/>
                </a:moveTo>
                <a:lnTo>
                  <a:pt x="1010022" y="1840350"/>
                </a:lnTo>
                <a:lnTo>
                  <a:pt x="1010022" y="0"/>
                </a:lnTo>
                <a:lnTo>
                  <a:pt x="0" y="0"/>
                </a:lnTo>
                <a:lnTo>
                  <a:pt x="0" y="1840350"/>
                </a:lnTo>
                <a:close/>
              </a:path>
            </a:pathLst>
          </a:custGeom>
          <a:ln w="23192">
            <a:solidFill>
              <a:srgbClr val="000000"/>
            </a:solidFill>
          </a:ln>
        </p:spPr>
        <p:txBody>
          <a:bodyPr wrap="square" lIns="0" tIns="0" rIns="0" bIns="0" rtlCol="0"/>
          <a:lstStyle/>
          <a:p>
            <a:endParaRPr/>
          </a:p>
        </p:txBody>
      </p:sp>
      <p:sp>
        <p:nvSpPr>
          <p:cNvPr id="25" name="object 25"/>
          <p:cNvSpPr/>
          <p:nvPr/>
        </p:nvSpPr>
        <p:spPr>
          <a:xfrm>
            <a:off x="9437955" y="2972789"/>
            <a:ext cx="842010" cy="0"/>
          </a:xfrm>
          <a:custGeom>
            <a:avLst/>
            <a:gdLst/>
            <a:ahLst/>
            <a:cxnLst/>
            <a:rect l="l" t="t" r="r" b="b"/>
            <a:pathLst>
              <a:path w="842009">
                <a:moveTo>
                  <a:pt x="0" y="0"/>
                </a:moveTo>
                <a:lnTo>
                  <a:pt x="841685" y="0"/>
                </a:lnTo>
              </a:path>
            </a:pathLst>
          </a:custGeom>
          <a:ln w="29215">
            <a:solidFill>
              <a:srgbClr val="000000"/>
            </a:solidFill>
          </a:ln>
        </p:spPr>
        <p:txBody>
          <a:bodyPr wrap="square" lIns="0" tIns="0" rIns="0" bIns="0" rtlCol="0"/>
          <a:lstStyle/>
          <a:p>
            <a:endParaRPr/>
          </a:p>
        </p:txBody>
      </p:sp>
      <p:sp>
        <p:nvSpPr>
          <p:cNvPr id="26" name="object 26"/>
          <p:cNvSpPr/>
          <p:nvPr/>
        </p:nvSpPr>
        <p:spPr>
          <a:xfrm>
            <a:off x="8427933" y="2111535"/>
            <a:ext cx="1010285" cy="1840864"/>
          </a:xfrm>
          <a:custGeom>
            <a:avLst/>
            <a:gdLst/>
            <a:ahLst/>
            <a:cxnLst/>
            <a:rect l="l" t="t" r="r" b="b"/>
            <a:pathLst>
              <a:path w="1010284" h="1840864">
                <a:moveTo>
                  <a:pt x="0" y="1840350"/>
                </a:moveTo>
                <a:lnTo>
                  <a:pt x="1010022" y="1840350"/>
                </a:lnTo>
                <a:lnTo>
                  <a:pt x="1010022" y="0"/>
                </a:lnTo>
                <a:lnTo>
                  <a:pt x="0" y="0"/>
                </a:lnTo>
                <a:lnTo>
                  <a:pt x="0" y="1840350"/>
                </a:lnTo>
                <a:close/>
              </a:path>
            </a:pathLst>
          </a:custGeom>
          <a:solidFill>
            <a:srgbClr val="CDCDCD"/>
          </a:solidFill>
        </p:spPr>
        <p:txBody>
          <a:bodyPr wrap="square" lIns="0" tIns="0" rIns="0" bIns="0" rtlCol="0"/>
          <a:lstStyle/>
          <a:p>
            <a:endParaRPr/>
          </a:p>
        </p:txBody>
      </p:sp>
      <p:sp>
        <p:nvSpPr>
          <p:cNvPr id="27" name="object 27"/>
          <p:cNvSpPr/>
          <p:nvPr/>
        </p:nvSpPr>
        <p:spPr>
          <a:xfrm>
            <a:off x="8427933" y="2111535"/>
            <a:ext cx="1010285" cy="1840864"/>
          </a:xfrm>
          <a:custGeom>
            <a:avLst/>
            <a:gdLst/>
            <a:ahLst/>
            <a:cxnLst/>
            <a:rect l="l" t="t" r="r" b="b"/>
            <a:pathLst>
              <a:path w="1010284" h="1840864">
                <a:moveTo>
                  <a:pt x="0" y="1840350"/>
                </a:moveTo>
                <a:lnTo>
                  <a:pt x="1010022" y="1840350"/>
                </a:lnTo>
                <a:lnTo>
                  <a:pt x="1010022" y="0"/>
                </a:lnTo>
                <a:lnTo>
                  <a:pt x="0" y="0"/>
                </a:lnTo>
                <a:lnTo>
                  <a:pt x="0" y="1840350"/>
                </a:lnTo>
                <a:close/>
              </a:path>
            </a:pathLst>
          </a:custGeom>
          <a:ln w="23192">
            <a:solidFill>
              <a:srgbClr val="000000"/>
            </a:solidFill>
          </a:ln>
        </p:spPr>
        <p:txBody>
          <a:bodyPr wrap="square" lIns="0" tIns="0" rIns="0" bIns="0" rtlCol="0"/>
          <a:lstStyle/>
          <a:p>
            <a:endParaRPr/>
          </a:p>
        </p:txBody>
      </p:sp>
      <p:sp>
        <p:nvSpPr>
          <p:cNvPr id="28" name="object 28"/>
          <p:cNvSpPr/>
          <p:nvPr/>
        </p:nvSpPr>
        <p:spPr>
          <a:xfrm>
            <a:off x="10279641" y="2111535"/>
            <a:ext cx="1010285" cy="1840864"/>
          </a:xfrm>
          <a:custGeom>
            <a:avLst/>
            <a:gdLst/>
            <a:ahLst/>
            <a:cxnLst/>
            <a:rect l="l" t="t" r="r" b="b"/>
            <a:pathLst>
              <a:path w="1010284" h="1840864">
                <a:moveTo>
                  <a:pt x="0" y="1840350"/>
                </a:moveTo>
                <a:lnTo>
                  <a:pt x="1010022" y="1840350"/>
                </a:lnTo>
                <a:lnTo>
                  <a:pt x="1010022" y="0"/>
                </a:lnTo>
                <a:lnTo>
                  <a:pt x="0" y="0"/>
                </a:lnTo>
                <a:lnTo>
                  <a:pt x="0" y="1840350"/>
                </a:lnTo>
                <a:close/>
              </a:path>
            </a:pathLst>
          </a:custGeom>
          <a:solidFill>
            <a:srgbClr val="CDCDCD"/>
          </a:solidFill>
        </p:spPr>
        <p:txBody>
          <a:bodyPr wrap="square" lIns="0" tIns="0" rIns="0" bIns="0" rtlCol="0"/>
          <a:lstStyle/>
          <a:p>
            <a:endParaRPr/>
          </a:p>
        </p:txBody>
      </p:sp>
      <p:sp>
        <p:nvSpPr>
          <p:cNvPr id="29" name="object 29"/>
          <p:cNvSpPr/>
          <p:nvPr/>
        </p:nvSpPr>
        <p:spPr>
          <a:xfrm>
            <a:off x="10279641" y="2111535"/>
            <a:ext cx="1010285" cy="1840864"/>
          </a:xfrm>
          <a:custGeom>
            <a:avLst/>
            <a:gdLst/>
            <a:ahLst/>
            <a:cxnLst/>
            <a:rect l="l" t="t" r="r" b="b"/>
            <a:pathLst>
              <a:path w="1010284" h="1840864">
                <a:moveTo>
                  <a:pt x="0" y="1840350"/>
                </a:moveTo>
                <a:lnTo>
                  <a:pt x="1010022" y="1840350"/>
                </a:lnTo>
                <a:lnTo>
                  <a:pt x="1010022" y="0"/>
                </a:lnTo>
                <a:lnTo>
                  <a:pt x="0" y="0"/>
                </a:lnTo>
                <a:lnTo>
                  <a:pt x="0" y="1840350"/>
                </a:lnTo>
                <a:close/>
              </a:path>
            </a:pathLst>
          </a:custGeom>
          <a:ln w="23192">
            <a:solidFill>
              <a:srgbClr val="000000"/>
            </a:solidFill>
          </a:ln>
        </p:spPr>
        <p:txBody>
          <a:bodyPr wrap="square" lIns="0" tIns="0" rIns="0" bIns="0" rtlCol="0"/>
          <a:lstStyle/>
          <a:p>
            <a:endParaRPr/>
          </a:p>
        </p:txBody>
      </p:sp>
      <p:sp>
        <p:nvSpPr>
          <p:cNvPr id="30" name="object 30"/>
          <p:cNvSpPr/>
          <p:nvPr/>
        </p:nvSpPr>
        <p:spPr>
          <a:xfrm>
            <a:off x="9437955" y="3133819"/>
            <a:ext cx="842010" cy="0"/>
          </a:xfrm>
          <a:custGeom>
            <a:avLst/>
            <a:gdLst/>
            <a:ahLst/>
            <a:cxnLst/>
            <a:rect l="l" t="t" r="r" b="b"/>
            <a:pathLst>
              <a:path w="842009">
                <a:moveTo>
                  <a:pt x="0" y="0"/>
                </a:moveTo>
                <a:lnTo>
                  <a:pt x="841685" y="0"/>
                </a:lnTo>
              </a:path>
            </a:pathLst>
          </a:custGeom>
          <a:ln w="29215">
            <a:solidFill>
              <a:srgbClr val="000000"/>
            </a:solidFill>
          </a:ln>
        </p:spPr>
        <p:txBody>
          <a:bodyPr wrap="square" lIns="0" tIns="0" rIns="0" bIns="0" rtlCol="0"/>
          <a:lstStyle/>
          <a:p>
            <a:endParaRPr/>
          </a:p>
        </p:txBody>
      </p:sp>
      <p:sp>
        <p:nvSpPr>
          <p:cNvPr id="31" name="object 31"/>
          <p:cNvSpPr/>
          <p:nvPr/>
        </p:nvSpPr>
        <p:spPr>
          <a:xfrm>
            <a:off x="6137651" y="2599013"/>
            <a:ext cx="128905" cy="175260"/>
          </a:xfrm>
          <a:custGeom>
            <a:avLst/>
            <a:gdLst/>
            <a:ahLst/>
            <a:cxnLst/>
            <a:rect l="l" t="t" r="r" b="b"/>
            <a:pathLst>
              <a:path w="128904" h="175260">
                <a:moveTo>
                  <a:pt x="0" y="0"/>
                </a:moveTo>
                <a:lnTo>
                  <a:pt x="0" y="175262"/>
                </a:lnTo>
                <a:lnTo>
                  <a:pt x="128385" y="87662"/>
                </a:lnTo>
                <a:lnTo>
                  <a:pt x="0" y="0"/>
                </a:lnTo>
                <a:close/>
              </a:path>
            </a:pathLst>
          </a:custGeom>
          <a:solidFill>
            <a:srgbClr val="000000"/>
          </a:solidFill>
        </p:spPr>
        <p:txBody>
          <a:bodyPr wrap="square" lIns="0" tIns="0" rIns="0" bIns="0" rtlCol="0"/>
          <a:lstStyle/>
          <a:p>
            <a:endParaRPr/>
          </a:p>
        </p:txBody>
      </p:sp>
      <p:sp>
        <p:nvSpPr>
          <p:cNvPr id="32" name="object 32"/>
          <p:cNvSpPr/>
          <p:nvPr/>
        </p:nvSpPr>
        <p:spPr>
          <a:xfrm>
            <a:off x="5936095" y="3376807"/>
            <a:ext cx="319405" cy="0"/>
          </a:xfrm>
          <a:custGeom>
            <a:avLst/>
            <a:gdLst/>
            <a:ahLst/>
            <a:cxnLst/>
            <a:rect l="l" t="t" r="r" b="b"/>
            <a:pathLst>
              <a:path w="319404">
                <a:moveTo>
                  <a:pt x="0" y="0"/>
                </a:moveTo>
                <a:lnTo>
                  <a:pt x="319167" y="0"/>
                </a:lnTo>
              </a:path>
            </a:pathLst>
          </a:custGeom>
          <a:ln w="29215">
            <a:solidFill>
              <a:srgbClr val="000000"/>
            </a:solidFill>
            <a:prstDash val="dash"/>
          </a:ln>
        </p:spPr>
        <p:txBody>
          <a:bodyPr wrap="square" lIns="0" tIns="0" rIns="0" bIns="0" rtlCol="0"/>
          <a:lstStyle/>
          <a:p>
            <a:endParaRPr/>
          </a:p>
        </p:txBody>
      </p:sp>
      <p:sp>
        <p:nvSpPr>
          <p:cNvPr id="33" name="object 33"/>
          <p:cNvSpPr/>
          <p:nvPr/>
        </p:nvSpPr>
        <p:spPr>
          <a:xfrm>
            <a:off x="5823870" y="3289145"/>
            <a:ext cx="128905" cy="175895"/>
          </a:xfrm>
          <a:custGeom>
            <a:avLst/>
            <a:gdLst/>
            <a:ahLst/>
            <a:cxnLst/>
            <a:rect l="l" t="t" r="r" b="b"/>
            <a:pathLst>
              <a:path w="128904" h="175895">
                <a:moveTo>
                  <a:pt x="128385" y="0"/>
                </a:moveTo>
                <a:lnTo>
                  <a:pt x="0" y="87662"/>
                </a:lnTo>
                <a:lnTo>
                  <a:pt x="128385" y="175281"/>
                </a:lnTo>
                <a:lnTo>
                  <a:pt x="128385" y="0"/>
                </a:lnTo>
                <a:close/>
              </a:path>
            </a:pathLst>
          </a:custGeom>
          <a:solidFill>
            <a:srgbClr val="000000"/>
          </a:solidFill>
        </p:spPr>
        <p:txBody>
          <a:bodyPr wrap="square" lIns="0" tIns="0" rIns="0" bIns="0" rtlCol="0"/>
          <a:lstStyle/>
          <a:p>
            <a:endParaRPr/>
          </a:p>
        </p:txBody>
      </p:sp>
      <p:sp>
        <p:nvSpPr>
          <p:cNvPr id="34" name="object 34"/>
          <p:cNvSpPr/>
          <p:nvPr/>
        </p:nvSpPr>
        <p:spPr>
          <a:xfrm>
            <a:off x="9622004" y="2456632"/>
            <a:ext cx="330200" cy="0"/>
          </a:xfrm>
          <a:custGeom>
            <a:avLst/>
            <a:gdLst/>
            <a:ahLst/>
            <a:cxnLst/>
            <a:rect l="l" t="t" r="r" b="b"/>
            <a:pathLst>
              <a:path w="330200">
                <a:moveTo>
                  <a:pt x="0" y="0"/>
                </a:moveTo>
                <a:lnTo>
                  <a:pt x="329940" y="0"/>
                </a:lnTo>
              </a:path>
            </a:pathLst>
          </a:custGeom>
          <a:ln w="29215">
            <a:solidFill>
              <a:srgbClr val="000000"/>
            </a:solidFill>
          </a:ln>
        </p:spPr>
        <p:txBody>
          <a:bodyPr wrap="square" lIns="0" tIns="0" rIns="0" bIns="0" rtlCol="0"/>
          <a:lstStyle/>
          <a:p>
            <a:endParaRPr/>
          </a:p>
        </p:txBody>
      </p:sp>
      <p:sp>
        <p:nvSpPr>
          <p:cNvPr id="35" name="object 35"/>
          <p:cNvSpPr/>
          <p:nvPr/>
        </p:nvSpPr>
        <p:spPr>
          <a:xfrm>
            <a:off x="9935785" y="2368970"/>
            <a:ext cx="128905" cy="175260"/>
          </a:xfrm>
          <a:custGeom>
            <a:avLst/>
            <a:gdLst/>
            <a:ahLst/>
            <a:cxnLst/>
            <a:rect l="l" t="t" r="r" b="b"/>
            <a:pathLst>
              <a:path w="128904" h="175260">
                <a:moveTo>
                  <a:pt x="0" y="0"/>
                </a:moveTo>
                <a:lnTo>
                  <a:pt x="0" y="175262"/>
                </a:lnTo>
                <a:lnTo>
                  <a:pt x="128385" y="87662"/>
                </a:lnTo>
                <a:lnTo>
                  <a:pt x="0" y="0"/>
                </a:lnTo>
                <a:close/>
              </a:path>
            </a:pathLst>
          </a:custGeom>
          <a:solidFill>
            <a:srgbClr val="000000"/>
          </a:solidFill>
        </p:spPr>
        <p:txBody>
          <a:bodyPr wrap="square" lIns="0" tIns="0" rIns="0" bIns="0" rtlCol="0"/>
          <a:lstStyle/>
          <a:p>
            <a:endParaRPr/>
          </a:p>
        </p:txBody>
      </p:sp>
      <p:sp>
        <p:nvSpPr>
          <p:cNvPr id="36" name="object 36"/>
          <p:cNvSpPr/>
          <p:nvPr/>
        </p:nvSpPr>
        <p:spPr>
          <a:xfrm>
            <a:off x="9755327" y="3606820"/>
            <a:ext cx="288290" cy="0"/>
          </a:xfrm>
          <a:custGeom>
            <a:avLst/>
            <a:gdLst/>
            <a:ahLst/>
            <a:cxnLst/>
            <a:rect l="l" t="t" r="r" b="b"/>
            <a:pathLst>
              <a:path w="288290">
                <a:moveTo>
                  <a:pt x="287744" y="0"/>
                </a:moveTo>
                <a:lnTo>
                  <a:pt x="0" y="0"/>
                </a:lnTo>
              </a:path>
            </a:pathLst>
          </a:custGeom>
          <a:ln w="29215">
            <a:solidFill>
              <a:srgbClr val="000000"/>
            </a:solidFill>
          </a:ln>
        </p:spPr>
        <p:txBody>
          <a:bodyPr wrap="square" lIns="0" tIns="0" rIns="0" bIns="0" rtlCol="0"/>
          <a:lstStyle/>
          <a:p>
            <a:endParaRPr/>
          </a:p>
        </p:txBody>
      </p:sp>
      <p:sp>
        <p:nvSpPr>
          <p:cNvPr id="37" name="object 37"/>
          <p:cNvSpPr/>
          <p:nvPr/>
        </p:nvSpPr>
        <p:spPr>
          <a:xfrm>
            <a:off x="9643102" y="3519177"/>
            <a:ext cx="128905" cy="175895"/>
          </a:xfrm>
          <a:custGeom>
            <a:avLst/>
            <a:gdLst/>
            <a:ahLst/>
            <a:cxnLst/>
            <a:rect l="l" t="t" r="r" b="b"/>
            <a:pathLst>
              <a:path w="128904" h="175895">
                <a:moveTo>
                  <a:pt x="128385" y="0"/>
                </a:moveTo>
                <a:lnTo>
                  <a:pt x="0" y="87643"/>
                </a:lnTo>
                <a:lnTo>
                  <a:pt x="128385" y="175293"/>
                </a:lnTo>
                <a:lnTo>
                  <a:pt x="128385" y="0"/>
                </a:lnTo>
                <a:close/>
              </a:path>
            </a:pathLst>
          </a:custGeom>
          <a:solidFill>
            <a:srgbClr val="000000"/>
          </a:solidFill>
        </p:spPr>
        <p:txBody>
          <a:bodyPr wrap="square" lIns="0" tIns="0" rIns="0" bIns="0" rtlCol="0"/>
          <a:lstStyle/>
          <a:p>
            <a:endParaRPr/>
          </a:p>
        </p:txBody>
      </p:sp>
      <p:sp>
        <p:nvSpPr>
          <p:cNvPr id="38" name="object 38"/>
          <p:cNvSpPr/>
          <p:nvPr/>
        </p:nvSpPr>
        <p:spPr>
          <a:xfrm>
            <a:off x="1746522" y="3031741"/>
            <a:ext cx="1059815" cy="0"/>
          </a:xfrm>
          <a:custGeom>
            <a:avLst/>
            <a:gdLst/>
            <a:ahLst/>
            <a:cxnLst/>
            <a:rect l="l" t="t" r="r" b="b"/>
            <a:pathLst>
              <a:path w="1059814">
                <a:moveTo>
                  <a:pt x="0" y="0"/>
                </a:moveTo>
                <a:lnTo>
                  <a:pt x="1059715" y="0"/>
                </a:lnTo>
              </a:path>
            </a:pathLst>
          </a:custGeom>
          <a:ln w="29215">
            <a:solidFill>
              <a:srgbClr val="000000"/>
            </a:solidFill>
          </a:ln>
        </p:spPr>
        <p:txBody>
          <a:bodyPr wrap="square" lIns="0" tIns="0" rIns="0" bIns="0" rtlCol="0"/>
          <a:lstStyle/>
          <a:p>
            <a:endParaRPr/>
          </a:p>
        </p:txBody>
      </p:sp>
      <p:sp>
        <p:nvSpPr>
          <p:cNvPr id="39" name="object 39"/>
          <p:cNvSpPr/>
          <p:nvPr/>
        </p:nvSpPr>
        <p:spPr>
          <a:xfrm>
            <a:off x="2793399" y="2944079"/>
            <a:ext cx="64135" cy="175260"/>
          </a:xfrm>
          <a:custGeom>
            <a:avLst/>
            <a:gdLst/>
            <a:ahLst/>
            <a:cxnLst/>
            <a:rect l="l" t="t" r="r" b="b"/>
            <a:pathLst>
              <a:path w="64135" h="175260">
                <a:moveTo>
                  <a:pt x="0" y="0"/>
                </a:moveTo>
                <a:lnTo>
                  <a:pt x="0" y="175262"/>
                </a:lnTo>
                <a:lnTo>
                  <a:pt x="64147" y="87662"/>
                </a:lnTo>
                <a:lnTo>
                  <a:pt x="0" y="0"/>
                </a:lnTo>
                <a:close/>
              </a:path>
            </a:pathLst>
          </a:custGeom>
          <a:solidFill>
            <a:srgbClr val="000000"/>
          </a:solidFill>
        </p:spPr>
        <p:txBody>
          <a:bodyPr wrap="square" lIns="0" tIns="0" rIns="0" bIns="0" rtlCol="0"/>
          <a:lstStyle/>
          <a:p>
            <a:endParaRPr/>
          </a:p>
        </p:txBody>
      </p:sp>
      <p:sp>
        <p:nvSpPr>
          <p:cNvPr id="40" name="object 40"/>
          <p:cNvSpPr/>
          <p:nvPr/>
        </p:nvSpPr>
        <p:spPr>
          <a:xfrm>
            <a:off x="5650596" y="3064806"/>
            <a:ext cx="842010" cy="0"/>
          </a:xfrm>
          <a:custGeom>
            <a:avLst/>
            <a:gdLst/>
            <a:ahLst/>
            <a:cxnLst/>
            <a:rect l="l" t="t" r="r" b="b"/>
            <a:pathLst>
              <a:path w="842010">
                <a:moveTo>
                  <a:pt x="0" y="0"/>
                </a:moveTo>
                <a:lnTo>
                  <a:pt x="841685" y="0"/>
                </a:lnTo>
              </a:path>
            </a:pathLst>
          </a:custGeom>
          <a:ln w="29215">
            <a:solidFill>
              <a:srgbClr val="000000"/>
            </a:solidFill>
          </a:ln>
        </p:spPr>
        <p:txBody>
          <a:bodyPr wrap="square" lIns="0" tIns="0" rIns="0" bIns="0" rtlCol="0"/>
          <a:lstStyle/>
          <a:p>
            <a:endParaRPr/>
          </a:p>
        </p:txBody>
      </p:sp>
      <p:sp>
        <p:nvSpPr>
          <p:cNvPr id="41" name="object 41"/>
          <p:cNvSpPr txBox="1"/>
          <p:nvPr/>
        </p:nvSpPr>
        <p:spPr>
          <a:xfrm>
            <a:off x="5803539" y="2317768"/>
            <a:ext cx="471170" cy="269240"/>
          </a:xfrm>
          <a:prstGeom prst="rect">
            <a:avLst/>
          </a:prstGeom>
        </p:spPr>
        <p:txBody>
          <a:bodyPr vert="horz" wrap="square" lIns="0" tIns="0" rIns="0" bIns="0" rtlCol="0">
            <a:spAutoFit/>
          </a:bodyPr>
          <a:lstStyle/>
          <a:p>
            <a:pPr marL="12700">
              <a:lnSpc>
                <a:spcPts val="2270"/>
              </a:lnSpc>
            </a:pPr>
            <a:r>
              <a:rPr sz="1900" u="heavy" spc="-500" dirty="0">
                <a:latin typeface="宋体"/>
                <a:cs typeface="宋体"/>
              </a:rPr>
              <a:t>时间</a:t>
            </a:r>
            <a:r>
              <a:rPr sz="1900" spc="-250" dirty="0">
                <a:latin typeface="宋体"/>
                <a:cs typeface="宋体"/>
              </a:rPr>
              <a:t>1</a:t>
            </a:r>
            <a:endParaRPr sz="1900">
              <a:latin typeface="宋体"/>
              <a:cs typeface="宋体"/>
            </a:endParaRPr>
          </a:p>
        </p:txBody>
      </p:sp>
      <p:sp>
        <p:nvSpPr>
          <p:cNvPr id="42" name="object 42"/>
          <p:cNvSpPr txBox="1"/>
          <p:nvPr/>
        </p:nvSpPr>
        <p:spPr>
          <a:xfrm>
            <a:off x="5820597" y="3479501"/>
            <a:ext cx="471170" cy="269240"/>
          </a:xfrm>
          <a:prstGeom prst="rect">
            <a:avLst/>
          </a:prstGeom>
        </p:spPr>
        <p:txBody>
          <a:bodyPr vert="horz" wrap="square" lIns="0" tIns="0" rIns="0" bIns="0" rtlCol="0">
            <a:spAutoFit/>
          </a:bodyPr>
          <a:lstStyle/>
          <a:p>
            <a:pPr marL="12700">
              <a:lnSpc>
                <a:spcPts val="2270"/>
              </a:lnSpc>
            </a:pPr>
            <a:r>
              <a:rPr sz="1900" spc="-415" dirty="0">
                <a:latin typeface="宋体"/>
                <a:cs typeface="宋体"/>
              </a:rPr>
              <a:t>时间2</a:t>
            </a:r>
            <a:endParaRPr sz="1900">
              <a:latin typeface="宋体"/>
              <a:cs typeface="宋体"/>
            </a:endParaRPr>
          </a:p>
        </p:txBody>
      </p:sp>
      <p:sp>
        <p:nvSpPr>
          <p:cNvPr id="43" name="object 43"/>
          <p:cNvSpPr txBox="1"/>
          <p:nvPr/>
        </p:nvSpPr>
        <p:spPr>
          <a:xfrm>
            <a:off x="4776589" y="2305661"/>
            <a:ext cx="757555" cy="575310"/>
          </a:xfrm>
          <a:prstGeom prst="rect">
            <a:avLst/>
          </a:prstGeom>
          <a:solidFill>
            <a:srgbClr val="FFFFFF"/>
          </a:solidFill>
          <a:ln w="9122">
            <a:solidFill>
              <a:srgbClr val="000000"/>
            </a:solidFill>
          </a:ln>
        </p:spPr>
        <p:txBody>
          <a:bodyPr vert="horz" wrap="square" lIns="0" tIns="0" rIns="0" bIns="0" rtlCol="0">
            <a:spAutoFit/>
          </a:bodyPr>
          <a:lstStyle/>
          <a:p>
            <a:pPr marL="136525">
              <a:lnSpc>
                <a:spcPct val="100000"/>
              </a:lnSpc>
            </a:pPr>
            <a:r>
              <a:rPr sz="2550" spc="-680" dirty="0">
                <a:latin typeface="宋体"/>
                <a:cs typeface="宋体"/>
              </a:rPr>
              <a:t>发送</a:t>
            </a:r>
            <a:endParaRPr sz="2550">
              <a:latin typeface="宋体"/>
              <a:cs typeface="宋体"/>
            </a:endParaRPr>
          </a:p>
        </p:txBody>
      </p:sp>
      <p:sp>
        <p:nvSpPr>
          <p:cNvPr id="44" name="object 44"/>
          <p:cNvSpPr txBox="1"/>
          <p:nvPr/>
        </p:nvSpPr>
        <p:spPr>
          <a:xfrm>
            <a:off x="4776589" y="3225812"/>
            <a:ext cx="723900" cy="569595"/>
          </a:xfrm>
          <a:prstGeom prst="rect">
            <a:avLst/>
          </a:prstGeom>
          <a:solidFill>
            <a:srgbClr val="FFFFFF"/>
          </a:solidFill>
          <a:ln w="9088">
            <a:solidFill>
              <a:srgbClr val="000000"/>
            </a:solidFill>
          </a:ln>
        </p:spPr>
        <p:txBody>
          <a:bodyPr vert="horz" wrap="square" lIns="0" tIns="0" rIns="0" bIns="0" rtlCol="0">
            <a:spAutoFit/>
          </a:bodyPr>
          <a:lstStyle/>
          <a:p>
            <a:pPr marL="119380">
              <a:lnSpc>
                <a:spcPct val="100000"/>
              </a:lnSpc>
            </a:pPr>
            <a:r>
              <a:rPr sz="2550" spc="-680" dirty="0">
                <a:latin typeface="宋体"/>
                <a:cs typeface="宋体"/>
              </a:rPr>
              <a:t>接收</a:t>
            </a:r>
            <a:endParaRPr sz="2550">
              <a:latin typeface="宋体"/>
              <a:cs typeface="宋体"/>
            </a:endParaRPr>
          </a:p>
        </p:txBody>
      </p:sp>
      <p:sp>
        <p:nvSpPr>
          <p:cNvPr id="45" name="object 45"/>
          <p:cNvSpPr txBox="1"/>
          <p:nvPr/>
        </p:nvSpPr>
        <p:spPr>
          <a:xfrm>
            <a:off x="6628297" y="3225812"/>
            <a:ext cx="757555" cy="575310"/>
          </a:xfrm>
          <a:prstGeom prst="rect">
            <a:avLst/>
          </a:prstGeom>
          <a:solidFill>
            <a:srgbClr val="FFFFFF"/>
          </a:solidFill>
          <a:ln w="9122">
            <a:solidFill>
              <a:srgbClr val="000000"/>
            </a:solidFill>
          </a:ln>
        </p:spPr>
        <p:txBody>
          <a:bodyPr vert="horz" wrap="square" lIns="0" tIns="0" rIns="0" bIns="0" rtlCol="0">
            <a:spAutoFit/>
          </a:bodyPr>
          <a:lstStyle/>
          <a:p>
            <a:pPr marL="136525">
              <a:lnSpc>
                <a:spcPct val="100000"/>
              </a:lnSpc>
            </a:pPr>
            <a:r>
              <a:rPr sz="2550" spc="-680" dirty="0">
                <a:latin typeface="宋体"/>
                <a:cs typeface="宋体"/>
              </a:rPr>
              <a:t>发送</a:t>
            </a:r>
            <a:endParaRPr sz="2550">
              <a:latin typeface="宋体"/>
              <a:cs typeface="宋体"/>
            </a:endParaRPr>
          </a:p>
        </p:txBody>
      </p:sp>
      <p:sp>
        <p:nvSpPr>
          <p:cNvPr id="46" name="object 46"/>
          <p:cNvSpPr txBox="1"/>
          <p:nvPr/>
        </p:nvSpPr>
        <p:spPr>
          <a:xfrm>
            <a:off x="6628297" y="2311416"/>
            <a:ext cx="723900" cy="569595"/>
          </a:xfrm>
          <a:prstGeom prst="rect">
            <a:avLst/>
          </a:prstGeom>
          <a:solidFill>
            <a:srgbClr val="FFFFFF"/>
          </a:solidFill>
          <a:ln w="9088">
            <a:solidFill>
              <a:srgbClr val="000000"/>
            </a:solidFill>
          </a:ln>
        </p:spPr>
        <p:txBody>
          <a:bodyPr vert="horz" wrap="square" lIns="0" tIns="0" rIns="0" bIns="0" rtlCol="0">
            <a:spAutoFit/>
          </a:bodyPr>
          <a:lstStyle/>
          <a:p>
            <a:pPr marL="119380">
              <a:lnSpc>
                <a:spcPct val="100000"/>
              </a:lnSpc>
            </a:pPr>
            <a:r>
              <a:rPr sz="2550" spc="-680" dirty="0">
                <a:latin typeface="宋体"/>
                <a:cs typeface="宋体"/>
              </a:rPr>
              <a:t>接收</a:t>
            </a:r>
            <a:endParaRPr sz="2550">
              <a:latin typeface="宋体"/>
              <a:cs typeface="宋体"/>
            </a:endParaRPr>
          </a:p>
        </p:txBody>
      </p:sp>
      <p:sp>
        <p:nvSpPr>
          <p:cNvPr id="47" name="object 47"/>
          <p:cNvSpPr/>
          <p:nvPr/>
        </p:nvSpPr>
        <p:spPr>
          <a:xfrm>
            <a:off x="5533882" y="2880771"/>
            <a:ext cx="116839" cy="184150"/>
          </a:xfrm>
          <a:custGeom>
            <a:avLst/>
            <a:gdLst/>
            <a:ahLst/>
            <a:cxnLst/>
            <a:rect l="l" t="t" r="r" b="b"/>
            <a:pathLst>
              <a:path w="116839" h="184150">
                <a:moveTo>
                  <a:pt x="0" y="0"/>
                </a:moveTo>
                <a:lnTo>
                  <a:pt x="116713" y="184035"/>
                </a:lnTo>
              </a:path>
            </a:pathLst>
          </a:custGeom>
          <a:ln w="23626">
            <a:solidFill>
              <a:srgbClr val="000000"/>
            </a:solidFill>
          </a:ln>
        </p:spPr>
        <p:txBody>
          <a:bodyPr wrap="square" lIns="0" tIns="0" rIns="0" bIns="0" rtlCol="0"/>
          <a:lstStyle/>
          <a:p>
            <a:endParaRPr/>
          </a:p>
        </p:txBody>
      </p:sp>
      <p:sp>
        <p:nvSpPr>
          <p:cNvPr id="48" name="object 48"/>
          <p:cNvSpPr/>
          <p:nvPr/>
        </p:nvSpPr>
        <p:spPr>
          <a:xfrm>
            <a:off x="6492281" y="2930031"/>
            <a:ext cx="99695" cy="135255"/>
          </a:xfrm>
          <a:custGeom>
            <a:avLst/>
            <a:gdLst/>
            <a:ahLst/>
            <a:cxnLst/>
            <a:rect l="l" t="t" r="r" b="b"/>
            <a:pathLst>
              <a:path w="99695" h="135255">
                <a:moveTo>
                  <a:pt x="0" y="134775"/>
                </a:moveTo>
                <a:lnTo>
                  <a:pt x="99655" y="0"/>
                </a:lnTo>
              </a:path>
            </a:pathLst>
          </a:custGeom>
          <a:ln w="24148">
            <a:solidFill>
              <a:srgbClr val="000000"/>
            </a:solidFill>
          </a:ln>
        </p:spPr>
        <p:txBody>
          <a:bodyPr wrap="square" lIns="0" tIns="0" rIns="0" bIns="0" rtlCol="0"/>
          <a:lstStyle/>
          <a:p>
            <a:endParaRPr/>
          </a:p>
        </p:txBody>
      </p:sp>
      <p:sp>
        <p:nvSpPr>
          <p:cNvPr id="49" name="object 49"/>
          <p:cNvSpPr/>
          <p:nvPr/>
        </p:nvSpPr>
        <p:spPr>
          <a:xfrm>
            <a:off x="6537620" y="2880035"/>
            <a:ext cx="90805" cy="125095"/>
          </a:xfrm>
          <a:custGeom>
            <a:avLst/>
            <a:gdLst/>
            <a:ahLst/>
            <a:cxnLst/>
            <a:rect l="l" t="t" r="r" b="b"/>
            <a:pathLst>
              <a:path w="90804" h="125094">
                <a:moveTo>
                  <a:pt x="0" y="0"/>
                </a:moveTo>
                <a:lnTo>
                  <a:pt x="90228" y="124653"/>
                </a:lnTo>
                <a:lnTo>
                  <a:pt x="90677" y="736"/>
                </a:lnTo>
                <a:lnTo>
                  <a:pt x="0" y="0"/>
                </a:lnTo>
                <a:close/>
              </a:path>
            </a:pathLst>
          </a:custGeom>
          <a:solidFill>
            <a:srgbClr val="000000"/>
          </a:solidFill>
        </p:spPr>
        <p:txBody>
          <a:bodyPr wrap="square" lIns="0" tIns="0" rIns="0" bIns="0" rtlCol="0"/>
          <a:lstStyle/>
          <a:p>
            <a:endParaRPr/>
          </a:p>
        </p:txBody>
      </p:sp>
      <p:sp>
        <p:nvSpPr>
          <p:cNvPr id="50" name="object 50"/>
          <p:cNvSpPr/>
          <p:nvPr/>
        </p:nvSpPr>
        <p:spPr>
          <a:xfrm>
            <a:off x="6492281" y="3064806"/>
            <a:ext cx="136525" cy="161290"/>
          </a:xfrm>
          <a:custGeom>
            <a:avLst/>
            <a:gdLst/>
            <a:ahLst/>
            <a:cxnLst/>
            <a:rect l="l" t="t" r="r" b="b"/>
            <a:pathLst>
              <a:path w="136525" h="161289">
                <a:moveTo>
                  <a:pt x="136016" y="161030"/>
                </a:moveTo>
                <a:lnTo>
                  <a:pt x="0" y="0"/>
                </a:lnTo>
              </a:path>
            </a:pathLst>
          </a:custGeom>
          <a:ln w="24641">
            <a:solidFill>
              <a:srgbClr val="000000"/>
            </a:solidFill>
            <a:prstDash val="dash"/>
          </a:ln>
        </p:spPr>
        <p:txBody>
          <a:bodyPr wrap="square" lIns="0" tIns="0" rIns="0" bIns="0" rtlCol="0"/>
          <a:lstStyle/>
          <a:p>
            <a:endParaRPr/>
          </a:p>
        </p:txBody>
      </p:sp>
      <p:sp>
        <p:nvSpPr>
          <p:cNvPr id="51" name="object 51"/>
          <p:cNvSpPr/>
          <p:nvPr/>
        </p:nvSpPr>
        <p:spPr>
          <a:xfrm>
            <a:off x="5540615" y="3064806"/>
            <a:ext cx="110489" cy="118110"/>
          </a:xfrm>
          <a:custGeom>
            <a:avLst/>
            <a:gdLst/>
            <a:ahLst/>
            <a:cxnLst/>
            <a:rect l="l" t="t" r="r" b="b"/>
            <a:pathLst>
              <a:path w="110489" h="118110">
                <a:moveTo>
                  <a:pt x="0" y="117659"/>
                </a:moveTo>
                <a:lnTo>
                  <a:pt x="109980" y="0"/>
                </a:lnTo>
              </a:path>
            </a:pathLst>
          </a:custGeom>
          <a:ln w="25033">
            <a:solidFill>
              <a:srgbClr val="000000"/>
            </a:solidFill>
            <a:prstDash val="dash"/>
          </a:ln>
        </p:spPr>
        <p:txBody>
          <a:bodyPr wrap="square" lIns="0" tIns="0" rIns="0" bIns="0" rtlCol="0"/>
          <a:lstStyle/>
          <a:p>
            <a:endParaRPr/>
          </a:p>
        </p:txBody>
      </p:sp>
      <p:sp>
        <p:nvSpPr>
          <p:cNvPr id="52" name="object 52"/>
          <p:cNvSpPr/>
          <p:nvPr/>
        </p:nvSpPr>
        <p:spPr>
          <a:xfrm>
            <a:off x="5500215" y="3102717"/>
            <a:ext cx="90805" cy="138430"/>
          </a:xfrm>
          <a:custGeom>
            <a:avLst/>
            <a:gdLst/>
            <a:ahLst/>
            <a:cxnLst/>
            <a:rect l="l" t="t" r="r" b="b"/>
            <a:pathLst>
              <a:path w="90804" h="138430">
                <a:moveTo>
                  <a:pt x="11222" y="0"/>
                </a:moveTo>
                <a:lnTo>
                  <a:pt x="0" y="123119"/>
                </a:lnTo>
                <a:lnTo>
                  <a:pt x="90228" y="137842"/>
                </a:lnTo>
                <a:lnTo>
                  <a:pt x="11222" y="0"/>
                </a:lnTo>
                <a:close/>
              </a:path>
            </a:pathLst>
          </a:custGeom>
          <a:solidFill>
            <a:srgbClr val="000000"/>
          </a:solidFill>
        </p:spPr>
        <p:txBody>
          <a:bodyPr wrap="square" lIns="0" tIns="0" rIns="0" bIns="0" rtlCol="0"/>
          <a:lstStyle/>
          <a:p>
            <a:endParaRPr/>
          </a:p>
        </p:txBody>
      </p:sp>
      <p:sp>
        <p:nvSpPr>
          <p:cNvPr id="53" name="object 53"/>
          <p:cNvSpPr txBox="1"/>
          <p:nvPr/>
        </p:nvSpPr>
        <p:spPr>
          <a:xfrm>
            <a:off x="8555869" y="2288362"/>
            <a:ext cx="715645" cy="575310"/>
          </a:xfrm>
          <a:prstGeom prst="rect">
            <a:avLst/>
          </a:prstGeom>
          <a:solidFill>
            <a:srgbClr val="FFFFFF"/>
          </a:solidFill>
          <a:ln w="9066">
            <a:solidFill>
              <a:srgbClr val="000000"/>
            </a:solidFill>
          </a:ln>
        </p:spPr>
        <p:txBody>
          <a:bodyPr vert="horz" wrap="square" lIns="0" tIns="0" rIns="0" bIns="0" rtlCol="0">
            <a:spAutoFit/>
          </a:bodyPr>
          <a:lstStyle/>
          <a:p>
            <a:pPr marL="114935">
              <a:lnSpc>
                <a:spcPct val="100000"/>
              </a:lnSpc>
            </a:pPr>
            <a:r>
              <a:rPr sz="2550" spc="-680" dirty="0">
                <a:latin typeface="宋体"/>
                <a:cs typeface="宋体"/>
              </a:rPr>
              <a:t>发送</a:t>
            </a:r>
            <a:endParaRPr sz="2550">
              <a:latin typeface="宋体"/>
              <a:cs typeface="宋体"/>
            </a:endParaRPr>
          </a:p>
        </p:txBody>
      </p:sp>
      <p:sp>
        <p:nvSpPr>
          <p:cNvPr id="54" name="object 54"/>
          <p:cNvSpPr txBox="1"/>
          <p:nvPr/>
        </p:nvSpPr>
        <p:spPr>
          <a:xfrm>
            <a:off x="8555870" y="3208562"/>
            <a:ext cx="715645" cy="569595"/>
          </a:xfrm>
          <a:prstGeom prst="rect">
            <a:avLst/>
          </a:prstGeom>
          <a:solidFill>
            <a:srgbClr val="FFFFFF"/>
          </a:solidFill>
          <a:ln w="9076">
            <a:solidFill>
              <a:srgbClr val="000000"/>
            </a:solidFill>
          </a:ln>
        </p:spPr>
        <p:txBody>
          <a:bodyPr vert="horz" wrap="square" lIns="0" tIns="0" rIns="0" bIns="0" rtlCol="0">
            <a:spAutoFit/>
          </a:bodyPr>
          <a:lstStyle/>
          <a:p>
            <a:pPr marL="114935">
              <a:lnSpc>
                <a:spcPct val="100000"/>
              </a:lnSpc>
            </a:pPr>
            <a:r>
              <a:rPr sz="2550" spc="-680" dirty="0">
                <a:latin typeface="宋体"/>
                <a:cs typeface="宋体"/>
              </a:rPr>
              <a:t>接收</a:t>
            </a:r>
            <a:endParaRPr sz="2550">
              <a:latin typeface="宋体"/>
              <a:cs typeface="宋体"/>
            </a:endParaRPr>
          </a:p>
        </p:txBody>
      </p:sp>
      <p:sp>
        <p:nvSpPr>
          <p:cNvPr id="55" name="object 55"/>
          <p:cNvSpPr txBox="1"/>
          <p:nvPr/>
        </p:nvSpPr>
        <p:spPr>
          <a:xfrm>
            <a:off x="10425084" y="3202808"/>
            <a:ext cx="715010" cy="575310"/>
          </a:xfrm>
          <a:prstGeom prst="rect">
            <a:avLst/>
          </a:prstGeom>
          <a:solidFill>
            <a:srgbClr val="FFFFFF"/>
          </a:solidFill>
          <a:ln w="9065">
            <a:solidFill>
              <a:srgbClr val="000000"/>
            </a:solidFill>
          </a:ln>
        </p:spPr>
        <p:txBody>
          <a:bodyPr vert="horz" wrap="square" lIns="0" tIns="0" rIns="0" bIns="0" rtlCol="0">
            <a:spAutoFit/>
          </a:bodyPr>
          <a:lstStyle/>
          <a:p>
            <a:pPr marL="114935">
              <a:lnSpc>
                <a:spcPct val="100000"/>
              </a:lnSpc>
            </a:pPr>
            <a:r>
              <a:rPr sz="2550" spc="-680" dirty="0">
                <a:latin typeface="宋体"/>
                <a:cs typeface="宋体"/>
              </a:rPr>
              <a:t>发送</a:t>
            </a:r>
            <a:endParaRPr sz="2550">
              <a:latin typeface="宋体"/>
              <a:cs typeface="宋体"/>
            </a:endParaRPr>
          </a:p>
        </p:txBody>
      </p:sp>
      <p:sp>
        <p:nvSpPr>
          <p:cNvPr id="56" name="object 56"/>
          <p:cNvSpPr txBox="1"/>
          <p:nvPr/>
        </p:nvSpPr>
        <p:spPr>
          <a:xfrm>
            <a:off x="10425084" y="2273995"/>
            <a:ext cx="723900" cy="569595"/>
          </a:xfrm>
          <a:prstGeom prst="rect">
            <a:avLst/>
          </a:prstGeom>
          <a:solidFill>
            <a:srgbClr val="FFFFFF"/>
          </a:solidFill>
          <a:ln w="9088">
            <a:solidFill>
              <a:srgbClr val="000000"/>
            </a:solidFill>
          </a:ln>
        </p:spPr>
        <p:txBody>
          <a:bodyPr vert="horz" wrap="square" lIns="0" tIns="0" rIns="0" bIns="0" rtlCol="0">
            <a:spAutoFit/>
          </a:bodyPr>
          <a:lstStyle/>
          <a:p>
            <a:pPr marL="119380">
              <a:lnSpc>
                <a:spcPct val="100000"/>
              </a:lnSpc>
            </a:pPr>
            <a:r>
              <a:rPr sz="2550" spc="-680" dirty="0">
                <a:latin typeface="宋体"/>
                <a:cs typeface="宋体"/>
              </a:rPr>
              <a:t>接收</a:t>
            </a:r>
            <a:endParaRPr sz="2550">
              <a:latin typeface="宋体"/>
              <a:cs typeface="宋体"/>
            </a:endParaRPr>
          </a:p>
        </p:txBody>
      </p:sp>
      <p:sp>
        <p:nvSpPr>
          <p:cNvPr id="57" name="object 57"/>
          <p:cNvSpPr/>
          <p:nvPr/>
        </p:nvSpPr>
        <p:spPr>
          <a:xfrm>
            <a:off x="9270965" y="2863472"/>
            <a:ext cx="167005" cy="109855"/>
          </a:xfrm>
          <a:custGeom>
            <a:avLst/>
            <a:gdLst/>
            <a:ahLst/>
            <a:cxnLst/>
            <a:rect l="l" t="t" r="r" b="b"/>
            <a:pathLst>
              <a:path w="167004" h="109855">
                <a:moveTo>
                  <a:pt x="0" y="0"/>
                </a:moveTo>
                <a:lnTo>
                  <a:pt x="166990" y="109316"/>
                </a:lnTo>
              </a:path>
            </a:pathLst>
          </a:custGeom>
          <a:ln w="26864">
            <a:solidFill>
              <a:srgbClr val="000000"/>
            </a:solidFill>
          </a:ln>
        </p:spPr>
        <p:txBody>
          <a:bodyPr wrap="square" lIns="0" tIns="0" rIns="0" bIns="0" rtlCol="0"/>
          <a:lstStyle/>
          <a:p>
            <a:endParaRPr/>
          </a:p>
        </p:txBody>
      </p:sp>
      <p:sp>
        <p:nvSpPr>
          <p:cNvPr id="58" name="object 58"/>
          <p:cNvSpPr/>
          <p:nvPr/>
        </p:nvSpPr>
        <p:spPr>
          <a:xfrm>
            <a:off x="10279641" y="2881630"/>
            <a:ext cx="102870" cy="91440"/>
          </a:xfrm>
          <a:custGeom>
            <a:avLst/>
            <a:gdLst/>
            <a:ahLst/>
            <a:cxnLst/>
            <a:rect l="l" t="t" r="r" b="b"/>
            <a:pathLst>
              <a:path w="102870" h="91439">
                <a:moveTo>
                  <a:pt x="0" y="91158"/>
                </a:moveTo>
                <a:lnTo>
                  <a:pt x="102348" y="0"/>
                </a:lnTo>
              </a:path>
            </a:pathLst>
          </a:custGeom>
          <a:ln w="25748">
            <a:solidFill>
              <a:srgbClr val="000000"/>
            </a:solidFill>
          </a:ln>
        </p:spPr>
        <p:txBody>
          <a:bodyPr wrap="square" lIns="0" tIns="0" rIns="0" bIns="0" rtlCol="0"/>
          <a:lstStyle/>
          <a:p>
            <a:endParaRPr/>
          </a:p>
        </p:txBody>
      </p:sp>
      <p:sp>
        <p:nvSpPr>
          <p:cNvPr id="59" name="object 59"/>
          <p:cNvSpPr/>
          <p:nvPr/>
        </p:nvSpPr>
        <p:spPr>
          <a:xfrm>
            <a:off x="10336202" y="2817770"/>
            <a:ext cx="88900" cy="147320"/>
          </a:xfrm>
          <a:custGeom>
            <a:avLst/>
            <a:gdLst/>
            <a:ahLst/>
            <a:cxnLst/>
            <a:rect l="l" t="t" r="r" b="b"/>
            <a:pathLst>
              <a:path w="88900" h="147319">
                <a:moveTo>
                  <a:pt x="0" y="0"/>
                </a:moveTo>
                <a:lnTo>
                  <a:pt x="70028" y="146859"/>
                </a:lnTo>
                <a:lnTo>
                  <a:pt x="88881" y="25580"/>
                </a:lnTo>
                <a:lnTo>
                  <a:pt x="0" y="0"/>
                </a:lnTo>
                <a:close/>
              </a:path>
            </a:pathLst>
          </a:custGeom>
          <a:solidFill>
            <a:srgbClr val="000000"/>
          </a:solidFill>
        </p:spPr>
        <p:txBody>
          <a:bodyPr wrap="square" lIns="0" tIns="0" rIns="0" bIns="0" rtlCol="0"/>
          <a:lstStyle/>
          <a:p>
            <a:endParaRPr/>
          </a:p>
        </p:txBody>
      </p:sp>
      <p:sp>
        <p:nvSpPr>
          <p:cNvPr id="60" name="object 60"/>
          <p:cNvSpPr/>
          <p:nvPr/>
        </p:nvSpPr>
        <p:spPr>
          <a:xfrm>
            <a:off x="10279641" y="3133819"/>
            <a:ext cx="146050" cy="92075"/>
          </a:xfrm>
          <a:custGeom>
            <a:avLst/>
            <a:gdLst/>
            <a:ahLst/>
            <a:cxnLst/>
            <a:rect l="l" t="t" r="r" b="b"/>
            <a:pathLst>
              <a:path w="146050" h="92075">
                <a:moveTo>
                  <a:pt x="145443" y="92017"/>
                </a:moveTo>
                <a:lnTo>
                  <a:pt x="0" y="0"/>
                </a:lnTo>
              </a:path>
            </a:pathLst>
          </a:custGeom>
          <a:ln w="26975">
            <a:solidFill>
              <a:srgbClr val="000000"/>
            </a:solidFill>
          </a:ln>
        </p:spPr>
        <p:txBody>
          <a:bodyPr wrap="square" lIns="0" tIns="0" rIns="0" bIns="0" rtlCol="0"/>
          <a:lstStyle/>
          <a:p>
            <a:endParaRPr/>
          </a:p>
        </p:txBody>
      </p:sp>
      <p:sp>
        <p:nvSpPr>
          <p:cNvPr id="61" name="object 61"/>
          <p:cNvSpPr/>
          <p:nvPr/>
        </p:nvSpPr>
        <p:spPr>
          <a:xfrm>
            <a:off x="9318549" y="3133819"/>
            <a:ext cx="120014" cy="66040"/>
          </a:xfrm>
          <a:custGeom>
            <a:avLst/>
            <a:gdLst/>
            <a:ahLst/>
            <a:cxnLst/>
            <a:rect l="l" t="t" r="r" b="b"/>
            <a:pathLst>
              <a:path w="120015" h="66039">
                <a:moveTo>
                  <a:pt x="119407" y="0"/>
                </a:moveTo>
                <a:lnTo>
                  <a:pt x="0" y="65761"/>
                </a:lnTo>
              </a:path>
            </a:pathLst>
          </a:custGeom>
          <a:ln w="27391">
            <a:solidFill>
              <a:srgbClr val="000000"/>
            </a:solidFill>
          </a:ln>
        </p:spPr>
        <p:txBody>
          <a:bodyPr wrap="square" lIns="0" tIns="0" rIns="0" bIns="0" rtlCol="0"/>
          <a:lstStyle/>
          <a:p>
            <a:endParaRPr/>
          </a:p>
        </p:txBody>
      </p:sp>
      <p:sp>
        <p:nvSpPr>
          <p:cNvPr id="62" name="object 62"/>
          <p:cNvSpPr/>
          <p:nvPr/>
        </p:nvSpPr>
        <p:spPr>
          <a:xfrm>
            <a:off x="9270965" y="3111735"/>
            <a:ext cx="83820" cy="162560"/>
          </a:xfrm>
          <a:custGeom>
            <a:avLst/>
            <a:gdLst/>
            <a:ahLst/>
            <a:cxnLst/>
            <a:rect l="l" t="t" r="r" b="b"/>
            <a:pathLst>
              <a:path w="83820" h="162560">
                <a:moveTo>
                  <a:pt x="35463" y="0"/>
                </a:moveTo>
                <a:lnTo>
                  <a:pt x="0" y="114101"/>
                </a:lnTo>
                <a:lnTo>
                  <a:pt x="83495" y="162564"/>
                </a:lnTo>
                <a:lnTo>
                  <a:pt x="35463" y="0"/>
                </a:lnTo>
                <a:close/>
              </a:path>
            </a:pathLst>
          </a:custGeom>
          <a:solidFill>
            <a:srgbClr val="000000"/>
          </a:solidFill>
        </p:spPr>
        <p:txBody>
          <a:bodyPr wrap="square" lIns="0" tIns="0" rIns="0" bIns="0" rtlCol="0"/>
          <a:lstStyle/>
          <a:p>
            <a:endParaRPr/>
          </a:p>
        </p:txBody>
      </p:sp>
      <p:sp>
        <p:nvSpPr>
          <p:cNvPr id="63" name="object 63"/>
          <p:cNvSpPr txBox="1"/>
          <p:nvPr/>
        </p:nvSpPr>
        <p:spPr>
          <a:xfrm>
            <a:off x="1953260" y="4372218"/>
            <a:ext cx="635000" cy="330200"/>
          </a:xfrm>
          <a:prstGeom prst="rect">
            <a:avLst/>
          </a:prstGeom>
        </p:spPr>
        <p:txBody>
          <a:bodyPr vert="horz" wrap="square" lIns="0" tIns="0" rIns="0" bIns="0" rtlCol="0">
            <a:spAutoFit/>
          </a:bodyPr>
          <a:lstStyle/>
          <a:p>
            <a:pPr marL="12700">
              <a:lnSpc>
                <a:spcPct val="100000"/>
              </a:lnSpc>
            </a:pPr>
            <a:r>
              <a:rPr sz="2400" b="1" dirty="0">
                <a:solidFill>
                  <a:srgbClr val="252525"/>
                </a:solidFill>
                <a:latin typeface="微软雅黑"/>
                <a:cs typeface="微软雅黑"/>
              </a:rPr>
              <a:t>单工</a:t>
            </a:r>
            <a:endParaRPr sz="2400">
              <a:latin typeface="微软雅黑"/>
              <a:cs typeface="微软雅黑"/>
            </a:endParaRPr>
          </a:p>
        </p:txBody>
      </p:sp>
      <p:sp>
        <p:nvSpPr>
          <p:cNvPr id="64" name="object 64"/>
          <p:cNvSpPr txBox="1"/>
          <p:nvPr/>
        </p:nvSpPr>
        <p:spPr>
          <a:xfrm>
            <a:off x="5615685" y="4372218"/>
            <a:ext cx="939800" cy="330200"/>
          </a:xfrm>
          <a:prstGeom prst="rect">
            <a:avLst/>
          </a:prstGeom>
        </p:spPr>
        <p:txBody>
          <a:bodyPr vert="horz" wrap="square" lIns="0" tIns="0" rIns="0" bIns="0" rtlCol="0">
            <a:spAutoFit/>
          </a:bodyPr>
          <a:lstStyle/>
          <a:p>
            <a:pPr marL="12700">
              <a:lnSpc>
                <a:spcPct val="100000"/>
              </a:lnSpc>
            </a:pPr>
            <a:r>
              <a:rPr sz="2400" b="1" dirty="0">
                <a:solidFill>
                  <a:srgbClr val="252525"/>
                </a:solidFill>
                <a:latin typeface="微软雅黑"/>
                <a:cs typeface="微软雅黑"/>
              </a:rPr>
              <a:t>半双工</a:t>
            </a:r>
            <a:endParaRPr sz="2400">
              <a:latin typeface="微软雅黑"/>
              <a:cs typeface="微软雅黑"/>
            </a:endParaRPr>
          </a:p>
        </p:txBody>
      </p:sp>
      <p:sp>
        <p:nvSpPr>
          <p:cNvPr id="65" name="object 65"/>
          <p:cNvSpPr txBox="1"/>
          <p:nvPr/>
        </p:nvSpPr>
        <p:spPr>
          <a:xfrm>
            <a:off x="9417177" y="4372218"/>
            <a:ext cx="939800" cy="330200"/>
          </a:xfrm>
          <a:prstGeom prst="rect">
            <a:avLst/>
          </a:prstGeom>
        </p:spPr>
        <p:txBody>
          <a:bodyPr vert="horz" wrap="square" lIns="0" tIns="0" rIns="0" bIns="0" rtlCol="0">
            <a:spAutoFit/>
          </a:bodyPr>
          <a:lstStyle/>
          <a:p>
            <a:pPr marL="12700">
              <a:lnSpc>
                <a:spcPct val="100000"/>
              </a:lnSpc>
            </a:pPr>
            <a:r>
              <a:rPr sz="2400" b="1" dirty="0">
                <a:solidFill>
                  <a:srgbClr val="252525"/>
                </a:solidFill>
                <a:latin typeface="微软雅黑"/>
                <a:cs typeface="微软雅黑"/>
              </a:rPr>
              <a:t>全双工</a:t>
            </a:r>
            <a:endParaRPr sz="2400">
              <a:latin typeface="微软雅黑"/>
              <a:cs typeface="微软雅黑"/>
            </a:endParaRPr>
          </a:p>
        </p:txBody>
      </p:sp>
      <p:sp>
        <p:nvSpPr>
          <p:cNvPr id="66" name="object 66"/>
          <p:cNvSpPr/>
          <p:nvPr/>
        </p:nvSpPr>
        <p:spPr>
          <a:xfrm>
            <a:off x="1523" y="6470903"/>
            <a:ext cx="12190730" cy="45720"/>
          </a:xfrm>
          <a:custGeom>
            <a:avLst/>
            <a:gdLst/>
            <a:ahLst/>
            <a:cxnLst/>
            <a:rect l="l" t="t" r="r" b="b"/>
            <a:pathLst>
              <a:path w="12190730" h="45720">
                <a:moveTo>
                  <a:pt x="0" y="45719"/>
                </a:moveTo>
                <a:lnTo>
                  <a:pt x="12190476" y="45719"/>
                </a:lnTo>
                <a:lnTo>
                  <a:pt x="12190476" y="0"/>
                </a:lnTo>
                <a:lnTo>
                  <a:pt x="0" y="0"/>
                </a:lnTo>
                <a:lnTo>
                  <a:pt x="0" y="45719"/>
                </a:lnTo>
              </a:path>
            </a:pathLst>
          </a:custGeom>
          <a:solidFill>
            <a:srgbClr val="FFE699"/>
          </a:solidFill>
        </p:spPr>
        <p:txBody>
          <a:bodyPr wrap="square" lIns="0" tIns="0" rIns="0" bIns="0" rtlCol="0"/>
          <a:lstStyle/>
          <a:p>
            <a:endParaRPr/>
          </a:p>
        </p:txBody>
      </p:sp>
      <p:sp>
        <p:nvSpPr>
          <p:cNvPr id="67" name="object 67"/>
          <p:cNvSpPr/>
          <p:nvPr/>
        </p:nvSpPr>
        <p:spPr>
          <a:xfrm>
            <a:off x="1523" y="6516623"/>
            <a:ext cx="12190730" cy="341630"/>
          </a:xfrm>
          <a:custGeom>
            <a:avLst/>
            <a:gdLst/>
            <a:ahLst/>
            <a:cxnLst/>
            <a:rect l="l" t="t" r="r" b="b"/>
            <a:pathLst>
              <a:path w="12190730" h="341629">
                <a:moveTo>
                  <a:pt x="0" y="341376"/>
                </a:moveTo>
                <a:lnTo>
                  <a:pt x="12190476" y="341376"/>
                </a:lnTo>
                <a:lnTo>
                  <a:pt x="12190476" y="0"/>
                </a:lnTo>
                <a:lnTo>
                  <a:pt x="0" y="0"/>
                </a:lnTo>
                <a:lnTo>
                  <a:pt x="0" y="341376"/>
                </a:lnTo>
              </a:path>
            </a:pathLst>
          </a:custGeom>
          <a:solidFill>
            <a:srgbClr val="E34A46"/>
          </a:solidFill>
        </p:spPr>
        <p:txBody>
          <a:bodyPr wrap="square" lIns="0" tIns="0" rIns="0" bIns="0" rtlCol="0"/>
          <a:lstStyle/>
          <a:p>
            <a:endParaRPr/>
          </a:p>
        </p:txBody>
      </p:sp>
      <p:sp>
        <p:nvSpPr>
          <p:cNvPr id="68" name="object 68"/>
          <p:cNvSpPr txBox="1">
            <a:spLocks noGrp="1"/>
          </p:cNvSpPr>
          <p:nvPr>
            <p:ph type="title"/>
          </p:nvPr>
        </p:nvSpPr>
        <p:spPr>
          <a:prstGeom prst="rect">
            <a:avLst/>
          </a:prstGeom>
        </p:spPr>
        <p:txBody>
          <a:bodyPr vert="horz" wrap="square" lIns="0" tIns="0" rIns="0" bIns="0" rtlCol="0">
            <a:spAutoFit/>
          </a:bodyPr>
          <a:lstStyle/>
          <a:p>
            <a:pPr marL="924560">
              <a:lnSpc>
                <a:spcPct val="100000"/>
              </a:lnSpc>
            </a:pPr>
            <a:r>
              <a:rPr spc="-10" dirty="0"/>
              <a:t>串口通信的数据传输方向</a:t>
            </a:r>
          </a:p>
        </p:txBody>
      </p:sp>
      <p:sp>
        <p:nvSpPr>
          <p:cNvPr id="69" name="object 69"/>
          <p:cNvSpPr/>
          <p:nvPr/>
        </p:nvSpPr>
        <p:spPr>
          <a:xfrm>
            <a:off x="4229861" y="4918709"/>
            <a:ext cx="3736975" cy="1408430"/>
          </a:xfrm>
          <a:custGeom>
            <a:avLst/>
            <a:gdLst/>
            <a:ahLst/>
            <a:cxnLst/>
            <a:rect l="l" t="t" r="r" b="b"/>
            <a:pathLst>
              <a:path w="3736975" h="1408429">
                <a:moveTo>
                  <a:pt x="3502152" y="0"/>
                </a:moveTo>
                <a:lnTo>
                  <a:pt x="234696" y="0"/>
                </a:lnTo>
                <a:lnTo>
                  <a:pt x="215440" y="777"/>
                </a:lnTo>
                <a:lnTo>
                  <a:pt x="160495" y="11960"/>
                </a:lnTo>
                <a:lnTo>
                  <a:pt x="111046" y="35151"/>
                </a:lnTo>
                <a:lnTo>
                  <a:pt x="68722" y="68722"/>
                </a:lnTo>
                <a:lnTo>
                  <a:pt x="35151" y="111046"/>
                </a:lnTo>
                <a:lnTo>
                  <a:pt x="11960" y="160495"/>
                </a:lnTo>
                <a:lnTo>
                  <a:pt x="777" y="215440"/>
                </a:lnTo>
                <a:lnTo>
                  <a:pt x="0" y="234695"/>
                </a:lnTo>
                <a:lnTo>
                  <a:pt x="0" y="1173480"/>
                </a:lnTo>
                <a:lnTo>
                  <a:pt x="3070" y="1211548"/>
                </a:lnTo>
                <a:lnTo>
                  <a:pt x="18436" y="1264833"/>
                </a:lnTo>
                <a:lnTo>
                  <a:pt x="45268" y="1312087"/>
                </a:lnTo>
                <a:lnTo>
                  <a:pt x="81938" y="1351679"/>
                </a:lnTo>
                <a:lnTo>
                  <a:pt x="126818" y="1381979"/>
                </a:lnTo>
                <a:lnTo>
                  <a:pt x="178280" y="1401354"/>
                </a:lnTo>
                <a:lnTo>
                  <a:pt x="234696" y="1408176"/>
                </a:lnTo>
                <a:lnTo>
                  <a:pt x="3502152" y="1408176"/>
                </a:lnTo>
                <a:lnTo>
                  <a:pt x="3540232" y="1405104"/>
                </a:lnTo>
                <a:lnTo>
                  <a:pt x="3593526" y="1389732"/>
                </a:lnTo>
                <a:lnTo>
                  <a:pt x="3640781" y="1362892"/>
                </a:lnTo>
                <a:lnTo>
                  <a:pt x="3680368" y="1326216"/>
                </a:lnTo>
                <a:lnTo>
                  <a:pt x="3710660" y="1281335"/>
                </a:lnTo>
                <a:lnTo>
                  <a:pt x="3730029" y="1229879"/>
                </a:lnTo>
                <a:lnTo>
                  <a:pt x="3736847" y="1173480"/>
                </a:lnTo>
                <a:lnTo>
                  <a:pt x="3736847" y="234695"/>
                </a:lnTo>
                <a:lnTo>
                  <a:pt x="3733777" y="196615"/>
                </a:lnTo>
                <a:lnTo>
                  <a:pt x="3718411" y="143321"/>
                </a:lnTo>
                <a:lnTo>
                  <a:pt x="3691579" y="96066"/>
                </a:lnTo>
                <a:lnTo>
                  <a:pt x="3654909" y="56479"/>
                </a:lnTo>
                <a:lnTo>
                  <a:pt x="3610029" y="26187"/>
                </a:lnTo>
                <a:lnTo>
                  <a:pt x="3558567" y="6818"/>
                </a:lnTo>
                <a:lnTo>
                  <a:pt x="3502152" y="0"/>
                </a:lnTo>
                <a:close/>
              </a:path>
            </a:pathLst>
          </a:custGeom>
          <a:solidFill>
            <a:srgbClr val="FFFFC7"/>
          </a:solidFill>
        </p:spPr>
        <p:txBody>
          <a:bodyPr wrap="square" lIns="0" tIns="0" rIns="0" bIns="0" rtlCol="0"/>
          <a:lstStyle/>
          <a:p>
            <a:endParaRPr/>
          </a:p>
        </p:txBody>
      </p:sp>
      <p:sp>
        <p:nvSpPr>
          <p:cNvPr id="70" name="object 70"/>
          <p:cNvSpPr/>
          <p:nvPr/>
        </p:nvSpPr>
        <p:spPr>
          <a:xfrm>
            <a:off x="4229861" y="4918709"/>
            <a:ext cx="3736975" cy="1408430"/>
          </a:xfrm>
          <a:custGeom>
            <a:avLst/>
            <a:gdLst/>
            <a:ahLst/>
            <a:cxnLst/>
            <a:rect l="l" t="t" r="r" b="b"/>
            <a:pathLst>
              <a:path w="3736975" h="1408429">
                <a:moveTo>
                  <a:pt x="0" y="234695"/>
                </a:moveTo>
                <a:lnTo>
                  <a:pt x="3070" y="196615"/>
                </a:lnTo>
                <a:lnTo>
                  <a:pt x="18436" y="143321"/>
                </a:lnTo>
                <a:lnTo>
                  <a:pt x="45268" y="96066"/>
                </a:lnTo>
                <a:lnTo>
                  <a:pt x="81938" y="56479"/>
                </a:lnTo>
                <a:lnTo>
                  <a:pt x="126818" y="26187"/>
                </a:lnTo>
                <a:lnTo>
                  <a:pt x="178280" y="6818"/>
                </a:lnTo>
                <a:lnTo>
                  <a:pt x="234696" y="0"/>
                </a:lnTo>
                <a:lnTo>
                  <a:pt x="622808" y="0"/>
                </a:lnTo>
                <a:lnTo>
                  <a:pt x="1557020" y="0"/>
                </a:lnTo>
                <a:lnTo>
                  <a:pt x="3502152" y="0"/>
                </a:lnTo>
                <a:lnTo>
                  <a:pt x="3521407" y="777"/>
                </a:lnTo>
                <a:lnTo>
                  <a:pt x="3576352" y="11960"/>
                </a:lnTo>
                <a:lnTo>
                  <a:pt x="3625801" y="35151"/>
                </a:lnTo>
                <a:lnTo>
                  <a:pt x="3668125" y="68722"/>
                </a:lnTo>
                <a:lnTo>
                  <a:pt x="3701696" y="111046"/>
                </a:lnTo>
                <a:lnTo>
                  <a:pt x="3724887" y="160495"/>
                </a:lnTo>
                <a:lnTo>
                  <a:pt x="3736070" y="215440"/>
                </a:lnTo>
                <a:lnTo>
                  <a:pt x="3736847" y="234695"/>
                </a:lnTo>
                <a:lnTo>
                  <a:pt x="3736847" y="821435"/>
                </a:lnTo>
                <a:lnTo>
                  <a:pt x="3736847" y="1173480"/>
                </a:lnTo>
                <a:lnTo>
                  <a:pt x="3736070" y="1192728"/>
                </a:lnTo>
                <a:lnTo>
                  <a:pt x="3733777" y="1211548"/>
                </a:lnTo>
                <a:lnTo>
                  <a:pt x="3718411" y="1264833"/>
                </a:lnTo>
                <a:lnTo>
                  <a:pt x="3691579" y="1312087"/>
                </a:lnTo>
                <a:lnTo>
                  <a:pt x="3654909" y="1351679"/>
                </a:lnTo>
                <a:lnTo>
                  <a:pt x="3610029" y="1381979"/>
                </a:lnTo>
                <a:lnTo>
                  <a:pt x="3558567" y="1401354"/>
                </a:lnTo>
                <a:lnTo>
                  <a:pt x="3502152" y="1408176"/>
                </a:lnTo>
                <a:lnTo>
                  <a:pt x="1557020" y="1408176"/>
                </a:lnTo>
                <a:lnTo>
                  <a:pt x="1342771" y="1408176"/>
                </a:lnTo>
                <a:lnTo>
                  <a:pt x="622808" y="1408176"/>
                </a:lnTo>
                <a:lnTo>
                  <a:pt x="234696" y="1408176"/>
                </a:lnTo>
                <a:lnTo>
                  <a:pt x="215440" y="1407397"/>
                </a:lnTo>
                <a:lnTo>
                  <a:pt x="160495" y="1396210"/>
                </a:lnTo>
                <a:lnTo>
                  <a:pt x="111046" y="1373012"/>
                </a:lnTo>
                <a:lnTo>
                  <a:pt x="68722" y="1339434"/>
                </a:lnTo>
                <a:lnTo>
                  <a:pt x="35151" y="1297106"/>
                </a:lnTo>
                <a:lnTo>
                  <a:pt x="11960" y="1247661"/>
                </a:lnTo>
                <a:lnTo>
                  <a:pt x="777" y="1192728"/>
                </a:lnTo>
                <a:lnTo>
                  <a:pt x="0" y="1173480"/>
                </a:lnTo>
                <a:lnTo>
                  <a:pt x="0" y="821435"/>
                </a:lnTo>
                <a:lnTo>
                  <a:pt x="0" y="234695"/>
                </a:lnTo>
                <a:close/>
              </a:path>
            </a:pathLst>
          </a:custGeom>
          <a:ln w="28956">
            <a:solidFill>
              <a:srgbClr val="000000"/>
            </a:solidFill>
          </a:ln>
        </p:spPr>
        <p:txBody>
          <a:bodyPr wrap="square" lIns="0" tIns="0" rIns="0" bIns="0" rtlCol="0"/>
          <a:lstStyle/>
          <a:p>
            <a:endParaRPr/>
          </a:p>
        </p:txBody>
      </p:sp>
      <p:sp>
        <p:nvSpPr>
          <p:cNvPr id="71" name="object 71"/>
          <p:cNvSpPr txBox="1"/>
          <p:nvPr/>
        </p:nvSpPr>
        <p:spPr>
          <a:xfrm>
            <a:off x="4377309" y="5113972"/>
            <a:ext cx="3395345" cy="330200"/>
          </a:xfrm>
          <a:prstGeom prst="rect">
            <a:avLst/>
          </a:prstGeom>
        </p:spPr>
        <p:txBody>
          <a:bodyPr vert="horz" wrap="square" lIns="0" tIns="0" rIns="0" bIns="0" rtlCol="0">
            <a:spAutoFit/>
          </a:bodyPr>
          <a:lstStyle/>
          <a:p>
            <a:pPr marL="12700">
              <a:lnSpc>
                <a:spcPts val="2835"/>
              </a:lnSpc>
            </a:pPr>
            <a:r>
              <a:rPr sz="2400" b="1" spc="10" dirty="0">
                <a:latin typeface="Microsoft JhengHei"/>
                <a:cs typeface="Microsoft JhengHei"/>
              </a:rPr>
              <a:t>特点：数据传输可以沿两</a:t>
            </a:r>
            <a:endParaRPr sz="2400">
              <a:latin typeface="Microsoft JhengHei"/>
              <a:cs typeface="Microsoft JhengHei"/>
            </a:endParaRPr>
          </a:p>
        </p:txBody>
      </p:sp>
      <p:sp>
        <p:nvSpPr>
          <p:cNvPr id="72" name="object 72"/>
          <p:cNvSpPr txBox="1"/>
          <p:nvPr/>
        </p:nvSpPr>
        <p:spPr>
          <a:xfrm>
            <a:off x="4377309" y="5479681"/>
            <a:ext cx="3701415" cy="330200"/>
          </a:xfrm>
          <a:prstGeom prst="rect">
            <a:avLst/>
          </a:prstGeom>
        </p:spPr>
        <p:txBody>
          <a:bodyPr vert="horz" wrap="square" lIns="0" tIns="0" rIns="0" bIns="0" rtlCol="0">
            <a:spAutoFit/>
          </a:bodyPr>
          <a:lstStyle/>
          <a:p>
            <a:pPr marL="12700">
              <a:lnSpc>
                <a:spcPts val="2835"/>
              </a:lnSpc>
            </a:pPr>
            <a:r>
              <a:rPr sz="2400" b="1" spc="10" dirty="0">
                <a:latin typeface="Microsoft JhengHei"/>
                <a:cs typeface="Microsoft JhengHei"/>
              </a:rPr>
              <a:t>个方向，但需要分时进行，</a:t>
            </a:r>
            <a:endParaRPr sz="2400">
              <a:latin typeface="Microsoft JhengHei"/>
              <a:cs typeface="Microsoft JhengHei"/>
            </a:endParaRPr>
          </a:p>
        </p:txBody>
      </p:sp>
      <p:sp>
        <p:nvSpPr>
          <p:cNvPr id="73" name="object 73"/>
          <p:cNvSpPr txBox="1"/>
          <p:nvPr/>
        </p:nvSpPr>
        <p:spPr>
          <a:xfrm>
            <a:off x="4377309" y="5824105"/>
            <a:ext cx="3088640" cy="330200"/>
          </a:xfrm>
          <a:prstGeom prst="rect">
            <a:avLst/>
          </a:prstGeom>
        </p:spPr>
        <p:txBody>
          <a:bodyPr vert="horz" wrap="square" lIns="0" tIns="0" rIns="0" bIns="0" rtlCol="0">
            <a:spAutoFit/>
          </a:bodyPr>
          <a:lstStyle/>
          <a:p>
            <a:pPr marL="12700">
              <a:lnSpc>
                <a:spcPts val="2840"/>
              </a:lnSpc>
            </a:pPr>
            <a:r>
              <a:rPr sz="2400" b="1" spc="10" dirty="0">
                <a:latin typeface="Microsoft JhengHei"/>
                <a:cs typeface="Microsoft JhengHei"/>
              </a:rPr>
              <a:t>也只有一条通信线路。</a:t>
            </a:r>
            <a:endParaRPr sz="2400">
              <a:latin typeface="Microsoft JhengHei"/>
              <a:cs typeface="Microsoft JhengHei"/>
            </a:endParaRPr>
          </a:p>
        </p:txBody>
      </p:sp>
      <p:sp>
        <p:nvSpPr>
          <p:cNvPr id="74" name="object 74"/>
          <p:cNvSpPr/>
          <p:nvPr/>
        </p:nvSpPr>
        <p:spPr>
          <a:xfrm>
            <a:off x="156210" y="4918709"/>
            <a:ext cx="3736975" cy="1408430"/>
          </a:xfrm>
          <a:custGeom>
            <a:avLst/>
            <a:gdLst/>
            <a:ahLst/>
            <a:cxnLst/>
            <a:rect l="l" t="t" r="r" b="b"/>
            <a:pathLst>
              <a:path w="3736975" h="1408429">
                <a:moveTo>
                  <a:pt x="3502152" y="0"/>
                </a:moveTo>
                <a:lnTo>
                  <a:pt x="234696" y="0"/>
                </a:lnTo>
                <a:lnTo>
                  <a:pt x="215447" y="777"/>
                </a:lnTo>
                <a:lnTo>
                  <a:pt x="160514" y="11960"/>
                </a:lnTo>
                <a:lnTo>
                  <a:pt x="111069" y="35151"/>
                </a:lnTo>
                <a:lnTo>
                  <a:pt x="68741" y="68722"/>
                </a:lnTo>
                <a:lnTo>
                  <a:pt x="35163" y="111046"/>
                </a:lnTo>
                <a:lnTo>
                  <a:pt x="11965" y="160495"/>
                </a:lnTo>
                <a:lnTo>
                  <a:pt x="778" y="215440"/>
                </a:lnTo>
                <a:lnTo>
                  <a:pt x="0" y="234695"/>
                </a:lnTo>
                <a:lnTo>
                  <a:pt x="0" y="1173480"/>
                </a:lnTo>
                <a:lnTo>
                  <a:pt x="3071" y="1211548"/>
                </a:lnTo>
                <a:lnTo>
                  <a:pt x="18443" y="1264833"/>
                </a:lnTo>
                <a:lnTo>
                  <a:pt x="45283" y="1312087"/>
                </a:lnTo>
                <a:lnTo>
                  <a:pt x="81959" y="1351679"/>
                </a:lnTo>
                <a:lnTo>
                  <a:pt x="126840" y="1381979"/>
                </a:lnTo>
                <a:lnTo>
                  <a:pt x="178296" y="1401354"/>
                </a:lnTo>
                <a:lnTo>
                  <a:pt x="234696" y="1408176"/>
                </a:lnTo>
                <a:lnTo>
                  <a:pt x="3502152" y="1408176"/>
                </a:lnTo>
                <a:lnTo>
                  <a:pt x="3540232" y="1405104"/>
                </a:lnTo>
                <a:lnTo>
                  <a:pt x="3593526" y="1389732"/>
                </a:lnTo>
                <a:lnTo>
                  <a:pt x="3640781" y="1362892"/>
                </a:lnTo>
                <a:lnTo>
                  <a:pt x="3680368" y="1326216"/>
                </a:lnTo>
                <a:lnTo>
                  <a:pt x="3710660" y="1281335"/>
                </a:lnTo>
                <a:lnTo>
                  <a:pt x="3730029" y="1229879"/>
                </a:lnTo>
                <a:lnTo>
                  <a:pt x="3736848" y="1173480"/>
                </a:lnTo>
                <a:lnTo>
                  <a:pt x="3736848" y="234695"/>
                </a:lnTo>
                <a:lnTo>
                  <a:pt x="3733777" y="196615"/>
                </a:lnTo>
                <a:lnTo>
                  <a:pt x="3718411" y="143321"/>
                </a:lnTo>
                <a:lnTo>
                  <a:pt x="3691579" y="96066"/>
                </a:lnTo>
                <a:lnTo>
                  <a:pt x="3654909" y="56479"/>
                </a:lnTo>
                <a:lnTo>
                  <a:pt x="3610029" y="26187"/>
                </a:lnTo>
                <a:lnTo>
                  <a:pt x="3558567" y="6818"/>
                </a:lnTo>
                <a:lnTo>
                  <a:pt x="3502152" y="0"/>
                </a:lnTo>
                <a:close/>
              </a:path>
            </a:pathLst>
          </a:custGeom>
          <a:solidFill>
            <a:srgbClr val="FFFFC7"/>
          </a:solidFill>
        </p:spPr>
        <p:txBody>
          <a:bodyPr wrap="square" lIns="0" tIns="0" rIns="0" bIns="0" rtlCol="0"/>
          <a:lstStyle/>
          <a:p>
            <a:endParaRPr/>
          </a:p>
        </p:txBody>
      </p:sp>
      <p:sp>
        <p:nvSpPr>
          <p:cNvPr id="75" name="object 75"/>
          <p:cNvSpPr/>
          <p:nvPr/>
        </p:nvSpPr>
        <p:spPr>
          <a:xfrm>
            <a:off x="156210" y="4918709"/>
            <a:ext cx="3736975" cy="1408430"/>
          </a:xfrm>
          <a:custGeom>
            <a:avLst/>
            <a:gdLst/>
            <a:ahLst/>
            <a:cxnLst/>
            <a:rect l="l" t="t" r="r" b="b"/>
            <a:pathLst>
              <a:path w="3736975" h="1408429">
                <a:moveTo>
                  <a:pt x="0" y="234695"/>
                </a:moveTo>
                <a:lnTo>
                  <a:pt x="3071" y="196615"/>
                </a:lnTo>
                <a:lnTo>
                  <a:pt x="18443" y="143321"/>
                </a:lnTo>
                <a:lnTo>
                  <a:pt x="45283" y="96066"/>
                </a:lnTo>
                <a:lnTo>
                  <a:pt x="81959" y="56479"/>
                </a:lnTo>
                <a:lnTo>
                  <a:pt x="126840" y="26187"/>
                </a:lnTo>
                <a:lnTo>
                  <a:pt x="178296" y="6818"/>
                </a:lnTo>
                <a:lnTo>
                  <a:pt x="234696" y="0"/>
                </a:lnTo>
                <a:lnTo>
                  <a:pt x="622808" y="0"/>
                </a:lnTo>
                <a:lnTo>
                  <a:pt x="1557020" y="0"/>
                </a:lnTo>
                <a:lnTo>
                  <a:pt x="3502152" y="0"/>
                </a:lnTo>
                <a:lnTo>
                  <a:pt x="3521407" y="777"/>
                </a:lnTo>
                <a:lnTo>
                  <a:pt x="3576352" y="11960"/>
                </a:lnTo>
                <a:lnTo>
                  <a:pt x="3625801" y="35151"/>
                </a:lnTo>
                <a:lnTo>
                  <a:pt x="3668125" y="68722"/>
                </a:lnTo>
                <a:lnTo>
                  <a:pt x="3701696" y="111046"/>
                </a:lnTo>
                <a:lnTo>
                  <a:pt x="3724887" y="160495"/>
                </a:lnTo>
                <a:lnTo>
                  <a:pt x="3736070" y="215440"/>
                </a:lnTo>
                <a:lnTo>
                  <a:pt x="3736848" y="234695"/>
                </a:lnTo>
                <a:lnTo>
                  <a:pt x="3736848" y="821435"/>
                </a:lnTo>
                <a:lnTo>
                  <a:pt x="3736848" y="1173480"/>
                </a:lnTo>
                <a:lnTo>
                  <a:pt x="3736070" y="1192728"/>
                </a:lnTo>
                <a:lnTo>
                  <a:pt x="3733777" y="1211548"/>
                </a:lnTo>
                <a:lnTo>
                  <a:pt x="3718411" y="1264833"/>
                </a:lnTo>
                <a:lnTo>
                  <a:pt x="3691579" y="1312087"/>
                </a:lnTo>
                <a:lnTo>
                  <a:pt x="3654909" y="1351679"/>
                </a:lnTo>
                <a:lnTo>
                  <a:pt x="3610029" y="1381979"/>
                </a:lnTo>
                <a:lnTo>
                  <a:pt x="3558567" y="1401354"/>
                </a:lnTo>
                <a:lnTo>
                  <a:pt x="3502152" y="1408176"/>
                </a:lnTo>
                <a:lnTo>
                  <a:pt x="1557020" y="1408176"/>
                </a:lnTo>
                <a:lnTo>
                  <a:pt x="1342771" y="1408176"/>
                </a:lnTo>
                <a:lnTo>
                  <a:pt x="622808" y="1408176"/>
                </a:lnTo>
                <a:lnTo>
                  <a:pt x="234696" y="1408176"/>
                </a:lnTo>
                <a:lnTo>
                  <a:pt x="215447" y="1407397"/>
                </a:lnTo>
                <a:lnTo>
                  <a:pt x="160514" y="1396210"/>
                </a:lnTo>
                <a:lnTo>
                  <a:pt x="111069" y="1373012"/>
                </a:lnTo>
                <a:lnTo>
                  <a:pt x="68741" y="1339434"/>
                </a:lnTo>
                <a:lnTo>
                  <a:pt x="35163" y="1297106"/>
                </a:lnTo>
                <a:lnTo>
                  <a:pt x="11965" y="1247661"/>
                </a:lnTo>
                <a:lnTo>
                  <a:pt x="778" y="1192728"/>
                </a:lnTo>
                <a:lnTo>
                  <a:pt x="0" y="1173480"/>
                </a:lnTo>
                <a:lnTo>
                  <a:pt x="0" y="821435"/>
                </a:lnTo>
                <a:lnTo>
                  <a:pt x="0" y="234695"/>
                </a:lnTo>
                <a:close/>
              </a:path>
            </a:pathLst>
          </a:custGeom>
          <a:ln w="28956">
            <a:solidFill>
              <a:srgbClr val="000000"/>
            </a:solidFill>
          </a:ln>
        </p:spPr>
        <p:txBody>
          <a:bodyPr wrap="square" lIns="0" tIns="0" rIns="0" bIns="0" rtlCol="0"/>
          <a:lstStyle/>
          <a:p>
            <a:endParaRPr/>
          </a:p>
        </p:txBody>
      </p:sp>
      <p:sp>
        <p:nvSpPr>
          <p:cNvPr id="76" name="object 76"/>
          <p:cNvSpPr txBox="1"/>
          <p:nvPr/>
        </p:nvSpPr>
        <p:spPr>
          <a:xfrm>
            <a:off x="302768" y="5113972"/>
            <a:ext cx="3395345" cy="1040765"/>
          </a:xfrm>
          <a:prstGeom prst="rect">
            <a:avLst/>
          </a:prstGeom>
        </p:spPr>
        <p:txBody>
          <a:bodyPr vert="horz" wrap="square" lIns="0" tIns="0" rIns="0" bIns="0" rtlCol="0">
            <a:spAutoFit/>
          </a:bodyPr>
          <a:lstStyle/>
          <a:p>
            <a:pPr marL="12700" marR="5080" algn="just">
              <a:lnSpc>
                <a:spcPct val="97100"/>
              </a:lnSpc>
            </a:pPr>
            <a:r>
              <a:rPr sz="2400" b="1" spc="10" dirty="0">
                <a:latin typeface="Microsoft JhengHei"/>
                <a:cs typeface="Microsoft JhengHei"/>
              </a:rPr>
              <a:t>特点：数据传输仅能沿一 个方向，不能实现反向传 输，只有一条通信线路。</a:t>
            </a:r>
            <a:endParaRPr sz="2400">
              <a:latin typeface="Microsoft JhengHei"/>
              <a:cs typeface="Microsoft JhengHei"/>
            </a:endParaRPr>
          </a:p>
        </p:txBody>
      </p:sp>
      <p:sp>
        <p:nvSpPr>
          <p:cNvPr id="77" name="object 77"/>
          <p:cNvSpPr/>
          <p:nvPr/>
        </p:nvSpPr>
        <p:spPr>
          <a:xfrm>
            <a:off x="8303514" y="4918709"/>
            <a:ext cx="3736975" cy="1408430"/>
          </a:xfrm>
          <a:custGeom>
            <a:avLst/>
            <a:gdLst/>
            <a:ahLst/>
            <a:cxnLst/>
            <a:rect l="l" t="t" r="r" b="b"/>
            <a:pathLst>
              <a:path w="3736975" h="1408429">
                <a:moveTo>
                  <a:pt x="3502152" y="0"/>
                </a:moveTo>
                <a:lnTo>
                  <a:pt x="234695" y="0"/>
                </a:lnTo>
                <a:lnTo>
                  <a:pt x="215440" y="777"/>
                </a:lnTo>
                <a:lnTo>
                  <a:pt x="160495" y="11960"/>
                </a:lnTo>
                <a:lnTo>
                  <a:pt x="111046" y="35151"/>
                </a:lnTo>
                <a:lnTo>
                  <a:pt x="68722" y="68722"/>
                </a:lnTo>
                <a:lnTo>
                  <a:pt x="35151" y="111046"/>
                </a:lnTo>
                <a:lnTo>
                  <a:pt x="11960" y="160495"/>
                </a:lnTo>
                <a:lnTo>
                  <a:pt x="777" y="215440"/>
                </a:lnTo>
                <a:lnTo>
                  <a:pt x="0" y="234695"/>
                </a:lnTo>
                <a:lnTo>
                  <a:pt x="0" y="1173480"/>
                </a:lnTo>
                <a:lnTo>
                  <a:pt x="3070" y="1211548"/>
                </a:lnTo>
                <a:lnTo>
                  <a:pt x="18436" y="1264833"/>
                </a:lnTo>
                <a:lnTo>
                  <a:pt x="45268" y="1312087"/>
                </a:lnTo>
                <a:lnTo>
                  <a:pt x="81938" y="1351679"/>
                </a:lnTo>
                <a:lnTo>
                  <a:pt x="126818" y="1381979"/>
                </a:lnTo>
                <a:lnTo>
                  <a:pt x="178280" y="1401354"/>
                </a:lnTo>
                <a:lnTo>
                  <a:pt x="234695" y="1408176"/>
                </a:lnTo>
                <a:lnTo>
                  <a:pt x="3502152" y="1408176"/>
                </a:lnTo>
                <a:lnTo>
                  <a:pt x="3540232" y="1405104"/>
                </a:lnTo>
                <a:lnTo>
                  <a:pt x="3593526" y="1389732"/>
                </a:lnTo>
                <a:lnTo>
                  <a:pt x="3640781" y="1362892"/>
                </a:lnTo>
                <a:lnTo>
                  <a:pt x="3680368" y="1326216"/>
                </a:lnTo>
                <a:lnTo>
                  <a:pt x="3710660" y="1281335"/>
                </a:lnTo>
                <a:lnTo>
                  <a:pt x="3730029" y="1229879"/>
                </a:lnTo>
                <a:lnTo>
                  <a:pt x="3736847" y="1173480"/>
                </a:lnTo>
                <a:lnTo>
                  <a:pt x="3736847" y="234695"/>
                </a:lnTo>
                <a:lnTo>
                  <a:pt x="3733777" y="196615"/>
                </a:lnTo>
                <a:lnTo>
                  <a:pt x="3718411" y="143321"/>
                </a:lnTo>
                <a:lnTo>
                  <a:pt x="3691579" y="96066"/>
                </a:lnTo>
                <a:lnTo>
                  <a:pt x="3654909" y="56479"/>
                </a:lnTo>
                <a:lnTo>
                  <a:pt x="3610029" y="26187"/>
                </a:lnTo>
                <a:lnTo>
                  <a:pt x="3558567" y="6818"/>
                </a:lnTo>
                <a:lnTo>
                  <a:pt x="3502152" y="0"/>
                </a:lnTo>
                <a:close/>
              </a:path>
            </a:pathLst>
          </a:custGeom>
          <a:solidFill>
            <a:srgbClr val="FFFFC7"/>
          </a:solidFill>
        </p:spPr>
        <p:txBody>
          <a:bodyPr wrap="square" lIns="0" tIns="0" rIns="0" bIns="0" rtlCol="0"/>
          <a:lstStyle/>
          <a:p>
            <a:endParaRPr/>
          </a:p>
        </p:txBody>
      </p:sp>
      <p:sp>
        <p:nvSpPr>
          <p:cNvPr id="78" name="object 78"/>
          <p:cNvSpPr/>
          <p:nvPr/>
        </p:nvSpPr>
        <p:spPr>
          <a:xfrm>
            <a:off x="8303514" y="4918709"/>
            <a:ext cx="3736975" cy="1408430"/>
          </a:xfrm>
          <a:custGeom>
            <a:avLst/>
            <a:gdLst/>
            <a:ahLst/>
            <a:cxnLst/>
            <a:rect l="l" t="t" r="r" b="b"/>
            <a:pathLst>
              <a:path w="3736975" h="1408429">
                <a:moveTo>
                  <a:pt x="0" y="234695"/>
                </a:moveTo>
                <a:lnTo>
                  <a:pt x="3070" y="196615"/>
                </a:lnTo>
                <a:lnTo>
                  <a:pt x="18436" y="143321"/>
                </a:lnTo>
                <a:lnTo>
                  <a:pt x="45268" y="96066"/>
                </a:lnTo>
                <a:lnTo>
                  <a:pt x="81938" y="56479"/>
                </a:lnTo>
                <a:lnTo>
                  <a:pt x="126818" y="26187"/>
                </a:lnTo>
                <a:lnTo>
                  <a:pt x="178280" y="6818"/>
                </a:lnTo>
                <a:lnTo>
                  <a:pt x="234695" y="0"/>
                </a:lnTo>
                <a:lnTo>
                  <a:pt x="622807" y="0"/>
                </a:lnTo>
                <a:lnTo>
                  <a:pt x="1557019" y="0"/>
                </a:lnTo>
                <a:lnTo>
                  <a:pt x="3502152" y="0"/>
                </a:lnTo>
                <a:lnTo>
                  <a:pt x="3521407" y="777"/>
                </a:lnTo>
                <a:lnTo>
                  <a:pt x="3576352" y="11960"/>
                </a:lnTo>
                <a:lnTo>
                  <a:pt x="3625801" y="35151"/>
                </a:lnTo>
                <a:lnTo>
                  <a:pt x="3668125" y="68722"/>
                </a:lnTo>
                <a:lnTo>
                  <a:pt x="3701696" y="111046"/>
                </a:lnTo>
                <a:lnTo>
                  <a:pt x="3724887" y="160495"/>
                </a:lnTo>
                <a:lnTo>
                  <a:pt x="3736070" y="215440"/>
                </a:lnTo>
                <a:lnTo>
                  <a:pt x="3736847" y="234695"/>
                </a:lnTo>
                <a:lnTo>
                  <a:pt x="3736847" y="821435"/>
                </a:lnTo>
                <a:lnTo>
                  <a:pt x="3736847" y="1173480"/>
                </a:lnTo>
                <a:lnTo>
                  <a:pt x="3736070" y="1192728"/>
                </a:lnTo>
                <a:lnTo>
                  <a:pt x="3733777" y="1211548"/>
                </a:lnTo>
                <a:lnTo>
                  <a:pt x="3718411" y="1264833"/>
                </a:lnTo>
                <a:lnTo>
                  <a:pt x="3691579" y="1312087"/>
                </a:lnTo>
                <a:lnTo>
                  <a:pt x="3654909" y="1351679"/>
                </a:lnTo>
                <a:lnTo>
                  <a:pt x="3610029" y="1381979"/>
                </a:lnTo>
                <a:lnTo>
                  <a:pt x="3558567" y="1401354"/>
                </a:lnTo>
                <a:lnTo>
                  <a:pt x="3502152" y="1408176"/>
                </a:lnTo>
                <a:lnTo>
                  <a:pt x="1557019" y="1408176"/>
                </a:lnTo>
                <a:lnTo>
                  <a:pt x="1342770" y="1408176"/>
                </a:lnTo>
                <a:lnTo>
                  <a:pt x="622807" y="1408176"/>
                </a:lnTo>
                <a:lnTo>
                  <a:pt x="234695" y="1408176"/>
                </a:lnTo>
                <a:lnTo>
                  <a:pt x="215440" y="1407397"/>
                </a:lnTo>
                <a:lnTo>
                  <a:pt x="160495" y="1396210"/>
                </a:lnTo>
                <a:lnTo>
                  <a:pt x="111046" y="1373012"/>
                </a:lnTo>
                <a:lnTo>
                  <a:pt x="68722" y="1339434"/>
                </a:lnTo>
                <a:lnTo>
                  <a:pt x="35151" y="1297106"/>
                </a:lnTo>
                <a:lnTo>
                  <a:pt x="11960" y="1247661"/>
                </a:lnTo>
                <a:lnTo>
                  <a:pt x="777" y="1192728"/>
                </a:lnTo>
                <a:lnTo>
                  <a:pt x="0" y="1173480"/>
                </a:lnTo>
                <a:lnTo>
                  <a:pt x="0" y="821435"/>
                </a:lnTo>
                <a:lnTo>
                  <a:pt x="0" y="234695"/>
                </a:lnTo>
                <a:close/>
              </a:path>
            </a:pathLst>
          </a:custGeom>
          <a:ln w="28956">
            <a:solidFill>
              <a:srgbClr val="000000"/>
            </a:solidFill>
          </a:ln>
        </p:spPr>
        <p:txBody>
          <a:bodyPr wrap="square" lIns="0" tIns="0" rIns="0" bIns="0" rtlCol="0"/>
          <a:lstStyle/>
          <a:p>
            <a:endParaRPr/>
          </a:p>
        </p:txBody>
      </p:sp>
      <p:sp>
        <p:nvSpPr>
          <p:cNvPr id="79" name="object 79"/>
          <p:cNvSpPr txBox="1"/>
          <p:nvPr/>
        </p:nvSpPr>
        <p:spPr>
          <a:xfrm>
            <a:off x="8451850" y="5113972"/>
            <a:ext cx="3453765" cy="1076325"/>
          </a:xfrm>
          <a:prstGeom prst="rect">
            <a:avLst/>
          </a:prstGeom>
        </p:spPr>
        <p:txBody>
          <a:bodyPr vert="horz" wrap="square" lIns="0" tIns="0" rIns="0" bIns="0" rtlCol="0">
            <a:spAutoFit/>
          </a:bodyPr>
          <a:lstStyle/>
          <a:p>
            <a:pPr marL="12700" marR="5080" algn="just">
              <a:lnSpc>
                <a:spcPct val="97100"/>
              </a:lnSpc>
            </a:pPr>
            <a:r>
              <a:rPr sz="2400" b="1" spc="10" dirty="0">
                <a:latin typeface="Microsoft JhengHei"/>
                <a:cs typeface="Microsoft JhengHei"/>
              </a:rPr>
              <a:t>特点：数据可以同时进行 双向传输，具有两条通信 线路。典型实例</a:t>
            </a:r>
            <a:r>
              <a:rPr sz="2400" b="1" spc="15" dirty="0">
                <a:latin typeface="Microsoft JhengHei"/>
                <a:cs typeface="Microsoft JhengHei"/>
              </a:rPr>
              <a:t>：</a:t>
            </a:r>
            <a:r>
              <a:rPr sz="2400" b="1" spc="-5" dirty="0">
                <a:latin typeface="Consolas"/>
                <a:cs typeface="Consolas"/>
              </a:rPr>
              <a:t>UA</a:t>
            </a:r>
            <a:r>
              <a:rPr sz="2400" b="1" spc="0" dirty="0">
                <a:latin typeface="Consolas"/>
                <a:cs typeface="Consolas"/>
              </a:rPr>
              <a:t>R</a:t>
            </a:r>
            <a:r>
              <a:rPr sz="2400" b="1" spc="-5" dirty="0">
                <a:latin typeface="Consolas"/>
                <a:cs typeface="Consolas"/>
              </a:rPr>
              <a:t>T</a:t>
            </a:r>
            <a:r>
              <a:rPr sz="2400" b="1" dirty="0">
                <a:latin typeface="Microsoft JhengHei"/>
                <a:cs typeface="Microsoft JhengHei"/>
              </a:rPr>
              <a:t>。</a:t>
            </a:r>
            <a:endParaRPr sz="2400">
              <a:latin typeface="Microsoft JhengHei"/>
              <a:cs typeface="Microsoft JhengHei"/>
            </a:endParaRPr>
          </a:p>
        </p:txBody>
      </p:sp>
    </p:spTree>
    <p:extLst>
      <p:ext uri="{BB962C8B-B14F-4D97-AF65-F5344CB8AC3E}">
        <p14:creationId xmlns:p14="http://schemas.microsoft.com/office/powerpoint/2010/main" val="36954032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3" name="object 3"/>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4" name="object 4"/>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6" name="object 6"/>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8" name="object 8"/>
          <p:cNvSpPr/>
          <p:nvPr/>
        </p:nvSpPr>
        <p:spPr>
          <a:xfrm>
            <a:off x="1284732" y="4331026"/>
            <a:ext cx="1092835" cy="1870710"/>
          </a:xfrm>
          <a:custGeom>
            <a:avLst/>
            <a:gdLst/>
            <a:ahLst/>
            <a:cxnLst/>
            <a:rect l="l" t="t" r="r" b="b"/>
            <a:pathLst>
              <a:path w="1092835" h="1870710">
                <a:moveTo>
                  <a:pt x="58542" y="0"/>
                </a:moveTo>
                <a:lnTo>
                  <a:pt x="27340" y="30951"/>
                </a:lnTo>
                <a:lnTo>
                  <a:pt x="8758" y="87644"/>
                </a:lnTo>
                <a:lnTo>
                  <a:pt x="0" y="141786"/>
                </a:lnTo>
                <a:lnTo>
                  <a:pt x="0" y="1383313"/>
                </a:lnTo>
                <a:lnTo>
                  <a:pt x="2725" y="1448927"/>
                </a:lnTo>
                <a:lnTo>
                  <a:pt x="9812" y="1506738"/>
                </a:lnTo>
                <a:lnTo>
                  <a:pt x="21681" y="1556982"/>
                </a:lnTo>
                <a:lnTo>
                  <a:pt x="38754" y="1599895"/>
                </a:lnTo>
                <a:lnTo>
                  <a:pt x="61452" y="1635711"/>
                </a:lnTo>
                <a:lnTo>
                  <a:pt x="90196" y="1664665"/>
                </a:lnTo>
                <a:lnTo>
                  <a:pt x="125408" y="1686994"/>
                </a:lnTo>
                <a:lnTo>
                  <a:pt x="167509" y="1702931"/>
                </a:lnTo>
                <a:lnTo>
                  <a:pt x="216921" y="1712712"/>
                </a:lnTo>
                <a:lnTo>
                  <a:pt x="274066" y="1716573"/>
                </a:lnTo>
                <a:lnTo>
                  <a:pt x="836168" y="1719837"/>
                </a:lnTo>
                <a:lnTo>
                  <a:pt x="833882" y="1870129"/>
                </a:lnTo>
                <a:lnTo>
                  <a:pt x="1092708" y="1620193"/>
                </a:lnTo>
                <a:lnTo>
                  <a:pt x="1019520" y="1540145"/>
                </a:lnTo>
                <a:lnTo>
                  <a:pt x="843280" y="1540145"/>
                </a:lnTo>
                <a:lnTo>
                  <a:pt x="309245" y="1527077"/>
                </a:lnTo>
                <a:lnTo>
                  <a:pt x="268713" y="1524923"/>
                </a:lnTo>
                <a:lnTo>
                  <a:pt x="223387" y="1514961"/>
                </a:lnTo>
                <a:lnTo>
                  <a:pt x="188420" y="1487982"/>
                </a:lnTo>
                <a:lnTo>
                  <a:pt x="169253" y="1450733"/>
                </a:lnTo>
                <a:lnTo>
                  <a:pt x="156338" y="1394342"/>
                </a:lnTo>
                <a:lnTo>
                  <a:pt x="151293" y="1344088"/>
                </a:lnTo>
                <a:lnTo>
                  <a:pt x="138176" y="164646"/>
                </a:lnTo>
                <a:lnTo>
                  <a:pt x="133386" y="135168"/>
                </a:lnTo>
                <a:lnTo>
                  <a:pt x="121625" y="84703"/>
                </a:lnTo>
                <a:lnTo>
                  <a:pt x="107549" y="45738"/>
                </a:lnTo>
                <a:lnTo>
                  <a:pt x="83649" y="9326"/>
                </a:lnTo>
                <a:lnTo>
                  <a:pt x="66897" y="54"/>
                </a:lnTo>
                <a:lnTo>
                  <a:pt x="58542" y="0"/>
                </a:lnTo>
                <a:close/>
              </a:path>
              <a:path w="1092835" h="1870710">
                <a:moveTo>
                  <a:pt x="843280" y="1347384"/>
                </a:moveTo>
                <a:lnTo>
                  <a:pt x="843280" y="1540145"/>
                </a:lnTo>
                <a:lnTo>
                  <a:pt x="1019520" y="1540145"/>
                </a:lnTo>
                <a:lnTo>
                  <a:pt x="843280" y="1347384"/>
                </a:lnTo>
                <a:close/>
              </a:path>
            </a:pathLst>
          </a:custGeom>
          <a:solidFill>
            <a:srgbClr val="A6A6A6"/>
          </a:solidFill>
        </p:spPr>
        <p:txBody>
          <a:bodyPr wrap="square" lIns="0" tIns="0" rIns="0" bIns="0" rtlCol="0"/>
          <a:lstStyle/>
          <a:p>
            <a:endParaRPr/>
          </a:p>
        </p:txBody>
      </p:sp>
      <p:sp>
        <p:nvSpPr>
          <p:cNvPr id="9" name="object 9"/>
          <p:cNvSpPr/>
          <p:nvPr/>
        </p:nvSpPr>
        <p:spPr>
          <a:xfrm>
            <a:off x="1086611" y="4017264"/>
            <a:ext cx="1330960" cy="455930"/>
          </a:xfrm>
          <a:custGeom>
            <a:avLst/>
            <a:gdLst/>
            <a:ahLst/>
            <a:cxnLst/>
            <a:rect l="l" t="t" r="r" b="b"/>
            <a:pathLst>
              <a:path w="1330960" h="455929">
                <a:moveTo>
                  <a:pt x="1223077" y="311277"/>
                </a:moveTo>
                <a:lnTo>
                  <a:pt x="1039749" y="311277"/>
                </a:lnTo>
                <a:lnTo>
                  <a:pt x="1044067" y="455675"/>
                </a:lnTo>
                <a:lnTo>
                  <a:pt x="1223077" y="311277"/>
                </a:lnTo>
                <a:close/>
              </a:path>
              <a:path w="1330960" h="455929">
                <a:moveTo>
                  <a:pt x="1044067" y="0"/>
                </a:moveTo>
                <a:lnTo>
                  <a:pt x="1044067" y="134747"/>
                </a:lnTo>
                <a:lnTo>
                  <a:pt x="0" y="138049"/>
                </a:lnTo>
                <a:lnTo>
                  <a:pt x="2197" y="336931"/>
                </a:lnTo>
                <a:lnTo>
                  <a:pt x="1039749" y="311277"/>
                </a:lnTo>
                <a:lnTo>
                  <a:pt x="1223077" y="311277"/>
                </a:lnTo>
                <a:lnTo>
                  <a:pt x="1330452" y="224662"/>
                </a:lnTo>
                <a:lnTo>
                  <a:pt x="1044067" y="0"/>
                </a:lnTo>
                <a:close/>
              </a:path>
            </a:pathLst>
          </a:custGeom>
          <a:solidFill>
            <a:srgbClr val="A6A6A6"/>
          </a:solidFill>
        </p:spPr>
        <p:txBody>
          <a:bodyPr wrap="square" lIns="0" tIns="0" rIns="0" bIns="0" rtlCol="0"/>
          <a:lstStyle/>
          <a:p>
            <a:endParaRPr/>
          </a:p>
        </p:txBody>
      </p:sp>
      <p:sp>
        <p:nvSpPr>
          <p:cNvPr id="10" name="object 10"/>
          <p:cNvSpPr/>
          <p:nvPr/>
        </p:nvSpPr>
        <p:spPr>
          <a:xfrm>
            <a:off x="1324355" y="2372867"/>
            <a:ext cx="1092835" cy="1708150"/>
          </a:xfrm>
          <a:custGeom>
            <a:avLst/>
            <a:gdLst/>
            <a:ahLst/>
            <a:cxnLst/>
            <a:rect l="l" t="t" r="r" b="b"/>
            <a:pathLst>
              <a:path w="1092835" h="1708150">
                <a:moveTo>
                  <a:pt x="833882" y="0"/>
                </a:moveTo>
                <a:lnTo>
                  <a:pt x="836168" y="137287"/>
                </a:lnTo>
                <a:lnTo>
                  <a:pt x="274066" y="140208"/>
                </a:lnTo>
                <a:lnTo>
                  <a:pt x="244501" y="141317"/>
                </a:lnTo>
                <a:lnTo>
                  <a:pt x="191275" y="147530"/>
                </a:lnTo>
                <a:lnTo>
                  <a:pt x="145571" y="159250"/>
                </a:lnTo>
                <a:lnTo>
                  <a:pt x="106967" y="176692"/>
                </a:lnTo>
                <a:lnTo>
                  <a:pt x="75042" y="200073"/>
                </a:lnTo>
                <a:lnTo>
                  <a:pt x="49373" y="229609"/>
                </a:lnTo>
                <a:lnTo>
                  <a:pt x="29541" y="265518"/>
                </a:lnTo>
                <a:lnTo>
                  <a:pt x="15122" y="308014"/>
                </a:lnTo>
                <a:lnTo>
                  <a:pt x="5697" y="357315"/>
                </a:lnTo>
                <a:lnTo>
                  <a:pt x="844" y="413638"/>
                </a:lnTo>
                <a:lnTo>
                  <a:pt x="0" y="444500"/>
                </a:lnTo>
                <a:lnTo>
                  <a:pt x="0" y="1578229"/>
                </a:lnTo>
                <a:lnTo>
                  <a:pt x="8758" y="1627685"/>
                </a:lnTo>
                <a:lnTo>
                  <a:pt x="20539" y="1665162"/>
                </a:lnTo>
                <a:lnTo>
                  <a:pt x="42320" y="1699347"/>
                </a:lnTo>
                <a:lnTo>
                  <a:pt x="58542" y="1707739"/>
                </a:lnTo>
                <a:lnTo>
                  <a:pt x="66897" y="1707689"/>
                </a:lnTo>
                <a:lnTo>
                  <a:pt x="99864" y="1679762"/>
                </a:lnTo>
                <a:lnTo>
                  <a:pt x="121625" y="1630393"/>
                </a:lnTo>
                <a:lnTo>
                  <a:pt x="133386" y="1584315"/>
                </a:lnTo>
                <a:lnTo>
                  <a:pt x="149859" y="507238"/>
                </a:lnTo>
                <a:lnTo>
                  <a:pt x="151314" y="480105"/>
                </a:lnTo>
                <a:lnTo>
                  <a:pt x="156454" y="433785"/>
                </a:lnTo>
                <a:lnTo>
                  <a:pt x="169636" y="382016"/>
                </a:lnTo>
                <a:lnTo>
                  <a:pt x="189215" y="348051"/>
                </a:lnTo>
                <a:lnTo>
                  <a:pt x="224945" y="323763"/>
                </a:lnTo>
                <a:lnTo>
                  <a:pt x="271265" y="315048"/>
                </a:lnTo>
                <a:lnTo>
                  <a:pt x="843280" y="301371"/>
                </a:lnTo>
                <a:lnTo>
                  <a:pt x="1019481" y="301371"/>
                </a:lnTo>
                <a:lnTo>
                  <a:pt x="1092708" y="228219"/>
                </a:lnTo>
                <a:lnTo>
                  <a:pt x="833882" y="0"/>
                </a:lnTo>
                <a:close/>
              </a:path>
              <a:path w="1092835" h="1708150">
                <a:moveTo>
                  <a:pt x="1019481" y="301371"/>
                </a:moveTo>
                <a:lnTo>
                  <a:pt x="843280" y="301371"/>
                </a:lnTo>
                <a:lnTo>
                  <a:pt x="843280" y="477393"/>
                </a:lnTo>
                <a:lnTo>
                  <a:pt x="1019481" y="301371"/>
                </a:lnTo>
                <a:close/>
              </a:path>
            </a:pathLst>
          </a:custGeom>
          <a:solidFill>
            <a:srgbClr val="A6A6A6"/>
          </a:solidFill>
        </p:spPr>
        <p:txBody>
          <a:bodyPr wrap="square" lIns="0" tIns="0" rIns="0" bIns="0" rtlCol="0"/>
          <a:lstStyle/>
          <a:p>
            <a:endParaRPr/>
          </a:p>
        </p:txBody>
      </p:sp>
      <p:sp>
        <p:nvSpPr>
          <p:cNvPr id="11" name="object 11"/>
          <p:cNvSpPr/>
          <p:nvPr/>
        </p:nvSpPr>
        <p:spPr>
          <a:xfrm>
            <a:off x="4470653" y="1838705"/>
            <a:ext cx="7010400" cy="1498600"/>
          </a:xfrm>
          <a:custGeom>
            <a:avLst/>
            <a:gdLst/>
            <a:ahLst/>
            <a:cxnLst/>
            <a:rect l="l" t="t" r="r" b="b"/>
            <a:pathLst>
              <a:path w="7010400" h="1498600">
                <a:moveTo>
                  <a:pt x="0" y="172339"/>
                </a:moveTo>
                <a:lnTo>
                  <a:pt x="5434" y="129268"/>
                </a:lnTo>
                <a:lnTo>
                  <a:pt x="20830" y="90182"/>
                </a:lnTo>
                <a:lnTo>
                  <a:pt x="44830" y="56441"/>
                </a:lnTo>
                <a:lnTo>
                  <a:pt x="76073" y="29403"/>
                </a:lnTo>
                <a:lnTo>
                  <a:pt x="113200" y="10429"/>
                </a:lnTo>
                <a:lnTo>
                  <a:pt x="154851" y="877"/>
                </a:lnTo>
                <a:lnTo>
                  <a:pt x="6838061" y="0"/>
                </a:lnTo>
                <a:lnTo>
                  <a:pt x="6852776" y="620"/>
                </a:lnTo>
                <a:lnTo>
                  <a:pt x="6894670" y="9526"/>
                </a:lnTo>
                <a:lnTo>
                  <a:pt x="6932125" y="27941"/>
                </a:lnTo>
                <a:lnTo>
                  <a:pt x="6963783" y="54506"/>
                </a:lnTo>
                <a:lnTo>
                  <a:pt x="6988284" y="87862"/>
                </a:lnTo>
                <a:lnTo>
                  <a:pt x="7004268" y="126648"/>
                </a:lnTo>
                <a:lnTo>
                  <a:pt x="7010377" y="169506"/>
                </a:lnTo>
                <a:lnTo>
                  <a:pt x="7010400" y="1325753"/>
                </a:lnTo>
                <a:lnTo>
                  <a:pt x="7009779" y="1340468"/>
                </a:lnTo>
                <a:lnTo>
                  <a:pt x="7000873" y="1382362"/>
                </a:lnTo>
                <a:lnTo>
                  <a:pt x="6982458" y="1419817"/>
                </a:lnTo>
                <a:lnTo>
                  <a:pt x="6955893" y="1451475"/>
                </a:lnTo>
                <a:lnTo>
                  <a:pt x="6922537" y="1475976"/>
                </a:lnTo>
                <a:lnTo>
                  <a:pt x="6883751" y="1491960"/>
                </a:lnTo>
                <a:lnTo>
                  <a:pt x="6840893" y="1498069"/>
                </a:lnTo>
                <a:lnTo>
                  <a:pt x="172338" y="1498092"/>
                </a:lnTo>
                <a:lnTo>
                  <a:pt x="157623" y="1497471"/>
                </a:lnTo>
                <a:lnTo>
                  <a:pt x="115729" y="1488565"/>
                </a:lnTo>
                <a:lnTo>
                  <a:pt x="78274" y="1470150"/>
                </a:lnTo>
                <a:lnTo>
                  <a:pt x="46616" y="1443585"/>
                </a:lnTo>
                <a:lnTo>
                  <a:pt x="22115" y="1410229"/>
                </a:lnTo>
                <a:lnTo>
                  <a:pt x="6131" y="1371443"/>
                </a:lnTo>
                <a:lnTo>
                  <a:pt x="22" y="1328585"/>
                </a:lnTo>
                <a:lnTo>
                  <a:pt x="0" y="172339"/>
                </a:lnTo>
                <a:close/>
              </a:path>
            </a:pathLst>
          </a:custGeom>
          <a:ln w="28955">
            <a:solidFill>
              <a:srgbClr val="5B9BD4"/>
            </a:solidFill>
          </a:ln>
        </p:spPr>
        <p:txBody>
          <a:bodyPr wrap="square" lIns="0" tIns="0" rIns="0" bIns="0" rtlCol="0"/>
          <a:lstStyle/>
          <a:p>
            <a:endParaRPr/>
          </a:p>
        </p:txBody>
      </p:sp>
      <p:sp>
        <p:nvSpPr>
          <p:cNvPr id="12" name="object 12"/>
          <p:cNvSpPr/>
          <p:nvPr/>
        </p:nvSpPr>
        <p:spPr>
          <a:xfrm>
            <a:off x="2415539" y="1985772"/>
            <a:ext cx="1754505" cy="1202690"/>
          </a:xfrm>
          <a:custGeom>
            <a:avLst/>
            <a:gdLst/>
            <a:ahLst/>
            <a:cxnLst/>
            <a:rect l="l" t="t" r="r" b="b"/>
            <a:pathLst>
              <a:path w="1754504" h="1202689">
                <a:moveTo>
                  <a:pt x="1610740" y="0"/>
                </a:moveTo>
                <a:lnTo>
                  <a:pt x="129169" y="694"/>
                </a:lnTo>
                <a:lnTo>
                  <a:pt x="87871" y="11122"/>
                </a:lnTo>
                <a:lnTo>
                  <a:pt x="52354" y="32556"/>
                </a:lnTo>
                <a:lnTo>
                  <a:pt x="24569" y="63045"/>
                </a:lnTo>
                <a:lnTo>
                  <a:pt x="6467" y="100638"/>
                </a:lnTo>
                <a:lnTo>
                  <a:pt x="0" y="143382"/>
                </a:lnTo>
                <a:lnTo>
                  <a:pt x="683" y="1059052"/>
                </a:lnTo>
                <a:lnTo>
                  <a:pt x="6327" y="1101344"/>
                </a:lnTo>
                <a:lnTo>
                  <a:pt x="24309" y="1139005"/>
                </a:lnTo>
                <a:lnTo>
                  <a:pt x="51997" y="1169584"/>
                </a:lnTo>
                <a:lnTo>
                  <a:pt x="87438" y="1191130"/>
                </a:lnTo>
                <a:lnTo>
                  <a:pt x="128682" y="1201693"/>
                </a:lnTo>
                <a:lnTo>
                  <a:pt x="143383" y="1202436"/>
                </a:lnTo>
                <a:lnTo>
                  <a:pt x="1624954" y="1201741"/>
                </a:lnTo>
                <a:lnTo>
                  <a:pt x="1666252" y="1191313"/>
                </a:lnTo>
                <a:lnTo>
                  <a:pt x="1701769" y="1169879"/>
                </a:lnTo>
                <a:lnTo>
                  <a:pt x="1729554" y="1139390"/>
                </a:lnTo>
                <a:lnTo>
                  <a:pt x="1747656" y="1101797"/>
                </a:lnTo>
                <a:lnTo>
                  <a:pt x="1754124" y="1059052"/>
                </a:lnTo>
                <a:lnTo>
                  <a:pt x="1753440" y="143382"/>
                </a:lnTo>
                <a:lnTo>
                  <a:pt x="1747796" y="101091"/>
                </a:lnTo>
                <a:lnTo>
                  <a:pt x="1729814" y="63430"/>
                </a:lnTo>
                <a:lnTo>
                  <a:pt x="1702126" y="32851"/>
                </a:lnTo>
                <a:lnTo>
                  <a:pt x="1666685" y="11305"/>
                </a:lnTo>
                <a:lnTo>
                  <a:pt x="1625441" y="742"/>
                </a:lnTo>
                <a:lnTo>
                  <a:pt x="1610740" y="0"/>
                </a:lnTo>
                <a:close/>
              </a:path>
            </a:pathLst>
          </a:custGeom>
          <a:solidFill>
            <a:srgbClr val="EC7C30"/>
          </a:solidFill>
        </p:spPr>
        <p:txBody>
          <a:bodyPr wrap="square" lIns="0" tIns="0" rIns="0" bIns="0" rtlCol="0"/>
          <a:lstStyle/>
          <a:p>
            <a:endParaRPr/>
          </a:p>
        </p:txBody>
      </p:sp>
      <p:sp>
        <p:nvSpPr>
          <p:cNvPr id="13" name="object 13"/>
          <p:cNvSpPr/>
          <p:nvPr/>
        </p:nvSpPr>
        <p:spPr>
          <a:xfrm>
            <a:off x="2417064" y="3672840"/>
            <a:ext cx="1757680" cy="1195070"/>
          </a:xfrm>
          <a:custGeom>
            <a:avLst/>
            <a:gdLst/>
            <a:ahLst/>
            <a:cxnLst/>
            <a:rect l="l" t="t" r="r" b="b"/>
            <a:pathLst>
              <a:path w="1757679" h="1195070">
                <a:moveTo>
                  <a:pt x="1614677" y="0"/>
                </a:moveTo>
                <a:lnTo>
                  <a:pt x="129722" y="563"/>
                </a:lnTo>
                <a:lnTo>
                  <a:pt x="88295" y="10656"/>
                </a:lnTo>
                <a:lnTo>
                  <a:pt x="52632" y="31873"/>
                </a:lnTo>
                <a:lnTo>
                  <a:pt x="24710" y="62236"/>
                </a:lnTo>
                <a:lnTo>
                  <a:pt x="6507" y="99769"/>
                </a:lnTo>
                <a:lnTo>
                  <a:pt x="0" y="142494"/>
                </a:lnTo>
                <a:lnTo>
                  <a:pt x="563" y="1065093"/>
                </a:lnTo>
                <a:lnTo>
                  <a:pt x="10656" y="1106520"/>
                </a:lnTo>
                <a:lnTo>
                  <a:pt x="31873" y="1142183"/>
                </a:lnTo>
                <a:lnTo>
                  <a:pt x="62236" y="1170105"/>
                </a:lnTo>
                <a:lnTo>
                  <a:pt x="99769" y="1188308"/>
                </a:lnTo>
                <a:lnTo>
                  <a:pt x="142494" y="1194816"/>
                </a:lnTo>
                <a:lnTo>
                  <a:pt x="1627449" y="1194252"/>
                </a:lnTo>
                <a:lnTo>
                  <a:pt x="1668876" y="1184159"/>
                </a:lnTo>
                <a:lnTo>
                  <a:pt x="1704539" y="1162942"/>
                </a:lnTo>
                <a:lnTo>
                  <a:pt x="1732461" y="1132579"/>
                </a:lnTo>
                <a:lnTo>
                  <a:pt x="1750664" y="1095046"/>
                </a:lnTo>
                <a:lnTo>
                  <a:pt x="1757172" y="1052322"/>
                </a:lnTo>
                <a:lnTo>
                  <a:pt x="1756608" y="129722"/>
                </a:lnTo>
                <a:lnTo>
                  <a:pt x="1746515" y="88295"/>
                </a:lnTo>
                <a:lnTo>
                  <a:pt x="1725298" y="52632"/>
                </a:lnTo>
                <a:lnTo>
                  <a:pt x="1694935" y="24710"/>
                </a:lnTo>
                <a:lnTo>
                  <a:pt x="1657402" y="6507"/>
                </a:lnTo>
                <a:lnTo>
                  <a:pt x="1614677" y="0"/>
                </a:lnTo>
                <a:close/>
              </a:path>
            </a:pathLst>
          </a:custGeom>
          <a:solidFill>
            <a:srgbClr val="00AFEF"/>
          </a:solidFill>
        </p:spPr>
        <p:txBody>
          <a:bodyPr wrap="square" lIns="0" tIns="0" rIns="0" bIns="0" rtlCol="0"/>
          <a:lstStyle/>
          <a:p>
            <a:endParaRPr/>
          </a:p>
        </p:txBody>
      </p:sp>
      <p:sp>
        <p:nvSpPr>
          <p:cNvPr id="14" name="object 14"/>
          <p:cNvSpPr/>
          <p:nvPr/>
        </p:nvSpPr>
        <p:spPr>
          <a:xfrm>
            <a:off x="2377439" y="5352288"/>
            <a:ext cx="1797050" cy="1181100"/>
          </a:xfrm>
          <a:custGeom>
            <a:avLst/>
            <a:gdLst/>
            <a:ahLst/>
            <a:cxnLst/>
            <a:rect l="l" t="t" r="r" b="b"/>
            <a:pathLst>
              <a:path w="1797050" h="1181100">
                <a:moveTo>
                  <a:pt x="1655952" y="0"/>
                </a:moveTo>
                <a:lnTo>
                  <a:pt x="130751" y="355"/>
                </a:lnTo>
                <a:lnTo>
                  <a:pt x="89070" y="9801"/>
                </a:lnTo>
                <a:lnTo>
                  <a:pt x="53134" y="30594"/>
                </a:lnTo>
                <a:lnTo>
                  <a:pt x="24962" y="60712"/>
                </a:lnTo>
                <a:lnTo>
                  <a:pt x="6577" y="98136"/>
                </a:lnTo>
                <a:lnTo>
                  <a:pt x="0" y="140843"/>
                </a:lnTo>
                <a:lnTo>
                  <a:pt x="352" y="1050346"/>
                </a:lnTo>
                <a:lnTo>
                  <a:pt x="9792" y="1092004"/>
                </a:lnTo>
                <a:lnTo>
                  <a:pt x="30583" y="1127938"/>
                </a:lnTo>
                <a:lnTo>
                  <a:pt x="60703" y="1156119"/>
                </a:lnTo>
                <a:lnTo>
                  <a:pt x="98130" y="1174516"/>
                </a:lnTo>
                <a:lnTo>
                  <a:pt x="140843" y="1181100"/>
                </a:lnTo>
                <a:lnTo>
                  <a:pt x="1666014" y="1180746"/>
                </a:lnTo>
                <a:lnTo>
                  <a:pt x="1707703" y="1171301"/>
                </a:lnTo>
                <a:lnTo>
                  <a:pt x="1743648" y="1150503"/>
                </a:lnTo>
                <a:lnTo>
                  <a:pt x="1771826" y="1120382"/>
                </a:lnTo>
                <a:lnTo>
                  <a:pt x="1790216" y="1082970"/>
                </a:lnTo>
                <a:lnTo>
                  <a:pt x="1796796" y="1040295"/>
                </a:lnTo>
                <a:lnTo>
                  <a:pt x="1796440" y="130751"/>
                </a:lnTo>
                <a:lnTo>
                  <a:pt x="1786994" y="89070"/>
                </a:lnTo>
                <a:lnTo>
                  <a:pt x="1766201" y="53134"/>
                </a:lnTo>
                <a:lnTo>
                  <a:pt x="1736083" y="24962"/>
                </a:lnTo>
                <a:lnTo>
                  <a:pt x="1698659" y="6577"/>
                </a:lnTo>
                <a:lnTo>
                  <a:pt x="1655952" y="0"/>
                </a:lnTo>
                <a:close/>
              </a:path>
            </a:pathLst>
          </a:custGeom>
          <a:solidFill>
            <a:srgbClr val="00AF50"/>
          </a:solidFill>
        </p:spPr>
        <p:txBody>
          <a:bodyPr wrap="square" lIns="0" tIns="0" rIns="0" bIns="0" rtlCol="0"/>
          <a:lstStyle/>
          <a:p>
            <a:endParaRPr/>
          </a:p>
        </p:txBody>
      </p:sp>
      <p:sp>
        <p:nvSpPr>
          <p:cNvPr id="15" name="object 15"/>
          <p:cNvSpPr/>
          <p:nvPr/>
        </p:nvSpPr>
        <p:spPr>
          <a:xfrm>
            <a:off x="659891" y="3570732"/>
            <a:ext cx="1339850" cy="1297305"/>
          </a:xfrm>
          <a:custGeom>
            <a:avLst/>
            <a:gdLst/>
            <a:ahLst/>
            <a:cxnLst/>
            <a:rect l="l" t="t" r="r" b="b"/>
            <a:pathLst>
              <a:path w="1339850" h="1297304">
                <a:moveTo>
                  <a:pt x="669798" y="0"/>
                </a:moveTo>
                <a:lnTo>
                  <a:pt x="614863" y="2149"/>
                </a:lnTo>
                <a:lnTo>
                  <a:pt x="561151" y="8487"/>
                </a:lnTo>
                <a:lnTo>
                  <a:pt x="508835" y="18845"/>
                </a:lnTo>
                <a:lnTo>
                  <a:pt x="458087" y="33058"/>
                </a:lnTo>
                <a:lnTo>
                  <a:pt x="409079" y="50958"/>
                </a:lnTo>
                <a:lnTo>
                  <a:pt x="361984" y="72379"/>
                </a:lnTo>
                <a:lnTo>
                  <a:pt x="316974" y="97153"/>
                </a:lnTo>
                <a:lnTo>
                  <a:pt x="274221" y="125114"/>
                </a:lnTo>
                <a:lnTo>
                  <a:pt x="233898" y="156094"/>
                </a:lnTo>
                <a:lnTo>
                  <a:pt x="196176" y="189928"/>
                </a:lnTo>
                <a:lnTo>
                  <a:pt x="161230" y="226448"/>
                </a:lnTo>
                <a:lnTo>
                  <a:pt x="129230" y="265486"/>
                </a:lnTo>
                <a:lnTo>
                  <a:pt x="100349" y="306877"/>
                </a:lnTo>
                <a:lnTo>
                  <a:pt x="74760" y="350454"/>
                </a:lnTo>
                <a:lnTo>
                  <a:pt x="52635" y="396049"/>
                </a:lnTo>
                <a:lnTo>
                  <a:pt x="34146" y="443496"/>
                </a:lnTo>
                <a:lnTo>
                  <a:pt x="19465" y="492627"/>
                </a:lnTo>
                <a:lnTo>
                  <a:pt x="8766" y="543277"/>
                </a:lnTo>
                <a:lnTo>
                  <a:pt x="2220" y="595277"/>
                </a:lnTo>
                <a:lnTo>
                  <a:pt x="0" y="648461"/>
                </a:lnTo>
                <a:lnTo>
                  <a:pt x="2220" y="701646"/>
                </a:lnTo>
                <a:lnTo>
                  <a:pt x="8766" y="753646"/>
                </a:lnTo>
                <a:lnTo>
                  <a:pt x="19465" y="804296"/>
                </a:lnTo>
                <a:lnTo>
                  <a:pt x="34146" y="853427"/>
                </a:lnTo>
                <a:lnTo>
                  <a:pt x="52635" y="900874"/>
                </a:lnTo>
                <a:lnTo>
                  <a:pt x="74760" y="946469"/>
                </a:lnTo>
                <a:lnTo>
                  <a:pt x="100349" y="990046"/>
                </a:lnTo>
                <a:lnTo>
                  <a:pt x="129230" y="1031437"/>
                </a:lnTo>
                <a:lnTo>
                  <a:pt x="161230" y="1070475"/>
                </a:lnTo>
                <a:lnTo>
                  <a:pt x="196176" y="1106995"/>
                </a:lnTo>
                <a:lnTo>
                  <a:pt x="233898" y="1140829"/>
                </a:lnTo>
                <a:lnTo>
                  <a:pt x="274221" y="1171809"/>
                </a:lnTo>
                <a:lnTo>
                  <a:pt x="316974" y="1199770"/>
                </a:lnTo>
                <a:lnTo>
                  <a:pt x="361984" y="1224544"/>
                </a:lnTo>
                <a:lnTo>
                  <a:pt x="409079" y="1245965"/>
                </a:lnTo>
                <a:lnTo>
                  <a:pt x="458087" y="1263865"/>
                </a:lnTo>
                <a:lnTo>
                  <a:pt x="508835" y="1278078"/>
                </a:lnTo>
                <a:lnTo>
                  <a:pt x="561151" y="1288436"/>
                </a:lnTo>
                <a:lnTo>
                  <a:pt x="614863" y="1294774"/>
                </a:lnTo>
                <a:lnTo>
                  <a:pt x="669798" y="1296923"/>
                </a:lnTo>
                <a:lnTo>
                  <a:pt x="724736" y="1294774"/>
                </a:lnTo>
                <a:lnTo>
                  <a:pt x="778450" y="1288436"/>
                </a:lnTo>
                <a:lnTo>
                  <a:pt x="830768" y="1278078"/>
                </a:lnTo>
                <a:lnTo>
                  <a:pt x="881518" y="1263865"/>
                </a:lnTo>
                <a:lnTo>
                  <a:pt x="930527" y="1245965"/>
                </a:lnTo>
                <a:lnTo>
                  <a:pt x="977622" y="1224544"/>
                </a:lnTo>
                <a:lnTo>
                  <a:pt x="1022633" y="1199770"/>
                </a:lnTo>
                <a:lnTo>
                  <a:pt x="1065385" y="1171809"/>
                </a:lnTo>
                <a:lnTo>
                  <a:pt x="1105708" y="1140829"/>
                </a:lnTo>
                <a:lnTo>
                  <a:pt x="1143428" y="1106995"/>
                </a:lnTo>
                <a:lnTo>
                  <a:pt x="1178374" y="1070475"/>
                </a:lnTo>
                <a:lnTo>
                  <a:pt x="1210372" y="1031437"/>
                </a:lnTo>
                <a:lnTo>
                  <a:pt x="1239252" y="990046"/>
                </a:lnTo>
                <a:lnTo>
                  <a:pt x="1264840" y="946469"/>
                </a:lnTo>
                <a:lnTo>
                  <a:pt x="1286964" y="900874"/>
                </a:lnTo>
                <a:lnTo>
                  <a:pt x="1305452" y="853427"/>
                </a:lnTo>
                <a:lnTo>
                  <a:pt x="1320131" y="804296"/>
                </a:lnTo>
                <a:lnTo>
                  <a:pt x="1330830" y="753646"/>
                </a:lnTo>
                <a:lnTo>
                  <a:pt x="1337375" y="701646"/>
                </a:lnTo>
                <a:lnTo>
                  <a:pt x="1339595" y="648461"/>
                </a:lnTo>
                <a:lnTo>
                  <a:pt x="1337375" y="595277"/>
                </a:lnTo>
                <a:lnTo>
                  <a:pt x="1330830" y="543277"/>
                </a:lnTo>
                <a:lnTo>
                  <a:pt x="1320131" y="492627"/>
                </a:lnTo>
                <a:lnTo>
                  <a:pt x="1305452" y="443496"/>
                </a:lnTo>
                <a:lnTo>
                  <a:pt x="1286964" y="396049"/>
                </a:lnTo>
                <a:lnTo>
                  <a:pt x="1264840" y="350454"/>
                </a:lnTo>
                <a:lnTo>
                  <a:pt x="1239252" y="306877"/>
                </a:lnTo>
                <a:lnTo>
                  <a:pt x="1210372" y="265486"/>
                </a:lnTo>
                <a:lnTo>
                  <a:pt x="1178374" y="226448"/>
                </a:lnTo>
                <a:lnTo>
                  <a:pt x="1143428" y="189928"/>
                </a:lnTo>
                <a:lnTo>
                  <a:pt x="1105708" y="156094"/>
                </a:lnTo>
                <a:lnTo>
                  <a:pt x="1065385" y="125114"/>
                </a:lnTo>
                <a:lnTo>
                  <a:pt x="1022633" y="97153"/>
                </a:lnTo>
                <a:lnTo>
                  <a:pt x="977622" y="72379"/>
                </a:lnTo>
                <a:lnTo>
                  <a:pt x="930527" y="50958"/>
                </a:lnTo>
                <a:lnTo>
                  <a:pt x="881518" y="33058"/>
                </a:lnTo>
                <a:lnTo>
                  <a:pt x="830768" y="18845"/>
                </a:lnTo>
                <a:lnTo>
                  <a:pt x="778450" y="8487"/>
                </a:lnTo>
                <a:lnTo>
                  <a:pt x="724736" y="2149"/>
                </a:lnTo>
                <a:lnTo>
                  <a:pt x="669798" y="0"/>
                </a:lnTo>
                <a:close/>
              </a:path>
            </a:pathLst>
          </a:custGeom>
          <a:solidFill>
            <a:srgbClr val="5B9BD4"/>
          </a:solidFill>
        </p:spPr>
        <p:txBody>
          <a:bodyPr wrap="square" lIns="0" tIns="0" rIns="0" bIns="0" rtlCol="0"/>
          <a:lstStyle/>
          <a:p>
            <a:endParaRPr/>
          </a:p>
        </p:txBody>
      </p:sp>
      <p:sp>
        <p:nvSpPr>
          <p:cNvPr id="16" name="object 16"/>
          <p:cNvSpPr/>
          <p:nvPr/>
        </p:nvSpPr>
        <p:spPr>
          <a:xfrm>
            <a:off x="4470653" y="3562350"/>
            <a:ext cx="7010400" cy="1485900"/>
          </a:xfrm>
          <a:custGeom>
            <a:avLst/>
            <a:gdLst/>
            <a:ahLst/>
            <a:cxnLst/>
            <a:rect l="l" t="t" r="r" b="b"/>
            <a:pathLst>
              <a:path w="7010400" h="1485900">
                <a:moveTo>
                  <a:pt x="0" y="170942"/>
                </a:moveTo>
                <a:lnTo>
                  <a:pt x="5476" y="127882"/>
                </a:lnTo>
                <a:lnTo>
                  <a:pt x="20984" y="88854"/>
                </a:lnTo>
                <a:lnTo>
                  <a:pt x="45143" y="55237"/>
                </a:lnTo>
                <a:lnTo>
                  <a:pt x="76571" y="28413"/>
                </a:lnTo>
                <a:lnTo>
                  <a:pt x="113888" y="9764"/>
                </a:lnTo>
                <a:lnTo>
                  <a:pt x="155712" y="670"/>
                </a:lnTo>
                <a:lnTo>
                  <a:pt x="6839458" y="0"/>
                </a:lnTo>
                <a:lnTo>
                  <a:pt x="6854173" y="625"/>
                </a:lnTo>
                <a:lnTo>
                  <a:pt x="6896042" y="9599"/>
                </a:lnTo>
                <a:lnTo>
                  <a:pt x="6933420" y="28144"/>
                </a:lnTo>
                <a:lnTo>
                  <a:pt x="6964926" y="54879"/>
                </a:lnTo>
                <a:lnTo>
                  <a:pt x="6989178" y="88424"/>
                </a:lnTo>
                <a:lnTo>
                  <a:pt x="7004796" y="127397"/>
                </a:lnTo>
                <a:lnTo>
                  <a:pt x="7010399" y="170417"/>
                </a:lnTo>
                <a:lnTo>
                  <a:pt x="7010400" y="1314958"/>
                </a:lnTo>
                <a:lnTo>
                  <a:pt x="7009774" y="1329673"/>
                </a:lnTo>
                <a:lnTo>
                  <a:pt x="7000800" y="1371542"/>
                </a:lnTo>
                <a:lnTo>
                  <a:pt x="6982255" y="1408920"/>
                </a:lnTo>
                <a:lnTo>
                  <a:pt x="6955520" y="1440426"/>
                </a:lnTo>
                <a:lnTo>
                  <a:pt x="6921975" y="1464678"/>
                </a:lnTo>
                <a:lnTo>
                  <a:pt x="6883002" y="1480296"/>
                </a:lnTo>
                <a:lnTo>
                  <a:pt x="6839982" y="1485899"/>
                </a:lnTo>
                <a:lnTo>
                  <a:pt x="170942" y="1485900"/>
                </a:lnTo>
                <a:lnTo>
                  <a:pt x="156226" y="1485274"/>
                </a:lnTo>
                <a:lnTo>
                  <a:pt x="114357" y="1476300"/>
                </a:lnTo>
                <a:lnTo>
                  <a:pt x="76979" y="1457755"/>
                </a:lnTo>
                <a:lnTo>
                  <a:pt x="45473" y="1431020"/>
                </a:lnTo>
                <a:lnTo>
                  <a:pt x="21221" y="1397475"/>
                </a:lnTo>
                <a:lnTo>
                  <a:pt x="5603" y="1358502"/>
                </a:lnTo>
                <a:lnTo>
                  <a:pt x="0" y="1315482"/>
                </a:lnTo>
                <a:lnTo>
                  <a:pt x="0" y="170942"/>
                </a:lnTo>
                <a:close/>
              </a:path>
            </a:pathLst>
          </a:custGeom>
          <a:ln w="28956">
            <a:solidFill>
              <a:srgbClr val="5B9BD4"/>
            </a:solidFill>
          </a:ln>
        </p:spPr>
        <p:txBody>
          <a:bodyPr wrap="square" lIns="0" tIns="0" rIns="0" bIns="0" rtlCol="0"/>
          <a:lstStyle/>
          <a:p>
            <a:endParaRPr/>
          </a:p>
        </p:txBody>
      </p:sp>
      <p:sp>
        <p:nvSpPr>
          <p:cNvPr id="17" name="object 17"/>
          <p:cNvSpPr/>
          <p:nvPr/>
        </p:nvSpPr>
        <p:spPr>
          <a:xfrm>
            <a:off x="4470653" y="5229605"/>
            <a:ext cx="7010400" cy="1485900"/>
          </a:xfrm>
          <a:custGeom>
            <a:avLst/>
            <a:gdLst/>
            <a:ahLst/>
            <a:cxnLst/>
            <a:rect l="l" t="t" r="r" b="b"/>
            <a:pathLst>
              <a:path w="7010400" h="1485900">
                <a:moveTo>
                  <a:pt x="0" y="170942"/>
                </a:moveTo>
                <a:lnTo>
                  <a:pt x="5476" y="127882"/>
                </a:lnTo>
                <a:lnTo>
                  <a:pt x="20984" y="88854"/>
                </a:lnTo>
                <a:lnTo>
                  <a:pt x="45143" y="55237"/>
                </a:lnTo>
                <a:lnTo>
                  <a:pt x="76571" y="28413"/>
                </a:lnTo>
                <a:lnTo>
                  <a:pt x="113888" y="9764"/>
                </a:lnTo>
                <a:lnTo>
                  <a:pt x="155712" y="670"/>
                </a:lnTo>
                <a:lnTo>
                  <a:pt x="6839458" y="0"/>
                </a:lnTo>
                <a:lnTo>
                  <a:pt x="6854173" y="625"/>
                </a:lnTo>
                <a:lnTo>
                  <a:pt x="6896042" y="9599"/>
                </a:lnTo>
                <a:lnTo>
                  <a:pt x="6933420" y="28144"/>
                </a:lnTo>
                <a:lnTo>
                  <a:pt x="6964926" y="54879"/>
                </a:lnTo>
                <a:lnTo>
                  <a:pt x="6989178" y="88424"/>
                </a:lnTo>
                <a:lnTo>
                  <a:pt x="7004796" y="127397"/>
                </a:lnTo>
                <a:lnTo>
                  <a:pt x="7010399" y="170417"/>
                </a:lnTo>
                <a:lnTo>
                  <a:pt x="7010400" y="1314945"/>
                </a:lnTo>
                <a:lnTo>
                  <a:pt x="7009774" y="1329667"/>
                </a:lnTo>
                <a:lnTo>
                  <a:pt x="7000801" y="1371549"/>
                </a:lnTo>
                <a:lnTo>
                  <a:pt x="6982257" y="1408931"/>
                </a:lnTo>
                <a:lnTo>
                  <a:pt x="6955524" y="1440435"/>
                </a:lnTo>
                <a:lnTo>
                  <a:pt x="6921981" y="1464683"/>
                </a:lnTo>
                <a:lnTo>
                  <a:pt x="6883011" y="1480297"/>
                </a:lnTo>
                <a:lnTo>
                  <a:pt x="6839993" y="1485899"/>
                </a:lnTo>
                <a:lnTo>
                  <a:pt x="170942" y="1485900"/>
                </a:lnTo>
                <a:lnTo>
                  <a:pt x="156226" y="1485274"/>
                </a:lnTo>
                <a:lnTo>
                  <a:pt x="114359" y="1476305"/>
                </a:lnTo>
                <a:lnTo>
                  <a:pt x="76982" y="1457766"/>
                </a:lnTo>
                <a:lnTo>
                  <a:pt x="45476" y="1431037"/>
                </a:lnTo>
                <a:lnTo>
                  <a:pt x="21224" y="1397494"/>
                </a:lnTo>
                <a:lnTo>
                  <a:pt x="5605" y="1358516"/>
                </a:lnTo>
                <a:lnTo>
                  <a:pt x="0" y="1315481"/>
                </a:lnTo>
                <a:lnTo>
                  <a:pt x="0" y="170942"/>
                </a:lnTo>
                <a:close/>
              </a:path>
            </a:pathLst>
          </a:custGeom>
          <a:ln w="28956">
            <a:solidFill>
              <a:srgbClr val="5B9BD4"/>
            </a:solidFill>
          </a:ln>
        </p:spPr>
        <p:txBody>
          <a:bodyPr wrap="square" lIns="0" tIns="0" rIns="0" bIns="0" rtlCol="0"/>
          <a:lstStyle/>
          <a:p>
            <a:endParaRPr/>
          </a:p>
        </p:txBody>
      </p:sp>
      <p:sp>
        <p:nvSpPr>
          <p:cNvPr id="18" name="object 18"/>
          <p:cNvSpPr txBox="1"/>
          <p:nvPr/>
        </p:nvSpPr>
        <p:spPr>
          <a:xfrm>
            <a:off x="4591303" y="5404661"/>
            <a:ext cx="7405370" cy="1382395"/>
          </a:xfrm>
          <a:prstGeom prst="rect">
            <a:avLst/>
          </a:prstGeom>
        </p:spPr>
        <p:txBody>
          <a:bodyPr vert="horz" wrap="square" lIns="0" tIns="0" rIns="0" bIns="0" rtlCol="0">
            <a:spAutoFit/>
          </a:bodyPr>
          <a:lstStyle/>
          <a:p>
            <a:pPr marL="12700" marR="678815" algn="just">
              <a:lnSpc>
                <a:spcPct val="120000"/>
              </a:lnSpc>
            </a:pPr>
            <a:r>
              <a:rPr sz="2400" b="1" spc="-5" dirty="0">
                <a:latin typeface="微软雅黑"/>
                <a:cs typeface="微软雅黑"/>
              </a:rPr>
              <a:t>通过某种数学运算实现有效信息与校验位之间的循 </a:t>
            </a:r>
            <a:r>
              <a:rPr sz="2400" b="1" dirty="0">
                <a:latin typeface="微软雅黑"/>
                <a:cs typeface="微软雅黑"/>
              </a:rPr>
              <a:t>环校验，常用于磁盘信息的传输、存储区的完整性 校验等。</a:t>
            </a:r>
            <a:endParaRPr sz="2400">
              <a:latin typeface="微软雅黑"/>
              <a:cs typeface="微软雅黑"/>
            </a:endParaRPr>
          </a:p>
          <a:p>
            <a:pPr marL="4621530">
              <a:lnSpc>
                <a:spcPts val="1365"/>
              </a:lnSpc>
            </a:pPr>
            <a:r>
              <a:rPr sz="1200" b="1" spc="-5" dirty="0">
                <a:solidFill>
                  <a:srgbClr val="FFFFFF"/>
                </a:solidFill>
                <a:latin typeface="微软雅黑"/>
                <a:cs typeface="微软雅黑"/>
              </a:rPr>
              <a:t>--</a:t>
            </a:r>
            <a:r>
              <a:rPr sz="1200" b="1" spc="5" dirty="0">
                <a:solidFill>
                  <a:srgbClr val="FFFFFF"/>
                </a:solidFill>
                <a:latin typeface="微软雅黑"/>
                <a:cs typeface="微软雅黑"/>
              </a:rPr>
              <a:t> </a:t>
            </a:r>
            <a:r>
              <a:rPr sz="1200" b="1" dirty="0">
                <a:solidFill>
                  <a:srgbClr val="FFFFFF"/>
                </a:solidFill>
                <a:latin typeface="微软雅黑"/>
                <a:cs typeface="微软雅黑"/>
              </a:rPr>
              <a:t>南昌大学“卓越”辅导员培养工程建设</a:t>
            </a:r>
            <a:endParaRPr sz="1200">
              <a:latin typeface="微软雅黑"/>
              <a:cs typeface="微软雅黑"/>
            </a:endParaRPr>
          </a:p>
        </p:txBody>
      </p:sp>
      <p:sp>
        <p:nvSpPr>
          <p:cNvPr id="19" name="object 19"/>
          <p:cNvSpPr txBox="1"/>
          <p:nvPr/>
        </p:nvSpPr>
        <p:spPr>
          <a:xfrm>
            <a:off x="4591558" y="2020432"/>
            <a:ext cx="6614795" cy="1208405"/>
          </a:xfrm>
          <a:prstGeom prst="rect">
            <a:avLst/>
          </a:prstGeom>
        </p:spPr>
        <p:txBody>
          <a:bodyPr vert="horz" wrap="square" lIns="0" tIns="0" rIns="0" bIns="0" rtlCol="0">
            <a:spAutoFit/>
          </a:bodyPr>
          <a:lstStyle/>
          <a:p>
            <a:pPr marL="12700" marR="5080">
              <a:lnSpc>
                <a:spcPct val="120000"/>
              </a:lnSpc>
            </a:pPr>
            <a:r>
              <a:rPr sz="2400" b="1" dirty="0">
                <a:latin typeface="微软雅黑"/>
                <a:cs typeface="微软雅黑"/>
              </a:rPr>
              <a:t>奇校验表示数据中“</a:t>
            </a:r>
            <a:r>
              <a:rPr sz="2400" b="1" spc="-5" dirty="0">
                <a:latin typeface="微软雅黑"/>
                <a:cs typeface="微软雅黑"/>
              </a:rPr>
              <a:t>1</a:t>
            </a:r>
            <a:r>
              <a:rPr sz="2400" b="1" dirty="0">
                <a:latin typeface="微软雅黑"/>
                <a:cs typeface="微软雅黑"/>
              </a:rPr>
              <a:t>”的个数与校验位“</a:t>
            </a:r>
            <a:r>
              <a:rPr sz="2400" b="1" spc="-5" dirty="0">
                <a:latin typeface="微软雅黑"/>
                <a:cs typeface="微软雅黑"/>
              </a:rPr>
              <a:t>1</a:t>
            </a:r>
            <a:r>
              <a:rPr sz="2400" b="1" dirty="0">
                <a:latin typeface="微软雅黑"/>
                <a:cs typeface="微软雅黑"/>
              </a:rPr>
              <a:t>”的 个数之和为奇数；偶校验表示数据中</a:t>
            </a:r>
            <a:r>
              <a:rPr sz="2400" b="1" spc="5" dirty="0">
                <a:latin typeface="微软雅黑"/>
                <a:cs typeface="微软雅黑"/>
              </a:rPr>
              <a:t>“</a:t>
            </a:r>
            <a:r>
              <a:rPr sz="2400" b="1" spc="-5" dirty="0">
                <a:latin typeface="微软雅黑"/>
                <a:cs typeface="微软雅黑"/>
              </a:rPr>
              <a:t>1</a:t>
            </a:r>
            <a:r>
              <a:rPr sz="2400" b="1" dirty="0">
                <a:latin typeface="微软雅黑"/>
                <a:cs typeface="微软雅黑"/>
              </a:rPr>
              <a:t>”的个数 </a:t>
            </a:r>
            <a:r>
              <a:rPr sz="2400" b="1" spc="-5" dirty="0">
                <a:latin typeface="微软雅黑"/>
                <a:cs typeface="微软雅黑"/>
              </a:rPr>
              <a:t>与校验位</a:t>
            </a:r>
            <a:r>
              <a:rPr sz="2400" b="1" dirty="0">
                <a:latin typeface="微软雅黑"/>
                <a:cs typeface="微软雅黑"/>
              </a:rPr>
              <a:t>“</a:t>
            </a:r>
            <a:r>
              <a:rPr sz="2400" b="1" spc="-10" dirty="0">
                <a:latin typeface="微软雅黑"/>
                <a:cs typeface="微软雅黑"/>
              </a:rPr>
              <a:t>1</a:t>
            </a:r>
            <a:r>
              <a:rPr sz="2400" b="1" spc="-5" dirty="0">
                <a:latin typeface="微软雅黑"/>
                <a:cs typeface="微软雅黑"/>
              </a:rPr>
              <a:t>”的个数之和为偶数。</a:t>
            </a:r>
            <a:endParaRPr sz="2400" dirty="0">
              <a:latin typeface="微软雅黑"/>
              <a:cs typeface="微软雅黑"/>
            </a:endParaRPr>
          </a:p>
        </p:txBody>
      </p:sp>
      <p:sp>
        <p:nvSpPr>
          <p:cNvPr id="20" name="object 20"/>
          <p:cNvSpPr txBox="1"/>
          <p:nvPr/>
        </p:nvSpPr>
        <p:spPr>
          <a:xfrm>
            <a:off x="2975229" y="2239888"/>
            <a:ext cx="635000" cy="769620"/>
          </a:xfrm>
          <a:prstGeom prst="rect">
            <a:avLst/>
          </a:prstGeom>
        </p:spPr>
        <p:txBody>
          <a:bodyPr vert="horz" wrap="square" lIns="0" tIns="0" rIns="0" bIns="0" rtlCol="0">
            <a:spAutoFit/>
          </a:bodyPr>
          <a:lstStyle/>
          <a:p>
            <a:pPr marL="12700" marR="5080">
              <a:lnSpc>
                <a:spcPct val="120000"/>
              </a:lnSpc>
            </a:pPr>
            <a:r>
              <a:rPr sz="2400" b="1" dirty="0">
                <a:solidFill>
                  <a:srgbClr val="F1F1F1"/>
                </a:solidFill>
                <a:latin typeface="微软雅黑"/>
                <a:cs typeface="微软雅黑"/>
              </a:rPr>
              <a:t>奇偶 校验</a:t>
            </a:r>
            <a:endParaRPr sz="2400" dirty="0">
              <a:latin typeface="微软雅黑"/>
              <a:cs typeface="微软雅黑"/>
            </a:endParaRPr>
          </a:p>
        </p:txBody>
      </p:sp>
      <p:sp>
        <p:nvSpPr>
          <p:cNvPr id="21" name="object 21"/>
          <p:cNvSpPr txBox="1"/>
          <p:nvPr/>
        </p:nvSpPr>
        <p:spPr>
          <a:xfrm>
            <a:off x="2826511" y="3923019"/>
            <a:ext cx="939800" cy="769620"/>
          </a:xfrm>
          <a:prstGeom prst="rect">
            <a:avLst/>
          </a:prstGeom>
        </p:spPr>
        <p:txBody>
          <a:bodyPr vert="horz" wrap="square" lIns="0" tIns="0" rIns="0" bIns="0" rtlCol="0">
            <a:spAutoFit/>
          </a:bodyPr>
          <a:lstStyle/>
          <a:p>
            <a:pPr marL="165100" marR="5080" indent="-152400">
              <a:lnSpc>
                <a:spcPct val="120100"/>
              </a:lnSpc>
            </a:pPr>
            <a:r>
              <a:rPr sz="2400" b="1" dirty="0">
                <a:solidFill>
                  <a:srgbClr val="F1F1F1"/>
                </a:solidFill>
                <a:latin typeface="微软雅黑"/>
                <a:cs typeface="微软雅黑"/>
              </a:rPr>
              <a:t>代码和 校验</a:t>
            </a:r>
            <a:endParaRPr sz="2400" dirty="0">
              <a:latin typeface="微软雅黑"/>
              <a:cs typeface="微软雅黑"/>
            </a:endParaRPr>
          </a:p>
        </p:txBody>
      </p:sp>
      <p:sp>
        <p:nvSpPr>
          <p:cNvPr id="22" name="object 22"/>
          <p:cNvSpPr txBox="1"/>
          <p:nvPr/>
        </p:nvSpPr>
        <p:spPr>
          <a:xfrm>
            <a:off x="2654554" y="5595710"/>
            <a:ext cx="1244600" cy="769620"/>
          </a:xfrm>
          <a:prstGeom prst="rect">
            <a:avLst/>
          </a:prstGeom>
        </p:spPr>
        <p:txBody>
          <a:bodyPr vert="horz" wrap="square" lIns="0" tIns="0" rIns="0" bIns="0" rtlCol="0">
            <a:spAutoFit/>
          </a:bodyPr>
          <a:lstStyle/>
          <a:p>
            <a:pPr marL="317500" marR="5080" indent="-304800">
              <a:lnSpc>
                <a:spcPct val="120000"/>
              </a:lnSpc>
            </a:pPr>
            <a:r>
              <a:rPr sz="2400" b="1" dirty="0">
                <a:solidFill>
                  <a:srgbClr val="F1F1F1"/>
                </a:solidFill>
                <a:latin typeface="微软雅黑"/>
                <a:cs typeface="微软雅黑"/>
              </a:rPr>
              <a:t>循环冗余 校验</a:t>
            </a:r>
            <a:endParaRPr sz="2400" dirty="0">
              <a:latin typeface="微软雅黑"/>
              <a:cs typeface="微软雅黑"/>
            </a:endParaRPr>
          </a:p>
        </p:txBody>
      </p:sp>
      <p:sp>
        <p:nvSpPr>
          <p:cNvPr id="23" name="object 23"/>
          <p:cNvSpPr txBox="1"/>
          <p:nvPr/>
        </p:nvSpPr>
        <p:spPr>
          <a:xfrm>
            <a:off x="1012342" y="3871711"/>
            <a:ext cx="635000" cy="769620"/>
          </a:xfrm>
          <a:prstGeom prst="rect">
            <a:avLst/>
          </a:prstGeom>
        </p:spPr>
        <p:txBody>
          <a:bodyPr vert="horz" wrap="square" lIns="0" tIns="0" rIns="0" bIns="0" rtlCol="0">
            <a:spAutoFit/>
          </a:bodyPr>
          <a:lstStyle/>
          <a:p>
            <a:pPr marL="12700" marR="5080">
              <a:lnSpc>
                <a:spcPct val="120000"/>
              </a:lnSpc>
            </a:pPr>
            <a:r>
              <a:rPr sz="2400" b="1" dirty="0">
                <a:solidFill>
                  <a:srgbClr val="FFFFFF"/>
                </a:solidFill>
                <a:latin typeface="微软雅黑"/>
                <a:cs typeface="微软雅黑"/>
              </a:rPr>
              <a:t>错误 校验</a:t>
            </a:r>
            <a:endParaRPr sz="2400">
              <a:latin typeface="微软雅黑"/>
              <a:cs typeface="微软雅黑"/>
            </a:endParaRPr>
          </a:p>
        </p:txBody>
      </p:sp>
      <p:sp>
        <p:nvSpPr>
          <p:cNvPr id="24" name="object 24"/>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25" name="object 25"/>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26" name="object 26"/>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27" name="object 27"/>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29" name="object 29"/>
          <p:cNvSpPr txBox="1"/>
          <p:nvPr/>
        </p:nvSpPr>
        <p:spPr>
          <a:xfrm>
            <a:off x="4591303" y="3737345"/>
            <a:ext cx="6731000" cy="1208405"/>
          </a:xfrm>
          <a:prstGeom prst="rect">
            <a:avLst/>
          </a:prstGeom>
        </p:spPr>
        <p:txBody>
          <a:bodyPr vert="horz" wrap="square" lIns="0" tIns="0" rIns="0" bIns="0" rtlCol="0">
            <a:spAutoFit/>
          </a:bodyPr>
          <a:lstStyle/>
          <a:p>
            <a:pPr marL="12700" marR="5080" algn="just">
              <a:lnSpc>
                <a:spcPct val="120000"/>
              </a:lnSpc>
            </a:pPr>
            <a:r>
              <a:rPr sz="2400" b="1" dirty="0">
                <a:latin typeface="微软雅黑"/>
                <a:cs typeface="微软雅黑"/>
              </a:rPr>
              <a:t>发送方将所发数据块求和，产生一个字节的校验字 符附加到数据块末尾。接收方采用同样方式进行检 测。</a:t>
            </a:r>
            <a:endParaRPr sz="2400">
              <a:latin typeface="微软雅黑"/>
              <a:cs typeface="微软雅黑"/>
            </a:endParaRPr>
          </a:p>
        </p:txBody>
      </p:sp>
      <p:sp>
        <p:nvSpPr>
          <p:cNvPr id="30" name="object 30"/>
          <p:cNvSpPr txBox="1"/>
          <p:nvPr/>
        </p:nvSpPr>
        <p:spPr>
          <a:xfrm>
            <a:off x="2385441" y="389881"/>
            <a:ext cx="668655" cy="254000"/>
          </a:xfrm>
          <a:prstGeom prst="rect">
            <a:avLst/>
          </a:prstGeom>
        </p:spPr>
        <p:txBody>
          <a:bodyPr vert="horz" wrap="square" lIns="0" tIns="0" rIns="0" bIns="0" rtlCol="0">
            <a:spAutoFit/>
          </a:bodyPr>
          <a:lstStyle/>
          <a:p>
            <a:pPr marL="12700">
              <a:lnSpc>
                <a:spcPct val="100000"/>
              </a:lnSpc>
            </a:pPr>
            <a:r>
              <a:rPr sz="1800" b="1" spc="-45" dirty="0">
                <a:solidFill>
                  <a:srgbClr val="252525"/>
                </a:solidFill>
                <a:latin typeface="微软雅黑"/>
                <a:cs typeface="微软雅黑"/>
              </a:rPr>
              <a:t>U</a:t>
            </a:r>
            <a:r>
              <a:rPr sz="1800" b="1" dirty="0">
                <a:solidFill>
                  <a:srgbClr val="252525"/>
                </a:solidFill>
                <a:latin typeface="微软雅黑"/>
                <a:cs typeface="微软雅黑"/>
              </a:rPr>
              <a:t>A</a:t>
            </a:r>
            <a:r>
              <a:rPr sz="1800" b="1" spc="-35" dirty="0">
                <a:solidFill>
                  <a:srgbClr val="252525"/>
                </a:solidFill>
                <a:latin typeface="微软雅黑"/>
                <a:cs typeface="微软雅黑"/>
              </a:rPr>
              <a:t>R</a:t>
            </a:r>
            <a:r>
              <a:rPr sz="1800" b="1" dirty="0">
                <a:solidFill>
                  <a:srgbClr val="252525"/>
                </a:solidFill>
                <a:latin typeface="微软雅黑"/>
                <a:cs typeface="微软雅黑"/>
              </a:rPr>
              <a:t>T</a:t>
            </a:r>
            <a:endParaRPr sz="1800">
              <a:latin typeface="微软雅黑"/>
              <a:cs typeface="微软雅黑"/>
            </a:endParaRPr>
          </a:p>
        </p:txBody>
      </p:sp>
      <p:sp>
        <p:nvSpPr>
          <p:cNvPr id="31" name="object 31"/>
          <p:cNvSpPr txBox="1">
            <a:spLocks noGrp="1"/>
          </p:cNvSpPr>
          <p:nvPr>
            <p:ph type="title"/>
          </p:nvPr>
        </p:nvSpPr>
        <p:spPr>
          <a:xfrm>
            <a:off x="2079062" y="495738"/>
            <a:ext cx="10515600" cy="1325563"/>
          </a:xfrm>
          <a:prstGeom prst="rect">
            <a:avLst/>
          </a:prstGeom>
        </p:spPr>
        <p:txBody>
          <a:bodyPr vert="horz" wrap="square" lIns="0" tIns="0" rIns="0" bIns="0" rtlCol="0">
            <a:spAutoFit/>
          </a:bodyPr>
          <a:lstStyle/>
          <a:p>
            <a:pPr marL="919480">
              <a:lnSpc>
                <a:spcPct val="100000"/>
              </a:lnSpc>
            </a:pPr>
            <a:r>
              <a:rPr spc="-5" dirty="0"/>
              <a:t>三种常用的错误校验方式</a:t>
            </a:r>
          </a:p>
        </p:txBody>
      </p:sp>
    </p:spTree>
    <p:extLst>
      <p:ext uri="{BB962C8B-B14F-4D97-AF65-F5344CB8AC3E}">
        <p14:creationId xmlns:p14="http://schemas.microsoft.com/office/powerpoint/2010/main" val="2110222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3" name="object 3"/>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4" name="object 4"/>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6" name="object 6"/>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8" name="object 8"/>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9" name="object 9"/>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10" name="object 10"/>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11" name="object 11"/>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3" name="object 13"/>
          <p:cNvSpPr txBox="1"/>
          <p:nvPr/>
        </p:nvSpPr>
        <p:spPr>
          <a:xfrm>
            <a:off x="2385441" y="389881"/>
            <a:ext cx="668655" cy="254000"/>
          </a:xfrm>
          <a:prstGeom prst="rect">
            <a:avLst/>
          </a:prstGeom>
        </p:spPr>
        <p:txBody>
          <a:bodyPr vert="horz" wrap="square" lIns="0" tIns="0" rIns="0" bIns="0" rtlCol="0">
            <a:spAutoFit/>
          </a:bodyPr>
          <a:lstStyle/>
          <a:p>
            <a:pPr marL="12700">
              <a:lnSpc>
                <a:spcPct val="100000"/>
              </a:lnSpc>
            </a:pPr>
            <a:r>
              <a:rPr sz="1800" b="1" spc="-45" dirty="0">
                <a:solidFill>
                  <a:srgbClr val="252525"/>
                </a:solidFill>
                <a:latin typeface="微软雅黑"/>
                <a:cs typeface="微软雅黑"/>
              </a:rPr>
              <a:t>U</a:t>
            </a:r>
            <a:r>
              <a:rPr sz="1800" b="1" dirty="0">
                <a:solidFill>
                  <a:srgbClr val="252525"/>
                </a:solidFill>
                <a:latin typeface="微软雅黑"/>
                <a:cs typeface="微软雅黑"/>
              </a:rPr>
              <a:t>A</a:t>
            </a:r>
            <a:r>
              <a:rPr sz="1800" b="1" spc="-35" dirty="0">
                <a:solidFill>
                  <a:srgbClr val="252525"/>
                </a:solidFill>
                <a:latin typeface="微软雅黑"/>
                <a:cs typeface="微软雅黑"/>
              </a:rPr>
              <a:t>R</a:t>
            </a:r>
            <a:r>
              <a:rPr sz="1800" b="1" dirty="0">
                <a:solidFill>
                  <a:srgbClr val="252525"/>
                </a:solidFill>
                <a:latin typeface="微软雅黑"/>
                <a:cs typeface="微软雅黑"/>
              </a:rPr>
              <a:t>T</a:t>
            </a:r>
            <a:endParaRPr sz="1800">
              <a:latin typeface="微软雅黑"/>
              <a:cs typeface="微软雅黑"/>
            </a:endParaRPr>
          </a:p>
        </p:txBody>
      </p:sp>
      <p:sp>
        <p:nvSpPr>
          <p:cNvPr id="14" name="object 14"/>
          <p:cNvSpPr/>
          <p:nvPr/>
        </p:nvSpPr>
        <p:spPr>
          <a:xfrm>
            <a:off x="86868" y="1760219"/>
            <a:ext cx="11451335" cy="3950208"/>
          </a:xfrm>
          <a:prstGeom prst="rect">
            <a:avLst/>
          </a:prstGeom>
          <a:blipFill>
            <a:blip r:embed="rId4" cstate="print"/>
            <a:stretch>
              <a:fillRect/>
            </a:stretch>
          </a:blipFill>
        </p:spPr>
        <p:txBody>
          <a:bodyPr wrap="square" lIns="0" tIns="0" rIns="0" bIns="0" rtlCol="0"/>
          <a:lstStyle/>
          <a:p>
            <a:endParaRPr/>
          </a:p>
        </p:txBody>
      </p:sp>
      <p:sp>
        <p:nvSpPr>
          <p:cNvPr id="15" name="object 15"/>
          <p:cNvSpPr txBox="1"/>
          <p:nvPr/>
        </p:nvSpPr>
        <p:spPr>
          <a:xfrm>
            <a:off x="1549908" y="3086100"/>
            <a:ext cx="775970" cy="462280"/>
          </a:xfrm>
          <a:prstGeom prst="rect">
            <a:avLst/>
          </a:prstGeom>
          <a:solidFill>
            <a:srgbClr val="00AFEF"/>
          </a:solidFill>
        </p:spPr>
        <p:txBody>
          <a:bodyPr vert="horz" wrap="square" lIns="0" tIns="0" rIns="0" bIns="0" rtlCol="0">
            <a:spAutoFit/>
          </a:bodyPr>
          <a:lstStyle/>
          <a:p>
            <a:pPr marL="90170">
              <a:lnSpc>
                <a:spcPct val="100000"/>
              </a:lnSpc>
            </a:pPr>
            <a:r>
              <a:rPr sz="2400" b="1" spc="-5" dirty="0">
                <a:solidFill>
                  <a:srgbClr val="FFFFFF"/>
                </a:solidFill>
                <a:latin typeface="微软雅黑"/>
                <a:cs typeface="微软雅黑"/>
              </a:rPr>
              <a:t>TXE</a:t>
            </a:r>
            <a:endParaRPr sz="2400">
              <a:latin typeface="微软雅黑"/>
              <a:cs typeface="微软雅黑"/>
            </a:endParaRPr>
          </a:p>
        </p:txBody>
      </p:sp>
      <p:sp>
        <p:nvSpPr>
          <p:cNvPr id="16" name="object 16"/>
          <p:cNvSpPr txBox="1"/>
          <p:nvPr/>
        </p:nvSpPr>
        <p:spPr>
          <a:xfrm>
            <a:off x="1531619" y="4288535"/>
            <a:ext cx="775970" cy="462280"/>
          </a:xfrm>
          <a:prstGeom prst="rect">
            <a:avLst/>
          </a:prstGeom>
          <a:solidFill>
            <a:srgbClr val="00AFEF"/>
          </a:solidFill>
        </p:spPr>
        <p:txBody>
          <a:bodyPr vert="horz" wrap="square" lIns="0" tIns="0" rIns="0" bIns="0" rtlCol="0">
            <a:spAutoFit/>
          </a:bodyPr>
          <a:lstStyle/>
          <a:p>
            <a:pPr marL="180975">
              <a:lnSpc>
                <a:spcPct val="100000"/>
              </a:lnSpc>
            </a:pPr>
            <a:r>
              <a:rPr sz="2400" b="1" spc="-100" dirty="0">
                <a:solidFill>
                  <a:srgbClr val="FFFFFF"/>
                </a:solidFill>
                <a:latin typeface="微软雅黑"/>
                <a:cs typeface="微软雅黑"/>
              </a:rPr>
              <a:t>TC</a:t>
            </a:r>
            <a:endParaRPr sz="2400">
              <a:latin typeface="微软雅黑"/>
              <a:cs typeface="微软雅黑"/>
            </a:endParaRPr>
          </a:p>
        </p:txBody>
      </p:sp>
      <p:sp>
        <p:nvSpPr>
          <p:cNvPr id="17" name="object 17"/>
          <p:cNvSpPr/>
          <p:nvPr/>
        </p:nvSpPr>
        <p:spPr>
          <a:xfrm>
            <a:off x="11032235" y="3086100"/>
            <a:ext cx="1091565" cy="462280"/>
          </a:xfrm>
          <a:custGeom>
            <a:avLst/>
            <a:gdLst/>
            <a:ahLst/>
            <a:cxnLst/>
            <a:rect l="l" t="t" r="r" b="b"/>
            <a:pathLst>
              <a:path w="1091565" h="462279">
                <a:moveTo>
                  <a:pt x="0" y="461772"/>
                </a:moveTo>
                <a:lnTo>
                  <a:pt x="1091183" y="461772"/>
                </a:lnTo>
                <a:lnTo>
                  <a:pt x="1091183" y="0"/>
                </a:lnTo>
                <a:lnTo>
                  <a:pt x="0" y="0"/>
                </a:lnTo>
                <a:lnTo>
                  <a:pt x="0" y="461772"/>
                </a:lnTo>
                <a:close/>
              </a:path>
            </a:pathLst>
          </a:custGeom>
          <a:solidFill>
            <a:srgbClr val="00AFEF"/>
          </a:solidFill>
        </p:spPr>
        <p:txBody>
          <a:bodyPr wrap="square" lIns="0" tIns="0" rIns="0" bIns="0" rtlCol="0"/>
          <a:lstStyle/>
          <a:p>
            <a:endParaRPr/>
          </a:p>
        </p:txBody>
      </p:sp>
      <p:sp>
        <p:nvSpPr>
          <p:cNvPr id="18" name="object 18"/>
          <p:cNvSpPr txBox="1"/>
          <p:nvPr/>
        </p:nvSpPr>
        <p:spPr>
          <a:xfrm>
            <a:off x="11112245" y="3167759"/>
            <a:ext cx="885190" cy="330835"/>
          </a:xfrm>
          <a:prstGeom prst="rect">
            <a:avLst/>
          </a:prstGeom>
        </p:spPr>
        <p:txBody>
          <a:bodyPr vert="horz" wrap="square" lIns="0" tIns="0" rIns="0" bIns="0" rtlCol="0">
            <a:spAutoFit/>
          </a:bodyPr>
          <a:lstStyle/>
          <a:p>
            <a:pPr marL="12700">
              <a:lnSpc>
                <a:spcPct val="100000"/>
              </a:lnSpc>
            </a:pPr>
            <a:r>
              <a:rPr sz="2400" b="1" spc="-5" dirty="0">
                <a:solidFill>
                  <a:srgbClr val="FFFFFF"/>
                </a:solidFill>
                <a:latin typeface="微软雅黑"/>
                <a:cs typeface="微软雅黑"/>
              </a:rPr>
              <a:t>RXNE</a:t>
            </a:r>
            <a:endParaRPr sz="2400">
              <a:latin typeface="微软雅黑"/>
              <a:cs typeface="微软雅黑"/>
            </a:endParaRPr>
          </a:p>
        </p:txBody>
      </p:sp>
      <p:sp>
        <p:nvSpPr>
          <p:cNvPr id="19" name="object 19"/>
          <p:cNvSpPr/>
          <p:nvPr/>
        </p:nvSpPr>
        <p:spPr>
          <a:xfrm>
            <a:off x="2325623" y="3220211"/>
            <a:ext cx="456565" cy="173990"/>
          </a:xfrm>
          <a:custGeom>
            <a:avLst/>
            <a:gdLst/>
            <a:ahLst/>
            <a:cxnLst/>
            <a:rect l="l" t="t" r="r" b="b"/>
            <a:pathLst>
              <a:path w="456564" h="173989">
                <a:moveTo>
                  <a:pt x="282828" y="0"/>
                </a:moveTo>
                <a:lnTo>
                  <a:pt x="282828" y="173736"/>
                </a:lnTo>
                <a:lnTo>
                  <a:pt x="398652" y="115824"/>
                </a:lnTo>
                <a:lnTo>
                  <a:pt x="311784" y="115824"/>
                </a:lnTo>
                <a:lnTo>
                  <a:pt x="311784" y="57912"/>
                </a:lnTo>
                <a:lnTo>
                  <a:pt x="398653" y="57912"/>
                </a:lnTo>
                <a:lnTo>
                  <a:pt x="282828" y="0"/>
                </a:lnTo>
                <a:close/>
              </a:path>
              <a:path w="456564" h="173989">
                <a:moveTo>
                  <a:pt x="282828" y="57912"/>
                </a:moveTo>
                <a:lnTo>
                  <a:pt x="0" y="57912"/>
                </a:lnTo>
                <a:lnTo>
                  <a:pt x="0" y="115824"/>
                </a:lnTo>
                <a:lnTo>
                  <a:pt x="282828" y="115824"/>
                </a:lnTo>
                <a:lnTo>
                  <a:pt x="282828" y="57912"/>
                </a:lnTo>
                <a:close/>
              </a:path>
              <a:path w="456564" h="173989">
                <a:moveTo>
                  <a:pt x="398653" y="57912"/>
                </a:moveTo>
                <a:lnTo>
                  <a:pt x="311784" y="57912"/>
                </a:lnTo>
                <a:lnTo>
                  <a:pt x="311784" y="115824"/>
                </a:lnTo>
                <a:lnTo>
                  <a:pt x="398652" y="115824"/>
                </a:lnTo>
                <a:lnTo>
                  <a:pt x="456564" y="86867"/>
                </a:lnTo>
                <a:lnTo>
                  <a:pt x="398653" y="57912"/>
                </a:lnTo>
                <a:close/>
              </a:path>
            </a:pathLst>
          </a:custGeom>
          <a:solidFill>
            <a:srgbClr val="FF0000"/>
          </a:solidFill>
        </p:spPr>
        <p:txBody>
          <a:bodyPr wrap="square" lIns="0" tIns="0" rIns="0" bIns="0" rtlCol="0"/>
          <a:lstStyle/>
          <a:p>
            <a:endParaRPr/>
          </a:p>
        </p:txBody>
      </p:sp>
      <p:sp>
        <p:nvSpPr>
          <p:cNvPr id="20" name="object 20"/>
          <p:cNvSpPr/>
          <p:nvPr/>
        </p:nvSpPr>
        <p:spPr>
          <a:xfrm>
            <a:off x="2316479" y="4436364"/>
            <a:ext cx="650240" cy="173990"/>
          </a:xfrm>
          <a:custGeom>
            <a:avLst/>
            <a:gdLst/>
            <a:ahLst/>
            <a:cxnLst/>
            <a:rect l="l" t="t" r="r" b="b"/>
            <a:pathLst>
              <a:path w="650239" h="173989">
                <a:moveTo>
                  <a:pt x="476503" y="0"/>
                </a:moveTo>
                <a:lnTo>
                  <a:pt x="476503" y="173736"/>
                </a:lnTo>
                <a:lnTo>
                  <a:pt x="592327" y="115824"/>
                </a:lnTo>
                <a:lnTo>
                  <a:pt x="505459" y="115824"/>
                </a:lnTo>
                <a:lnTo>
                  <a:pt x="505459" y="57912"/>
                </a:lnTo>
                <a:lnTo>
                  <a:pt x="592327" y="57912"/>
                </a:lnTo>
                <a:lnTo>
                  <a:pt x="476503" y="0"/>
                </a:lnTo>
                <a:close/>
              </a:path>
              <a:path w="650239" h="173989">
                <a:moveTo>
                  <a:pt x="476503" y="57912"/>
                </a:moveTo>
                <a:lnTo>
                  <a:pt x="0" y="57912"/>
                </a:lnTo>
                <a:lnTo>
                  <a:pt x="0" y="115824"/>
                </a:lnTo>
                <a:lnTo>
                  <a:pt x="476503" y="115824"/>
                </a:lnTo>
                <a:lnTo>
                  <a:pt x="476503" y="57912"/>
                </a:lnTo>
                <a:close/>
              </a:path>
              <a:path w="650239" h="173989">
                <a:moveTo>
                  <a:pt x="592327" y="57912"/>
                </a:moveTo>
                <a:lnTo>
                  <a:pt x="505459" y="57912"/>
                </a:lnTo>
                <a:lnTo>
                  <a:pt x="505459" y="115824"/>
                </a:lnTo>
                <a:lnTo>
                  <a:pt x="592327" y="115824"/>
                </a:lnTo>
                <a:lnTo>
                  <a:pt x="650239" y="86868"/>
                </a:lnTo>
                <a:lnTo>
                  <a:pt x="592327" y="57912"/>
                </a:lnTo>
                <a:close/>
              </a:path>
            </a:pathLst>
          </a:custGeom>
          <a:solidFill>
            <a:srgbClr val="FF0000"/>
          </a:solidFill>
        </p:spPr>
        <p:txBody>
          <a:bodyPr wrap="square" lIns="0" tIns="0" rIns="0" bIns="0" rtlCol="0"/>
          <a:lstStyle/>
          <a:p>
            <a:endParaRPr/>
          </a:p>
        </p:txBody>
      </p:sp>
      <p:sp>
        <p:nvSpPr>
          <p:cNvPr id="21" name="object 21"/>
          <p:cNvSpPr/>
          <p:nvPr/>
        </p:nvSpPr>
        <p:spPr>
          <a:xfrm>
            <a:off x="10002011" y="3215639"/>
            <a:ext cx="1030605" cy="173990"/>
          </a:xfrm>
          <a:custGeom>
            <a:avLst/>
            <a:gdLst/>
            <a:ahLst/>
            <a:cxnLst/>
            <a:rect l="l" t="t" r="r" b="b"/>
            <a:pathLst>
              <a:path w="1030604" h="173989">
                <a:moveTo>
                  <a:pt x="173736" y="0"/>
                </a:moveTo>
                <a:lnTo>
                  <a:pt x="0" y="86868"/>
                </a:lnTo>
                <a:lnTo>
                  <a:pt x="173736" y="173736"/>
                </a:lnTo>
                <a:lnTo>
                  <a:pt x="173736" y="115824"/>
                </a:lnTo>
                <a:lnTo>
                  <a:pt x="144780" y="115824"/>
                </a:lnTo>
                <a:lnTo>
                  <a:pt x="144780" y="57912"/>
                </a:lnTo>
                <a:lnTo>
                  <a:pt x="173736" y="57912"/>
                </a:lnTo>
                <a:lnTo>
                  <a:pt x="173736" y="0"/>
                </a:lnTo>
                <a:close/>
              </a:path>
              <a:path w="1030604" h="173989">
                <a:moveTo>
                  <a:pt x="173736" y="57912"/>
                </a:moveTo>
                <a:lnTo>
                  <a:pt x="144780" y="57912"/>
                </a:lnTo>
                <a:lnTo>
                  <a:pt x="144780" y="115824"/>
                </a:lnTo>
                <a:lnTo>
                  <a:pt x="173736" y="115824"/>
                </a:lnTo>
                <a:lnTo>
                  <a:pt x="173736" y="57912"/>
                </a:lnTo>
                <a:close/>
              </a:path>
              <a:path w="1030604" h="173989">
                <a:moveTo>
                  <a:pt x="1030478" y="57912"/>
                </a:moveTo>
                <a:lnTo>
                  <a:pt x="173736" y="57912"/>
                </a:lnTo>
                <a:lnTo>
                  <a:pt x="173736" y="115824"/>
                </a:lnTo>
                <a:lnTo>
                  <a:pt x="1030478" y="115824"/>
                </a:lnTo>
                <a:lnTo>
                  <a:pt x="1030478" y="57912"/>
                </a:lnTo>
                <a:close/>
              </a:path>
            </a:pathLst>
          </a:custGeom>
          <a:solidFill>
            <a:srgbClr val="FF0000"/>
          </a:solidFill>
        </p:spPr>
        <p:txBody>
          <a:bodyPr wrap="square" lIns="0" tIns="0" rIns="0" bIns="0" rtlCol="0"/>
          <a:lstStyle/>
          <a:p>
            <a:endParaRPr/>
          </a:p>
        </p:txBody>
      </p:sp>
      <p:sp>
        <p:nvSpPr>
          <p:cNvPr id="22" name="object 22"/>
          <p:cNvSpPr txBox="1"/>
          <p:nvPr/>
        </p:nvSpPr>
        <p:spPr>
          <a:xfrm>
            <a:off x="3271265" y="3195750"/>
            <a:ext cx="2345055" cy="280035"/>
          </a:xfrm>
          <a:prstGeom prst="rect">
            <a:avLst/>
          </a:prstGeom>
        </p:spPr>
        <p:txBody>
          <a:bodyPr vert="horz" wrap="square" lIns="0" tIns="0" rIns="0" bIns="0" rtlCol="0">
            <a:spAutoFit/>
          </a:bodyPr>
          <a:lstStyle/>
          <a:p>
            <a:pPr marL="12700">
              <a:lnSpc>
                <a:spcPct val="100000"/>
              </a:lnSpc>
            </a:pPr>
            <a:r>
              <a:rPr sz="2000" b="1" dirty="0">
                <a:solidFill>
                  <a:srgbClr val="252525"/>
                </a:solidFill>
                <a:latin typeface="微软雅黑"/>
                <a:cs typeface="微软雅黑"/>
              </a:rPr>
              <a:t>发送数据寄存</a:t>
            </a:r>
            <a:r>
              <a:rPr sz="2000" b="1" spc="-15" dirty="0">
                <a:solidFill>
                  <a:srgbClr val="252525"/>
                </a:solidFill>
                <a:latin typeface="微软雅黑"/>
                <a:cs typeface="微软雅黑"/>
              </a:rPr>
              <a:t>器</a:t>
            </a:r>
            <a:r>
              <a:rPr sz="2000" b="1" spc="-5" dirty="0">
                <a:solidFill>
                  <a:srgbClr val="252525"/>
                </a:solidFill>
                <a:latin typeface="微软雅黑"/>
                <a:cs typeface="微软雅黑"/>
              </a:rPr>
              <a:t>T</a:t>
            </a:r>
            <a:r>
              <a:rPr sz="2000" b="1" spc="-10" dirty="0">
                <a:solidFill>
                  <a:srgbClr val="252525"/>
                </a:solidFill>
                <a:latin typeface="微软雅黑"/>
                <a:cs typeface="微软雅黑"/>
              </a:rPr>
              <a:t>D</a:t>
            </a:r>
            <a:r>
              <a:rPr sz="2000" b="1" dirty="0">
                <a:solidFill>
                  <a:srgbClr val="252525"/>
                </a:solidFill>
                <a:latin typeface="微软雅黑"/>
                <a:cs typeface="微软雅黑"/>
              </a:rPr>
              <a:t>R</a:t>
            </a:r>
            <a:endParaRPr sz="2000">
              <a:latin typeface="微软雅黑"/>
              <a:cs typeface="微软雅黑"/>
            </a:endParaRPr>
          </a:p>
        </p:txBody>
      </p:sp>
      <p:sp>
        <p:nvSpPr>
          <p:cNvPr id="23" name="object 23"/>
          <p:cNvSpPr txBox="1"/>
          <p:nvPr/>
        </p:nvSpPr>
        <p:spPr>
          <a:xfrm>
            <a:off x="3611117" y="4407711"/>
            <a:ext cx="1807210" cy="280035"/>
          </a:xfrm>
          <a:prstGeom prst="rect">
            <a:avLst/>
          </a:prstGeom>
        </p:spPr>
        <p:txBody>
          <a:bodyPr vert="horz" wrap="square" lIns="0" tIns="0" rIns="0" bIns="0" rtlCol="0">
            <a:spAutoFit/>
          </a:bodyPr>
          <a:lstStyle/>
          <a:p>
            <a:pPr marL="12700">
              <a:lnSpc>
                <a:spcPct val="100000"/>
              </a:lnSpc>
            </a:pPr>
            <a:r>
              <a:rPr sz="2000" b="1" dirty="0">
                <a:solidFill>
                  <a:srgbClr val="252525"/>
                </a:solidFill>
                <a:latin typeface="微软雅黑"/>
                <a:cs typeface="微软雅黑"/>
              </a:rPr>
              <a:t>发送移位寄存器</a:t>
            </a:r>
            <a:endParaRPr sz="2000">
              <a:latin typeface="微软雅黑"/>
              <a:cs typeface="微软雅黑"/>
            </a:endParaRPr>
          </a:p>
        </p:txBody>
      </p:sp>
      <p:sp>
        <p:nvSpPr>
          <p:cNvPr id="24" name="object 24"/>
          <p:cNvSpPr txBox="1"/>
          <p:nvPr/>
        </p:nvSpPr>
        <p:spPr>
          <a:xfrm>
            <a:off x="7550277" y="4362382"/>
            <a:ext cx="1807210" cy="280670"/>
          </a:xfrm>
          <a:prstGeom prst="rect">
            <a:avLst/>
          </a:prstGeom>
        </p:spPr>
        <p:txBody>
          <a:bodyPr vert="horz" wrap="square" lIns="0" tIns="0" rIns="0" bIns="0" rtlCol="0">
            <a:spAutoFit/>
          </a:bodyPr>
          <a:lstStyle/>
          <a:p>
            <a:pPr marL="12700">
              <a:lnSpc>
                <a:spcPct val="100000"/>
              </a:lnSpc>
            </a:pPr>
            <a:r>
              <a:rPr sz="2000" b="1" dirty="0">
                <a:solidFill>
                  <a:srgbClr val="252525"/>
                </a:solidFill>
                <a:latin typeface="微软雅黑"/>
                <a:cs typeface="微软雅黑"/>
              </a:rPr>
              <a:t>接收移位寄存器</a:t>
            </a:r>
            <a:endParaRPr sz="2000">
              <a:latin typeface="微软雅黑"/>
              <a:cs typeface="微软雅黑"/>
            </a:endParaRPr>
          </a:p>
        </p:txBody>
      </p:sp>
      <p:sp>
        <p:nvSpPr>
          <p:cNvPr id="25" name="object 25"/>
          <p:cNvSpPr txBox="1"/>
          <p:nvPr/>
        </p:nvSpPr>
        <p:spPr>
          <a:xfrm>
            <a:off x="7252843" y="3176075"/>
            <a:ext cx="2364740" cy="280670"/>
          </a:xfrm>
          <a:prstGeom prst="rect">
            <a:avLst/>
          </a:prstGeom>
        </p:spPr>
        <p:txBody>
          <a:bodyPr vert="horz" wrap="square" lIns="0" tIns="0" rIns="0" bIns="0" rtlCol="0">
            <a:spAutoFit/>
          </a:bodyPr>
          <a:lstStyle/>
          <a:p>
            <a:pPr marL="12700">
              <a:lnSpc>
                <a:spcPct val="100000"/>
              </a:lnSpc>
            </a:pPr>
            <a:r>
              <a:rPr sz="2000" b="1" dirty="0">
                <a:solidFill>
                  <a:srgbClr val="252525"/>
                </a:solidFill>
                <a:latin typeface="微软雅黑"/>
                <a:cs typeface="微软雅黑"/>
              </a:rPr>
              <a:t>接收数据寄存器</a:t>
            </a:r>
            <a:r>
              <a:rPr sz="2000" b="1" spc="-5" dirty="0">
                <a:solidFill>
                  <a:srgbClr val="252525"/>
                </a:solidFill>
                <a:latin typeface="微软雅黑"/>
                <a:cs typeface="微软雅黑"/>
              </a:rPr>
              <a:t>RDR</a:t>
            </a:r>
            <a:endParaRPr sz="2000">
              <a:latin typeface="微软雅黑"/>
              <a:cs typeface="微软雅黑"/>
            </a:endParaRPr>
          </a:p>
        </p:txBody>
      </p:sp>
      <p:sp>
        <p:nvSpPr>
          <p:cNvPr id="26" name="object 26"/>
          <p:cNvSpPr txBox="1"/>
          <p:nvPr/>
        </p:nvSpPr>
        <p:spPr>
          <a:xfrm>
            <a:off x="7276338" y="2192069"/>
            <a:ext cx="280035" cy="280035"/>
          </a:xfrm>
          <a:prstGeom prst="rect">
            <a:avLst/>
          </a:prstGeom>
        </p:spPr>
        <p:txBody>
          <a:bodyPr vert="horz" wrap="square" lIns="0" tIns="0" rIns="0" bIns="0" rtlCol="0">
            <a:spAutoFit/>
          </a:bodyPr>
          <a:lstStyle/>
          <a:p>
            <a:pPr marL="12700">
              <a:lnSpc>
                <a:spcPct val="100000"/>
              </a:lnSpc>
            </a:pPr>
            <a:r>
              <a:rPr sz="2000" b="1" dirty="0">
                <a:solidFill>
                  <a:srgbClr val="252525"/>
                </a:solidFill>
                <a:latin typeface="微软雅黑"/>
                <a:cs typeface="微软雅黑"/>
              </a:rPr>
              <a:t>读</a:t>
            </a:r>
            <a:endParaRPr sz="2000">
              <a:latin typeface="微软雅黑"/>
              <a:cs typeface="微软雅黑"/>
            </a:endParaRPr>
          </a:p>
        </p:txBody>
      </p:sp>
      <p:sp>
        <p:nvSpPr>
          <p:cNvPr id="27" name="object 27"/>
          <p:cNvSpPr txBox="1"/>
          <p:nvPr/>
        </p:nvSpPr>
        <p:spPr>
          <a:xfrm>
            <a:off x="3924427" y="2195117"/>
            <a:ext cx="280035" cy="280035"/>
          </a:xfrm>
          <a:prstGeom prst="rect">
            <a:avLst/>
          </a:prstGeom>
        </p:spPr>
        <p:txBody>
          <a:bodyPr vert="horz" wrap="square" lIns="0" tIns="0" rIns="0" bIns="0" rtlCol="0">
            <a:spAutoFit/>
          </a:bodyPr>
          <a:lstStyle/>
          <a:p>
            <a:pPr marL="12700">
              <a:lnSpc>
                <a:spcPct val="100000"/>
              </a:lnSpc>
            </a:pPr>
            <a:r>
              <a:rPr sz="2000" b="1" dirty="0">
                <a:solidFill>
                  <a:srgbClr val="252525"/>
                </a:solidFill>
                <a:latin typeface="微软雅黑"/>
                <a:cs typeface="微软雅黑"/>
              </a:rPr>
              <a:t>写</a:t>
            </a:r>
            <a:endParaRPr sz="2000">
              <a:latin typeface="微软雅黑"/>
              <a:cs typeface="微软雅黑"/>
            </a:endParaRPr>
          </a:p>
        </p:txBody>
      </p:sp>
      <p:sp>
        <p:nvSpPr>
          <p:cNvPr id="28" name="object 28"/>
          <p:cNvSpPr/>
          <p:nvPr/>
        </p:nvSpPr>
        <p:spPr>
          <a:xfrm>
            <a:off x="8564880" y="2459735"/>
            <a:ext cx="2289048" cy="461772"/>
          </a:xfrm>
          <a:prstGeom prst="rect">
            <a:avLst/>
          </a:prstGeom>
          <a:blipFill>
            <a:blip r:embed="rId5" cstate="print"/>
            <a:stretch>
              <a:fillRect/>
            </a:stretch>
          </a:blipFill>
        </p:spPr>
        <p:txBody>
          <a:bodyPr wrap="square" lIns="0" tIns="0" rIns="0" bIns="0" rtlCol="0"/>
          <a:lstStyle/>
          <a:p>
            <a:endParaRPr/>
          </a:p>
        </p:txBody>
      </p:sp>
      <p:sp>
        <p:nvSpPr>
          <p:cNvPr id="29" name="object 29"/>
          <p:cNvSpPr txBox="1"/>
          <p:nvPr/>
        </p:nvSpPr>
        <p:spPr>
          <a:xfrm>
            <a:off x="8707881" y="2544062"/>
            <a:ext cx="2002789" cy="330835"/>
          </a:xfrm>
          <a:prstGeom prst="rect">
            <a:avLst/>
          </a:prstGeom>
        </p:spPr>
        <p:txBody>
          <a:bodyPr vert="horz" wrap="square" lIns="0" tIns="0" rIns="0" bIns="0" rtlCol="0">
            <a:spAutoFit/>
          </a:bodyPr>
          <a:lstStyle/>
          <a:p>
            <a:pPr marL="12700">
              <a:lnSpc>
                <a:spcPct val="100000"/>
              </a:lnSpc>
            </a:pPr>
            <a:r>
              <a:rPr sz="2400" b="1" spc="-5" dirty="0">
                <a:solidFill>
                  <a:srgbClr val="FFFFFF"/>
                </a:solidFill>
                <a:latin typeface="微软雅黑"/>
                <a:cs typeface="微软雅黑"/>
              </a:rPr>
              <a:t>数据寄存器</a:t>
            </a:r>
            <a:r>
              <a:rPr sz="2400" b="1" spc="-10" dirty="0">
                <a:solidFill>
                  <a:srgbClr val="FFFFFF"/>
                </a:solidFill>
                <a:latin typeface="微软雅黑"/>
                <a:cs typeface="微软雅黑"/>
              </a:rPr>
              <a:t>DR</a:t>
            </a:r>
            <a:endParaRPr sz="2400">
              <a:latin typeface="微软雅黑"/>
              <a:cs typeface="微软雅黑"/>
            </a:endParaRPr>
          </a:p>
        </p:txBody>
      </p:sp>
      <p:sp>
        <p:nvSpPr>
          <p:cNvPr id="30" name="object 30"/>
          <p:cNvSpPr txBox="1"/>
          <p:nvPr/>
        </p:nvSpPr>
        <p:spPr>
          <a:xfrm>
            <a:off x="344220" y="4918886"/>
            <a:ext cx="1043940" cy="280035"/>
          </a:xfrm>
          <a:prstGeom prst="rect">
            <a:avLst/>
          </a:prstGeom>
        </p:spPr>
        <p:txBody>
          <a:bodyPr vert="horz" wrap="square" lIns="0" tIns="0" rIns="0" bIns="0" rtlCol="0">
            <a:spAutoFit/>
          </a:bodyPr>
          <a:lstStyle/>
          <a:p>
            <a:pPr marL="12700">
              <a:lnSpc>
                <a:spcPct val="100000"/>
              </a:lnSpc>
            </a:pPr>
            <a:r>
              <a:rPr sz="2000" b="1" dirty="0">
                <a:solidFill>
                  <a:srgbClr val="252525"/>
                </a:solidFill>
                <a:latin typeface="微软雅黑"/>
                <a:cs typeface="微软雅黑"/>
              </a:rPr>
              <a:t>接收引脚</a:t>
            </a:r>
            <a:endParaRPr sz="2000">
              <a:latin typeface="微软雅黑"/>
              <a:cs typeface="微软雅黑"/>
            </a:endParaRPr>
          </a:p>
        </p:txBody>
      </p:sp>
      <p:sp>
        <p:nvSpPr>
          <p:cNvPr id="31" name="object 31"/>
          <p:cNvSpPr txBox="1"/>
          <p:nvPr/>
        </p:nvSpPr>
        <p:spPr>
          <a:xfrm>
            <a:off x="344220" y="3325925"/>
            <a:ext cx="1043940" cy="280035"/>
          </a:xfrm>
          <a:prstGeom prst="rect">
            <a:avLst/>
          </a:prstGeom>
        </p:spPr>
        <p:txBody>
          <a:bodyPr vert="horz" wrap="square" lIns="0" tIns="0" rIns="0" bIns="0" rtlCol="0">
            <a:spAutoFit/>
          </a:bodyPr>
          <a:lstStyle/>
          <a:p>
            <a:pPr marL="12700">
              <a:lnSpc>
                <a:spcPct val="100000"/>
              </a:lnSpc>
            </a:pPr>
            <a:r>
              <a:rPr sz="2000" b="1" dirty="0">
                <a:solidFill>
                  <a:srgbClr val="252525"/>
                </a:solidFill>
                <a:latin typeface="微软雅黑"/>
                <a:cs typeface="微软雅黑"/>
              </a:rPr>
              <a:t>发送引脚</a:t>
            </a:r>
            <a:endParaRPr sz="2000">
              <a:latin typeface="微软雅黑"/>
              <a:cs typeface="微软雅黑"/>
            </a:endParaRPr>
          </a:p>
        </p:txBody>
      </p:sp>
      <p:sp>
        <p:nvSpPr>
          <p:cNvPr id="32" name="object 32"/>
          <p:cNvSpPr txBox="1">
            <a:spLocks noGrp="1"/>
          </p:cNvSpPr>
          <p:nvPr>
            <p:ph type="title"/>
          </p:nvPr>
        </p:nvSpPr>
        <p:spPr>
          <a:xfrm>
            <a:off x="1990687" y="536589"/>
            <a:ext cx="10515600" cy="1325563"/>
          </a:xfrm>
          <a:prstGeom prst="rect">
            <a:avLst/>
          </a:prstGeom>
        </p:spPr>
        <p:txBody>
          <a:bodyPr vert="horz" wrap="square" lIns="0" tIns="0" rIns="0" bIns="0" rtlCol="0">
            <a:spAutoFit/>
          </a:bodyPr>
          <a:lstStyle/>
          <a:p>
            <a:pPr marL="1108710">
              <a:lnSpc>
                <a:spcPct val="100000"/>
              </a:lnSpc>
            </a:pPr>
            <a:r>
              <a:rPr spc="-5" dirty="0"/>
              <a:t>串口收发单元功能框图</a:t>
            </a:r>
          </a:p>
        </p:txBody>
      </p:sp>
      <p:sp>
        <p:nvSpPr>
          <p:cNvPr id="33" name="object 33"/>
          <p:cNvSpPr txBox="1"/>
          <p:nvPr/>
        </p:nvSpPr>
        <p:spPr>
          <a:xfrm>
            <a:off x="654558" y="5673090"/>
            <a:ext cx="10884535" cy="1076325"/>
          </a:xfrm>
          <a:prstGeom prst="rect">
            <a:avLst/>
          </a:prstGeom>
          <a:ln w="38100">
            <a:solidFill>
              <a:srgbClr val="E34A46"/>
            </a:solidFill>
          </a:ln>
        </p:spPr>
        <p:txBody>
          <a:bodyPr vert="horz" wrap="square" lIns="0" tIns="0" rIns="0" bIns="0" rtlCol="0">
            <a:spAutoFit/>
          </a:bodyPr>
          <a:lstStyle/>
          <a:p>
            <a:pPr marL="172085" marR="236220">
              <a:lnSpc>
                <a:spcPct val="138800"/>
              </a:lnSpc>
            </a:pPr>
            <a:r>
              <a:rPr sz="2400" b="1" dirty="0">
                <a:latin typeface="微软雅黑"/>
                <a:cs typeface="微软雅黑"/>
              </a:rPr>
              <a:t>串口收发单元主要利用数据寄存</a:t>
            </a:r>
            <a:r>
              <a:rPr sz="2400" b="1" spc="5" dirty="0">
                <a:latin typeface="微软雅黑"/>
                <a:cs typeface="微软雅黑"/>
              </a:rPr>
              <a:t>器</a:t>
            </a:r>
            <a:r>
              <a:rPr sz="2400" b="1" spc="-10" dirty="0">
                <a:latin typeface="微软雅黑"/>
                <a:cs typeface="微软雅黑"/>
              </a:rPr>
              <a:t>D</a:t>
            </a:r>
            <a:r>
              <a:rPr sz="2400" b="1" spc="-5" dirty="0">
                <a:latin typeface="微软雅黑"/>
                <a:cs typeface="微软雅黑"/>
              </a:rPr>
              <a:t>R</a:t>
            </a:r>
            <a:r>
              <a:rPr sz="2400" b="1" dirty="0">
                <a:latin typeface="微软雅黑"/>
                <a:cs typeface="微软雅黑"/>
              </a:rPr>
              <a:t>，发送引脚</a:t>
            </a:r>
            <a:r>
              <a:rPr sz="2400" b="1" spc="-5" dirty="0">
                <a:latin typeface="微软雅黑"/>
                <a:cs typeface="微软雅黑"/>
              </a:rPr>
              <a:t>TX</a:t>
            </a:r>
            <a:r>
              <a:rPr sz="2400" b="1" dirty="0">
                <a:latin typeface="微软雅黑"/>
                <a:cs typeface="微软雅黑"/>
              </a:rPr>
              <a:t>，接收引脚R</a:t>
            </a:r>
            <a:r>
              <a:rPr sz="2400" b="1" spc="-5" dirty="0">
                <a:latin typeface="微软雅黑"/>
                <a:cs typeface="微软雅黑"/>
              </a:rPr>
              <a:t>X</a:t>
            </a:r>
            <a:r>
              <a:rPr sz="2400" b="1" dirty="0">
                <a:latin typeface="微软雅黑"/>
                <a:cs typeface="微软雅黑"/>
              </a:rPr>
              <a:t>，以及三个 通信状态位</a:t>
            </a:r>
            <a:r>
              <a:rPr sz="2400" b="1" spc="-5" dirty="0">
                <a:latin typeface="微软雅黑"/>
                <a:cs typeface="微软雅黑"/>
              </a:rPr>
              <a:t>TXE</a:t>
            </a:r>
            <a:r>
              <a:rPr sz="2400" b="1" dirty="0">
                <a:latin typeface="微软雅黑"/>
                <a:cs typeface="微软雅黑"/>
              </a:rPr>
              <a:t>、</a:t>
            </a:r>
            <a:r>
              <a:rPr sz="2400" b="1" spc="-100" dirty="0">
                <a:latin typeface="微软雅黑"/>
                <a:cs typeface="微软雅黑"/>
              </a:rPr>
              <a:t>T</a:t>
            </a:r>
            <a:r>
              <a:rPr sz="2400" b="1" dirty="0">
                <a:latin typeface="微软雅黑"/>
                <a:cs typeface="微软雅黑"/>
              </a:rPr>
              <a:t>C和</a:t>
            </a:r>
            <a:r>
              <a:rPr sz="2400" b="1" spc="-5" dirty="0">
                <a:latin typeface="微软雅黑"/>
                <a:cs typeface="微软雅黑"/>
              </a:rPr>
              <a:t>RX</a:t>
            </a:r>
            <a:r>
              <a:rPr sz="2400" b="1" spc="5" dirty="0">
                <a:latin typeface="微软雅黑"/>
                <a:cs typeface="微软雅黑"/>
              </a:rPr>
              <a:t>N</a:t>
            </a:r>
            <a:r>
              <a:rPr sz="2400" b="1" spc="-10" dirty="0">
                <a:latin typeface="微软雅黑"/>
                <a:cs typeface="微软雅黑"/>
              </a:rPr>
              <a:t>E</a:t>
            </a:r>
            <a:r>
              <a:rPr sz="2400" b="1" dirty="0">
                <a:latin typeface="微软雅黑"/>
                <a:cs typeface="微软雅黑"/>
              </a:rPr>
              <a:t>来完成数据的接收和发送。</a:t>
            </a:r>
            <a:endParaRPr sz="2400">
              <a:latin typeface="微软雅黑"/>
              <a:cs typeface="微软雅黑"/>
            </a:endParaRPr>
          </a:p>
        </p:txBody>
      </p:sp>
    </p:spTree>
    <p:extLst>
      <p:ext uri="{BB962C8B-B14F-4D97-AF65-F5344CB8AC3E}">
        <p14:creationId xmlns:p14="http://schemas.microsoft.com/office/powerpoint/2010/main" val="8047340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17440" y="290886"/>
            <a:ext cx="2329180" cy="381000"/>
          </a:xfrm>
          <a:prstGeom prst="rect">
            <a:avLst/>
          </a:prstGeom>
        </p:spPr>
        <p:txBody>
          <a:bodyPr vert="horz" wrap="square" lIns="0" tIns="0" rIns="0" bIns="0" rtlCol="0">
            <a:spAutoFit/>
          </a:bodyPr>
          <a:lstStyle/>
          <a:p>
            <a:pPr marL="12700">
              <a:lnSpc>
                <a:spcPct val="100000"/>
              </a:lnSpc>
            </a:pPr>
            <a:r>
              <a:rPr sz="2800" b="1" spc="-5" dirty="0">
                <a:solidFill>
                  <a:srgbClr val="252525"/>
                </a:solidFill>
                <a:latin typeface="微软雅黑"/>
                <a:cs typeface="微软雅黑"/>
              </a:rPr>
              <a:t>数据寄存器</a:t>
            </a:r>
            <a:r>
              <a:rPr sz="2800" b="1" spc="-10" dirty="0">
                <a:solidFill>
                  <a:srgbClr val="252525"/>
                </a:solidFill>
                <a:latin typeface="微软雅黑"/>
                <a:cs typeface="微软雅黑"/>
              </a:rPr>
              <a:t>DR</a:t>
            </a:r>
            <a:endParaRPr sz="2800">
              <a:latin typeface="微软雅黑"/>
              <a:cs typeface="微软雅黑"/>
            </a:endParaRPr>
          </a:p>
        </p:txBody>
      </p:sp>
      <p:sp>
        <p:nvSpPr>
          <p:cNvPr id="3" name="object 3"/>
          <p:cNvSpPr txBox="1"/>
          <p:nvPr/>
        </p:nvSpPr>
        <p:spPr>
          <a:xfrm>
            <a:off x="893165" y="3835424"/>
            <a:ext cx="10433685" cy="2874645"/>
          </a:xfrm>
          <a:prstGeom prst="rect">
            <a:avLst/>
          </a:prstGeom>
        </p:spPr>
        <p:txBody>
          <a:bodyPr vert="horz" wrap="square" lIns="0" tIns="0" rIns="0" bIns="0" rtlCol="0">
            <a:spAutoFit/>
          </a:bodyPr>
          <a:lstStyle/>
          <a:p>
            <a:pPr marL="12700">
              <a:lnSpc>
                <a:spcPct val="100000"/>
              </a:lnSpc>
            </a:pPr>
            <a:r>
              <a:rPr sz="2400" spc="-229" dirty="0">
                <a:latin typeface="Segoe UI Symbol"/>
                <a:cs typeface="Segoe UI Symbol"/>
              </a:rPr>
              <a:t>⚫</a:t>
            </a:r>
            <a:r>
              <a:rPr sz="2400" spc="245" dirty="0">
                <a:latin typeface="Segoe UI Symbol"/>
                <a:cs typeface="Segoe UI Symbol"/>
              </a:rPr>
              <a:t> </a:t>
            </a:r>
            <a:r>
              <a:rPr sz="2400" b="1" spc="-5" dirty="0">
                <a:latin typeface="微软雅黑"/>
                <a:cs typeface="微软雅黑"/>
              </a:rPr>
              <a:t>数据寄存器</a:t>
            </a:r>
            <a:r>
              <a:rPr sz="2400" b="1" spc="-10" dirty="0">
                <a:latin typeface="微软雅黑"/>
                <a:cs typeface="微软雅黑"/>
              </a:rPr>
              <a:t>D</a:t>
            </a:r>
            <a:r>
              <a:rPr sz="2400" b="1" dirty="0">
                <a:latin typeface="微软雅黑"/>
                <a:cs typeface="微软雅黑"/>
              </a:rPr>
              <a:t>R</a:t>
            </a:r>
            <a:r>
              <a:rPr sz="2400" b="1" spc="-5" dirty="0">
                <a:latin typeface="微软雅黑"/>
                <a:cs typeface="微软雅黑"/>
              </a:rPr>
              <a:t>在硬件上分</a:t>
            </a:r>
            <a:r>
              <a:rPr sz="2400" b="1" dirty="0">
                <a:latin typeface="微软雅黑"/>
                <a:cs typeface="微软雅黑"/>
              </a:rPr>
              <a:t>为</a:t>
            </a:r>
            <a:r>
              <a:rPr sz="2400" b="1" spc="-5" dirty="0">
                <a:latin typeface="微软雅黑"/>
                <a:cs typeface="微软雅黑"/>
              </a:rPr>
              <a:t>T</a:t>
            </a:r>
            <a:r>
              <a:rPr sz="2400" b="1" spc="-10" dirty="0">
                <a:latin typeface="微软雅黑"/>
                <a:cs typeface="微软雅黑"/>
              </a:rPr>
              <a:t>D</a:t>
            </a:r>
            <a:r>
              <a:rPr sz="2400" b="1" dirty="0">
                <a:latin typeface="微软雅黑"/>
                <a:cs typeface="微软雅黑"/>
              </a:rPr>
              <a:t>R</a:t>
            </a:r>
            <a:r>
              <a:rPr sz="2400" b="1" spc="-5" dirty="0">
                <a:latin typeface="微软雅黑"/>
                <a:cs typeface="微软雅黑"/>
              </a:rPr>
              <a:t>和RD</a:t>
            </a:r>
            <a:r>
              <a:rPr sz="2400" b="1" dirty="0">
                <a:latin typeface="微软雅黑"/>
                <a:cs typeface="微软雅黑"/>
              </a:rPr>
              <a:t>R</a:t>
            </a:r>
            <a:r>
              <a:rPr sz="2400" b="1" spc="-5" dirty="0">
                <a:latin typeface="微软雅黑"/>
                <a:cs typeface="微软雅黑"/>
              </a:rPr>
              <a:t>两个寄存器，通过数据的流向进行</a:t>
            </a:r>
            <a:endParaRPr sz="2400">
              <a:latin typeface="微软雅黑"/>
              <a:cs typeface="微软雅黑"/>
            </a:endParaRPr>
          </a:p>
          <a:p>
            <a:pPr marL="355600">
              <a:lnSpc>
                <a:spcPct val="100000"/>
              </a:lnSpc>
              <a:spcBef>
                <a:spcPts val="1115"/>
              </a:spcBef>
            </a:pPr>
            <a:r>
              <a:rPr sz="2400" b="1" dirty="0">
                <a:latin typeface="微软雅黑"/>
                <a:cs typeface="微软雅黑"/>
              </a:rPr>
              <a:t>区分，在结构设计上采用了双缓冲结构；</a:t>
            </a:r>
            <a:endParaRPr sz="2400">
              <a:latin typeface="微软雅黑"/>
              <a:cs typeface="微软雅黑"/>
            </a:endParaRPr>
          </a:p>
          <a:p>
            <a:pPr marL="12700">
              <a:lnSpc>
                <a:spcPct val="100000"/>
              </a:lnSpc>
              <a:spcBef>
                <a:spcPts val="1125"/>
              </a:spcBef>
            </a:pPr>
            <a:r>
              <a:rPr sz="2400" spc="-235" dirty="0">
                <a:latin typeface="Segoe UI Symbol"/>
                <a:cs typeface="Segoe UI Symbol"/>
              </a:rPr>
              <a:t>⚫</a:t>
            </a:r>
            <a:r>
              <a:rPr sz="2400" spc="245" dirty="0">
                <a:latin typeface="Segoe UI Symbol"/>
                <a:cs typeface="Segoe UI Symbol"/>
              </a:rPr>
              <a:t> </a:t>
            </a:r>
            <a:r>
              <a:rPr sz="2400" b="1" dirty="0">
                <a:latin typeface="微软雅黑"/>
                <a:cs typeface="微软雅黑"/>
              </a:rPr>
              <a:t>发送时，数据通过数据总线送</a:t>
            </a:r>
            <a:r>
              <a:rPr sz="2400" b="1" spc="5" dirty="0">
                <a:latin typeface="微软雅黑"/>
                <a:cs typeface="微软雅黑"/>
              </a:rPr>
              <a:t>入</a:t>
            </a:r>
            <a:r>
              <a:rPr sz="2400" b="1" spc="-5" dirty="0">
                <a:latin typeface="微软雅黑"/>
                <a:cs typeface="微软雅黑"/>
              </a:rPr>
              <a:t>TD</a:t>
            </a:r>
            <a:r>
              <a:rPr sz="2400" b="1" dirty="0">
                <a:latin typeface="微软雅黑"/>
                <a:cs typeface="微软雅黑"/>
              </a:rPr>
              <a:t>R寄存器，然后传送到发送移位寄存器</a:t>
            </a:r>
            <a:endParaRPr sz="2400">
              <a:latin typeface="微软雅黑"/>
              <a:cs typeface="微软雅黑"/>
            </a:endParaRPr>
          </a:p>
          <a:p>
            <a:pPr marL="355600">
              <a:lnSpc>
                <a:spcPct val="100000"/>
              </a:lnSpc>
              <a:spcBef>
                <a:spcPts val="1115"/>
              </a:spcBef>
            </a:pPr>
            <a:r>
              <a:rPr sz="2400" b="1" spc="-5" dirty="0">
                <a:latin typeface="微软雅黑"/>
                <a:cs typeface="微软雅黑"/>
              </a:rPr>
              <a:t>完成数据转换，从并行数据转为串行数据，最后通</a:t>
            </a:r>
            <a:r>
              <a:rPr sz="2400" b="1" dirty="0">
                <a:latin typeface="微软雅黑"/>
                <a:cs typeface="微软雅黑"/>
              </a:rPr>
              <a:t>过</a:t>
            </a:r>
            <a:r>
              <a:rPr sz="2400" b="1" spc="-5" dirty="0">
                <a:latin typeface="微软雅黑"/>
                <a:cs typeface="微软雅黑"/>
              </a:rPr>
              <a:t>TX</a:t>
            </a:r>
            <a:r>
              <a:rPr sz="2400" b="1" dirty="0">
                <a:latin typeface="微软雅黑"/>
                <a:cs typeface="微软雅黑"/>
              </a:rPr>
              <a:t>引脚发送；</a:t>
            </a:r>
            <a:endParaRPr sz="2400">
              <a:latin typeface="微软雅黑"/>
              <a:cs typeface="微软雅黑"/>
            </a:endParaRPr>
          </a:p>
          <a:p>
            <a:pPr marL="355600" marR="5080" indent="-342900">
              <a:lnSpc>
                <a:spcPts val="4010"/>
              </a:lnSpc>
              <a:spcBef>
                <a:spcPts val="310"/>
              </a:spcBef>
            </a:pPr>
            <a:r>
              <a:rPr sz="2400" spc="-235" dirty="0">
                <a:latin typeface="Segoe UI Symbol"/>
                <a:cs typeface="Segoe UI Symbol"/>
              </a:rPr>
              <a:t>⚫</a:t>
            </a:r>
            <a:r>
              <a:rPr sz="2400" spc="245" dirty="0">
                <a:latin typeface="Segoe UI Symbol"/>
                <a:cs typeface="Segoe UI Symbol"/>
              </a:rPr>
              <a:t> </a:t>
            </a:r>
            <a:r>
              <a:rPr sz="2400" b="1" dirty="0">
                <a:latin typeface="微软雅黑"/>
                <a:cs typeface="微软雅黑"/>
              </a:rPr>
              <a:t>接收时，数据通过R</a:t>
            </a:r>
            <a:r>
              <a:rPr sz="2400" b="1" spc="-15" dirty="0">
                <a:latin typeface="微软雅黑"/>
                <a:cs typeface="微软雅黑"/>
              </a:rPr>
              <a:t>X</a:t>
            </a:r>
            <a:r>
              <a:rPr sz="2400" b="1" dirty="0">
                <a:latin typeface="微软雅黑"/>
                <a:cs typeface="微软雅黑"/>
              </a:rPr>
              <a:t>引脚逐位送入接收移位寄存器</a:t>
            </a:r>
            <a:r>
              <a:rPr sz="2400" b="1" spc="-30" dirty="0">
                <a:latin typeface="微软雅黑"/>
                <a:cs typeface="微软雅黑"/>
              </a:rPr>
              <a:t>，</a:t>
            </a:r>
            <a:r>
              <a:rPr sz="2400" b="1" spc="-10" dirty="0">
                <a:latin typeface="微软雅黑"/>
                <a:cs typeface="微软雅黑"/>
              </a:rPr>
              <a:t>8</a:t>
            </a:r>
            <a:r>
              <a:rPr sz="2400" b="1" dirty="0">
                <a:latin typeface="微软雅黑"/>
                <a:cs typeface="微软雅黑"/>
              </a:rPr>
              <a:t>位数据接收完成后， 送入</a:t>
            </a:r>
            <a:r>
              <a:rPr sz="2400" b="1" spc="-5" dirty="0">
                <a:latin typeface="微软雅黑"/>
                <a:cs typeface="微软雅黑"/>
              </a:rPr>
              <a:t>RD</a:t>
            </a:r>
            <a:r>
              <a:rPr sz="2400" b="1" spc="5" dirty="0">
                <a:latin typeface="微软雅黑"/>
                <a:cs typeface="微软雅黑"/>
              </a:rPr>
              <a:t>R</a:t>
            </a:r>
            <a:r>
              <a:rPr sz="2400" b="1" dirty="0">
                <a:latin typeface="微软雅黑"/>
                <a:cs typeface="微软雅黑"/>
              </a:rPr>
              <a:t>寄存器，供用户读取。</a:t>
            </a:r>
            <a:endParaRPr sz="2400">
              <a:latin typeface="微软雅黑"/>
              <a:cs typeface="微软雅黑"/>
            </a:endParaRPr>
          </a:p>
        </p:txBody>
      </p:sp>
      <p:sp>
        <p:nvSpPr>
          <p:cNvPr id="4" name="object 4"/>
          <p:cNvSpPr/>
          <p:nvPr/>
        </p:nvSpPr>
        <p:spPr>
          <a:xfrm>
            <a:off x="485394" y="3737608"/>
            <a:ext cx="11222990" cy="3008630"/>
          </a:xfrm>
          <a:custGeom>
            <a:avLst/>
            <a:gdLst/>
            <a:ahLst/>
            <a:cxnLst/>
            <a:rect l="l" t="t" r="r" b="b"/>
            <a:pathLst>
              <a:path w="11222990" h="3008629">
                <a:moveTo>
                  <a:pt x="0" y="3008376"/>
                </a:moveTo>
                <a:lnTo>
                  <a:pt x="11222736" y="3008376"/>
                </a:lnTo>
                <a:lnTo>
                  <a:pt x="11222736" y="0"/>
                </a:lnTo>
                <a:lnTo>
                  <a:pt x="0" y="0"/>
                </a:lnTo>
                <a:lnTo>
                  <a:pt x="0" y="3008376"/>
                </a:lnTo>
                <a:close/>
              </a:path>
            </a:pathLst>
          </a:custGeom>
          <a:ln w="38100">
            <a:solidFill>
              <a:srgbClr val="E34A46"/>
            </a:solidFill>
          </a:ln>
        </p:spPr>
        <p:txBody>
          <a:bodyPr wrap="square" lIns="0" tIns="0" rIns="0" bIns="0" rtlCol="0"/>
          <a:lstStyle/>
          <a:p>
            <a:endParaRPr/>
          </a:p>
        </p:txBody>
      </p:sp>
      <p:sp>
        <p:nvSpPr>
          <p:cNvPr id="5" name="object 5"/>
          <p:cNvSpPr/>
          <p:nvPr/>
        </p:nvSpPr>
        <p:spPr>
          <a:xfrm>
            <a:off x="821436" y="766572"/>
            <a:ext cx="10549127" cy="2935223"/>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7984997" y="131826"/>
            <a:ext cx="4066540" cy="1195070"/>
          </a:xfrm>
          <a:custGeom>
            <a:avLst/>
            <a:gdLst/>
            <a:ahLst/>
            <a:cxnLst/>
            <a:rect l="l" t="t" r="r" b="b"/>
            <a:pathLst>
              <a:path w="4066540" h="1195070">
                <a:moveTo>
                  <a:pt x="3866896" y="0"/>
                </a:moveTo>
                <a:lnTo>
                  <a:pt x="199135" y="0"/>
                </a:lnTo>
                <a:lnTo>
                  <a:pt x="182803" y="660"/>
                </a:lnTo>
                <a:lnTo>
                  <a:pt x="136192" y="10151"/>
                </a:lnTo>
                <a:lnTo>
                  <a:pt x="94238" y="29834"/>
                </a:lnTo>
                <a:lnTo>
                  <a:pt x="58324" y="58324"/>
                </a:lnTo>
                <a:lnTo>
                  <a:pt x="29834" y="94238"/>
                </a:lnTo>
                <a:lnTo>
                  <a:pt x="10151" y="136192"/>
                </a:lnTo>
                <a:lnTo>
                  <a:pt x="660" y="182803"/>
                </a:lnTo>
                <a:lnTo>
                  <a:pt x="0" y="199135"/>
                </a:lnTo>
                <a:lnTo>
                  <a:pt x="0" y="995679"/>
                </a:lnTo>
                <a:lnTo>
                  <a:pt x="5787" y="1043535"/>
                </a:lnTo>
                <a:lnTo>
                  <a:pt x="22226" y="1087195"/>
                </a:lnTo>
                <a:lnTo>
                  <a:pt x="47934" y="1125276"/>
                </a:lnTo>
                <a:lnTo>
                  <a:pt x="81527" y="1156394"/>
                </a:lnTo>
                <a:lnTo>
                  <a:pt x="121622" y="1179167"/>
                </a:lnTo>
                <a:lnTo>
                  <a:pt x="166834" y="1192209"/>
                </a:lnTo>
                <a:lnTo>
                  <a:pt x="199135" y="1194815"/>
                </a:lnTo>
                <a:lnTo>
                  <a:pt x="3866896" y="1194815"/>
                </a:lnTo>
                <a:lnTo>
                  <a:pt x="3914751" y="1189028"/>
                </a:lnTo>
                <a:lnTo>
                  <a:pt x="3958411" y="1172589"/>
                </a:lnTo>
                <a:lnTo>
                  <a:pt x="3996492" y="1146881"/>
                </a:lnTo>
                <a:lnTo>
                  <a:pt x="4027610" y="1113288"/>
                </a:lnTo>
                <a:lnTo>
                  <a:pt x="4050383" y="1073193"/>
                </a:lnTo>
                <a:lnTo>
                  <a:pt x="4063425" y="1027981"/>
                </a:lnTo>
                <a:lnTo>
                  <a:pt x="4066031" y="995679"/>
                </a:lnTo>
                <a:lnTo>
                  <a:pt x="4066031" y="199135"/>
                </a:lnTo>
                <a:lnTo>
                  <a:pt x="4060244" y="151280"/>
                </a:lnTo>
                <a:lnTo>
                  <a:pt x="4043805" y="107620"/>
                </a:lnTo>
                <a:lnTo>
                  <a:pt x="4018097" y="69539"/>
                </a:lnTo>
                <a:lnTo>
                  <a:pt x="3984504" y="38421"/>
                </a:lnTo>
                <a:lnTo>
                  <a:pt x="3944409" y="15648"/>
                </a:lnTo>
                <a:lnTo>
                  <a:pt x="3899197" y="2606"/>
                </a:lnTo>
                <a:lnTo>
                  <a:pt x="3866896" y="0"/>
                </a:lnTo>
                <a:close/>
              </a:path>
            </a:pathLst>
          </a:custGeom>
          <a:solidFill>
            <a:srgbClr val="FFFFC7"/>
          </a:solidFill>
        </p:spPr>
        <p:txBody>
          <a:bodyPr wrap="square" lIns="0" tIns="0" rIns="0" bIns="0" rtlCol="0"/>
          <a:lstStyle/>
          <a:p>
            <a:endParaRPr/>
          </a:p>
        </p:txBody>
      </p:sp>
      <p:sp>
        <p:nvSpPr>
          <p:cNvPr id="7" name="object 7"/>
          <p:cNvSpPr/>
          <p:nvPr/>
        </p:nvSpPr>
        <p:spPr>
          <a:xfrm>
            <a:off x="7984997" y="131826"/>
            <a:ext cx="4066540" cy="1195070"/>
          </a:xfrm>
          <a:custGeom>
            <a:avLst/>
            <a:gdLst/>
            <a:ahLst/>
            <a:cxnLst/>
            <a:rect l="l" t="t" r="r" b="b"/>
            <a:pathLst>
              <a:path w="4066540" h="1195070">
                <a:moveTo>
                  <a:pt x="0" y="199135"/>
                </a:moveTo>
                <a:lnTo>
                  <a:pt x="5787" y="151280"/>
                </a:lnTo>
                <a:lnTo>
                  <a:pt x="22226" y="107620"/>
                </a:lnTo>
                <a:lnTo>
                  <a:pt x="47934" y="69539"/>
                </a:lnTo>
                <a:lnTo>
                  <a:pt x="81527" y="38421"/>
                </a:lnTo>
                <a:lnTo>
                  <a:pt x="121622" y="15648"/>
                </a:lnTo>
                <a:lnTo>
                  <a:pt x="166834" y="2606"/>
                </a:lnTo>
                <a:lnTo>
                  <a:pt x="199135" y="0"/>
                </a:lnTo>
                <a:lnTo>
                  <a:pt x="677672" y="0"/>
                </a:lnTo>
                <a:lnTo>
                  <a:pt x="1694179" y="0"/>
                </a:lnTo>
                <a:lnTo>
                  <a:pt x="3866896" y="0"/>
                </a:lnTo>
                <a:lnTo>
                  <a:pt x="3883228" y="660"/>
                </a:lnTo>
                <a:lnTo>
                  <a:pt x="3929839" y="10151"/>
                </a:lnTo>
                <a:lnTo>
                  <a:pt x="3971793" y="29834"/>
                </a:lnTo>
                <a:lnTo>
                  <a:pt x="4007707" y="58324"/>
                </a:lnTo>
                <a:lnTo>
                  <a:pt x="4036197" y="94238"/>
                </a:lnTo>
                <a:lnTo>
                  <a:pt x="4055880" y="136192"/>
                </a:lnTo>
                <a:lnTo>
                  <a:pt x="4065371" y="182803"/>
                </a:lnTo>
                <a:lnTo>
                  <a:pt x="4066031" y="199135"/>
                </a:lnTo>
                <a:lnTo>
                  <a:pt x="4066031" y="696976"/>
                </a:lnTo>
                <a:lnTo>
                  <a:pt x="4066031" y="995679"/>
                </a:lnTo>
                <a:lnTo>
                  <a:pt x="4065371" y="1012012"/>
                </a:lnTo>
                <a:lnTo>
                  <a:pt x="4063425" y="1027981"/>
                </a:lnTo>
                <a:lnTo>
                  <a:pt x="4050383" y="1073193"/>
                </a:lnTo>
                <a:lnTo>
                  <a:pt x="4027610" y="1113288"/>
                </a:lnTo>
                <a:lnTo>
                  <a:pt x="3996492" y="1146881"/>
                </a:lnTo>
                <a:lnTo>
                  <a:pt x="3958411" y="1172589"/>
                </a:lnTo>
                <a:lnTo>
                  <a:pt x="3914751" y="1189028"/>
                </a:lnTo>
                <a:lnTo>
                  <a:pt x="3866896" y="1194815"/>
                </a:lnTo>
                <a:lnTo>
                  <a:pt x="1694179" y="1194815"/>
                </a:lnTo>
                <a:lnTo>
                  <a:pt x="1094485" y="1194815"/>
                </a:lnTo>
                <a:lnTo>
                  <a:pt x="677672" y="1194815"/>
                </a:lnTo>
                <a:lnTo>
                  <a:pt x="199135" y="1194815"/>
                </a:lnTo>
                <a:lnTo>
                  <a:pt x="182803" y="1194155"/>
                </a:lnTo>
                <a:lnTo>
                  <a:pt x="136192" y="1184664"/>
                </a:lnTo>
                <a:lnTo>
                  <a:pt x="94238" y="1164981"/>
                </a:lnTo>
                <a:lnTo>
                  <a:pt x="58324" y="1136491"/>
                </a:lnTo>
                <a:lnTo>
                  <a:pt x="29834" y="1100577"/>
                </a:lnTo>
                <a:lnTo>
                  <a:pt x="10151" y="1058623"/>
                </a:lnTo>
                <a:lnTo>
                  <a:pt x="660" y="1012012"/>
                </a:lnTo>
                <a:lnTo>
                  <a:pt x="0" y="995679"/>
                </a:lnTo>
                <a:lnTo>
                  <a:pt x="0" y="696976"/>
                </a:lnTo>
                <a:lnTo>
                  <a:pt x="0" y="199135"/>
                </a:lnTo>
                <a:close/>
              </a:path>
            </a:pathLst>
          </a:custGeom>
          <a:ln w="28956">
            <a:solidFill>
              <a:srgbClr val="000000"/>
            </a:solidFill>
          </a:ln>
        </p:spPr>
        <p:txBody>
          <a:bodyPr wrap="square" lIns="0" tIns="0" rIns="0" bIns="0" rtlCol="0"/>
          <a:lstStyle/>
          <a:p>
            <a:endParaRPr/>
          </a:p>
        </p:txBody>
      </p:sp>
      <p:sp>
        <p:nvSpPr>
          <p:cNvPr id="8" name="object 8"/>
          <p:cNvSpPr txBox="1">
            <a:spLocks noGrp="1"/>
          </p:cNvSpPr>
          <p:nvPr>
            <p:ph type="title"/>
          </p:nvPr>
        </p:nvSpPr>
        <p:spPr>
          <a:xfrm>
            <a:off x="8167496" y="232092"/>
            <a:ext cx="3701415" cy="304800"/>
          </a:xfrm>
          <a:prstGeom prst="rect">
            <a:avLst/>
          </a:prstGeom>
        </p:spPr>
        <p:txBody>
          <a:bodyPr vert="horz" wrap="square" lIns="0" tIns="0" rIns="0" bIns="0" rtlCol="0">
            <a:spAutoFit/>
          </a:bodyPr>
          <a:lstStyle/>
          <a:p>
            <a:pPr marL="12700">
              <a:lnSpc>
                <a:spcPts val="2740"/>
              </a:lnSpc>
            </a:pPr>
            <a:r>
              <a:rPr sz="2400" spc="10" dirty="0">
                <a:solidFill>
                  <a:srgbClr val="000000"/>
                </a:solidFill>
                <a:latin typeface="Microsoft JhengHei"/>
                <a:cs typeface="Microsoft JhengHei"/>
              </a:rPr>
              <a:t>数据收发过程中，可同时写</a:t>
            </a:r>
            <a:endParaRPr sz="2400">
              <a:latin typeface="Microsoft JhengHei"/>
              <a:cs typeface="Microsoft JhengHei"/>
            </a:endParaRPr>
          </a:p>
        </p:txBody>
      </p:sp>
      <p:sp>
        <p:nvSpPr>
          <p:cNvPr id="9" name="object 9"/>
          <p:cNvSpPr txBox="1"/>
          <p:nvPr/>
        </p:nvSpPr>
        <p:spPr>
          <a:xfrm>
            <a:off x="8167496" y="597852"/>
            <a:ext cx="3701415" cy="649605"/>
          </a:xfrm>
          <a:prstGeom prst="rect">
            <a:avLst/>
          </a:prstGeom>
        </p:spPr>
        <p:txBody>
          <a:bodyPr vert="horz" wrap="square" lIns="0" tIns="0" rIns="0" bIns="0" rtlCol="0">
            <a:spAutoFit/>
          </a:bodyPr>
          <a:lstStyle/>
          <a:p>
            <a:pPr marL="12700">
              <a:lnSpc>
                <a:spcPts val="2795"/>
              </a:lnSpc>
            </a:pPr>
            <a:r>
              <a:rPr sz="2400" b="1" spc="10" dirty="0">
                <a:latin typeface="Microsoft JhengHei"/>
                <a:cs typeface="Microsoft JhengHei"/>
              </a:rPr>
              <a:t>入新的数据或读取已接收的</a:t>
            </a:r>
            <a:endParaRPr sz="2400">
              <a:latin typeface="Microsoft JhengHei"/>
              <a:cs typeface="Microsoft JhengHei"/>
            </a:endParaRPr>
          </a:p>
          <a:p>
            <a:pPr marL="12700">
              <a:lnSpc>
                <a:spcPts val="2655"/>
              </a:lnSpc>
            </a:pPr>
            <a:r>
              <a:rPr sz="2400" b="1" spc="5" dirty="0">
                <a:latin typeface="Microsoft JhengHei"/>
                <a:cs typeface="Microsoft JhengHei"/>
              </a:rPr>
              <a:t>数据，提高数据的传输效率</a:t>
            </a:r>
            <a:endParaRPr sz="2400">
              <a:latin typeface="Microsoft JhengHei"/>
              <a:cs typeface="Microsoft JhengHei"/>
            </a:endParaRPr>
          </a:p>
        </p:txBody>
      </p:sp>
    </p:spTree>
    <p:extLst>
      <p:ext uri="{BB962C8B-B14F-4D97-AF65-F5344CB8AC3E}">
        <p14:creationId xmlns:p14="http://schemas.microsoft.com/office/powerpoint/2010/main" val="34794748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78941" y="5621273"/>
            <a:ext cx="10716895" cy="1042669"/>
          </a:xfrm>
          <a:prstGeom prst="rect">
            <a:avLst/>
          </a:prstGeom>
          <a:ln w="38100">
            <a:solidFill>
              <a:srgbClr val="E34A46"/>
            </a:solidFill>
          </a:ln>
        </p:spPr>
        <p:txBody>
          <a:bodyPr vert="horz" wrap="square" lIns="0" tIns="0" rIns="0" bIns="0" rtlCol="0">
            <a:spAutoFit/>
          </a:bodyPr>
          <a:lstStyle/>
          <a:p>
            <a:pPr marL="260350">
              <a:lnSpc>
                <a:spcPct val="100000"/>
              </a:lnSpc>
            </a:pPr>
            <a:r>
              <a:rPr sz="2400" b="1" spc="-5" dirty="0">
                <a:latin typeface="微软雅黑"/>
                <a:cs typeface="微软雅黑"/>
              </a:rPr>
              <a:t>在轮询方式下可以直接检测标志位；在中断方式下，需要在中断服务程序中</a:t>
            </a:r>
            <a:endParaRPr sz="2400">
              <a:latin typeface="微软雅黑"/>
              <a:cs typeface="微软雅黑"/>
            </a:endParaRPr>
          </a:p>
          <a:p>
            <a:pPr marL="260350">
              <a:lnSpc>
                <a:spcPct val="100000"/>
              </a:lnSpc>
              <a:spcBef>
                <a:spcPts val="1440"/>
              </a:spcBef>
            </a:pPr>
            <a:r>
              <a:rPr sz="2400" b="1" dirty="0">
                <a:latin typeface="微软雅黑"/>
                <a:cs typeface="微软雅黑"/>
              </a:rPr>
              <a:t>通过检测不同的中断标志位，来判断出中断类型，然后执行后续的任务处理。</a:t>
            </a:r>
            <a:endParaRPr sz="2400">
              <a:latin typeface="微软雅黑"/>
              <a:cs typeface="微软雅黑"/>
            </a:endParaRPr>
          </a:p>
        </p:txBody>
      </p:sp>
      <p:sp>
        <p:nvSpPr>
          <p:cNvPr id="4" name="object 4"/>
          <p:cNvSpPr txBox="1">
            <a:spLocks noGrp="1"/>
          </p:cNvSpPr>
          <p:nvPr>
            <p:ph type="title"/>
          </p:nvPr>
        </p:nvSpPr>
        <p:spPr>
          <a:xfrm>
            <a:off x="4822697" y="143312"/>
            <a:ext cx="2513330" cy="381000"/>
          </a:xfrm>
          <a:prstGeom prst="rect">
            <a:avLst/>
          </a:prstGeom>
        </p:spPr>
        <p:txBody>
          <a:bodyPr vert="horz" wrap="square" lIns="0" tIns="0" rIns="0" bIns="0" rtlCol="0">
            <a:spAutoFit/>
          </a:bodyPr>
          <a:lstStyle/>
          <a:p>
            <a:pPr marL="12700">
              <a:lnSpc>
                <a:spcPct val="100000"/>
              </a:lnSpc>
            </a:pPr>
            <a:r>
              <a:rPr spc="-5" dirty="0"/>
              <a:t>通信状态标志位</a:t>
            </a:r>
          </a:p>
        </p:txBody>
      </p:sp>
      <p:graphicFrame>
        <p:nvGraphicFramePr>
          <p:cNvPr id="2" name="object 2"/>
          <p:cNvGraphicFramePr>
            <a:graphicFrameLocks noGrp="1"/>
          </p:cNvGraphicFramePr>
          <p:nvPr/>
        </p:nvGraphicFramePr>
        <p:xfrm>
          <a:off x="229628" y="570039"/>
          <a:ext cx="11704115" cy="4904740"/>
        </p:xfrm>
        <a:graphic>
          <a:graphicData uri="http://schemas.openxmlformats.org/drawingml/2006/table">
            <a:tbl>
              <a:tblPr firstRow="1" bandRow="1">
                <a:tableStyleId>{2D5ABB26-0587-4C30-8999-92F81FD0307C}</a:tableStyleId>
              </a:tblPr>
              <a:tblGrid>
                <a:gridCol w="1768144">
                  <a:extLst>
                    <a:ext uri="{9D8B030D-6E8A-4147-A177-3AD203B41FA5}">
                      <a16:colId xmlns:a16="http://schemas.microsoft.com/office/drawing/2014/main" val="20000"/>
                    </a:ext>
                  </a:extLst>
                </a:gridCol>
                <a:gridCol w="9935971">
                  <a:extLst>
                    <a:ext uri="{9D8B030D-6E8A-4147-A177-3AD203B41FA5}">
                      <a16:colId xmlns:a16="http://schemas.microsoft.com/office/drawing/2014/main" val="20001"/>
                    </a:ext>
                  </a:extLst>
                </a:gridCol>
              </a:tblGrid>
              <a:tr h="465963">
                <a:tc>
                  <a:txBody>
                    <a:bodyPr/>
                    <a:lstStyle/>
                    <a:p>
                      <a:pPr marL="107950">
                        <a:lnSpc>
                          <a:spcPct val="100000"/>
                        </a:lnSpc>
                      </a:pPr>
                      <a:r>
                        <a:rPr sz="2400" b="1" dirty="0">
                          <a:solidFill>
                            <a:srgbClr val="FFFFFF"/>
                          </a:solidFill>
                          <a:latin typeface="微软雅黑"/>
                          <a:cs typeface="微软雅黑"/>
                        </a:rPr>
                        <a:t>标志位名称</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tc>
                  <a:txBody>
                    <a:bodyPr/>
                    <a:lstStyle/>
                    <a:p>
                      <a:pPr algn="ctr">
                        <a:lnSpc>
                          <a:spcPct val="100000"/>
                        </a:lnSpc>
                      </a:pPr>
                      <a:r>
                        <a:rPr sz="2400" b="1" dirty="0">
                          <a:solidFill>
                            <a:srgbClr val="FFFFFF"/>
                          </a:solidFill>
                          <a:latin typeface="微软雅黑"/>
                          <a:cs typeface="微软雅黑"/>
                        </a:rPr>
                        <a:t>含义</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extLst>
                  <a:ext uri="{0D108BD9-81ED-4DB2-BD59-A6C34878D82A}">
                    <a16:rowId xmlns:a16="http://schemas.microsoft.com/office/drawing/2014/main" val="10000"/>
                  </a:ext>
                </a:extLst>
              </a:tr>
              <a:tr h="1397635">
                <a:tc>
                  <a:txBody>
                    <a:bodyPr/>
                    <a:lstStyle/>
                    <a:p>
                      <a:pPr algn="ctr">
                        <a:lnSpc>
                          <a:spcPct val="100000"/>
                        </a:lnSpc>
                      </a:pPr>
                      <a:r>
                        <a:rPr sz="2400" b="1" spc="-5" dirty="0">
                          <a:latin typeface="微软雅黑"/>
                          <a:cs typeface="微软雅黑"/>
                        </a:rPr>
                        <a:t>TXE</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marR="45720" algn="just">
                        <a:lnSpc>
                          <a:spcPct val="100000"/>
                        </a:lnSpc>
                      </a:pPr>
                      <a:r>
                        <a:rPr sz="2400" b="1" dirty="0">
                          <a:latin typeface="微软雅黑"/>
                          <a:cs typeface="微软雅黑"/>
                        </a:rPr>
                        <a:t>发送数</a:t>
                      </a:r>
                      <a:r>
                        <a:rPr sz="2400" b="1" spc="5" dirty="0">
                          <a:latin typeface="微软雅黑"/>
                          <a:cs typeface="微软雅黑"/>
                        </a:rPr>
                        <a:t>据</a:t>
                      </a:r>
                      <a:r>
                        <a:rPr sz="2400" b="1" spc="10" dirty="0">
                          <a:latin typeface="微软雅黑"/>
                          <a:cs typeface="微软雅黑"/>
                        </a:rPr>
                        <a:t>寄</a:t>
                      </a:r>
                      <a:r>
                        <a:rPr sz="2400" b="1" dirty="0">
                          <a:latin typeface="微软雅黑"/>
                          <a:cs typeface="微软雅黑"/>
                        </a:rPr>
                        <a:t>存器空</a:t>
                      </a:r>
                      <a:r>
                        <a:rPr sz="2400" b="1" spc="5" dirty="0">
                          <a:latin typeface="微软雅黑"/>
                          <a:cs typeface="微软雅黑"/>
                        </a:rPr>
                        <a:t>标</a:t>
                      </a:r>
                      <a:r>
                        <a:rPr sz="2400" b="1" dirty="0">
                          <a:latin typeface="微软雅黑"/>
                          <a:cs typeface="微软雅黑"/>
                        </a:rPr>
                        <a:t>志。当</a:t>
                      </a:r>
                      <a:r>
                        <a:rPr sz="2400" b="1" spc="-5" dirty="0">
                          <a:latin typeface="微软雅黑"/>
                          <a:cs typeface="微软雅黑"/>
                        </a:rPr>
                        <a:t>TD</a:t>
                      </a:r>
                      <a:r>
                        <a:rPr sz="2400" b="1" spc="10" dirty="0">
                          <a:latin typeface="微软雅黑"/>
                          <a:cs typeface="微软雅黑"/>
                        </a:rPr>
                        <a:t>R</a:t>
                      </a:r>
                      <a:r>
                        <a:rPr sz="2400" b="1" dirty="0">
                          <a:latin typeface="微软雅黑"/>
                          <a:cs typeface="微软雅黑"/>
                        </a:rPr>
                        <a:t>寄存器</a:t>
                      </a:r>
                      <a:r>
                        <a:rPr sz="2400" b="1" spc="5" dirty="0">
                          <a:latin typeface="微软雅黑"/>
                          <a:cs typeface="微软雅黑"/>
                        </a:rPr>
                        <a:t>的</a:t>
                      </a:r>
                      <a:r>
                        <a:rPr sz="2400" b="1" spc="10" dirty="0">
                          <a:latin typeface="微软雅黑"/>
                          <a:cs typeface="微软雅黑"/>
                        </a:rPr>
                        <a:t>内</a:t>
                      </a:r>
                      <a:r>
                        <a:rPr sz="2400" b="1" dirty="0">
                          <a:latin typeface="微软雅黑"/>
                          <a:cs typeface="微软雅黑"/>
                        </a:rPr>
                        <a:t>容已经</a:t>
                      </a:r>
                      <a:r>
                        <a:rPr sz="2400" b="1" spc="5" dirty="0">
                          <a:latin typeface="微软雅黑"/>
                          <a:cs typeface="微软雅黑"/>
                        </a:rPr>
                        <a:t>传</a:t>
                      </a:r>
                      <a:r>
                        <a:rPr sz="2400" b="1" spc="10" dirty="0">
                          <a:latin typeface="微软雅黑"/>
                          <a:cs typeface="微软雅黑"/>
                        </a:rPr>
                        <a:t>送</a:t>
                      </a:r>
                      <a:r>
                        <a:rPr sz="2400" b="1" spc="-15" dirty="0">
                          <a:latin typeface="微软雅黑"/>
                          <a:cs typeface="微软雅黑"/>
                        </a:rPr>
                        <a:t>到</a:t>
                      </a:r>
                      <a:r>
                        <a:rPr sz="2400" b="1" dirty="0">
                          <a:latin typeface="微软雅黑"/>
                          <a:cs typeface="微软雅黑"/>
                        </a:rPr>
                        <a:t>发送移</a:t>
                      </a:r>
                      <a:r>
                        <a:rPr sz="2400" b="1" spc="5" dirty="0">
                          <a:latin typeface="微软雅黑"/>
                          <a:cs typeface="微软雅黑"/>
                        </a:rPr>
                        <a:t>位</a:t>
                      </a:r>
                      <a:r>
                        <a:rPr sz="2400" b="1" dirty="0">
                          <a:latin typeface="微软雅黑"/>
                          <a:cs typeface="微软雅黑"/>
                        </a:rPr>
                        <a:t>寄存器 </a:t>
                      </a:r>
                      <a:r>
                        <a:rPr sz="2400" b="1" spc="10" dirty="0">
                          <a:latin typeface="微软雅黑"/>
                          <a:cs typeface="微软雅黑"/>
                        </a:rPr>
                        <a:t>时，该位由硬件</a:t>
                      </a:r>
                      <a:r>
                        <a:rPr sz="2400" b="1" spc="15" dirty="0">
                          <a:latin typeface="微软雅黑"/>
                          <a:cs typeface="微软雅黑"/>
                        </a:rPr>
                        <a:t>置</a:t>
                      </a:r>
                      <a:r>
                        <a:rPr sz="2400" b="1" spc="5" dirty="0">
                          <a:latin typeface="微软雅黑"/>
                          <a:cs typeface="微软雅黑"/>
                        </a:rPr>
                        <a:t>1</a:t>
                      </a:r>
                      <a:r>
                        <a:rPr sz="2400" b="1" dirty="0">
                          <a:latin typeface="微软雅黑"/>
                          <a:cs typeface="微软雅黑"/>
                        </a:rPr>
                        <a:t>。</a:t>
                      </a:r>
                      <a:r>
                        <a:rPr sz="2400" b="1" spc="10" dirty="0">
                          <a:latin typeface="微软雅黑"/>
                          <a:cs typeface="微软雅黑"/>
                        </a:rPr>
                        <a:t>如果串口控制寄存器</a:t>
                      </a:r>
                      <a:r>
                        <a:rPr sz="2400" b="1" spc="-10" dirty="0">
                          <a:latin typeface="微软雅黑"/>
                          <a:cs typeface="微软雅黑"/>
                        </a:rPr>
                        <a:t>C</a:t>
                      </a:r>
                      <a:r>
                        <a:rPr sz="2400" b="1" dirty="0">
                          <a:latin typeface="微软雅黑"/>
                          <a:cs typeface="微软雅黑"/>
                        </a:rPr>
                        <a:t>R</a:t>
                      </a:r>
                      <a:r>
                        <a:rPr sz="2400" b="1" spc="5" dirty="0">
                          <a:latin typeface="微软雅黑"/>
                          <a:cs typeface="微软雅黑"/>
                        </a:rPr>
                        <a:t>1</a:t>
                      </a:r>
                      <a:r>
                        <a:rPr sz="2400" b="1" spc="10" dirty="0">
                          <a:latin typeface="微软雅黑"/>
                          <a:cs typeface="微软雅黑"/>
                        </a:rPr>
                        <a:t>中的</a:t>
                      </a:r>
                      <a:r>
                        <a:rPr sz="2400" b="1" spc="-15" dirty="0">
                          <a:latin typeface="微软雅黑"/>
                          <a:cs typeface="微软雅黑"/>
                        </a:rPr>
                        <a:t>TX</a:t>
                      </a:r>
                      <a:r>
                        <a:rPr sz="2400" b="1" dirty="0">
                          <a:latin typeface="微软雅黑"/>
                          <a:cs typeface="微软雅黑"/>
                        </a:rPr>
                        <a:t>EIE</a:t>
                      </a:r>
                      <a:r>
                        <a:rPr sz="2400" b="1" spc="10" dirty="0">
                          <a:latin typeface="微软雅黑"/>
                          <a:cs typeface="微软雅黑"/>
                        </a:rPr>
                        <a:t>位为</a:t>
                      </a:r>
                      <a:r>
                        <a:rPr sz="2400" b="1" spc="5" dirty="0">
                          <a:latin typeface="微软雅黑"/>
                          <a:cs typeface="微软雅黑"/>
                        </a:rPr>
                        <a:t>1</a:t>
                      </a:r>
                      <a:r>
                        <a:rPr sz="2400" b="1" spc="10" dirty="0">
                          <a:latin typeface="微软雅黑"/>
                          <a:cs typeface="微软雅黑"/>
                        </a:rPr>
                        <a:t>，</a:t>
                      </a:r>
                      <a:r>
                        <a:rPr sz="2400" b="1" spc="15" dirty="0">
                          <a:latin typeface="微软雅黑"/>
                          <a:cs typeface="微软雅黑"/>
                        </a:rPr>
                        <a:t>将</a:t>
                      </a:r>
                      <a:r>
                        <a:rPr sz="2400" b="1" spc="10" dirty="0">
                          <a:latin typeface="微软雅黑"/>
                          <a:cs typeface="微软雅黑"/>
                        </a:rPr>
                        <a:t>会</a:t>
                      </a:r>
                      <a:r>
                        <a:rPr sz="2400" b="1" dirty="0">
                          <a:latin typeface="微软雅黑"/>
                          <a:cs typeface="微软雅黑"/>
                        </a:rPr>
                        <a:t>触 </a:t>
                      </a:r>
                      <a:r>
                        <a:rPr sz="2400" b="1" spc="-5" dirty="0">
                          <a:latin typeface="微软雅黑"/>
                          <a:cs typeface="微软雅黑"/>
                        </a:rPr>
                        <a:t>发发送数据寄存器空中</a:t>
                      </a:r>
                      <a:r>
                        <a:rPr sz="2400" b="1" dirty="0">
                          <a:latin typeface="微软雅黑"/>
                          <a:cs typeface="微软雅黑"/>
                        </a:rPr>
                        <a:t>断</a:t>
                      </a:r>
                      <a:r>
                        <a:rPr sz="2400" b="1" spc="-5" dirty="0">
                          <a:latin typeface="微软雅黑"/>
                          <a:cs typeface="微软雅黑"/>
                        </a:rPr>
                        <a:t>。</a:t>
                      </a:r>
                      <a:r>
                        <a:rPr sz="2400" b="1" spc="-5" dirty="0">
                          <a:solidFill>
                            <a:srgbClr val="FF0000"/>
                          </a:solidFill>
                          <a:latin typeface="微软雅黑"/>
                          <a:cs typeface="微软雅黑"/>
                        </a:rPr>
                        <a:t>注意：当TX</a:t>
                      </a:r>
                      <a:r>
                        <a:rPr sz="2400" b="1" spc="-10" dirty="0">
                          <a:solidFill>
                            <a:srgbClr val="FF0000"/>
                          </a:solidFill>
                          <a:latin typeface="微软雅黑"/>
                          <a:cs typeface="微软雅黑"/>
                        </a:rPr>
                        <a:t>E</a:t>
                      </a:r>
                      <a:r>
                        <a:rPr sz="2400" b="1" spc="-5" dirty="0">
                          <a:solidFill>
                            <a:srgbClr val="FF0000"/>
                          </a:solidFill>
                          <a:latin typeface="微软雅黑"/>
                          <a:cs typeface="微软雅黑"/>
                        </a:rPr>
                        <a:t>置</a:t>
                      </a:r>
                      <a:r>
                        <a:rPr sz="2400" b="1" spc="-10" dirty="0">
                          <a:solidFill>
                            <a:srgbClr val="FF0000"/>
                          </a:solidFill>
                          <a:latin typeface="微软雅黑"/>
                          <a:cs typeface="微软雅黑"/>
                        </a:rPr>
                        <a:t>1</a:t>
                      </a:r>
                      <a:r>
                        <a:rPr sz="2400" b="1" spc="-5" dirty="0">
                          <a:solidFill>
                            <a:srgbClr val="FF0000"/>
                          </a:solidFill>
                          <a:latin typeface="微软雅黑"/>
                          <a:cs typeface="微软雅黑"/>
                        </a:rPr>
                        <a:t>时，</a:t>
                      </a:r>
                      <a:r>
                        <a:rPr sz="2400" b="1" dirty="0">
                          <a:solidFill>
                            <a:srgbClr val="FF0000"/>
                          </a:solidFill>
                          <a:latin typeface="微软雅黑"/>
                          <a:cs typeface="微软雅黑"/>
                        </a:rPr>
                        <a:t>数据有可能还在发</a:t>
                      </a:r>
                      <a:r>
                        <a:rPr sz="2400" b="1" spc="-20" dirty="0">
                          <a:solidFill>
                            <a:srgbClr val="FF0000"/>
                          </a:solidFill>
                          <a:latin typeface="微软雅黑"/>
                          <a:cs typeface="微软雅黑"/>
                        </a:rPr>
                        <a:t>送</a:t>
                      </a:r>
                      <a:r>
                        <a:rPr sz="2400" b="1" dirty="0">
                          <a:solidFill>
                            <a:srgbClr val="FF0000"/>
                          </a:solidFill>
                          <a:latin typeface="微软雅黑"/>
                          <a:cs typeface="微软雅黑"/>
                        </a:rPr>
                        <a:t>。</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1"/>
                  </a:ext>
                </a:extLst>
              </a:tr>
              <a:tr h="1643507">
                <a:tc>
                  <a:txBody>
                    <a:bodyPr/>
                    <a:lstStyle/>
                    <a:p>
                      <a:pPr marR="4445" algn="ctr">
                        <a:lnSpc>
                          <a:spcPct val="100000"/>
                        </a:lnSpc>
                      </a:pPr>
                      <a:r>
                        <a:rPr sz="2400" b="1" spc="-100" dirty="0">
                          <a:latin typeface="微软雅黑"/>
                          <a:cs typeface="微软雅黑"/>
                        </a:rPr>
                        <a:t>TC</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3975" marR="45720">
                        <a:lnSpc>
                          <a:spcPct val="100000"/>
                        </a:lnSpc>
                      </a:pPr>
                      <a:r>
                        <a:rPr sz="2400" b="1" dirty="0">
                          <a:latin typeface="微软雅黑"/>
                          <a:cs typeface="微软雅黑"/>
                        </a:rPr>
                        <a:t>发送完成</a:t>
                      </a:r>
                      <a:r>
                        <a:rPr sz="2400" b="1" spc="5" dirty="0">
                          <a:latin typeface="微软雅黑"/>
                          <a:cs typeface="微软雅黑"/>
                        </a:rPr>
                        <a:t>标</a:t>
                      </a:r>
                      <a:r>
                        <a:rPr sz="2400" b="1" spc="-10" dirty="0">
                          <a:latin typeface="微软雅黑"/>
                          <a:cs typeface="微软雅黑"/>
                        </a:rPr>
                        <a:t>志</a:t>
                      </a:r>
                      <a:r>
                        <a:rPr sz="2400" b="1" spc="-5" dirty="0">
                          <a:latin typeface="微软雅黑"/>
                          <a:cs typeface="微软雅黑"/>
                        </a:rPr>
                        <a:t>。</a:t>
                      </a:r>
                      <a:r>
                        <a:rPr sz="2400" b="1" dirty="0">
                          <a:latin typeface="微软雅黑"/>
                          <a:cs typeface="微软雅黑"/>
                        </a:rPr>
                        <a:t>当发</a:t>
                      </a:r>
                      <a:r>
                        <a:rPr sz="2400" b="1" spc="5" dirty="0">
                          <a:latin typeface="微软雅黑"/>
                          <a:cs typeface="微软雅黑"/>
                        </a:rPr>
                        <a:t>送</a:t>
                      </a:r>
                      <a:r>
                        <a:rPr sz="2400" b="1" dirty="0">
                          <a:latin typeface="微软雅黑"/>
                          <a:cs typeface="微软雅黑"/>
                        </a:rPr>
                        <a:t>移位寄存</a:t>
                      </a:r>
                      <a:r>
                        <a:rPr sz="2400" b="1" spc="5" dirty="0">
                          <a:latin typeface="微软雅黑"/>
                          <a:cs typeface="微软雅黑"/>
                        </a:rPr>
                        <a:t>器</a:t>
                      </a:r>
                      <a:r>
                        <a:rPr sz="2400" b="1" dirty="0">
                          <a:latin typeface="微软雅黑"/>
                          <a:cs typeface="微软雅黑"/>
                        </a:rPr>
                        <a:t>的内容发</a:t>
                      </a:r>
                      <a:r>
                        <a:rPr sz="2400" b="1" spc="5" dirty="0">
                          <a:latin typeface="微软雅黑"/>
                          <a:cs typeface="微软雅黑"/>
                        </a:rPr>
                        <a:t>送</a:t>
                      </a:r>
                      <a:r>
                        <a:rPr sz="2400" b="1" dirty="0">
                          <a:latin typeface="微软雅黑"/>
                          <a:cs typeface="微软雅黑"/>
                        </a:rPr>
                        <a:t>完</a:t>
                      </a:r>
                      <a:r>
                        <a:rPr sz="2400" b="1" spc="-25" dirty="0">
                          <a:latin typeface="微软雅黑"/>
                          <a:cs typeface="微软雅黑"/>
                        </a:rPr>
                        <a:t>成</a:t>
                      </a:r>
                      <a:r>
                        <a:rPr sz="2400" b="1" spc="-5" dirty="0">
                          <a:latin typeface="微软雅黑"/>
                          <a:cs typeface="微软雅黑"/>
                        </a:rPr>
                        <a:t>，同</a:t>
                      </a:r>
                      <a:r>
                        <a:rPr sz="2400" b="1" spc="5" dirty="0">
                          <a:latin typeface="微软雅黑"/>
                          <a:cs typeface="微软雅黑"/>
                        </a:rPr>
                        <a:t>时</a:t>
                      </a:r>
                      <a:r>
                        <a:rPr sz="2400" b="1" spc="-5" dirty="0">
                          <a:latin typeface="微软雅黑"/>
                          <a:cs typeface="微软雅黑"/>
                        </a:rPr>
                        <a:t>T</a:t>
                      </a:r>
                      <a:r>
                        <a:rPr sz="2400" b="1" spc="-10" dirty="0">
                          <a:latin typeface="微软雅黑"/>
                          <a:cs typeface="微软雅黑"/>
                        </a:rPr>
                        <a:t>D</a:t>
                      </a:r>
                      <a:r>
                        <a:rPr sz="2400" b="1" dirty="0">
                          <a:latin typeface="微软雅黑"/>
                          <a:cs typeface="微软雅黑"/>
                        </a:rPr>
                        <a:t>R寄存器也为 </a:t>
                      </a:r>
                      <a:r>
                        <a:rPr sz="2400" b="1" spc="35" dirty="0">
                          <a:latin typeface="微软雅黑"/>
                          <a:cs typeface="微软雅黑"/>
                        </a:rPr>
                        <a:t>空时</a:t>
                      </a:r>
                      <a:r>
                        <a:rPr sz="2400" b="1" spc="45" dirty="0">
                          <a:latin typeface="微软雅黑"/>
                          <a:cs typeface="微软雅黑"/>
                        </a:rPr>
                        <a:t>，</a:t>
                      </a:r>
                      <a:r>
                        <a:rPr sz="2400" b="1" spc="35" dirty="0">
                          <a:latin typeface="微软雅黑"/>
                          <a:cs typeface="微软雅黑"/>
                        </a:rPr>
                        <a:t>该</a:t>
                      </a:r>
                      <a:r>
                        <a:rPr sz="2400" b="1" spc="45" dirty="0">
                          <a:latin typeface="微软雅黑"/>
                          <a:cs typeface="微软雅黑"/>
                        </a:rPr>
                        <a:t>位</a:t>
                      </a:r>
                      <a:r>
                        <a:rPr sz="2400" b="1" spc="30" dirty="0">
                          <a:latin typeface="微软雅黑"/>
                          <a:cs typeface="微软雅黑"/>
                        </a:rPr>
                        <a:t>由硬</a:t>
                      </a:r>
                      <a:r>
                        <a:rPr sz="2400" b="1" spc="45" dirty="0">
                          <a:latin typeface="微软雅黑"/>
                          <a:cs typeface="微软雅黑"/>
                        </a:rPr>
                        <a:t>件置</a:t>
                      </a:r>
                      <a:r>
                        <a:rPr sz="2400" b="1" spc="40" dirty="0">
                          <a:latin typeface="微软雅黑"/>
                          <a:cs typeface="微软雅黑"/>
                        </a:rPr>
                        <a:t>1</a:t>
                      </a:r>
                      <a:r>
                        <a:rPr sz="2400" b="1" spc="35" dirty="0">
                          <a:latin typeface="微软雅黑"/>
                          <a:cs typeface="微软雅黑"/>
                        </a:rPr>
                        <a:t>，</a:t>
                      </a:r>
                      <a:r>
                        <a:rPr sz="2400" b="1" spc="30" dirty="0">
                          <a:latin typeface="微软雅黑"/>
                          <a:cs typeface="微软雅黑"/>
                        </a:rPr>
                        <a:t>表</a:t>
                      </a:r>
                      <a:r>
                        <a:rPr sz="2400" b="1" spc="45" dirty="0">
                          <a:latin typeface="微软雅黑"/>
                          <a:cs typeface="微软雅黑"/>
                        </a:rPr>
                        <a:t>示</a:t>
                      </a:r>
                      <a:r>
                        <a:rPr sz="2400" b="1" spc="30" dirty="0">
                          <a:latin typeface="微软雅黑"/>
                          <a:cs typeface="微软雅黑"/>
                        </a:rPr>
                        <a:t>本</a:t>
                      </a:r>
                      <a:r>
                        <a:rPr sz="2400" b="1" spc="55" dirty="0">
                          <a:latin typeface="微软雅黑"/>
                          <a:cs typeface="微软雅黑"/>
                        </a:rPr>
                        <a:t>次</a:t>
                      </a:r>
                      <a:r>
                        <a:rPr sz="2400" b="1" spc="35" dirty="0">
                          <a:latin typeface="微软雅黑"/>
                          <a:cs typeface="微软雅黑"/>
                        </a:rPr>
                        <a:t>数据</a:t>
                      </a:r>
                      <a:r>
                        <a:rPr sz="2400" b="1" spc="45" dirty="0">
                          <a:latin typeface="微软雅黑"/>
                          <a:cs typeface="微软雅黑"/>
                        </a:rPr>
                        <a:t>传</a:t>
                      </a:r>
                      <a:r>
                        <a:rPr sz="2400" b="1" spc="35" dirty="0">
                          <a:latin typeface="微软雅黑"/>
                          <a:cs typeface="微软雅黑"/>
                        </a:rPr>
                        <a:t>输</a:t>
                      </a:r>
                      <a:r>
                        <a:rPr sz="2400" b="1" spc="45" dirty="0">
                          <a:latin typeface="微软雅黑"/>
                          <a:cs typeface="微软雅黑"/>
                        </a:rPr>
                        <a:t>已</a:t>
                      </a:r>
                      <a:r>
                        <a:rPr sz="2400" b="1" spc="35" dirty="0">
                          <a:latin typeface="微软雅黑"/>
                          <a:cs typeface="微软雅黑"/>
                        </a:rPr>
                        <a:t>经完</a:t>
                      </a:r>
                      <a:r>
                        <a:rPr sz="2400" b="1" spc="50" dirty="0">
                          <a:latin typeface="微软雅黑"/>
                          <a:cs typeface="微软雅黑"/>
                        </a:rPr>
                        <a:t>成</a:t>
                      </a:r>
                      <a:r>
                        <a:rPr sz="2400" b="1" spc="35" dirty="0">
                          <a:latin typeface="微软雅黑"/>
                          <a:cs typeface="微软雅黑"/>
                        </a:rPr>
                        <a:t>。</a:t>
                      </a:r>
                      <a:r>
                        <a:rPr sz="2400" b="1" spc="45" dirty="0">
                          <a:latin typeface="微软雅黑"/>
                          <a:cs typeface="微软雅黑"/>
                        </a:rPr>
                        <a:t>如</a:t>
                      </a:r>
                      <a:r>
                        <a:rPr sz="2400" b="1" spc="30" dirty="0">
                          <a:latin typeface="微软雅黑"/>
                          <a:cs typeface="微软雅黑"/>
                        </a:rPr>
                        <a:t>果串</a:t>
                      </a:r>
                      <a:r>
                        <a:rPr sz="2400" b="1" spc="45" dirty="0">
                          <a:latin typeface="微软雅黑"/>
                          <a:cs typeface="微软雅黑"/>
                        </a:rPr>
                        <a:t>口</a:t>
                      </a:r>
                      <a:r>
                        <a:rPr sz="2400" b="1" spc="30" dirty="0">
                          <a:latin typeface="微软雅黑"/>
                          <a:cs typeface="微软雅黑"/>
                        </a:rPr>
                        <a:t>控</a:t>
                      </a:r>
                      <a:r>
                        <a:rPr sz="2400" b="1" spc="45" dirty="0">
                          <a:latin typeface="微软雅黑"/>
                          <a:cs typeface="微软雅黑"/>
                        </a:rPr>
                        <a:t>制</a:t>
                      </a:r>
                      <a:r>
                        <a:rPr sz="2400" b="1" spc="30" dirty="0">
                          <a:latin typeface="微软雅黑"/>
                          <a:cs typeface="微软雅黑"/>
                        </a:rPr>
                        <a:t>寄</a:t>
                      </a:r>
                      <a:r>
                        <a:rPr sz="2400" b="1" dirty="0">
                          <a:latin typeface="微软雅黑"/>
                          <a:cs typeface="微软雅黑"/>
                        </a:rPr>
                        <a:t>存 器CR</a:t>
                      </a:r>
                      <a:r>
                        <a:rPr sz="2400" b="1" spc="-5" dirty="0">
                          <a:latin typeface="微软雅黑"/>
                          <a:cs typeface="微软雅黑"/>
                        </a:rPr>
                        <a:t>1</a:t>
                      </a:r>
                      <a:r>
                        <a:rPr sz="2400" b="1" dirty="0">
                          <a:latin typeface="微软雅黑"/>
                          <a:cs typeface="微软雅黑"/>
                        </a:rPr>
                        <a:t>中的</a:t>
                      </a:r>
                      <a:r>
                        <a:rPr sz="2400" b="1" spc="-100" dirty="0">
                          <a:latin typeface="微软雅黑"/>
                          <a:cs typeface="微软雅黑"/>
                        </a:rPr>
                        <a:t>T</a:t>
                      </a:r>
                      <a:r>
                        <a:rPr sz="2400" b="1" spc="-5" dirty="0">
                          <a:latin typeface="微软雅黑"/>
                          <a:cs typeface="微软雅黑"/>
                        </a:rPr>
                        <a:t>CI</a:t>
                      </a:r>
                      <a:r>
                        <a:rPr sz="2400" b="1" dirty="0">
                          <a:latin typeface="微软雅黑"/>
                          <a:cs typeface="微软雅黑"/>
                        </a:rPr>
                        <a:t>E位为</a:t>
                      </a:r>
                      <a:r>
                        <a:rPr sz="2400" b="1" spc="-5" dirty="0">
                          <a:latin typeface="微软雅黑"/>
                          <a:cs typeface="微软雅黑"/>
                        </a:rPr>
                        <a:t>1</a:t>
                      </a:r>
                      <a:r>
                        <a:rPr sz="2400" b="1" dirty="0">
                          <a:latin typeface="微软雅黑"/>
                          <a:cs typeface="微软雅黑"/>
                        </a:rPr>
                        <a:t>，将会触发发送完成中</a:t>
                      </a:r>
                      <a:r>
                        <a:rPr sz="2400" b="1" spc="-10" dirty="0">
                          <a:latin typeface="微软雅黑"/>
                          <a:cs typeface="微软雅黑"/>
                        </a:rPr>
                        <a:t>断</a:t>
                      </a:r>
                      <a:r>
                        <a:rPr sz="2400" b="1" dirty="0">
                          <a:latin typeface="微软雅黑"/>
                          <a:cs typeface="微软雅黑"/>
                        </a:rPr>
                        <a:t>。 </a:t>
                      </a:r>
                      <a:r>
                        <a:rPr sz="2400" b="1" dirty="0">
                          <a:solidFill>
                            <a:srgbClr val="FF0000"/>
                          </a:solidFill>
                          <a:latin typeface="微软雅黑"/>
                          <a:cs typeface="微软雅黑"/>
                        </a:rPr>
                        <a:t>注意：</a:t>
                      </a:r>
                      <a:r>
                        <a:rPr sz="2400" b="1" spc="-10" dirty="0">
                          <a:solidFill>
                            <a:srgbClr val="FF0000"/>
                          </a:solidFill>
                          <a:latin typeface="微软雅黑"/>
                          <a:cs typeface="微软雅黑"/>
                        </a:rPr>
                        <a:t>当</a:t>
                      </a:r>
                      <a:r>
                        <a:rPr sz="2400" b="1" spc="-100" dirty="0">
                          <a:solidFill>
                            <a:srgbClr val="FF0000"/>
                          </a:solidFill>
                          <a:latin typeface="微软雅黑"/>
                          <a:cs typeface="微软雅黑"/>
                        </a:rPr>
                        <a:t>T</a:t>
                      </a:r>
                      <a:r>
                        <a:rPr sz="2400" b="1" dirty="0">
                          <a:solidFill>
                            <a:srgbClr val="FF0000"/>
                          </a:solidFill>
                          <a:latin typeface="微软雅黑"/>
                          <a:cs typeface="微软雅黑"/>
                        </a:rPr>
                        <a:t>C</a:t>
                      </a:r>
                      <a:r>
                        <a:rPr sz="2400" b="1" spc="-5" dirty="0">
                          <a:solidFill>
                            <a:srgbClr val="FF0000"/>
                          </a:solidFill>
                          <a:latin typeface="微软雅黑"/>
                          <a:cs typeface="微软雅黑"/>
                        </a:rPr>
                        <a:t>置</a:t>
                      </a:r>
                      <a:r>
                        <a:rPr sz="2400" b="1" spc="-10" dirty="0">
                          <a:solidFill>
                            <a:srgbClr val="FF0000"/>
                          </a:solidFill>
                          <a:latin typeface="微软雅黑"/>
                          <a:cs typeface="微软雅黑"/>
                        </a:rPr>
                        <a:t>1</a:t>
                      </a:r>
                      <a:r>
                        <a:rPr sz="2400" b="1" dirty="0">
                          <a:solidFill>
                            <a:srgbClr val="FF0000"/>
                          </a:solidFill>
                          <a:latin typeface="微软雅黑"/>
                          <a:cs typeface="微软雅黑"/>
                        </a:rPr>
                        <a:t>时</a:t>
                      </a:r>
                      <a:r>
                        <a:rPr sz="2400" b="1" spc="-5" dirty="0">
                          <a:solidFill>
                            <a:srgbClr val="FF0000"/>
                          </a:solidFill>
                          <a:latin typeface="微软雅黑"/>
                          <a:cs typeface="微软雅黑"/>
                        </a:rPr>
                        <a:t>，数据才是真正地发送完成</a:t>
                      </a:r>
                      <a:r>
                        <a:rPr sz="2400" b="1" dirty="0">
                          <a:solidFill>
                            <a:srgbClr val="FF0000"/>
                          </a:solidFill>
                          <a:latin typeface="微软雅黑"/>
                          <a:cs typeface="微软雅黑"/>
                        </a:rPr>
                        <a:t>。</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r h="1397635">
                <a:tc>
                  <a:txBody>
                    <a:bodyPr/>
                    <a:lstStyle/>
                    <a:p>
                      <a:pPr marL="440055">
                        <a:lnSpc>
                          <a:spcPct val="100000"/>
                        </a:lnSpc>
                      </a:pPr>
                      <a:r>
                        <a:rPr sz="2400" b="1" spc="-5" dirty="0">
                          <a:latin typeface="微软雅黑"/>
                          <a:cs typeface="微软雅黑"/>
                        </a:rPr>
                        <a:t>RX</a:t>
                      </a:r>
                      <a:r>
                        <a:rPr sz="2400" b="1" spc="5" dirty="0">
                          <a:latin typeface="微软雅黑"/>
                          <a:cs typeface="微软雅黑"/>
                        </a:rPr>
                        <a:t>N</a:t>
                      </a:r>
                      <a:r>
                        <a:rPr sz="2400" b="1" dirty="0">
                          <a:latin typeface="微软雅黑"/>
                          <a:cs typeface="微软雅黑"/>
                        </a:rPr>
                        <a:t>E</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marR="45085" algn="just">
                        <a:lnSpc>
                          <a:spcPct val="100000"/>
                        </a:lnSpc>
                      </a:pPr>
                      <a:r>
                        <a:rPr sz="2400" b="1" spc="10" dirty="0">
                          <a:latin typeface="微软雅黑"/>
                          <a:cs typeface="微软雅黑"/>
                        </a:rPr>
                        <a:t>接收数据寄存器不为空标</a:t>
                      </a:r>
                      <a:r>
                        <a:rPr sz="2400" b="1" spc="-15" dirty="0">
                          <a:latin typeface="微软雅黑"/>
                          <a:cs typeface="微软雅黑"/>
                        </a:rPr>
                        <a:t>志</a:t>
                      </a:r>
                      <a:r>
                        <a:rPr sz="2400" b="1" spc="5" dirty="0">
                          <a:latin typeface="微软雅黑"/>
                          <a:cs typeface="微软雅黑"/>
                        </a:rPr>
                        <a:t>。当移位寄存器的内</a:t>
                      </a:r>
                      <a:r>
                        <a:rPr sz="2400" b="1" spc="10" dirty="0">
                          <a:latin typeface="微软雅黑"/>
                          <a:cs typeface="微软雅黑"/>
                        </a:rPr>
                        <a:t>容已</a:t>
                      </a:r>
                      <a:r>
                        <a:rPr sz="2400" b="1" spc="5" dirty="0">
                          <a:latin typeface="微软雅黑"/>
                          <a:cs typeface="微软雅黑"/>
                        </a:rPr>
                        <a:t>经传送到接收数</a:t>
                      </a:r>
                      <a:r>
                        <a:rPr sz="2400" b="1" dirty="0">
                          <a:latin typeface="微软雅黑"/>
                          <a:cs typeface="微软雅黑"/>
                        </a:rPr>
                        <a:t>据寄 </a:t>
                      </a:r>
                      <a:r>
                        <a:rPr sz="2400" b="1" spc="60" dirty="0">
                          <a:latin typeface="微软雅黑"/>
                          <a:cs typeface="微软雅黑"/>
                        </a:rPr>
                        <a:t>存</a:t>
                      </a:r>
                      <a:r>
                        <a:rPr sz="2400" b="1" spc="55" dirty="0">
                          <a:latin typeface="微软雅黑"/>
                          <a:cs typeface="微软雅黑"/>
                        </a:rPr>
                        <a:t>器</a:t>
                      </a:r>
                      <a:r>
                        <a:rPr sz="2400" b="1" spc="-5" dirty="0">
                          <a:latin typeface="微软雅黑"/>
                          <a:cs typeface="微软雅黑"/>
                        </a:rPr>
                        <a:t>RD</a:t>
                      </a:r>
                      <a:r>
                        <a:rPr sz="2400" b="1" spc="50" dirty="0">
                          <a:latin typeface="微软雅黑"/>
                          <a:cs typeface="微软雅黑"/>
                        </a:rPr>
                        <a:t>R</a:t>
                      </a:r>
                      <a:r>
                        <a:rPr sz="2400" b="1" spc="60" dirty="0">
                          <a:latin typeface="微软雅黑"/>
                          <a:cs typeface="微软雅黑"/>
                        </a:rPr>
                        <a:t>时，该位由硬件置</a:t>
                      </a:r>
                      <a:r>
                        <a:rPr sz="2400" b="1" spc="40" dirty="0">
                          <a:latin typeface="微软雅黑"/>
                          <a:cs typeface="微软雅黑"/>
                        </a:rPr>
                        <a:t>1</a:t>
                      </a:r>
                      <a:r>
                        <a:rPr sz="2400" b="1" spc="60" dirty="0">
                          <a:latin typeface="微软雅黑"/>
                          <a:cs typeface="微软雅黑"/>
                        </a:rPr>
                        <a:t>。如果</a:t>
                      </a:r>
                      <a:r>
                        <a:rPr sz="2400" b="1" spc="45" dirty="0">
                          <a:latin typeface="微软雅黑"/>
                          <a:cs typeface="微软雅黑"/>
                        </a:rPr>
                        <a:t>串</a:t>
                      </a:r>
                      <a:r>
                        <a:rPr sz="2400" b="1" spc="60" dirty="0">
                          <a:latin typeface="微软雅黑"/>
                          <a:cs typeface="微软雅黑"/>
                        </a:rPr>
                        <a:t>口控制</a:t>
                      </a:r>
                      <a:r>
                        <a:rPr sz="2400" b="1" spc="45" dirty="0">
                          <a:latin typeface="微软雅黑"/>
                          <a:cs typeface="微软雅黑"/>
                        </a:rPr>
                        <a:t>寄</a:t>
                      </a:r>
                      <a:r>
                        <a:rPr sz="2400" b="1" spc="60" dirty="0">
                          <a:latin typeface="微软雅黑"/>
                          <a:cs typeface="微软雅黑"/>
                        </a:rPr>
                        <a:t>存器</a:t>
                      </a:r>
                      <a:r>
                        <a:rPr sz="2400" b="1" dirty="0">
                          <a:latin typeface="微软雅黑"/>
                          <a:cs typeface="微软雅黑"/>
                        </a:rPr>
                        <a:t>C</a:t>
                      </a:r>
                      <a:r>
                        <a:rPr sz="2400" b="1" spc="-10" dirty="0">
                          <a:latin typeface="微软雅黑"/>
                          <a:cs typeface="微软雅黑"/>
                        </a:rPr>
                        <a:t>R</a:t>
                      </a:r>
                      <a:r>
                        <a:rPr sz="2400" b="1" spc="55" dirty="0">
                          <a:latin typeface="微软雅黑"/>
                          <a:cs typeface="微软雅黑"/>
                        </a:rPr>
                        <a:t>1</a:t>
                      </a:r>
                      <a:r>
                        <a:rPr sz="2400" b="1" spc="45" dirty="0">
                          <a:latin typeface="微软雅黑"/>
                          <a:cs typeface="微软雅黑"/>
                        </a:rPr>
                        <a:t>中</a:t>
                      </a:r>
                      <a:r>
                        <a:rPr sz="2400" b="1" spc="60" dirty="0">
                          <a:latin typeface="微软雅黑"/>
                          <a:cs typeface="微软雅黑"/>
                        </a:rPr>
                        <a:t>的</a:t>
                      </a:r>
                      <a:r>
                        <a:rPr sz="2400" b="1" spc="-5" dirty="0">
                          <a:latin typeface="微软雅黑"/>
                          <a:cs typeface="微软雅黑"/>
                        </a:rPr>
                        <a:t>RX</a:t>
                      </a:r>
                      <a:r>
                        <a:rPr sz="2400" b="1" spc="5" dirty="0">
                          <a:latin typeface="微软雅黑"/>
                          <a:cs typeface="微软雅黑"/>
                        </a:rPr>
                        <a:t>N</a:t>
                      </a:r>
                      <a:r>
                        <a:rPr sz="2400" b="1" dirty="0">
                          <a:latin typeface="微软雅黑"/>
                          <a:cs typeface="微软雅黑"/>
                        </a:rPr>
                        <a:t>EI</a:t>
                      </a:r>
                      <a:r>
                        <a:rPr sz="2400" b="1" spc="50" dirty="0">
                          <a:latin typeface="微软雅黑"/>
                          <a:cs typeface="微软雅黑"/>
                        </a:rPr>
                        <a:t>E</a:t>
                      </a:r>
                      <a:r>
                        <a:rPr sz="2400" b="1" dirty="0">
                          <a:latin typeface="微软雅黑"/>
                          <a:cs typeface="微软雅黑"/>
                        </a:rPr>
                        <a:t>位 为</a:t>
                      </a:r>
                      <a:r>
                        <a:rPr sz="2400" b="1" spc="-5" dirty="0">
                          <a:latin typeface="微软雅黑"/>
                          <a:cs typeface="微软雅黑"/>
                        </a:rPr>
                        <a:t>1</a:t>
                      </a:r>
                      <a:r>
                        <a:rPr sz="2400" b="1" dirty="0">
                          <a:latin typeface="微软雅黑"/>
                          <a:cs typeface="微软雅黑"/>
                        </a:rPr>
                        <a:t>，将会触发接收数据寄存器不为空中</a:t>
                      </a:r>
                      <a:r>
                        <a:rPr sz="2400" b="1" spc="5" dirty="0">
                          <a:latin typeface="微软雅黑"/>
                          <a:cs typeface="微软雅黑"/>
                        </a:rPr>
                        <a:t>断</a:t>
                      </a:r>
                      <a:r>
                        <a:rPr sz="2400" b="1" dirty="0">
                          <a:latin typeface="微软雅黑"/>
                          <a:cs typeface="微软雅黑"/>
                        </a:rPr>
                        <a:t>。</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0724890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3" name="object 3"/>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4" name="object 4"/>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6" name="object 6"/>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8" name="object 8"/>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9" name="object 9"/>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10" name="object 10"/>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11" name="object 11"/>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3" name="object 13"/>
          <p:cNvSpPr txBox="1"/>
          <p:nvPr/>
        </p:nvSpPr>
        <p:spPr>
          <a:xfrm>
            <a:off x="2385441" y="389881"/>
            <a:ext cx="668655" cy="254000"/>
          </a:xfrm>
          <a:prstGeom prst="rect">
            <a:avLst/>
          </a:prstGeom>
        </p:spPr>
        <p:txBody>
          <a:bodyPr vert="horz" wrap="square" lIns="0" tIns="0" rIns="0" bIns="0" rtlCol="0">
            <a:spAutoFit/>
          </a:bodyPr>
          <a:lstStyle/>
          <a:p>
            <a:pPr marL="12700">
              <a:lnSpc>
                <a:spcPct val="100000"/>
              </a:lnSpc>
            </a:pPr>
            <a:r>
              <a:rPr sz="1800" b="1" spc="-45" dirty="0">
                <a:solidFill>
                  <a:srgbClr val="252525"/>
                </a:solidFill>
                <a:latin typeface="微软雅黑"/>
                <a:cs typeface="微软雅黑"/>
              </a:rPr>
              <a:t>U</a:t>
            </a:r>
            <a:r>
              <a:rPr sz="1800" b="1" dirty="0">
                <a:solidFill>
                  <a:srgbClr val="252525"/>
                </a:solidFill>
                <a:latin typeface="微软雅黑"/>
                <a:cs typeface="微软雅黑"/>
              </a:rPr>
              <a:t>A</a:t>
            </a:r>
            <a:r>
              <a:rPr sz="1800" b="1" spc="-35" dirty="0">
                <a:solidFill>
                  <a:srgbClr val="252525"/>
                </a:solidFill>
                <a:latin typeface="微软雅黑"/>
                <a:cs typeface="微软雅黑"/>
              </a:rPr>
              <a:t>R</a:t>
            </a:r>
            <a:r>
              <a:rPr sz="1800" b="1" dirty="0">
                <a:solidFill>
                  <a:srgbClr val="252525"/>
                </a:solidFill>
                <a:latin typeface="微软雅黑"/>
                <a:cs typeface="微软雅黑"/>
              </a:rPr>
              <a:t>T</a:t>
            </a:r>
            <a:endParaRPr sz="1800">
              <a:latin typeface="微软雅黑"/>
              <a:cs typeface="微软雅黑"/>
            </a:endParaRPr>
          </a:p>
        </p:txBody>
      </p:sp>
      <p:sp>
        <p:nvSpPr>
          <p:cNvPr id="14" name="object 14"/>
          <p:cNvSpPr/>
          <p:nvPr/>
        </p:nvSpPr>
        <p:spPr>
          <a:xfrm>
            <a:off x="1014983" y="1976627"/>
            <a:ext cx="6144768" cy="2712720"/>
          </a:xfrm>
          <a:prstGeom prst="rect">
            <a:avLst/>
          </a:prstGeom>
          <a:blipFill>
            <a:blip r:embed="rId4" cstate="print"/>
            <a:stretch>
              <a:fillRect/>
            </a:stretch>
          </a:blipFill>
        </p:spPr>
        <p:txBody>
          <a:bodyPr wrap="square" lIns="0" tIns="0" rIns="0" bIns="0" rtlCol="0"/>
          <a:lstStyle/>
          <a:p>
            <a:endParaRPr/>
          </a:p>
        </p:txBody>
      </p:sp>
      <p:sp>
        <p:nvSpPr>
          <p:cNvPr id="15" name="object 15"/>
          <p:cNvSpPr txBox="1"/>
          <p:nvPr/>
        </p:nvSpPr>
        <p:spPr>
          <a:xfrm>
            <a:off x="7239127" y="2610915"/>
            <a:ext cx="638175" cy="1600835"/>
          </a:xfrm>
          <a:prstGeom prst="rect">
            <a:avLst/>
          </a:prstGeom>
        </p:spPr>
        <p:txBody>
          <a:bodyPr vert="horz" wrap="square" lIns="0" tIns="0" rIns="0" bIns="0" rtlCol="0">
            <a:spAutoFit/>
          </a:bodyPr>
          <a:lstStyle/>
          <a:p>
            <a:pPr marL="12700">
              <a:lnSpc>
                <a:spcPct val="100000"/>
              </a:lnSpc>
            </a:pPr>
            <a:r>
              <a:rPr sz="2000" b="1" dirty="0">
                <a:solidFill>
                  <a:srgbClr val="252525"/>
                </a:solidFill>
                <a:latin typeface="微软雅黑"/>
                <a:cs typeface="微软雅黑"/>
              </a:rPr>
              <a:t>3.3V</a:t>
            </a:r>
            <a:endParaRPr sz="2000">
              <a:latin typeface="微软雅黑"/>
              <a:cs typeface="微软雅黑"/>
            </a:endParaRPr>
          </a:p>
          <a:p>
            <a:pPr marL="12700">
              <a:lnSpc>
                <a:spcPct val="100000"/>
              </a:lnSpc>
              <a:spcBef>
                <a:spcPts val="70"/>
              </a:spcBef>
            </a:pPr>
            <a:r>
              <a:rPr sz="2000" b="1" dirty="0">
                <a:solidFill>
                  <a:srgbClr val="252525"/>
                </a:solidFill>
                <a:latin typeface="微软雅黑"/>
                <a:cs typeface="微软雅黑"/>
              </a:rPr>
              <a:t>5V</a:t>
            </a:r>
            <a:endParaRPr sz="2000">
              <a:latin typeface="微软雅黑"/>
              <a:cs typeface="微软雅黑"/>
            </a:endParaRPr>
          </a:p>
          <a:p>
            <a:pPr marL="12700" marR="5080">
              <a:lnSpc>
                <a:spcPct val="109400"/>
              </a:lnSpc>
              <a:spcBef>
                <a:spcPts val="50"/>
              </a:spcBef>
            </a:pPr>
            <a:r>
              <a:rPr sz="2000" b="1" dirty="0">
                <a:solidFill>
                  <a:srgbClr val="252525"/>
                </a:solidFill>
                <a:latin typeface="微软雅黑"/>
                <a:cs typeface="微软雅黑"/>
              </a:rPr>
              <a:t>RX </a:t>
            </a:r>
            <a:r>
              <a:rPr sz="2000" b="1" spc="-5" dirty="0">
                <a:solidFill>
                  <a:srgbClr val="252525"/>
                </a:solidFill>
                <a:latin typeface="微软雅黑"/>
                <a:cs typeface="微软雅黑"/>
              </a:rPr>
              <a:t>TX</a:t>
            </a:r>
            <a:r>
              <a:rPr sz="2000" b="1" spc="-10" dirty="0">
                <a:solidFill>
                  <a:srgbClr val="252525"/>
                </a:solidFill>
                <a:latin typeface="微软雅黑"/>
                <a:cs typeface="微软雅黑"/>
              </a:rPr>
              <a:t> </a:t>
            </a:r>
            <a:r>
              <a:rPr sz="2000" b="1" spc="-5" dirty="0">
                <a:solidFill>
                  <a:srgbClr val="252525"/>
                </a:solidFill>
                <a:latin typeface="微软雅黑"/>
                <a:cs typeface="微软雅黑"/>
              </a:rPr>
              <a:t>G</a:t>
            </a:r>
            <a:r>
              <a:rPr sz="2000" b="1" spc="5" dirty="0">
                <a:solidFill>
                  <a:srgbClr val="252525"/>
                </a:solidFill>
                <a:latin typeface="微软雅黑"/>
                <a:cs typeface="微软雅黑"/>
              </a:rPr>
              <a:t>N</a:t>
            </a:r>
            <a:r>
              <a:rPr sz="2000" b="1" dirty="0">
                <a:solidFill>
                  <a:srgbClr val="252525"/>
                </a:solidFill>
                <a:latin typeface="微软雅黑"/>
                <a:cs typeface="微软雅黑"/>
              </a:rPr>
              <a:t>D</a:t>
            </a:r>
            <a:endParaRPr sz="2000">
              <a:latin typeface="微软雅黑"/>
              <a:cs typeface="微软雅黑"/>
            </a:endParaRPr>
          </a:p>
        </p:txBody>
      </p:sp>
      <p:sp>
        <p:nvSpPr>
          <p:cNvPr id="16" name="object 16"/>
          <p:cNvSpPr/>
          <p:nvPr/>
        </p:nvSpPr>
        <p:spPr>
          <a:xfrm>
            <a:off x="8632697" y="2393442"/>
            <a:ext cx="2545080" cy="1998345"/>
          </a:xfrm>
          <a:custGeom>
            <a:avLst/>
            <a:gdLst/>
            <a:ahLst/>
            <a:cxnLst/>
            <a:rect l="l" t="t" r="r" b="b"/>
            <a:pathLst>
              <a:path w="2545079" h="1998345">
                <a:moveTo>
                  <a:pt x="0" y="1997963"/>
                </a:moveTo>
                <a:lnTo>
                  <a:pt x="2545079" y="1997963"/>
                </a:lnTo>
                <a:lnTo>
                  <a:pt x="2545079" y="0"/>
                </a:lnTo>
                <a:lnTo>
                  <a:pt x="0" y="0"/>
                </a:lnTo>
                <a:lnTo>
                  <a:pt x="0" y="1997963"/>
                </a:lnTo>
                <a:close/>
              </a:path>
            </a:pathLst>
          </a:custGeom>
          <a:ln w="28956">
            <a:solidFill>
              <a:srgbClr val="000000"/>
            </a:solidFill>
          </a:ln>
        </p:spPr>
        <p:txBody>
          <a:bodyPr wrap="square" lIns="0" tIns="0" rIns="0" bIns="0" rtlCol="0"/>
          <a:lstStyle/>
          <a:p>
            <a:endParaRPr/>
          </a:p>
        </p:txBody>
      </p:sp>
      <p:sp>
        <p:nvSpPr>
          <p:cNvPr id="17" name="object 17"/>
          <p:cNvSpPr txBox="1"/>
          <p:nvPr/>
        </p:nvSpPr>
        <p:spPr>
          <a:xfrm>
            <a:off x="9554718" y="2725409"/>
            <a:ext cx="782320" cy="330200"/>
          </a:xfrm>
          <a:prstGeom prst="rect">
            <a:avLst/>
          </a:prstGeom>
        </p:spPr>
        <p:txBody>
          <a:bodyPr vert="horz" wrap="square" lIns="0" tIns="0" rIns="0" bIns="0" rtlCol="0">
            <a:spAutoFit/>
          </a:bodyPr>
          <a:lstStyle/>
          <a:p>
            <a:pPr marL="12700">
              <a:lnSpc>
                <a:spcPct val="100000"/>
              </a:lnSpc>
            </a:pPr>
            <a:r>
              <a:rPr sz="2400" b="1" dirty="0">
                <a:solidFill>
                  <a:srgbClr val="252525"/>
                </a:solidFill>
                <a:latin typeface="微软雅黑"/>
                <a:cs typeface="微软雅黑"/>
              </a:rPr>
              <a:t>MCU</a:t>
            </a:r>
            <a:endParaRPr sz="2400">
              <a:latin typeface="微软雅黑"/>
              <a:cs typeface="微软雅黑"/>
            </a:endParaRPr>
          </a:p>
        </p:txBody>
      </p:sp>
      <p:sp>
        <p:nvSpPr>
          <p:cNvPr id="18" name="object 18"/>
          <p:cNvSpPr txBox="1"/>
          <p:nvPr/>
        </p:nvSpPr>
        <p:spPr>
          <a:xfrm>
            <a:off x="8712454" y="3268013"/>
            <a:ext cx="638175" cy="943610"/>
          </a:xfrm>
          <a:prstGeom prst="rect">
            <a:avLst/>
          </a:prstGeom>
        </p:spPr>
        <p:txBody>
          <a:bodyPr vert="horz" wrap="square" lIns="0" tIns="0" rIns="0" bIns="0" rtlCol="0">
            <a:spAutoFit/>
          </a:bodyPr>
          <a:lstStyle/>
          <a:p>
            <a:pPr marL="12700" marR="5080">
              <a:lnSpc>
                <a:spcPct val="108900"/>
              </a:lnSpc>
            </a:pPr>
            <a:r>
              <a:rPr sz="2000" b="1" dirty="0">
                <a:solidFill>
                  <a:srgbClr val="252525"/>
                </a:solidFill>
                <a:latin typeface="微软雅黑"/>
                <a:cs typeface="微软雅黑"/>
              </a:rPr>
              <a:t>RX </a:t>
            </a:r>
            <a:r>
              <a:rPr sz="2000" b="1" spc="-10" dirty="0">
                <a:solidFill>
                  <a:srgbClr val="252525"/>
                </a:solidFill>
                <a:latin typeface="微软雅黑"/>
                <a:cs typeface="微软雅黑"/>
              </a:rPr>
              <a:t>TX </a:t>
            </a:r>
            <a:r>
              <a:rPr sz="2000" b="1" spc="-5" dirty="0">
                <a:solidFill>
                  <a:srgbClr val="252525"/>
                </a:solidFill>
                <a:latin typeface="微软雅黑"/>
                <a:cs typeface="微软雅黑"/>
              </a:rPr>
              <a:t>G</a:t>
            </a:r>
            <a:r>
              <a:rPr sz="2000" b="1" spc="5" dirty="0">
                <a:solidFill>
                  <a:srgbClr val="252525"/>
                </a:solidFill>
                <a:latin typeface="微软雅黑"/>
                <a:cs typeface="微软雅黑"/>
              </a:rPr>
              <a:t>N</a:t>
            </a:r>
            <a:r>
              <a:rPr sz="2000" b="1" dirty="0">
                <a:solidFill>
                  <a:srgbClr val="252525"/>
                </a:solidFill>
                <a:latin typeface="微软雅黑"/>
                <a:cs typeface="微软雅黑"/>
              </a:rPr>
              <a:t>D</a:t>
            </a:r>
            <a:endParaRPr sz="2000">
              <a:latin typeface="微软雅黑"/>
              <a:cs typeface="微软雅黑"/>
            </a:endParaRPr>
          </a:p>
        </p:txBody>
      </p:sp>
      <p:sp>
        <p:nvSpPr>
          <p:cNvPr id="19" name="object 19"/>
          <p:cNvSpPr/>
          <p:nvPr/>
        </p:nvSpPr>
        <p:spPr>
          <a:xfrm>
            <a:off x="7709154" y="3394709"/>
            <a:ext cx="924560" cy="340360"/>
          </a:xfrm>
          <a:custGeom>
            <a:avLst/>
            <a:gdLst/>
            <a:ahLst/>
            <a:cxnLst/>
            <a:rect l="l" t="t" r="r" b="b"/>
            <a:pathLst>
              <a:path w="924559" h="340360">
                <a:moveTo>
                  <a:pt x="0" y="0"/>
                </a:moveTo>
                <a:lnTo>
                  <a:pt x="924051" y="340359"/>
                </a:lnTo>
              </a:path>
            </a:pathLst>
          </a:custGeom>
          <a:ln w="38100">
            <a:solidFill>
              <a:srgbClr val="000000"/>
            </a:solidFill>
          </a:ln>
        </p:spPr>
        <p:txBody>
          <a:bodyPr wrap="square" lIns="0" tIns="0" rIns="0" bIns="0" rtlCol="0"/>
          <a:lstStyle/>
          <a:p>
            <a:endParaRPr/>
          </a:p>
        </p:txBody>
      </p:sp>
      <p:sp>
        <p:nvSpPr>
          <p:cNvPr id="20" name="object 20"/>
          <p:cNvSpPr/>
          <p:nvPr/>
        </p:nvSpPr>
        <p:spPr>
          <a:xfrm>
            <a:off x="7709154" y="3394709"/>
            <a:ext cx="924560" cy="340360"/>
          </a:xfrm>
          <a:custGeom>
            <a:avLst/>
            <a:gdLst/>
            <a:ahLst/>
            <a:cxnLst/>
            <a:rect l="l" t="t" r="r" b="b"/>
            <a:pathLst>
              <a:path w="924559" h="340360">
                <a:moveTo>
                  <a:pt x="0" y="340359"/>
                </a:moveTo>
                <a:lnTo>
                  <a:pt x="924051" y="0"/>
                </a:lnTo>
              </a:path>
            </a:pathLst>
          </a:custGeom>
          <a:ln w="38100">
            <a:solidFill>
              <a:srgbClr val="000000"/>
            </a:solidFill>
          </a:ln>
        </p:spPr>
        <p:txBody>
          <a:bodyPr wrap="square" lIns="0" tIns="0" rIns="0" bIns="0" rtlCol="0"/>
          <a:lstStyle/>
          <a:p>
            <a:endParaRPr/>
          </a:p>
        </p:txBody>
      </p:sp>
      <p:sp>
        <p:nvSpPr>
          <p:cNvPr id="21" name="object 21"/>
          <p:cNvSpPr/>
          <p:nvPr/>
        </p:nvSpPr>
        <p:spPr>
          <a:xfrm>
            <a:off x="7879842" y="4059173"/>
            <a:ext cx="753745" cy="0"/>
          </a:xfrm>
          <a:custGeom>
            <a:avLst/>
            <a:gdLst/>
            <a:ahLst/>
            <a:cxnLst/>
            <a:rect l="l" t="t" r="r" b="b"/>
            <a:pathLst>
              <a:path w="753745">
                <a:moveTo>
                  <a:pt x="0" y="0"/>
                </a:moveTo>
                <a:lnTo>
                  <a:pt x="753236" y="0"/>
                </a:lnTo>
              </a:path>
            </a:pathLst>
          </a:custGeom>
          <a:ln w="38100">
            <a:solidFill>
              <a:srgbClr val="000000"/>
            </a:solidFill>
          </a:ln>
        </p:spPr>
        <p:txBody>
          <a:bodyPr wrap="square" lIns="0" tIns="0" rIns="0" bIns="0" rtlCol="0"/>
          <a:lstStyle/>
          <a:p>
            <a:endParaRPr/>
          </a:p>
        </p:txBody>
      </p:sp>
      <p:sp>
        <p:nvSpPr>
          <p:cNvPr id="22" name="object 22"/>
          <p:cNvSpPr txBox="1">
            <a:spLocks noGrp="1"/>
          </p:cNvSpPr>
          <p:nvPr>
            <p:ph type="title"/>
          </p:nvPr>
        </p:nvSpPr>
        <p:spPr>
          <a:xfrm>
            <a:off x="1530532" y="685201"/>
            <a:ext cx="10515600" cy="1325563"/>
          </a:xfrm>
          <a:prstGeom prst="rect">
            <a:avLst/>
          </a:prstGeom>
        </p:spPr>
        <p:txBody>
          <a:bodyPr vert="horz" wrap="square" lIns="0" tIns="0" rIns="0" bIns="0" rtlCol="0">
            <a:spAutoFit/>
          </a:bodyPr>
          <a:lstStyle/>
          <a:p>
            <a:pPr marL="1306195">
              <a:lnSpc>
                <a:spcPct val="100000"/>
              </a:lnSpc>
            </a:pPr>
            <a:r>
              <a:rPr spc="-10" dirty="0">
                <a:latin typeface="微软雅黑"/>
                <a:cs typeface="微软雅黑"/>
              </a:rPr>
              <a:t>USB</a:t>
            </a:r>
            <a:r>
              <a:rPr spc="-5" dirty="0"/>
              <a:t>转</a:t>
            </a:r>
            <a:r>
              <a:rPr spc="50" dirty="0">
                <a:latin typeface="微软雅黑"/>
                <a:cs typeface="微软雅黑"/>
              </a:rPr>
              <a:t>T</a:t>
            </a:r>
            <a:r>
              <a:rPr spc="-10" dirty="0">
                <a:latin typeface="微软雅黑"/>
                <a:cs typeface="微软雅黑"/>
              </a:rPr>
              <a:t>T</a:t>
            </a:r>
            <a:r>
              <a:rPr spc="-5" dirty="0">
                <a:latin typeface="微软雅黑"/>
                <a:cs typeface="微软雅黑"/>
              </a:rPr>
              <a:t>L</a:t>
            </a:r>
            <a:r>
              <a:rPr spc="-5" dirty="0"/>
              <a:t>串口模块</a:t>
            </a:r>
          </a:p>
        </p:txBody>
      </p:sp>
      <p:sp>
        <p:nvSpPr>
          <p:cNvPr id="23" name="object 23"/>
          <p:cNvSpPr txBox="1"/>
          <p:nvPr/>
        </p:nvSpPr>
        <p:spPr>
          <a:xfrm>
            <a:off x="1876805" y="4851653"/>
            <a:ext cx="8440420" cy="1734820"/>
          </a:xfrm>
          <a:prstGeom prst="rect">
            <a:avLst/>
          </a:prstGeom>
          <a:ln w="38100">
            <a:solidFill>
              <a:srgbClr val="E34A46"/>
            </a:solidFill>
          </a:ln>
        </p:spPr>
        <p:txBody>
          <a:bodyPr vert="horz" wrap="square" lIns="0" tIns="0" rIns="0" bIns="0" rtlCol="0">
            <a:spAutoFit/>
          </a:bodyPr>
          <a:lstStyle/>
          <a:p>
            <a:pPr marL="298450">
              <a:lnSpc>
                <a:spcPct val="100000"/>
              </a:lnSpc>
            </a:pPr>
            <a:r>
              <a:rPr sz="2400" spc="-235" dirty="0">
                <a:latin typeface="Segoe UI Symbol"/>
                <a:cs typeface="Segoe UI Symbol"/>
              </a:rPr>
              <a:t>⚫</a:t>
            </a:r>
            <a:r>
              <a:rPr sz="2400" spc="245" dirty="0">
                <a:latin typeface="Segoe UI Symbol"/>
                <a:cs typeface="Segoe UI Symbol"/>
              </a:rPr>
              <a:t> </a:t>
            </a:r>
            <a:r>
              <a:rPr sz="2400" b="1" dirty="0">
                <a:latin typeface="微软雅黑"/>
                <a:cs typeface="微软雅黑"/>
              </a:rPr>
              <a:t>MC</a:t>
            </a:r>
            <a:r>
              <a:rPr sz="2400" b="1" spc="-5" dirty="0">
                <a:latin typeface="微软雅黑"/>
                <a:cs typeface="微软雅黑"/>
              </a:rPr>
              <a:t>U</a:t>
            </a:r>
            <a:r>
              <a:rPr sz="2400" b="1" dirty="0">
                <a:latin typeface="微软雅黑"/>
                <a:cs typeface="微软雅黑"/>
              </a:rPr>
              <a:t>的</a:t>
            </a:r>
            <a:r>
              <a:rPr sz="2400" b="1" spc="-5" dirty="0">
                <a:latin typeface="微软雅黑"/>
                <a:cs typeface="微软雅黑"/>
              </a:rPr>
              <a:t>TX</a:t>
            </a:r>
            <a:r>
              <a:rPr sz="2400" b="1" dirty="0">
                <a:latin typeface="微软雅黑"/>
                <a:cs typeface="微软雅黑"/>
              </a:rPr>
              <a:t>引脚和串口转换模块的R</a:t>
            </a:r>
            <a:r>
              <a:rPr sz="2400" b="1" spc="-5" dirty="0">
                <a:latin typeface="微软雅黑"/>
                <a:cs typeface="微软雅黑"/>
              </a:rPr>
              <a:t>X</a:t>
            </a:r>
            <a:r>
              <a:rPr sz="2400" b="1" dirty="0">
                <a:latin typeface="微软雅黑"/>
                <a:cs typeface="微软雅黑"/>
              </a:rPr>
              <a:t>引脚连接</a:t>
            </a:r>
            <a:endParaRPr sz="2400">
              <a:latin typeface="微软雅黑"/>
              <a:cs typeface="微软雅黑"/>
            </a:endParaRPr>
          </a:p>
          <a:p>
            <a:pPr marL="298450">
              <a:lnSpc>
                <a:spcPct val="100000"/>
              </a:lnSpc>
              <a:spcBef>
                <a:spcPts val="1115"/>
              </a:spcBef>
            </a:pPr>
            <a:r>
              <a:rPr sz="2400" spc="-229" dirty="0">
                <a:latin typeface="Segoe UI Symbol"/>
                <a:cs typeface="Segoe UI Symbol"/>
              </a:rPr>
              <a:t>⚫</a:t>
            </a:r>
            <a:r>
              <a:rPr sz="2400" spc="245" dirty="0">
                <a:latin typeface="Segoe UI Symbol"/>
                <a:cs typeface="Segoe UI Symbol"/>
              </a:rPr>
              <a:t> </a:t>
            </a:r>
            <a:r>
              <a:rPr sz="2400" b="1" dirty="0">
                <a:latin typeface="微软雅黑"/>
                <a:cs typeface="微软雅黑"/>
              </a:rPr>
              <a:t>MC</a:t>
            </a:r>
            <a:r>
              <a:rPr sz="2400" b="1" spc="-5" dirty="0">
                <a:latin typeface="微软雅黑"/>
                <a:cs typeface="微软雅黑"/>
              </a:rPr>
              <a:t>U的</a:t>
            </a:r>
            <a:r>
              <a:rPr sz="2400" b="1" dirty="0">
                <a:latin typeface="微软雅黑"/>
                <a:cs typeface="微软雅黑"/>
              </a:rPr>
              <a:t>R</a:t>
            </a:r>
            <a:r>
              <a:rPr sz="2400" b="1" spc="-5" dirty="0">
                <a:latin typeface="微软雅黑"/>
                <a:cs typeface="微软雅黑"/>
              </a:rPr>
              <a:t>X引脚和串口转换模块的TX引脚连接</a:t>
            </a:r>
            <a:endParaRPr sz="2400">
              <a:latin typeface="微软雅黑"/>
              <a:cs typeface="微软雅黑"/>
            </a:endParaRPr>
          </a:p>
          <a:p>
            <a:pPr marL="298450">
              <a:lnSpc>
                <a:spcPct val="100000"/>
              </a:lnSpc>
              <a:spcBef>
                <a:spcPts val="1130"/>
              </a:spcBef>
            </a:pPr>
            <a:r>
              <a:rPr sz="2400" spc="-235" dirty="0">
                <a:latin typeface="Segoe UI Symbol"/>
                <a:cs typeface="Segoe UI Symbol"/>
              </a:rPr>
              <a:t>⚫</a:t>
            </a:r>
            <a:r>
              <a:rPr sz="2400" spc="245" dirty="0">
                <a:latin typeface="Segoe UI Symbol"/>
                <a:cs typeface="Segoe UI Symbol"/>
              </a:rPr>
              <a:t> </a:t>
            </a:r>
            <a:r>
              <a:rPr sz="2400" b="1" dirty="0">
                <a:latin typeface="微软雅黑"/>
                <a:cs typeface="微软雅黑"/>
              </a:rPr>
              <a:t>MC</a:t>
            </a:r>
            <a:r>
              <a:rPr sz="2400" b="1" spc="-5" dirty="0">
                <a:latin typeface="微软雅黑"/>
                <a:cs typeface="微软雅黑"/>
              </a:rPr>
              <a:t>U</a:t>
            </a:r>
            <a:r>
              <a:rPr sz="2400" b="1" dirty="0">
                <a:latin typeface="微软雅黑"/>
                <a:cs typeface="微软雅黑"/>
              </a:rPr>
              <a:t>的地和串口转换模块的地连接，以确保电平的一致</a:t>
            </a:r>
            <a:endParaRPr sz="2400">
              <a:latin typeface="微软雅黑"/>
              <a:cs typeface="微软雅黑"/>
            </a:endParaRPr>
          </a:p>
        </p:txBody>
      </p:sp>
    </p:spTree>
    <p:extLst>
      <p:ext uri="{BB962C8B-B14F-4D97-AF65-F5344CB8AC3E}">
        <p14:creationId xmlns:p14="http://schemas.microsoft.com/office/powerpoint/2010/main" val="32190503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23" y="6516623"/>
            <a:ext cx="12190730" cy="341630"/>
          </a:xfrm>
          <a:prstGeom prst="rect">
            <a:avLst/>
          </a:prstGeom>
        </p:spPr>
        <p:txBody>
          <a:bodyPr vert="horz" wrap="square" lIns="0" tIns="0" rIns="0" bIns="0" rtlCol="0">
            <a:spAutoFit/>
          </a:bodyPr>
          <a:lstStyle/>
          <a:p>
            <a:pPr marR="192405" algn="r">
              <a:lnSpc>
                <a:spcPct val="100000"/>
              </a:lnSpc>
            </a:pPr>
            <a:r>
              <a:rPr sz="1200" b="1" spc="-5" dirty="0">
                <a:solidFill>
                  <a:srgbClr val="FFFFFF"/>
                </a:solidFill>
                <a:latin typeface="黑体"/>
                <a:cs typeface="黑体"/>
              </a:rPr>
              <a:t>-- 南昌大学“卓越”辅导员培养工程建设</a:t>
            </a:r>
            <a:endParaRPr sz="1200">
              <a:latin typeface="黑体"/>
              <a:cs typeface="黑体"/>
            </a:endParaRPr>
          </a:p>
        </p:txBody>
      </p:sp>
      <p:sp>
        <p:nvSpPr>
          <p:cNvPr id="3" name="object 3"/>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4" name="object 4"/>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5" name="object 5"/>
          <p:cNvSpPr/>
          <p:nvPr/>
        </p:nvSpPr>
        <p:spPr>
          <a:xfrm>
            <a:off x="1523" y="6470903"/>
            <a:ext cx="12190730" cy="45720"/>
          </a:xfrm>
          <a:custGeom>
            <a:avLst/>
            <a:gdLst/>
            <a:ahLst/>
            <a:cxnLst/>
            <a:rect l="l" t="t" r="r" b="b"/>
            <a:pathLst>
              <a:path w="12190730" h="45720">
                <a:moveTo>
                  <a:pt x="0" y="45719"/>
                </a:moveTo>
                <a:lnTo>
                  <a:pt x="12190476" y="45719"/>
                </a:lnTo>
                <a:lnTo>
                  <a:pt x="12190476" y="0"/>
                </a:lnTo>
                <a:lnTo>
                  <a:pt x="0" y="0"/>
                </a:lnTo>
                <a:lnTo>
                  <a:pt x="0" y="45719"/>
                </a:lnTo>
              </a:path>
            </a:pathLst>
          </a:custGeom>
          <a:solidFill>
            <a:srgbClr val="FFE699"/>
          </a:solidFill>
        </p:spPr>
        <p:txBody>
          <a:bodyPr wrap="square" lIns="0" tIns="0" rIns="0" bIns="0" rtlCol="0"/>
          <a:lstStyle/>
          <a:p>
            <a:endParaRPr/>
          </a:p>
        </p:txBody>
      </p:sp>
      <p:sp>
        <p:nvSpPr>
          <p:cNvPr id="6" name="object 6"/>
          <p:cNvSpPr/>
          <p:nvPr/>
        </p:nvSpPr>
        <p:spPr>
          <a:xfrm>
            <a:off x="1523" y="6516623"/>
            <a:ext cx="12190730" cy="341630"/>
          </a:xfrm>
          <a:custGeom>
            <a:avLst/>
            <a:gdLst/>
            <a:ahLst/>
            <a:cxnLst/>
            <a:rect l="l" t="t" r="r" b="b"/>
            <a:pathLst>
              <a:path w="12190730" h="341629">
                <a:moveTo>
                  <a:pt x="0" y="341376"/>
                </a:moveTo>
                <a:lnTo>
                  <a:pt x="12190476" y="341376"/>
                </a:lnTo>
                <a:lnTo>
                  <a:pt x="12190476" y="0"/>
                </a:lnTo>
                <a:lnTo>
                  <a:pt x="0" y="0"/>
                </a:lnTo>
                <a:lnTo>
                  <a:pt x="0" y="341376"/>
                </a:lnTo>
              </a:path>
            </a:pathLst>
          </a:custGeom>
          <a:solidFill>
            <a:srgbClr val="E34A46"/>
          </a:solidFill>
        </p:spPr>
        <p:txBody>
          <a:bodyPr wrap="square" lIns="0" tIns="0" rIns="0" bIns="0" rtlCol="0"/>
          <a:lstStyle/>
          <a:p>
            <a:endParaRPr/>
          </a:p>
        </p:txBody>
      </p:sp>
      <p:sp>
        <p:nvSpPr>
          <p:cNvPr id="7" name="object 7"/>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8" name="object 8"/>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9" name="object 9"/>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1" name="object 11"/>
          <p:cNvSpPr txBox="1"/>
          <p:nvPr/>
        </p:nvSpPr>
        <p:spPr>
          <a:xfrm>
            <a:off x="352145" y="1173977"/>
            <a:ext cx="12446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外设句柄</a:t>
            </a:r>
            <a:endParaRPr sz="2400">
              <a:latin typeface="微软雅黑"/>
              <a:cs typeface="微软雅黑"/>
            </a:endParaRPr>
          </a:p>
        </p:txBody>
      </p:sp>
      <p:sp>
        <p:nvSpPr>
          <p:cNvPr id="12" name="object 12"/>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sp>
        <p:nvSpPr>
          <p:cNvPr id="13" name="object 13"/>
          <p:cNvSpPr txBox="1">
            <a:spLocks noGrp="1"/>
          </p:cNvSpPr>
          <p:nvPr>
            <p:ph type="title"/>
          </p:nvPr>
        </p:nvSpPr>
        <p:spPr>
          <a:xfrm>
            <a:off x="2011426" y="650905"/>
            <a:ext cx="10515600" cy="1325563"/>
          </a:xfrm>
          <a:prstGeom prst="rect">
            <a:avLst/>
          </a:prstGeom>
        </p:spPr>
        <p:txBody>
          <a:bodyPr vert="horz" wrap="square" lIns="0" tIns="0" rIns="0" bIns="0" rtlCol="0">
            <a:spAutoFit/>
          </a:bodyPr>
          <a:lstStyle/>
          <a:p>
            <a:pPr marL="884555">
              <a:lnSpc>
                <a:spcPct val="100000"/>
              </a:lnSpc>
            </a:pPr>
            <a:r>
              <a:rPr spc="-5" dirty="0"/>
              <a:t>外设句柄数据类型的组成</a:t>
            </a:r>
          </a:p>
        </p:txBody>
      </p:sp>
      <p:sp>
        <p:nvSpPr>
          <p:cNvPr id="14" name="object 14"/>
          <p:cNvSpPr/>
          <p:nvPr/>
        </p:nvSpPr>
        <p:spPr>
          <a:xfrm>
            <a:off x="237743" y="2860548"/>
            <a:ext cx="455930" cy="455930"/>
          </a:xfrm>
          <a:custGeom>
            <a:avLst/>
            <a:gdLst/>
            <a:ahLst/>
            <a:cxnLst/>
            <a:rect l="l" t="t" r="r" b="b"/>
            <a:pathLst>
              <a:path w="455930" h="455929">
                <a:moveTo>
                  <a:pt x="227837" y="0"/>
                </a:moveTo>
                <a:lnTo>
                  <a:pt x="173085" y="6620"/>
                </a:lnTo>
                <a:lnTo>
                  <a:pt x="123133" y="25426"/>
                </a:lnTo>
                <a:lnTo>
                  <a:pt x="79563" y="54836"/>
                </a:lnTo>
                <a:lnTo>
                  <a:pt x="43959" y="93268"/>
                </a:lnTo>
                <a:lnTo>
                  <a:pt x="17904" y="139142"/>
                </a:lnTo>
                <a:lnTo>
                  <a:pt x="2982" y="190875"/>
                </a:lnTo>
                <a:lnTo>
                  <a:pt x="0" y="227837"/>
                </a:lnTo>
                <a:lnTo>
                  <a:pt x="755" y="246527"/>
                </a:lnTo>
                <a:lnTo>
                  <a:pt x="11615" y="299862"/>
                </a:lnTo>
                <a:lnTo>
                  <a:pt x="34135" y="347864"/>
                </a:lnTo>
                <a:lnTo>
                  <a:pt x="66732" y="388953"/>
                </a:lnTo>
                <a:lnTo>
                  <a:pt x="107822" y="421546"/>
                </a:lnTo>
                <a:lnTo>
                  <a:pt x="155823" y="444063"/>
                </a:lnTo>
                <a:lnTo>
                  <a:pt x="209151" y="454920"/>
                </a:lnTo>
                <a:lnTo>
                  <a:pt x="227837" y="455675"/>
                </a:lnTo>
                <a:lnTo>
                  <a:pt x="246524" y="454920"/>
                </a:lnTo>
                <a:lnTo>
                  <a:pt x="299852" y="444063"/>
                </a:lnTo>
                <a:lnTo>
                  <a:pt x="347853" y="421546"/>
                </a:lnTo>
                <a:lnTo>
                  <a:pt x="388943" y="388953"/>
                </a:lnTo>
                <a:lnTo>
                  <a:pt x="421540" y="347864"/>
                </a:lnTo>
                <a:lnTo>
                  <a:pt x="444060" y="299862"/>
                </a:lnTo>
                <a:lnTo>
                  <a:pt x="454920" y="246527"/>
                </a:lnTo>
                <a:lnTo>
                  <a:pt x="455676" y="227837"/>
                </a:lnTo>
                <a:lnTo>
                  <a:pt x="454920" y="209148"/>
                </a:lnTo>
                <a:lnTo>
                  <a:pt x="444060" y="155813"/>
                </a:lnTo>
                <a:lnTo>
                  <a:pt x="421540" y="107811"/>
                </a:lnTo>
                <a:lnTo>
                  <a:pt x="388943" y="66722"/>
                </a:lnTo>
                <a:lnTo>
                  <a:pt x="347853" y="34129"/>
                </a:lnTo>
                <a:lnTo>
                  <a:pt x="299852" y="11612"/>
                </a:lnTo>
                <a:lnTo>
                  <a:pt x="246524" y="755"/>
                </a:lnTo>
                <a:lnTo>
                  <a:pt x="227837" y="0"/>
                </a:lnTo>
                <a:close/>
              </a:path>
            </a:pathLst>
          </a:custGeom>
          <a:solidFill>
            <a:srgbClr val="0066FF"/>
          </a:solidFill>
        </p:spPr>
        <p:txBody>
          <a:bodyPr wrap="square" lIns="0" tIns="0" rIns="0" bIns="0" rtlCol="0"/>
          <a:lstStyle/>
          <a:p>
            <a:endParaRPr/>
          </a:p>
        </p:txBody>
      </p:sp>
      <p:sp>
        <p:nvSpPr>
          <p:cNvPr id="15" name="object 15"/>
          <p:cNvSpPr txBox="1"/>
          <p:nvPr/>
        </p:nvSpPr>
        <p:spPr>
          <a:xfrm>
            <a:off x="347573" y="2921463"/>
            <a:ext cx="236854" cy="381000"/>
          </a:xfrm>
          <a:prstGeom prst="rect">
            <a:avLst/>
          </a:prstGeom>
        </p:spPr>
        <p:txBody>
          <a:bodyPr vert="horz" wrap="square" lIns="0" tIns="0" rIns="0" bIns="0" rtlCol="0">
            <a:spAutoFit/>
          </a:bodyPr>
          <a:lstStyle/>
          <a:p>
            <a:pPr marL="12700">
              <a:lnSpc>
                <a:spcPct val="100000"/>
              </a:lnSpc>
            </a:pPr>
            <a:r>
              <a:rPr sz="2800" spc="-5" dirty="0">
                <a:solidFill>
                  <a:srgbClr val="FFFFFF"/>
                </a:solidFill>
                <a:latin typeface="Arial Rounded MT Bold"/>
                <a:cs typeface="Arial Rounded MT Bold"/>
              </a:rPr>
              <a:t>1</a:t>
            </a:r>
            <a:endParaRPr sz="2800">
              <a:latin typeface="Arial Rounded MT Bold"/>
              <a:cs typeface="Arial Rounded MT Bold"/>
            </a:endParaRPr>
          </a:p>
        </p:txBody>
      </p:sp>
      <p:sp>
        <p:nvSpPr>
          <p:cNvPr id="16" name="object 16"/>
          <p:cNvSpPr/>
          <p:nvPr/>
        </p:nvSpPr>
        <p:spPr>
          <a:xfrm>
            <a:off x="170687" y="2793492"/>
            <a:ext cx="589915" cy="589915"/>
          </a:xfrm>
          <a:custGeom>
            <a:avLst/>
            <a:gdLst/>
            <a:ahLst/>
            <a:cxnLst/>
            <a:rect l="l" t="t" r="r" b="b"/>
            <a:pathLst>
              <a:path w="589915" h="589914">
                <a:moveTo>
                  <a:pt x="294894" y="0"/>
                </a:moveTo>
                <a:lnTo>
                  <a:pt x="247060" y="3861"/>
                </a:lnTo>
                <a:lnTo>
                  <a:pt x="201684" y="15038"/>
                </a:lnTo>
                <a:lnTo>
                  <a:pt x="159373" y="32925"/>
                </a:lnTo>
                <a:lnTo>
                  <a:pt x="120733" y="56912"/>
                </a:lnTo>
                <a:lnTo>
                  <a:pt x="86372" y="86391"/>
                </a:lnTo>
                <a:lnTo>
                  <a:pt x="56897" y="120755"/>
                </a:lnTo>
                <a:lnTo>
                  <a:pt x="32915" y="159395"/>
                </a:lnTo>
                <a:lnTo>
                  <a:pt x="15033" y="201704"/>
                </a:lnTo>
                <a:lnTo>
                  <a:pt x="3859" y="247073"/>
                </a:lnTo>
                <a:lnTo>
                  <a:pt x="0" y="294894"/>
                </a:lnTo>
                <a:lnTo>
                  <a:pt x="977" y="319072"/>
                </a:lnTo>
                <a:lnTo>
                  <a:pt x="8570" y="365743"/>
                </a:lnTo>
                <a:lnTo>
                  <a:pt x="23174" y="409658"/>
                </a:lnTo>
                <a:lnTo>
                  <a:pt x="44182" y="450208"/>
                </a:lnTo>
                <a:lnTo>
                  <a:pt x="70986" y="486786"/>
                </a:lnTo>
                <a:lnTo>
                  <a:pt x="102980" y="518784"/>
                </a:lnTo>
                <a:lnTo>
                  <a:pt x="139556" y="545593"/>
                </a:lnTo>
                <a:lnTo>
                  <a:pt x="180108" y="566606"/>
                </a:lnTo>
                <a:lnTo>
                  <a:pt x="224027" y="581214"/>
                </a:lnTo>
                <a:lnTo>
                  <a:pt x="270708" y="588810"/>
                </a:lnTo>
                <a:lnTo>
                  <a:pt x="294894" y="589788"/>
                </a:lnTo>
                <a:lnTo>
                  <a:pt x="319079" y="588810"/>
                </a:lnTo>
                <a:lnTo>
                  <a:pt x="365760" y="581214"/>
                </a:lnTo>
                <a:lnTo>
                  <a:pt x="409679" y="566606"/>
                </a:lnTo>
                <a:lnTo>
                  <a:pt x="450231" y="545593"/>
                </a:lnTo>
                <a:lnTo>
                  <a:pt x="486807" y="518784"/>
                </a:lnTo>
                <a:lnTo>
                  <a:pt x="492827" y="513207"/>
                </a:lnTo>
                <a:lnTo>
                  <a:pt x="294894" y="513207"/>
                </a:lnTo>
                <a:lnTo>
                  <a:pt x="276992" y="512482"/>
                </a:lnTo>
                <a:lnTo>
                  <a:pt x="225902" y="502072"/>
                </a:lnTo>
                <a:lnTo>
                  <a:pt x="179916" y="480487"/>
                </a:lnTo>
                <a:lnTo>
                  <a:pt x="140550" y="449246"/>
                </a:lnTo>
                <a:lnTo>
                  <a:pt x="109322" y="409870"/>
                </a:lnTo>
                <a:lnTo>
                  <a:pt x="87747" y="363879"/>
                </a:lnTo>
                <a:lnTo>
                  <a:pt x="77342" y="312792"/>
                </a:lnTo>
                <a:lnTo>
                  <a:pt x="76619" y="294894"/>
                </a:lnTo>
                <a:lnTo>
                  <a:pt x="77342" y="276995"/>
                </a:lnTo>
                <a:lnTo>
                  <a:pt x="87747" y="225908"/>
                </a:lnTo>
                <a:lnTo>
                  <a:pt x="109322" y="179917"/>
                </a:lnTo>
                <a:lnTo>
                  <a:pt x="140550" y="140541"/>
                </a:lnTo>
                <a:lnTo>
                  <a:pt x="179916" y="109300"/>
                </a:lnTo>
                <a:lnTo>
                  <a:pt x="225902" y="87715"/>
                </a:lnTo>
                <a:lnTo>
                  <a:pt x="276992" y="77305"/>
                </a:lnTo>
                <a:lnTo>
                  <a:pt x="294894" y="76581"/>
                </a:lnTo>
                <a:lnTo>
                  <a:pt x="492827" y="76581"/>
                </a:lnTo>
                <a:lnTo>
                  <a:pt x="486807" y="71003"/>
                </a:lnTo>
                <a:lnTo>
                  <a:pt x="450231" y="44194"/>
                </a:lnTo>
                <a:lnTo>
                  <a:pt x="409679" y="23181"/>
                </a:lnTo>
                <a:lnTo>
                  <a:pt x="365760" y="8573"/>
                </a:lnTo>
                <a:lnTo>
                  <a:pt x="319079" y="977"/>
                </a:lnTo>
                <a:lnTo>
                  <a:pt x="294894" y="0"/>
                </a:lnTo>
                <a:close/>
              </a:path>
              <a:path w="589915" h="589914">
                <a:moveTo>
                  <a:pt x="492827" y="76581"/>
                </a:moveTo>
                <a:lnTo>
                  <a:pt x="294894" y="76581"/>
                </a:lnTo>
                <a:lnTo>
                  <a:pt x="312795" y="77305"/>
                </a:lnTo>
                <a:lnTo>
                  <a:pt x="330298" y="79439"/>
                </a:lnTo>
                <a:lnTo>
                  <a:pt x="379855" y="93743"/>
                </a:lnTo>
                <a:lnTo>
                  <a:pt x="423803" y="118716"/>
                </a:lnTo>
                <a:lnTo>
                  <a:pt x="460625" y="152837"/>
                </a:lnTo>
                <a:lnTo>
                  <a:pt x="488805" y="194587"/>
                </a:lnTo>
                <a:lnTo>
                  <a:pt x="506825" y="242446"/>
                </a:lnTo>
                <a:lnTo>
                  <a:pt x="513168" y="294894"/>
                </a:lnTo>
                <a:lnTo>
                  <a:pt x="512445" y="312792"/>
                </a:lnTo>
                <a:lnTo>
                  <a:pt x="502040" y="363879"/>
                </a:lnTo>
                <a:lnTo>
                  <a:pt x="480465" y="409870"/>
                </a:lnTo>
                <a:lnTo>
                  <a:pt x="449237" y="449246"/>
                </a:lnTo>
                <a:lnTo>
                  <a:pt x="409871" y="480487"/>
                </a:lnTo>
                <a:lnTo>
                  <a:pt x="363885" y="502072"/>
                </a:lnTo>
                <a:lnTo>
                  <a:pt x="312795" y="512482"/>
                </a:lnTo>
                <a:lnTo>
                  <a:pt x="294894" y="513207"/>
                </a:lnTo>
                <a:lnTo>
                  <a:pt x="492827" y="513207"/>
                </a:lnTo>
                <a:lnTo>
                  <a:pt x="532890" y="469032"/>
                </a:lnTo>
                <a:lnTo>
                  <a:pt x="556872" y="430392"/>
                </a:lnTo>
                <a:lnTo>
                  <a:pt x="574754" y="388083"/>
                </a:lnTo>
                <a:lnTo>
                  <a:pt x="585928" y="342714"/>
                </a:lnTo>
                <a:lnTo>
                  <a:pt x="589788" y="294894"/>
                </a:lnTo>
                <a:lnTo>
                  <a:pt x="588810" y="270715"/>
                </a:lnTo>
                <a:lnTo>
                  <a:pt x="581217" y="224044"/>
                </a:lnTo>
                <a:lnTo>
                  <a:pt x="566613" y="180129"/>
                </a:lnTo>
                <a:lnTo>
                  <a:pt x="545605" y="139579"/>
                </a:lnTo>
                <a:lnTo>
                  <a:pt x="518801" y="103001"/>
                </a:lnTo>
                <a:lnTo>
                  <a:pt x="503415" y="86391"/>
                </a:lnTo>
                <a:lnTo>
                  <a:pt x="492827" y="76581"/>
                </a:lnTo>
                <a:close/>
              </a:path>
            </a:pathLst>
          </a:custGeom>
          <a:solidFill>
            <a:srgbClr val="FFFFFF"/>
          </a:solidFill>
        </p:spPr>
        <p:txBody>
          <a:bodyPr wrap="square" lIns="0" tIns="0" rIns="0" bIns="0" rtlCol="0"/>
          <a:lstStyle/>
          <a:p>
            <a:endParaRPr/>
          </a:p>
        </p:txBody>
      </p:sp>
      <p:sp>
        <p:nvSpPr>
          <p:cNvPr id="17" name="object 17"/>
          <p:cNvSpPr/>
          <p:nvPr/>
        </p:nvSpPr>
        <p:spPr>
          <a:xfrm>
            <a:off x="170687" y="2793492"/>
            <a:ext cx="589915" cy="589915"/>
          </a:xfrm>
          <a:custGeom>
            <a:avLst/>
            <a:gdLst/>
            <a:ahLst/>
            <a:cxnLst/>
            <a:rect l="l" t="t" r="r" b="b"/>
            <a:pathLst>
              <a:path w="589915" h="589914">
                <a:moveTo>
                  <a:pt x="0" y="294894"/>
                </a:moveTo>
                <a:lnTo>
                  <a:pt x="3859" y="247073"/>
                </a:lnTo>
                <a:lnTo>
                  <a:pt x="15033" y="201704"/>
                </a:lnTo>
                <a:lnTo>
                  <a:pt x="32915" y="159395"/>
                </a:lnTo>
                <a:lnTo>
                  <a:pt x="56897" y="120755"/>
                </a:lnTo>
                <a:lnTo>
                  <a:pt x="86372" y="86391"/>
                </a:lnTo>
                <a:lnTo>
                  <a:pt x="120733" y="56912"/>
                </a:lnTo>
                <a:lnTo>
                  <a:pt x="159373" y="32925"/>
                </a:lnTo>
                <a:lnTo>
                  <a:pt x="201684" y="15038"/>
                </a:lnTo>
                <a:lnTo>
                  <a:pt x="247060" y="3861"/>
                </a:lnTo>
                <a:lnTo>
                  <a:pt x="294894" y="0"/>
                </a:lnTo>
                <a:lnTo>
                  <a:pt x="319079" y="977"/>
                </a:lnTo>
                <a:lnTo>
                  <a:pt x="365760" y="8573"/>
                </a:lnTo>
                <a:lnTo>
                  <a:pt x="409679" y="23181"/>
                </a:lnTo>
                <a:lnTo>
                  <a:pt x="450231" y="44194"/>
                </a:lnTo>
                <a:lnTo>
                  <a:pt x="486807" y="71003"/>
                </a:lnTo>
                <a:lnTo>
                  <a:pt x="518801" y="103001"/>
                </a:lnTo>
                <a:lnTo>
                  <a:pt x="545605" y="139579"/>
                </a:lnTo>
                <a:lnTo>
                  <a:pt x="566613" y="180129"/>
                </a:lnTo>
                <a:lnTo>
                  <a:pt x="581217" y="224044"/>
                </a:lnTo>
                <a:lnTo>
                  <a:pt x="588810" y="270715"/>
                </a:lnTo>
                <a:lnTo>
                  <a:pt x="589788" y="294894"/>
                </a:lnTo>
                <a:lnTo>
                  <a:pt x="588810" y="319072"/>
                </a:lnTo>
                <a:lnTo>
                  <a:pt x="581217" y="365743"/>
                </a:lnTo>
                <a:lnTo>
                  <a:pt x="566613" y="409658"/>
                </a:lnTo>
                <a:lnTo>
                  <a:pt x="545605" y="450208"/>
                </a:lnTo>
                <a:lnTo>
                  <a:pt x="518801" y="486786"/>
                </a:lnTo>
                <a:lnTo>
                  <a:pt x="486807" y="518784"/>
                </a:lnTo>
                <a:lnTo>
                  <a:pt x="450231" y="545593"/>
                </a:lnTo>
                <a:lnTo>
                  <a:pt x="409679" y="566606"/>
                </a:lnTo>
                <a:lnTo>
                  <a:pt x="365760" y="581214"/>
                </a:lnTo>
                <a:lnTo>
                  <a:pt x="319079" y="588810"/>
                </a:lnTo>
                <a:lnTo>
                  <a:pt x="294894" y="589788"/>
                </a:lnTo>
                <a:lnTo>
                  <a:pt x="270708" y="588810"/>
                </a:lnTo>
                <a:lnTo>
                  <a:pt x="224027" y="581214"/>
                </a:lnTo>
                <a:lnTo>
                  <a:pt x="180108" y="566606"/>
                </a:lnTo>
                <a:lnTo>
                  <a:pt x="139556" y="545593"/>
                </a:lnTo>
                <a:lnTo>
                  <a:pt x="102980" y="518784"/>
                </a:lnTo>
                <a:lnTo>
                  <a:pt x="70986" y="486786"/>
                </a:lnTo>
                <a:lnTo>
                  <a:pt x="44182" y="450208"/>
                </a:lnTo>
                <a:lnTo>
                  <a:pt x="23174" y="409658"/>
                </a:lnTo>
                <a:lnTo>
                  <a:pt x="8570" y="365743"/>
                </a:lnTo>
                <a:lnTo>
                  <a:pt x="977" y="319072"/>
                </a:lnTo>
                <a:lnTo>
                  <a:pt x="0" y="294894"/>
                </a:lnTo>
                <a:close/>
              </a:path>
            </a:pathLst>
          </a:custGeom>
          <a:ln w="12192">
            <a:solidFill>
              <a:srgbClr val="41709C"/>
            </a:solidFill>
          </a:ln>
        </p:spPr>
        <p:txBody>
          <a:bodyPr wrap="square" lIns="0" tIns="0" rIns="0" bIns="0" rtlCol="0"/>
          <a:lstStyle/>
          <a:p>
            <a:endParaRPr/>
          </a:p>
        </p:txBody>
      </p:sp>
      <p:sp>
        <p:nvSpPr>
          <p:cNvPr id="18" name="object 18"/>
          <p:cNvSpPr/>
          <p:nvPr/>
        </p:nvSpPr>
        <p:spPr>
          <a:xfrm>
            <a:off x="247307" y="2870073"/>
            <a:ext cx="436880" cy="436880"/>
          </a:xfrm>
          <a:custGeom>
            <a:avLst/>
            <a:gdLst/>
            <a:ahLst/>
            <a:cxnLst/>
            <a:rect l="l" t="t" r="r" b="b"/>
            <a:pathLst>
              <a:path w="436880" h="436879">
                <a:moveTo>
                  <a:pt x="0" y="218312"/>
                </a:moveTo>
                <a:lnTo>
                  <a:pt x="6343" y="270760"/>
                </a:lnTo>
                <a:lnTo>
                  <a:pt x="24363" y="318619"/>
                </a:lnTo>
                <a:lnTo>
                  <a:pt x="52543" y="360369"/>
                </a:lnTo>
                <a:lnTo>
                  <a:pt x="89365" y="394490"/>
                </a:lnTo>
                <a:lnTo>
                  <a:pt x="133313" y="419463"/>
                </a:lnTo>
                <a:lnTo>
                  <a:pt x="182869" y="433767"/>
                </a:lnTo>
                <a:lnTo>
                  <a:pt x="218274" y="436625"/>
                </a:lnTo>
                <a:lnTo>
                  <a:pt x="236176" y="435901"/>
                </a:lnTo>
                <a:lnTo>
                  <a:pt x="287266" y="425491"/>
                </a:lnTo>
                <a:lnTo>
                  <a:pt x="333252" y="403906"/>
                </a:lnTo>
                <a:lnTo>
                  <a:pt x="372618" y="372665"/>
                </a:lnTo>
                <a:lnTo>
                  <a:pt x="403846" y="333289"/>
                </a:lnTo>
                <a:lnTo>
                  <a:pt x="425421" y="287298"/>
                </a:lnTo>
                <a:lnTo>
                  <a:pt x="435826" y="236211"/>
                </a:lnTo>
                <a:lnTo>
                  <a:pt x="436549" y="218312"/>
                </a:lnTo>
                <a:lnTo>
                  <a:pt x="435826" y="200414"/>
                </a:lnTo>
                <a:lnTo>
                  <a:pt x="425421" y="149327"/>
                </a:lnTo>
                <a:lnTo>
                  <a:pt x="403846" y="103336"/>
                </a:lnTo>
                <a:lnTo>
                  <a:pt x="372618" y="63960"/>
                </a:lnTo>
                <a:lnTo>
                  <a:pt x="333252" y="32719"/>
                </a:lnTo>
                <a:lnTo>
                  <a:pt x="287266" y="11134"/>
                </a:lnTo>
                <a:lnTo>
                  <a:pt x="236176" y="724"/>
                </a:lnTo>
                <a:lnTo>
                  <a:pt x="218274" y="0"/>
                </a:lnTo>
                <a:lnTo>
                  <a:pt x="200373" y="724"/>
                </a:lnTo>
                <a:lnTo>
                  <a:pt x="149283" y="11134"/>
                </a:lnTo>
                <a:lnTo>
                  <a:pt x="103297" y="32719"/>
                </a:lnTo>
                <a:lnTo>
                  <a:pt x="63931" y="63960"/>
                </a:lnTo>
                <a:lnTo>
                  <a:pt x="32702" y="103336"/>
                </a:lnTo>
                <a:lnTo>
                  <a:pt x="11127" y="149327"/>
                </a:lnTo>
                <a:lnTo>
                  <a:pt x="723" y="200414"/>
                </a:lnTo>
                <a:lnTo>
                  <a:pt x="0" y="218312"/>
                </a:lnTo>
                <a:close/>
              </a:path>
            </a:pathLst>
          </a:custGeom>
          <a:ln w="12192">
            <a:solidFill>
              <a:srgbClr val="41709C"/>
            </a:solidFill>
          </a:ln>
        </p:spPr>
        <p:txBody>
          <a:bodyPr wrap="square" lIns="0" tIns="0" rIns="0" bIns="0" rtlCol="0"/>
          <a:lstStyle/>
          <a:p>
            <a:endParaRPr/>
          </a:p>
        </p:txBody>
      </p:sp>
      <p:sp>
        <p:nvSpPr>
          <p:cNvPr id="19" name="object 19"/>
          <p:cNvSpPr/>
          <p:nvPr/>
        </p:nvSpPr>
        <p:spPr>
          <a:xfrm>
            <a:off x="237743" y="3576828"/>
            <a:ext cx="455930" cy="457200"/>
          </a:xfrm>
          <a:custGeom>
            <a:avLst/>
            <a:gdLst/>
            <a:ahLst/>
            <a:cxnLst/>
            <a:rect l="l" t="t" r="r" b="b"/>
            <a:pathLst>
              <a:path w="455930" h="457200">
                <a:moveTo>
                  <a:pt x="227837" y="0"/>
                </a:moveTo>
                <a:lnTo>
                  <a:pt x="173085" y="6644"/>
                </a:lnTo>
                <a:lnTo>
                  <a:pt x="123133" y="25518"/>
                </a:lnTo>
                <a:lnTo>
                  <a:pt x="79563" y="55032"/>
                </a:lnTo>
                <a:lnTo>
                  <a:pt x="43959" y="93597"/>
                </a:lnTo>
                <a:lnTo>
                  <a:pt x="17904" y="139624"/>
                </a:lnTo>
                <a:lnTo>
                  <a:pt x="2982" y="191523"/>
                </a:lnTo>
                <a:lnTo>
                  <a:pt x="0" y="228600"/>
                </a:lnTo>
                <a:lnTo>
                  <a:pt x="755" y="247346"/>
                </a:lnTo>
                <a:lnTo>
                  <a:pt x="11615" y="300849"/>
                </a:lnTo>
                <a:lnTo>
                  <a:pt x="34135" y="349010"/>
                </a:lnTo>
                <a:lnTo>
                  <a:pt x="66732" y="390239"/>
                </a:lnTo>
                <a:lnTo>
                  <a:pt x="107822" y="422947"/>
                </a:lnTo>
                <a:lnTo>
                  <a:pt x="155823" y="445544"/>
                </a:lnTo>
                <a:lnTo>
                  <a:pt x="209151" y="456442"/>
                </a:lnTo>
                <a:lnTo>
                  <a:pt x="227837" y="457200"/>
                </a:lnTo>
                <a:lnTo>
                  <a:pt x="246524" y="456442"/>
                </a:lnTo>
                <a:lnTo>
                  <a:pt x="299852" y="445544"/>
                </a:lnTo>
                <a:lnTo>
                  <a:pt x="347853" y="422947"/>
                </a:lnTo>
                <a:lnTo>
                  <a:pt x="388943" y="390239"/>
                </a:lnTo>
                <a:lnTo>
                  <a:pt x="421540" y="349010"/>
                </a:lnTo>
                <a:lnTo>
                  <a:pt x="444060" y="300849"/>
                </a:lnTo>
                <a:lnTo>
                  <a:pt x="454920" y="247346"/>
                </a:lnTo>
                <a:lnTo>
                  <a:pt x="455676" y="228600"/>
                </a:lnTo>
                <a:lnTo>
                  <a:pt x="454920" y="209853"/>
                </a:lnTo>
                <a:lnTo>
                  <a:pt x="444060" y="156350"/>
                </a:lnTo>
                <a:lnTo>
                  <a:pt x="421540" y="108189"/>
                </a:lnTo>
                <a:lnTo>
                  <a:pt x="388943" y="66960"/>
                </a:lnTo>
                <a:lnTo>
                  <a:pt x="347853" y="34252"/>
                </a:lnTo>
                <a:lnTo>
                  <a:pt x="299852" y="11655"/>
                </a:lnTo>
                <a:lnTo>
                  <a:pt x="246524" y="757"/>
                </a:lnTo>
                <a:lnTo>
                  <a:pt x="227837" y="0"/>
                </a:lnTo>
                <a:close/>
              </a:path>
            </a:pathLst>
          </a:custGeom>
          <a:solidFill>
            <a:srgbClr val="0066FF"/>
          </a:solidFill>
        </p:spPr>
        <p:txBody>
          <a:bodyPr wrap="square" lIns="0" tIns="0" rIns="0" bIns="0" rtlCol="0"/>
          <a:lstStyle/>
          <a:p>
            <a:endParaRPr/>
          </a:p>
        </p:txBody>
      </p:sp>
      <p:sp>
        <p:nvSpPr>
          <p:cNvPr id="20" name="object 20"/>
          <p:cNvSpPr txBox="1"/>
          <p:nvPr/>
        </p:nvSpPr>
        <p:spPr>
          <a:xfrm>
            <a:off x="347573" y="3638886"/>
            <a:ext cx="236854" cy="381000"/>
          </a:xfrm>
          <a:prstGeom prst="rect">
            <a:avLst/>
          </a:prstGeom>
        </p:spPr>
        <p:txBody>
          <a:bodyPr vert="horz" wrap="square" lIns="0" tIns="0" rIns="0" bIns="0" rtlCol="0">
            <a:spAutoFit/>
          </a:bodyPr>
          <a:lstStyle/>
          <a:p>
            <a:pPr marL="12700">
              <a:lnSpc>
                <a:spcPct val="100000"/>
              </a:lnSpc>
            </a:pPr>
            <a:r>
              <a:rPr sz="2800" spc="-5" dirty="0">
                <a:solidFill>
                  <a:srgbClr val="FFFFFF"/>
                </a:solidFill>
                <a:latin typeface="Arial Rounded MT Bold"/>
                <a:cs typeface="Arial Rounded MT Bold"/>
              </a:rPr>
              <a:t>2</a:t>
            </a:r>
            <a:endParaRPr sz="2800">
              <a:latin typeface="Arial Rounded MT Bold"/>
              <a:cs typeface="Arial Rounded MT Bold"/>
            </a:endParaRPr>
          </a:p>
        </p:txBody>
      </p:sp>
      <p:sp>
        <p:nvSpPr>
          <p:cNvPr id="21" name="object 21"/>
          <p:cNvSpPr/>
          <p:nvPr/>
        </p:nvSpPr>
        <p:spPr>
          <a:xfrm>
            <a:off x="170687" y="3509771"/>
            <a:ext cx="589915" cy="591820"/>
          </a:xfrm>
          <a:custGeom>
            <a:avLst/>
            <a:gdLst/>
            <a:ahLst/>
            <a:cxnLst/>
            <a:rect l="l" t="t" r="r" b="b"/>
            <a:pathLst>
              <a:path w="589915" h="591820">
                <a:moveTo>
                  <a:pt x="294894" y="0"/>
                </a:moveTo>
                <a:lnTo>
                  <a:pt x="247060" y="3868"/>
                </a:lnTo>
                <a:lnTo>
                  <a:pt x="201684" y="15069"/>
                </a:lnTo>
                <a:lnTo>
                  <a:pt x="159373" y="32993"/>
                </a:lnTo>
                <a:lnTo>
                  <a:pt x="120733" y="57034"/>
                </a:lnTo>
                <a:lnTo>
                  <a:pt x="86372" y="86582"/>
                </a:lnTo>
                <a:lnTo>
                  <a:pt x="56897" y="121029"/>
                </a:lnTo>
                <a:lnTo>
                  <a:pt x="32915" y="159769"/>
                </a:lnTo>
                <a:lnTo>
                  <a:pt x="15033" y="202192"/>
                </a:lnTo>
                <a:lnTo>
                  <a:pt x="3859" y="247690"/>
                </a:lnTo>
                <a:lnTo>
                  <a:pt x="0" y="295655"/>
                </a:lnTo>
                <a:lnTo>
                  <a:pt x="977" y="319909"/>
                </a:lnTo>
                <a:lnTo>
                  <a:pt x="8570" y="366717"/>
                </a:lnTo>
                <a:lnTo>
                  <a:pt x="23174" y="410753"/>
                </a:lnTo>
                <a:lnTo>
                  <a:pt x="44182" y="451410"/>
                </a:lnTo>
                <a:lnTo>
                  <a:pt x="70986" y="488080"/>
                </a:lnTo>
                <a:lnTo>
                  <a:pt x="102980" y="520154"/>
                </a:lnTo>
                <a:lnTo>
                  <a:pt x="139556" y="547024"/>
                </a:lnTo>
                <a:lnTo>
                  <a:pt x="180108" y="568082"/>
                </a:lnTo>
                <a:lnTo>
                  <a:pt x="224027" y="582721"/>
                </a:lnTo>
                <a:lnTo>
                  <a:pt x="270708" y="590332"/>
                </a:lnTo>
                <a:lnTo>
                  <a:pt x="294894" y="591311"/>
                </a:lnTo>
                <a:lnTo>
                  <a:pt x="319079" y="590332"/>
                </a:lnTo>
                <a:lnTo>
                  <a:pt x="365760" y="582721"/>
                </a:lnTo>
                <a:lnTo>
                  <a:pt x="409679" y="568082"/>
                </a:lnTo>
                <a:lnTo>
                  <a:pt x="450231" y="547024"/>
                </a:lnTo>
                <a:lnTo>
                  <a:pt x="486807" y="520154"/>
                </a:lnTo>
                <a:lnTo>
                  <a:pt x="492646" y="514730"/>
                </a:lnTo>
                <a:lnTo>
                  <a:pt x="294894" y="514730"/>
                </a:lnTo>
                <a:lnTo>
                  <a:pt x="276992" y="514005"/>
                </a:lnTo>
                <a:lnTo>
                  <a:pt x="225902" y="503566"/>
                </a:lnTo>
                <a:lnTo>
                  <a:pt x="179916" y="481917"/>
                </a:lnTo>
                <a:lnTo>
                  <a:pt x="140550" y="450580"/>
                </a:lnTo>
                <a:lnTo>
                  <a:pt x="109322" y="411072"/>
                </a:lnTo>
                <a:lnTo>
                  <a:pt x="87747" y="364915"/>
                </a:lnTo>
                <a:lnTo>
                  <a:pt x="77342" y="313628"/>
                </a:lnTo>
                <a:lnTo>
                  <a:pt x="76619" y="295655"/>
                </a:lnTo>
                <a:lnTo>
                  <a:pt x="77342" y="277683"/>
                </a:lnTo>
                <a:lnTo>
                  <a:pt x="87747" y="226396"/>
                </a:lnTo>
                <a:lnTo>
                  <a:pt x="109322" y="180239"/>
                </a:lnTo>
                <a:lnTo>
                  <a:pt x="140550" y="140731"/>
                </a:lnTo>
                <a:lnTo>
                  <a:pt x="179916" y="109394"/>
                </a:lnTo>
                <a:lnTo>
                  <a:pt x="225902" y="87745"/>
                </a:lnTo>
                <a:lnTo>
                  <a:pt x="276992" y="77306"/>
                </a:lnTo>
                <a:lnTo>
                  <a:pt x="294894" y="76580"/>
                </a:lnTo>
                <a:lnTo>
                  <a:pt x="492646" y="76580"/>
                </a:lnTo>
                <a:lnTo>
                  <a:pt x="486807" y="71157"/>
                </a:lnTo>
                <a:lnTo>
                  <a:pt x="450231" y="44287"/>
                </a:lnTo>
                <a:lnTo>
                  <a:pt x="409679" y="23229"/>
                </a:lnTo>
                <a:lnTo>
                  <a:pt x="365760" y="8590"/>
                </a:lnTo>
                <a:lnTo>
                  <a:pt x="319079" y="979"/>
                </a:lnTo>
                <a:lnTo>
                  <a:pt x="294894" y="0"/>
                </a:lnTo>
                <a:close/>
              </a:path>
              <a:path w="589915" h="591820">
                <a:moveTo>
                  <a:pt x="492646" y="76580"/>
                </a:moveTo>
                <a:lnTo>
                  <a:pt x="294894" y="76580"/>
                </a:lnTo>
                <a:lnTo>
                  <a:pt x="312795" y="77306"/>
                </a:lnTo>
                <a:lnTo>
                  <a:pt x="330298" y="79447"/>
                </a:lnTo>
                <a:lnTo>
                  <a:pt x="379855" y="93791"/>
                </a:lnTo>
                <a:lnTo>
                  <a:pt x="423803" y="118838"/>
                </a:lnTo>
                <a:lnTo>
                  <a:pt x="460625" y="153068"/>
                </a:lnTo>
                <a:lnTo>
                  <a:pt x="488805" y="194961"/>
                </a:lnTo>
                <a:lnTo>
                  <a:pt x="506825" y="242996"/>
                </a:lnTo>
                <a:lnTo>
                  <a:pt x="513168" y="295655"/>
                </a:lnTo>
                <a:lnTo>
                  <a:pt x="512445" y="313628"/>
                </a:lnTo>
                <a:lnTo>
                  <a:pt x="502040" y="364915"/>
                </a:lnTo>
                <a:lnTo>
                  <a:pt x="480465" y="411072"/>
                </a:lnTo>
                <a:lnTo>
                  <a:pt x="449237" y="450580"/>
                </a:lnTo>
                <a:lnTo>
                  <a:pt x="409871" y="481917"/>
                </a:lnTo>
                <a:lnTo>
                  <a:pt x="363885" y="503566"/>
                </a:lnTo>
                <a:lnTo>
                  <a:pt x="312795" y="514005"/>
                </a:lnTo>
                <a:lnTo>
                  <a:pt x="294894" y="514730"/>
                </a:lnTo>
                <a:lnTo>
                  <a:pt x="492646" y="514730"/>
                </a:lnTo>
                <a:lnTo>
                  <a:pt x="532890" y="470282"/>
                </a:lnTo>
                <a:lnTo>
                  <a:pt x="556872" y="431542"/>
                </a:lnTo>
                <a:lnTo>
                  <a:pt x="574754" y="389119"/>
                </a:lnTo>
                <a:lnTo>
                  <a:pt x="585928" y="343621"/>
                </a:lnTo>
                <a:lnTo>
                  <a:pt x="589788" y="295655"/>
                </a:lnTo>
                <a:lnTo>
                  <a:pt x="588810" y="271402"/>
                </a:lnTo>
                <a:lnTo>
                  <a:pt x="581217" y="224594"/>
                </a:lnTo>
                <a:lnTo>
                  <a:pt x="566613" y="180558"/>
                </a:lnTo>
                <a:lnTo>
                  <a:pt x="545605" y="139901"/>
                </a:lnTo>
                <a:lnTo>
                  <a:pt x="518801" y="103231"/>
                </a:lnTo>
                <a:lnTo>
                  <a:pt x="503415" y="86582"/>
                </a:lnTo>
                <a:lnTo>
                  <a:pt x="492646" y="76580"/>
                </a:lnTo>
                <a:close/>
              </a:path>
            </a:pathLst>
          </a:custGeom>
          <a:solidFill>
            <a:srgbClr val="FFFFFF"/>
          </a:solidFill>
        </p:spPr>
        <p:txBody>
          <a:bodyPr wrap="square" lIns="0" tIns="0" rIns="0" bIns="0" rtlCol="0"/>
          <a:lstStyle/>
          <a:p>
            <a:endParaRPr/>
          </a:p>
        </p:txBody>
      </p:sp>
      <p:sp>
        <p:nvSpPr>
          <p:cNvPr id="22" name="object 22"/>
          <p:cNvSpPr/>
          <p:nvPr/>
        </p:nvSpPr>
        <p:spPr>
          <a:xfrm>
            <a:off x="170687" y="3509771"/>
            <a:ext cx="589915" cy="591820"/>
          </a:xfrm>
          <a:custGeom>
            <a:avLst/>
            <a:gdLst/>
            <a:ahLst/>
            <a:cxnLst/>
            <a:rect l="l" t="t" r="r" b="b"/>
            <a:pathLst>
              <a:path w="589915" h="591820">
                <a:moveTo>
                  <a:pt x="0" y="295655"/>
                </a:moveTo>
                <a:lnTo>
                  <a:pt x="3859" y="247690"/>
                </a:lnTo>
                <a:lnTo>
                  <a:pt x="15033" y="202192"/>
                </a:lnTo>
                <a:lnTo>
                  <a:pt x="32915" y="159769"/>
                </a:lnTo>
                <a:lnTo>
                  <a:pt x="56897" y="121029"/>
                </a:lnTo>
                <a:lnTo>
                  <a:pt x="86372" y="86582"/>
                </a:lnTo>
                <a:lnTo>
                  <a:pt x="120733" y="57034"/>
                </a:lnTo>
                <a:lnTo>
                  <a:pt x="159373" y="32993"/>
                </a:lnTo>
                <a:lnTo>
                  <a:pt x="201684" y="15069"/>
                </a:lnTo>
                <a:lnTo>
                  <a:pt x="247060" y="3868"/>
                </a:lnTo>
                <a:lnTo>
                  <a:pt x="294894" y="0"/>
                </a:lnTo>
                <a:lnTo>
                  <a:pt x="319079" y="979"/>
                </a:lnTo>
                <a:lnTo>
                  <a:pt x="365760" y="8590"/>
                </a:lnTo>
                <a:lnTo>
                  <a:pt x="409679" y="23229"/>
                </a:lnTo>
                <a:lnTo>
                  <a:pt x="450231" y="44287"/>
                </a:lnTo>
                <a:lnTo>
                  <a:pt x="486807" y="71157"/>
                </a:lnTo>
                <a:lnTo>
                  <a:pt x="518801" y="103231"/>
                </a:lnTo>
                <a:lnTo>
                  <a:pt x="545605" y="139901"/>
                </a:lnTo>
                <a:lnTo>
                  <a:pt x="566613" y="180558"/>
                </a:lnTo>
                <a:lnTo>
                  <a:pt x="581217" y="224594"/>
                </a:lnTo>
                <a:lnTo>
                  <a:pt x="588810" y="271402"/>
                </a:lnTo>
                <a:lnTo>
                  <a:pt x="589788" y="295655"/>
                </a:lnTo>
                <a:lnTo>
                  <a:pt x="588810" y="319909"/>
                </a:lnTo>
                <a:lnTo>
                  <a:pt x="581217" y="366717"/>
                </a:lnTo>
                <a:lnTo>
                  <a:pt x="566613" y="410753"/>
                </a:lnTo>
                <a:lnTo>
                  <a:pt x="545605" y="451410"/>
                </a:lnTo>
                <a:lnTo>
                  <a:pt x="518801" y="488080"/>
                </a:lnTo>
                <a:lnTo>
                  <a:pt x="486807" y="520154"/>
                </a:lnTo>
                <a:lnTo>
                  <a:pt x="450231" y="547024"/>
                </a:lnTo>
                <a:lnTo>
                  <a:pt x="409679" y="568082"/>
                </a:lnTo>
                <a:lnTo>
                  <a:pt x="365760" y="582721"/>
                </a:lnTo>
                <a:lnTo>
                  <a:pt x="319079" y="590332"/>
                </a:lnTo>
                <a:lnTo>
                  <a:pt x="294894" y="591311"/>
                </a:lnTo>
                <a:lnTo>
                  <a:pt x="270708" y="590332"/>
                </a:lnTo>
                <a:lnTo>
                  <a:pt x="224027" y="582721"/>
                </a:lnTo>
                <a:lnTo>
                  <a:pt x="180108" y="568082"/>
                </a:lnTo>
                <a:lnTo>
                  <a:pt x="139556" y="547024"/>
                </a:lnTo>
                <a:lnTo>
                  <a:pt x="102980" y="520154"/>
                </a:lnTo>
                <a:lnTo>
                  <a:pt x="70986" y="488080"/>
                </a:lnTo>
                <a:lnTo>
                  <a:pt x="44182" y="451410"/>
                </a:lnTo>
                <a:lnTo>
                  <a:pt x="23174" y="410753"/>
                </a:lnTo>
                <a:lnTo>
                  <a:pt x="8570" y="366717"/>
                </a:lnTo>
                <a:lnTo>
                  <a:pt x="977" y="319909"/>
                </a:lnTo>
                <a:lnTo>
                  <a:pt x="0" y="295655"/>
                </a:lnTo>
                <a:close/>
              </a:path>
            </a:pathLst>
          </a:custGeom>
          <a:ln w="12192">
            <a:solidFill>
              <a:srgbClr val="41709C"/>
            </a:solidFill>
          </a:ln>
        </p:spPr>
        <p:txBody>
          <a:bodyPr wrap="square" lIns="0" tIns="0" rIns="0" bIns="0" rtlCol="0"/>
          <a:lstStyle/>
          <a:p>
            <a:endParaRPr/>
          </a:p>
        </p:txBody>
      </p:sp>
      <p:sp>
        <p:nvSpPr>
          <p:cNvPr id="23" name="object 23"/>
          <p:cNvSpPr/>
          <p:nvPr/>
        </p:nvSpPr>
        <p:spPr>
          <a:xfrm>
            <a:off x="247307" y="3586353"/>
            <a:ext cx="436880" cy="438150"/>
          </a:xfrm>
          <a:custGeom>
            <a:avLst/>
            <a:gdLst/>
            <a:ahLst/>
            <a:cxnLst/>
            <a:rect l="l" t="t" r="r" b="b"/>
            <a:pathLst>
              <a:path w="436880" h="438150">
                <a:moveTo>
                  <a:pt x="0" y="219075"/>
                </a:moveTo>
                <a:lnTo>
                  <a:pt x="6343" y="271734"/>
                </a:lnTo>
                <a:lnTo>
                  <a:pt x="24363" y="319769"/>
                </a:lnTo>
                <a:lnTo>
                  <a:pt x="52543" y="361662"/>
                </a:lnTo>
                <a:lnTo>
                  <a:pt x="89365" y="395892"/>
                </a:lnTo>
                <a:lnTo>
                  <a:pt x="133313" y="420939"/>
                </a:lnTo>
                <a:lnTo>
                  <a:pt x="182869" y="435283"/>
                </a:lnTo>
                <a:lnTo>
                  <a:pt x="218274" y="438150"/>
                </a:lnTo>
                <a:lnTo>
                  <a:pt x="236176" y="437424"/>
                </a:lnTo>
                <a:lnTo>
                  <a:pt x="287266" y="426985"/>
                </a:lnTo>
                <a:lnTo>
                  <a:pt x="333252" y="405336"/>
                </a:lnTo>
                <a:lnTo>
                  <a:pt x="372618" y="373999"/>
                </a:lnTo>
                <a:lnTo>
                  <a:pt x="403846" y="334491"/>
                </a:lnTo>
                <a:lnTo>
                  <a:pt x="425421" y="288334"/>
                </a:lnTo>
                <a:lnTo>
                  <a:pt x="435826" y="237047"/>
                </a:lnTo>
                <a:lnTo>
                  <a:pt x="436549" y="219075"/>
                </a:lnTo>
                <a:lnTo>
                  <a:pt x="435826" y="201102"/>
                </a:lnTo>
                <a:lnTo>
                  <a:pt x="425421" y="149815"/>
                </a:lnTo>
                <a:lnTo>
                  <a:pt x="403846" y="103658"/>
                </a:lnTo>
                <a:lnTo>
                  <a:pt x="372618" y="64150"/>
                </a:lnTo>
                <a:lnTo>
                  <a:pt x="333252" y="32813"/>
                </a:lnTo>
                <a:lnTo>
                  <a:pt x="287266" y="11164"/>
                </a:lnTo>
                <a:lnTo>
                  <a:pt x="236176" y="725"/>
                </a:lnTo>
                <a:lnTo>
                  <a:pt x="218274" y="0"/>
                </a:lnTo>
                <a:lnTo>
                  <a:pt x="200373" y="725"/>
                </a:lnTo>
                <a:lnTo>
                  <a:pt x="149283" y="11164"/>
                </a:lnTo>
                <a:lnTo>
                  <a:pt x="103297" y="32813"/>
                </a:lnTo>
                <a:lnTo>
                  <a:pt x="63931" y="64150"/>
                </a:lnTo>
                <a:lnTo>
                  <a:pt x="32702" y="103658"/>
                </a:lnTo>
                <a:lnTo>
                  <a:pt x="11127" y="149815"/>
                </a:lnTo>
                <a:lnTo>
                  <a:pt x="723" y="201102"/>
                </a:lnTo>
                <a:lnTo>
                  <a:pt x="0" y="219075"/>
                </a:lnTo>
                <a:close/>
              </a:path>
            </a:pathLst>
          </a:custGeom>
          <a:ln w="12192">
            <a:solidFill>
              <a:srgbClr val="41709C"/>
            </a:solidFill>
          </a:ln>
        </p:spPr>
        <p:txBody>
          <a:bodyPr wrap="square" lIns="0" tIns="0" rIns="0" bIns="0" rtlCol="0"/>
          <a:lstStyle/>
          <a:p>
            <a:endParaRPr/>
          </a:p>
        </p:txBody>
      </p:sp>
      <p:sp>
        <p:nvSpPr>
          <p:cNvPr id="24" name="object 24"/>
          <p:cNvSpPr/>
          <p:nvPr/>
        </p:nvSpPr>
        <p:spPr>
          <a:xfrm>
            <a:off x="237743" y="4314444"/>
            <a:ext cx="455930" cy="455930"/>
          </a:xfrm>
          <a:custGeom>
            <a:avLst/>
            <a:gdLst/>
            <a:ahLst/>
            <a:cxnLst/>
            <a:rect l="l" t="t" r="r" b="b"/>
            <a:pathLst>
              <a:path w="455930" h="455929">
                <a:moveTo>
                  <a:pt x="227837" y="0"/>
                </a:moveTo>
                <a:lnTo>
                  <a:pt x="173085" y="6620"/>
                </a:lnTo>
                <a:lnTo>
                  <a:pt x="123133" y="25426"/>
                </a:lnTo>
                <a:lnTo>
                  <a:pt x="79563" y="54836"/>
                </a:lnTo>
                <a:lnTo>
                  <a:pt x="43959" y="93268"/>
                </a:lnTo>
                <a:lnTo>
                  <a:pt x="17904" y="139142"/>
                </a:lnTo>
                <a:lnTo>
                  <a:pt x="2982" y="190875"/>
                </a:lnTo>
                <a:lnTo>
                  <a:pt x="0" y="227837"/>
                </a:lnTo>
                <a:lnTo>
                  <a:pt x="755" y="246527"/>
                </a:lnTo>
                <a:lnTo>
                  <a:pt x="11615" y="299862"/>
                </a:lnTo>
                <a:lnTo>
                  <a:pt x="34135" y="347864"/>
                </a:lnTo>
                <a:lnTo>
                  <a:pt x="66732" y="388953"/>
                </a:lnTo>
                <a:lnTo>
                  <a:pt x="107822" y="421546"/>
                </a:lnTo>
                <a:lnTo>
                  <a:pt x="155823" y="444063"/>
                </a:lnTo>
                <a:lnTo>
                  <a:pt x="209151" y="454920"/>
                </a:lnTo>
                <a:lnTo>
                  <a:pt x="227837" y="455675"/>
                </a:lnTo>
                <a:lnTo>
                  <a:pt x="246524" y="454920"/>
                </a:lnTo>
                <a:lnTo>
                  <a:pt x="299852" y="444063"/>
                </a:lnTo>
                <a:lnTo>
                  <a:pt x="347853" y="421546"/>
                </a:lnTo>
                <a:lnTo>
                  <a:pt x="388943" y="388953"/>
                </a:lnTo>
                <a:lnTo>
                  <a:pt x="421540" y="347864"/>
                </a:lnTo>
                <a:lnTo>
                  <a:pt x="444060" y="299862"/>
                </a:lnTo>
                <a:lnTo>
                  <a:pt x="454920" y="246527"/>
                </a:lnTo>
                <a:lnTo>
                  <a:pt x="455676" y="227837"/>
                </a:lnTo>
                <a:lnTo>
                  <a:pt x="454920" y="209148"/>
                </a:lnTo>
                <a:lnTo>
                  <a:pt x="444060" y="155813"/>
                </a:lnTo>
                <a:lnTo>
                  <a:pt x="421540" y="107811"/>
                </a:lnTo>
                <a:lnTo>
                  <a:pt x="388943" y="66722"/>
                </a:lnTo>
                <a:lnTo>
                  <a:pt x="347853" y="34129"/>
                </a:lnTo>
                <a:lnTo>
                  <a:pt x="299852" y="11612"/>
                </a:lnTo>
                <a:lnTo>
                  <a:pt x="246524" y="755"/>
                </a:lnTo>
                <a:lnTo>
                  <a:pt x="227837" y="0"/>
                </a:lnTo>
                <a:close/>
              </a:path>
            </a:pathLst>
          </a:custGeom>
          <a:solidFill>
            <a:srgbClr val="0066FF"/>
          </a:solidFill>
        </p:spPr>
        <p:txBody>
          <a:bodyPr wrap="square" lIns="0" tIns="0" rIns="0" bIns="0" rtlCol="0"/>
          <a:lstStyle/>
          <a:p>
            <a:endParaRPr/>
          </a:p>
        </p:txBody>
      </p:sp>
      <p:sp>
        <p:nvSpPr>
          <p:cNvPr id="25" name="object 25"/>
          <p:cNvSpPr txBox="1"/>
          <p:nvPr/>
        </p:nvSpPr>
        <p:spPr>
          <a:xfrm>
            <a:off x="347573" y="4376248"/>
            <a:ext cx="236854" cy="381000"/>
          </a:xfrm>
          <a:prstGeom prst="rect">
            <a:avLst/>
          </a:prstGeom>
        </p:spPr>
        <p:txBody>
          <a:bodyPr vert="horz" wrap="square" lIns="0" tIns="0" rIns="0" bIns="0" rtlCol="0">
            <a:spAutoFit/>
          </a:bodyPr>
          <a:lstStyle/>
          <a:p>
            <a:pPr marL="12700">
              <a:lnSpc>
                <a:spcPct val="100000"/>
              </a:lnSpc>
            </a:pPr>
            <a:r>
              <a:rPr sz="2800" spc="-5" dirty="0">
                <a:solidFill>
                  <a:srgbClr val="FFFFFF"/>
                </a:solidFill>
                <a:latin typeface="Arial Rounded MT Bold"/>
                <a:cs typeface="Arial Rounded MT Bold"/>
              </a:rPr>
              <a:t>3</a:t>
            </a:r>
            <a:endParaRPr sz="2800">
              <a:latin typeface="Arial Rounded MT Bold"/>
              <a:cs typeface="Arial Rounded MT Bold"/>
            </a:endParaRPr>
          </a:p>
        </p:txBody>
      </p:sp>
      <p:sp>
        <p:nvSpPr>
          <p:cNvPr id="26" name="object 26"/>
          <p:cNvSpPr/>
          <p:nvPr/>
        </p:nvSpPr>
        <p:spPr>
          <a:xfrm>
            <a:off x="170687" y="4247388"/>
            <a:ext cx="589915" cy="589915"/>
          </a:xfrm>
          <a:custGeom>
            <a:avLst/>
            <a:gdLst/>
            <a:ahLst/>
            <a:cxnLst/>
            <a:rect l="l" t="t" r="r" b="b"/>
            <a:pathLst>
              <a:path w="589915" h="589914">
                <a:moveTo>
                  <a:pt x="294894" y="0"/>
                </a:moveTo>
                <a:lnTo>
                  <a:pt x="247060" y="3861"/>
                </a:lnTo>
                <a:lnTo>
                  <a:pt x="201684" y="15038"/>
                </a:lnTo>
                <a:lnTo>
                  <a:pt x="159373" y="32925"/>
                </a:lnTo>
                <a:lnTo>
                  <a:pt x="120733" y="56912"/>
                </a:lnTo>
                <a:lnTo>
                  <a:pt x="86372" y="86391"/>
                </a:lnTo>
                <a:lnTo>
                  <a:pt x="56897" y="120755"/>
                </a:lnTo>
                <a:lnTo>
                  <a:pt x="32915" y="159395"/>
                </a:lnTo>
                <a:lnTo>
                  <a:pt x="15033" y="201704"/>
                </a:lnTo>
                <a:lnTo>
                  <a:pt x="3859" y="247073"/>
                </a:lnTo>
                <a:lnTo>
                  <a:pt x="0" y="294894"/>
                </a:lnTo>
                <a:lnTo>
                  <a:pt x="977" y="319072"/>
                </a:lnTo>
                <a:lnTo>
                  <a:pt x="8570" y="365743"/>
                </a:lnTo>
                <a:lnTo>
                  <a:pt x="23174" y="409658"/>
                </a:lnTo>
                <a:lnTo>
                  <a:pt x="44182" y="450208"/>
                </a:lnTo>
                <a:lnTo>
                  <a:pt x="70986" y="486786"/>
                </a:lnTo>
                <a:lnTo>
                  <a:pt x="102980" y="518784"/>
                </a:lnTo>
                <a:lnTo>
                  <a:pt x="139556" y="545593"/>
                </a:lnTo>
                <a:lnTo>
                  <a:pt x="180108" y="566606"/>
                </a:lnTo>
                <a:lnTo>
                  <a:pt x="224027" y="581214"/>
                </a:lnTo>
                <a:lnTo>
                  <a:pt x="270708" y="588810"/>
                </a:lnTo>
                <a:lnTo>
                  <a:pt x="294894" y="589788"/>
                </a:lnTo>
                <a:lnTo>
                  <a:pt x="319079" y="588810"/>
                </a:lnTo>
                <a:lnTo>
                  <a:pt x="365760" y="581214"/>
                </a:lnTo>
                <a:lnTo>
                  <a:pt x="409679" y="566606"/>
                </a:lnTo>
                <a:lnTo>
                  <a:pt x="450231" y="545593"/>
                </a:lnTo>
                <a:lnTo>
                  <a:pt x="486807" y="518784"/>
                </a:lnTo>
                <a:lnTo>
                  <a:pt x="492827" y="513206"/>
                </a:lnTo>
                <a:lnTo>
                  <a:pt x="294894" y="513206"/>
                </a:lnTo>
                <a:lnTo>
                  <a:pt x="276992" y="512482"/>
                </a:lnTo>
                <a:lnTo>
                  <a:pt x="225902" y="502072"/>
                </a:lnTo>
                <a:lnTo>
                  <a:pt x="179916" y="480487"/>
                </a:lnTo>
                <a:lnTo>
                  <a:pt x="140550" y="449246"/>
                </a:lnTo>
                <a:lnTo>
                  <a:pt x="109322" y="409870"/>
                </a:lnTo>
                <a:lnTo>
                  <a:pt x="87747" y="363879"/>
                </a:lnTo>
                <a:lnTo>
                  <a:pt x="77342" y="312792"/>
                </a:lnTo>
                <a:lnTo>
                  <a:pt x="76619" y="294894"/>
                </a:lnTo>
                <a:lnTo>
                  <a:pt x="77342" y="276995"/>
                </a:lnTo>
                <a:lnTo>
                  <a:pt x="87747" y="225908"/>
                </a:lnTo>
                <a:lnTo>
                  <a:pt x="109322" y="179917"/>
                </a:lnTo>
                <a:lnTo>
                  <a:pt x="140550" y="140541"/>
                </a:lnTo>
                <a:lnTo>
                  <a:pt x="179916" y="109300"/>
                </a:lnTo>
                <a:lnTo>
                  <a:pt x="225902" y="87715"/>
                </a:lnTo>
                <a:lnTo>
                  <a:pt x="276992" y="77305"/>
                </a:lnTo>
                <a:lnTo>
                  <a:pt x="294894" y="76581"/>
                </a:lnTo>
                <a:lnTo>
                  <a:pt x="492827" y="76581"/>
                </a:lnTo>
                <a:lnTo>
                  <a:pt x="486807" y="71003"/>
                </a:lnTo>
                <a:lnTo>
                  <a:pt x="450231" y="44194"/>
                </a:lnTo>
                <a:lnTo>
                  <a:pt x="409679" y="23181"/>
                </a:lnTo>
                <a:lnTo>
                  <a:pt x="365760" y="8573"/>
                </a:lnTo>
                <a:lnTo>
                  <a:pt x="319079" y="977"/>
                </a:lnTo>
                <a:lnTo>
                  <a:pt x="294894" y="0"/>
                </a:lnTo>
                <a:close/>
              </a:path>
              <a:path w="589915" h="589914">
                <a:moveTo>
                  <a:pt x="492827" y="76581"/>
                </a:moveTo>
                <a:lnTo>
                  <a:pt x="294894" y="76581"/>
                </a:lnTo>
                <a:lnTo>
                  <a:pt x="312795" y="77305"/>
                </a:lnTo>
                <a:lnTo>
                  <a:pt x="330298" y="79439"/>
                </a:lnTo>
                <a:lnTo>
                  <a:pt x="379855" y="93743"/>
                </a:lnTo>
                <a:lnTo>
                  <a:pt x="423803" y="118716"/>
                </a:lnTo>
                <a:lnTo>
                  <a:pt x="460625" y="152837"/>
                </a:lnTo>
                <a:lnTo>
                  <a:pt x="488805" y="194587"/>
                </a:lnTo>
                <a:lnTo>
                  <a:pt x="506825" y="242446"/>
                </a:lnTo>
                <a:lnTo>
                  <a:pt x="513168" y="294894"/>
                </a:lnTo>
                <a:lnTo>
                  <a:pt x="512445" y="312792"/>
                </a:lnTo>
                <a:lnTo>
                  <a:pt x="502040" y="363879"/>
                </a:lnTo>
                <a:lnTo>
                  <a:pt x="480465" y="409870"/>
                </a:lnTo>
                <a:lnTo>
                  <a:pt x="449237" y="449246"/>
                </a:lnTo>
                <a:lnTo>
                  <a:pt x="409871" y="480487"/>
                </a:lnTo>
                <a:lnTo>
                  <a:pt x="363885" y="502072"/>
                </a:lnTo>
                <a:lnTo>
                  <a:pt x="312795" y="512482"/>
                </a:lnTo>
                <a:lnTo>
                  <a:pt x="294894" y="513206"/>
                </a:lnTo>
                <a:lnTo>
                  <a:pt x="492827" y="513206"/>
                </a:lnTo>
                <a:lnTo>
                  <a:pt x="532890" y="469032"/>
                </a:lnTo>
                <a:lnTo>
                  <a:pt x="556872" y="430392"/>
                </a:lnTo>
                <a:lnTo>
                  <a:pt x="574754" y="388083"/>
                </a:lnTo>
                <a:lnTo>
                  <a:pt x="585928" y="342714"/>
                </a:lnTo>
                <a:lnTo>
                  <a:pt x="589788" y="294894"/>
                </a:lnTo>
                <a:lnTo>
                  <a:pt x="588810" y="270715"/>
                </a:lnTo>
                <a:lnTo>
                  <a:pt x="581217" y="224044"/>
                </a:lnTo>
                <a:lnTo>
                  <a:pt x="566613" y="180129"/>
                </a:lnTo>
                <a:lnTo>
                  <a:pt x="545605" y="139579"/>
                </a:lnTo>
                <a:lnTo>
                  <a:pt x="518801" y="103001"/>
                </a:lnTo>
                <a:lnTo>
                  <a:pt x="503415" y="86391"/>
                </a:lnTo>
                <a:lnTo>
                  <a:pt x="492827" y="76581"/>
                </a:lnTo>
                <a:close/>
              </a:path>
            </a:pathLst>
          </a:custGeom>
          <a:solidFill>
            <a:srgbClr val="FFFFFF"/>
          </a:solidFill>
        </p:spPr>
        <p:txBody>
          <a:bodyPr wrap="square" lIns="0" tIns="0" rIns="0" bIns="0" rtlCol="0"/>
          <a:lstStyle/>
          <a:p>
            <a:endParaRPr/>
          </a:p>
        </p:txBody>
      </p:sp>
      <p:sp>
        <p:nvSpPr>
          <p:cNvPr id="27" name="object 27"/>
          <p:cNvSpPr/>
          <p:nvPr/>
        </p:nvSpPr>
        <p:spPr>
          <a:xfrm>
            <a:off x="170687" y="4247388"/>
            <a:ext cx="589915" cy="589915"/>
          </a:xfrm>
          <a:custGeom>
            <a:avLst/>
            <a:gdLst/>
            <a:ahLst/>
            <a:cxnLst/>
            <a:rect l="l" t="t" r="r" b="b"/>
            <a:pathLst>
              <a:path w="589915" h="589914">
                <a:moveTo>
                  <a:pt x="0" y="294894"/>
                </a:moveTo>
                <a:lnTo>
                  <a:pt x="3859" y="247073"/>
                </a:lnTo>
                <a:lnTo>
                  <a:pt x="15033" y="201704"/>
                </a:lnTo>
                <a:lnTo>
                  <a:pt x="32915" y="159395"/>
                </a:lnTo>
                <a:lnTo>
                  <a:pt x="56897" y="120755"/>
                </a:lnTo>
                <a:lnTo>
                  <a:pt x="86372" y="86391"/>
                </a:lnTo>
                <a:lnTo>
                  <a:pt x="120733" y="56912"/>
                </a:lnTo>
                <a:lnTo>
                  <a:pt x="159373" y="32925"/>
                </a:lnTo>
                <a:lnTo>
                  <a:pt x="201684" y="15038"/>
                </a:lnTo>
                <a:lnTo>
                  <a:pt x="247060" y="3861"/>
                </a:lnTo>
                <a:lnTo>
                  <a:pt x="294894" y="0"/>
                </a:lnTo>
                <a:lnTo>
                  <a:pt x="319079" y="977"/>
                </a:lnTo>
                <a:lnTo>
                  <a:pt x="365760" y="8573"/>
                </a:lnTo>
                <a:lnTo>
                  <a:pt x="409679" y="23181"/>
                </a:lnTo>
                <a:lnTo>
                  <a:pt x="450231" y="44194"/>
                </a:lnTo>
                <a:lnTo>
                  <a:pt x="486807" y="71003"/>
                </a:lnTo>
                <a:lnTo>
                  <a:pt x="518801" y="103001"/>
                </a:lnTo>
                <a:lnTo>
                  <a:pt x="545605" y="139579"/>
                </a:lnTo>
                <a:lnTo>
                  <a:pt x="566613" y="180129"/>
                </a:lnTo>
                <a:lnTo>
                  <a:pt x="581217" y="224044"/>
                </a:lnTo>
                <a:lnTo>
                  <a:pt x="588810" y="270715"/>
                </a:lnTo>
                <a:lnTo>
                  <a:pt x="589788" y="294894"/>
                </a:lnTo>
                <a:lnTo>
                  <a:pt x="588810" y="319072"/>
                </a:lnTo>
                <a:lnTo>
                  <a:pt x="581217" y="365743"/>
                </a:lnTo>
                <a:lnTo>
                  <a:pt x="566613" y="409658"/>
                </a:lnTo>
                <a:lnTo>
                  <a:pt x="545605" y="450208"/>
                </a:lnTo>
                <a:lnTo>
                  <a:pt x="518801" y="486786"/>
                </a:lnTo>
                <a:lnTo>
                  <a:pt x="486807" y="518784"/>
                </a:lnTo>
                <a:lnTo>
                  <a:pt x="450231" y="545593"/>
                </a:lnTo>
                <a:lnTo>
                  <a:pt x="409679" y="566606"/>
                </a:lnTo>
                <a:lnTo>
                  <a:pt x="365760" y="581214"/>
                </a:lnTo>
                <a:lnTo>
                  <a:pt x="319079" y="588810"/>
                </a:lnTo>
                <a:lnTo>
                  <a:pt x="294894" y="589788"/>
                </a:lnTo>
                <a:lnTo>
                  <a:pt x="270708" y="588810"/>
                </a:lnTo>
                <a:lnTo>
                  <a:pt x="224027" y="581214"/>
                </a:lnTo>
                <a:lnTo>
                  <a:pt x="180108" y="566606"/>
                </a:lnTo>
                <a:lnTo>
                  <a:pt x="139556" y="545593"/>
                </a:lnTo>
                <a:lnTo>
                  <a:pt x="102980" y="518784"/>
                </a:lnTo>
                <a:lnTo>
                  <a:pt x="70986" y="486786"/>
                </a:lnTo>
                <a:lnTo>
                  <a:pt x="44182" y="450208"/>
                </a:lnTo>
                <a:lnTo>
                  <a:pt x="23174" y="409658"/>
                </a:lnTo>
                <a:lnTo>
                  <a:pt x="8570" y="365743"/>
                </a:lnTo>
                <a:lnTo>
                  <a:pt x="977" y="319072"/>
                </a:lnTo>
                <a:lnTo>
                  <a:pt x="0" y="294894"/>
                </a:lnTo>
                <a:close/>
              </a:path>
            </a:pathLst>
          </a:custGeom>
          <a:ln w="12192">
            <a:solidFill>
              <a:srgbClr val="41709C"/>
            </a:solidFill>
          </a:ln>
        </p:spPr>
        <p:txBody>
          <a:bodyPr wrap="square" lIns="0" tIns="0" rIns="0" bIns="0" rtlCol="0"/>
          <a:lstStyle/>
          <a:p>
            <a:endParaRPr/>
          </a:p>
        </p:txBody>
      </p:sp>
      <p:sp>
        <p:nvSpPr>
          <p:cNvPr id="28" name="object 28"/>
          <p:cNvSpPr/>
          <p:nvPr/>
        </p:nvSpPr>
        <p:spPr>
          <a:xfrm>
            <a:off x="247307" y="4323969"/>
            <a:ext cx="436880" cy="436880"/>
          </a:xfrm>
          <a:custGeom>
            <a:avLst/>
            <a:gdLst/>
            <a:ahLst/>
            <a:cxnLst/>
            <a:rect l="l" t="t" r="r" b="b"/>
            <a:pathLst>
              <a:path w="436880" h="436879">
                <a:moveTo>
                  <a:pt x="0" y="218312"/>
                </a:moveTo>
                <a:lnTo>
                  <a:pt x="6343" y="270760"/>
                </a:lnTo>
                <a:lnTo>
                  <a:pt x="24363" y="318619"/>
                </a:lnTo>
                <a:lnTo>
                  <a:pt x="52543" y="360369"/>
                </a:lnTo>
                <a:lnTo>
                  <a:pt x="89365" y="394490"/>
                </a:lnTo>
                <a:lnTo>
                  <a:pt x="133313" y="419463"/>
                </a:lnTo>
                <a:lnTo>
                  <a:pt x="182869" y="433767"/>
                </a:lnTo>
                <a:lnTo>
                  <a:pt x="218274" y="436625"/>
                </a:lnTo>
                <a:lnTo>
                  <a:pt x="236176" y="435901"/>
                </a:lnTo>
                <a:lnTo>
                  <a:pt x="287266" y="425491"/>
                </a:lnTo>
                <a:lnTo>
                  <a:pt x="333252" y="403906"/>
                </a:lnTo>
                <a:lnTo>
                  <a:pt x="372618" y="372665"/>
                </a:lnTo>
                <a:lnTo>
                  <a:pt x="403846" y="333289"/>
                </a:lnTo>
                <a:lnTo>
                  <a:pt x="425421" y="287298"/>
                </a:lnTo>
                <a:lnTo>
                  <a:pt x="435826" y="236211"/>
                </a:lnTo>
                <a:lnTo>
                  <a:pt x="436549" y="218312"/>
                </a:lnTo>
                <a:lnTo>
                  <a:pt x="435826" y="200414"/>
                </a:lnTo>
                <a:lnTo>
                  <a:pt x="425421" y="149327"/>
                </a:lnTo>
                <a:lnTo>
                  <a:pt x="403846" y="103336"/>
                </a:lnTo>
                <a:lnTo>
                  <a:pt x="372618" y="63960"/>
                </a:lnTo>
                <a:lnTo>
                  <a:pt x="333252" y="32719"/>
                </a:lnTo>
                <a:lnTo>
                  <a:pt x="287266" y="11134"/>
                </a:lnTo>
                <a:lnTo>
                  <a:pt x="236176" y="724"/>
                </a:lnTo>
                <a:lnTo>
                  <a:pt x="218274" y="0"/>
                </a:lnTo>
                <a:lnTo>
                  <a:pt x="200373" y="724"/>
                </a:lnTo>
                <a:lnTo>
                  <a:pt x="149283" y="11134"/>
                </a:lnTo>
                <a:lnTo>
                  <a:pt x="103297" y="32719"/>
                </a:lnTo>
                <a:lnTo>
                  <a:pt x="63931" y="63960"/>
                </a:lnTo>
                <a:lnTo>
                  <a:pt x="32702" y="103336"/>
                </a:lnTo>
                <a:lnTo>
                  <a:pt x="11127" y="149327"/>
                </a:lnTo>
                <a:lnTo>
                  <a:pt x="723" y="200414"/>
                </a:lnTo>
                <a:lnTo>
                  <a:pt x="0" y="218312"/>
                </a:lnTo>
                <a:close/>
              </a:path>
            </a:pathLst>
          </a:custGeom>
          <a:ln w="12192">
            <a:solidFill>
              <a:srgbClr val="41709C"/>
            </a:solidFill>
          </a:ln>
        </p:spPr>
        <p:txBody>
          <a:bodyPr wrap="square" lIns="0" tIns="0" rIns="0" bIns="0" rtlCol="0"/>
          <a:lstStyle/>
          <a:p>
            <a:endParaRPr/>
          </a:p>
        </p:txBody>
      </p:sp>
      <p:sp>
        <p:nvSpPr>
          <p:cNvPr id="29" name="object 29"/>
          <p:cNvSpPr/>
          <p:nvPr/>
        </p:nvSpPr>
        <p:spPr>
          <a:xfrm>
            <a:off x="237743" y="5047488"/>
            <a:ext cx="455930" cy="455930"/>
          </a:xfrm>
          <a:custGeom>
            <a:avLst/>
            <a:gdLst/>
            <a:ahLst/>
            <a:cxnLst/>
            <a:rect l="l" t="t" r="r" b="b"/>
            <a:pathLst>
              <a:path w="455930" h="455929">
                <a:moveTo>
                  <a:pt x="227837" y="0"/>
                </a:moveTo>
                <a:lnTo>
                  <a:pt x="173085" y="6620"/>
                </a:lnTo>
                <a:lnTo>
                  <a:pt x="123133" y="25426"/>
                </a:lnTo>
                <a:lnTo>
                  <a:pt x="79563" y="54836"/>
                </a:lnTo>
                <a:lnTo>
                  <a:pt x="43959" y="93268"/>
                </a:lnTo>
                <a:lnTo>
                  <a:pt x="17904" y="139142"/>
                </a:lnTo>
                <a:lnTo>
                  <a:pt x="2982" y="190875"/>
                </a:lnTo>
                <a:lnTo>
                  <a:pt x="0" y="227837"/>
                </a:lnTo>
                <a:lnTo>
                  <a:pt x="755" y="246527"/>
                </a:lnTo>
                <a:lnTo>
                  <a:pt x="11615" y="299862"/>
                </a:lnTo>
                <a:lnTo>
                  <a:pt x="34135" y="347864"/>
                </a:lnTo>
                <a:lnTo>
                  <a:pt x="66732" y="388953"/>
                </a:lnTo>
                <a:lnTo>
                  <a:pt x="107822" y="421546"/>
                </a:lnTo>
                <a:lnTo>
                  <a:pt x="155823" y="444063"/>
                </a:lnTo>
                <a:lnTo>
                  <a:pt x="209151" y="454920"/>
                </a:lnTo>
                <a:lnTo>
                  <a:pt x="227837" y="455675"/>
                </a:lnTo>
                <a:lnTo>
                  <a:pt x="246524" y="454920"/>
                </a:lnTo>
                <a:lnTo>
                  <a:pt x="299852" y="444063"/>
                </a:lnTo>
                <a:lnTo>
                  <a:pt x="347853" y="421546"/>
                </a:lnTo>
                <a:lnTo>
                  <a:pt x="388943" y="388953"/>
                </a:lnTo>
                <a:lnTo>
                  <a:pt x="421540" y="347864"/>
                </a:lnTo>
                <a:lnTo>
                  <a:pt x="444060" y="299862"/>
                </a:lnTo>
                <a:lnTo>
                  <a:pt x="454920" y="246527"/>
                </a:lnTo>
                <a:lnTo>
                  <a:pt x="455676" y="227837"/>
                </a:lnTo>
                <a:lnTo>
                  <a:pt x="454920" y="209148"/>
                </a:lnTo>
                <a:lnTo>
                  <a:pt x="444060" y="155813"/>
                </a:lnTo>
                <a:lnTo>
                  <a:pt x="421540" y="107811"/>
                </a:lnTo>
                <a:lnTo>
                  <a:pt x="388943" y="66722"/>
                </a:lnTo>
                <a:lnTo>
                  <a:pt x="347853" y="34129"/>
                </a:lnTo>
                <a:lnTo>
                  <a:pt x="299852" y="11612"/>
                </a:lnTo>
                <a:lnTo>
                  <a:pt x="246524" y="755"/>
                </a:lnTo>
                <a:lnTo>
                  <a:pt x="227837" y="0"/>
                </a:lnTo>
                <a:close/>
              </a:path>
            </a:pathLst>
          </a:custGeom>
          <a:solidFill>
            <a:srgbClr val="0066FF"/>
          </a:solidFill>
        </p:spPr>
        <p:txBody>
          <a:bodyPr wrap="square" lIns="0" tIns="0" rIns="0" bIns="0" rtlCol="0"/>
          <a:lstStyle/>
          <a:p>
            <a:endParaRPr/>
          </a:p>
        </p:txBody>
      </p:sp>
      <p:sp>
        <p:nvSpPr>
          <p:cNvPr id="30" name="object 30"/>
          <p:cNvSpPr txBox="1"/>
          <p:nvPr/>
        </p:nvSpPr>
        <p:spPr>
          <a:xfrm>
            <a:off x="347573" y="5109546"/>
            <a:ext cx="236854" cy="381000"/>
          </a:xfrm>
          <a:prstGeom prst="rect">
            <a:avLst/>
          </a:prstGeom>
        </p:spPr>
        <p:txBody>
          <a:bodyPr vert="horz" wrap="square" lIns="0" tIns="0" rIns="0" bIns="0" rtlCol="0">
            <a:spAutoFit/>
          </a:bodyPr>
          <a:lstStyle/>
          <a:p>
            <a:pPr marL="12700">
              <a:lnSpc>
                <a:spcPct val="100000"/>
              </a:lnSpc>
            </a:pPr>
            <a:r>
              <a:rPr sz="2800" spc="-5" dirty="0">
                <a:solidFill>
                  <a:srgbClr val="FFFFFF"/>
                </a:solidFill>
                <a:latin typeface="Arial Rounded MT Bold"/>
                <a:cs typeface="Arial Rounded MT Bold"/>
              </a:rPr>
              <a:t>4</a:t>
            </a:r>
            <a:endParaRPr sz="2800">
              <a:latin typeface="Arial Rounded MT Bold"/>
              <a:cs typeface="Arial Rounded MT Bold"/>
            </a:endParaRPr>
          </a:p>
        </p:txBody>
      </p:sp>
      <p:sp>
        <p:nvSpPr>
          <p:cNvPr id="31" name="object 31"/>
          <p:cNvSpPr/>
          <p:nvPr/>
        </p:nvSpPr>
        <p:spPr>
          <a:xfrm>
            <a:off x="170687" y="4980432"/>
            <a:ext cx="589915" cy="589915"/>
          </a:xfrm>
          <a:custGeom>
            <a:avLst/>
            <a:gdLst/>
            <a:ahLst/>
            <a:cxnLst/>
            <a:rect l="l" t="t" r="r" b="b"/>
            <a:pathLst>
              <a:path w="589915" h="589914">
                <a:moveTo>
                  <a:pt x="294894" y="0"/>
                </a:moveTo>
                <a:lnTo>
                  <a:pt x="247060" y="3861"/>
                </a:lnTo>
                <a:lnTo>
                  <a:pt x="201684" y="15038"/>
                </a:lnTo>
                <a:lnTo>
                  <a:pt x="159373" y="32925"/>
                </a:lnTo>
                <a:lnTo>
                  <a:pt x="120733" y="56912"/>
                </a:lnTo>
                <a:lnTo>
                  <a:pt x="86372" y="86391"/>
                </a:lnTo>
                <a:lnTo>
                  <a:pt x="56897" y="120755"/>
                </a:lnTo>
                <a:lnTo>
                  <a:pt x="32915" y="159395"/>
                </a:lnTo>
                <a:lnTo>
                  <a:pt x="15033" y="201704"/>
                </a:lnTo>
                <a:lnTo>
                  <a:pt x="3859" y="247073"/>
                </a:lnTo>
                <a:lnTo>
                  <a:pt x="0" y="294894"/>
                </a:lnTo>
                <a:lnTo>
                  <a:pt x="977" y="319072"/>
                </a:lnTo>
                <a:lnTo>
                  <a:pt x="8570" y="365743"/>
                </a:lnTo>
                <a:lnTo>
                  <a:pt x="23174" y="409658"/>
                </a:lnTo>
                <a:lnTo>
                  <a:pt x="44182" y="450208"/>
                </a:lnTo>
                <a:lnTo>
                  <a:pt x="70986" y="486786"/>
                </a:lnTo>
                <a:lnTo>
                  <a:pt x="102980" y="518784"/>
                </a:lnTo>
                <a:lnTo>
                  <a:pt x="139556" y="545593"/>
                </a:lnTo>
                <a:lnTo>
                  <a:pt x="180108" y="566606"/>
                </a:lnTo>
                <a:lnTo>
                  <a:pt x="224027" y="581214"/>
                </a:lnTo>
                <a:lnTo>
                  <a:pt x="270708" y="588810"/>
                </a:lnTo>
                <a:lnTo>
                  <a:pt x="294894" y="589788"/>
                </a:lnTo>
                <a:lnTo>
                  <a:pt x="319079" y="588810"/>
                </a:lnTo>
                <a:lnTo>
                  <a:pt x="365760" y="581214"/>
                </a:lnTo>
                <a:lnTo>
                  <a:pt x="409679" y="566606"/>
                </a:lnTo>
                <a:lnTo>
                  <a:pt x="450231" y="545593"/>
                </a:lnTo>
                <a:lnTo>
                  <a:pt x="486807" y="518784"/>
                </a:lnTo>
                <a:lnTo>
                  <a:pt x="492827" y="513207"/>
                </a:lnTo>
                <a:lnTo>
                  <a:pt x="294894" y="513207"/>
                </a:lnTo>
                <a:lnTo>
                  <a:pt x="276992" y="512482"/>
                </a:lnTo>
                <a:lnTo>
                  <a:pt x="225902" y="502072"/>
                </a:lnTo>
                <a:lnTo>
                  <a:pt x="179916" y="480487"/>
                </a:lnTo>
                <a:lnTo>
                  <a:pt x="140550" y="449246"/>
                </a:lnTo>
                <a:lnTo>
                  <a:pt x="109322" y="409870"/>
                </a:lnTo>
                <a:lnTo>
                  <a:pt x="87747" y="363879"/>
                </a:lnTo>
                <a:lnTo>
                  <a:pt x="77342" y="312792"/>
                </a:lnTo>
                <a:lnTo>
                  <a:pt x="76619" y="294894"/>
                </a:lnTo>
                <a:lnTo>
                  <a:pt x="77342" y="276995"/>
                </a:lnTo>
                <a:lnTo>
                  <a:pt x="87747" y="225908"/>
                </a:lnTo>
                <a:lnTo>
                  <a:pt x="109322" y="179917"/>
                </a:lnTo>
                <a:lnTo>
                  <a:pt x="140550" y="140541"/>
                </a:lnTo>
                <a:lnTo>
                  <a:pt x="179916" y="109300"/>
                </a:lnTo>
                <a:lnTo>
                  <a:pt x="225902" y="87715"/>
                </a:lnTo>
                <a:lnTo>
                  <a:pt x="276992" y="77305"/>
                </a:lnTo>
                <a:lnTo>
                  <a:pt x="294894" y="76581"/>
                </a:lnTo>
                <a:lnTo>
                  <a:pt x="492827" y="76581"/>
                </a:lnTo>
                <a:lnTo>
                  <a:pt x="486807" y="71003"/>
                </a:lnTo>
                <a:lnTo>
                  <a:pt x="450231" y="44194"/>
                </a:lnTo>
                <a:lnTo>
                  <a:pt x="409679" y="23181"/>
                </a:lnTo>
                <a:lnTo>
                  <a:pt x="365760" y="8573"/>
                </a:lnTo>
                <a:lnTo>
                  <a:pt x="319079" y="977"/>
                </a:lnTo>
                <a:lnTo>
                  <a:pt x="294894" y="0"/>
                </a:lnTo>
                <a:close/>
              </a:path>
              <a:path w="589915" h="589914">
                <a:moveTo>
                  <a:pt x="492827" y="76581"/>
                </a:moveTo>
                <a:lnTo>
                  <a:pt x="294894" y="76581"/>
                </a:lnTo>
                <a:lnTo>
                  <a:pt x="312795" y="77305"/>
                </a:lnTo>
                <a:lnTo>
                  <a:pt x="330298" y="79439"/>
                </a:lnTo>
                <a:lnTo>
                  <a:pt x="379855" y="93743"/>
                </a:lnTo>
                <a:lnTo>
                  <a:pt x="423803" y="118716"/>
                </a:lnTo>
                <a:lnTo>
                  <a:pt x="460625" y="152837"/>
                </a:lnTo>
                <a:lnTo>
                  <a:pt x="488805" y="194587"/>
                </a:lnTo>
                <a:lnTo>
                  <a:pt x="506825" y="242446"/>
                </a:lnTo>
                <a:lnTo>
                  <a:pt x="513168" y="294894"/>
                </a:lnTo>
                <a:lnTo>
                  <a:pt x="512445" y="312792"/>
                </a:lnTo>
                <a:lnTo>
                  <a:pt x="502040" y="363879"/>
                </a:lnTo>
                <a:lnTo>
                  <a:pt x="480465" y="409870"/>
                </a:lnTo>
                <a:lnTo>
                  <a:pt x="449237" y="449246"/>
                </a:lnTo>
                <a:lnTo>
                  <a:pt x="409871" y="480487"/>
                </a:lnTo>
                <a:lnTo>
                  <a:pt x="363885" y="502072"/>
                </a:lnTo>
                <a:lnTo>
                  <a:pt x="312795" y="512482"/>
                </a:lnTo>
                <a:lnTo>
                  <a:pt x="294894" y="513207"/>
                </a:lnTo>
                <a:lnTo>
                  <a:pt x="492827" y="513207"/>
                </a:lnTo>
                <a:lnTo>
                  <a:pt x="532890" y="469032"/>
                </a:lnTo>
                <a:lnTo>
                  <a:pt x="556872" y="430392"/>
                </a:lnTo>
                <a:lnTo>
                  <a:pt x="574754" y="388083"/>
                </a:lnTo>
                <a:lnTo>
                  <a:pt x="585928" y="342714"/>
                </a:lnTo>
                <a:lnTo>
                  <a:pt x="589788" y="294894"/>
                </a:lnTo>
                <a:lnTo>
                  <a:pt x="588810" y="270715"/>
                </a:lnTo>
                <a:lnTo>
                  <a:pt x="581217" y="224044"/>
                </a:lnTo>
                <a:lnTo>
                  <a:pt x="566613" y="180129"/>
                </a:lnTo>
                <a:lnTo>
                  <a:pt x="545605" y="139579"/>
                </a:lnTo>
                <a:lnTo>
                  <a:pt x="518801" y="103001"/>
                </a:lnTo>
                <a:lnTo>
                  <a:pt x="503415" y="86391"/>
                </a:lnTo>
                <a:lnTo>
                  <a:pt x="492827" y="76581"/>
                </a:lnTo>
                <a:close/>
              </a:path>
            </a:pathLst>
          </a:custGeom>
          <a:solidFill>
            <a:srgbClr val="FFFFFF"/>
          </a:solidFill>
        </p:spPr>
        <p:txBody>
          <a:bodyPr wrap="square" lIns="0" tIns="0" rIns="0" bIns="0" rtlCol="0"/>
          <a:lstStyle/>
          <a:p>
            <a:endParaRPr/>
          </a:p>
        </p:txBody>
      </p:sp>
      <p:sp>
        <p:nvSpPr>
          <p:cNvPr id="32" name="object 32"/>
          <p:cNvSpPr/>
          <p:nvPr/>
        </p:nvSpPr>
        <p:spPr>
          <a:xfrm>
            <a:off x="170687" y="4980432"/>
            <a:ext cx="589915" cy="589915"/>
          </a:xfrm>
          <a:custGeom>
            <a:avLst/>
            <a:gdLst/>
            <a:ahLst/>
            <a:cxnLst/>
            <a:rect l="l" t="t" r="r" b="b"/>
            <a:pathLst>
              <a:path w="589915" h="589914">
                <a:moveTo>
                  <a:pt x="0" y="294894"/>
                </a:moveTo>
                <a:lnTo>
                  <a:pt x="3859" y="247073"/>
                </a:lnTo>
                <a:lnTo>
                  <a:pt x="15033" y="201704"/>
                </a:lnTo>
                <a:lnTo>
                  <a:pt x="32915" y="159395"/>
                </a:lnTo>
                <a:lnTo>
                  <a:pt x="56897" y="120755"/>
                </a:lnTo>
                <a:lnTo>
                  <a:pt x="86372" y="86391"/>
                </a:lnTo>
                <a:lnTo>
                  <a:pt x="120733" y="56912"/>
                </a:lnTo>
                <a:lnTo>
                  <a:pt x="159373" y="32925"/>
                </a:lnTo>
                <a:lnTo>
                  <a:pt x="201684" y="15038"/>
                </a:lnTo>
                <a:lnTo>
                  <a:pt x="247060" y="3861"/>
                </a:lnTo>
                <a:lnTo>
                  <a:pt x="294894" y="0"/>
                </a:lnTo>
                <a:lnTo>
                  <a:pt x="319079" y="977"/>
                </a:lnTo>
                <a:lnTo>
                  <a:pt x="365760" y="8573"/>
                </a:lnTo>
                <a:lnTo>
                  <a:pt x="409679" y="23181"/>
                </a:lnTo>
                <a:lnTo>
                  <a:pt x="450231" y="44194"/>
                </a:lnTo>
                <a:lnTo>
                  <a:pt x="486807" y="71003"/>
                </a:lnTo>
                <a:lnTo>
                  <a:pt x="518801" y="103001"/>
                </a:lnTo>
                <a:lnTo>
                  <a:pt x="545605" y="139579"/>
                </a:lnTo>
                <a:lnTo>
                  <a:pt x="566613" y="180129"/>
                </a:lnTo>
                <a:lnTo>
                  <a:pt x="581217" y="224044"/>
                </a:lnTo>
                <a:lnTo>
                  <a:pt x="588810" y="270715"/>
                </a:lnTo>
                <a:lnTo>
                  <a:pt x="589788" y="294894"/>
                </a:lnTo>
                <a:lnTo>
                  <a:pt x="588810" y="319072"/>
                </a:lnTo>
                <a:lnTo>
                  <a:pt x="581217" y="365743"/>
                </a:lnTo>
                <a:lnTo>
                  <a:pt x="566613" y="409658"/>
                </a:lnTo>
                <a:lnTo>
                  <a:pt x="545605" y="450208"/>
                </a:lnTo>
                <a:lnTo>
                  <a:pt x="518801" y="486786"/>
                </a:lnTo>
                <a:lnTo>
                  <a:pt x="486807" y="518784"/>
                </a:lnTo>
                <a:lnTo>
                  <a:pt x="450231" y="545593"/>
                </a:lnTo>
                <a:lnTo>
                  <a:pt x="409679" y="566606"/>
                </a:lnTo>
                <a:lnTo>
                  <a:pt x="365760" y="581214"/>
                </a:lnTo>
                <a:lnTo>
                  <a:pt x="319079" y="588810"/>
                </a:lnTo>
                <a:lnTo>
                  <a:pt x="294894" y="589788"/>
                </a:lnTo>
                <a:lnTo>
                  <a:pt x="270708" y="588810"/>
                </a:lnTo>
                <a:lnTo>
                  <a:pt x="224027" y="581214"/>
                </a:lnTo>
                <a:lnTo>
                  <a:pt x="180108" y="566606"/>
                </a:lnTo>
                <a:lnTo>
                  <a:pt x="139556" y="545593"/>
                </a:lnTo>
                <a:lnTo>
                  <a:pt x="102980" y="518784"/>
                </a:lnTo>
                <a:lnTo>
                  <a:pt x="70986" y="486786"/>
                </a:lnTo>
                <a:lnTo>
                  <a:pt x="44182" y="450208"/>
                </a:lnTo>
                <a:lnTo>
                  <a:pt x="23174" y="409658"/>
                </a:lnTo>
                <a:lnTo>
                  <a:pt x="8570" y="365743"/>
                </a:lnTo>
                <a:lnTo>
                  <a:pt x="977" y="319072"/>
                </a:lnTo>
                <a:lnTo>
                  <a:pt x="0" y="294894"/>
                </a:lnTo>
                <a:close/>
              </a:path>
            </a:pathLst>
          </a:custGeom>
          <a:ln w="12192">
            <a:solidFill>
              <a:srgbClr val="41709C"/>
            </a:solidFill>
          </a:ln>
        </p:spPr>
        <p:txBody>
          <a:bodyPr wrap="square" lIns="0" tIns="0" rIns="0" bIns="0" rtlCol="0"/>
          <a:lstStyle/>
          <a:p>
            <a:endParaRPr/>
          </a:p>
        </p:txBody>
      </p:sp>
      <p:sp>
        <p:nvSpPr>
          <p:cNvPr id="33" name="object 33"/>
          <p:cNvSpPr/>
          <p:nvPr/>
        </p:nvSpPr>
        <p:spPr>
          <a:xfrm>
            <a:off x="247307" y="5057013"/>
            <a:ext cx="436880" cy="436880"/>
          </a:xfrm>
          <a:custGeom>
            <a:avLst/>
            <a:gdLst/>
            <a:ahLst/>
            <a:cxnLst/>
            <a:rect l="l" t="t" r="r" b="b"/>
            <a:pathLst>
              <a:path w="436880" h="436879">
                <a:moveTo>
                  <a:pt x="0" y="218312"/>
                </a:moveTo>
                <a:lnTo>
                  <a:pt x="6343" y="270760"/>
                </a:lnTo>
                <a:lnTo>
                  <a:pt x="24363" y="318619"/>
                </a:lnTo>
                <a:lnTo>
                  <a:pt x="52543" y="360369"/>
                </a:lnTo>
                <a:lnTo>
                  <a:pt x="89365" y="394490"/>
                </a:lnTo>
                <a:lnTo>
                  <a:pt x="133313" y="419463"/>
                </a:lnTo>
                <a:lnTo>
                  <a:pt x="182869" y="433767"/>
                </a:lnTo>
                <a:lnTo>
                  <a:pt x="218274" y="436625"/>
                </a:lnTo>
                <a:lnTo>
                  <a:pt x="236176" y="435901"/>
                </a:lnTo>
                <a:lnTo>
                  <a:pt x="287266" y="425491"/>
                </a:lnTo>
                <a:lnTo>
                  <a:pt x="333252" y="403906"/>
                </a:lnTo>
                <a:lnTo>
                  <a:pt x="372618" y="372665"/>
                </a:lnTo>
                <a:lnTo>
                  <a:pt x="403846" y="333289"/>
                </a:lnTo>
                <a:lnTo>
                  <a:pt x="425421" y="287298"/>
                </a:lnTo>
                <a:lnTo>
                  <a:pt x="435826" y="236211"/>
                </a:lnTo>
                <a:lnTo>
                  <a:pt x="436549" y="218312"/>
                </a:lnTo>
                <a:lnTo>
                  <a:pt x="435826" y="200414"/>
                </a:lnTo>
                <a:lnTo>
                  <a:pt x="425421" y="149327"/>
                </a:lnTo>
                <a:lnTo>
                  <a:pt x="403846" y="103336"/>
                </a:lnTo>
                <a:lnTo>
                  <a:pt x="372618" y="63960"/>
                </a:lnTo>
                <a:lnTo>
                  <a:pt x="333252" y="32719"/>
                </a:lnTo>
                <a:lnTo>
                  <a:pt x="287266" y="11134"/>
                </a:lnTo>
                <a:lnTo>
                  <a:pt x="236176" y="724"/>
                </a:lnTo>
                <a:lnTo>
                  <a:pt x="218274" y="0"/>
                </a:lnTo>
                <a:lnTo>
                  <a:pt x="200373" y="724"/>
                </a:lnTo>
                <a:lnTo>
                  <a:pt x="149283" y="11134"/>
                </a:lnTo>
                <a:lnTo>
                  <a:pt x="103297" y="32719"/>
                </a:lnTo>
                <a:lnTo>
                  <a:pt x="63931" y="63960"/>
                </a:lnTo>
                <a:lnTo>
                  <a:pt x="32702" y="103336"/>
                </a:lnTo>
                <a:lnTo>
                  <a:pt x="11127" y="149327"/>
                </a:lnTo>
                <a:lnTo>
                  <a:pt x="723" y="200414"/>
                </a:lnTo>
                <a:lnTo>
                  <a:pt x="0" y="218312"/>
                </a:lnTo>
                <a:close/>
              </a:path>
            </a:pathLst>
          </a:custGeom>
          <a:ln w="12192">
            <a:solidFill>
              <a:srgbClr val="41709C"/>
            </a:solidFill>
          </a:ln>
        </p:spPr>
        <p:txBody>
          <a:bodyPr wrap="square" lIns="0" tIns="0" rIns="0" bIns="0" rtlCol="0"/>
          <a:lstStyle/>
          <a:p>
            <a:endParaRPr/>
          </a:p>
        </p:txBody>
      </p:sp>
      <p:sp>
        <p:nvSpPr>
          <p:cNvPr id="34" name="object 34"/>
          <p:cNvSpPr/>
          <p:nvPr/>
        </p:nvSpPr>
        <p:spPr>
          <a:xfrm>
            <a:off x="237743" y="5774435"/>
            <a:ext cx="455930" cy="455930"/>
          </a:xfrm>
          <a:custGeom>
            <a:avLst/>
            <a:gdLst/>
            <a:ahLst/>
            <a:cxnLst/>
            <a:rect l="l" t="t" r="r" b="b"/>
            <a:pathLst>
              <a:path w="455930" h="455929">
                <a:moveTo>
                  <a:pt x="227837" y="0"/>
                </a:moveTo>
                <a:lnTo>
                  <a:pt x="173085" y="6621"/>
                </a:lnTo>
                <a:lnTo>
                  <a:pt x="123133" y="25430"/>
                </a:lnTo>
                <a:lnTo>
                  <a:pt x="79563" y="54844"/>
                </a:lnTo>
                <a:lnTo>
                  <a:pt x="43959" y="93279"/>
                </a:lnTo>
                <a:lnTo>
                  <a:pt x="17904" y="139153"/>
                </a:lnTo>
                <a:lnTo>
                  <a:pt x="2982" y="190881"/>
                </a:lnTo>
                <a:lnTo>
                  <a:pt x="0" y="227837"/>
                </a:lnTo>
                <a:lnTo>
                  <a:pt x="755" y="246524"/>
                </a:lnTo>
                <a:lnTo>
                  <a:pt x="11615" y="299852"/>
                </a:lnTo>
                <a:lnTo>
                  <a:pt x="34135" y="347853"/>
                </a:lnTo>
                <a:lnTo>
                  <a:pt x="66732" y="388943"/>
                </a:lnTo>
                <a:lnTo>
                  <a:pt x="107822" y="421540"/>
                </a:lnTo>
                <a:lnTo>
                  <a:pt x="155823" y="444060"/>
                </a:lnTo>
                <a:lnTo>
                  <a:pt x="209151" y="454920"/>
                </a:lnTo>
                <a:lnTo>
                  <a:pt x="227837" y="455675"/>
                </a:lnTo>
                <a:lnTo>
                  <a:pt x="246524" y="454920"/>
                </a:lnTo>
                <a:lnTo>
                  <a:pt x="299852" y="444060"/>
                </a:lnTo>
                <a:lnTo>
                  <a:pt x="347853" y="421540"/>
                </a:lnTo>
                <a:lnTo>
                  <a:pt x="388943" y="388943"/>
                </a:lnTo>
                <a:lnTo>
                  <a:pt x="421540" y="347853"/>
                </a:lnTo>
                <a:lnTo>
                  <a:pt x="444060" y="299852"/>
                </a:lnTo>
                <a:lnTo>
                  <a:pt x="454920" y="246524"/>
                </a:lnTo>
                <a:lnTo>
                  <a:pt x="455676" y="227837"/>
                </a:lnTo>
                <a:lnTo>
                  <a:pt x="454920" y="209151"/>
                </a:lnTo>
                <a:lnTo>
                  <a:pt x="444060" y="155823"/>
                </a:lnTo>
                <a:lnTo>
                  <a:pt x="421540" y="107822"/>
                </a:lnTo>
                <a:lnTo>
                  <a:pt x="388943" y="66732"/>
                </a:lnTo>
                <a:lnTo>
                  <a:pt x="347853" y="34135"/>
                </a:lnTo>
                <a:lnTo>
                  <a:pt x="299852" y="11615"/>
                </a:lnTo>
                <a:lnTo>
                  <a:pt x="246524" y="755"/>
                </a:lnTo>
                <a:lnTo>
                  <a:pt x="227837" y="0"/>
                </a:lnTo>
                <a:close/>
              </a:path>
            </a:pathLst>
          </a:custGeom>
          <a:solidFill>
            <a:srgbClr val="0066FF"/>
          </a:solidFill>
        </p:spPr>
        <p:txBody>
          <a:bodyPr wrap="square" lIns="0" tIns="0" rIns="0" bIns="0" rtlCol="0"/>
          <a:lstStyle/>
          <a:p>
            <a:endParaRPr/>
          </a:p>
        </p:txBody>
      </p:sp>
      <p:sp>
        <p:nvSpPr>
          <p:cNvPr id="35" name="object 35"/>
          <p:cNvSpPr txBox="1"/>
          <p:nvPr/>
        </p:nvSpPr>
        <p:spPr>
          <a:xfrm>
            <a:off x="347573" y="5836520"/>
            <a:ext cx="236854" cy="381000"/>
          </a:xfrm>
          <a:prstGeom prst="rect">
            <a:avLst/>
          </a:prstGeom>
        </p:spPr>
        <p:txBody>
          <a:bodyPr vert="horz" wrap="square" lIns="0" tIns="0" rIns="0" bIns="0" rtlCol="0">
            <a:spAutoFit/>
          </a:bodyPr>
          <a:lstStyle/>
          <a:p>
            <a:pPr marL="12700">
              <a:lnSpc>
                <a:spcPct val="100000"/>
              </a:lnSpc>
            </a:pPr>
            <a:r>
              <a:rPr sz="2800" spc="-5" dirty="0">
                <a:solidFill>
                  <a:srgbClr val="FFFFFF"/>
                </a:solidFill>
                <a:latin typeface="Arial Rounded MT Bold"/>
                <a:cs typeface="Arial Rounded MT Bold"/>
              </a:rPr>
              <a:t>5</a:t>
            </a:r>
            <a:endParaRPr sz="2800">
              <a:latin typeface="Arial Rounded MT Bold"/>
              <a:cs typeface="Arial Rounded MT Bold"/>
            </a:endParaRPr>
          </a:p>
        </p:txBody>
      </p:sp>
      <p:sp>
        <p:nvSpPr>
          <p:cNvPr id="36" name="object 36"/>
          <p:cNvSpPr/>
          <p:nvPr/>
        </p:nvSpPr>
        <p:spPr>
          <a:xfrm>
            <a:off x="170687" y="5707379"/>
            <a:ext cx="589915" cy="589915"/>
          </a:xfrm>
          <a:custGeom>
            <a:avLst/>
            <a:gdLst/>
            <a:ahLst/>
            <a:cxnLst/>
            <a:rect l="l" t="t" r="r" b="b"/>
            <a:pathLst>
              <a:path w="589915" h="589914">
                <a:moveTo>
                  <a:pt x="294894" y="0"/>
                </a:moveTo>
                <a:lnTo>
                  <a:pt x="247060" y="3859"/>
                </a:lnTo>
                <a:lnTo>
                  <a:pt x="201684" y="15033"/>
                </a:lnTo>
                <a:lnTo>
                  <a:pt x="159373" y="32915"/>
                </a:lnTo>
                <a:lnTo>
                  <a:pt x="120733" y="56897"/>
                </a:lnTo>
                <a:lnTo>
                  <a:pt x="86372" y="86372"/>
                </a:lnTo>
                <a:lnTo>
                  <a:pt x="56897" y="120733"/>
                </a:lnTo>
                <a:lnTo>
                  <a:pt x="32915" y="159373"/>
                </a:lnTo>
                <a:lnTo>
                  <a:pt x="15033" y="201684"/>
                </a:lnTo>
                <a:lnTo>
                  <a:pt x="3859" y="247060"/>
                </a:lnTo>
                <a:lnTo>
                  <a:pt x="0" y="294894"/>
                </a:lnTo>
                <a:lnTo>
                  <a:pt x="977" y="319079"/>
                </a:lnTo>
                <a:lnTo>
                  <a:pt x="8570" y="365760"/>
                </a:lnTo>
                <a:lnTo>
                  <a:pt x="23174" y="409679"/>
                </a:lnTo>
                <a:lnTo>
                  <a:pt x="44182" y="450231"/>
                </a:lnTo>
                <a:lnTo>
                  <a:pt x="70986" y="486807"/>
                </a:lnTo>
                <a:lnTo>
                  <a:pt x="102980" y="518801"/>
                </a:lnTo>
                <a:lnTo>
                  <a:pt x="139556" y="545605"/>
                </a:lnTo>
                <a:lnTo>
                  <a:pt x="180108" y="566613"/>
                </a:lnTo>
                <a:lnTo>
                  <a:pt x="224027" y="581217"/>
                </a:lnTo>
                <a:lnTo>
                  <a:pt x="270708" y="588810"/>
                </a:lnTo>
                <a:lnTo>
                  <a:pt x="294894" y="589788"/>
                </a:lnTo>
                <a:lnTo>
                  <a:pt x="319079" y="588810"/>
                </a:lnTo>
                <a:lnTo>
                  <a:pt x="365760" y="581217"/>
                </a:lnTo>
                <a:lnTo>
                  <a:pt x="409679" y="566613"/>
                </a:lnTo>
                <a:lnTo>
                  <a:pt x="450231" y="545605"/>
                </a:lnTo>
                <a:lnTo>
                  <a:pt x="486807" y="518801"/>
                </a:lnTo>
                <a:lnTo>
                  <a:pt x="492887" y="513168"/>
                </a:lnTo>
                <a:lnTo>
                  <a:pt x="294894" y="513168"/>
                </a:lnTo>
                <a:lnTo>
                  <a:pt x="276992" y="512445"/>
                </a:lnTo>
                <a:lnTo>
                  <a:pt x="225902" y="502040"/>
                </a:lnTo>
                <a:lnTo>
                  <a:pt x="179916" y="480465"/>
                </a:lnTo>
                <a:lnTo>
                  <a:pt x="140550" y="449237"/>
                </a:lnTo>
                <a:lnTo>
                  <a:pt x="109322" y="409871"/>
                </a:lnTo>
                <a:lnTo>
                  <a:pt x="87747" y="363885"/>
                </a:lnTo>
                <a:lnTo>
                  <a:pt x="77342" y="312795"/>
                </a:lnTo>
                <a:lnTo>
                  <a:pt x="76619" y="294894"/>
                </a:lnTo>
                <a:lnTo>
                  <a:pt x="77342" y="276992"/>
                </a:lnTo>
                <a:lnTo>
                  <a:pt x="87747" y="225902"/>
                </a:lnTo>
                <a:lnTo>
                  <a:pt x="109322" y="179916"/>
                </a:lnTo>
                <a:lnTo>
                  <a:pt x="140550" y="140550"/>
                </a:lnTo>
                <a:lnTo>
                  <a:pt x="179916" y="109322"/>
                </a:lnTo>
                <a:lnTo>
                  <a:pt x="225902" y="87747"/>
                </a:lnTo>
                <a:lnTo>
                  <a:pt x="276992" y="77342"/>
                </a:lnTo>
                <a:lnTo>
                  <a:pt x="294894" y="76619"/>
                </a:lnTo>
                <a:lnTo>
                  <a:pt x="492887" y="76619"/>
                </a:lnTo>
                <a:lnTo>
                  <a:pt x="486807" y="70986"/>
                </a:lnTo>
                <a:lnTo>
                  <a:pt x="450231" y="44182"/>
                </a:lnTo>
                <a:lnTo>
                  <a:pt x="409679" y="23174"/>
                </a:lnTo>
                <a:lnTo>
                  <a:pt x="365760" y="8570"/>
                </a:lnTo>
                <a:lnTo>
                  <a:pt x="319079" y="977"/>
                </a:lnTo>
                <a:lnTo>
                  <a:pt x="294894" y="0"/>
                </a:lnTo>
                <a:close/>
              </a:path>
              <a:path w="589915" h="589914">
                <a:moveTo>
                  <a:pt x="492887" y="76619"/>
                </a:moveTo>
                <a:lnTo>
                  <a:pt x="294894" y="76619"/>
                </a:lnTo>
                <a:lnTo>
                  <a:pt x="312795" y="77342"/>
                </a:lnTo>
                <a:lnTo>
                  <a:pt x="330298" y="79475"/>
                </a:lnTo>
                <a:lnTo>
                  <a:pt x="379855" y="93772"/>
                </a:lnTo>
                <a:lnTo>
                  <a:pt x="423803" y="118733"/>
                </a:lnTo>
                <a:lnTo>
                  <a:pt x="460625" y="152843"/>
                </a:lnTo>
                <a:lnTo>
                  <a:pt x="488805" y="194584"/>
                </a:lnTo>
                <a:lnTo>
                  <a:pt x="506825" y="242440"/>
                </a:lnTo>
                <a:lnTo>
                  <a:pt x="513168" y="294894"/>
                </a:lnTo>
                <a:lnTo>
                  <a:pt x="512445" y="312795"/>
                </a:lnTo>
                <a:lnTo>
                  <a:pt x="502040" y="363885"/>
                </a:lnTo>
                <a:lnTo>
                  <a:pt x="480465" y="409871"/>
                </a:lnTo>
                <a:lnTo>
                  <a:pt x="449237" y="449237"/>
                </a:lnTo>
                <a:lnTo>
                  <a:pt x="409871" y="480465"/>
                </a:lnTo>
                <a:lnTo>
                  <a:pt x="363885" y="502040"/>
                </a:lnTo>
                <a:lnTo>
                  <a:pt x="312795" y="512445"/>
                </a:lnTo>
                <a:lnTo>
                  <a:pt x="294894" y="513168"/>
                </a:lnTo>
                <a:lnTo>
                  <a:pt x="492887" y="513168"/>
                </a:lnTo>
                <a:lnTo>
                  <a:pt x="532890" y="469054"/>
                </a:lnTo>
                <a:lnTo>
                  <a:pt x="556872" y="430414"/>
                </a:lnTo>
                <a:lnTo>
                  <a:pt x="574754" y="388103"/>
                </a:lnTo>
                <a:lnTo>
                  <a:pt x="585928" y="342727"/>
                </a:lnTo>
                <a:lnTo>
                  <a:pt x="589788" y="294894"/>
                </a:lnTo>
                <a:lnTo>
                  <a:pt x="588810" y="270708"/>
                </a:lnTo>
                <a:lnTo>
                  <a:pt x="581217" y="224027"/>
                </a:lnTo>
                <a:lnTo>
                  <a:pt x="566613" y="180108"/>
                </a:lnTo>
                <a:lnTo>
                  <a:pt x="545605" y="139556"/>
                </a:lnTo>
                <a:lnTo>
                  <a:pt x="518801" y="102980"/>
                </a:lnTo>
                <a:lnTo>
                  <a:pt x="503415" y="86372"/>
                </a:lnTo>
                <a:lnTo>
                  <a:pt x="492887" y="76619"/>
                </a:lnTo>
                <a:close/>
              </a:path>
            </a:pathLst>
          </a:custGeom>
          <a:solidFill>
            <a:srgbClr val="FFFFFF"/>
          </a:solidFill>
        </p:spPr>
        <p:txBody>
          <a:bodyPr wrap="square" lIns="0" tIns="0" rIns="0" bIns="0" rtlCol="0"/>
          <a:lstStyle/>
          <a:p>
            <a:endParaRPr/>
          </a:p>
        </p:txBody>
      </p:sp>
      <p:sp>
        <p:nvSpPr>
          <p:cNvPr id="37" name="object 37"/>
          <p:cNvSpPr/>
          <p:nvPr/>
        </p:nvSpPr>
        <p:spPr>
          <a:xfrm>
            <a:off x="170687" y="5707379"/>
            <a:ext cx="589915" cy="589915"/>
          </a:xfrm>
          <a:custGeom>
            <a:avLst/>
            <a:gdLst/>
            <a:ahLst/>
            <a:cxnLst/>
            <a:rect l="l" t="t" r="r" b="b"/>
            <a:pathLst>
              <a:path w="589915" h="589914">
                <a:moveTo>
                  <a:pt x="0" y="294894"/>
                </a:moveTo>
                <a:lnTo>
                  <a:pt x="3859" y="247060"/>
                </a:lnTo>
                <a:lnTo>
                  <a:pt x="15033" y="201684"/>
                </a:lnTo>
                <a:lnTo>
                  <a:pt x="32915" y="159373"/>
                </a:lnTo>
                <a:lnTo>
                  <a:pt x="56897" y="120733"/>
                </a:lnTo>
                <a:lnTo>
                  <a:pt x="86372" y="86372"/>
                </a:lnTo>
                <a:lnTo>
                  <a:pt x="120733" y="56897"/>
                </a:lnTo>
                <a:lnTo>
                  <a:pt x="159373" y="32915"/>
                </a:lnTo>
                <a:lnTo>
                  <a:pt x="201684" y="15033"/>
                </a:lnTo>
                <a:lnTo>
                  <a:pt x="247060" y="3859"/>
                </a:lnTo>
                <a:lnTo>
                  <a:pt x="294894" y="0"/>
                </a:lnTo>
                <a:lnTo>
                  <a:pt x="319079" y="977"/>
                </a:lnTo>
                <a:lnTo>
                  <a:pt x="365760" y="8570"/>
                </a:lnTo>
                <a:lnTo>
                  <a:pt x="409679" y="23174"/>
                </a:lnTo>
                <a:lnTo>
                  <a:pt x="450231" y="44182"/>
                </a:lnTo>
                <a:lnTo>
                  <a:pt x="486807" y="70986"/>
                </a:lnTo>
                <a:lnTo>
                  <a:pt x="518801" y="102980"/>
                </a:lnTo>
                <a:lnTo>
                  <a:pt x="545605" y="139556"/>
                </a:lnTo>
                <a:lnTo>
                  <a:pt x="566613" y="180108"/>
                </a:lnTo>
                <a:lnTo>
                  <a:pt x="581217" y="224027"/>
                </a:lnTo>
                <a:lnTo>
                  <a:pt x="588810" y="270708"/>
                </a:lnTo>
                <a:lnTo>
                  <a:pt x="589788" y="294894"/>
                </a:lnTo>
                <a:lnTo>
                  <a:pt x="588810" y="319079"/>
                </a:lnTo>
                <a:lnTo>
                  <a:pt x="581217" y="365760"/>
                </a:lnTo>
                <a:lnTo>
                  <a:pt x="566613" y="409679"/>
                </a:lnTo>
                <a:lnTo>
                  <a:pt x="545605" y="450231"/>
                </a:lnTo>
                <a:lnTo>
                  <a:pt x="518801" y="486807"/>
                </a:lnTo>
                <a:lnTo>
                  <a:pt x="486807" y="518801"/>
                </a:lnTo>
                <a:lnTo>
                  <a:pt x="450231" y="545605"/>
                </a:lnTo>
                <a:lnTo>
                  <a:pt x="409679" y="566613"/>
                </a:lnTo>
                <a:lnTo>
                  <a:pt x="365760" y="581217"/>
                </a:lnTo>
                <a:lnTo>
                  <a:pt x="319079" y="588810"/>
                </a:lnTo>
                <a:lnTo>
                  <a:pt x="294894" y="589788"/>
                </a:lnTo>
                <a:lnTo>
                  <a:pt x="270708" y="588810"/>
                </a:lnTo>
                <a:lnTo>
                  <a:pt x="224027" y="581217"/>
                </a:lnTo>
                <a:lnTo>
                  <a:pt x="180108" y="566613"/>
                </a:lnTo>
                <a:lnTo>
                  <a:pt x="139556" y="545605"/>
                </a:lnTo>
                <a:lnTo>
                  <a:pt x="102980" y="518801"/>
                </a:lnTo>
                <a:lnTo>
                  <a:pt x="70986" y="486807"/>
                </a:lnTo>
                <a:lnTo>
                  <a:pt x="44182" y="450231"/>
                </a:lnTo>
                <a:lnTo>
                  <a:pt x="23174" y="409679"/>
                </a:lnTo>
                <a:lnTo>
                  <a:pt x="8570" y="365760"/>
                </a:lnTo>
                <a:lnTo>
                  <a:pt x="977" y="319079"/>
                </a:lnTo>
                <a:lnTo>
                  <a:pt x="0" y="294894"/>
                </a:lnTo>
                <a:close/>
              </a:path>
            </a:pathLst>
          </a:custGeom>
          <a:ln w="12192">
            <a:solidFill>
              <a:srgbClr val="41709C"/>
            </a:solidFill>
          </a:ln>
        </p:spPr>
        <p:txBody>
          <a:bodyPr wrap="square" lIns="0" tIns="0" rIns="0" bIns="0" rtlCol="0"/>
          <a:lstStyle/>
          <a:p>
            <a:endParaRPr/>
          </a:p>
        </p:txBody>
      </p:sp>
      <p:sp>
        <p:nvSpPr>
          <p:cNvPr id="38" name="object 38"/>
          <p:cNvSpPr/>
          <p:nvPr/>
        </p:nvSpPr>
        <p:spPr>
          <a:xfrm>
            <a:off x="247307" y="5783999"/>
            <a:ext cx="436880" cy="436880"/>
          </a:xfrm>
          <a:custGeom>
            <a:avLst/>
            <a:gdLst/>
            <a:ahLst/>
            <a:cxnLst/>
            <a:rect l="l" t="t" r="r" b="b"/>
            <a:pathLst>
              <a:path w="436880" h="436879">
                <a:moveTo>
                  <a:pt x="0" y="218274"/>
                </a:moveTo>
                <a:lnTo>
                  <a:pt x="6343" y="270728"/>
                </a:lnTo>
                <a:lnTo>
                  <a:pt x="24363" y="318584"/>
                </a:lnTo>
                <a:lnTo>
                  <a:pt x="52543" y="360325"/>
                </a:lnTo>
                <a:lnTo>
                  <a:pt x="89365" y="394434"/>
                </a:lnTo>
                <a:lnTo>
                  <a:pt x="133313" y="419396"/>
                </a:lnTo>
                <a:lnTo>
                  <a:pt x="182869" y="433692"/>
                </a:lnTo>
                <a:lnTo>
                  <a:pt x="218274" y="436549"/>
                </a:lnTo>
                <a:lnTo>
                  <a:pt x="236176" y="435826"/>
                </a:lnTo>
                <a:lnTo>
                  <a:pt x="287266" y="425421"/>
                </a:lnTo>
                <a:lnTo>
                  <a:pt x="333252" y="403846"/>
                </a:lnTo>
                <a:lnTo>
                  <a:pt x="372618" y="372618"/>
                </a:lnTo>
                <a:lnTo>
                  <a:pt x="403846" y="333252"/>
                </a:lnTo>
                <a:lnTo>
                  <a:pt x="425421" y="287266"/>
                </a:lnTo>
                <a:lnTo>
                  <a:pt x="435826" y="236176"/>
                </a:lnTo>
                <a:lnTo>
                  <a:pt x="436549" y="218274"/>
                </a:lnTo>
                <a:lnTo>
                  <a:pt x="435826" y="200373"/>
                </a:lnTo>
                <a:lnTo>
                  <a:pt x="425421" y="149283"/>
                </a:lnTo>
                <a:lnTo>
                  <a:pt x="403846" y="103297"/>
                </a:lnTo>
                <a:lnTo>
                  <a:pt x="372618" y="63931"/>
                </a:lnTo>
                <a:lnTo>
                  <a:pt x="333252" y="32702"/>
                </a:lnTo>
                <a:lnTo>
                  <a:pt x="287266" y="11127"/>
                </a:lnTo>
                <a:lnTo>
                  <a:pt x="236176" y="723"/>
                </a:lnTo>
                <a:lnTo>
                  <a:pt x="218274" y="0"/>
                </a:lnTo>
                <a:lnTo>
                  <a:pt x="200373" y="723"/>
                </a:lnTo>
                <a:lnTo>
                  <a:pt x="149283" y="11127"/>
                </a:lnTo>
                <a:lnTo>
                  <a:pt x="103297" y="32702"/>
                </a:lnTo>
                <a:lnTo>
                  <a:pt x="63931" y="63931"/>
                </a:lnTo>
                <a:lnTo>
                  <a:pt x="32702" y="103297"/>
                </a:lnTo>
                <a:lnTo>
                  <a:pt x="11127" y="149283"/>
                </a:lnTo>
                <a:lnTo>
                  <a:pt x="723" y="200373"/>
                </a:lnTo>
                <a:lnTo>
                  <a:pt x="0" y="218274"/>
                </a:lnTo>
                <a:close/>
              </a:path>
            </a:pathLst>
          </a:custGeom>
          <a:ln w="12192">
            <a:solidFill>
              <a:srgbClr val="41709C"/>
            </a:solidFill>
          </a:ln>
        </p:spPr>
        <p:txBody>
          <a:bodyPr wrap="square" lIns="0" tIns="0" rIns="0" bIns="0" rtlCol="0"/>
          <a:lstStyle/>
          <a:p>
            <a:endParaRPr/>
          </a:p>
        </p:txBody>
      </p:sp>
      <p:sp>
        <p:nvSpPr>
          <p:cNvPr id="39" name="object 39"/>
          <p:cNvSpPr/>
          <p:nvPr/>
        </p:nvSpPr>
        <p:spPr>
          <a:xfrm>
            <a:off x="4885944" y="2874264"/>
            <a:ext cx="504190" cy="396240"/>
          </a:xfrm>
          <a:custGeom>
            <a:avLst/>
            <a:gdLst/>
            <a:ahLst/>
            <a:cxnLst/>
            <a:rect l="l" t="t" r="r" b="b"/>
            <a:pathLst>
              <a:path w="504189" h="396239">
                <a:moveTo>
                  <a:pt x="306069" y="0"/>
                </a:moveTo>
                <a:lnTo>
                  <a:pt x="306069" y="99060"/>
                </a:lnTo>
                <a:lnTo>
                  <a:pt x="0" y="99060"/>
                </a:lnTo>
                <a:lnTo>
                  <a:pt x="0" y="297180"/>
                </a:lnTo>
                <a:lnTo>
                  <a:pt x="306069" y="297180"/>
                </a:lnTo>
                <a:lnTo>
                  <a:pt x="306069" y="396239"/>
                </a:lnTo>
                <a:lnTo>
                  <a:pt x="504063" y="198120"/>
                </a:lnTo>
                <a:lnTo>
                  <a:pt x="306069" y="0"/>
                </a:lnTo>
                <a:close/>
              </a:path>
            </a:pathLst>
          </a:custGeom>
          <a:solidFill>
            <a:srgbClr val="D20079"/>
          </a:solidFill>
        </p:spPr>
        <p:txBody>
          <a:bodyPr wrap="square" lIns="0" tIns="0" rIns="0" bIns="0" rtlCol="0"/>
          <a:lstStyle/>
          <a:p>
            <a:endParaRPr/>
          </a:p>
        </p:txBody>
      </p:sp>
      <p:sp>
        <p:nvSpPr>
          <p:cNvPr id="40" name="object 40"/>
          <p:cNvSpPr/>
          <p:nvPr/>
        </p:nvSpPr>
        <p:spPr>
          <a:xfrm>
            <a:off x="4886705" y="2875026"/>
            <a:ext cx="504190" cy="396240"/>
          </a:xfrm>
          <a:custGeom>
            <a:avLst/>
            <a:gdLst/>
            <a:ahLst/>
            <a:cxnLst/>
            <a:rect l="l" t="t" r="r" b="b"/>
            <a:pathLst>
              <a:path w="504189" h="396239">
                <a:moveTo>
                  <a:pt x="0" y="99060"/>
                </a:moveTo>
                <a:lnTo>
                  <a:pt x="306070" y="99060"/>
                </a:lnTo>
                <a:lnTo>
                  <a:pt x="306070" y="0"/>
                </a:lnTo>
                <a:lnTo>
                  <a:pt x="504063" y="198120"/>
                </a:lnTo>
                <a:lnTo>
                  <a:pt x="306070" y="396239"/>
                </a:lnTo>
                <a:lnTo>
                  <a:pt x="306070" y="297179"/>
                </a:lnTo>
                <a:lnTo>
                  <a:pt x="0" y="297179"/>
                </a:lnTo>
                <a:lnTo>
                  <a:pt x="0" y="99060"/>
                </a:lnTo>
                <a:close/>
              </a:path>
            </a:pathLst>
          </a:custGeom>
          <a:ln w="25907">
            <a:solidFill>
              <a:srgbClr val="9B0056"/>
            </a:solidFill>
          </a:ln>
        </p:spPr>
        <p:txBody>
          <a:bodyPr wrap="square" lIns="0" tIns="0" rIns="0" bIns="0" rtlCol="0"/>
          <a:lstStyle/>
          <a:p>
            <a:endParaRPr/>
          </a:p>
        </p:txBody>
      </p:sp>
      <p:sp>
        <p:nvSpPr>
          <p:cNvPr id="41" name="object 41"/>
          <p:cNvSpPr/>
          <p:nvPr/>
        </p:nvSpPr>
        <p:spPr>
          <a:xfrm>
            <a:off x="4885944" y="3625596"/>
            <a:ext cx="504190" cy="397510"/>
          </a:xfrm>
          <a:custGeom>
            <a:avLst/>
            <a:gdLst/>
            <a:ahLst/>
            <a:cxnLst/>
            <a:rect l="l" t="t" r="r" b="b"/>
            <a:pathLst>
              <a:path w="504189" h="397510">
                <a:moveTo>
                  <a:pt x="305307" y="0"/>
                </a:moveTo>
                <a:lnTo>
                  <a:pt x="305307" y="99313"/>
                </a:lnTo>
                <a:lnTo>
                  <a:pt x="0" y="99313"/>
                </a:lnTo>
                <a:lnTo>
                  <a:pt x="0" y="298068"/>
                </a:lnTo>
                <a:lnTo>
                  <a:pt x="305307" y="298068"/>
                </a:lnTo>
                <a:lnTo>
                  <a:pt x="305307" y="397382"/>
                </a:lnTo>
                <a:lnTo>
                  <a:pt x="504063" y="198754"/>
                </a:lnTo>
                <a:lnTo>
                  <a:pt x="305307" y="0"/>
                </a:lnTo>
                <a:close/>
              </a:path>
            </a:pathLst>
          </a:custGeom>
          <a:solidFill>
            <a:srgbClr val="D20079"/>
          </a:solidFill>
        </p:spPr>
        <p:txBody>
          <a:bodyPr wrap="square" lIns="0" tIns="0" rIns="0" bIns="0" rtlCol="0"/>
          <a:lstStyle/>
          <a:p>
            <a:endParaRPr/>
          </a:p>
        </p:txBody>
      </p:sp>
      <p:sp>
        <p:nvSpPr>
          <p:cNvPr id="42" name="object 42"/>
          <p:cNvSpPr/>
          <p:nvPr/>
        </p:nvSpPr>
        <p:spPr>
          <a:xfrm>
            <a:off x="4886705" y="3626358"/>
            <a:ext cx="504190" cy="397510"/>
          </a:xfrm>
          <a:custGeom>
            <a:avLst/>
            <a:gdLst/>
            <a:ahLst/>
            <a:cxnLst/>
            <a:rect l="l" t="t" r="r" b="b"/>
            <a:pathLst>
              <a:path w="504189" h="397510">
                <a:moveTo>
                  <a:pt x="0" y="99314"/>
                </a:moveTo>
                <a:lnTo>
                  <a:pt x="305308" y="99314"/>
                </a:lnTo>
                <a:lnTo>
                  <a:pt x="305308" y="0"/>
                </a:lnTo>
                <a:lnTo>
                  <a:pt x="504063" y="198755"/>
                </a:lnTo>
                <a:lnTo>
                  <a:pt x="305308" y="397383"/>
                </a:lnTo>
                <a:lnTo>
                  <a:pt x="305308" y="298069"/>
                </a:lnTo>
                <a:lnTo>
                  <a:pt x="0" y="298069"/>
                </a:lnTo>
                <a:lnTo>
                  <a:pt x="0" y="99314"/>
                </a:lnTo>
                <a:close/>
              </a:path>
            </a:pathLst>
          </a:custGeom>
          <a:ln w="25908">
            <a:solidFill>
              <a:srgbClr val="9B0056"/>
            </a:solidFill>
          </a:ln>
        </p:spPr>
        <p:txBody>
          <a:bodyPr wrap="square" lIns="0" tIns="0" rIns="0" bIns="0" rtlCol="0"/>
          <a:lstStyle/>
          <a:p>
            <a:endParaRPr/>
          </a:p>
        </p:txBody>
      </p:sp>
      <p:sp>
        <p:nvSpPr>
          <p:cNvPr id="43" name="object 43"/>
          <p:cNvSpPr/>
          <p:nvPr/>
        </p:nvSpPr>
        <p:spPr>
          <a:xfrm>
            <a:off x="4885944" y="4343400"/>
            <a:ext cx="504190" cy="397510"/>
          </a:xfrm>
          <a:custGeom>
            <a:avLst/>
            <a:gdLst/>
            <a:ahLst/>
            <a:cxnLst/>
            <a:rect l="l" t="t" r="r" b="b"/>
            <a:pathLst>
              <a:path w="504189" h="397510">
                <a:moveTo>
                  <a:pt x="305307" y="0"/>
                </a:moveTo>
                <a:lnTo>
                  <a:pt x="305307" y="99313"/>
                </a:lnTo>
                <a:lnTo>
                  <a:pt x="0" y="99313"/>
                </a:lnTo>
                <a:lnTo>
                  <a:pt x="0" y="298069"/>
                </a:lnTo>
                <a:lnTo>
                  <a:pt x="305307" y="298069"/>
                </a:lnTo>
                <a:lnTo>
                  <a:pt x="305307" y="397382"/>
                </a:lnTo>
                <a:lnTo>
                  <a:pt x="504063" y="198627"/>
                </a:lnTo>
                <a:lnTo>
                  <a:pt x="305307" y="0"/>
                </a:lnTo>
                <a:close/>
              </a:path>
            </a:pathLst>
          </a:custGeom>
          <a:solidFill>
            <a:srgbClr val="D20079"/>
          </a:solidFill>
        </p:spPr>
        <p:txBody>
          <a:bodyPr wrap="square" lIns="0" tIns="0" rIns="0" bIns="0" rtlCol="0"/>
          <a:lstStyle/>
          <a:p>
            <a:endParaRPr/>
          </a:p>
        </p:txBody>
      </p:sp>
      <p:sp>
        <p:nvSpPr>
          <p:cNvPr id="44" name="object 44"/>
          <p:cNvSpPr/>
          <p:nvPr/>
        </p:nvSpPr>
        <p:spPr>
          <a:xfrm>
            <a:off x="4886705" y="4344161"/>
            <a:ext cx="504190" cy="397510"/>
          </a:xfrm>
          <a:custGeom>
            <a:avLst/>
            <a:gdLst/>
            <a:ahLst/>
            <a:cxnLst/>
            <a:rect l="l" t="t" r="r" b="b"/>
            <a:pathLst>
              <a:path w="504189" h="397510">
                <a:moveTo>
                  <a:pt x="0" y="99313"/>
                </a:moveTo>
                <a:lnTo>
                  <a:pt x="305308" y="99313"/>
                </a:lnTo>
                <a:lnTo>
                  <a:pt x="305308" y="0"/>
                </a:lnTo>
                <a:lnTo>
                  <a:pt x="504063" y="198627"/>
                </a:lnTo>
                <a:lnTo>
                  <a:pt x="305308" y="397382"/>
                </a:lnTo>
                <a:lnTo>
                  <a:pt x="305308" y="298069"/>
                </a:lnTo>
                <a:lnTo>
                  <a:pt x="0" y="298069"/>
                </a:lnTo>
                <a:lnTo>
                  <a:pt x="0" y="99313"/>
                </a:lnTo>
                <a:close/>
              </a:path>
            </a:pathLst>
          </a:custGeom>
          <a:ln w="25908">
            <a:solidFill>
              <a:srgbClr val="9B0056"/>
            </a:solidFill>
          </a:ln>
        </p:spPr>
        <p:txBody>
          <a:bodyPr wrap="square" lIns="0" tIns="0" rIns="0" bIns="0" rtlCol="0"/>
          <a:lstStyle/>
          <a:p>
            <a:endParaRPr/>
          </a:p>
        </p:txBody>
      </p:sp>
      <p:sp>
        <p:nvSpPr>
          <p:cNvPr id="45" name="object 45"/>
          <p:cNvSpPr/>
          <p:nvPr/>
        </p:nvSpPr>
        <p:spPr>
          <a:xfrm>
            <a:off x="4892040" y="5070347"/>
            <a:ext cx="504190" cy="396240"/>
          </a:xfrm>
          <a:custGeom>
            <a:avLst/>
            <a:gdLst/>
            <a:ahLst/>
            <a:cxnLst/>
            <a:rect l="l" t="t" r="r" b="b"/>
            <a:pathLst>
              <a:path w="504189" h="396239">
                <a:moveTo>
                  <a:pt x="306070" y="0"/>
                </a:moveTo>
                <a:lnTo>
                  <a:pt x="306070" y="99059"/>
                </a:lnTo>
                <a:lnTo>
                  <a:pt x="0" y="99059"/>
                </a:lnTo>
                <a:lnTo>
                  <a:pt x="0" y="297179"/>
                </a:lnTo>
                <a:lnTo>
                  <a:pt x="306070" y="297179"/>
                </a:lnTo>
                <a:lnTo>
                  <a:pt x="306070" y="396239"/>
                </a:lnTo>
                <a:lnTo>
                  <a:pt x="504063" y="198119"/>
                </a:lnTo>
                <a:lnTo>
                  <a:pt x="306070" y="0"/>
                </a:lnTo>
                <a:close/>
              </a:path>
            </a:pathLst>
          </a:custGeom>
          <a:solidFill>
            <a:srgbClr val="D20079"/>
          </a:solidFill>
        </p:spPr>
        <p:txBody>
          <a:bodyPr wrap="square" lIns="0" tIns="0" rIns="0" bIns="0" rtlCol="0"/>
          <a:lstStyle/>
          <a:p>
            <a:endParaRPr/>
          </a:p>
        </p:txBody>
      </p:sp>
      <p:sp>
        <p:nvSpPr>
          <p:cNvPr id="46" name="object 46"/>
          <p:cNvSpPr/>
          <p:nvPr/>
        </p:nvSpPr>
        <p:spPr>
          <a:xfrm>
            <a:off x="4892802" y="5071109"/>
            <a:ext cx="504190" cy="396240"/>
          </a:xfrm>
          <a:custGeom>
            <a:avLst/>
            <a:gdLst/>
            <a:ahLst/>
            <a:cxnLst/>
            <a:rect l="l" t="t" r="r" b="b"/>
            <a:pathLst>
              <a:path w="504189" h="396239">
                <a:moveTo>
                  <a:pt x="0" y="99059"/>
                </a:moveTo>
                <a:lnTo>
                  <a:pt x="306070" y="99059"/>
                </a:lnTo>
                <a:lnTo>
                  <a:pt x="306070" y="0"/>
                </a:lnTo>
                <a:lnTo>
                  <a:pt x="504063" y="198119"/>
                </a:lnTo>
                <a:lnTo>
                  <a:pt x="306070" y="396239"/>
                </a:lnTo>
                <a:lnTo>
                  <a:pt x="306070" y="297179"/>
                </a:lnTo>
                <a:lnTo>
                  <a:pt x="0" y="297179"/>
                </a:lnTo>
                <a:lnTo>
                  <a:pt x="0" y="99059"/>
                </a:lnTo>
                <a:close/>
              </a:path>
            </a:pathLst>
          </a:custGeom>
          <a:ln w="25908">
            <a:solidFill>
              <a:srgbClr val="9B0056"/>
            </a:solidFill>
          </a:ln>
        </p:spPr>
        <p:txBody>
          <a:bodyPr wrap="square" lIns="0" tIns="0" rIns="0" bIns="0" rtlCol="0"/>
          <a:lstStyle/>
          <a:p>
            <a:endParaRPr/>
          </a:p>
        </p:txBody>
      </p:sp>
      <p:sp>
        <p:nvSpPr>
          <p:cNvPr id="47" name="object 47"/>
          <p:cNvSpPr/>
          <p:nvPr/>
        </p:nvSpPr>
        <p:spPr>
          <a:xfrm>
            <a:off x="4885944" y="5798820"/>
            <a:ext cx="504190" cy="396240"/>
          </a:xfrm>
          <a:custGeom>
            <a:avLst/>
            <a:gdLst/>
            <a:ahLst/>
            <a:cxnLst/>
            <a:rect l="l" t="t" r="r" b="b"/>
            <a:pathLst>
              <a:path w="504189" h="396239">
                <a:moveTo>
                  <a:pt x="306069" y="0"/>
                </a:moveTo>
                <a:lnTo>
                  <a:pt x="306069" y="99059"/>
                </a:lnTo>
                <a:lnTo>
                  <a:pt x="0" y="99059"/>
                </a:lnTo>
                <a:lnTo>
                  <a:pt x="0" y="297179"/>
                </a:lnTo>
                <a:lnTo>
                  <a:pt x="306069" y="297179"/>
                </a:lnTo>
                <a:lnTo>
                  <a:pt x="306069" y="396239"/>
                </a:lnTo>
                <a:lnTo>
                  <a:pt x="504063" y="198119"/>
                </a:lnTo>
                <a:lnTo>
                  <a:pt x="306069" y="0"/>
                </a:lnTo>
                <a:close/>
              </a:path>
            </a:pathLst>
          </a:custGeom>
          <a:solidFill>
            <a:srgbClr val="D20079"/>
          </a:solidFill>
        </p:spPr>
        <p:txBody>
          <a:bodyPr wrap="square" lIns="0" tIns="0" rIns="0" bIns="0" rtlCol="0"/>
          <a:lstStyle/>
          <a:p>
            <a:endParaRPr/>
          </a:p>
        </p:txBody>
      </p:sp>
      <p:sp>
        <p:nvSpPr>
          <p:cNvPr id="48" name="object 48"/>
          <p:cNvSpPr/>
          <p:nvPr/>
        </p:nvSpPr>
        <p:spPr>
          <a:xfrm>
            <a:off x="4886705" y="5799582"/>
            <a:ext cx="504190" cy="396240"/>
          </a:xfrm>
          <a:custGeom>
            <a:avLst/>
            <a:gdLst/>
            <a:ahLst/>
            <a:cxnLst/>
            <a:rect l="l" t="t" r="r" b="b"/>
            <a:pathLst>
              <a:path w="504189" h="396239">
                <a:moveTo>
                  <a:pt x="0" y="99060"/>
                </a:moveTo>
                <a:lnTo>
                  <a:pt x="306070" y="99060"/>
                </a:lnTo>
                <a:lnTo>
                  <a:pt x="306070" y="0"/>
                </a:lnTo>
                <a:lnTo>
                  <a:pt x="504063" y="198120"/>
                </a:lnTo>
                <a:lnTo>
                  <a:pt x="306070" y="396240"/>
                </a:lnTo>
                <a:lnTo>
                  <a:pt x="306070" y="297180"/>
                </a:lnTo>
                <a:lnTo>
                  <a:pt x="0" y="297180"/>
                </a:lnTo>
                <a:lnTo>
                  <a:pt x="0" y="99060"/>
                </a:lnTo>
                <a:close/>
              </a:path>
            </a:pathLst>
          </a:custGeom>
          <a:ln w="25907">
            <a:solidFill>
              <a:srgbClr val="9B0056"/>
            </a:solidFill>
          </a:ln>
        </p:spPr>
        <p:txBody>
          <a:bodyPr wrap="square" lIns="0" tIns="0" rIns="0" bIns="0" rtlCol="0"/>
          <a:lstStyle/>
          <a:p>
            <a:endParaRPr/>
          </a:p>
        </p:txBody>
      </p:sp>
      <p:sp>
        <p:nvSpPr>
          <p:cNvPr id="49" name="object 49"/>
          <p:cNvSpPr/>
          <p:nvPr/>
        </p:nvSpPr>
        <p:spPr>
          <a:xfrm>
            <a:off x="3028060" y="2758820"/>
            <a:ext cx="105410" cy="114300"/>
          </a:xfrm>
          <a:custGeom>
            <a:avLst/>
            <a:gdLst/>
            <a:ahLst/>
            <a:cxnLst/>
            <a:rect l="l" t="t" r="r" b="b"/>
            <a:pathLst>
              <a:path w="105410" h="114300">
                <a:moveTo>
                  <a:pt x="38100" y="0"/>
                </a:moveTo>
                <a:lnTo>
                  <a:pt x="0" y="0"/>
                </a:lnTo>
                <a:lnTo>
                  <a:pt x="57276" y="113918"/>
                </a:lnTo>
                <a:lnTo>
                  <a:pt x="104901" y="19050"/>
                </a:lnTo>
                <a:lnTo>
                  <a:pt x="38100" y="19050"/>
                </a:lnTo>
                <a:lnTo>
                  <a:pt x="38100" y="0"/>
                </a:lnTo>
                <a:close/>
              </a:path>
            </a:pathLst>
          </a:custGeom>
          <a:solidFill>
            <a:srgbClr val="D20079"/>
          </a:solidFill>
        </p:spPr>
        <p:txBody>
          <a:bodyPr wrap="square" lIns="0" tIns="0" rIns="0" bIns="0" rtlCol="0"/>
          <a:lstStyle/>
          <a:p>
            <a:endParaRPr/>
          </a:p>
        </p:txBody>
      </p:sp>
      <p:sp>
        <p:nvSpPr>
          <p:cNvPr id="50" name="object 50"/>
          <p:cNvSpPr/>
          <p:nvPr/>
        </p:nvSpPr>
        <p:spPr>
          <a:xfrm>
            <a:off x="3066160" y="2718054"/>
            <a:ext cx="38735" cy="60325"/>
          </a:xfrm>
          <a:custGeom>
            <a:avLst/>
            <a:gdLst/>
            <a:ahLst/>
            <a:cxnLst/>
            <a:rect l="l" t="t" r="r" b="b"/>
            <a:pathLst>
              <a:path w="38735" h="60325">
                <a:moveTo>
                  <a:pt x="0" y="0"/>
                </a:moveTo>
                <a:lnTo>
                  <a:pt x="0" y="59817"/>
                </a:lnTo>
                <a:lnTo>
                  <a:pt x="38226" y="59817"/>
                </a:lnTo>
                <a:lnTo>
                  <a:pt x="38226" y="19050"/>
                </a:lnTo>
                <a:lnTo>
                  <a:pt x="19176" y="19050"/>
                </a:lnTo>
                <a:lnTo>
                  <a:pt x="0" y="0"/>
                </a:lnTo>
                <a:close/>
              </a:path>
            </a:pathLst>
          </a:custGeom>
          <a:solidFill>
            <a:srgbClr val="D20079"/>
          </a:solidFill>
        </p:spPr>
        <p:txBody>
          <a:bodyPr wrap="square" lIns="0" tIns="0" rIns="0" bIns="0" rtlCol="0"/>
          <a:lstStyle/>
          <a:p>
            <a:endParaRPr/>
          </a:p>
        </p:txBody>
      </p:sp>
      <p:sp>
        <p:nvSpPr>
          <p:cNvPr id="51" name="object 51"/>
          <p:cNvSpPr/>
          <p:nvPr/>
        </p:nvSpPr>
        <p:spPr>
          <a:xfrm>
            <a:off x="3104388" y="2758820"/>
            <a:ext cx="38100" cy="19050"/>
          </a:xfrm>
          <a:custGeom>
            <a:avLst/>
            <a:gdLst/>
            <a:ahLst/>
            <a:cxnLst/>
            <a:rect l="l" t="t" r="r" b="b"/>
            <a:pathLst>
              <a:path w="38100" h="19050">
                <a:moveTo>
                  <a:pt x="38100" y="0"/>
                </a:moveTo>
                <a:lnTo>
                  <a:pt x="0" y="0"/>
                </a:lnTo>
                <a:lnTo>
                  <a:pt x="0" y="19050"/>
                </a:lnTo>
                <a:lnTo>
                  <a:pt x="28575" y="19050"/>
                </a:lnTo>
                <a:lnTo>
                  <a:pt x="38100" y="0"/>
                </a:lnTo>
                <a:close/>
              </a:path>
            </a:pathLst>
          </a:custGeom>
          <a:solidFill>
            <a:srgbClr val="D20079"/>
          </a:solidFill>
        </p:spPr>
        <p:txBody>
          <a:bodyPr wrap="square" lIns="0" tIns="0" rIns="0" bIns="0" rtlCol="0"/>
          <a:lstStyle/>
          <a:p>
            <a:endParaRPr/>
          </a:p>
        </p:txBody>
      </p:sp>
      <p:sp>
        <p:nvSpPr>
          <p:cNvPr id="52" name="object 52"/>
          <p:cNvSpPr/>
          <p:nvPr/>
        </p:nvSpPr>
        <p:spPr>
          <a:xfrm>
            <a:off x="2345435" y="2563367"/>
            <a:ext cx="720725" cy="173990"/>
          </a:xfrm>
          <a:custGeom>
            <a:avLst/>
            <a:gdLst/>
            <a:ahLst/>
            <a:cxnLst/>
            <a:rect l="l" t="t" r="r" b="b"/>
            <a:pathLst>
              <a:path w="720725" h="173989">
                <a:moveTo>
                  <a:pt x="38100" y="0"/>
                </a:moveTo>
                <a:lnTo>
                  <a:pt x="0" y="0"/>
                </a:lnTo>
                <a:lnTo>
                  <a:pt x="0" y="154686"/>
                </a:lnTo>
                <a:lnTo>
                  <a:pt x="1524" y="162052"/>
                </a:lnTo>
                <a:lnTo>
                  <a:pt x="5587" y="168148"/>
                </a:lnTo>
                <a:lnTo>
                  <a:pt x="11683" y="172212"/>
                </a:lnTo>
                <a:lnTo>
                  <a:pt x="19050" y="173736"/>
                </a:lnTo>
                <a:lnTo>
                  <a:pt x="720725" y="173736"/>
                </a:lnTo>
                <a:lnTo>
                  <a:pt x="720725" y="154686"/>
                </a:lnTo>
                <a:lnTo>
                  <a:pt x="38100" y="154686"/>
                </a:lnTo>
                <a:lnTo>
                  <a:pt x="19050" y="135762"/>
                </a:lnTo>
                <a:lnTo>
                  <a:pt x="38100" y="135762"/>
                </a:lnTo>
                <a:lnTo>
                  <a:pt x="38100" y="0"/>
                </a:lnTo>
                <a:close/>
              </a:path>
            </a:pathLst>
          </a:custGeom>
          <a:solidFill>
            <a:srgbClr val="D20079"/>
          </a:solidFill>
        </p:spPr>
        <p:txBody>
          <a:bodyPr wrap="square" lIns="0" tIns="0" rIns="0" bIns="0" rtlCol="0"/>
          <a:lstStyle/>
          <a:p>
            <a:endParaRPr/>
          </a:p>
        </p:txBody>
      </p:sp>
      <p:sp>
        <p:nvSpPr>
          <p:cNvPr id="53" name="object 53"/>
          <p:cNvSpPr/>
          <p:nvPr/>
        </p:nvSpPr>
        <p:spPr>
          <a:xfrm>
            <a:off x="2383535" y="2699130"/>
            <a:ext cx="721360" cy="38100"/>
          </a:xfrm>
          <a:custGeom>
            <a:avLst/>
            <a:gdLst/>
            <a:ahLst/>
            <a:cxnLst/>
            <a:rect l="l" t="t" r="r" b="b"/>
            <a:pathLst>
              <a:path w="721360" h="38100">
                <a:moveTo>
                  <a:pt x="701801" y="0"/>
                </a:moveTo>
                <a:lnTo>
                  <a:pt x="0" y="0"/>
                </a:lnTo>
                <a:lnTo>
                  <a:pt x="0" y="18923"/>
                </a:lnTo>
                <a:lnTo>
                  <a:pt x="682625" y="18923"/>
                </a:lnTo>
                <a:lnTo>
                  <a:pt x="701801" y="37973"/>
                </a:lnTo>
                <a:lnTo>
                  <a:pt x="720851" y="37973"/>
                </a:lnTo>
                <a:lnTo>
                  <a:pt x="720851" y="18923"/>
                </a:lnTo>
                <a:lnTo>
                  <a:pt x="719327" y="11557"/>
                </a:lnTo>
                <a:lnTo>
                  <a:pt x="715263" y="5588"/>
                </a:lnTo>
                <a:lnTo>
                  <a:pt x="709168" y="1524"/>
                </a:lnTo>
                <a:lnTo>
                  <a:pt x="701801" y="0"/>
                </a:lnTo>
                <a:close/>
              </a:path>
            </a:pathLst>
          </a:custGeom>
          <a:solidFill>
            <a:srgbClr val="D20079"/>
          </a:solidFill>
        </p:spPr>
        <p:txBody>
          <a:bodyPr wrap="square" lIns="0" tIns="0" rIns="0" bIns="0" rtlCol="0"/>
          <a:lstStyle/>
          <a:p>
            <a:endParaRPr/>
          </a:p>
        </p:txBody>
      </p:sp>
      <p:sp>
        <p:nvSpPr>
          <p:cNvPr id="54" name="object 54"/>
          <p:cNvSpPr/>
          <p:nvPr/>
        </p:nvSpPr>
        <p:spPr>
          <a:xfrm>
            <a:off x="2364485" y="2699130"/>
            <a:ext cx="19050" cy="19050"/>
          </a:xfrm>
          <a:custGeom>
            <a:avLst/>
            <a:gdLst/>
            <a:ahLst/>
            <a:cxnLst/>
            <a:rect l="l" t="t" r="r" b="b"/>
            <a:pathLst>
              <a:path w="19050" h="19050">
                <a:moveTo>
                  <a:pt x="19050" y="0"/>
                </a:moveTo>
                <a:lnTo>
                  <a:pt x="0" y="0"/>
                </a:lnTo>
                <a:lnTo>
                  <a:pt x="19050" y="18923"/>
                </a:lnTo>
                <a:lnTo>
                  <a:pt x="19050" y="0"/>
                </a:lnTo>
                <a:close/>
              </a:path>
            </a:pathLst>
          </a:custGeom>
          <a:solidFill>
            <a:srgbClr val="D20079"/>
          </a:solidFill>
        </p:spPr>
        <p:txBody>
          <a:bodyPr wrap="square" lIns="0" tIns="0" rIns="0" bIns="0" rtlCol="0"/>
          <a:lstStyle/>
          <a:p>
            <a:endParaRPr/>
          </a:p>
        </p:txBody>
      </p:sp>
      <p:sp>
        <p:nvSpPr>
          <p:cNvPr id="55" name="object 55"/>
          <p:cNvSpPr/>
          <p:nvPr/>
        </p:nvSpPr>
        <p:spPr>
          <a:xfrm>
            <a:off x="3028060" y="3488182"/>
            <a:ext cx="105410" cy="114300"/>
          </a:xfrm>
          <a:custGeom>
            <a:avLst/>
            <a:gdLst/>
            <a:ahLst/>
            <a:cxnLst/>
            <a:rect l="l" t="t" r="r" b="b"/>
            <a:pathLst>
              <a:path w="105410" h="114300">
                <a:moveTo>
                  <a:pt x="38100" y="0"/>
                </a:moveTo>
                <a:lnTo>
                  <a:pt x="0" y="0"/>
                </a:lnTo>
                <a:lnTo>
                  <a:pt x="57276" y="114172"/>
                </a:lnTo>
                <a:lnTo>
                  <a:pt x="104901" y="19050"/>
                </a:lnTo>
                <a:lnTo>
                  <a:pt x="38100" y="19050"/>
                </a:lnTo>
                <a:lnTo>
                  <a:pt x="38100" y="0"/>
                </a:lnTo>
                <a:close/>
              </a:path>
            </a:pathLst>
          </a:custGeom>
          <a:solidFill>
            <a:srgbClr val="D20079"/>
          </a:solidFill>
        </p:spPr>
        <p:txBody>
          <a:bodyPr wrap="square" lIns="0" tIns="0" rIns="0" bIns="0" rtlCol="0"/>
          <a:lstStyle/>
          <a:p>
            <a:endParaRPr/>
          </a:p>
        </p:txBody>
      </p:sp>
      <p:sp>
        <p:nvSpPr>
          <p:cNvPr id="56" name="object 56"/>
          <p:cNvSpPr/>
          <p:nvPr/>
        </p:nvSpPr>
        <p:spPr>
          <a:xfrm>
            <a:off x="3066160" y="3419475"/>
            <a:ext cx="38735" cy="88265"/>
          </a:xfrm>
          <a:custGeom>
            <a:avLst/>
            <a:gdLst/>
            <a:ahLst/>
            <a:cxnLst/>
            <a:rect l="l" t="t" r="r" b="b"/>
            <a:pathLst>
              <a:path w="38735" h="88264">
                <a:moveTo>
                  <a:pt x="0" y="0"/>
                </a:moveTo>
                <a:lnTo>
                  <a:pt x="0" y="87757"/>
                </a:lnTo>
                <a:lnTo>
                  <a:pt x="38226" y="87757"/>
                </a:lnTo>
                <a:lnTo>
                  <a:pt x="38226" y="19050"/>
                </a:lnTo>
                <a:lnTo>
                  <a:pt x="19176" y="19050"/>
                </a:lnTo>
                <a:lnTo>
                  <a:pt x="0" y="0"/>
                </a:lnTo>
                <a:close/>
              </a:path>
            </a:pathLst>
          </a:custGeom>
          <a:solidFill>
            <a:srgbClr val="D20079"/>
          </a:solidFill>
        </p:spPr>
        <p:txBody>
          <a:bodyPr wrap="square" lIns="0" tIns="0" rIns="0" bIns="0" rtlCol="0"/>
          <a:lstStyle/>
          <a:p>
            <a:endParaRPr/>
          </a:p>
        </p:txBody>
      </p:sp>
      <p:sp>
        <p:nvSpPr>
          <p:cNvPr id="57" name="object 57"/>
          <p:cNvSpPr/>
          <p:nvPr/>
        </p:nvSpPr>
        <p:spPr>
          <a:xfrm>
            <a:off x="3104388" y="3488182"/>
            <a:ext cx="38100" cy="19050"/>
          </a:xfrm>
          <a:custGeom>
            <a:avLst/>
            <a:gdLst/>
            <a:ahLst/>
            <a:cxnLst/>
            <a:rect l="l" t="t" r="r" b="b"/>
            <a:pathLst>
              <a:path w="38100" h="19050">
                <a:moveTo>
                  <a:pt x="38100" y="0"/>
                </a:moveTo>
                <a:lnTo>
                  <a:pt x="0" y="0"/>
                </a:lnTo>
                <a:lnTo>
                  <a:pt x="0" y="19050"/>
                </a:lnTo>
                <a:lnTo>
                  <a:pt x="28575" y="19050"/>
                </a:lnTo>
                <a:lnTo>
                  <a:pt x="38100" y="0"/>
                </a:lnTo>
                <a:close/>
              </a:path>
            </a:pathLst>
          </a:custGeom>
          <a:solidFill>
            <a:srgbClr val="D20079"/>
          </a:solidFill>
        </p:spPr>
        <p:txBody>
          <a:bodyPr wrap="square" lIns="0" tIns="0" rIns="0" bIns="0" rtlCol="0"/>
          <a:lstStyle/>
          <a:p>
            <a:endParaRPr/>
          </a:p>
        </p:txBody>
      </p:sp>
      <p:sp>
        <p:nvSpPr>
          <p:cNvPr id="58" name="object 58"/>
          <p:cNvSpPr/>
          <p:nvPr/>
        </p:nvSpPr>
        <p:spPr>
          <a:xfrm>
            <a:off x="2345435" y="2563367"/>
            <a:ext cx="720725" cy="875665"/>
          </a:xfrm>
          <a:custGeom>
            <a:avLst/>
            <a:gdLst/>
            <a:ahLst/>
            <a:cxnLst/>
            <a:rect l="l" t="t" r="r" b="b"/>
            <a:pathLst>
              <a:path w="720725" h="875664">
                <a:moveTo>
                  <a:pt x="38100" y="0"/>
                </a:moveTo>
                <a:lnTo>
                  <a:pt x="0" y="0"/>
                </a:lnTo>
                <a:lnTo>
                  <a:pt x="0" y="856107"/>
                </a:lnTo>
                <a:lnTo>
                  <a:pt x="1524" y="863473"/>
                </a:lnTo>
                <a:lnTo>
                  <a:pt x="5587" y="869569"/>
                </a:lnTo>
                <a:lnTo>
                  <a:pt x="11683" y="873633"/>
                </a:lnTo>
                <a:lnTo>
                  <a:pt x="19050" y="875157"/>
                </a:lnTo>
                <a:lnTo>
                  <a:pt x="720725" y="875157"/>
                </a:lnTo>
                <a:lnTo>
                  <a:pt x="720725" y="856107"/>
                </a:lnTo>
                <a:lnTo>
                  <a:pt x="38100" y="856107"/>
                </a:lnTo>
                <a:lnTo>
                  <a:pt x="19050" y="837057"/>
                </a:lnTo>
                <a:lnTo>
                  <a:pt x="38100" y="837057"/>
                </a:lnTo>
                <a:lnTo>
                  <a:pt x="38100" y="0"/>
                </a:lnTo>
                <a:close/>
              </a:path>
            </a:pathLst>
          </a:custGeom>
          <a:solidFill>
            <a:srgbClr val="D20079"/>
          </a:solidFill>
        </p:spPr>
        <p:txBody>
          <a:bodyPr wrap="square" lIns="0" tIns="0" rIns="0" bIns="0" rtlCol="0"/>
          <a:lstStyle/>
          <a:p>
            <a:endParaRPr/>
          </a:p>
        </p:txBody>
      </p:sp>
      <p:sp>
        <p:nvSpPr>
          <p:cNvPr id="59" name="object 59"/>
          <p:cNvSpPr/>
          <p:nvPr/>
        </p:nvSpPr>
        <p:spPr>
          <a:xfrm>
            <a:off x="2383535" y="3400425"/>
            <a:ext cx="721360" cy="38100"/>
          </a:xfrm>
          <a:custGeom>
            <a:avLst/>
            <a:gdLst/>
            <a:ahLst/>
            <a:cxnLst/>
            <a:rect l="l" t="t" r="r" b="b"/>
            <a:pathLst>
              <a:path w="721360" h="38100">
                <a:moveTo>
                  <a:pt x="701801" y="0"/>
                </a:moveTo>
                <a:lnTo>
                  <a:pt x="0" y="0"/>
                </a:lnTo>
                <a:lnTo>
                  <a:pt x="0" y="19050"/>
                </a:lnTo>
                <a:lnTo>
                  <a:pt x="682625" y="19050"/>
                </a:lnTo>
                <a:lnTo>
                  <a:pt x="701801" y="38100"/>
                </a:lnTo>
                <a:lnTo>
                  <a:pt x="720851" y="38100"/>
                </a:lnTo>
                <a:lnTo>
                  <a:pt x="720851" y="19050"/>
                </a:lnTo>
                <a:lnTo>
                  <a:pt x="719327" y="11684"/>
                </a:lnTo>
                <a:lnTo>
                  <a:pt x="715263" y="5587"/>
                </a:lnTo>
                <a:lnTo>
                  <a:pt x="709168" y="1524"/>
                </a:lnTo>
                <a:lnTo>
                  <a:pt x="701801" y="0"/>
                </a:lnTo>
                <a:close/>
              </a:path>
            </a:pathLst>
          </a:custGeom>
          <a:solidFill>
            <a:srgbClr val="D20079"/>
          </a:solidFill>
        </p:spPr>
        <p:txBody>
          <a:bodyPr wrap="square" lIns="0" tIns="0" rIns="0" bIns="0" rtlCol="0"/>
          <a:lstStyle/>
          <a:p>
            <a:endParaRPr/>
          </a:p>
        </p:txBody>
      </p:sp>
      <p:sp>
        <p:nvSpPr>
          <p:cNvPr id="60" name="object 60"/>
          <p:cNvSpPr/>
          <p:nvPr/>
        </p:nvSpPr>
        <p:spPr>
          <a:xfrm>
            <a:off x="2364485" y="3400425"/>
            <a:ext cx="19050" cy="19050"/>
          </a:xfrm>
          <a:custGeom>
            <a:avLst/>
            <a:gdLst/>
            <a:ahLst/>
            <a:cxnLst/>
            <a:rect l="l" t="t" r="r" b="b"/>
            <a:pathLst>
              <a:path w="19050" h="19050">
                <a:moveTo>
                  <a:pt x="19050" y="0"/>
                </a:moveTo>
                <a:lnTo>
                  <a:pt x="0" y="0"/>
                </a:lnTo>
                <a:lnTo>
                  <a:pt x="19050" y="19050"/>
                </a:lnTo>
                <a:lnTo>
                  <a:pt x="19050" y="0"/>
                </a:lnTo>
                <a:close/>
              </a:path>
            </a:pathLst>
          </a:custGeom>
          <a:solidFill>
            <a:srgbClr val="D20079"/>
          </a:solidFill>
        </p:spPr>
        <p:txBody>
          <a:bodyPr wrap="square" lIns="0" tIns="0" rIns="0" bIns="0" rtlCol="0"/>
          <a:lstStyle/>
          <a:p>
            <a:endParaRPr/>
          </a:p>
        </p:txBody>
      </p:sp>
      <p:sp>
        <p:nvSpPr>
          <p:cNvPr id="61" name="object 61"/>
          <p:cNvSpPr/>
          <p:nvPr/>
        </p:nvSpPr>
        <p:spPr>
          <a:xfrm>
            <a:off x="3028060" y="4216908"/>
            <a:ext cx="105410" cy="114300"/>
          </a:xfrm>
          <a:custGeom>
            <a:avLst/>
            <a:gdLst/>
            <a:ahLst/>
            <a:cxnLst/>
            <a:rect l="l" t="t" r="r" b="b"/>
            <a:pathLst>
              <a:path w="105410" h="114300">
                <a:moveTo>
                  <a:pt x="38100" y="0"/>
                </a:moveTo>
                <a:lnTo>
                  <a:pt x="0" y="0"/>
                </a:lnTo>
                <a:lnTo>
                  <a:pt x="57276" y="114173"/>
                </a:lnTo>
                <a:lnTo>
                  <a:pt x="104901" y="19050"/>
                </a:lnTo>
                <a:lnTo>
                  <a:pt x="38100" y="19050"/>
                </a:lnTo>
                <a:lnTo>
                  <a:pt x="38100" y="0"/>
                </a:lnTo>
                <a:close/>
              </a:path>
            </a:pathLst>
          </a:custGeom>
          <a:solidFill>
            <a:srgbClr val="D20079"/>
          </a:solidFill>
        </p:spPr>
        <p:txBody>
          <a:bodyPr wrap="square" lIns="0" tIns="0" rIns="0" bIns="0" rtlCol="0"/>
          <a:lstStyle/>
          <a:p>
            <a:endParaRPr/>
          </a:p>
        </p:txBody>
      </p:sp>
      <p:sp>
        <p:nvSpPr>
          <p:cNvPr id="62" name="object 62"/>
          <p:cNvSpPr/>
          <p:nvPr/>
        </p:nvSpPr>
        <p:spPr>
          <a:xfrm>
            <a:off x="3066160" y="4168647"/>
            <a:ext cx="38735" cy="67310"/>
          </a:xfrm>
          <a:custGeom>
            <a:avLst/>
            <a:gdLst/>
            <a:ahLst/>
            <a:cxnLst/>
            <a:rect l="l" t="t" r="r" b="b"/>
            <a:pathLst>
              <a:path w="38735" h="67310">
                <a:moveTo>
                  <a:pt x="0" y="0"/>
                </a:moveTo>
                <a:lnTo>
                  <a:pt x="0" y="67309"/>
                </a:lnTo>
                <a:lnTo>
                  <a:pt x="38226" y="67309"/>
                </a:lnTo>
                <a:lnTo>
                  <a:pt x="38226" y="19050"/>
                </a:lnTo>
                <a:lnTo>
                  <a:pt x="19176" y="19050"/>
                </a:lnTo>
                <a:lnTo>
                  <a:pt x="0" y="0"/>
                </a:lnTo>
                <a:close/>
              </a:path>
            </a:pathLst>
          </a:custGeom>
          <a:solidFill>
            <a:srgbClr val="D20079"/>
          </a:solidFill>
        </p:spPr>
        <p:txBody>
          <a:bodyPr wrap="square" lIns="0" tIns="0" rIns="0" bIns="0" rtlCol="0"/>
          <a:lstStyle/>
          <a:p>
            <a:endParaRPr/>
          </a:p>
        </p:txBody>
      </p:sp>
      <p:sp>
        <p:nvSpPr>
          <p:cNvPr id="63" name="object 63"/>
          <p:cNvSpPr/>
          <p:nvPr/>
        </p:nvSpPr>
        <p:spPr>
          <a:xfrm>
            <a:off x="3104388" y="4216908"/>
            <a:ext cx="38100" cy="19050"/>
          </a:xfrm>
          <a:custGeom>
            <a:avLst/>
            <a:gdLst/>
            <a:ahLst/>
            <a:cxnLst/>
            <a:rect l="l" t="t" r="r" b="b"/>
            <a:pathLst>
              <a:path w="38100" h="19050">
                <a:moveTo>
                  <a:pt x="38100" y="0"/>
                </a:moveTo>
                <a:lnTo>
                  <a:pt x="0" y="0"/>
                </a:lnTo>
                <a:lnTo>
                  <a:pt x="0" y="19050"/>
                </a:lnTo>
                <a:lnTo>
                  <a:pt x="28575" y="19050"/>
                </a:lnTo>
                <a:lnTo>
                  <a:pt x="38100" y="0"/>
                </a:lnTo>
                <a:close/>
              </a:path>
            </a:pathLst>
          </a:custGeom>
          <a:solidFill>
            <a:srgbClr val="D20079"/>
          </a:solidFill>
        </p:spPr>
        <p:txBody>
          <a:bodyPr wrap="square" lIns="0" tIns="0" rIns="0" bIns="0" rtlCol="0"/>
          <a:lstStyle/>
          <a:p>
            <a:endParaRPr/>
          </a:p>
        </p:txBody>
      </p:sp>
      <p:sp>
        <p:nvSpPr>
          <p:cNvPr id="64" name="object 64"/>
          <p:cNvSpPr/>
          <p:nvPr/>
        </p:nvSpPr>
        <p:spPr>
          <a:xfrm>
            <a:off x="2345435" y="2563367"/>
            <a:ext cx="720725" cy="1624330"/>
          </a:xfrm>
          <a:custGeom>
            <a:avLst/>
            <a:gdLst/>
            <a:ahLst/>
            <a:cxnLst/>
            <a:rect l="l" t="t" r="r" b="b"/>
            <a:pathLst>
              <a:path w="720725" h="1624329">
                <a:moveTo>
                  <a:pt x="38100" y="0"/>
                </a:moveTo>
                <a:lnTo>
                  <a:pt x="0" y="0"/>
                </a:lnTo>
                <a:lnTo>
                  <a:pt x="0" y="1605280"/>
                </a:lnTo>
                <a:lnTo>
                  <a:pt x="1524" y="1612646"/>
                </a:lnTo>
                <a:lnTo>
                  <a:pt x="5587" y="1618742"/>
                </a:lnTo>
                <a:lnTo>
                  <a:pt x="11683" y="1622806"/>
                </a:lnTo>
                <a:lnTo>
                  <a:pt x="19050" y="1624330"/>
                </a:lnTo>
                <a:lnTo>
                  <a:pt x="720725" y="1624330"/>
                </a:lnTo>
                <a:lnTo>
                  <a:pt x="720725" y="1605280"/>
                </a:lnTo>
                <a:lnTo>
                  <a:pt x="38100" y="1605280"/>
                </a:lnTo>
                <a:lnTo>
                  <a:pt x="19050" y="1586230"/>
                </a:lnTo>
                <a:lnTo>
                  <a:pt x="38100" y="1586230"/>
                </a:lnTo>
                <a:lnTo>
                  <a:pt x="38100" y="0"/>
                </a:lnTo>
                <a:close/>
              </a:path>
            </a:pathLst>
          </a:custGeom>
          <a:solidFill>
            <a:srgbClr val="D20079"/>
          </a:solidFill>
        </p:spPr>
        <p:txBody>
          <a:bodyPr wrap="square" lIns="0" tIns="0" rIns="0" bIns="0" rtlCol="0"/>
          <a:lstStyle/>
          <a:p>
            <a:endParaRPr/>
          </a:p>
        </p:txBody>
      </p:sp>
      <p:sp>
        <p:nvSpPr>
          <p:cNvPr id="65" name="object 65"/>
          <p:cNvSpPr/>
          <p:nvPr/>
        </p:nvSpPr>
        <p:spPr>
          <a:xfrm>
            <a:off x="2383535" y="4149597"/>
            <a:ext cx="721360" cy="38100"/>
          </a:xfrm>
          <a:custGeom>
            <a:avLst/>
            <a:gdLst/>
            <a:ahLst/>
            <a:cxnLst/>
            <a:rect l="l" t="t" r="r" b="b"/>
            <a:pathLst>
              <a:path w="721360" h="38100">
                <a:moveTo>
                  <a:pt x="701801" y="0"/>
                </a:moveTo>
                <a:lnTo>
                  <a:pt x="0" y="0"/>
                </a:lnTo>
                <a:lnTo>
                  <a:pt x="0" y="19050"/>
                </a:lnTo>
                <a:lnTo>
                  <a:pt x="682625" y="19050"/>
                </a:lnTo>
                <a:lnTo>
                  <a:pt x="701801" y="38100"/>
                </a:lnTo>
                <a:lnTo>
                  <a:pt x="720851" y="38100"/>
                </a:lnTo>
                <a:lnTo>
                  <a:pt x="720851" y="19050"/>
                </a:lnTo>
                <a:lnTo>
                  <a:pt x="719327" y="11683"/>
                </a:lnTo>
                <a:lnTo>
                  <a:pt x="715263" y="5587"/>
                </a:lnTo>
                <a:lnTo>
                  <a:pt x="709168" y="1524"/>
                </a:lnTo>
                <a:lnTo>
                  <a:pt x="701801" y="0"/>
                </a:lnTo>
                <a:close/>
              </a:path>
            </a:pathLst>
          </a:custGeom>
          <a:solidFill>
            <a:srgbClr val="D20079"/>
          </a:solidFill>
        </p:spPr>
        <p:txBody>
          <a:bodyPr wrap="square" lIns="0" tIns="0" rIns="0" bIns="0" rtlCol="0"/>
          <a:lstStyle/>
          <a:p>
            <a:endParaRPr/>
          </a:p>
        </p:txBody>
      </p:sp>
      <p:sp>
        <p:nvSpPr>
          <p:cNvPr id="66" name="object 66"/>
          <p:cNvSpPr/>
          <p:nvPr/>
        </p:nvSpPr>
        <p:spPr>
          <a:xfrm>
            <a:off x="2364485" y="4149597"/>
            <a:ext cx="19050" cy="19050"/>
          </a:xfrm>
          <a:custGeom>
            <a:avLst/>
            <a:gdLst/>
            <a:ahLst/>
            <a:cxnLst/>
            <a:rect l="l" t="t" r="r" b="b"/>
            <a:pathLst>
              <a:path w="19050" h="19050">
                <a:moveTo>
                  <a:pt x="19050" y="0"/>
                </a:moveTo>
                <a:lnTo>
                  <a:pt x="0" y="0"/>
                </a:lnTo>
                <a:lnTo>
                  <a:pt x="19050" y="19050"/>
                </a:lnTo>
                <a:lnTo>
                  <a:pt x="19050" y="0"/>
                </a:lnTo>
                <a:close/>
              </a:path>
            </a:pathLst>
          </a:custGeom>
          <a:solidFill>
            <a:srgbClr val="D20079"/>
          </a:solidFill>
        </p:spPr>
        <p:txBody>
          <a:bodyPr wrap="square" lIns="0" tIns="0" rIns="0" bIns="0" rtlCol="0"/>
          <a:lstStyle/>
          <a:p>
            <a:endParaRPr/>
          </a:p>
        </p:txBody>
      </p:sp>
      <p:sp>
        <p:nvSpPr>
          <p:cNvPr id="67" name="object 67"/>
          <p:cNvSpPr/>
          <p:nvPr/>
        </p:nvSpPr>
        <p:spPr>
          <a:xfrm>
            <a:off x="3028060" y="4946396"/>
            <a:ext cx="105410" cy="114300"/>
          </a:xfrm>
          <a:custGeom>
            <a:avLst/>
            <a:gdLst/>
            <a:ahLst/>
            <a:cxnLst/>
            <a:rect l="l" t="t" r="r" b="b"/>
            <a:pathLst>
              <a:path w="105410" h="114300">
                <a:moveTo>
                  <a:pt x="38100" y="0"/>
                </a:moveTo>
                <a:lnTo>
                  <a:pt x="0" y="0"/>
                </a:lnTo>
                <a:lnTo>
                  <a:pt x="57276" y="114299"/>
                </a:lnTo>
                <a:lnTo>
                  <a:pt x="104901" y="19049"/>
                </a:lnTo>
                <a:lnTo>
                  <a:pt x="38100" y="19049"/>
                </a:lnTo>
                <a:lnTo>
                  <a:pt x="38100" y="0"/>
                </a:lnTo>
                <a:close/>
              </a:path>
            </a:pathLst>
          </a:custGeom>
          <a:solidFill>
            <a:srgbClr val="D20079"/>
          </a:solidFill>
        </p:spPr>
        <p:txBody>
          <a:bodyPr wrap="square" lIns="0" tIns="0" rIns="0" bIns="0" rtlCol="0"/>
          <a:lstStyle/>
          <a:p>
            <a:endParaRPr/>
          </a:p>
        </p:txBody>
      </p:sp>
      <p:sp>
        <p:nvSpPr>
          <p:cNvPr id="68" name="object 68"/>
          <p:cNvSpPr/>
          <p:nvPr/>
        </p:nvSpPr>
        <p:spPr>
          <a:xfrm>
            <a:off x="3066160" y="4882388"/>
            <a:ext cx="38735" cy="83185"/>
          </a:xfrm>
          <a:custGeom>
            <a:avLst/>
            <a:gdLst/>
            <a:ahLst/>
            <a:cxnLst/>
            <a:rect l="l" t="t" r="r" b="b"/>
            <a:pathLst>
              <a:path w="38735" h="83185">
                <a:moveTo>
                  <a:pt x="0" y="0"/>
                </a:moveTo>
                <a:lnTo>
                  <a:pt x="0" y="83057"/>
                </a:lnTo>
                <a:lnTo>
                  <a:pt x="38226" y="83057"/>
                </a:lnTo>
                <a:lnTo>
                  <a:pt x="38226" y="19050"/>
                </a:lnTo>
                <a:lnTo>
                  <a:pt x="19176" y="19050"/>
                </a:lnTo>
                <a:lnTo>
                  <a:pt x="0" y="0"/>
                </a:lnTo>
                <a:close/>
              </a:path>
            </a:pathLst>
          </a:custGeom>
          <a:solidFill>
            <a:srgbClr val="D20079"/>
          </a:solidFill>
        </p:spPr>
        <p:txBody>
          <a:bodyPr wrap="square" lIns="0" tIns="0" rIns="0" bIns="0" rtlCol="0"/>
          <a:lstStyle/>
          <a:p>
            <a:endParaRPr/>
          </a:p>
        </p:txBody>
      </p:sp>
      <p:sp>
        <p:nvSpPr>
          <p:cNvPr id="69" name="object 69"/>
          <p:cNvSpPr/>
          <p:nvPr/>
        </p:nvSpPr>
        <p:spPr>
          <a:xfrm>
            <a:off x="3104388" y="4946396"/>
            <a:ext cx="38100" cy="19050"/>
          </a:xfrm>
          <a:custGeom>
            <a:avLst/>
            <a:gdLst/>
            <a:ahLst/>
            <a:cxnLst/>
            <a:rect l="l" t="t" r="r" b="b"/>
            <a:pathLst>
              <a:path w="38100" h="19050">
                <a:moveTo>
                  <a:pt x="38100" y="0"/>
                </a:moveTo>
                <a:lnTo>
                  <a:pt x="0" y="0"/>
                </a:lnTo>
                <a:lnTo>
                  <a:pt x="0" y="19049"/>
                </a:lnTo>
                <a:lnTo>
                  <a:pt x="28575" y="19049"/>
                </a:lnTo>
                <a:lnTo>
                  <a:pt x="38100" y="0"/>
                </a:lnTo>
                <a:close/>
              </a:path>
            </a:pathLst>
          </a:custGeom>
          <a:solidFill>
            <a:srgbClr val="D20079"/>
          </a:solidFill>
        </p:spPr>
        <p:txBody>
          <a:bodyPr wrap="square" lIns="0" tIns="0" rIns="0" bIns="0" rtlCol="0"/>
          <a:lstStyle/>
          <a:p>
            <a:endParaRPr/>
          </a:p>
        </p:txBody>
      </p:sp>
      <p:sp>
        <p:nvSpPr>
          <p:cNvPr id="70" name="object 70"/>
          <p:cNvSpPr/>
          <p:nvPr/>
        </p:nvSpPr>
        <p:spPr>
          <a:xfrm>
            <a:off x="2345435" y="2563367"/>
            <a:ext cx="720725" cy="2338070"/>
          </a:xfrm>
          <a:custGeom>
            <a:avLst/>
            <a:gdLst/>
            <a:ahLst/>
            <a:cxnLst/>
            <a:rect l="l" t="t" r="r" b="b"/>
            <a:pathLst>
              <a:path w="720725" h="2338070">
                <a:moveTo>
                  <a:pt x="38100" y="0"/>
                </a:moveTo>
                <a:lnTo>
                  <a:pt x="0" y="0"/>
                </a:lnTo>
                <a:lnTo>
                  <a:pt x="0" y="2319020"/>
                </a:lnTo>
                <a:lnTo>
                  <a:pt x="1524" y="2326513"/>
                </a:lnTo>
                <a:lnTo>
                  <a:pt x="5587" y="2332609"/>
                </a:lnTo>
                <a:lnTo>
                  <a:pt x="11683" y="2336673"/>
                </a:lnTo>
                <a:lnTo>
                  <a:pt x="19050" y="2338070"/>
                </a:lnTo>
                <a:lnTo>
                  <a:pt x="720725" y="2338070"/>
                </a:lnTo>
                <a:lnTo>
                  <a:pt x="720725" y="2319020"/>
                </a:lnTo>
                <a:lnTo>
                  <a:pt x="38100" y="2319020"/>
                </a:lnTo>
                <a:lnTo>
                  <a:pt x="19050" y="2300097"/>
                </a:lnTo>
                <a:lnTo>
                  <a:pt x="38100" y="2300097"/>
                </a:lnTo>
                <a:lnTo>
                  <a:pt x="38100" y="0"/>
                </a:lnTo>
                <a:close/>
              </a:path>
            </a:pathLst>
          </a:custGeom>
          <a:solidFill>
            <a:srgbClr val="D20079"/>
          </a:solidFill>
        </p:spPr>
        <p:txBody>
          <a:bodyPr wrap="square" lIns="0" tIns="0" rIns="0" bIns="0" rtlCol="0"/>
          <a:lstStyle/>
          <a:p>
            <a:endParaRPr/>
          </a:p>
        </p:txBody>
      </p:sp>
      <p:sp>
        <p:nvSpPr>
          <p:cNvPr id="71" name="object 71"/>
          <p:cNvSpPr/>
          <p:nvPr/>
        </p:nvSpPr>
        <p:spPr>
          <a:xfrm>
            <a:off x="2383535" y="4863465"/>
            <a:ext cx="721360" cy="38100"/>
          </a:xfrm>
          <a:custGeom>
            <a:avLst/>
            <a:gdLst/>
            <a:ahLst/>
            <a:cxnLst/>
            <a:rect l="l" t="t" r="r" b="b"/>
            <a:pathLst>
              <a:path w="721360" h="38100">
                <a:moveTo>
                  <a:pt x="701801" y="0"/>
                </a:moveTo>
                <a:lnTo>
                  <a:pt x="0" y="0"/>
                </a:lnTo>
                <a:lnTo>
                  <a:pt x="0" y="18923"/>
                </a:lnTo>
                <a:lnTo>
                  <a:pt x="682625" y="18923"/>
                </a:lnTo>
                <a:lnTo>
                  <a:pt x="701801" y="37973"/>
                </a:lnTo>
                <a:lnTo>
                  <a:pt x="720851" y="37973"/>
                </a:lnTo>
                <a:lnTo>
                  <a:pt x="720851" y="18923"/>
                </a:lnTo>
                <a:lnTo>
                  <a:pt x="719327" y="11557"/>
                </a:lnTo>
                <a:lnTo>
                  <a:pt x="715263" y="5461"/>
                </a:lnTo>
                <a:lnTo>
                  <a:pt x="709168" y="1397"/>
                </a:lnTo>
                <a:lnTo>
                  <a:pt x="701801" y="0"/>
                </a:lnTo>
                <a:close/>
              </a:path>
            </a:pathLst>
          </a:custGeom>
          <a:solidFill>
            <a:srgbClr val="D20079"/>
          </a:solidFill>
        </p:spPr>
        <p:txBody>
          <a:bodyPr wrap="square" lIns="0" tIns="0" rIns="0" bIns="0" rtlCol="0"/>
          <a:lstStyle/>
          <a:p>
            <a:endParaRPr/>
          </a:p>
        </p:txBody>
      </p:sp>
      <p:sp>
        <p:nvSpPr>
          <p:cNvPr id="72" name="object 72"/>
          <p:cNvSpPr/>
          <p:nvPr/>
        </p:nvSpPr>
        <p:spPr>
          <a:xfrm>
            <a:off x="2364485" y="4863465"/>
            <a:ext cx="19050" cy="19050"/>
          </a:xfrm>
          <a:custGeom>
            <a:avLst/>
            <a:gdLst/>
            <a:ahLst/>
            <a:cxnLst/>
            <a:rect l="l" t="t" r="r" b="b"/>
            <a:pathLst>
              <a:path w="19050" h="19050">
                <a:moveTo>
                  <a:pt x="19050" y="0"/>
                </a:moveTo>
                <a:lnTo>
                  <a:pt x="0" y="0"/>
                </a:lnTo>
                <a:lnTo>
                  <a:pt x="19050" y="18923"/>
                </a:lnTo>
                <a:lnTo>
                  <a:pt x="19050" y="0"/>
                </a:lnTo>
                <a:close/>
              </a:path>
            </a:pathLst>
          </a:custGeom>
          <a:solidFill>
            <a:srgbClr val="D20079"/>
          </a:solidFill>
        </p:spPr>
        <p:txBody>
          <a:bodyPr wrap="square" lIns="0" tIns="0" rIns="0" bIns="0" rtlCol="0"/>
          <a:lstStyle/>
          <a:p>
            <a:endParaRPr/>
          </a:p>
        </p:txBody>
      </p:sp>
      <p:sp>
        <p:nvSpPr>
          <p:cNvPr id="73" name="object 73"/>
          <p:cNvSpPr/>
          <p:nvPr/>
        </p:nvSpPr>
        <p:spPr>
          <a:xfrm>
            <a:off x="3027679" y="5675045"/>
            <a:ext cx="104775" cy="114300"/>
          </a:xfrm>
          <a:custGeom>
            <a:avLst/>
            <a:gdLst/>
            <a:ahLst/>
            <a:cxnLst/>
            <a:rect l="l" t="t" r="r" b="b"/>
            <a:pathLst>
              <a:path w="104775" h="114300">
                <a:moveTo>
                  <a:pt x="38100" y="0"/>
                </a:moveTo>
                <a:lnTo>
                  <a:pt x="0" y="0"/>
                </a:lnTo>
                <a:lnTo>
                  <a:pt x="57150" y="114249"/>
                </a:lnTo>
                <a:lnTo>
                  <a:pt x="104775" y="19037"/>
                </a:lnTo>
                <a:lnTo>
                  <a:pt x="38100" y="19037"/>
                </a:lnTo>
                <a:lnTo>
                  <a:pt x="38100" y="0"/>
                </a:lnTo>
                <a:close/>
              </a:path>
            </a:pathLst>
          </a:custGeom>
          <a:solidFill>
            <a:srgbClr val="D20079"/>
          </a:solidFill>
        </p:spPr>
        <p:txBody>
          <a:bodyPr wrap="square" lIns="0" tIns="0" rIns="0" bIns="0" rtlCol="0"/>
          <a:lstStyle/>
          <a:p>
            <a:endParaRPr/>
          </a:p>
        </p:txBody>
      </p:sp>
      <p:sp>
        <p:nvSpPr>
          <p:cNvPr id="74" name="object 74"/>
          <p:cNvSpPr/>
          <p:nvPr/>
        </p:nvSpPr>
        <p:spPr>
          <a:xfrm>
            <a:off x="3065779" y="5619572"/>
            <a:ext cx="38100" cy="74930"/>
          </a:xfrm>
          <a:custGeom>
            <a:avLst/>
            <a:gdLst/>
            <a:ahLst/>
            <a:cxnLst/>
            <a:rect l="l" t="t" r="r" b="b"/>
            <a:pathLst>
              <a:path w="38100" h="74929">
                <a:moveTo>
                  <a:pt x="0" y="0"/>
                </a:moveTo>
                <a:lnTo>
                  <a:pt x="0" y="74510"/>
                </a:lnTo>
                <a:lnTo>
                  <a:pt x="38100" y="74510"/>
                </a:lnTo>
                <a:lnTo>
                  <a:pt x="38100" y="19037"/>
                </a:lnTo>
                <a:lnTo>
                  <a:pt x="19050" y="19037"/>
                </a:lnTo>
                <a:lnTo>
                  <a:pt x="0" y="0"/>
                </a:lnTo>
                <a:close/>
              </a:path>
            </a:pathLst>
          </a:custGeom>
          <a:solidFill>
            <a:srgbClr val="D20079"/>
          </a:solidFill>
        </p:spPr>
        <p:txBody>
          <a:bodyPr wrap="square" lIns="0" tIns="0" rIns="0" bIns="0" rtlCol="0"/>
          <a:lstStyle/>
          <a:p>
            <a:endParaRPr/>
          </a:p>
        </p:txBody>
      </p:sp>
      <p:sp>
        <p:nvSpPr>
          <p:cNvPr id="75" name="object 75"/>
          <p:cNvSpPr/>
          <p:nvPr/>
        </p:nvSpPr>
        <p:spPr>
          <a:xfrm>
            <a:off x="3103879" y="5675045"/>
            <a:ext cx="38100" cy="19050"/>
          </a:xfrm>
          <a:custGeom>
            <a:avLst/>
            <a:gdLst/>
            <a:ahLst/>
            <a:cxnLst/>
            <a:rect l="l" t="t" r="r" b="b"/>
            <a:pathLst>
              <a:path w="38100" h="19050">
                <a:moveTo>
                  <a:pt x="38100" y="0"/>
                </a:moveTo>
                <a:lnTo>
                  <a:pt x="0" y="0"/>
                </a:lnTo>
                <a:lnTo>
                  <a:pt x="0" y="19037"/>
                </a:lnTo>
                <a:lnTo>
                  <a:pt x="28575" y="19037"/>
                </a:lnTo>
                <a:lnTo>
                  <a:pt x="38100" y="0"/>
                </a:lnTo>
                <a:close/>
              </a:path>
            </a:pathLst>
          </a:custGeom>
          <a:solidFill>
            <a:srgbClr val="D20079"/>
          </a:solidFill>
        </p:spPr>
        <p:txBody>
          <a:bodyPr wrap="square" lIns="0" tIns="0" rIns="0" bIns="0" rtlCol="0"/>
          <a:lstStyle/>
          <a:p>
            <a:endParaRPr/>
          </a:p>
        </p:txBody>
      </p:sp>
      <p:sp>
        <p:nvSpPr>
          <p:cNvPr id="76" name="object 76"/>
          <p:cNvSpPr/>
          <p:nvPr/>
        </p:nvSpPr>
        <p:spPr>
          <a:xfrm>
            <a:off x="2345435" y="2563367"/>
            <a:ext cx="720725" cy="3075305"/>
          </a:xfrm>
          <a:custGeom>
            <a:avLst/>
            <a:gdLst/>
            <a:ahLst/>
            <a:cxnLst/>
            <a:rect l="l" t="t" r="r" b="b"/>
            <a:pathLst>
              <a:path w="720725" h="3075304">
                <a:moveTo>
                  <a:pt x="38100" y="0"/>
                </a:moveTo>
                <a:lnTo>
                  <a:pt x="0" y="0"/>
                </a:lnTo>
                <a:lnTo>
                  <a:pt x="0" y="3056204"/>
                </a:lnTo>
                <a:lnTo>
                  <a:pt x="1524" y="3063621"/>
                </a:lnTo>
                <a:lnTo>
                  <a:pt x="5587" y="3069678"/>
                </a:lnTo>
                <a:lnTo>
                  <a:pt x="11683" y="3073755"/>
                </a:lnTo>
                <a:lnTo>
                  <a:pt x="19050" y="3075241"/>
                </a:lnTo>
                <a:lnTo>
                  <a:pt x="720344" y="3075241"/>
                </a:lnTo>
                <a:lnTo>
                  <a:pt x="720344" y="3056204"/>
                </a:lnTo>
                <a:lnTo>
                  <a:pt x="38100" y="3056204"/>
                </a:lnTo>
                <a:lnTo>
                  <a:pt x="19050" y="3037154"/>
                </a:lnTo>
                <a:lnTo>
                  <a:pt x="38100" y="3037154"/>
                </a:lnTo>
                <a:lnTo>
                  <a:pt x="38100" y="0"/>
                </a:lnTo>
                <a:close/>
              </a:path>
            </a:pathLst>
          </a:custGeom>
          <a:solidFill>
            <a:srgbClr val="D20079"/>
          </a:solidFill>
        </p:spPr>
        <p:txBody>
          <a:bodyPr wrap="square" lIns="0" tIns="0" rIns="0" bIns="0" rtlCol="0"/>
          <a:lstStyle/>
          <a:p>
            <a:endParaRPr/>
          </a:p>
        </p:txBody>
      </p:sp>
      <p:sp>
        <p:nvSpPr>
          <p:cNvPr id="77" name="object 77"/>
          <p:cNvSpPr/>
          <p:nvPr/>
        </p:nvSpPr>
        <p:spPr>
          <a:xfrm>
            <a:off x="2383535" y="5600522"/>
            <a:ext cx="720725" cy="38100"/>
          </a:xfrm>
          <a:custGeom>
            <a:avLst/>
            <a:gdLst/>
            <a:ahLst/>
            <a:cxnLst/>
            <a:rect l="l" t="t" r="r" b="b"/>
            <a:pathLst>
              <a:path w="720725" h="38100">
                <a:moveTo>
                  <a:pt x="701294" y="0"/>
                </a:moveTo>
                <a:lnTo>
                  <a:pt x="0" y="0"/>
                </a:lnTo>
                <a:lnTo>
                  <a:pt x="0" y="19050"/>
                </a:lnTo>
                <a:lnTo>
                  <a:pt x="682244" y="19050"/>
                </a:lnTo>
                <a:lnTo>
                  <a:pt x="701294" y="38087"/>
                </a:lnTo>
                <a:lnTo>
                  <a:pt x="720344" y="38087"/>
                </a:lnTo>
                <a:lnTo>
                  <a:pt x="720344" y="19050"/>
                </a:lnTo>
                <a:lnTo>
                  <a:pt x="718819" y="11633"/>
                </a:lnTo>
                <a:lnTo>
                  <a:pt x="714756" y="5575"/>
                </a:lnTo>
                <a:lnTo>
                  <a:pt x="708659" y="1498"/>
                </a:lnTo>
                <a:lnTo>
                  <a:pt x="701294" y="0"/>
                </a:lnTo>
                <a:close/>
              </a:path>
            </a:pathLst>
          </a:custGeom>
          <a:solidFill>
            <a:srgbClr val="D20079"/>
          </a:solidFill>
        </p:spPr>
        <p:txBody>
          <a:bodyPr wrap="square" lIns="0" tIns="0" rIns="0" bIns="0" rtlCol="0"/>
          <a:lstStyle/>
          <a:p>
            <a:endParaRPr/>
          </a:p>
        </p:txBody>
      </p:sp>
      <p:sp>
        <p:nvSpPr>
          <p:cNvPr id="78" name="object 78"/>
          <p:cNvSpPr/>
          <p:nvPr/>
        </p:nvSpPr>
        <p:spPr>
          <a:xfrm>
            <a:off x="2364485" y="5600522"/>
            <a:ext cx="19050" cy="19050"/>
          </a:xfrm>
          <a:custGeom>
            <a:avLst/>
            <a:gdLst/>
            <a:ahLst/>
            <a:cxnLst/>
            <a:rect l="l" t="t" r="r" b="b"/>
            <a:pathLst>
              <a:path w="19050" h="19050">
                <a:moveTo>
                  <a:pt x="19050" y="0"/>
                </a:moveTo>
                <a:lnTo>
                  <a:pt x="0" y="0"/>
                </a:lnTo>
                <a:lnTo>
                  <a:pt x="19050" y="19050"/>
                </a:lnTo>
                <a:lnTo>
                  <a:pt x="19050" y="0"/>
                </a:lnTo>
                <a:close/>
              </a:path>
            </a:pathLst>
          </a:custGeom>
          <a:solidFill>
            <a:srgbClr val="D20079"/>
          </a:solidFill>
        </p:spPr>
        <p:txBody>
          <a:bodyPr wrap="square" lIns="0" tIns="0" rIns="0" bIns="0" rtlCol="0"/>
          <a:lstStyle/>
          <a:p>
            <a:endParaRPr/>
          </a:p>
        </p:txBody>
      </p:sp>
      <p:sp>
        <p:nvSpPr>
          <p:cNvPr id="79" name="object 79"/>
          <p:cNvSpPr/>
          <p:nvPr/>
        </p:nvSpPr>
        <p:spPr>
          <a:xfrm>
            <a:off x="565404" y="2154935"/>
            <a:ext cx="3599815" cy="408305"/>
          </a:xfrm>
          <a:custGeom>
            <a:avLst/>
            <a:gdLst/>
            <a:ahLst/>
            <a:cxnLst/>
            <a:rect l="l" t="t" r="r" b="b"/>
            <a:pathLst>
              <a:path w="3599815" h="408305">
                <a:moveTo>
                  <a:pt x="3531489" y="0"/>
                </a:moveTo>
                <a:lnTo>
                  <a:pt x="68072" y="0"/>
                </a:lnTo>
                <a:lnTo>
                  <a:pt x="41579" y="5334"/>
                </a:lnTo>
                <a:lnTo>
                  <a:pt x="19939" y="19938"/>
                </a:lnTo>
                <a:lnTo>
                  <a:pt x="5346" y="41528"/>
                </a:lnTo>
                <a:lnTo>
                  <a:pt x="0" y="67944"/>
                </a:lnTo>
                <a:lnTo>
                  <a:pt x="0" y="339978"/>
                </a:lnTo>
                <a:lnTo>
                  <a:pt x="5346" y="366394"/>
                </a:lnTo>
                <a:lnTo>
                  <a:pt x="19939" y="387985"/>
                </a:lnTo>
                <a:lnTo>
                  <a:pt x="41579" y="402589"/>
                </a:lnTo>
                <a:lnTo>
                  <a:pt x="68072" y="407924"/>
                </a:lnTo>
                <a:lnTo>
                  <a:pt x="3531489" y="407924"/>
                </a:lnTo>
                <a:lnTo>
                  <a:pt x="3558032" y="402589"/>
                </a:lnTo>
                <a:lnTo>
                  <a:pt x="3579622" y="387985"/>
                </a:lnTo>
                <a:lnTo>
                  <a:pt x="3594227" y="366394"/>
                </a:lnTo>
                <a:lnTo>
                  <a:pt x="3599561" y="339978"/>
                </a:lnTo>
                <a:lnTo>
                  <a:pt x="3599561" y="67944"/>
                </a:lnTo>
                <a:lnTo>
                  <a:pt x="3594227" y="41528"/>
                </a:lnTo>
                <a:lnTo>
                  <a:pt x="3579622" y="19938"/>
                </a:lnTo>
                <a:lnTo>
                  <a:pt x="3558032" y="5334"/>
                </a:lnTo>
                <a:lnTo>
                  <a:pt x="3531489" y="0"/>
                </a:lnTo>
                <a:close/>
              </a:path>
            </a:pathLst>
          </a:custGeom>
          <a:solidFill>
            <a:srgbClr val="12215B"/>
          </a:solidFill>
        </p:spPr>
        <p:txBody>
          <a:bodyPr wrap="square" lIns="0" tIns="0" rIns="0" bIns="0" rtlCol="0"/>
          <a:lstStyle/>
          <a:p>
            <a:endParaRPr/>
          </a:p>
        </p:txBody>
      </p:sp>
      <p:sp>
        <p:nvSpPr>
          <p:cNvPr id="80" name="object 80"/>
          <p:cNvSpPr/>
          <p:nvPr/>
        </p:nvSpPr>
        <p:spPr>
          <a:xfrm>
            <a:off x="566166" y="2155698"/>
            <a:ext cx="3599815" cy="408305"/>
          </a:xfrm>
          <a:custGeom>
            <a:avLst/>
            <a:gdLst/>
            <a:ahLst/>
            <a:cxnLst/>
            <a:rect l="l" t="t" r="r" b="b"/>
            <a:pathLst>
              <a:path w="3599815" h="408305">
                <a:moveTo>
                  <a:pt x="0" y="67944"/>
                </a:moveTo>
                <a:lnTo>
                  <a:pt x="5346" y="41528"/>
                </a:lnTo>
                <a:lnTo>
                  <a:pt x="19939" y="19938"/>
                </a:lnTo>
                <a:lnTo>
                  <a:pt x="41579" y="5334"/>
                </a:lnTo>
                <a:lnTo>
                  <a:pt x="68072" y="0"/>
                </a:lnTo>
                <a:lnTo>
                  <a:pt x="3531489" y="0"/>
                </a:lnTo>
                <a:lnTo>
                  <a:pt x="3558032" y="5334"/>
                </a:lnTo>
                <a:lnTo>
                  <a:pt x="3579622" y="19938"/>
                </a:lnTo>
                <a:lnTo>
                  <a:pt x="3594227" y="41528"/>
                </a:lnTo>
                <a:lnTo>
                  <a:pt x="3599561" y="67944"/>
                </a:lnTo>
                <a:lnTo>
                  <a:pt x="3599561" y="339978"/>
                </a:lnTo>
                <a:lnTo>
                  <a:pt x="3594227" y="366394"/>
                </a:lnTo>
                <a:lnTo>
                  <a:pt x="3579622" y="387985"/>
                </a:lnTo>
                <a:lnTo>
                  <a:pt x="3558032" y="402589"/>
                </a:lnTo>
                <a:lnTo>
                  <a:pt x="3531489" y="407924"/>
                </a:lnTo>
                <a:lnTo>
                  <a:pt x="68072" y="407924"/>
                </a:lnTo>
                <a:lnTo>
                  <a:pt x="41579" y="402589"/>
                </a:lnTo>
                <a:lnTo>
                  <a:pt x="19939" y="387985"/>
                </a:lnTo>
                <a:lnTo>
                  <a:pt x="5346" y="366394"/>
                </a:lnTo>
                <a:lnTo>
                  <a:pt x="0" y="339978"/>
                </a:lnTo>
                <a:lnTo>
                  <a:pt x="0" y="67944"/>
                </a:lnTo>
                <a:close/>
              </a:path>
            </a:pathLst>
          </a:custGeom>
          <a:ln w="25907">
            <a:solidFill>
              <a:srgbClr val="091741"/>
            </a:solidFill>
          </a:ln>
        </p:spPr>
        <p:txBody>
          <a:bodyPr wrap="square" lIns="0" tIns="0" rIns="0" bIns="0" rtlCol="0"/>
          <a:lstStyle/>
          <a:p>
            <a:endParaRPr/>
          </a:p>
        </p:txBody>
      </p:sp>
      <p:sp>
        <p:nvSpPr>
          <p:cNvPr id="81" name="object 81"/>
          <p:cNvSpPr txBox="1"/>
          <p:nvPr/>
        </p:nvSpPr>
        <p:spPr>
          <a:xfrm>
            <a:off x="1417700" y="2226232"/>
            <a:ext cx="2160905" cy="280035"/>
          </a:xfrm>
          <a:prstGeom prst="rect">
            <a:avLst/>
          </a:prstGeom>
        </p:spPr>
        <p:txBody>
          <a:bodyPr vert="horz" wrap="square" lIns="0" tIns="0" rIns="0" bIns="0" rtlCol="0">
            <a:spAutoFit/>
          </a:bodyPr>
          <a:lstStyle/>
          <a:p>
            <a:pPr marL="12700">
              <a:lnSpc>
                <a:spcPct val="100000"/>
              </a:lnSpc>
            </a:pPr>
            <a:r>
              <a:rPr sz="2000" b="1" spc="-5" dirty="0">
                <a:solidFill>
                  <a:srgbClr val="FFFFFF"/>
                </a:solidFill>
                <a:latin typeface="微软雅黑"/>
                <a:cs typeface="微软雅黑"/>
              </a:rPr>
              <a:t>H</a:t>
            </a:r>
            <a:r>
              <a:rPr sz="2000" b="1" spc="-10" dirty="0">
                <a:solidFill>
                  <a:srgbClr val="FFFFFF"/>
                </a:solidFill>
                <a:latin typeface="微软雅黑"/>
                <a:cs typeface="微软雅黑"/>
              </a:rPr>
              <a:t>a</a:t>
            </a:r>
            <a:r>
              <a:rPr sz="2000" b="1" dirty="0">
                <a:solidFill>
                  <a:srgbClr val="FFFFFF"/>
                </a:solidFill>
                <a:latin typeface="微软雅黑"/>
                <a:cs typeface="微软雅黑"/>
              </a:rPr>
              <a:t>nd</a:t>
            </a:r>
            <a:r>
              <a:rPr sz="2000" b="1" spc="-10" dirty="0">
                <a:solidFill>
                  <a:srgbClr val="FFFFFF"/>
                </a:solidFill>
                <a:latin typeface="微软雅黑"/>
                <a:cs typeface="微软雅黑"/>
              </a:rPr>
              <a:t>l</a:t>
            </a:r>
            <a:r>
              <a:rPr sz="2000" b="1" dirty="0">
                <a:solidFill>
                  <a:srgbClr val="FFFFFF"/>
                </a:solidFill>
                <a:latin typeface="微软雅黑"/>
                <a:cs typeface="微软雅黑"/>
              </a:rPr>
              <a:t>e</a:t>
            </a:r>
            <a:r>
              <a:rPr sz="2000" b="1" spc="-85" dirty="0">
                <a:solidFill>
                  <a:srgbClr val="FFFFFF"/>
                </a:solidFill>
                <a:latin typeface="微软雅黑"/>
                <a:cs typeface="微软雅黑"/>
              </a:rPr>
              <a:t> </a:t>
            </a:r>
            <a:r>
              <a:rPr sz="2000" b="1" dirty="0">
                <a:solidFill>
                  <a:srgbClr val="FFFFFF"/>
                </a:solidFill>
                <a:latin typeface="微软雅黑"/>
                <a:cs typeface="微软雅黑"/>
              </a:rPr>
              <a:t>s</a:t>
            </a:r>
            <a:r>
              <a:rPr sz="2000" b="1" spc="-10" dirty="0">
                <a:solidFill>
                  <a:srgbClr val="FFFFFF"/>
                </a:solidFill>
                <a:latin typeface="微软雅黑"/>
                <a:cs typeface="微软雅黑"/>
              </a:rPr>
              <a:t>t</a:t>
            </a:r>
            <a:r>
              <a:rPr sz="2000" b="1" dirty="0">
                <a:solidFill>
                  <a:srgbClr val="FFFFFF"/>
                </a:solidFill>
                <a:latin typeface="微软雅黑"/>
                <a:cs typeface="微软雅黑"/>
              </a:rPr>
              <a:t>ruc</a:t>
            </a:r>
            <a:r>
              <a:rPr sz="2000" b="1" spc="-10" dirty="0">
                <a:solidFill>
                  <a:srgbClr val="FFFFFF"/>
                </a:solidFill>
                <a:latin typeface="微软雅黑"/>
                <a:cs typeface="微软雅黑"/>
              </a:rPr>
              <a:t>t</a:t>
            </a:r>
            <a:r>
              <a:rPr sz="2000" b="1" dirty="0">
                <a:solidFill>
                  <a:srgbClr val="FFFFFF"/>
                </a:solidFill>
                <a:latin typeface="微软雅黑"/>
                <a:cs typeface="微软雅黑"/>
              </a:rPr>
              <a:t>u</a:t>
            </a:r>
            <a:r>
              <a:rPr sz="2000" b="1" spc="-15" dirty="0">
                <a:solidFill>
                  <a:srgbClr val="FFFFFF"/>
                </a:solidFill>
                <a:latin typeface="微软雅黑"/>
                <a:cs typeface="微软雅黑"/>
              </a:rPr>
              <a:t>r</a:t>
            </a:r>
            <a:r>
              <a:rPr sz="2000" b="1" dirty="0">
                <a:solidFill>
                  <a:srgbClr val="FFFFFF"/>
                </a:solidFill>
                <a:latin typeface="微软雅黑"/>
                <a:cs typeface="微软雅黑"/>
              </a:rPr>
              <a:t>e</a:t>
            </a:r>
            <a:endParaRPr sz="2000">
              <a:latin typeface="微软雅黑"/>
              <a:cs typeface="微软雅黑"/>
            </a:endParaRPr>
          </a:p>
        </p:txBody>
      </p:sp>
      <p:sp>
        <p:nvSpPr>
          <p:cNvPr id="82" name="object 82"/>
          <p:cNvSpPr/>
          <p:nvPr/>
        </p:nvSpPr>
        <p:spPr>
          <a:xfrm>
            <a:off x="963167" y="2874264"/>
            <a:ext cx="3923029" cy="410209"/>
          </a:xfrm>
          <a:custGeom>
            <a:avLst/>
            <a:gdLst/>
            <a:ahLst/>
            <a:cxnLst/>
            <a:rect l="l" t="t" r="r" b="b"/>
            <a:pathLst>
              <a:path w="3923029" h="410210">
                <a:moveTo>
                  <a:pt x="3848227" y="0"/>
                </a:moveTo>
                <a:lnTo>
                  <a:pt x="74460" y="0"/>
                </a:lnTo>
                <a:lnTo>
                  <a:pt x="45478" y="5334"/>
                </a:lnTo>
                <a:lnTo>
                  <a:pt x="21805" y="20065"/>
                </a:lnTo>
                <a:lnTo>
                  <a:pt x="5854" y="41656"/>
                </a:lnTo>
                <a:lnTo>
                  <a:pt x="0" y="68325"/>
                </a:lnTo>
                <a:lnTo>
                  <a:pt x="0" y="341375"/>
                </a:lnTo>
                <a:lnTo>
                  <a:pt x="5854" y="368046"/>
                </a:lnTo>
                <a:lnTo>
                  <a:pt x="21805" y="389636"/>
                </a:lnTo>
                <a:lnTo>
                  <a:pt x="45478" y="404368"/>
                </a:lnTo>
                <a:lnTo>
                  <a:pt x="74460" y="409701"/>
                </a:lnTo>
                <a:lnTo>
                  <a:pt x="3848227" y="409701"/>
                </a:lnTo>
                <a:lnTo>
                  <a:pt x="3877182" y="404368"/>
                </a:lnTo>
                <a:lnTo>
                  <a:pt x="3900804" y="389636"/>
                </a:lnTo>
                <a:lnTo>
                  <a:pt x="3916806" y="368046"/>
                </a:lnTo>
                <a:lnTo>
                  <a:pt x="3922649" y="341375"/>
                </a:lnTo>
                <a:lnTo>
                  <a:pt x="3922649" y="68325"/>
                </a:lnTo>
                <a:lnTo>
                  <a:pt x="3916806" y="41656"/>
                </a:lnTo>
                <a:lnTo>
                  <a:pt x="3900804" y="20065"/>
                </a:lnTo>
                <a:lnTo>
                  <a:pt x="3877182" y="5334"/>
                </a:lnTo>
                <a:lnTo>
                  <a:pt x="3848227" y="0"/>
                </a:lnTo>
                <a:close/>
              </a:path>
            </a:pathLst>
          </a:custGeom>
          <a:solidFill>
            <a:srgbClr val="39A9DC"/>
          </a:solidFill>
        </p:spPr>
        <p:txBody>
          <a:bodyPr wrap="square" lIns="0" tIns="0" rIns="0" bIns="0" rtlCol="0"/>
          <a:lstStyle/>
          <a:p>
            <a:endParaRPr/>
          </a:p>
        </p:txBody>
      </p:sp>
      <p:sp>
        <p:nvSpPr>
          <p:cNvPr id="83" name="object 83"/>
          <p:cNvSpPr/>
          <p:nvPr/>
        </p:nvSpPr>
        <p:spPr>
          <a:xfrm>
            <a:off x="963930" y="2875026"/>
            <a:ext cx="3923029" cy="410209"/>
          </a:xfrm>
          <a:custGeom>
            <a:avLst/>
            <a:gdLst/>
            <a:ahLst/>
            <a:cxnLst/>
            <a:rect l="l" t="t" r="r" b="b"/>
            <a:pathLst>
              <a:path w="3923029" h="410210">
                <a:moveTo>
                  <a:pt x="0" y="68325"/>
                </a:moveTo>
                <a:lnTo>
                  <a:pt x="5854" y="41656"/>
                </a:lnTo>
                <a:lnTo>
                  <a:pt x="21805" y="20065"/>
                </a:lnTo>
                <a:lnTo>
                  <a:pt x="45478" y="5334"/>
                </a:lnTo>
                <a:lnTo>
                  <a:pt x="74460" y="0"/>
                </a:lnTo>
                <a:lnTo>
                  <a:pt x="3848227" y="0"/>
                </a:lnTo>
                <a:lnTo>
                  <a:pt x="3877182" y="5334"/>
                </a:lnTo>
                <a:lnTo>
                  <a:pt x="3900804" y="20065"/>
                </a:lnTo>
                <a:lnTo>
                  <a:pt x="3916806" y="41656"/>
                </a:lnTo>
                <a:lnTo>
                  <a:pt x="3922649" y="68325"/>
                </a:lnTo>
                <a:lnTo>
                  <a:pt x="3922649" y="341375"/>
                </a:lnTo>
                <a:lnTo>
                  <a:pt x="3916806" y="368046"/>
                </a:lnTo>
                <a:lnTo>
                  <a:pt x="3900804" y="389636"/>
                </a:lnTo>
                <a:lnTo>
                  <a:pt x="3877182" y="404368"/>
                </a:lnTo>
                <a:lnTo>
                  <a:pt x="3848227" y="409701"/>
                </a:lnTo>
                <a:lnTo>
                  <a:pt x="74460" y="409701"/>
                </a:lnTo>
                <a:lnTo>
                  <a:pt x="45478" y="404368"/>
                </a:lnTo>
                <a:lnTo>
                  <a:pt x="21805" y="389636"/>
                </a:lnTo>
                <a:lnTo>
                  <a:pt x="5854" y="368046"/>
                </a:lnTo>
                <a:lnTo>
                  <a:pt x="0" y="341375"/>
                </a:lnTo>
                <a:lnTo>
                  <a:pt x="0" y="68325"/>
                </a:lnTo>
                <a:close/>
              </a:path>
            </a:pathLst>
          </a:custGeom>
          <a:ln w="25908">
            <a:solidFill>
              <a:srgbClr val="27799F"/>
            </a:solidFill>
          </a:ln>
        </p:spPr>
        <p:txBody>
          <a:bodyPr wrap="square" lIns="0" tIns="0" rIns="0" bIns="0" rtlCol="0"/>
          <a:lstStyle/>
          <a:p>
            <a:endParaRPr/>
          </a:p>
        </p:txBody>
      </p:sp>
      <p:sp>
        <p:nvSpPr>
          <p:cNvPr id="84" name="object 84"/>
          <p:cNvSpPr txBox="1"/>
          <p:nvPr/>
        </p:nvSpPr>
        <p:spPr>
          <a:xfrm>
            <a:off x="1873123" y="2956482"/>
            <a:ext cx="2622550" cy="280035"/>
          </a:xfrm>
          <a:prstGeom prst="rect">
            <a:avLst/>
          </a:prstGeom>
        </p:spPr>
        <p:txBody>
          <a:bodyPr vert="horz" wrap="square" lIns="0" tIns="0" rIns="0" bIns="0" rtlCol="0">
            <a:spAutoFit/>
          </a:bodyPr>
          <a:lstStyle/>
          <a:p>
            <a:pPr marL="12700">
              <a:lnSpc>
                <a:spcPct val="100000"/>
              </a:lnSpc>
            </a:pPr>
            <a:r>
              <a:rPr sz="2000" b="1" spc="-5" dirty="0">
                <a:solidFill>
                  <a:srgbClr val="FFFFFF"/>
                </a:solidFill>
                <a:latin typeface="微软雅黑"/>
                <a:cs typeface="微软雅黑"/>
              </a:rPr>
              <a:t>In</a:t>
            </a:r>
            <a:r>
              <a:rPr sz="2000" b="1" spc="-10" dirty="0">
                <a:solidFill>
                  <a:srgbClr val="FFFFFF"/>
                </a:solidFill>
                <a:latin typeface="微软雅黑"/>
                <a:cs typeface="微软雅黑"/>
              </a:rPr>
              <a:t>s</a:t>
            </a:r>
            <a:r>
              <a:rPr sz="2000" b="1" spc="-5" dirty="0">
                <a:solidFill>
                  <a:srgbClr val="FFFFFF"/>
                </a:solidFill>
                <a:latin typeface="微软雅黑"/>
                <a:cs typeface="微软雅黑"/>
              </a:rPr>
              <a:t>t</a:t>
            </a:r>
            <a:r>
              <a:rPr sz="2000" b="1" spc="-10" dirty="0">
                <a:solidFill>
                  <a:srgbClr val="FFFFFF"/>
                </a:solidFill>
                <a:latin typeface="微软雅黑"/>
                <a:cs typeface="微软雅黑"/>
              </a:rPr>
              <a:t>a</a:t>
            </a:r>
            <a:r>
              <a:rPr sz="2000" b="1" spc="5" dirty="0">
                <a:solidFill>
                  <a:srgbClr val="FFFFFF"/>
                </a:solidFill>
                <a:latin typeface="微软雅黑"/>
                <a:cs typeface="微软雅黑"/>
              </a:rPr>
              <a:t>n</a:t>
            </a:r>
            <a:r>
              <a:rPr sz="2000" b="1" spc="-5" dirty="0">
                <a:solidFill>
                  <a:srgbClr val="FFFFFF"/>
                </a:solidFill>
                <a:latin typeface="微软雅黑"/>
                <a:cs typeface="微软雅黑"/>
              </a:rPr>
              <a:t>ce</a:t>
            </a:r>
            <a:r>
              <a:rPr sz="2000" b="1" dirty="0">
                <a:solidFill>
                  <a:srgbClr val="FFFFFF"/>
                </a:solidFill>
                <a:latin typeface="微软雅黑"/>
                <a:cs typeface="微软雅黑"/>
              </a:rPr>
              <a:t>（外设实</a:t>
            </a:r>
            <a:r>
              <a:rPr sz="2000" b="1" spc="-15" dirty="0">
                <a:solidFill>
                  <a:srgbClr val="FFFFFF"/>
                </a:solidFill>
                <a:latin typeface="微软雅黑"/>
                <a:cs typeface="微软雅黑"/>
              </a:rPr>
              <a:t>例</a:t>
            </a:r>
            <a:r>
              <a:rPr sz="2000" b="1" dirty="0">
                <a:solidFill>
                  <a:srgbClr val="FFFFFF"/>
                </a:solidFill>
                <a:latin typeface="微软雅黑"/>
                <a:cs typeface="微软雅黑"/>
              </a:rPr>
              <a:t>）</a:t>
            </a:r>
            <a:endParaRPr sz="2000">
              <a:latin typeface="微软雅黑"/>
              <a:cs typeface="微软雅黑"/>
            </a:endParaRPr>
          </a:p>
        </p:txBody>
      </p:sp>
      <p:sp>
        <p:nvSpPr>
          <p:cNvPr id="85" name="object 85"/>
          <p:cNvSpPr/>
          <p:nvPr/>
        </p:nvSpPr>
        <p:spPr>
          <a:xfrm>
            <a:off x="963167" y="3602735"/>
            <a:ext cx="3923029" cy="410209"/>
          </a:xfrm>
          <a:custGeom>
            <a:avLst/>
            <a:gdLst/>
            <a:ahLst/>
            <a:cxnLst/>
            <a:rect l="l" t="t" r="r" b="b"/>
            <a:pathLst>
              <a:path w="3923029" h="410210">
                <a:moveTo>
                  <a:pt x="3848227" y="0"/>
                </a:moveTo>
                <a:lnTo>
                  <a:pt x="74460" y="0"/>
                </a:lnTo>
                <a:lnTo>
                  <a:pt x="45478" y="5333"/>
                </a:lnTo>
                <a:lnTo>
                  <a:pt x="21805" y="20065"/>
                </a:lnTo>
                <a:lnTo>
                  <a:pt x="5854" y="41656"/>
                </a:lnTo>
                <a:lnTo>
                  <a:pt x="0" y="68325"/>
                </a:lnTo>
                <a:lnTo>
                  <a:pt x="0" y="341375"/>
                </a:lnTo>
                <a:lnTo>
                  <a:pt x="5854" y="368045"/>
                </a:lnTo>
                <a:lnTo>
                  <a:pt x="21805" y="389636"/>
                </a:lnTo>
                <a:lnTo>
                  <a:pt x="45478" y="404368"/>
                </a:lnTo>
                <a:lnTo>
                  <a:pt x="74460" y="409701"/>
                </a:lnTo>
                <a:lnTo>
                  <a:pt x="3848227" y="409701"/>
                </a:lnTo>
                <a:lnTo>
                  <a:pt x="3877182" y="404368"/>
                </a:lnTo>
                <a:lnTo>
                  <a:pt x="3900804" y="389636"/>
                </a:lnTo>
                <a:lnTo>
                  <a:pt x="3916806" y="368045"/>
                </a:lnTo>
                <a:lnTo>
                  <a:pt x="3922649" y="341375"/>
                </a:lnTo>
                <a:lnTo>
                  <a:pt x="3922649" y="68325"/>
                </a:lnTo>
                <a:lnTo>
                  <a:pt x="3916806" y="41656"/>
                </a:lnTo>
                <a:lnTo>
                  <a:pt x="3900804" y="20065"/>
                </a:lnTo>
                <a:lnTo>
                  <a:pt x="3877182" y="5333"/>
                </a:lnTo>
                <a:lnTo>
                  <a:pt x="3848227" y="0"/>
                </a:lnTo>
                <a:close/>
              </a:path>
            </a:pathLst>
          </a:custGeom>
          <a:solidFill>
            <a:srgbClr val="39A9DC"/>
          </a:solidFill>
        </p:spPr>
        <p:txBody>
          <a:bodyPr wrap="square" lIns="0" tIns="0" rIns="0" bIns="0" rtlCol="0"/>
          <a:lstStyle/>
          <a:p>
            <a:endParaRPr/>
          </a:p>
        </p:txBody>
      </p:sp>
      <p:sp>
        <p:nvSpPr>
          <p:cNvPr id="86" name="object 86"/>
          <p:cNvSpPr/>
          <p:nvPr/>
        </p:nvSpPr>
        <p:spPr>
          <a:xfrm>
            <a:off x="963930" y="3603497"/>
            <a:ext cx="3923029" cy="410209"/>
          </a:xfrm>
          <a:custGeom>
            <a:avLst/>
            <a:gdLst/>
            <a:ahLst/>
            <a:cxnLst/>
            <a:rect l="l" t="t" r="r" b="b"/>
            <a:pathLst>
              <a:path w="3923029" h="410210">
                <a:moveTo>
                  <a:pt x="0" y="68325"/>
                </a:moveTo>
                <a:lnTo>
                  <a:pt x="5854" y="41656"/>
                </a:lnTo>
                <a:lnTo>
                  <a:pt x="21805" y="20065"/>
                </a:lnTo>
                <a:lnTo>
                  <a:pt x="45478" y="5333"/>
                </a:lnTo>
                <a:lnTo>
                  <a:pt x="74460" y="0"/>
                </a:lnTo>
                <a:lnTo>
                  <a:pt x="3848227" y="0"/>
                </a:lnTo>
                <a:lnTo>
                  <a:pt x="3877182" y="5333"/>
                </a:lnTo>
                <a:lnTo>
                  <a:pt x="3900804" y="20065"/>
                </a:lnTo>
                <a:lnTo>
                  <a:pt x="3916806" y="41656"/>
                </a:lnTo>
                <a:lnTo>
                  <a:pt x="3922649" y="68325"/>
                </a:lnTo>
                <a:lnTo>
                  <a:pt x="3922649" y="341375"/>
                </a:lnTo>
                <a:lnTo>
                  <a:pt x="3916806" y="368045"/>
                </a:lnTo>
                <a:lnTo>
                  <a:pt x="3900804" y="389635"/>
                </a:lnTo>
                <a:lnTo>
                  <a:pt x="3877182" y="404368"/>
                </a:lnTo>
                <a:lnTo>
                  <a:pt x="3848227" y="409701"/>
                </a:lnTo>
                <a:lnTo>
                  <a:pt x="74460" y="409701"/>
                </a:lnTo>
                <a:lnTo>
                  <a:pt x="45478" y="404368"/>
                </a:lnTo>
                <a:lnTo>
                  <a:pt x="21805" y="389635"/>
                </a:lnTo>
                <a:lnTo>
                  <a:pt x="5854" y="368045"/>
                </a:lnTo>
                <a:lnTo>
                  <a:pt x="0" y="341375"/>
                </a:lnTo>
                <a:lnTo>
                  <a:pt x="0" y="68325"/>
                </a:lnTo>
                <a:close/>
              </a:path>
            </a:pathLst>
          </a:custGeom>
          <a:ln w="25908">
            <a:solidFill>
              <a:srgbClr val="27799F"/>
            </a:solidFill>
          </a:ln>
        </p:spPr>
        <p:txBody>
          <a:bodyPr wrap="square" lIns="0" tIns="0" rIns="0" bIns="0" rtlCol="0"/>
          <a:lstStyle/>
          <a:p>
            <a:endParaRPr/>
          </a:p>
        </p:txBody>
      </p:sp>
      <p:sp>
        <p:nvSpPr>
          <p:cNvPr id="87" name="object 87"/>
          <p:cNvSpPr txBox="1"/>
          <p:nvPr/>
        </p:nvSpPr>
        <p:spPr>
          <a:xfrm>
            <a:off x="1075436" y="3683176"/>
            <a:ext cx="3900170" cy="280035"/>
          </a:xfrm>
          <a:prstGeom prst="rect">
            <a:avLst/>
          </a:prstGeom>
        </p:spPr>
        <p:txBody>
          <a:bodyPr vert="horz" wrap="square" lIns="0" tIns="0" rIns="0" bIns="0" rtlCol="0">
            <a:spAutoFit/>
          </a:bodyPr>
          <a:lstStyle/>
          <a:p>
            <a:pPr marL="12700">
              <a:lnSpc>
                <a:spcPct val="100000"/>
              </a:lnSpc>
            </a:pPr>
            <a:r>
              <a:rPr sz="2000" b="1" spc="-5" dirty="0">
                <a:solidFill>
                  <a:srgbClr val="FFFFFF"/>
                </a:solidFill>
                <a:latin typeface="微软雅黑"/>
                <a:cs typeface="微软雅黑"/>
              </a:rPr>
              <a:t>Ini</a:t>
            </a:r>
            <a:r>
              <a:rPr sz="2000" b="1" spc="-15" dirty="0">
                <a:solidFill>
                  <a:srgbClr val="FFFFFF"/>
                </a:solidFill>
                <a:latin typeface="微软雅黑"/>
                <a:cs typeface="微软雅黑"/>
              </a:rPr>
              <a:t>t</a:t>
            </a:r>
            <a:r>
              <a:rPr sz="2000" b="1" dirty="0">
                <a:solidFill>
                  <a:srgbClr val="FFFFFF"/>
                </a:solidFill>
                <a:latin typeface="微软雅黑"/>
                <a:cs typeface="微软雅黑"/>
              </a:rPr>
              <a:t>i</a:t>
            </a:r>
            <a:r>
              <a:rPr sz="2000" b="1" spc="-15" dirty="0">
                <a:solidFill>
                  <a:srgbClr val="FFFFFF"/>
                </a:solidFill>
                <a:latin typeface="微软雅黑"/>
                <a:cs typeface="微软雅黑"/>
              </a:rPr>
              <a:t>a</a:t>
            </a:r>
            <a:r>
              <a:rPr sz="2000" b="1" dirty="0">
                <a:solidFill>
                  <a:srgbClr val="FFFFFF"/>
                </a:solidFill>
                <a:latin typeface="微软雅黑"/>
                <a:cs typeface="微软雅黑"/>
              </a:rPr>
              <a:t>l</a:t>
            </a:r>
            <a:r>
              <a:rPr sz="2000" b="1" spc="-10" dirty="0">
                <a:solidFill>
                  <a:srgbClr val="FFFFFF"/>
                </a:solidFill>
                <a:latin typeface="微软雅黑"/>
                <a:cs typeface="微软雅黑"/>
              </a:rPr>
              <a:t>i</a:t>
            </a:r>
            <a:r>
              <a:rPr sz="2000" b="1" dirty="0">
                <a:solidFill>
                  <a:srgbClr val="FFFFFF"/>
                </a:solidFill>
                <a:latin typeface="微软雅黑"/>
                <a:cs typeface="微软雅黑"/>
              </a:rPr>
              <a:t>za</a:t>
            </a:r>
            <a:r>
              <a:rPr sz="2000" b="1" spc="-10" dirty="0">
                <a:solidFill>
                  <a:srgbClr val="FFFFFF"/>
                </a:solidFill>
                <a:latin typeface="微软雅黑"/>
                <a:cs typeface="微软雅黑"/>
              </a:rPr>
              <a:t>t</a:t>
            </a:r>
            <a:r>
              <a:rPr sz="2000" b="1" spc="-20" dirty="0">
                <a:solidFill>
                  <a:srgbClr val="FFFFFF"/>
                </a:solidFill>
                <a:latin typeface="微软雅黑"/>
                <a:cs typeface="微软雅黑"/>
              </a:rPr>
              <a:t>i</a:t>
            </a:r>
            <a:r>
              <a:rPr sz="2000" b="1" spc="-10" dirty="0">
                <a:solidFill>
                  <a:srgbClr val="FFFFFF"/>
                </a:solidFill>
                <a:latin typeface="微软雅黑"/>
                <a:cs typeface="微软雅黑"/>
              </a:rPr>
              <a:t>o</a:t>
            </a:r>
            <a:r>
              <a:rPr sz="2000" b="1" spc="-5" dirty="0">
                <a:solidFill>
                  <a:srgbClr val="FFFFFF"/>
                </a:solidFill>
                <a:latin typeface="微软雅黑"/>
                <a:cs typeface="微软雅黑"/>
              </a:rPr>
              <a:t>n</a:t>
            </a:r>
            <a:r>
              <a:rPr sz="2000" b="1" dirty="0">
                <a:solidFill>
                  <a:srgbClr val="FFFFFF"/>
                </a:solidFill>
                <a:latin typeface="微软雅黑"/>
                <a:cs typeface="微软雅黑"/>
              </a:rPr>
              <a:t>（初始化</a:t>
            </a:r>
            <a:r>
              <a:rPr sz="2000" b="1" spc="-15" dirty="0">
                <a:solidFill>
                  <a:srgbClr val="FFFFFF"/>
                </a:solidFill>
                <a:latin typeface="微软雅黑"/>
                <a:cs typeface="微软雅黑"/>
              </a:rPr>
              <a:t>配</a:t>
            </a:r>
            <a:r>
              <a:rPr sz="2000" b="1" dirty="0">
                <a:solidFill>
                  <a:srgbClr val="FFFFFF"/>
                </a:solidFill>
                <a:latin typeface="微软雅黑"/>
                <a:cs typeface="微软雅黑"/>
              </a:rPr>
              <a:t>置参数）</a:t>
            </a:r>
            <a:endParaRPr sz="2000">
              <a:latin typeface="微软雅黑"/>
              <a:cs typeface="微软雅黑"/>
            </a:endParaRPr>
          </a:p>
        </p:txBody>
      </p:sp>
      <p:sp>
        <p:nvSpPr>
          <p:cNvPr id="88" name="object 88"/>
          <p:cNvSpPr/>
          <p:nvPr/>
        </p:nvSpPr>
        <p:spPr>
          <a:xfrm>
            <a:off x="976883" y="4332732"/>
            <a:ext cx="3909060" cy="410209"/>
          </a:xfrm>
          <a:custGeom>
            <a:avLst/>
            <a:gdLst/>
            <a:ahLst/>
            <a:cxnLst/>
            <a:rect l="l" t="t" r="r" b="b"/>
            <a:pathLst>
              <a:path w="3909060" h="410210">
                <a:moveTo>
                  <a:pt x="3834765" y="0"/>
                </a:moveTo>
                <a:lnTo>
                  <a:pt x="74193" y="0"/>
                </a:lnTo>
                <a:lnTo>
                  <a:pt x="45313" y="5334"/>
                </a:lnTo>
                <a:lnTo>
                  <a:pt x="21729" y="20066"/>
                </a:lnTo>
                <a:lnTo>
                  <a:pt x="5829" y="41656"/>
                </a:lnTo>
                <a:lnTo>
                  <a:pt x="0" y="68326"/>
                </a:lnTo>
                <a:lnTo>
                  <a:pt x="0" y="341376"/>
                </a:lnTo>
                <a:lnTo>
                  <a:pt x="5829" y="368046"/>
                </a:lnTo>
                <a:lnTo>
                  <a:pt x="21729" y="389636"/>
                </a:lnTo>
                <a:lnTo>
                  <a:pt x="45313" y="404368"/>
                </a:lnTo>
                <a:lnTo>
                  <a:pt x="74193" y="409702"/>
                </a:lnTo>
                <a:lnTo>
                  <a:pt x="3834765" y="409702"/>
                </a:lnTo>
                <a:lnTo>
                  <a:pt x="3863593" y="404368"/>
                </a:lnTo>
                <a:lnTo>
                  <a:pt x="3887216" y="389636"/>
                </a:lnTo>
                <a:lnTo>
                  <a:pt x="3903091" y="368046"/>
                </a:lnTo>
                <a:lnTo>
                  <a:pt x="3908932" y="341376"/>
                </a:lnTo>
                <a:lnTo>
                  <a:pt x="3908932" y="68326"/>
                </a:lnTo>
                <a:lnTo>
                  <a:pt x="3903091" y="41656"/>
                </a:lnTo>
                <a:lnTo>
                  <a:pt x="3887216" y="20066"/>
                </a:lnTo>
                <a:lnTo>
                  <a:pt x="3863593" y="5334"/>
                </a:lnTo>
                <a:lnTo>
                  <a:pt x="3834765" y="0"/>
                </a:lnTo>
                <a:close/>
              </a:path>
            </a:pathLst>
          </a:custGeom>
          <a:solidFill>
            <a:srgbClr val="39A9DC"/>
          </a:solidFill>
        </p:spPr>
        <p:txBody>
          <a:bodyPr wrap="square" lIns="0" tIns="0" rIns="0" bIns="0" rtlCol="0"/>
          <a:lstStyle/>
          <a:p>
            <a:endParaRPr/>
          </a:p>
        </p:txBody>
      </p:sp>
      <p:sp>
        <p:nvSpPr>
          <p:cNvPr id="89" name="object 89"/>
          <p:cNvSpPr/>
          <p:nvPr/>
        </p:nvSpPr>
        <p:spPr>
          <a:xfrm>
            <a:off x="963930" y="4333494"/>
            <a:ext cx="3923029" cy="410209"/>
          </a:xfrm>
          <a:custGeom>
            <a:avLst/>
            <a:gdLst/>
            <a:ahLst/>
            <a:cxnLst/>
            <a:rect l="l" t="t" r="r" b="b"/>
            <a:pathLst>
              <a:path w="3923029" h="410210">
                <a:moveTo>
                  <a:pt x="0" y="68325"/>
                </a:moveTo>
                <a:lnTo>
                  <a:pt x="5854" y="41655"/>
                </a:lnTo>
                <a:lnTo>
                  <a:pt x="21805" y="20065"/>
                </a:lnTo>
                <a:lnTo>
                  <a:pt x="45478" y="5333"/>
                </a:lnTo>
                <a:lnTo>
                  <a:pt x="74460" y="0"/>
                </a:lnTo>
                <a:lnTo>
                  <a:pt x="3848227" y="0"/>
                </a:lnTo>
                <a:lnTo>
                  <a:pt x="3877182" y="5333"/>
                </a:lnTo>
                <a:lnTo>
                  <a:pt x="3900804" y="20065"/>
                </a:lnTo>
                <a:lnTo>
                  <a:pt x="3916806" y="41655"/>
                </a:lnTo>
                <a:lnTo>
                  <a:pt x="3922649" y="68325"/>
                </a:lnTo>
                <a:lnTo>
                  <a:pt x="3922649" y="341375"/>
                </a:lnTo>
                <a:lnTo>
                  <a:pt x="3916806" y="368045"/>
                </a:lnTo>
                <a:lnTo>
                  <a:pt x="3900804" y="389635"/>
                </a:lnTo>
                <a:lnTo>
                  <a:pt x="3877182" y="404367"/>
                </a:lnTo>
                <a:lnTo>
                  <a:pt x="3848227" y="409701"/>
                </a:lnTo>
                <a:lnTo>
                  <a:pt x="74460" y="409701"/>
                </a:lnTo>
                <a:lnTo>
                  <a:pt x="45478" y="404367"/>
                </a:lnTo>
                <a:lnTo>
                  <a:pt x="21805" y="389635"/>
                </a:lnTo>
                <a:lnTo>
                  <a:pt x="5854" y="368045"/>
                </a:lnTo>
                <a:lnTo>
                  <a:pt x="0" y="341375"/>
                </a:lnTo>
                <a:lnTo>
                  <a:pt x="0" y="68325"/>
                </a:lnTo>
                <a:close/>
              </a:path>
            </a:pathLst>
          </a:custGeom>
          <a:ln w="25908">
            <a:solidFill>
              <a:srgbClr val="27799F"/>
            </a:solidFill>
          </a:ln>
        </p:spPr>
        <p:txBody>
          <a:bodyPr wrap="square" lIns="0" tIns="0" rIns="0" bIns="0" rtlCol="0"/>
          <a:lstStyle/>
          <a:p>
            <a:endParaRPr/>
          </a:p>
        </p:txBody>
      </p:sp>
      <p:sp>
        <p:nvSpPr>
          <p:cNvPr id="90" name="object 90"/>
          <p:cNvSpPr txBox="1"/>
          <p:nvPr/>
        </p:nvSpPr>
        <p:spPr>
          <a:xfrm>
            <a:off x="1828038" y="4411902"/>
            <a:ext cx="2342515" cy="280035"/>
          </a:xfrm>
          <a:prstGeom prst="rect">
            <a:avLst/>
          </a:prstGeom>
        </p:spPr>
        <p:txBody>
          <a:bodyPr vert="horz" wrap="square" lIns="0" tIns="0" rIns="0" bIns="0" rtlCol="0">
            <a:spAutoFit/>
          </a:bodyPr>
          <a:lstStyle/>
          <a:p>
            <a:pPr marL="12700">
              <a:lnSpc>
                <a:spcPct val="100000"/>
              </a:lnSpc>
            </a:pPr>
            <a:r>
              <a:rPr sz="2000" b="1" spc="-70" dirty="0">
                <a:solidFill>
                  <a:srgbClr val="FFFFFF"/>
                </a:solidFill>
                <a:latin typeface="微软雅黑"/>
                <a:cs typeface="微软雅黑"/>
              </a:rPr>
              <a:t>S</a:t>
            </a:r>
            <a:r>
              <a:rPr sz="2000" b="1" spc="-15" dirty="0">
                <a:solidFill>
                  <a:srgbClr val="FFFFFF"/>
                </a:solidFill>
                <a:latin typeface="微软雅黑"/>
                <a:cs typeface="微软雅黑"/>
              </a:rPr>
              <a:t>t</a:t>
            </a:r>
            <a:r>
              <a:rPr sz="2000" b="1" dirty="0">
                <a:solidFill>
                  <a:srgbClr val="FFFFFF"/>
                </a:solidFill>
                <a:latin typeface="微软雅黑"/>
                <a:cs typeface="微软雅黑"/>
              </a:rPr>
              <a:t>atu</a:t>
            </a:r>
            <a:r>
              <a:rPr sz="2000" b="1" spc="-20" dirty="0">
                <a:solidFill>
                  <a:srgbClr val="FFFFFF"/>
                </a:solidFill>
                <a:latin typeface="微软雅黑"/>
                <a:cs typeface="微软雅黑"/>
              </a:rPr>
              <a:t>s</a:t>
            </a:r>
            <a:r>
              <a:rPr sz="2000" b="1" dirty="0">
                <a:solidFill>
                  <a:srgbClr val="FFFFFF"/>
                </a:solidFill>
                <a:latin typeface="微软雅黑"/>
                <a:cs typeface="微软雅黑"/>
              </a:rPr>
              <a:t>（外设状态）</a:t>
            </a:r>
            <a:endParaRPr sz="2000">
              <a:latin typeface="微软雅黑"/>
              <a:cs typeface="微软雅黑"/>
            </a:endParaRPr>
          </a:p>
        </p:txBody>
      </p:sp>
      <p:sp>
        <p:nvSpPr>
          <p:cNvPr id="91" name="object 91"/>
          <p:cNvSpPr/>
          <p:nvPr/>
        </p:nvSpPr>
        <p:spPr>
          <a:xfrm>
            <a:off x="976883" y="5061203"/>
            <a:ext cx="3909060" cy="410209"/>
          </a:xfrm>
          <a:custGeom>
            <a:avLst/>
            <a:gdLst/>
            <a:ahLst/>
            <a:cxnLst/>
            <a:rect l="l" t="t" r="r" b="b"/>
            <a:pathLst>
              <a:path w="3909060" h="410210">
                <a:moveTo>
                  <a:pt x="3834765" y="0"/>
                </a:moveTo>
                <a:lnTo>
                  <a:pt x="74193" y="0"/>
                </a:lnTo>
                <a:lnTo>
                  <a:pt x="45313" y="5334"/>
                </a:lnTo>
                <a:lnTo>
                  <a:pt x="21729" y="20066"/>
                </a:lnTo>
                <a:lnTo>
                  <a:pt x="5829" y="41656"/>
                </a:lnTo>
                <a:lnTo>
                  <a:pt x="0" y="68326"/>
                </a:lnTo>
                <a:lnTo>
                  <a:pt x="0" y="341376"/>
                </a:lnTo>
                <a:lnTo>
                  <a:pt x="5829" y="368046"/>
                </a:lnTo>
                <a:lnTo>
                  <a:pt x="21729" y="389636"/>
                </a:lnTo>
                <a:lnTo>
                  <a:pt x="45313" y="404368"/>
                </a:lnTo>
                <a:lnTo>
                  <a:pt x="74193" y="409702"/>
                </a:lnTo>
                <a:lnTo>
                  <a:pt x="3834765" y="409702"/>
                </a:lnTo>
                <a:lnTo>
                  <a:pt x="3863593" y="404368"/>
                </a:lnTo>
                <a:lnTo>
                  <a:pt x="3887216" y="389636"/>
                </a:lnTo>
                <a:lnTo>
                  <a:pt x="3903091" y="368046"/>
                </a:lnTo>
                <a:lnTo>
                  <a:pt x="3908932" y="341376"/>
                </a:lnTo>
                <a:lnTo>
                  <a:pt x="3908932" y="68326"/>
                </a:lnTo>
                <a:lnTo>
                  <a:pt x="3903091" y="41656"/>
                </a:lnTo>
                <a:lnTo>
                  <a:pt x="3887216" y="20066"/>
                </a:lnTo>
                <a:lnTo>
                  <a:pt x="3863593" y="5334"/>
                </a:lnTo>
                <a:lnTo>
                  <a:pt x="3834765" y="0"/>
                </a:lnTo>
                <a:close/>
              </a:path>
            </a:pathLst>
          </a:custGeom>
          <a:solidFill>
            <a:srgbClr val="39A9DC"/>
          </a:solidFill>
        </p:spPr>
        <p:txBody>
          <a:bodyPr wrap="square" lIns="0" tIns="0" rIns="0" bIns="0" rtlCol="0"/>
          <a:lstStyle/>
          <a:p>
            <a:endParaRPr/>
          </a:p>
        </p:txBody>
      </p:sp>
      <p:sp>
        <p:nvSpPr>
          <p:cNvPr id="92" name="object 92"/>
          <p:cNvSpPr/>
          <p:nvPr/>
        </p:nvSpPr>
        <p:spPr>
          <a:xfrm>
            <a:off x="963930" y="5061965"/>
            <a:ext cx="3923029" cy="410209"/>
          </a:xfrm>
          <a:custGeom>
            <a:avLst/>
            <a:gdLst/>
            <a:ahLst/>
            <a:cxnLst/>
            <a:rect l="l" t="t" r="r" b="b"/>
            <a:pathLst>
              <a:path w="3923029" h="410210">
                <a:moveTo>
                  <a:pt x="0" y="68325"/>
                </a:moveTo>
                <a:lnTo>
                  <a:pt x="5854" y="41655"/>
                </a:lnTo>
                <a:lnTo>
                  <a:pt x="21805" y="20065"/>
                </a:lnTo>
                <a:lnTo>
                  <a:pt x="45478" y="5333"/>
                </a:lnTo>
                <a:lnTo>
                  <a:pt x="74460" y="0"/>
                </a:lnTo>
                <a:lnTo>
                  <a:pt x="3848227" y="0"/>
                </a:lnTo>
                <a:lnTo>
                  <a:pt x="3877182" y="5333"/>
                </a:lnTo>
                <a:lnTo>
                  <a:pt x="3900804" y="20065"/>
                </a:lnTo>
                <a:lnTo>
                  <a:pt x="3916806" y="41655"/>
                </a:lnTo>
                <a:lnTo>
                  <a:pt x="3922649" y="68325"/>
                </a:lnTo>
                <a:lnTo>
                  <a:pt x="3922649" y="341375"/>
                </a:lnTo>
                <a:lnTo>
                  <a:pt x="3916806" y="368045"/>
                </a:lnTo>
                <a:lnTo>
                  <a:pt x="3900804" y="389635"/>
                </a:lnTo>
                <a:lnTo>
                  <a:pt x="3877182" y="404367"/>
                </a:lnTo>
                <a:lnTo>
                  <a:pt x="3848227" y="409701"/>
                </a:lnTo>
                <a:lnTo>
                  <a:pt x="74460" y="409701"/>
                </a:lnTo>
                <a:lnTo>
                  <a:pt x="45478" y="404367"/>
                </a:lnTo>
                <a:lnTo>
                  <a:pt x="21805" y="389635"/>
                </a:lnTo>
                <a:lnTo>
                  <a:pt x="5854" y="368045"/>
                </a:lnTo>
                <a:lnTo>
                  <a:pt x="0" y="341375"/>
                </a:lnTo>
                <a:lnTo>
                  <a:pt x="0" y="68325"/>
                </a:lnTo>
                <a:close/>
              </a:path>
            </a:pathLst>
          </a:custGeom>
          <a:ln w="25908">
            <a:solidFill>
              <a:srgbClr val="27799F"/>
            </a:solidFill>
          </a:ln>
        </p:spPr>
        <p:txBody>
          <a:bodyPr wrap="square" lIns="0" tIns="0" rIns="0" bIns="0" rtlCol="0"/>
          <a:lstStyle/>
          <a:p>
            <a:endParaRPr/>
          </a:p>
        </p:txBody>
      </p:sp>
      <p:sp>
        <p:nvSpPr>
          <p:cNvPr id="93" name="object 93"/>
          <p:cNvSpPr txBox="1"/>
          <p:nvPr/>
        </p:nvSpPr>
        <p:spPr>
          <a:xfrm>
            <a:off x="1940179" y="5137961"/>
            <a:ext cx="1699260" cy="280035"/>
          </a:xfrm>
          <a:prstGeom prst="rect">
            <a:avLst/>
          </a:prstGeom>
        </p:spPr>
        <p:txBody>
          <a:bodyPr vert="horz" wrap="square" lIns="0" tIns="0" rIns="0" bIns="0" rtlCol="0">
            <a:spAutoFit/>
          </a:bodyPr>
          <a:lstStyle/>
          <a:p>
            <a:pPr marL="12700">
              <a:lnSpc>
                <a:spcPct val="100000"/>
              </a:lnSpc>
            </a:pPr>
            <a:r>
              <a:rPr sz="2000" b="1" dirty="0">
                <a:solidFill>
                  <a:srgbClr val="FFFFFF"/>
                </a:solidFill>
                <a:latin typeface="微软雅黑"/>
                <a:cs typeface="微软雅黑"/>
              </a:rPr>
              <a:t>DMA通道句柄</a:t>
            </a:r>
            <a:endParaRPr sz="2000">
              <a:latin typeface="微软雅黑"/>
              <a:cs typeface="微软雅黑"/>
            </a:endParaRPr>
          </a:p>
        </p:txBody>
      </p:sp>
      <p:sp>
        <p:nvSpPr>
          <p:cNvPr id="94" name="object 94"/>
          <p:cNvSpPr/>
          <p:nvPr/>
        </p:nvSpPr>
        <p:spPr>
          <a:xfrm>
            <a:off x="976883" y="5791200"/>
            <a:ext cx="3909060" cy="410209"/>
          </a:xfrm>
          <a:custGeom>
            <a:avLst/>
            <a:gdLst/>
            <a:ahLst/>
            <a:cxnLst/>
            <a:rect l="l" t="t" r="r" b="b"/>
            <a:pathLst>
              <a:path w="3909060" h="410210">
                <a:moveTo>
                  <a:pt x="3834765" y="0"/>
                </a:moveTo>
                <a:lnTo>
                  <a:pt x="74193" y="0"/>
                </a:lnTo>
                <a:lnTo>
                  <a:pt x="45313" y="5372"/>
                </a:lnTo>
                <a:lnTo>
                  <a:pt x="21729" y="20002"/>
                </a:lnTo>
                <a:lnTo>
                  <a:pt x="5829" y="41706"/>
                </a:lnTo>
                <a:lnTo>
                  <a:pt x="0" y="68287"/>
                </a:lnTo>
                <a:lnTo>
                  <a:pt x="0" y="341414"/>
                </a:lnTo>
                <a:lnTo>
                  <a:pt x="5829" y="367995"/>
                </a:lnTo>
                <a:lnTo>
                  <a:pt x="21729" y="389699"/>
                </a:lnTo>
                <a:lnTo>
                  <a:pt x="45313" y="404329"/>
                </a:lnTo>
                <a:lnTo>
                  <a:pt x="74193" y="409702"/>
                </a:lnTo>
                <a:lnTo>
                  <a:pt x="3834765" y="409702"/>
                </a:lnTo>
                <a:lnTo>
                  <a:pt x="3863593" y="404329"/>
                </a:lnTo>
                <a:lnTo>
                  <a:pt x="3887216" y="389699"/>
                </a:lnTo>
                <a:lnTo>
                  <a:pt x="3903091" y="367995"/>
                </a:lnTo>
                <a:lnTo>
                  <a:pt x="3908932" y="341414"/>
                </a:lnTo>
                <a:lnTo>
                  <a:pt x="3908932" y="68287"/>
                </a:lnTo>
                <a:lnTo>
                  <a:pt x="3903091" y="41706"/>
                </a:lnTo>
                <a:lnTo>
                  <a:pt x="3887216" y="20002"/>
                </a:lnTo>
                <a:lnTo>
                  <a:pt x="3863593" y="5372"/>
                </a:lnTo>
                <a:lnTo>
                  <a:pt x="3834765" y="0"/>
                </a:lnTo>
                <a:close/>
              </a:path>
            </a:pathLst>
          </a:custGeom>
          <a:solidFill>
            <a:srgbClr val="39A9DC"/>
          </a:solidFill>
        </p:spPr>
        <p:txBody>
          <a:bodyPr wrap="square" lIns="0" tIns="0" rIns="0" bIns="0" rtlCol="0"/>
          <a:lstStyle/>
          <a:p>
            <a:endParaRPr/>
          </a:p>
        </p:txBody>
      </p:sp>
      <p:sp>
        <p:nvSpPr>
          <p:cNvPr id="95" name="object 95"/>
          <p:cNvSpPr/>
          <p:nvPr/>
        </p:nvSpPr>
        <p:spPr>
          <a:xfrm>
            <a:off x="977646" y="5791961"/>
            <a:ext cx="3909060" cy="410209"/>
          </a:xfrm>
          <a:custGeom>
            <a:avLst/>
            <a:gdLst/>
            <a:ahLst/>
            <a:cxnLst/>
            <a:rect l="l" t="t" r="r" b="b"/>
            <a:pathLst>
              <a:path w="3909060" h="410210">
                <a:moveTo>
                  <a:pt x="0" y="68287"/>
                </a:moveTo>
                <a:lnTo>
                  <a:pt x="5829" y="41706"/>
                </a:lnTo>
                <a:lnTo>
                  <a:pt x="21729" y="20002"/>
                </a:lnTo>
                <a:lnTo>
                  <a:pt x="45313" y="5372"/>
                </a:lnTo>
                <a:lnTo>
                  <a:pt x="74193" y="0"/>
                </a:lnTo>
                <a:lnTo>
                  <a:pt x="3834765" y="0"/>
                </a:lnTo>
                <a:lnTo>
                  <a:pt x="3863593" y="5372"/>
                </a:lnTo>
                <a:lnTo>
                  <a:pt x="3887216" y="20002"/>
                </a:lnTo>
                <a:lnTo>
                  <a:pt x="3903091" y="41706"/>
                </a:lnTo>
                <a:lnTo>
                  <a:pt x="3908932" y="68287"/>
                </a:lnTo>
                <a:lnTo>
                  <a:pt x="3908932" y="341414"/>
                </a:lnTo>
                <a:lnTo>
                  <a:pt x="3903091" y="367995"/>
                </a:lnTo>
                <a:lnTo>
                  <a:pt x="3887216" y="389699"/>
                </a:lnTo>
                <a:lnTo>
                  <a:pt x="3863593" y="404329"/>
                </a:lnTo>
                <a:lnTo>
                  <a:pt x="3834765" y="409702"/>
                </a:lnTo>
                <a:lnTo>
                  <a:pt x="74193" y="409702"/>
                </a:lnTo>
                <a:lnTo>
                  <a:pt x="45313" y="404329"/>
                </a:lnTo>
                <a:lnTo>
                  <a:pt x="21729" y="389699"/>
                </a:lnTo>
                <a:lnTo>
                  <a:pt x="5829" y="367995"/>
                </a:lnTo>
                <a:lnTo>
                  <a:pt x="0" y="341414"/>
                </a:lnTo>
                <a:lnTo>
                  <a:pt x="0" y="68287"/>
                </a:lnTo>
                <a:close/>
              </a:path>
            </a:pathLst>
          </a:custGeom>
          <a:ln w="25908">
            <a:solidFill>
              <a:srgbClr val="27799F"/>
            </a:solidFill>
          </a:ln>
        </p:spPr>
        <p:txBody>
          <a:bodyPr wrap="square" lIns="0" tIns="0" rIns="0" bIns="0" rtlCol="0"/>
          <a:lstStyle/>
          <a:p>
            <a:endParaRPr/>
          </a:p>
        </p:txBody>
      </p:sp>
      <p:sp>
        <p:nvSpPr>
          <p:cNvPr id="96" name="object 96"/>
          <p:cNvSpPr txBox="1"/>
          <p:nvPr/>
        </p:nvSpPr>
        <p:spPr>
          <a:xfrm>
            <a:off x="1517141" y="5873529"/>
            <a:ext cx="3003550" cy="280670"/>
          </a:xfrm>
          <a:prstGeom prst="rect">
            <a:avLst/>
          </a:prstGeom>
        </p:spPr>
        <p:txBody>
          <a:bodyPr vert="horz" wrap="square" lIns="0" tIns="0" rIns="0" bIns="0" rtlCol="0">
            <a:spAutoFit/>
          </a:bodyPr>
          <a:lstStyle/>
          <a:p>
            <a:pPr marL="12700">
              <a:lnSpc>
                <a:spcPct val="100000"/>
              </a:lnSpc>
            </a:pPr>
            <a:r>
              <a:rPr sz="2000" b="1" spc="-5" dirty="0">
                <a:solidFill>
                  <a:srgbClr val="FFFFFF"/>
                </a:solidFill>
                <a:latin typeface="微软雅黑"/>
                <a:cs typeface="微软雅黑"/>
              </a:rPr>
              <a:t>I/</a:t>
            </a:r>
            <a:r>
              <a:rPr sz="2000" b="1" spc="5" dirty="0">
                <a:solidFill>
                  <a:srgbClr val="FFFFFF"/>
                </a:solidFill>
                <a:latin typeface="微软雅黑"/>
                <a:cs typeface="微软雅黑"/>
              </a:rPr>
              <a:t>O</a:t>
            </a:r>
            <a:r>
              <a:rPr sz="2000" b="1" dirty="0">
                <a:solidFill>
                  <a:srgbClr val="FFFFFF"/>
                </a:solidFill>
                <a:latin typeface="微软雅黑"/>
                <a:cs typeface="微软雅黑"/>
              </a:rPr>
              <a:t> Buffe</a:t>
            </a:r>
            <a:r>
              <a:rPr sz="2000" b="1" spc="-5" dirty="0">
                <a:solidFill>
                  <a:srgbClr val="FFFFFF"/>
                </a:solidFill>
                <a:latin typeface="微软雅黑"/>
                <a:cs typeface="微软雅黑"/>
              </a:rPr>
              <a:t>r</a:t>
            </a:r>
            <a:r>
              <a:rPr sz="2000" b="1" dirty="0">
                <a:solidFill>
                  <a:srgbClr val="FFFFFF"/>
                </a:solidFill>
                <a:latin typeface="微软雅黑"/>
                <a:cs typeface="微软雅黑"/>
              </a:rPr>
              <a:t>（</a:t>
            </a:r>
            <a:r>
              <a:rPr sz="2000" b="1" spc="-5" dirty="0">
                <a:solidFill>
                  <a:srgbClr val="FFFFFF"/>
                </a:solidFill>
                <a:latin typeface="微软雅黑"/>
                <a:cs typeface="微软雅黑"/>
              </a:rPr>
              <a:t>I/O</a:t>
            </a:r>
            <a:r>
              <a:rPr sz="2000" b="1" dirty="0">
                <a:solidFill>
                  <a:srgbClr val="FFFFFF"/>
                </a:solidFill>
                <a:latin typeface="微软雅黑"/>
                <a:cs typeface="微软雅黑"/>
              </a:rPr>
              <a:t>缓冲区）</a:t>
            </a:r>
            <a:endParaRPr sz="2000">
              <a:latin typeface="微软雅黑"/>
              <a:cs typeface="微软雅黑"/>
            </a:endParaRPr>
          </a:p>
        </p:txBody>
      </p:sp>
      <p:sp>
        <p:nvSpPr>
          <p:cNvPr id="97" name="object 97"/>
          <p:cNvSpPr/>
          <p:nvPr/>
        </p:nvSpPr>
        <p:spPr>
          <a:xfrm>
            <a:off x="5606796" y="2874264"/>
            <a:ext cx="2159635" cy="410209"/>
          </a:xfrm>
          <a:custGeom>
            <a:avLst/>
            <a:gdLst/>
            <a:ahLst/>
            <a:cxnLst/>
            <a:rect l="l" t="t" r="r" b="b"/>
            <a:pathLst>
              <a:path w="2159634" h="410210">
                <a:moveTo>
                  <a:pt x="2091054" y="0"/>
                </a:moveTo>
                <a:lnTo>
                  <a:pt x="68325" y="0"/>
                </a:lnTo>
                <a:lnTo>
                  <a:pt x="41782" y="5334"/>
                </a:lnTo>
                <a:lnTo>
                  <a:pt x="20065" y="20065"/>
                </a:lnTo>
                <a:lnTo>
                  <a:pt x="5333" y="41656"/>
                </a:lnTo>
                <a:lnTo>
                  <a:pt x="0" y="68325"/>
                </a:lnTo>
                <a:lnTo>
                  <a:pt x="0" y="341375"/>
                </a:lnTo>
                <a:lnTo>
                  <a:pt x="5333" y="368046"/>
                </a:lnTo>
                <a:lnTo>
                  <a:pt x="20065" y="389636"/>
                </a:lnTo>
                <a:lnTo>
                  <a:pt x="41782" y="404368"/>
                </a:lnTo>
                <a:lnTo>
                  <a:pt x="68325" y="409701"/>
                </a:lnTo>
                <a:lnTo>
                  <a:pt x="2091054" y="409701"/>
                </a:lnTo>
                <a:lnTo>
                  <a:pt x="2117598" y="404368"/>
                </a:lnTo>
                <a:lnTo>
                  <a:pt x="2139314" y="389636"/>
                </a:lnTo>
                <a:lnTo>
                  <a:pt x="2154047" y="368046"/>
                </a:lnTo>
                <a:lnTo>
                  <a:pt x="2159380" y="341375"/>
                </a:lnTo>
                <a:lnTo>
                  <a:pt x="2159380" y="68325"/>
                </a:lnTo>
                <a:lnTo>
                  <a:pt x="2154047" y="41656"/>
                </a:lnTo>
                <a:lnTo>
                  <a:pt x="2139314" y="20065"/>
                </a:lnTo>
                <a:lnTo>
                  <a:pt x="2117598" y="5334"/>
                </a:lnTo>
                <a:lnTo>
                  <a:pt x="2091054" y="0"/>
                </a:lnTo>
                <a:close/>
              </a:path>
            </a:pathLst>
          </a:custGeom>
          <a:solidFill>
            <a:srgbClr val="B9CC00"/>
          </a:solidFill>
        </p:spPr>
        <p:txBody>
          <a:bodyPr wrap="square" lIns="0" tIns="0" rIns="0" bIns="0" rtlCol="0"/>
          <a:lstStyle/>
          <a:p>
            <a:endParaRPr/>
          </a:p>
        </p:txBody>
      </p:sp>
      <p:sp>
        <p:nvSpPr>
          <p:cNvPr id="98" name="object 98"/>
          <p:cNvSpPr/>
          <p:nvPr/>
        </p:nvSpPr>
        <p:spPr>
          <a:xfrm>
            <a:off x="5607558" y="2875026"/>
            <a:ext cx="2159635" cy="410209"/>
          </a:xfrm>
          <a:custGeom>
            <a:avLst/>
            <a:gdLst/>
            <a:ahLst/>
            <a:cxnLst/>
            <a:rect l="l" t="t" r="r" b="b"/>
            <a:pathLst>
              <a:path w="2159634" h="410210">
                <a:moveTo>
                  <a:pt x="0" y="68325"/>
                </a:moveTo>
                <a:lnTo>
                  <a:pt x="5333" y="41656"/>
                </a:lnTo>
                <a:lnTo>
                  <a:pt x="20065" y="20065"/>
                </a:lnTo>
                <a:lnTo>
                  <a:pt x="41782" y="5334"/>
                </a:lnTo>
                <a:lnTo>
                  <a:pt x="68325" y="0"/>
                </a:lnTo>
                <a:lnTo>
                  <a:pt x="2091055" y="0"/>
                </a:lnTo>
                <a:lnTo>
                  <a:pt x="2117597" y="5334"/>
                </a:lnTo>
                <a:lnTo>
                  <a:pt x="2139315" y="20065"/>
                </a:lnTo>
                <a:lnTo>
                  <a:pt x="2154046" y="41656"/>
                </a:lnTo>
                <a:lnTo>
                  <a:pt x="2159381" y="68325"/>
                </a:lnTo>
                <a:lnTo>
                  <a:pt x="2159381" y="341375"/>
                </a:lnTo>
                <a:lnTo>
                  <a:pt x="2154046" y="368046"/>
                </a:lnTo>
                <a:lnTo>
                  <a:pt x="2139315" y="389636"/>
                </a:lnTo>
                <a:lnTo>
                  <a:pt x="2117597" y="404368"/>
                </a:lnTo>
                <a:lnTo>
                  <a:pt x="2091055" y="409701"/>
                </a:lnTo>
                <a:lnTo>
                  <a:pt x="68325" y="409701"/>
                </a:lnTo>
                <a:lnTo>
                  <a:pt x="41782" y="404368"/>
                </a:lnTo>
                <a:lnTo>
                  <a:pt x="20065" y="389636"/>
                </a:lnTo>
                <a:lnTo>
                  <a:pt x="5333" y="368046"/>
                </a:lnTo>
                <a:lnTo>
                  <a:pt x="0" y="341375"/>
                </a:lnTo>
                <a:lnTo>
                  <a:pt x="0" y="68325"/>
                </a:lnTo>
                <a:close/>
              </a:path>
            </a:pathLst>
          </a:custGeom>
          <a:ln w="25908">
            <a:solidFill>
              <a:srgbClr val="879300"/>
            </a:solidFill>
          </a:ln>
        </p:spPr>
        <p:txBody>
          <a:bodyPr wrap="square" lIns="0" tIns="0" rIns="0" bIns="0" rtlCol="0"/>
          <a:lstStyle/>
          <a:p>
            <a:endParaRPr/>
          </a:p>
        </p:txBody>
      </p:sp>
      <p:sp>
        <p:nvSpPr>
          <p:cNvPr id="99" name="object 99"/>
          <p:cNvSpPr txBox="1"/>
          <p:nvPr/>
        </p:nvSpPr>
        <p:spPr>
          <a:xfrm>
            <a:off x="6289040" y="2946830"/>
            <a:ext cx="897890" cy="280035"/>
          </a:xfrm>
          <a:prstGeom prst="rect">
            <a:avLst/>
          </a:prstGeom>
        </p:spPr>
        <p:txBody>
          <a:bodyPr vert="horz" wrap="square" lIns="0" tIns="0" rIns="0" bIns="0" rtlCol="0">
            <a:spAutoFit/>
          </a:bodyPr>
          <a:lstStyle/>
          <a:p>
            <a:pPr marL="12700">
              <a:lnSpc>
                <a:spcPct val="100000"/>
              </a:lnSpc>
            </a:pPr>
            <a:r>
              <a:rPr sz="2000" b="1" spc="-45" dirty="0">
                <a:latin typeface="微软雅黑"/>
                <a:cs typeface="微软雅黑"/>
              </a:rPr>
              <a:t>U</a:t>
            </a:r>
            <a:r>
              <a:rPr sz="2000" b="1" dirty="0">
                <a:latin typeface="微软雅黑"/>
                <a:cs typeface="微软雅黑"/>
              </a:rPr>
              <a:t>A</a:t>
            </a:r>
            <a:r>
              <a:rPr sz="2000" b="1" spc="-40" dirty="0">
                <a:latin typeface="微软雅黑"/>
                <a:cs typeface="微软雅黑"/>
              </a:rPr>
              <a:t>R</a:t>
            </a:r>
            <a:r>
              <a:rPr sz="2000" b="1" spc="-5" dirty="0">
                <a:latin typeface="微软雅黑"/>
                <a:cs typeface="微软雅黑"/>
              </a:rPr>
              <a:t>T1</a:t>
            </a:r>
            <a:endParaRPr sz="2000">
              <a:latin typeface="微软雅黑"/>
              <a:cs typeface="微软雅黑"/>
            </a:endParaRPr>
          </a:p>
        </p:txBody>
      </p:sp>
      <p:sp>
        <p:nvSpPr>
          <p:cNvPr id="100" name="object 100"/>
          <p:cNvSpPr/>
          <p:nvPr/>
        </p:nvSpPr>
        <p:spPr>
          <a:xfrm>
            <a:off x="8487156" y="2874264"/>
            <a:ext cx="2159635" cy="410209"/>
          </a:xfrm>
          <a:custGeom>
            <a:avLst/>
            <a:gdLst/>
            <a:ahLst/>
            <a:cxnLst/>
            <a:rect l="l" t="t" r="r" b="b"/>
            <a:pathLst>
              <a:path w="2159634" h="410210">
                <a:moveTo>
                  <a:pt x="2091054" y="0"/>
                </a:moveTo>
                <a:lnTo>
                  <a:pt x="68325" y="0"/>
                </a:lnTo>
                <a:lnTo>
                  <a:pt x="41783" y="5334"/>
                </a:lnTo>
                <a:lnTo>
                  <a:pt x="20066" y="20065"/>
                </a:lnTo>
                <a:lnTo>
                  <a:pt x="5334" y="41656"/>
                </a:lnTo>
                <a:lnTo>
                  <a:pt x="0" y="68325"/>
                </a:lnTo>
                <a:lnTo>
                  <a:pt x="0" y="341375"/>
                </a:lnTo>
                <a:lnTo>
                  <a:pt x="5334" y="368046"/>
                </a:lnTo>
                <a:lnTo>
                  <a:pt x="20066" y="389636"/>
                </a:lnTo>
                <a:lnTo>
                  <a:pt x="41783" y="404368"/>
                </a:lnTo>
                <a:lnTo>
                  <a:pt x="68325" y="409701"/>
                </a:lnTo>
                <a:lnTo>
                  <a:pt x="2091054" y="409701"/>
                </a:lnTo>
                <a:lnTo>
                  <a:pt x="2117598" y="404368"/>
                </a:lnTo>
                <a:lnTo>
                  <a:pt x="2139315" y="389636"/>
                </a:lnTo>
                <a:lnTo>
                  <a:pt x="2154047" y="368046"/>
                </a:lnTo>
                <a:lnTo>
                  <a:pt x="2159380" y="341375"/>
                </a:lnTo>
                <a:lnTo>
                  <a:pt x="2159380" y="68325"/>
                </a:lnTo>
                <a:lnTo>
                  <a:pt x="2154047" y="41656"/>
                </a:lnTo>
                <a:lnTo>
                  <a:pt x="2139315" y="20065"/>
                </a:lnTo>
                <a:lnTo>
                  <a:pt x="2117598" y="5334"/>
                </a:lnTo>
                <a:lnTo>
                  <a:pt x="2091054" y="0"/>
                </a:lnTo>
                <a:close/>
              </a:path>
            </a:pathLst>
          </a:custGeom>
          <a:solidFill>
            <a:srgbClr val="B9CC00"/>
          </a:solidFill>
        </p:spPr>
        <p:txBody>
          <a:bodyPr wrap="square" lIns="0" tIns="0" rIns="0" bIns="0" rtlCol="0"/>
          <a:lstStyle/>
          <a:p>
            <a:endParaRPr/>
          </a:p>
        </p:txBody>
      </p:sp>
      <p:sp>
        <p:nvSpPr>
          <p:cNvPr id="101" name="object 101"/>
          <p:cNvSpPr/>
          <p:nvPr/>
        </p:nvSpPr>
        <p:spPr>
          <a:xfrm>
            <a:off x="8487918" y="2875026"/>
            <a:ext cx="2159635" cy="410209"/>
          </a:xfrm>
          <a:custGeom>
            <a:avLst/>
            <a:gdLst/>
            <a:ahLst/>
            <a:cxnLst/>
            <a:rect l="l" t="t" r="r" b="b"/>
            <a:pathLst>
              <a:path w="2159634" h="410210">
                <a:moveTo>
                  <a:pt x="0" y="68325"/>
                </a:moveTo>
                <a:lnTo>
                  <a:pt x="5333" y="41656"/>
                </a:lnTo>
                <a:lnTo>
                  <a:pt x="20065" y="20065"/>
                </a:lnTo>
                <a:lnTo>
                  <a:pt x="41782" y="5334"/>
                </a:lnTo>
                <a:lnTo>
                  <a:pt x="68325" y="0"/>
                </a:lnTo>
                <a:lnTo>
                  <a:pt x="2091054" y="0"/>
                </a:lnTo>
                <a:lnTo>
                  <a:pt x="2117598" y="5334"/>
                </a:lnTo>
                <a:lnTo>
                  <a:pt x="2139314" y="20065"/>
                </a:lnTo>
                <a:lnTo>
                  <a:pt x="2154047" y="41656"/>
                </a:lnTo>
                <a:lnTo>
                  <a:pt x="2159380" y="68325"/>
                </a:lnTo>
                <a:lnTo>
                  <a:pt x="2159380" y="341375"/>
                </a:lnTo>
                <a:lnTo>
                  <a:pt x="2154047" y="368046"/>
                </a:lnTo>
                <a:lnTo>
                  <a:pt x="2139314" y="389636"/>
                </a:lnTo>
                <a:lnTo>
                  <a:pt x="2117598" y="404368"/>
                </a:lnTo>
                <a:lnTo>
                  <a:pt x="2091054" y="409701"/>
                </a:lnTo>
                <a:lnTo>
                  <a:pt x="68325" y="409701"/>
                </a:lnTo>
                <a:lnTo>
                  <a:pt x="41782" y="404368"/>
                </a:lnTo>
                <a:lnTo>
                  <a:pt x="20065" y="389636"/>
                </a:lnTo>
                <a:lnTo>
                  <a:pt x="5333" y="368046"/>
                </a:lnTo>
                <a:lnTo>
                  <a:pt x="0" y="341375"/>
                </a:lnTo>
                <a:lnTo>
                  <a:pt x="0" y="68325"/>
                </a:lnTo>
                <a:close/>
              </a:path>
            </a:pathLst>
          </a:custGeom>
          <a:ln w="25908">
            <a:solidFill>
              <a:srgbClr val="879300"/>
            </a:solidFill>
          </a:ln>
        </p:spPr>
        <p:txBody>
          <a:bodyPr wrap="square" lIns="0" tIns="0" rIns="0" bIns="0" rtlCol="0"/>
          <a:lstStyle/>
          <a:p>
            <a:endParaRPr/>
          </a:p>
        </p:txBody>
      </p:sp>
      <p:sp>
        <p:nvSpPr>
          <p:cNvPr id="102" name="object 102"/>
          <p:cNvSpPr txBox="1"/>
          <p:nvPr/>
        </p:nvSpPr>
        <p:spPr>
          <a:xfrm>
            <a:off x="9207245" y="2936670"/>
            <a:ext cx="897890" cy="280035"/>
          </a:xfrm>
          <a:prstGeom prst="rect">
            <a:avLst/>
          </a:prstGeom>
        </p:spPr>
        <p:txBody>
          <a:bodyPr vert="horz" wrap="square" lIns="0" tIns="0" rIns="0" bIns="0" rtlCol="0">
            <a:spAutoFit/>
          </a:bodyPr>
          <a:lstStyle/>
          <a:p>
            <a:pPr marL="12700">
              <a:lnSpc>
                <a:spcPct val="100000"/>
              </a:lnSpc>
            </a:pPr>
            <a:r>
              <a:rPr sz="2000" b="1" spc="-45" dirty="0">
                <a:latin typeface="微软雅黑"/>
                <a:cs typeface="微软雅黑"/>
              </a:rPr>
              <a:t>U</a:t>
            </a:r>
            <a:r>
              <a:rPr sz="2000" b="1" dirty="0">
                <a:latin typeface="微软雅黑"/>
                <a:cs typeface="微软雅黑"/>
              </a:rPr>
              <a:t>A</a:t>
            </a:r>
            <a:r>
              <a:rPr sz="2000" b="1" spc="-40" dirty="0">
                <a:latin typeface="微软雅黑"/>
                <a:cs typeface="微软雅黑"/>
              </a:rPr>
              <a:t>R</a:t>
            </a:r>
            <a:r>
              <a:rPr sz="2000" b="1" spc="-5" dirty="0">
                <a:latin typeface="微软雅黑"/>
                <a:cs typeface="微软雅黑"/>
              </a:rPr>
              <a:t>T2</a:t>
            </a:r>
            <a:endParaRPr sz="2000">
              <a:latin typeface="微软雅黑"/>
              <a:cs typeface="微软雅黑"/>
            </a:endParaRPr>
          </a:p>
        </p:txBody>
      </p:sp>
      <p:sp>
        <p:nvSpPr>
          <p:cNvPr id="103" name="object 103"/>
          <p:cNvSpPr txBox="1"/>
          <p:nvPr/>
        </p:nvSpPr>
        <p:spPr>
          <a:xfrm>
            <a:off x="8009635" y="2940099"/>
            <a:ext cx="301625" cy="280035"/>
          </a:xfrm>
          <a:prstGeom prst="rect">
            <a:avLst/>
          </a:prstGeom>
        </p:spPr>
        <p:txBody>
          <a:bodyPr vert="horz" wrap="square" lIns="0" tIns="0" rIns="0" bIns="0" rtlCol="0">
            <a:spAutoFit/>
          </a:bodyPr>
          <a:lstStyle/>
          <a:p>
            <a:pPr marL="12700">
              <a:lnSpc>
                <a:spcPct val="100000"/>
              </a:lnSpc>
            </a:pPr>
            <a:r>
              <a:rPr sz="2000" b="1" dirty="0">
                <a:latin typeface="微软雅黑"/>
                <a:cs typeface="微软雅黑"/>
              </a:rPr>
              <a:t>or</a:t>
            </a:r>
            <a:endParaRPr sz="2000">
              <a:latin typeface="微软雅黑"/>
              <a:cs typeface="微软雅黑"/>
            </a:endParaRPr>
          </a:p>
        </p:txBody>
      </p:sp>
      <p:sp>
        <p:nvSpPr>
          <p:cNvPr id="104" name="object 104"/>
          <p:cNvSpPr/>
          <p:nvPr/>
        </p:nvSpPr>
        <p:spPr>
          <a:xfrm>
            <a:off x="5606796" y="3595115"/>
            <a:ext cx="2159635" cy="408305"/>
          </a:xfrm>
          <a:custGeom>
            <a:avLst/>
            <a:gdLst/>
            <a:ahLst/>
            <a:cxnLst/>
            <a:rect l="l" t="t" r="r" b="b"/>
            <a:pathLst>
              <a:path w="2159634" h="408304">
                <a:moveTo>
                  <a:pt x="2091308" y="0"/>
                </a:moveTo>
                <a:lnTo>
                  <a:pt x="68071" y="0"/>
                </a:lnTo>
                <a:lnTo>
                  <a:pt x="41528" y="5334"/>
                </a:lnTo>
                <a:lnTo>
                  <a:pt x="19938" y="19939"/>
                </a:lnTo>
                <a:lnTo>
                  <a:pt x="5333" y="41529"/>
                </a:lnTo>
                <a:lnTo>
                  <a:pt x="0" y="67945"/>
                </a:lnTo>
                <a:lnTo>
                  <a:pt x="0" y="339979"/>
                </a:lnTo>
                <a:lnTo>
                  <a:pt x="5333" y="366395"/>
                </a:lnTo>
                <a:lnTo>
                  <a:pt x="19938" y="387985"/>
                </a:lnTo>
                <a:lnTo>
                  <a:pt x="41528" y="402590"/>
                </a:lnTo>
                <a:lnTo>
                  <a:pt x="68071" y="407924"/>
                </a:lnTo>
                <a:lnTo>
                  <a:pt x="2091308" y="407924"/>
                </a:lnTo>
                <a:lnTo>
                  <a:pt x="2117852" y="402590"/>
                </a:lnTo>
                <a:lnTo>
                  <a:pt x="2139442" y="387985"/>
                </a:lnTo>
                <a:lnTo>
                  <a:pt x="2154047" y="366395"/>
                </a:lnTo>
                <a:lnTo>
                  <a:pt x="2159380" y="339979"/>
                </a:lnTo>
                <a:lnTo>
                  <a:pt x="2159380" y="67945"/>
                </a:lnTo>
                <a:lnTo>
                  <a:pt x="2154047" y="41529"/>
                </a:lnTo>
                <a:lnTo>
                  <a:pt x="2139442" y="19939"/>
                </a:lnTo>
                <a:lnTo>
                  <a:pt x="2117852" y="5334"/>
                </a:lnTo>
                <a:lnTo>
                  <a:pt x="2091308" y="0"/>
                </a:lnTo>
                <a:close/>
              </a:path>
            </a:pathLst>
          </a:custGeom>
          <a:solidFill>
            <a:srgbClr val="B9CC00"/>
          </a:solidFill>
        </p:spPr>
        <p:txBody>
          <a:bodyPr wrap="square" lIns="0" tIns="0" rIns="0" bIns="0" rtlCol="0"/>
          <a:lstStyle/>
          <a:p>
            <a:endParaRPr/>
          </a:p>
        </p:txBody>
      </p:sp>
      <p:sp>
        <p:nvSpPr>
          <p:cNvPr id="105" name="object 105"/>
          <p:cNvSpPr/>
          <p:nvPr/>
        </p:nvSpPr>
        <p:spPr>
          <a:xfrm>
            <a:off x="5607558" y="3595878"/>
            <a:ext cx="2159635" cy="408305"/>
          </a:xfrm>
          <a:custGeom>
            <a:avLst/>
            <a:gdLst/>
            <a:ahLst/>
            <a:cxnLst/>
            <a:rect l="l" t="t" r="r" b="b"/>
            <a:pathLst>
              <a:path w="2159634" h="408304">
                <a:moveTo>
                  <a:pt x="0" y="67945"/>
                </a:moveTo>
                <a:lnTo>
                  <a:pt x="5333" y="41529"/>
                </a:lnTo>
                <a:lnTo>
                  <a:pt x="19938" y="19939"/>
                </a:lnTo>
                <a:lnTo>
                  <a:pt x="41528" y="5334"/>
                </a:lnTo>
                <a:lnTo>
                  <a:pt x="68071" y="0"/>
                </a:lnTo>
                <a:lnTo>
                  <a:pt x="2091309" y="0"/>
                </a:lnTo>
                <a:lnTo>
                  <a:pt x="2117851" y="5334"/>
                </a:lnTo>
                <a:lnTo>
                  <a:pt x="2139441" y="19939"/>
                </a:lnTo>
                <a:lnTo>
                  <a:pt x="2154046" y="41529"/>
                </a:lnTo>
                <a:lnTo>
                  <a:pt x="2159381" y="67945"/>
                </a:lnTo>
                <a:lnTo>
                  <a:pt x="2159381" y="339979"/>
                </a:lnTo>
                <a:lnTo>
                  <a:pt x="2154046" y="366395"/>
                </a:lnTo>
                <a:lnTo>
                  <a:pt x="2139441" y="387985"/>
                </a:lnTo>
                <a:lnTo>
                  <a:pt x="2117851" y="402590"/>
                </a:lnTo>
                <a:lnTo>
                  <a:pt x="2091309" y="407924"/>
                </a:lnTo>
                <a:lnTo>
                  <a:pt x="68071" y="407924"/>
                </a:lnTo>
                <a:lnTo>
                  <a:pt x="41528" y="402590"/>
                </a:lnTo>
                <a:lnTo>
                  <a:pt x="19938" y="387985"/>
                </a:lnTo>
                <a:lnTo>
                  <a:pt x="5333" y="366395"/>
                </a:lnTo>
                <a:lnTo>
                  <a:pt x="0" y="339979"/>
                </a:lnTo>
                <a:lnTo>
                  <a:pt x="0" y="67945"/>
                </a:lnTo>
                <a:close/>
              </a:path>
            </a:pathLst>
          </a:custGeom>
          <a:ln w="25908">
            <a:solidFill>
              <a:srgbClr val="879300"/>
            </a:solidFill>
          </a:ln>
        </p:spPr>
        <p:txBody>
          <a:bodyPr wrap="square" lIns="0" tIns="0" rIns="0" bIns="0" rtlCol="0"/>
          <a:lstStyle/>
          <a:p>
            <a:endParaRPr/>
          </a:p>
        </p:txBody>
      </p:sp>
      <p:sp>
        <p:nvSpPr>
          <p:cNvPr id="106" name="object 106"/>
          <p:cNvSpPr txBox="1"/>
          <p:nvPr/>
        </p:nvSpPr>
        <p:spPr>
          <a:xfrm>
            <a:off x="6309486" y="3657913"/>
            <a:ext cx="789305" cy="280670"/>
          </a:xfrm>
          <a:prstGeom prst="rect">
            <a:avLst/>
          </a:prstGeom>
        </p:spPr>
        <p:txBody>
          <a:bodyPr vert="horz" wrap="square" lIns="0" tIns="0" rIns="0" bIns="0" rtlCol="0">
            <a:spAutoFit/>
          </a:bodyPr>
          <a:lstStyle/>
          <a:p>
            <a:pPr marL="12700">
              <a:lnSpc>
                <a:spcPct val="100000"/>
              </a:lnSpc>
            </a:pPr>
            <a:r>
              <a:rPr sz="2000" b="1" dirty="0">
                <a:latin typeface="微软雅黑"/>
                <a:cs typeface="微软雅黑"/>
              </a:rPr>
              <a:t>波特率</a:t>
            </a:r>
            <a:endParaRPr sz="2000">
              <a:latin typeface="微软雅黑"/>
              <a:cs typeface="微软雅黑"/>
            </a:endParaRPr>
          </a:p>
        </p:txBody>
      </p:sp>
      <p:sp>
        <p:nvSpPr>
          <p:cNvPr id="107" name="object 107"/>
          <p:cNvSpPr/>
          <p:nvPr/>
        </p:nvSpPr>
        <p:spPr>
          <a:xfrm>
            <a:off x="5606796" y="4337303"/>
            <a:ext cx="1438910" cy="408305"/>
          </a:xfrm>
          <a:custGeom>
            <a:avLst/>
            <a:gdLst/>
            <a:ahLst/>
            <a:cxnLst/>
            <a:rect l="l" t="t" r="r" b="b"/>
            <a:pathLst>
              <a:path w="1438909" h="408304">
                <a:moveTo>
                  <a:pt x="1370329" y="0"/>
                </a:moveTo>
                <a:lnTo>
                  <a:pt x="68071" y="0"/>
                </a:lnTo>
                <a:lnTo>
                  <a:pt x="41528" y="5334"/>
                </a:lnTo>
                <a:lnTo>
                  <a:pt x="19938" y="19939"/>
                </a:lnTo>
                <a:lnTo>
                  <a:pt x="5333" y="41529"/>
                </a:lnTo>
                <a:lnTo>
                  <a:pt x="0" y="67945"/>
                </a:lnTo>
                <a:lnTo>
                  <a:pt x="0" y="339979"/>
                </a:lnTo>
                <a:lnTo>
                  <a:pt x="5333" y="366395"/>
                </a:lnTo>
                <a:lnTo>
                  <a:pt x="19938" y="387985"/>
                </a:lnTo>
                <a:lnTo>
                  <a:pt x="41528" y="402590"/>
                </a:lnTo>
                <a:lnTo>
                  <a:pt x="68071" y="407924"/>
                </a:lnTo>
                <a:lnTo>
                  <a:pt x="1370329" y="407924"/>
                </a:lnTo>
                <a:lnTo>
                  <a:pt x="1396873" y="402590"/>
                </a:lnTo>
                <a:lnTo>
                  <a:pt x="1418462" y="387985"/>
                </a:lnTo>
                <a:lnTo>
                  <a:pt x="1433068" y="366395"/>
                </a:lnTo>
                <a:lnTo>
                  <a:pt x="1438402" y="339979"/>
                </a:lnTo>
                <a:lnTo>
                  <a:pt x="1438402" y="67945"/>
                </a:lnTo>
                <a:lnTo>
                  <a:pt x="1433068" y="41529"/>
                </a:lnTo>
                <a:lnTo>
                  <a:pt x="1418462" y="19939"/>
                </a:lnTo>
                <a:lnTo>
                  <a:pt x="1396873" y="5334"/>
                </a:lnTo>
                <a:lnTo>
                  <a:pt x="1370329" y="0"/>
                </a:lnTo>
                <a:close/>
              </a:path>
            </a:pathLst>
          </a:custGeom>
          <a:solidFill>
            <a:srgbClr val="B9CC00"/>
          </a:solidFill>
        </p:spPr>
        <p:txBody>
          <a:bodyPr wrap="square" lIns="0" tIns="0" rIns="0" bIns="0" rtlCol="0"/>
          <a:lstStyle/>
          <a:p>
            <a:endParaRPr/>
          </a:p>
        </p:txBody>
      </p:sp>
      <p:sp>
        <p:nvSpPr>
          <p:cNvPr id="108" name="object 108"/>
          <p:cNvSpPr/>
          <p:nvPr/>
        </p:nvSpPr>
        <p:spPr>
          <a:xfrm>
            <a:off x="5607558" y="4338065"/>
            <a:ext cx="1438910" cy="408305"/>
          </a:xfrm>
          <a:custGeom>
            <a:avLst/>
            <a:gdLst/>
            <a:ahLst/>
            <a:cxnLst/>
            <a:rect l="l" t="t" r="r" b="b"/>
            <a:pathLst>
              <a:path w="1438909" h="408304">
                <a:moveTo>
                  <a:pt x="0" y="67944"/>
                </a:moveTo>
                <a:lnTo>
                  <a:pt x="5333" y="41528"/>
                </a:lnTo>
                <a:lnTo>
                  <a:pt x="19938" y="19938"/>
                </a:lnTo>
                <a:lnTo>
                  <a:pt x="41528" y="5333"/>
                </a:lnTo>
                <a:lnTo>
                  <a:pt x="68071" y="0"/>
                </a:lnTo>
                <a:lnTo>
                  <a:pt x="1370330" y="0"/>
                </a:lnTo>
                <a:lnTo>
                  <a:pt x="1396872" y="5333"/>
                </a:lnTo>
                <a:lnTo>
                  <a:pt x="1418463" y="19938"/>
                </a:lnTo>
                <a:lnTo>
                  <a:pt x="1433067" y="41528"/>
                </a:lnTo>
                <a:lnTo>
                  <a:pt x="1438401" y="67944"/>
                </a:lnTo>
                <a:lnTo>
                  <a:pt x="1438401" y="339978"/>
                </a:lnTo>
                <a:lnTo>
                  <a:pt x="1433067" y="366394"/>
                </a:lnTo>
                <a:lnTo>
                  <a:pt x="1418463" y="387984"/>
                </a:lnTo>
                <a:lnTo>
                  <a:pt x="1396872" y="402589"/>
                </a:lnTo>
                <a:lnTo>
                  <a:pt x="1370330" y="407923"/>
                </a:lnTo>
                <a:lnTo>
                  <a:pt x="68071" y="407923"/>
                </a:lnTo>
                <a:lnTo>
                  <a:pt x="41528" y="402589"/>
                </a:lnTo>
                <a:lnTo>
                  <a:pt x="19938" y="387984"/>
                </a:lnTo>
                <a:lnTo>
                  <a:pt x="5333" y="366394"/>
                </a:lnTo>
                <a:lnTo>
                  <a:pt x="0" y="339978"/>
                </a:lnTo>
                <a:lnTo>
                  <a:pt x="0" y="67944"/>
                </a:lnTo>
                <a:close/>
              </a:path>
            </a:pathLst>
          </a:custGeom>
          <a:ln w="25908">
            <a:solidFill>
              <a:srgbClr val="879300"/>
            </a:solidFill>
          </a:ln>
        </p:spPr>
        <p:txBody>
          <a:bodyPr wrap="square" lIns="0" tIns="0" rIns="0" bIns="0" rtlCol="0"/>
          <a:lstStyle/>
          <a:p>
            <a:endParaRPr/>
          </a:p>
        </p:txBody>
      </p:sp>
      <p:sp>
        <p:nvSpPr>
          <p:cNvPr id="109" name="object 109"/>
          <p:cNvSpPr/>
          <p:nvPr/>
        </p:nvSpPr>
        <p:spPr>
          <a:xfrm>
            <a:off x="7766304" y="4337303"/>
            <a:ext cx="1440180" cy="408305"/>
          </a:xfrm>
          <a:custGeom>
            <a:avLst/>
            <a:gdLst/>
            <a:ahLst/>
            <a:cxnLst/>
            <a:rect l="l" t="t" r="r" b="b"/>
            <a:pathLst>
              <a:path w="1440179" h="408304">
                <a:moveTo>
                  <a:pt x="1372107" y="0"/>
                </a:moveTo>
                <a:lnTo>
                  <a:pt x="68072" y="0"/>
                </a:lnTo>
                <a:lnTo>
                  <a:pt x="41528" y="5334"/>
                </a:lnTo>
                <a:lnTo>
                  <a:pt x="19939" y="19939"/>
                </a:lnTo>
                <a:lnTo>
                  <a:pt x="5334" y="41529"/>
                </a:lnTo>
                <a:lnTo>
                  <a:pt x="0" y="67945"/>
                </a:lnTo>
                <a:lnTo>
                  <a:pt x="0" y="339979"/>
                </a:lnTo>
                <a:lnTo>
                  <a:pt x="5334" y="366395"/>
                </a:lnTo>
                <a:lnTo>
                  <a:pt x="19939" y="387985"/>
                </a:lnTo>
                <a:lnTo>
                  <a:pt x="41528" y="402590"/>
                </a:lnTo>
                <a:lnTo>
                  <a:pt x="68072" y="407924"/>
                </a:lnTo>
                <a:lnTo>
                  <a:pt x="1372107" y="407924"/>
                </a:lnTo>
                <a:lnTo>
                  <a:pt x="1398651" y="402590"/>
                </a:lnTo>
                <a:lnTo>
                  <a:pt x="1420241" y="387985"/>
                </a:lnTo>
                <a:lnTo>
                  <a:pt x="1434846" y="366395"/>
                </a:lnTo>
                <a:lnTo>
                  <a:pt x="1440179" y="339979"/>
                </a:lnTo>
                <a:lnTo>
                  <a:pt x="1440179" y="67945"/>
                </a:lnTo>
                <a:lnTo>
                  <a:pt x="1434846" y="41529"/>
                </a:lnTo>
                <a:lnTo>
                  <a:pt x="1420241" y="19939"/>
                </a:lnTo>
                <a:lnTo>
                  <a:pt x="1398651" y="5334"/>
                </a:lnTo>
                <a:lnTo>
                  <a:pt x="1372107" y="0"/>
                </a:lnTo>
                <a:close/>
              </a:path>
            </a:pathLst>
          </a:custGeom>
          <a:solidFill>
            <a:srgbClr val="B9CC00"/>
          </a:solidFill>
        </p:spPr>
        <p:txBody>
          <a:bodyPr wrap="square" lIns="0" tIns="0" rIns="0" bIns="0" rtlCol="0"/>
          <a:lstStyle/>
          <a:p>
            <a:endParaRPr/>
          </a:p>
        </p:txBody>
      </p:sp>
      <p:sp>
        <p:nvSpPr>
          <p:cNvPr id="110" name="object 110"/>
          <p:cNvSpPr/>
          <p:nvPr/>
        </p:nvSpPr>
        <p:spPr>
          <a:xfrm>
            <a:off x="7767066" y="4338065"/>
            <a:ext cx="1440180" cy="408305"/>
          </a:xfrm>
          <a:custGeom>
            <a:avLst/>
            <a:gdLst/>
            <a:ahLst/>
            <a:cxnLst/>
            <a:rect l="l" t="t" r="r" b="b"/>
            <a:pathLst>
              <a:path w="1440179" h="408304">
                <a:moveTo>
                  <a:pt x="0" y="67944"/>
                </a:moveTo>
                <a:lnTo>
                  <a:pt x="5333" y="41528"/>
                </a:lnTo>
                <a:lnTo>
                  <a:pt x="19938" y="19938"/>
                </a:lnTo>
                <a:lnTo>
                  <a:pt x="41528" y="5333"/>
                </a:lnTo>
                <a:lnTo>
                  <a:pt x="68072" y="0"/>
                </a:lnTo>
                <a:lnTo>
                  <a:pt x="1372107" y="0"/>
                </a:lnTo>
                <a:lnTo>
                  <a:pt x="1398651" y="5333"/>
                </a:lnTo>
                <a:lnTo>
                  <a:pt x="1420240" y="19938"/>
                </a:lnTo>
                <a:lnTo>
                  <a:pt x="1434845" y="41528"/>
                </a:lnTo>
                <a:lnTo>
                  <a:pt x="1440179" y="67944"/>
                </a:lnTo>
                <a:lnTo>
                  <a:pt x="1440179" y="339978"/>
                </a:lnTo>
                <a:lnTo>
                  <a:pt x="1434845" y="366394"/>
                </a:lnTo>
                <a:lnTo>
                  <a:pt x="1420240" y="387984"/>
                </a:lnTo>
                <a:lnTo>
                  <a:pt x="1398651" y="402589"/>
                </a:lnTo>
                <a:lnTo>
                  <a:pt x="1372107" y="407923"/>
                </a:lnTo>
                <a:lnTo>
                  <a:pt x="68072" y="407923"/>
                </a:lnTo>
                <a:lnTo>
                  <a:pt x="41528" y="402589"/>
                </a:lnTo>
                <a:lnTo>
                  <a:pt x="19938" y="387984"/>
                </a:lnTo>
                <a:lnTo>
                  <a:pt x="5333" y="366394"/>
                </a:lnTo>
                <a:lnTo>
                  <a:pt x="0" y="339978"/>
                </a:lnTo>
                <a:lnTo>
                  <a:pt x="0" y="67944"/>
                </a:lnTo>
                <a:close/>
              </a:path>
            </a:pathLst>
          </a:custGeom>
          <a:ln w="25908">
            <a:solidFill>
              <a:srgbClr val="879300"/>
            </a:solidFill>
          </a:ln>
        </p:spPr>
        <p:txBody>
          <a:bodyPr wrap="square" lIns="0" tIns="0" rIns="0" bIns="0" rtlCol="0"/>
          <a:lstStyle/>
          <a:p>
            <a:endParaRPr/>
          </a:p>
        </p:txBody>
      </p:sp>
      <p:sp>
        <p:nvSpPr>
          <p:cNvPr id="111" name="object 111"/>
          <p:cNvSpPr/>
          <p:nvPr/>
        </p:nvSpPr>
        <p:spPr>
          <a:xfrm>
            <a:off x="9927335" y="4314444"/>
            <a:ext cx="1438910" cy="410209"/>
          </a:xfrm>
          <a:custGeom>
            <a:avLst/>
            <a:gdLst/>
            <a:ahLst/>
            <a:cxnLst/>
            <a:rect l="l" t="t" r="r" b="b"/>
            <a:pathLst>
              <a:path w="1438909" h="410210">
                <a:moveTo>
                  <a:pt x="1370076" y="0"/>
                </a:moveTo>
                <a:lnTo>
                  <a:pt x="68325" y="0"/>
                </a:lnTo>
                <a:lnTo>
                  <a:pt x="41783" y="5333"/>
                </a:lnTo>
                <a:lnTo>
                  <a:pt x="20066" y="20065"/>
                </a:lnTo>
                <a:lnTo>
                  <a:pt x="5334" y="41655"/>
                </a:lnTo>
                <a:lnTo>
                  <a:pt x="0" y="68325"/>
                </a:lnTo>
                <a:lnTo>
                  <a:pt x="0" y="341375"/>
                </a:lnTo>
                <a:lnTo>
                  <a:pt x="5334" y="368045"/>
                </a:lnTo>
                <a:lnTo>
                  <a:pt x="20066" y="389635"/>
                </a:lnTo>
                <a:lnTo>
                  <a:pt x="41783" y="404367"/>
                </a:lnTo>
                <a:lnTo>
                  <a:pt x="68325" y="409701"/>
                </a:lnTo>
                <a:lnTo>
                  <a:pt x="1370076" y="409701"/>
                </a:lnTo>
                <a:lnTo>
                  <a:pt x="1396619" y="404367"/>
                </a:lnTo>
                <a:lnTo>
                  <a:pt x="1418336" y="389635"/>
                </a:lnTo>
                <a:lnTo>
                  <a:pt x="1433068" y="368045"/>
                </a:lnTo>
                <a:lnTo>
                  <a:pt x="1438402" y="341375"/>
                </a:lnTo>
                <a:lnTo>
                  <a:pt x="1438402" y="68325"/>
                </a:lnTo>
                <a:lnTo>
                  <a:pt x="1433068" y="41655"/>
                </a:lnTo>
                <a:lnTo>
                  <a:pt x="1418336" y="20065"/>
                </a:lnTo>
                <a:lnTo>
                  <a:pt x="1396619" y="5333"/>
                </a:lnTo>
                <a:lnTo>
                  <a:pt x="1370076" y="0"/>
                </a:lnTo>
                <a:close/>
              </a:path>
            </a:pathLst>
          </a:custGeom>
          <a:solidFill>
            <a:srgbClr val="B9CC00"/>
          </a:solidFill>
        </p:spPr>
        <p:txBody>
          <a:bodyPr wrap="square" lIns="0" tIns="0" rIns="0" bIns="0" rtlCol="0"/>
          <a:lstStyle/>
          <a:p>
            <a:endParaRPr/>
          </a:p>
        </p:txBody>
      </p:sp>
      <p:sp>
        <p:nvSpPr>
          <p:cNvPr id="112" name="object 112"/>
          <p:cNvSpPr/>
          <p:nvPr/>
        </p:nvSpPr>
        <p:spPr>
          <a:xfrm>
            <a:off x="9928097" y="4315205"/>
            <a:ext cx="1438910" cy="410209"/>
          </a:xfrm>
          <a:custGeom>
            <a:avLst/>
            <a:gdLst/>
            <a:ahLst/>
            <a:cxnLst/>
            <a:rect l="l" t="t" r="r" b="b"/>
            <a:pathLst>
              <a:path w="1438909" h="410210">
                <a:moveTo>
                  <a:pt x="0" y="68326"/>
                </a:moveTo>
                <a:lnTo>
                  <a:pt x="5333" y="41656"/>
                </a:lnTo>
                <a:lnTo>
                  <a:pt x="20066" y="20066"/>
                </a:lnTo>
                <a:lnTo>
                  <a:pt x="41782" y="5334"/>
                </a:lnTo>
                <a:lnTo>
                  <a:pt x="68325" y="0"/>
                </a:lnTo>
                <a:lnTo>
                  <a:pt x="1370076" y="0"/>
                </a:lnTo>
                <a:lnTo>
                  <a:pt x="1396619" y="5334"/>
                </a:lnTo>
                <a:lnTo>
                  <a:pt x="1418335" y="20066"/>
                </a:lnTo>
                <a:lnTo>
                  <a:pt x="1433068" y="41656"/>
                </a:lnTo>
                <a:lnTo>
                  <a:pt x="1438402" y="68326"/>
                </a:lnTo>
                <a:lnTo>
                  <a:pt x="1438402" y="341376"/>
                </a:lnTo>
                <a:lnTo>
                  <a:pt x="1433068" y="368046"/>
                </a:lnTo>
                <a:lnTo>
                  <a:pt x="1418335" y="389636"/>
                </a:lnTo>
                <a:lnTo>
                  <a:pt x="1396619" y="404368"/>
                </a:lnTo>
                <a:lnTo>
                  <a:pt x="1370076" y="409702"/>
                </a:lnTo>
                <a:lnTo>
                  <a:pt x="68325" y="409702"/>
                </a:lnTo>
                <a:lnTo>
                  <a:pt x="41782" y="404368"/>
                </a:lnTo>
                <a:lnTo>
                  <a:pt x="20066" y="389636"/>
                </a:lnTo>
                <a:lnTo>
                  <a:pt x="5333" y="368046"/>
                </a:lnTo>
                <a:lnTo>
                  <a:pt x="0" y="341376"/>
                </a:lnTo>
                <a:lnTo>
                  <a:pt x="0" y="68326"/>
                </a:lnTo>
                <a:close/>
              </a:path>
            </a:pathLst>
          </a:custGeom>
          <a:ln w="25908">
            <a:solidFill>
              <a:srgbClr val="879300"/>
            </a:solidFill>
          </a:ln>
        </p:spPr>
        <p:txBody>
          <a:bodyPr wrap="square" lIns="0" tIns="0" rIns="0" bIns="0" rtlCol="0"/>
          <a:lstStyle/>
          <a:p>
            <a:endParaRPr/>
          </a:p>
        </p:txBody>
      </p:sp>
      <p:sp>
        <p:nvSpPr>
          <p:cNvPr id="113" name="object 113"/>
          <p:cNvSpPr txBox="1"/>
          <p:nvPr/>
        </p:nvSpPr>
        <p:spPr>
          <a:xfrm>
            <a:off x="10352023" y="4387518"/>
            <a:ext cx="660400" cy="280035"/>
          </a:xfrm>
          <a:prstGeom prst="rect">
            <a:avLst/>
          </a:prstGeom>
        </p:spPr>
        <p:txBody>
          <a:bodyPr vert="horz" wrap="square" lIns="0" tIns="0" rIns="0" bIns="0" rtlCol="0">
            <a:spAutoFit/>
          </a:bodyPr>
          <a:lstStyle/>
          <a:p>
            <a:pPr marL="12700">
              <a:lnSpc>
                <a:spcPct val="100000"/>
              </a:lnSpc>
            </a:pPr>
            <a:r>
              <a:rPr sz="2000" b="1" spc="-10" dirty="0">
                <a:latin typeface="微软雅黑"/>
                <a:cs typeface="微软雅黑"/>
              </a:rPr>
              <a:t>E</a:t>
            </a:r>
            <a:r>
              <a:rPr sz="2000" b="1" dirty="0">
                <a:latin typeface="微软雅黑"/>
                <a:cs typeface="微软雅黑"/>
              </a:rPr>
              <a:t>r</a:t>
            </a:r>
            <a:r>
              <a:rPr sz="2000" b="1" spc="-10" dirty="0">
                <a:latin typeface="微软雅黑"/>
                <a:cs typeface="微软雅黑"/>
              </a:rPr>
              <a:t>r</a:t>
            </a:r>
            <a:r>
              <a:rPr sz="2000" b="1" spc="-5" dirty="0">
                <a:latin typeface="微软雅黑"/>
                <a:cs typeface="微软雅黑"/>
              </a:rPr>
              <a:t>or</a:t>
            </a:r>
            <a:endParaRPr sz="2000">
              <a:latin typeface="微软雅黑"/>
              <a:cs typeface="微软雅黑"/>
            </a:endParaRPr>
          </a:p>
        </p:txBody>
      </p:sp>
      <p:sp>
        <p:nvSpPr>
          <p:cNvPr id="114" name="object 114"/>
          <p:cNvSpPr txBox="1"/>
          <p:nvPr/>
        </p:nvSpPr>
        <p:spPr>
          <a:xfrm>
            <a:off x="9449816" y="4412918"/>
            <a:ext cx="301625" cy="280035"/>
          </a:xfrm>
          <a:prstGeom prst="rect">
            <a:avLst/>
          </a:prstGeom>
        </p:spPr>
        <p:txBody>
          <a:bodyPr vert="horz" wrap="square" lIns="0" tIns="0" rIns="0" bIns="0" rtlCol="0">
            <a:spAutoFit/>
          </a:bodyPr>
          <a:lstStyle/>
          <a:p>
            <a:pPr marL="12700">
              <a:lnSpc>
                <a:spcPct val="100000"/>
              </a:lnSpc>
            </a:pPr>
            <a:r>
              <a:rPr sz="2000" b="1" dirty="0">
                <a:latin typeface="微软雅黑"/>
                <a:cs typeface="微软雅黑"/>
              </a:rPr>
              <a:t>or</a:t>
            </a:r>
            <a:endParaRPr sz="2000">
              <a:latin typeface="微软雅黑"/>
              <a:cs typeface="微软雅黑"/>
            </a:endParaRPr>
          </a:p>
        </p:txBody>
      </p:sp>
      <p:sp>
        <p:nvSpPr>
          <p:cNvPr id="115" name="object 115"/>
          <p:cNvSpPr txBox="1"/>
          <p:nvPr/>
        </p:nvSpPr>
        <p:spPr>
          <a:xfrm>
            <a:off x="11538584" y="4412918"/>
            <a:ext cx="270510" cy="280035"/>
          </a:xfrm>
          <a:prstGeom prst="rect">
            <a:avLst/>
          </a:prstGeom>
        </p:spPr>
        <p:txBody>
          <a:bodyPr vert="horz" wrap="square" lIns="0" tIns="0" rIns="0" bIns="0" rtlCol="0">
            <a:spAutoFit/>
          </a:bodyPr>
          <a:lstStyle/>
          <a:p>
            <a:pPr marL="12700">
              <a:lnSpc>
                <a:spcPct val="100000"/>
              </a:lnSpc>
            </a:pPr>
            <a:r>
              <a:rPr sz="2000" b="1" dirty="0">
                <a:latin typeface="微软雅黑"/>
                <a:cs typeface="微软雅黑"/>
              </a:rPr>
              <a:t>…</a:t>
            </a:r>
            <a:endParaRPr sz="2000">
              <a:latin typeface="微软雅黑"/>
              <a:cs typeface="微软雅黑"/>
            </a:endParaRPr>
          </a:p>
        </p:txBody>
      </p:sp>
      <p:sp>
        <p:nvSpPr>
          <p:cNvPr id="116" name="object 116"/>
          <p:cNvSpPr/>
          <p:nvPr/>
        </p:nvSpPr>
        <p:spPr>
          <a:xfrm>
            <a:off x="5606796" y="5056632"/>
            <a:ext cx="3599815" cy="410209"/>
          </a:xfrm>
          <a:custGeom>
            <a:avLst/>
            <a:gdLst/>
            <a:ahLst/>
            <a:cxnLst/>
            <a:rect l="l" t="t" r="r" b="b"/>
            <a:pathLst>
              <a:path w="3599815" h="410210">
                <a:moveTo>
                  <a:pt x="3531234" y="0"/>
                </a:moveTo>
                <a:lnTo>
                  <a:pt x="68325" y="0"/>
                </a:lnTo>
                <a:lnTo>
                  <a:pt x="41782" y="5334"/>
                </a:lnTo>
                <a:lnTo>
                  <a:pt x="20065" y="20066"/>
                </a:lnTo>
                <a:lnTo>
                  <a:pt x="5333" y="41656"/>
                </a:lnTo>
                <a:lnTo>
                  <a:pt x="0" y="68326"/>
                </a:lnTo>
                <a:lnTo>
                  <a:pt x="0" y="341376"/>
                </a:lnTo>
                <a:lnTo>
                  <a:pt x="5333" y="368046"/>
                </a:lnTo>
                <a:lnTo>
                  <a:pt x="20065" y="389636"/>
                </a:lnTo>
                <a:lnTo>
                  <a:pt x="41782" y="404368"/>
                </a:lnTo>
                <a:lnTo>
                  <a:pt x="68325" y="409702"/>
                </a:lnTo>
                <a:lnTo>
                  <a:pt x="3531234" y="409702"/>
                </a:lnTo>
                <a:lnTo>
                  <a:pt x="3557778" y="404368"/>
                </a:lnTo>
                <a:lnTo>
                  <a:pt x="3579495" y="389636"/>
                </a:lnTo>
                <a:lnTo>
                  <a:pt x="3594227" y="368046"/>
                </a:lnTo>
                <a:lnTo>
                  <a:pt x="3599560" y="341376"/>
                </a:lnTo>
                <a:lnTo>
                  <a:pt x="3599560" y="68326"/>
                </a:lnTo>
                <a:lnTo>
                  <a:pt x="3594227" y="41656"/>
                </a:lnTo>
                <a:lnTo>
                  <a:pt x="3579495" y="20066"/>
                </a:lnTo>
                <a:lnTo>
                  <a:pt x="3557778" y="5334"/>
                </a:lnTo>
                <a:lnTo>
                  <a:pt x="3531234" y="0"/>
                </a:lnTo>
                <a:close/>
              </a:path>
            </a:pathLst>
          </a:custGeom>
          <a:solidFill>
            <a:srgbClr val="B9CC00"/>
          </a:solidFill>
        </p:spPr>
        <p:txBody>
          <a:bodyPr wrap="square" lIns="0" tIns="0" rIns="0" bIns="0" rtlCol="0"/>
          <a:lstStyle/>
          <a:p>
            <a:endParaRPr/>
          </a:p>
        </p:txBody>
      </p:sp>
      <p:sp>
        <p:nvSpPr>
          <p:cNvPr id="117" name="object 117"/>
          <p:cNvSpPr/>
          <p:nvPr/>
        </p:nvSpPr>
        <p:spPr>
          <a:xfrm>
            <a:off x="5607558" y="5057394"/>
            <a:ext cx="3599815" cy="410209"/>
          </a:xfrm>
          <a:custGeom>
            <a:avLst/>
            <a:gdLst/>
            <a:ahLst/>
            <a:cxnLst/>
            <a:rect l="l" t="t" r="r" b="b"/>
            <a:pathLst>
              <a:path w="3599815" h="410210">
                <a:moveTo>
                  <a:pt x="0" y="68325"/>
                </a:moveTo>
                <a:lnTo>
                  <a:pt x="5333" y="41655"/>
                </a:lnTo>
                <a:lnTo>
                  <a:pt x="20065" y="20065"/>
                </a:lnTo>
                <a:lnTo>
                  <a:pt x="41782" y="5333"/>
                </a:lnTo>
                <a:lnTo>
                  <a:pt x="68325" y="0"/>
                </a:lnTo>
                <a:lnTo>
                  <a:pt x="3531235" y="0"/>
                </a:lnTo>
                <a:lnTo>
                  <a:pt x="3557777" y="5333"/>
                </a:lnTo>
                <a:lnTo>
                  <a:pt x="3579494" y="20065"/>
                </a:lnTo>
                <a:lnTo>
                  <a:pt x="3594226" y="41655"/>
                </a:lnTo>
                <a:lnTo>
                  <a:pt x="3599561" y="68325"/>
                </a:lnTo>
                <a:lnTo>
                  <a:pt x="3599561" y="341375"/>
                </a:lnTo>
                <a:lnTo>
                  <a:pt x="3594226" y="368045"/>
                </a:lnTo>
                <a:lnTo>
                  <a:pt x="3579494" y="389635"/>
                </a:lnTo>
                <a:lnTo>
                  <a:pt x="3557777" y="404367"/>
                </a:lnTo>
                <a:lnTo>
                  <a:pt x="3531235" y="409701"/>
                </a:lnTo>
                <a:lnTo>
                  <a:pt x="68325" y="409701"/>
                </a:lnTo>
                <a:lnTo>
                  <a:pt x="41782" y="404367"/>
                </a:lnTo>
                <a:lnTo>
                  <a:pt x="20065" y="389635"/>
                </a:lnTo>
                <a:lnTo>
                  <a:pt x="5333" y="368045"/>
                </a:lnTo>
                <a:lnTo>
                  <a:pt x="0" y="341375"/>
                </a:lnTo>
                <a:lnTo>
                  <a:pt x="0" y="68325"/>
                </a:lnTo>
                <a:close/>
              </a:path>
            </a:pathLst>
          </a:custGeom>
          <a:ln w="25908">
            <a:solidFill>
              <a:srgbClr val="879300"/>
            </a:solidFill>
          </a:ln>
        </p:spPr>
        <p:txBody>
          <a:bodyPr wrap="square" lIns="0" tIns="0" rIns="0" bIns="0" rtlCol="0"/>
          <a:lstStyle/>
          <a:p>
            <a:endParaRPr/>
          </a:p>
        </p:txBody>
      </p:sp>
      <p:sp>
        <p:nvSpPr>
          <p:cNvPr id="118" name="object 118"/>
          <p:cNvSpPr txBox="1"/>
          <p:nvPr/>
        </p:nvSpPr>
        <p:spPr>
          <a:xfrm>
            <a:off x="5944615" y="4414442"/>
            <a:ext cx="806450" cy="280035"/>
          </a:xfrm>
          <a:prstGeom prst="rect">
            <a:avLst/>
          </a:prstGeom>
        </p:spPr>
        <p:txBody>
          <a:bodyPr vert="horz" wrap="square" lIns="0" tIns="0" rIns="0" bIns="0" rtlCol="0">
            <a:spAutoFit/>
          </a:bodyPr>
          <a:lstStyle/>
          <a:p>
            <a:pPr marL="12700">
              <a:lnSpc>
                <a:spcPct val="100000"/>
              </a:lnSpc>
            </a:pPr>
            <a:r>
              <a:rPr sz="2000" b="1" spc="-55" dirty="0">
                <a:latin typeface="微软雅黑"/>
                <a:cs typeface="微软雅黑"/>
              </a:rPr>
              <a:t>R</a:t>
            </a:r>
            <a:r>
              <a:rPr sz="2000" b="1" dirty="0">
                <a:latin typeface="微软雅黑"/>
                <a:cs typeface="微软雅黑"/>
              </a:rPr>
              <a:t>e</a:t>
            </a:r>
            <a:r>
              <a:rPr sz="2000" b="1" spc="-10" dirty="0">
                <a:latin typeface="微软雅黑"/>
                <a:cs typeface="微软雅黑"/>
              </a:rPr>
              <a:t>a</a:t>
            </a:r>
            <a:r>
              <a:rPr sz="2000" b="1" dirty="0">
                <a:latin typeface="微软雅黑"/>
                <a:cs typeface="微软雅黑"/>
              </a:rPr>
              <a:t>dy</a:t>
            </a:r>
            <a:endParaRPr sz="2000">
              <a:latin typeface="微软雅黑"/>
              <a:cs typeface="微软雅黑"/>
            </a:endParaRPr>
          </a:p>
        </p:txBody>
      </p:sp>
      <p:sp>
        <p:nvSpPr>
          <p:cNvPr id="119" name="object 119"/>
          <p:cNvSpPr txBox="1"/>
          <p:nvPr/>
        </p:nvSpPr>
        <p:spPr>
          <a:xfrm>
            <a:off x="7269226" y="4414442"/>
            <a:ext cx="301625" cy="280035"/>
          </a:xfrm>
          <a:prstGeom prst="rect">
            <a:avLst/>
          </a:prstGeom>
        </p:spPr>
        <p:txBody>
          <a:bodyPr vert="horz" wrap="square" lIns="0" tIns="0" rIns="0" bIns="0" rtlCol="0">
            <a:spAutoFit/>
          </a:bodyPr>
          <a:lstStyle/>
          <a:p>
            <a:pPr marL="12700">
              <a:lnSpc>
                <a:spcPct val="100000"/>
              </a:lnSpc>
            </a:pPr>
            <a:r>
              <a:rPr sz="2000" b="1" dirty="0">
                <a:solidFill>
                  <a:srgbClr val="001F52"/>
                </a:solidFill>
                <a:latin typeface="微软雅黑"/>
                <a:cs typeface="微软雅黑"/>
              </a:rPr>
              <a:t>or</a:t>
            </a:r>
            <a:endParaRPr sz="2000">
              <a:latin typeface="微软雅黑"/>
              <a:cs typeface="微软雅黑"/>
            </a:endParaRPr>
          </a:p>
        </p:txBody>
      </p:sp>
      <p:sp>
        <p:nvSpPr>
          <p:cNvPr id="120" name="object 120"/>
          <p:cNvSpPr txBox="1"/>
          <p:nvPr/>
        </p:nvSpPr>
        <p:spPr>
          <a:xfrm>
            <a:off x="8191245" y="4414442"/>
            <a:ext cx="635000" cy="280035"/>
          </a:xfrm>
          <a:prstGeom prst="rect">
            <a:avLst/>
          </a:prstGeom>
        </p:spPr>
        <p:txBody>
          <a:bodyPr vert="horz" wrap="square" lIns="0" tIns="0" rIns="0" bIns="0" rtlCol="0">
            <a:spAutoFit/>
          </a:bodyPr>
          <a:lstStyle/>
          <a:p>
            <a:pPr marL="12700">
              <a:lnSpc>
                <a:spcPct val="100000"/>
              </a:lnSpc>
            </a:pPr>
            <a:r>
              <a:rPr sz="2000" b="1" dirty="0">
                <a:latin typeface="微软雅黑"/>
                <a:cs typeface="微软雅黑"/>
              </a:rPr>
              <a:t>Bu</a:t>
            </a:r>
            <a:r>
              <a:rPr sz="2000" b="1" spc="-15" dirty="0">
                <a:latin typeface="微软雅黑"/>
                <a:cs typeface="微软雅黑"/>
              </a:rPr>
              <a:t>s</a:t>
            </a:r>
            <a:r>
              <a:rPr sz="2000" b="1" dirty="0">
                <a:latin typeface="微软雅黑"/>
                <a:cs typeface="微软雅黑"/>
              </a:rPr>
              <a:t>y</a:t>
            </a:r>
            <a:endParaRPr sz="2000">
              <a:latin typeface="微软雅黑"/>
              <a:cs typeface="微软雅黑"/>
            </a:endParaRPr>
          </a:p>
        </p:txBody>
      </p:sp>
      <p:sp>
        <p:nvSpPr>
          <p:cNvPr id="121" name="object 121"/>
          <p:cNvSpPr/>
          <p:nvPr/>
        </p:nvSpPr>
        <p:spPr>
          <a:xfrm>
            <a:off x="5606796" y="5800344"/>
            <a:ext cx="3136265" cy="408305"/>
          </a:xfrm>
          <a:custGeom>
            <a:avLst/>
            <a:gdLst/>
            <a:ahLst/>
            <a:cxnLst/>
            <a:rect l="l" t="t" r="r" b="b"/>
            <a:pathLst>
              <a:path w="3136265" h="408304">
                <a:moveTo>
                  <a:pt x="3061970" y="0"/>
                </a:moveTo>
                <a:lnTo>
                  <a:pt x="74167" y="0"/>
                </a:lnTo>
                <a:lnTo>
                  <a:pt x="45338" y="5346"/>
                </a:lnTo>
                <a:lnTo>
                  <a:pt x="21716" y="19913"/>
                </a:lnTo>
                <a:lnTo>
                  <a:pt x="5841" y="41528"/>
                </a:lnTo>
                <a:lnTo>
                  <a:pt x="0" y="67983"/>
                </a:lnTo>
                <a:lnTo>
                  <a:pt x="0" y="339940"/>
                </a:lnTo>
                <a:lnTo>
                  <a:pt x="5841" y="366394"/>
                </a:lnTo>
                <a:lnTo>
                  <a:pt x="21716" y="388010"/>
                </a:lnTo>
                <a:lnTo>
                  <a:pt x="45338" y="402577"/>
                </a:lnTo>
                <a:lnTo>
                  <a:pt x="74167" y="407923"/>
                </a:lnTo>
                <a:lnTo>
                  <a:pt x="3061970" y="407923"/>
                </a:lnTo>
                <a:lnTo>
                  <a:pt x="3090799" y="402577"/>
                </a:lnTo>
                <a:lnTo>
                  <a:pt x="3114421" y="388010"/>
                </a:lnTo>
                <a:lnTo>
                  <a:pt x="3130296" y="366394"/>
                </a:lnTo>
                <a:lnTo>
                  <a:pt x="3136137" y="339940"/>
                </a:lnTo>
                <a:lnTo>
                  <a:pt x="3136137" y="67983"/>
                </a:lnTo>
                <a:lnTo>
                  <a:pt x="3130296" y="41528"/>
                </a:lnTo>
                <a:lnTo>
                  <a:pt x="3114421" y="19913"/>
                </a:lnTo>
                <a:lnTo>
                  <a:pt x="3090799" y="5346"/>
                </a:lnTo>
                <a:lnTo>
                  <a:pt x="3061970" y="0"/>
                </a:lnTo>
                <a:close/>
              </a:path>
            </a:pathLst>
          </a:custGeom>
          <a:solidFill>
            <a:srgbClr val="B9CC00"/>
          </a:solidFill>
        </p:spPr>
        <p:txBody>
          <a:bodyPr wrap="square" lIns="0" tIns="0" rIns="0" bIns="0" rtlCol="0"/>
          <a:lstStyle/>
          <a:p>
            <a:endParaRPr/>
          </a:p>
        </p:txBody>
      </p:sp>
      <p:sp>
        <p:nvSpPr>
          <p:cNvPr id="122" name="object 122"/>
          <p:cNvSpPr/>
          <p:nvPr/>
        </p:nvSpPr>
        <p:spPr>
          <a:xfrm>
            <a:off x="5607558" y="5801105"/>
            <a:ext cx="3094990" cy="408305"/>
          </a:xfrm>
          <a:custGeom>
            <a:avLst/>
            <a:gdLst/>
            <a:ahLst/>
            <a:cxnLst/>
            <a:rect l="l" t="t" r="r" b="b"/>
            <a:pathLst>
              <a:path w="3094990" h="408304">
                <a:moveTo>
                  <a:pt x="0" y="67983"/>
                </a:moveTo>
                <a:lnTo>
                  <a:pt x="5714" y="41529"/>
                </a:lnTo>
                <a:lnTo>
                  <a:pt x="21462" y="19913"/>
                </a:lnTo>
                <a:lnTo>
                  <a:pt x="44703" y="5346"/>
                </a:lnTo>
                <a:lnTo>
                  <a:pt x="73151" y="0"/>
                </a:lnTo>
                <a:lnTo>
                  <a:pt x="3021838" y="0"/>
                </a:lnTo>
                <a:lnTo>
                  <a:pt x="3050286" y="5346"/>
                </a:lnTo>
                <a:lnTo>
                  <a:pt x="3073526" y="19913"/>
                </a:lnTo>
                <a:lnTo>
                  <a:pt x="3089274" y="41529"/>
                </a:lnTo>
                <a:lnTo>
                  <a:pt x="3094990" y="67983"/>
                </a:lnTo>
                <a:lnTo>
                  <a:pt x="3094990" y="339940"/>
                </a:lnTo>
                <a:lnTo>
                  <a:pt x="3089274" y="366395"/>
                </a:lnTo>
                <a:lnTo>
                  <a:pt x="3073526" y="388010"/>
                </a:lnTo>
                <a:lnTo>
                  <a:pt x="3050286" y="402577"/>
                </a:lnTo>
                <a:lnTo>
                  <a:pt x="3021838" y="407924"/>
                </a:lnTo>
                <a:lnTo>
                  <a:pt x="73151" y="407924"/>
                </a:lnTo>
                <a:lnTo>
                  <a:pt x="44703" y="402577"/>
                </a:lnTo>
                <a:lnTo>
                  <a:pt x="21462" y="388010"/>
                </a:lnTo>
                <a:lnTo>
                  <a:pt x="5714" y="366395"/>
                </a:lnTo>
                <a:lnTo>
                  <a:pt x="0" y="339940"/>
                </a:lnTo>
                <a:lnTo>
                  <a:pt x="0" y="67983"/>
                </a:lnTo>
                <a:close/>
              </a:path>
            </a:pathLst>
          </a:custGeom>
          <a:ln w="25908">
            <a:solidFill>
              <a:srgbClr val="879300"/>
            </a:solidFill>
          </a:ln>
        </p:spPr>
        <p:txBody>
          <a:bodyPr wrap="square" lIns="0" tIns="0" rIns="0" bIns="0" rtlCol="0"/>
          <a:lstStyle/>
          <a:p>
            <a:endParaRPr/>
          </a:p>
        </p:txBody>
      </p:sp>
      <p:sp>
        <p:nvSpPr>
          <p:cNvPr id="123" name="object 123"/>
          <p:cNvSpPr txBox="1"/>
          <p:nvPr/>
        </p:nvSpPr>
        <p:spPr>
          <a:xfrm>
            <a:off x="5710173" y="5165149"/>
            <a:ext cx="3180080" cy="979169"/>
          </a:xfrm>
          <a:prstGeom prst="rect">
            <a:avLst/>
          </a:prstGeom>
        </p:spPr>
        <p:txBody>
          <a:bodyPr vert="horz" wrap="square" lIns="0" tIns="0" rIns="0" bIns="0" rtlCol="0">
            <a:spAutoFit/>
          </a:bodyPr>
          <a:lstStyle/>
          <a:p>
            <a:pPr marL="12700" indent="164465">
              <a:lnSpc>
                <a:spcPct val="100000"/>
              </a:lnSpc>
            </a:pPr>
            <a:r>
              <a:rPr sz="2000" b="1" dirty="0">
                <a:latin typeface="微软雅黑"/>
                <a:cs typeface="微软雅黑"/>
              </a:rPr>
              <a:t>L</a:t>
            </a:r>
            <a:r>
              <a:rPr sz="2000" b="1" spc="-15" dirty="0">
                <a:latin typeface="微软雅黑"/>
                <a:cs typeface="微软雅黑"/>
              </a:rPr>
              <a:t>i</a:t>
            </a:r>
            <a:r>
              <a:rPr sz="2000" b="1" dirty="0">
                <a:latin typeface="微软雅黑"/>
                <a:cs typeface="微软雅黑"/>
              </a:rPr>
              <a:t>n</a:t>
            </a:r>
            <a:r>
              <a:rPr sz="2000" b="1" spc="-40" dirty="0">
                <a:latin typeface="微软雅黑"/>
                <a:cs typeface="微软雅黑"/>
              </a:rPr>
              <a:t>k</a:t>
            </a:r>
            <a:r>
              <a:rPr sz="2000" b="1" spc="-5" dirty="0">
                <a:latin typeface="微软雅黑"/>
                <a:cs typeface="微软雅黑"/>
              </a:rPr>
              <a:t>e</a:t>
            </a:r>
            <a:r>
              <a:rPr sz="2000" b="1" dirty="0">
                <a:latin typeface="微软雅黑"/>
                <a:cs typeface="微软雅黑"/>
              </a:rPr>
              <a:t>d </a:t>
            </a:r>
            <a:r>
              <a:rPr sz="2000" b="1" spc="-20" dirty="0">
                <a:latin typeface="微软雅黑"/>
                <a:cs typeface="微软雅黑"/>
              </a:rPr>
              <a:t>t</a:t>
            </a:r>
            <a:r>
              <a:rPr sz="2000" b="1" dirty="0">
                <a:latin typeface="微软雅黑"/>
                <a:cs typeface="微软雅黑"/>
              </a:rPr>
              <a:t>o</a:t>
            </a:r>
            <a:r>
              <a:rPr sz="2000" b="1" spc="-10" dirty="0">
                <a:latin typeface="微软雅黑"/>
                <a:cs typeface="微软雅黑"/>
              </a:rPr>
              <a:t> </a:t>
            </a:r>
            <a:r>
              <a:rPr sz="2000" b="1" spc="5" dirty="0">
                <a:latin typeface="微软雅黑"/>
                <a:cs typeface="微软雅黑"/>
              </a:rPr>
              <a:t>DMA</a:t>
            </a:r>
            <a:r>
              <a:rPr sz="2000" b="1" spc="-10" dirty="0">
                <a:latin typeface="微软雅黑"/>
                <a:cs typeface="微软雅黑"/>
              </a:rPr>
              <a:t> </a:t>
            </a:r>
            <a:r>
              <a:rPr sz="2000" b="1" dirty="0">
                <a:latin typeface="微软雅黑"/>
                <a:cs typeface="微软雅黑"/>
              </a:rPr>
              <a:t>ch</a:t>
            </a:r>
            <a:r>
              <a:rPr sz="2000" b="1" spc="-15" dirty="0">
                <a:latin typeface="微软雅黑"/>
                <a:cs typeface="微软雅黑"/>
              </a:rPr>
              <a:t>a</a:t>
            </a:r>
            <a:r>
              <a:rPr sz="2000" b="1" dirty="0">
                <a:latin typeface="微软雅黑"/>
                <a:cs typeface="微软雅黑"/>
              </a:rPr>
              <a:t>n</a:t>
            </a:r>
            <a:r>
              <a:rPr sz="2000" b="1" spc="-10" dirty="0">
                <a:latin typeface="微软雅黑"/>
                <a:cs typeface="微软雅黑"/>
              </a:rPr>
              <a:t>n</a:t>
            </a:r>
            <a:r>
              <a:rPr sz="2000" b="1" dirty="0">
                <a:latin typeface="微软雅黑"/>
                <a:cs typeface="微软雅黑"/>
              </a:rPr>
              <a:t>el</a:t>
            </a:r>
            <a:endParaRPr sz="2000">
              <a:latin typeface="微软雅黑"/>
              <a:cs typeface="微软雅黑"/>
            </a:endParaRPr>
          </a:p>
          <a:p>
            <a:pPr>
              <a:lnSpc>
                <a:spcPct val="100000"/>
              </a:lnSpc>
              <a:spcBef>
                <a:spcPts val="56"/>
              </a:spcBef>
            </a:pPr>
            <a:endParaRPr sz="2650">
              <a:latin typeface="Times New Roman"/>
              <a:cs typeface="Times New Roman"/>
            </a:endParaRPr>
          </a:p>
          <a:p>
            <a:pPr marL="12700">
              <a:lnSpc>
                <a:spcPct val="100000"/>
              </a:lnSpc>
            </a:pPr>
            <a:r>
              <a:rPr sz="2000" b="1" spc="-5" dirty="0">
                <a:latin typeface="微软雅黑"/>
                <a:cs typeface="微软雅黑"/>
              </a:rPr>
              <a:t>I/</a:t>
            </a:r>
            <a:r>
              <a:rPr sz="2000" b="1" dirty="0">
                <a:latin typeface="微软雅黑"/>
                <a:cs typeface="微软雅黑"/>
              </a:rPr>
              <a:t>O</a:t>
            </a:r>
            <a:r>
              <a:rPr sz="2000" b="1" spc="-15" dirty="0">
                <a:latin typeface="微软雅黑"/>
                <a:cs typeface="微软雅黑"/>
              </a:rPr>
              <a:t> bu</a:t>
            </a:r>
            <a:r>
              <a:rPr sz="2000" b="1" spc="-10" dirty="0">
                <a:latin typeface="微软雅黑"/>
                <a:cs typeface="微软雅黑"/>
              </a:rPr>
              <a:t>ff</a:t>
            </a:r>
            <a:r>
              <a:rPr sz="2000" b="1" spc="-15" dirty="0">
                <a:latin typeface="微软雅黑"/>
                <a:cs typeface="微软雅黑"/>
              </a:rPr>
              <a:t>e</a:t>
            </a:r>
            <a:r>
              <a:rPr sz="2000" b="1" dirty="0">
                <a:latin typeface="微软雅黑"/>
                <a:cs typeface="微软雅黑"/>
              </a:rPr>
              <a:t>r</a:t>
            </a:r>
            <a:r>
              <a:rPr sz="2000" b="1" spc="-10" dirty="0">
                <a:latin typeface="微软雅黑"/>
                <a:cs typeface="微软雅黑"/>
              </a:rPr>
              <a:t> </a:t>
            </a:r>
            <a:r>
              <a:rPr sz="2000" b="1" spc="-5" dirty="0">
                <a:latin typeface="微软雅黑"/>
                <a:cs typeface="微软雅黑"/>
              </a:rPr>
              <a:t>o</a:t>
            </a:r>
            <a:r>
              <a:rPr sz="2000" b="1" dirty="0">
                <a:latin typeface="微软雅黑"/>
                <a:cs typeface="微软雅黑"/>
              </a:rPr>
              <a:t>n</a:t>
            </a:r>
            <a:r>
              <a:rPr sz="2000" b="1" spc="-10" dirty="0">
                <a:latin typeface="微软雅黑"/>
                <a:cs typeface="微软雅黑"/>
              </a:rPr>
              <a:t> </a:t>
            </a:r>
            <a:r>
              <a:rPr sz="2000" b="1" dirty="0">
                <a:latin typeface="微软雅黑"/>
                <a:cs typeface="微软雅黑"/>
              </a:rPr>
              <a:t>add</a:t>
            </a:r>
            <a:r>
              <a:rPr sz="2000" b="1" spc="-10" dirty="0">
                <a:latin typeface="微软雅黑"/>
                <a:cs typeface="微软雅黑"/>
              </a:rPr>
              <a:t>r</a:t>
            </a:r>
            <a:r>
              <a:rPr sz="2000" b="1" dirty="0">
                <a:latin typeface="微软雅黑"/>
                <a:cs typeface="微软雅黑"/>
              </a:rPr>
              <a:t>ess</a:t>
            </a:r>
            <a:endParaRPr sz="2000">
              <a:latin typeface="微软雅黑"/>
              <a:cs typeface="微软雅黑"/>
            </a:endParaRPr>
          </a:p>
        </p:txBody>
      </p:sp>
      <p:sp>
        <p:nvSpPr>
          <p:cNvPr id="124" name="object 124"/>
          <p:cNvSpPr/>
          <p:nvPr/>
        </p:nvSpPr>
        <p:spPr>
          <a:xfrm>
            <a:off x="8487156" y="3616452"/>
            <a:ext cx="2159635" cy="410209"/>
          </a:xfrm>
          <a:custGeom>
            <a:avLst/>
            <a:gdLst/>
            <a:ahLst/>
            <a:cxnLst/>
            <a:rect l="l" t="t" r="r" b="b"/>
            <a:pathLst>
              <a:path w="2159634" h="410210">
                <a:moveTo>
                  <a:pt x="2091054" y="0"/>
                </a:moveTo>
                <a:lnTo>
                  <a:pt x="68325" y="0"/>
                </a:lnTo>
                <a:lnTo>
                  <a:pt x="41783" y="5334"/>
                </a:lnTo>
                <a:lnTo>
                  <a:pt x="20066" y="20066"/>
                </a:lnTo>
                <a:lnTo>
                  <a:pt x="5334" y="41656"/>
                </a:lnTo>
                <a:lnTo>
                  <a:pt x="0" y="68325"/>
                </a:lnTo>
                <a:lnTo>
                  <a:pt x="0" y="341375"/>
                </a:lnTo>
                <a:lnTo>
                  <a:pt x="5334" y="368046"/>
                </a:lnTo>
                <a:lnTo>
                  <a:pt x="20066" y="389636"/>
                </a:lnTo>
                <a:lnTo>
                  <a:pt x="41783" y="404368"/>
                </a:lnTo>
                <a:lnTo>
                  <a:pt x="68325" y="409702"/>
                </a:lnTo>
                <a:lnTo>
                  <a:pt x="2091054" y="409702"/>
                </a:lnTo>
                <a:lnTo>
                  <a:pt x="2117598" y="404368"/>
                </a:lnTo>
                <a:lnTo>
                  <a:pt x="2139315" y="389636"/>
                </a:lnTo>
                <a:lnTo>
                  <a:pt x="2154047" y="368046"/>
                </a:lnTo>
                <a:lnTo>
                  <a:pt x="2159380" y="341375"/>
                </a:lnTo>
                <a:lnTo>
                  <a:pt x="2159380" y="68325"/>
                </a:lnTo>
                <a:lnTo>
                  <a:pt x="2154047" y="41656"/>
                </a:lnTo>
                <a:lnTo>
                  <a:pt x="2139315" y="20066"/>
                </a:lnTo>
                <a:lnTo>
                  <a:pt x="2117598" y="5334"/>
                </a:lnTo>
                <a:lnTo>
                  <a:pt x="2091054" y="0"/>
                </a:lnTo>
                <a:close/>
              </a:path>
            </a:pathLst>
          </a:custGeom>
          <a:solidFill>
            <a:srgbClr val="B9CC00"/>
          </a:solidFill>
        </p:spPr>
        <p:txBody>
          <a:bodyPr wrap="square" lIns="0" tIns="0" rIns="0" bIns="0" rtlCol="0"/>
          <a:lstStyle/>
          <a:p>
            <a:endParaRPr/>
          </a:p>
        </p:txBody>
      </p:sp>
      <p:sp>
        <p:nvSpPr>
          <p:cNvPr id="125" name="object 125"/>
          <p:cNvSpPr txBox="1"/>
          <p:nvPr/>
        </p:nvSpPr>
        <p:spPr>
          <a:xfrm>
            <a:off x="9095613" y="3679493"/>
            <a:ext cx="1043940" cy="280035"/>
          </a:xfrm>
          <a:prstGeom prst="rect">
            <a:avLst/>
          </a:prstGeom>
        </p:spPr>
        <p:txBody>
          <a:bodyPr vert="horz" wrap="square" lIns="0" tIns="0" rIns="0" bIns="0" rtlCol="0">
            <a:spAutoFit/>
          </a:bodyPr>
          <a:lstStyle/>
          <a:p>
            <a:pPr marL="12700">
              <a:lnSpc>
                <a:spcPct val="100000"/>
              </a:lnSpc>
            </a:pPr>
            <a:r>
              <a:rPr sz="2000" b="1" dirty="0">
                <a:latin typeface="微软雅黑"/>
                <a:cs typeface="微软雅黑"/>
              </a:rPr>
              <a:t>字符格式</a:t>
            </a:r>
            <a:endParaRPr sz="2000">
              <a:latin typeface="微软雅黑"/>
              <a:cs typeface="微软雅黑"/>
            </a:endParaRPr>
          </a:p>
        </p:txBody>
      </p:sp>
      <p:sp>
        <p:nvSpPr>
          <p:cNvPr id="126" name="object 126"/>
          <p:cNvSpPr txBox="1"/>
          <p:nvPr/>
        </p:nvSpPr>
        <p:spPr>
          <a:xfrm>
            <a:off x="8009635" y="3682541"/>
            <a:ext cx="301625" cy="280035"/>
          </a:xfrm>
          <a:prstGeom prst="rect">
            <a:avLst/>
          </a:prstGeom>
        </p:spPr>
        <p:txBody>
          <a:bodyPr vert="horz" wrap="square" lIns="0" tIns="0" rIns="0" bIns="0" rtlCol="0">
            <a:spAutoFit/>
          </a:bodyPr>
          <a:lstStyle/>
          <a:p>
            <a:pPr marL="12700">
              <a:lnSpc>
                <a:spcPct val="100000"/>
              </a:lnSpc>
            </a:pPr>
            <a:r>
              <a:rPr sz="2000" b="1" dirty="0">
                <a:latin typeface="微软雅黑"/>
                <a:cs typeface="微软雅黑"/>
              </a:rPr>
              <a:t>or</a:t>
            </a:r>
            <a:endParaRPr sz="2000">
              <a:latin typeface="微软雅黑"/>
              <a:cs typeface="微软雅黑"/>
            </a:endParaRPr>
          </a:p>
        </p:txBody>
      </p:sp>
    </p:spTree>
    <p:extLst>
      <p:ext uri="{BB962C8B-B14F-4D97-AF65-F5344CB8AC3E}">
        <p14:creationId xmlns:p14="http://schemas.microsoft.com/office/powerpoint/2010/main" val="7732003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176527" y="114297"/>
            <a:ext cx="9838944" cy="6629400"/>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1162050" y="99822"/>
            <a:ext cx="9867900" cy="6658609"/>
          </a:xfrm>
          <a:custGeom>
            <a:avLst/>
            <a:gdLst/>
            <a:ahLst/>
            <a:cxnLst/>
            <a:rect l="l" t="t" r="r" b="b"/>
            <a:pathLst>
              <a:path w="9867900" h="6658609">
                <a:moveTo>
                  <a:pt x="0" y="6658356"/>
                </a:moveTo>
                <a:lnTo>
                  <a:pt x="9867900" y="6658356"/>
                </a:lnTo>
                <a:lnTo>
                  <a:pt x="9867900" y="0"/>
                </a:lnTo>
                <a:lnTo>
                  <a:pt x="0" y="0"/>
                </a:lnTo>
                <a:lnTo>
                  <a:pt x="0" y="6658356"/>
                </a:lnTo>
                <a:close/>
              </a:path>
            </a:pathLst>
          </a:custGeom>
          <a:ln w="28956">
            <a:solidFill>
              <a:srgbClr val="5B9BD4"/>
            </a:solidFill>
          </a:ln>
        </p:spPr>
        <p:txBody>
          <a:bodyPr wrap="square" lIns="0" tIns="0" rIns="0" bIns="0" rtlCol="0"/>
          <a:lstStyle/>
          <a:p>
            <a:endParaRPr/>
          </a:p>
        </p:txBody>
      </p:sp>
      <p:sp>
        <p:nvSpPr>
          <p:cNvPr id="4" name="object 4"/>
          <p:cNvSpPr txBox="1"/>
          <p:nvPr/>
        </p:nvSpPr>
        <p:spPr>
          <a:xfrm>
            <a:off x="8776716" y="173736"/>
            <a:ext cx="2032000" cy="462280"/>
          </a:xfrm>
          <a:prstGeom prst="rect">
            <a:avLst/>
          </a:prstGeom>
          <a:solidFill>
            <a:srgbClr val="E34A46"/>
          </a:solidFill>
        </p:spPr>
        <p:txBody>
          <a:bodyPr vert="horz" wrap="square" lIns="0" tIns="0" rIns="0" bIns="0" rtlCol="0">
            <a:spAutoFit/>
          </a:bodyPr>
          <a:lstStyle/>
          <a:p>
            <a:pPr marL="92710">
              <a:lnSpc>
                <a:spcPct val="100000"/>
              </a:lnSpc>
            </a:pPr>
            <a:r>
              <a:rPr sz="2400" b="1" dirty="0">
                <a:solidFill>
                  <a:srgbClr val="FFFFFF"/>
                </a:solidFill>
                <a:latin typeface="微软雅黑"/>
                <a:cs typeface="微软雅黑"/>
              </a:rPr>
              <a:t>串口句柄定义</a:t>
            </a:r>
            <a:endParaRPr sz="2400">
              <a:latin typeface="微软雅黑"/>
              <a:cs typeface="微软雅黑"/>
            </a:endParaRPr>
          </a:p>
        </p:txBody>
      </p:sp>
      <p:sp>
        <p:nvSpPr>
          <p:cNvPr id="5" name="object 5"/>
          <p:cNvSpPr/>
          <p:nvPr/>
        </p:nvSpPr>
        <p:spPr>
          <a:xfrm>
            <a:off x="1844801" y="878586"/>
            <a:ext cx="5619115" cy="370840"/>
          </a:xfrm>
          <a:custGeom>
            <a:avLst/>
            <a:gdLst/>
            <a:ahLst/>
            <a:cxnLst/>
            <a:rect l="l" t="t" r="r" b="b"/>
            <a:pathLst>
              <a:path w="5619115" h="370840">
                <a:moveTo>
                  <a:pt x="0" y="370332"/>
                </a:moveTo>
                <a:lnTo>
                  <a:pt x="5618988" y="370332"/>
                </a:lnTo>
                <a:lnTo>
                  <a:pt x="5618988" y="0"/>
                </a:lnTo>
                <a:lnTo>
                  <a:pt x="0" y="0"/>
                </a:lnTo>
                <a:lnTo>
                  <a:pt x="0" y="370332"/>
                </a:lnTo>
                <a:close/>
              </a:path>
            </a:pathLst>
          </a:custGeom>
          <a:ln w="38100">
            <a:solidFill>
              <a:srgbClr val="FF0000"/>
            </a:solidFill>
          </a:ln>
        </p:spPr>
        <p:txBody>
          <a:bodyPr wrap="square" lIns="0" tIns="0" rIns="0" bIns="0" rtlCol="0"/>
          <a:lstStyle/>
          <a:p>
            <a:endParaRPr/>
          </a:p>
        </p:txBody>
      </p:sp>
      <p:sp>
        <p:nvSpPr>
          <p:cNvPr id="6" name="object 6"/>
          <p:cNvSpPr/>
          <p:nvPr/>
        </p:nvSpPr>
        <p:spPr>
          <a:xfrm>
            <a:off x="3761994" y="55626"/>
            <a:ext cx="4445635" cy="779780"/>
          </a:xfrm>
          <a:custGeom>
            <a:avLst/>
            <a:gdLst/>
            <a:ahLst/>
            <a:cxnLst/>
            <a:rect l="l" t="t" r="r" b="b"/>
            <a:pathLst>
              <a:path w="4445634" h="779780">
                <a:moveTo>
                  <a:pt x="4359909" y="0"/>
                </a:moveTo>
                <a:lnTo>
                  <a:pt x="740917" y="0"/>
                </a:lnTo>
                <a:lnTo>
                  <a:pt x="77778" y="353"/>
                </a:lnTo>
                <a:lnTo>
                  <a:pt x="38242" y="14298"/>
                </a:lnTo>
                <a:lnTo>
                  <a:pt x="10479" y="44550"/>
                </a:lnTo>
                <a:lnTo>
                  <a:pt x="0" y="85598"/>
                </a:lnTo>
                <a:lnTo>
                  <a:pt x="0" y="427989"/>
                </a:lnTo>
                <a:lnTo>
                  <a:pt x="14298" y="475345"/>
                </a:lnTo>
                <a:lnTo>
                  <a:pt x="44550" y="503108"/>
                </a:lnTo>
                <a:lnTo>
                  <a:pt x="85597" y="513588"/>
                </a:lnTo>
                <a:lnTo>
                  <a:pt x="740917" y="513588"/>
                </a:lnTo>
                <a:lnTo>
                  <a:pt x="562101" y="779779"/>
                </a:lnTo>
                <a:lnTo>
                  <a:pt x="1852294" y="513588"/>
                </a:lnTo>
                <a:lnTo>
                  <a:pt x="4367729" y="513234"/>
                </a:lnTo>
                <a:lnTo>
                  <a:pt x="4381875" y="510738"/>
                </a:lnTo>
                <a:lnTo>
                  <a:pt x="4418100" y="490745"/>
                </a:lnTo>
                <a:lnTo>
                  <a:pt x="4440714" y="456282"/>
                </a:lnTo>
                <a:lnTo>
                  <a:pt x="4445508" y="427989"/>
                </a:lnTo>
                <a:lnTo>
                  <a:pt x="4445508" y="299593"/>
                </a:lnTo>
                <a:lnTo>
                  <a:pt x="4445154" y="77778"/>
                </a:lnTo>
                <a:lnTo>
                  <a:pt x="4431209" y="38242"/>
                </a:lnTo>
                <a:lnTo>
                  <a:pt x="4400957" y="10479"/>
                </a:lnTo>
                <a:lnTo>
                  <a:pt x="4374451" y="1232"/>
                </a:lnTo>
                <a:lnTo>
                  <a:pt x="4359909" y="0"/>
                </a:lnTo>
                <a:close/>
              </a:path>
            </a:pathLst>
          </a:custGeom>
          <a:solidFill>
            <a:srgbClr val="FFFFC7"/>
          </a:solidFill>
        </p:spPr>
        <p:txBody>
          <a:bodyPr wrap="square" lIns="0" tIns="0" rIns="0" bIns="0" rtlCol="0"/>
          <a:lstStyle/>
          <a:p>
            <a:endParaRPr/>
          </a:p>
        </p:txBody>
      </p:sp>
      <p:sp>
        <p:nvSpPr>
          <p:cNvPr id="7" name="object 7"/>
          <p:cNvSpPr/>
          <p:nvPr/>
        </p:nvSpPr>
        <p:spPr>
          <a:xfrm>
            <a:off x="3761994" y="55626"/>
            <a:ext cx="4445635" cy="779780"/>
          </a:xfrm>
          <a:custGeom>
            <a:avLst/>
            <a:gdLst/>
            <a:ahLst/>
            <a:cxnLst/>
            <a:rect l="l" t="t" r="r" b="b"/>
            <a:pathLst>
              <a:path w="4445634" h="779780">
                <a:moveTo>
                  <a:pt x="0" y="85598"/>
                </a:moveTo>
                <a:lnTo>
                  <a:pt x="10479" y="44550"/>
                </a:lnTo>
                <a:lnTo>
                  <a:pt x="38242" y="14298"/>
                </a:lnTo>
                <a:lnTo>
                  <a:pt x="77778" y="353"/>
                </a:lnTo>
                <a:lnTo>
                  <a:pt x="740917" y="0"/>
                </a:lnTo>
                <a:lnTo>
                  <a:pt x="1852294" y="0"/>
                </a:lnTo>
                <a:lnTo>
                  <a:pt x="4359909" y="0"/>
                </a:lnTo>
                <a:lnTo>
                  <a:pt x="4374451" y="1232"/>
                </a:lnTo>
                <a:lnTo>
                  <a:pt x="4412513" y="18085"/>
                </a:lnTo>
                <a:lnTo>
                  <a:pt x="4437942" y="50385"/>
                </a:lnTo>
                <a:lnTo>
                  <a:pt x="4445508" y="299593"/>
                </a:lnTo>
                <a:lnTo>
                  <a:pt x="4445508" y="427989"/>
                </a:lnTo>
                <a:lnTo>
                  <a:pt x="4444275" y="442531"/>
                </a:lnTo>
                <a:lnTo>
                  <a:pt x="4440714" y="456282"/>
                </a:lnTo>
                <a:lnTo>
                  <a:pt x="4418100" y="490745"/>
                </a:lnTo>
                <a:lnTo>
                  <a:pt x="4381875" y="510738"/>
                </a:lnTo>
                <a:lnTo>
                  <a:pt x="1852294" y="513588"/>
                </a:lnTo>
                <a:lnTo>
                  <a:pt x="562101" y="779779"/>
                </a:lnTo>
                <a:lnTo>
                  <a:pt x="740917" y="513588"/>
                </a:lnTo>
                <a:lnTo>
                  <a:pt x="85597" y="513588"/>
                </a:lnTo>
                <a:lnTo>
                  <a:pt x="71056" y="512355"/>
                </a:lnTo>
                <a:lnTo>
                  <a:pt x="32994" y="495502"/>
                </a:lnTo>
                <a:lnTo>
                  <a:pt x="7565" y="463202"/>
                </a:lnTo>
                <a:lnTo>
                  <a:pt x="0" y="427989"/>
                </a:lnTo>
                <a:lnTo>
                  <a:pt x="0" y="299593"/>
                </a:lnTo>
                <a:lnTo>
                  <a:pt x="0" y="85598"/>
                </a:lnTo>
                <a:close/>
              </a:path>
            </a:pathLst>
          </a:custGeom>
          <a:ln w="28956">
            <a:solidFill>
              <a:srgbClr val="000000"/>
            </a:solidFill>
          </a:ln>
        </p:spPr>
        <p:txBody>
          <a:bodyPr wrap="square" lIns="0" tIns="0" rIns="0" bIns="0" rtlCol="0"/>
          <a:lstStyle/>
          <a:p>
            <a:endParaRPr/>
          </a:p>
        </p:txBody>
      </p:sp>
      <p:sp>
        <p:nvSpPr>
          <p:cNvPr id="8" name="object 8"/>
          <p:cNvSpPr txBox="1">
            <a:spLocks noGrp="1"/>
          </p:cNvSpPr>
          <p:nvPr>
            <p:ph type="title"/>
          </p:nvPr>
        </p:nvSpPr>
        <p:spPr>
          <a:xfrm>
            <a:off x="3908805" y="146875"/>
            <a:ext cx="4151629" cy="365760"/>
          </a:xfrm>
          <a:prstGeom prst="rect">
            <a:avLst/>
          </a:prstGeom>
        </p:spPr>
        <p:txBody>
          <a:bodyPr vert="horz" wrap="square" lIns="0" tIns="0" rIns="0" bIns="0" rtlCol="0">
            <a:spAutoFit/>
          </a:bodyPr>
          <a:lstStyle/>
          <a:p>
            <a:pPr marL="12700">
              <a:lnSpc>
                <a:spcPct val="100000"/>
              </a:lnSpc>
            </a:pPr>
            <a:r>
              <a:rPr sz="2400" spc="10" dirty="0">
                <a:solidFill>
                  <a:srgbClr val="000000"/>
                </a:solidFill>
                <a:latin typeface="Microsoft JhengHei"/>
                <a:cs typeface="Microsoft JhengHei"/>
              </a:rPr>
              <a:t>串口实例，</a:t>
            </a:r>
            <a:r>
              <a:rPr sz="2400" spc="15" dirty="0">
                <a:solidFill>
                  <a:srgbClr val="000000"/>
                </a:solidFill>
                <a:latin typeface="Microsoft JhengHei"/>
                <a:cs typeface="Microsoft JhengHei"/>
              </a:rPr>
              <a:t>如</a:t>
            </a:r>
            <a:r>
              <a:rPr sz="2400" spc="-5" dirty="0">
                <a:solidFill>
                  <a:srgbClr val="000000"/>
                </a:solidFill>
                <a:latin typeface="Consolas"/>
                <a:cs typeface="Consolas"/>
              </a:rPr>
              <a:t>UART1</a:t>
            </a:r>
            <a:r>
              <a:rPr sz="2400" spc="10" dirty="0">
                <a:solidFill>
                  <a:srgbClr val="000000"/>
                </a:solidFill>
                <a:latin typeface="Microsoft JhengHei"/>
                <a:cs typeface="Microsoft JhengHei"/>
              </a:rPr>
              <a:t>和</a:t>
            </a:r>
            <a:r>
              <a:rPr sz="2400" spc="-5" dirty="0">
                <a:solidFill>
                  <a:srgbClr val="000000"/>
                </a:solidFill>
                <a:latin typeface="Consolas"/>
                <a:cs typeface="Consolas"/>
              </a:rPr>
              <a:t>UART2</a:t>
            </a:r>
            <a:r>
              <a:rPr sz="2400" dirty="0">
                <a:solidFill>
                  <a:srgbClr val="000000"/>
                </a:solidFill>
                <a:latin typeface="Microsoft JhengHei"/>
                <a:cs typeface="Microsoft JhengHei"/>
              </a:rPr>
              <a:t>等</a:t>
            </a:r>
            <a:endParaRPr sz="2400">
              <a:latin typeface="Microsoft JhengHei"/>
              <a:cs typeface="Microsoft JhengHei"/>
            </a:endParaRPr>
          </a:p>
        </p:txBody>
      </p:sp>
    </p:spTree>
    <p:extLst>
      <p:ext uri="{BB962C8B-B14F-4D97-AF65-F5344CB8AC3E}">
        <p14:creationId xmlns:p14="http://schemas.microsoft.com/office/powerpoint/2010/main" val="4213703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176527" y="114297"/>
            <a:ext cx="9838944" cy="6629400"/>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1162050" y="99822"/>
            <a:ext cx="9867900" cy="6658609"/>
          </a:xfrm>
          <a:custGeom>
            <a:avLst/>
            <a:gdLst/>
            <a:ahLst/>
            <a:cxnLst/>
            <a:rect l="l" t="t" r="r" b="b"/>
            <a:pathLst>
              <a:path w="9867900" h="6658609">
                <a:moveTo>
                  <a:pt x="0" y="6658356"/>
                </a:moveTo>
                <a:lnTo>
                  <a:pt x="9867900" y="6658356"/>
                </a:lnTo>
                <a:lnTo>
                  <a:pt x="9867900" y="0"/>
                </a:lnTo>
                <a:lnTo>
                  <a:pt x="0" y="0"/>
                </a:lnTo>
                <a:lnTo>
                  <a:pt x="0" y="6658356"/>
                </a:lnTo>
                <a:close/>
              </a:path>
            </a:pathLst>
          </a:custGeom>
          <a:ln w="28956">
            <a:solidFill>
              <a:srgbClr val="5B9BD4"/>
            </a:solidFill>
          </a:ln>
        </p:spPr>
        <p:txBody>
          <a:bodyPr wrap="square" lIns="0" tIns="0" rIns="0" bIns="0" rtlCol="0"/>
          <a:lstStyle/>
          <a:p>
            <a:endParaRPr/>
          </a:p>
        </p:txBody>
      </p:sp>
      <p:sp>
        <p:nvSpPr>
          <p:cNvPr id="4" name="object 4"/>
          <p:cNvSpPr/>
          <p:nvPr/>
        </p:nvSpPr>
        <p:spPr>
          <a:xfrm>
            <a:off x="8776716" y="173736"/>
            <a:ext cx="2032000" cy="462280"/>
          </a:xfrm>
          <a:custGeom>
            <a:avLst/>
            <a:gdLst/>
            <a:ahLst/>
            <a:cxnLst/>
            <a:rect l="l" t="t" r="r" b="b"/>
            <a:pathLst>
              <a:path w="2032000" h="462280">
                <a:moveTo>
                  <a:pt x="0" y="461771"/>
                </a:moveTo>
                <a:lnTo>
                  <a:pt x="2031492" y="461771"/>
                </a:lnTo>
                <a:lnTo>
                  <a:pt x="2031492" y="0"/>
                </a:lnTo>
                <a:lnTo>
                  <a:pt x="0" y="0"/>
                </a:lnTo>
                <a:lnTo>
                  <a:pt x="0" y="461771"/>
                </a:lnTo>
                <a:close/>
              </a:path>
            </a:pathLst>
          </a:custGeom>
          <a:solidFill>
            <a:srgbClr val="E34A46"/>
          </a:solidFill>
        </p:spPr>
        <p:txBody>
          <a:bodyPr wrap="square" lIns="0" tIns="0" rIns="0" bIns="0" rtlCol="0"/>
          <a:lstStyle/>
          <a:p>
            <a:endParaRPr/>
          </a:p>
        </p:txBody>
      </p:sp>
      <p:sp>
        <p:nvSpPr>
          <p:cNvPr id="5" name="object 5"/>
          <p:cNvSpPr/>
          <p:nvPr/>
        </p:nvSpPr>
        <p:spPr>
          <a:xfrm>
            <a:off x="1834133" y="1271777"/>
            <a:ext cx="5619115" cy="370840"/>
          </a:xfrm>
          <a:custGeom>
            <a:avLst/>
            <a:gdLst/>
            <a:ahLst/>
            <a:cxnLst/>
            <a:rect l="l" t="t" r="r" b="b"/>
            <a:pathLst>
              <a:path w="5619115" h="370839">
                <a:moveTo>
                  <a:pt x="0" y="370332"/>
                </a:moveTo>
                <a:lnTo>
                  <a:pt x="5618988" y="370332"/>
                </a:lnTo>
                <a:lnTo>
                  <a:pt x="5618988" y="0"/>
                </a:lnTo>
                <a:lnTo>
                  <a:pt x="0" y="0"/>
                </a:lnTo>
                <a:lnTo>
                  <a:pt x="0" y="370332"/>
                </a:lnTo>
                <a:close/>
              </a:path>
            </a:pathLst>
          </a:custGeom>
          <a:ln w="38100">
            <a:solidFill>
              <a:srgbClr val="FF0000"/>
            </a:solidFill>
          </a:ln>
        </p:spPr>
        <p:txBody>
          <a:bodyPr wrap="square" lIns="0" tIns="0" rIns="0" bIns="0" rtlCol="0"/>
          <a:lstStyle/>
          <a:p>
            <a:endParaRPr/>
          </a:p>
        </p:txBody>
      </p:sp>
      <p:sp>
        <p:nvSpPr>
          <p:cNvPr id="6" name="object 6"/>
          <p:cNvSpPr/>
          <p:nvPr/>
        </p:nvSpPr>
        <p:spPr>
          <a:xfrm>
            <a:off x="3188970" y="429005"/>
            <a:ext cx="7362825" cy="823594"/>
          </a:xfrm>
          <a:custGeom>
            <a:avLst/>
            <a:gdLst/>
            <a:ahLst/>
            <a:cxnLst/>
            <a:rect l="l" t="t" r="r" b="b"/>
            <a:pathLst>
              <a:path w="7362825" h="823594">
                <a:moveTo>
                  <a:pt x="7277100" y="0"/>
                </a:moveTo>
                <a:lnTo>
                  <a:pt x="1227074" y="0"/>
                </a:lnTo>
                <a:lnTo>
                  <a:pt x="77934" y="317"/>
                </a:lnTo>
                <a:lnTo>
                  <a:pt x="38328" y="14116"/>
                </a:lnTo>
                <a:lnTo>
                  <a:pt x="10505" y="44303"/>
                </a:lnTo>
                <a:lnTo>
                  <a:pt x="0" y="85344"/>
                </a:lnTo>
                <a:lnTo>
                  <a:pt x="0" y="426720"/>
                </a:lnTo>
                <a:lnTo>
                  <a:pt x="14116" y="473735"/>
                </a:lnTo>
                <a:lnTo>
                  <a:pt x="44303" y="501558"/>
                </a:lnTo>
                <a:lnTo>
                  <a:pt x="85343" y="512064"/>
                </a:lnTo>
                <a:lnTo>
                  <a:pt x="1227074" y="512064"/>
                </a:lnTo>
                <a:lnTo>
                  <a:pt x="793115" y="823595"/>
                </a:lnTo>
                <a:lnTo>
                  <a:pt x="3067685" y="512064"/>
                </a:lnTo>
                <a:lnTo>
                  <a:pt x="7284509" y="511746"/>
                </a:lnTo>
                <a:lnTo>
                  <a:pt x="7298678" y="509309"/>
                </a:lnTo>
                <a:lnTo>
                  <a:pt x="7334972" y="489432"/>
                </a:lnTo>
                <a:lnTo>
                  <a:pt x="7357638" y="455012"/>
                </a:lnTo>
                <a:lnTo>
                  <a:pt x="7362444" y="426720"/>
                </a:lnTo>
                <a:lnTo>
                  <a:pt x="7362444" y="298704"/>
                </a:lnTo>
                <a:lnTo>
                  <a:pt x="7362126" y="77934"/>
                </a:lnTo>
                <a:lnTo>
                  <a:pt x="7348327" y="38328"/>
                </a:lnTo>
                <a:lnTo>
                  <a:pt x="7318140" y="10505"/>
                </a:lnTo>
                <a:lnTo>
                  <a:pt x="7291644" y="1235"/>
                </a:lnTo>
                <a:lnTo>
                  <a:pt x="7277100" y="0"/>
                </a:lnTo>
                <a:close/>
              </a:path>
            </a:pathLst>
          </a:custGeom>
          <a:solidFill>
            <a:srgbClr val="FFFFC7"/>
          </a:solidFill>
        </p:spPr>
        <p:txBody>
          <a:bodyPr wrap="square" lIns="0" tIns="0" rIns="0" bIns="0" rtlCol="0"/>
          <a:lstStyle/>
          <a:p>
            <a:endParaRPr/>
          </a:p>
        </p:txBody>
      </p:sp>
      <p:sp>
        <p:nvSpPr>
          <p:cNvPr id="7" name="object 7"/>
          <p:cNvSpPr/>
          <p:nvPr/>
        </p:nvSpPr>
        <p:spPr>
          <a:xfrm>
            <a:off x="3188970" y="429005"/>
            <a:ext cx="7362825" cy="823594"/>
          </a:xfrm>
          <a:custGeom>
            <a:avLst/>
            <a:gdLst/>
            <a:ahLst/>
            <a:cxnLst/>
            <a:rect l="l" t="t" r="r" b="b"/>
            <a:pathLst>
              <a:path w="7362825" h="823594">
                <a:moveTo>
                  <a:pt x="0" y="85344"/>
                </a:moveTo>
                <a:lnTo>
                  <a:pt x="10505" y="44303"/>
                </a:lnTo>
                <a:lnTo>
                  <a:pt x="38328" y="14116"/>
                </a:lnTo>
                <a:lnTo>
                  <a:pt x="77934" y="317"/>
                </a:lnTo>
                <a:lnTo>
                  <a:pt x="1227074" y="0"/>
                </a:lnTo>
                <a:lnTo>
                  <a:pt x="3067685" y="0"/>
                </a:lnTo>
                <a:lnTo>
                  <a:pt x="7277100" y="0"/>
                </a:lnTo>
                <a:lnTo>
                  <a:pt x="7291644" y="1235"/>
                </a:lnTo>
                <a:lnTo>
                  <a:pt x="7329682" y="18128"/>
                </a:lnTo>
                <a:lnTo>
                  <a:pt x="7355021" y="50494"/>
                </a:lnTo>
                <a:lnTo>
                  <a:pt x="7362444" y="298704"/>
                </a:lnTo>
                <a:lnTo>
                  <a:pt x="7362444" y="426720"/>
                </a:lnTo>
                <a:lnTo>
                  <a:pt x="7361208" y="441264"/>
                </a:lnTo>
                <a:lnTo>
                  <a:pt x="7357638" y="455012"/>
                </a:lnTo>
                <a:lnTo>
                  <a:pt x="7334972" y="489432"/>
                </a:lnTo>
                <a:lnTo>
                  <a:pt x="7298678" y="509309"/>
                </a:lnTo>
                <a:lnTo>
                  <a:pt x="3067685" y="512064"/>
                </a:lnTo>
                <a:lnTo>
                  <a:pt x="793115" y="823595"/>
                </a:lnTo>
                <a:lnTo>
                  <a:pt x="1227074" y="512064"/>
                </a:lnTo>
                <a:lnTo>
                  <a:pt x="85343" y="512064"/>
                </a:lnTo>
                <a:lnTo>
                  <a:pt x="70799" y="510828"/>
                </a:lnTo>
                <a:lnTo>
                  <a:pt x="32761" y="493935"/>
                </a:lnTo>
                <a:lnTo>
                  <a:pt x="7422" y="461569"/>
                </a:lnTo>
                <a:lnTo>
                  <a:pt x="0" y="426720"/>
                </a:lnTo>
                <a:lnTo>
                  <a:pt x="0" y="298704"/>
                </a:lnTo>
                <a:lnTo>
                  <a:pt x="0" y="85344"/>
                </a:lnTo>
                <a:close/>
              </a:path>
            </a:pathLst>
          </a:custGeom>
          <a:ln w="28955">
            <a:solidFill>
              <a:srgbClr val="000000"/>
            </a:solidFill>
          </a:ln>
        </p:spPr>
        <p:txBody>
          <a:bodyPr wrap="square" lIns="0" tIns="0" rIns="0" bIns="0" rtlCol="0"/>
          <a:lstStyle/>
          <a:p>
            <a:endParaRPr/>
          </a:p>
        </p:txBody>
      </p:sp>
      <p:sp>
        <p:nvSpPr>
          <p:cNvPr id="8" name="object 8"/>
          <p:cNvSpPr txBox="1"/>
          <p:nvPr/>
        </p:nvSpPr>
        <p:spPr>
          <a:xfrm>
            <a:off x="3334258" y="255005"/>
            <a:ext cx="7377430" cy="594995"/>
          </a:xfrm>
          <a:prstGeom prst="rect">
            <a:avLst/>
          </a:prstGeom>
        </p:spPr>
        <p:txBody>
          <a:bodyPr vert="horz" wrap="square" lIns="0" tIns="0" rIns="0" bIns="0" rtlCol="0">
            <a:spAutoFit/>
          </a:bodyPr>
          <a:lstStyle/>
          <a:p>
            <a:pPr marR="5080" algn="r">
              <a:lnSpc>
                <a:spcPts val="2550"/>
              </a:lnSpc>
            </a:pPr>
            <a:r>
              <a:rPr sz="2400" b="1" dirty="0">
                <a:solidFill>
                  <a:srgbClr val="FFFFFF"/>
                </a:solidFill>
                <a:latin typeface="微软雅黑"/>
                <a:cs typeface="微软雅黑"/>
              </a:rPr>
              <a:t>串口句柄定义</a:t>
            </a:r>
            <a:endParaRPr sz="2400">
              <a:latin typeface="微软雅黑"/>
              <a:cs typeface="微软雅黑"/>
            </a:endParaRPr>
          </a:p>
          <a:p>
            <a:pPr marL="12700">
              <a:lnSpc>
                <a:spcPts val="2510"/>
              </a:lnSpc>
            </a:pPr>
            <a:r>
              <a:rPr sz="2400" b="1" spc="10" dirty="0">
                <a:latin typeface="Microsoft JhengHei"/>
                <a:cs typeface="Microsoft JhengHei"/>
              </a:rPr>
              <a:t>串口初始化数据类型，它的成员变量为串口通信参数</a:t>
            </a:r>
            <a:endParaRPr sz="2400">
              <a:latin typeface="Microsoft JhengHei"/>
              <a:cs typeface="Microsoft JhengHei"/>
            </a:endParaRPr>
          </a:p>
        </p:txBody>
      </p:sp>
    </p:spTree>
    <p:extLst>
      <p:ext uri="{BB962C8B-B14F-4D97-AF65-F5344CB8AC3E}">
        <p14:creationId xmlns:p14="http://schemas.microsoft.com/office/powerpoint/2010/main" val="16942779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176527" y="114297"/>
            <a:ext cx="9838944" cy="6629400"/>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1162050" y="99822"/>
            <a:ext cx="9867900" cy="6658609"/>
          </a:xfrm>
          <a:custGeom>
            <a:avLst/>
            <a:gdLst/>
            <a:ahLst/>
            <a:cxnLst/>
            <a:rect l="l" t="t" r="r" b="b"/>
            <a:pathLst>
              <a:path w="9867900" h="6658609">
                <a:moveTo>
                  <a:pt x="0" y="6658356"/>
                </a:moveTo>
                <a:lnTo>
                  <a:pt x="9867900" y="6658356"/>
                </a:lnTo>
                <a:lnTo>
                  <a:pt x="9867900" y="0"/>
                </a:lnTo>
                <a:lnTo>
                  <a:pt x="0" y="0"/>
                </a:lnTo>
                <a:lnTo>
                  <a:pt x="0" y="6658356"/>
                </a:lnTo>
                <a:close/>
              </a:path>
            </a:pathLst>
          </a:custGeom>
          <a:ln w="28956">
            <a:solidFill>
              <a:srgbClr val="5B9BD4"/>
            </a:solidFill>
          </a:ln>
        </p:spPr>
        <p:txBody>
          <a:bodyPr wrap="square" lIns="0" tIns="0" rIns="0" bIns="0" rtlCol="0"/>
          <a:lstStyle/>
          <a:p>
            <a:endParaRPr/>
          </a:p>
        </p:txBody>
      </p:sp>
      <p:sp>
        <p:nvSpPr>
          <p:cNvPr id="4" name="object 4"/>
          <p:cNvSpPr txBox="1">
            <a:spLocks noGrp="1"/>
          </p:cNvSpPr>
          <p:nvPr>
            <p:ph type="title"/>
          </p:nvPr>
        </p:nvSpPr>
        <p:spPr>
          <a:xfrm>
            <a:off x="8776716" y="173736"/>
            <a:ext cx="2032000" cy="462280"/>
          </a:xfrm>
          <a:prstGeom prst="rect">
            <a:avLst/>
          </a:prstGeom>
          <a:solidFill>
            <a:srgbClr val="E34A46"/>
          </a:solidFill>
        </p:spPr>
        <p:txBody>
          <a:bodyPr vert="horz" wrap="square" lIns="0" tIns="0" rIns="0" bIns="0" rtlCol="0">
            <a:spAutoFit/>
          </a:bodyPr>
          <a:lstStyle/>
          <a:p>
            <a:pPr marL="92710">
              <a:lnSpc>
                <a:spcPct val="100000"/>
              </a:lnSpc>
            </a:pPr>
            <a:r>
              <a:rPr sz="2400" dirty="0">
                <a:solidFill>
                  <a:srgbClr val="FFFFFF"/>
                </a:solidFill>
              </a:rPr>
              <a:t>串口句柄定义</a:t>
            </a:r>
            <a:endParaRPr sz="2400"/>
          </a:p>
        </p:txBody>
      </p:sp>
      <p:sp>
        <p:nvSpPr>
          <p:cNvPr id="5" name="object 5"/>
          <p:cNvSpPr/>
          <p:nvPr/>
        </p:nvSpPr>
        <p:spPr>
          <a:xfrm>
            <a:off x="1834133" y="1652777"/>
            <a:ext cx="5619115" cy="2359660"/>
          </a:xfrm>
          <a:custGeom>
            <a:avLst/>
            <a:gdLst/>
            <a:ahLst/>
            <a:cxnLst/>
            <a:rect l="l" t="t" r="r" b="b"/>
            <a:pathLst>
              <a:path w="5619115" h="2359660">
                <a:moveTo>
                  <a:pt x="0" y="2359152"/>
                </a:moveTo>
                <a:lnTo>
                  <a:pt x="5618988" y="2359152"/>
                </a:lnTo>
                <a:lnTo>
                  <a:pt x="5618988" y="0"/>
                </a:lnTo>
                <a:lnTo>
                  <a:pt x="0" y="0"/>
                </a:lnTo>
                <a:lnTo>
                  <a:pt x="0" y="2359152"/>
                </a:lnTo>
                <a:close/>
              </a:path>
            </a:pathLst>
          </a:custGeom>
          <a:ln w="38100">
            <a:solidFill>
              <a:srgbClr val="FF0000"/>
            </a:solidFill>
          </a:ln>
        </p:spPr>
        <p:txBody>
          <a:bodyPr wrap="square" lIns="0" tIns="0" rIns="0" bIns="0" rtlCol="0"/>
          <a:lstStyle/>
          <a:p>
            <a:endParaRPr/>
          </a:p>
        </p:txBody>
      </p:sp>
      <p:sp>
        <p:nvSpPr>
          <p:cNvPr id="6" name="object 6"/>
          <p:cNvSpPr/>
          <p:nvPr/>
        </p:nvSpPr>
        <p:spPr>
          <a:xfrm>
            <a:off x="4120134" y="799337"/>
            <a:ext cx="2720340" cy="779780"/>
          </a:xfrm>
          <a:custGeom>
            <a:avLst/>
            <a:gdLst/>
            <a:ahLst/>
            <a:cxnLst/>
            <a:rect l="l" t="t" r="r" b="b"/>
            <a:pathLst>
              <a:path w="2720340" h="779780">
                <a:moveTo>
                  <a:pt x="2634741" y="0"/>
                </a:moveTo>
                <a:lnTo>
                  <a:pt x="453389" y="0"/>
                </a:lnTo>
                <a:lnTo>
                  <a:pt x="77778" y="353"/>
                </a:lnTo>
                <a:lnTo>
                  <a:pt x="38242" y="14298"/>
                </a:lnTo>
                <a:lnTo>
                  <a:pt x="10479" y="44550"/>
                </a:lnTo>
                <a:lnTo>
                  <a:pt x="0" y="85598"/>
                </a:lnTo>
                <a:lnTo>
                  <a:pt x="0" y="427989"/>
                </a:lnTo>
                <a:lnTo>
                  <a:pt x="14298" y="475345"/>
                </a:lnTo>
                <a:lnTo>
                  <a:pt x="44550" y="503108"/>
                </a:lnTo>
                <a:lnTo>
                  <a:pt x="85598" y="513588"/>
                </a:lnTo>
                <a:lnTo>
                  <a:pt x="453389" y="513588"/>
                </a:lnTo>
                <a:lnTo>
                  <a:pt x="344042" y="779779"/>
                </a:lnTo>
                <a:lnTo>
                  <a:pt x="1133475" y="513588"/>
                </a:lnTo>
                <a:lnTo>
                  <a:pt x="2642561" y="513234"/>
                </a:lnTo>
                <a:lnTo>
                  <a:pt x="2656707" y="510738"/>
                </a:lnTo>
                <a:lnTo>
                  <a:pt x="2692932" y="490745"/>
                </a:lnTo>
                <a:lnTo>
                  <a:pt x="2715546" y="456282"/>
                </a:lnTo>
                <a:lnTo>
                  <a:pt x="2720340" y="427989"/>
                </a:lnTo>
                <a:lnTo>
                  <a:pt x="2720340" y="299592"/>
                </a:lnTo>
                <a:lnTo>
                  <a:pt x="2719986" y="77778"/>
                </a:lnTo>
                <a:lnTo>
                  <a:pt x="2706041" y="38242"/>
                </a:lnTo>
                <a:lnTo>
                  <a:pt x="2675789" y="10479"/>
                </a:lnTo>
                <a:lnTo>
                  <a:pt x="2649283" y="1232"/>
                </a:lnTo>
                <a:lnTo>
                  <a:pt x="2634741" y="0"/>
                </a:lnTo>
                <a:close/>
              </a:path>
            </a:pathLst>
          </a:custGeom>
          <a:solidFill>
            <a:srgbClr val="FFFFC7"/>
          </a:solidFill>
        </p:spPr>
        <p:txBody>
          <a:bodyPr wrap="square" lIns="0" tIns="0" rIns="0" bIns="0" rtlCol="0"/>
          <a:lstStyle/>
          <a:p>
            <a:endParaRPr/>
          </a:p>
        </p:txBody>
      </p:sp>
      <p:sp>
        <p:nvSpPr>
          <p:cNvPr id="7" name="object 7"/>
          <p:cNvSpPr/>
          <p:nvPr/>
        </p:nvSpPr>
        <p:spPr>
          <a:xfrm>
            <a:off x="4120134" y="799337"/>
            <a:ext cx="2720340" cy="779780"/>
          </a:xfrm>
          <a:custGeom>
            <a:avLst/>
            <a:gdLst/>
            <a:ahLst/>
            <a:cxnLst/>
            <a:rect l="l" t="t" r="r" b="b"/>
            <a:pathLst>
              <a:path w="2720340" h="779780">
                <a:moveTo>
                  <a:pt x="0" y="85598"/>
                </a:moveTo>
                <a:lnTo>
                  <a:pt x="10479" y="44550"/>
                </a:lnTo>
                <a:lnTo>
                  <a:pt x="38242" y="14298"/>
                </a:lnTo>
                <a:lnTo>
                  <a:pt x="77778" y="353"/>
                </a:lnTo>
                <a:lnTo>
                  <a:pt x="453389" y="0"/>
                </a:lnTo>
                <a:lnTo>
                  <a:pt x="1133475" y="0"/>
                </a:lnTo>
                <a:lnTo>
                  <a:pt x="2634741" y="0"/>
                </a:lnTo>
                <a:lnTo>
                  <a:pt x="2649283" y="1232"/>
                </a:lnTo>
                <a:lnTo>
                  <a:pt x="2687345" y="18085"/>
                </a:lnTo>
                <a:lnTo>
                  <a:pt x="2712774" y="50385"/>
                </a:lnTo>
                <a:lnTo>
                  <a:pt x="2720340" y="299592"/>
                </a:lnTo>
                <a:lnTo>
                  <a:pt x="2720340" y="427989"/>
                </a:lnTo>
                <a:lnTo>
                  <a:pt x="2719107" y="442531"/>
                </a:lnTo>
                <a:lnTo>
                  <a:pt x="2715546" y="456282"/>
                </a:lnTo>
                <a:lnTo>
                  <a:pt x="2692932" y="490745"/>
                </a:lnTo>
                <a:lnTo>
                  <a:pt x="2656707" y="510738"/>
                </a:lnTo>
                <a:lnTo>
                  <a:pt x="1133475" y="513588"/>
                </a:lnTo>
                <a:lnTo>
                  <a:pt x="344042" y="779779"/>
                </a:lnTo>
                <a:lnTo>
                  <a:pt x="453389" y="513588"/>
                </a:lnTo>
                <a:lnTo>
                  <a:pt x="85598" y="513588"/>
                </a:lnTo>
                <a:lnTo>
                  <a:pt x="71056" y="512355"/>
                </a:lnTo>
                <a:lnTo>
                  <a:pt x="32994" y="495502"/>
                </a:lnTo>
                <a:lnTo>
                  <a:pt x="7565" y="463202"/>
                </a:lnTo>
                <a:lnTo>
                  <a:pt x="0" y="427989"/>
                </a:lnTo>
                <a:lnTo>
                  <a:pt x="0" y="299592"/>
                </a:lnTo>
                <a:lnTo>
                  <a:pt x="0" y="85598"/>
                </a:lnTo>
                <a:close/>
              </a:path>
            </a:pathLst>
          </a:custGeom>
          <a:ln w="28956">
            <a:solidFill>
              <a:srgbClr val="000000"/>
            </a:solidFill>
          </a:ln>
        </p:spPr>
        <p:txBody>
          <a:bodyPr wrap="square" lIns="0" tIns="0" rIns="0" bIns="0" rtlCol="0"/>
          <a:lstStyle/>
          <a:p>
            <a:endParaRPr/>
          </a:p>
        </p:txBody>
      </p:sp>
      <p:sp>
        <p:nvSpPr>
          <p:cNvPr id="8" name="object 8"/>
          <p:cNvSpPr txBox="1"/>
          <p:nvPr/>
        </p:nvSpPr>
        <p:spPr>
          <a:xfrm>
            <a:off x="4296283" y="890968"/>
            <a:ext cx="2366645" cy="365760"/>
          </a:xfrm>
          <a:prstGeom prst="rect">
            <a:avLst/>
          </a:prstGeom>
        </p:spPr>
        <p:txBody>
          <a:bodyPr vert="horz" wrap="square" lIns="0" tIns="0" rIns="0" bIns="0" rtlCol="0">
            <a:spAutoFit/>
          </a:bodyPr>
          <a:lstStyle/>
          <a:p>
            <a:pPr marL="12700">
              <a:lnSpc>
                <a:spcPct val="100000"/>
              </a:lnSpc>
            </a:pPr>
            <a:r>
              <a:rPr sz="2400" b="1" spc="10" dirty="0">
                <a:latin typeface="Microsoft JhengHei"/>
                <a:cs typeface="Microsoft JhengHei"/>
              </a:rPr>
              <a:t>串口的</a:t>
            </a:r>
            <a:r>
              <a:rPr sz="2400" b="1" spc="-5" dirty="0">
                <a:latin typeface="Consolas"/>
                <a:cs typeface="Consolas"/>
              </a:rPr>
              <a:t>I/O</a:t>
            </a:r>
            <a:r>
              <a:rPr sz="2400" b="1" spc="10" dirty="0">
                <a:latin typeface="Microsoft JhengHei"/>
                <a:cs typeface="Microsoft JhengHei"/>
              </a:rPr>
              <a:t>缓冲区</a:t>
            </a:r>
            <a:endParaRPr sz="2400">
              <a:latin typeface="Microsoft JhengHei"/>
              <a:cs typeface="Microsoft JhengHei"/>
            </a:endParaRPr>
          </a:p>
        </p:txBody>
      </p:sp>
    </p:spTree>
    <p:extLst>
      <p:ext uri="{BB962C8B-B14F-4D97-AF65-F5344CB8AC3E}">
        <p14:creationId xmlns:p14="http://schemas.microsoft.com/office/powerpoint/2010/main" val="37309865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176527" y="114297"/>
            <a:ext cx="9838944" cy="6629400"/>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1162050" y="99822"/>
            <a:ext cx="9867900" cy="6658609"/>
          </a:xfrm>
          <a:custGeom>
            <a:avLst/>
            <a:gdLst/>
            <a:ahLst/>
            <a:cxnLst/>
            <a:rect l="l" t="t" r="r" b="b"/>
            <a:pathLst>
              <a:path w="9867900" h="6658609">
                <a:moveTo>
                  <a:pt x="0" y="6658356"/>
                </a:moveTo>
                <a:lnTo>
                  <a:pt x="9867900" y="6658356"/>
                </a:lnTo>
                <a:lnTo>
                  <a:pt x="9867900" y="0"/>
                </a:lnTo>
                <a:lnTo>
                  <a:pt x="0" y="0"/>
                </a:lnTo>
                <a:lnTo>
                  <a:pt x="0" y="6658356"/>
                </a:lnTo>
                <a:close/>
              </a:path>
            </a:pathLst>
          </a:custGeom>
          <a:ln w="28956">
            <a:solidFill>
              <a:srgbClr val="5B9BD4"/>
            </a:solidFill>
          </a:ln>
        </p:spPr>
        <p:txBody>
          <a:bodyPr wrap="square" lIns="0" tIns="0" rIns="0" bIns="0" rtlCol="0"/>
          <a:lstStyle/>
          <a:p>
            <a:endParaRPr/>
          </a:p>
        </p:txBody>
      </p:sp>
      <p:sp>
        <p:nvSpPr>
          <p:cNvPr id="4" name="object 4"/>
          <p:cNvSpPr txBox="1">
            <a:spLocks noGrp="1"/>
          </p:cNvSpPr>
          <p:nvPr>
            <p:ph type="title"/>
          </p:nvPr>
        </p:nvSpPr>
        <p:spPr>
          <a:xfrm>
            <a:off x="8776716" y="173736"/>
            <a:ext cx="2032000" cy="462280"/>
          </a:xfrm>
          <a:prstGeom prst="rect">
            <a:avLst/>
          </a:prstGeom>
          <a:solidFill>
            <a:srgbClr val="E34A46"/>
          </a:solidFill>
        </p:spPr>
        <p:txBody>
          <a:bodyPr vert="horz" wrap="square" lIns="0" tIns="0" rIns="0" bIns="0" rtlCol="0">
            <a:spAutoFit/>
          </a:bodyPr>
          <a:lstStyle/>
          <a:p>
            <a:pPr marL="92710">
              <a:lnSpc>
                <a:spcPct val="100000"/>
              </a:lnSpc>
            </a:pPr>
            <a:r>
              <a:rPr sz="2400" dirty="0">
                <a:solidFill>
                  <a:srgbClr val="FFFFFF"/>
                </a:solidFill>
              </a:rPr>
              <a:t>串口句柄定义</a:t>
            </a:r>
            <a:endParaRPr sz="2400"/>
          </a:p>
        </p:txBody>
      </p:sp>
      <p:sp>
        <p:nvSpPr>
          <p:cNvPr id="5" name="object 5"/>
          <p:cNvSpPr/>
          <p:nvPr/>
        </p:nvSpPr>
        <p:spPr>
          <a:xfrm>
            <a:off x="1805177" y="4022597"/>
            <a:ext cx="5619115" cy="786765"/>
          </a:xfrm>
          <a:custGeom>
            <a:avLst/>
            <a:gdLst/>
            <a:ahLst/>
            <a:cxnLst/>
            <a:rect l="l" t="t" r="r" b="b"/>
            <a:pathLst>
              <a:path w="5619115" h="786764">
                <a:moveTo>
                  <a:pt x="0" y="786383"/>
                </a:moveTo>
                <a:lnTo>
                  <a:pt x="5618987" y="786383"/>
                </a:lnTo>
                <a:lnTo>
                  <a:pt x="5618987" y="0"/>
                </a:lnTo>
                <a:lnTo>
                  <a:pt x="0" y="0"/>
                </a:lnTo>
                <a:lnTo>
                  <a:pt x="0" y="786383"/>
                </a:lnTo>
                <a:close/>
              </a:path>
            </a:pathLst>
          </a:custGeom>
          <a:ln w="38100">
            <a:solidFill>
              <a:srgbClr val="FF0000"/>
            </a:solidFill>
          </a:ln>
        </p:spPr>
        <p:txBody>
          <a:bodyPr wrap="square" lIns="0" tIns="0" rIns="0" bIns="0" rtlCol="0"/>
          <a:lstStyle/>
          <a:p>
            <a:endParaRPr/>
          </a:p>
        </p:txBody>
      </p:sp>
      <p:sp>
        <p:nvSpPr>
          <p:cNvPr id="6" name="object 6"/>
          <p:cNvSpPr/>
          <p:nvPr/>
        </p:nvSpPr>
        <p:spPr>
          <a:xfrm>
            <a:off x="2852166" y="3173729"/>
            <a:ext cx="4483735" cy="777875"/>
          </a:xfrm>
          <a:custGeom>
            <a:avLst/>
            <a:gdLst/>
            <a:ahLst/>
            <a:cxnLst/>
            <a:rect l="l" t="t" r="r" b="b"/>
            <a:pathLst>
              <a:path w="4483734" h="777875">
                <a:moveTo>
                  <a:pt x="4398263" y="0"/>
                </a:moveTo>
                <a:lnTo>
                  <a:pt x="747268" y="0"/>
                </a:lnTo>
                <a:lnTo>
                  <a:pt x="77934" y="317"/>
                </a:lnTo>
                <a:lnTo>
                  <a:pt x="38328" y="14116"/>
                </a:lnTo>
                <a:lnTo>
                  <a:pt x="10505" y="44303"/>
                </a:lnTo>
                <a:lnTo>
                  <a:pt x="0" y="85344"/>
                </a:lnTo>
                <a:lnTo>
                  <a:pt x="0" y="426720"/>
                </a:lnTo>
                <a:lnTo>
                  <a:pt x="14116" y="473735"/>
                </a:lnTo>
                <a:lnTo>
                  <a:pt x="44303" y="501558"/>
                </a:lnTo>
                <a:lnTo>
                  <a:pt x="85343" y="512064"/>
                </a:lnTo>
                <a:lnTo>
                  <a:pt x="747268" y="512064"/>
                </a:lnTo>
                <a:lnTo>
                  <a:pt x="566928" y="777367"/>
                </a:lnTo>
                <a:lnTo>
                  <a:pt x="1868170" y="512064"/>
                </a:lnTo>
                <a:lnTo>
                  <a:pt x="4405673" y="511746"/>
                </a:lnTo>
                <a:lnTo>
                  <a:pt x="4419842" y="509309"/>
                </a:lnTo>
                <a:lnTo>
                  <a:pt x="4456136" y="489432"/>
                </a:lnTo>
                <a:lnTo>
                  <a:pt x="4478802" y="455012"/>
                </a:lnTo>
                <a:lnTo>
                  <a:pt x="4483608" y="426720"/>
                </a:lnTo>
                <a:lnTo>
                  <a:pt x="4483608" y="298704"/>
                </a:lnTo>
                <a:lnTo>
                  <a:pt x="4483290" y="77934"/>
                </a:lnTo>
                <a:lnTo>
                  <a:pt x="4469491" y="38328"/>
                </a:lnTo>
                <a:lnTo>
                  <a:pt x="4439304" y="10505"/>
                </a:lnTo>
                <a:lnTo>
                  <a:pt x="4412808" y="1235"/>
                </a:lnTo>
                <a:lnTo>
                  <a:pt x="4398263" y="0"/>
                </a:lnTo>
                <a:close/>
              </a:path>
            </a:pathLst>
          </a:custGeom>
          <a:solidFill>
            <a:srgbClr val="FFFFC7"/>
          </a:solidFill>
        </p:spPr>
        <p:txBody>
          <a:bodyPr wrap="square" lIns="0" tIns="0" rIns="0" bIns="0" rtlCol="0"/>
          <a:lstStyle/>
          <a:p>
            <a:endParaRPr/>
          </a:p>
        </p:txBody>
      </p:sp>
      <p:sp>
        <p:nvSpPr>
          <p:cNvPr id="7" name="object 7"/>
          <p:cNvSpPr/>
          <p:nvPr/>
        </p:nvSpPr>
        <p:spPr>
          <a:xfrm>
            <a:off x="2852166" y="3173729"/>
            <a:ext cx="4483735" cy="777875"/>
          </a:xfrm>
          <a:custGeom>
            <a:avLst/>
            <a:gdLst/>
            <a:ahLst/>
            <a:cxnLst/>
            <a:rect l="l" t="t" r="r" b="b"/>
            <a:pathLst>
              <a:path w="4483734" h="777875">
                <a:moveTo>
                  <a:pt x="0" y="85344"/>
                </a:moveTo>
                <a:lnTo>
                  <a:pt x="10505" y="44303"/>
                </a:lnTo>
                <a:lnTo>
                  <a:pt x="38328" y="14116"/>
                </a:lnTo>
                <a:lnTo>
                  <a:pt x="77934" y="317"/>
                </a:lnTo>
                <a:lnTo>
                  <a:pt x="747268" y="0"/>
                </a:lnTo>
                <a:lnTo>
                  <a:pt x="1868170" y="0"/>
                </a:lnTo>
                <a:lnTo>
                  <a:pt x="4398263" y="0"/>
                </a:lnTo>
                <a:lnTo>
                  <a:pt x="4412808" y="1235"/>
                </a:lnTo>
                <a:lnTo>
                  <a:pt x="4450846" y="18128"/>
                </a:lnTo>
                <a:lnTo>
                  <a:pt x="4476185" y="50494"/>
                </a:lnTo>
                <a:lnTo>
                  <a:pt x="4483608" y="298704"/>
                </a:lnTo>
                <a:lnTo>
                  <a:pt x="4483608" y="426720"/>
                </a:lnTo>
                <a:lnTo>
                  <a:pt x="4482372" y="441264"/>
                </a:lnTo>
                <a:lnTo>
                  <a:pt x="4478802" y="455012"/>
                </a:lnTo>
                <a:lnTo>
                  <a:pt x="4456136" y="489432"/>
                </a:lnTo>
                <a:lnTo>
                  <a:pt x="4419842" y="509309"/>
                </a:lnTo>
                <a:lnTo>
                  <a:pt x="1868170" y="512064"/>
                </a:lnTo>
                <a:lnTo>
                  <a:pt x="566928" y="777367"/>
                </a:lnTo>
                <a:lnTo>
                  <a:pt x="747268" y="512064"/>
                </a:lnTo>
                <a:lnTo>
                  <a:pt x="85343" y="512064"/>
                </a:lnTo>
                <a:lnTo>
                  <a:pt x="70799" y="510828"/>
                </a:lnTo>
                <a:lnTo>
                  <a:pt x="32761" y="493935"/>
                </a:lnTo>
                <a:lnTo>
                  <a:pt x="7422" y="461569"/>
                </a:lnTo>
                <a:lnTo>
                  <a:pt x="0" y="426720"/>
                </a:lnTo>
                <a:lnTo>
                  <a:pt x="0" y="298704"/>
                </a:lnTo>
                <a:lnTo>
                  <a:pt x="0" y="85344"/>
                </a:lnTo>
                <a:close/>
              </a:path>
            </a:pathLst>
          </a:custGeom>
          <a:ln w="28955">
            <a:solidFill>
              <a:srgbClr val="000000"/>
            </a:solidFill>
          </a:ln>
        </p:spPr>
        <p:txBody>
          <a:bodyPr wrap="square" lIns="0" tIns="0" rIns="0" bIns="0" rtlCol="0"/>
          <a:lstStyle/>
          <a:p>
            <a:endParaRPr/>
          </a:p>
        </p:txBody>
      </p:sp>
      <p:sp>
        <p:nvSpPr>
          <p:cNvPr id="8" name="object 8"/>
          <p:cNvSpPr txBox="1"/>
          <p:nvPr/>
        </p:nvSpPr>
        <p:spPr>
          <a:xfrm>
            <a:off x="2991104" y="3264979"/>
            <a:ext cx="4204970" cy="365760"/>
          </a:xfrm>
          <a:prstGeom prst="rect">
            <a:avLst/>
          </a:prstGeom>
        </p:spPr>
        <p:txBody>
          <a:bodyPr vert="horz" wrap="square" lIns="0" tIns="0" rIns="0" bIns="0" rtlCol="0">
            <a:spAutoFit/>
          </a:bodyPr>
          <a:lstStyle/>
          <a:p>
            <a:pPr marL="12700">
              <a:lnSpc>
                <a:spcPct val="100000"/>
              </a:lnSpc>
            </a:pPr>
            <a:r>
              <a:rPr sz="2400" b="1" spc="10" dirty="0">
                <a:latin typeface="Microsoft JhengHei"/>
                <a:cs typeface="Microsoft JhengHei"/>
              </a:rPr>
              <a:t>串口发送和接收的</a:t>
            </a:r>
            <a:r>
              <a:rPr sz="2400" b="1" spc="-5" dirty="0">
                <a:latin typeface="Consolas"/>
                <a:cs typeface="Consolas"/>
              </a:rPr>
              <a:t>DMA</a:t>
            </a:r>
            <a:r>
              <a:rPr sz="2400" b="1" spc="10" dirty="0">
                <a:latin typeface="Microsoft JhengHei"/>
                <a:cs typeface="Microsoft JhengHei"/>
              </a:rPr>
              <a:t>通道句柄</a:t>
            </a:r>
            <a:endParaRPr sz="2400">
              <a:latin typeface="Microsoft JhengHei"/>
              <a:cs typeface="Microsoft JhengHei"/>
            </a:endParaRPr>
          </a:p>
        </p:txBody>
      </p:sp>
    </p:spTree>
    <p:extLst>
      <p:ext uri="{BB962C8B-B14F-4D97-AF65-F5344CB8AC3E}">
        <p14:creationId xmlns:p14="http://schemas.microsoft.com/office/powerpoint/2010/main" val="30023784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176527" y="114297"/>
            <a:ext cx="9838944" cy="6629400"/>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1162050" y="99822"/>
            <a:ext cx="9867900" cy="6658609"/>
          </a:xfrm>
          <a:custGeom>
            <a:avLst/>
            <a:gdLst/>
            <a:ahLst/>
            <a:cxnLst/>
            <a:rect l="l" t="t" r="r" b="b"/>
            <a:pathLst>
              <a:path w="9867900" h="6658609">
                <a:moveTo>
                  <a:pt x="0" y="6658356"/>
                </a:moveTo>
                <a:lnTo>
                  <a:pt x="9867900" y="6658356"/>
                </a:lnTo>
                <a:lnTo>
                  <a:pt x="9867900" y="0"/>
                </a:lnTo>
                <a:lnTo>
                  <a:pt x="0" y="0"/>
                </a:lnTo>
                <a:lnTo>
                  <a:pt x="0" y="6658356"/>
                </a:lnTo>
                <a:close/>
              </a:path>
            </a:pathLst>
          </a:custGeom>
          <a:ln w="28956">
            <a:solidFill>
              <a:srgbClr val="5B9BD4"/>
            </a:solidFill>
          </a:ln>
        </p:spPr>
        <p:txBody>
          <a:bodyPr wrap="square" lIns="0" tIns="0" rIns="0" bIns="0" rtlCol="0"/>
          <a:lstStyle/>
          <a:p>
            <a:endParaRPr/>
          </a:p>
        </p:txBody>
      </p:sp>
      <p:sp>
        <p:nvSpPr>
          <p:cNvPr id="4" name="object 4"/>
          <p:cNvSpPr txBox="1">
            <a:spLocks noGrp="1"/>
          </p:cNvSpPr>
          <p:nvPr>
            <p:ph type="title"/>
          </p:nvPr>
        </p:nvSpPr>
        <p:spPr>
          <a:xfrm>
            <a:off x="8776716" y="173736"/>
            <a:ext cx="2032000" cy="462280"/>
          </a:xfrm>
          <a:prstGeom prst="rect">
            <a:avLst/>
          </a:prstGeom>
          <a:solidFill>
            <a:srgbClr val="E34A46"/>
          </a:solidFill>
        </p:spPr>
        <p:txBody>
          <a:bodyPr vert="horz" wrap="square" lIns="0" tIns="0" rIns="0" bIns="0" rtlCol="0">
            <a:spAutoFit/>
          </a:bodyPr>
          <a:lstStyle/>
          <a:p>
            <a:pPr marL="92710">
              <a:lnSpc>
                <a:spcPct val="100000"/>
              </a:lnSpc>
            </a:pPr>
            <a:r>
              <a:rPr sz="2400" dirty="0">
                <a:solidFill>
                  <a:srgbClr val="FFFFFF"/>
                </a:solidFill>
              </a:rPr>
              <a:t>串口句柄定义</a:t>
            </a:r>
            <a:endParaRPr sz="2400"/>
          </a:p>
        </p:txBody>
      </p:sp>
      <p:sp>
        <p:nvSpPr>
          <p:cNvPr id="5" name="object 5"/>
          <p:cNvSpPr/>
          <p:nvPr/>
        </p:nvSpPr>
        <p:spPr>
          <a:xfrm>
            <a:off x="1824989" y="4862321"/>
            <a:ext cx="5619115" cy="1530350"/>
          </a:xfrm>
          <a:custGeom>
            <a:avLst/>
            <a:gdLst/>
            <a:ahLst/>
            <a:cxnLst/>
            <a:rect l="l" t="t" r="r" b="b"/>
            <a:pathLst>
              <a:path w="5619115" h="1530350">
                <a:moveTo>
                  <a:pt x="0" y="1530095"/>
                </a:moveTo>
                <a:lnTo>
                  <a:pt x="5618988" y="1530095"/>
                </a:lnTo>
                <a:lnTo>
                  <a:pt x="5618988" y="0"/>
                </a:lnTo>
                <a:lnTo>
                  <a:pt x="0" y="0"/>
                </a:lnTo>
                <a:lnTo>
                  <a:pt x="0" y="1530095"/>
                </a:lnTo>
                <a:close/>
              </a:path>
            </a:pathLst>
          </a:custGeom>
          <a:ln w="38100">
            <a:solidFill>
              <a:srgbClr val="FF0000"/>
            </a:solidFill>
          </a:ln>
        </p:spPr>
        <p:txBody>
          <a:bodyPr wrap="square" lIns="0" tIns="0" rIns="0" bIns="0" rtlCol="0"/>
          <a:lstStyle/>
          <a:p>
            <a:endParaRPr/>
          </a:p>
        </p:txBody>
      </p:sp>
      <p:sp>
        <p:nvSpPr>
          <p:cNvPr id="6" name="object 6"/>
          <p:cNvSpPr/>
          <p:nvPr/>
        </p:nvSpPr>
        <p:spPr>
          <a:xfrm>
            <a:off x="4406646" y="4039361"/>
            <a:ext cx="2231390" cy="777875"/>
          </a:xfrm>
          <a:custGeom>
            <a:avLst/>
            <a:gdLst/>
            <a:ahLst/>
            <a:cxnLst/>
            <a:rect l="l" t="t" r="r" b="b"/>
            <a:pathLst>
              <a:path w="2231390" h="777875">
                <a:moveTo>
                  <a:pt x="2145792" y="0"/>
                </a:moveTo>
                <a:lnTo>
                  <a:pt x="371855" y="0"/>
                </a:lnTo>
                <a:lnTo>
                  <a:pt x="77934" y="317"/>
                </a:lnTo>
                <a:lnTo>
                  <a:pt x="38328" y="14116"/>
                </a:lnTo>
                <a:lnTo>
                  <a:pt x="10505" y="44303"/>
                </a:lnTo>
                <a:lnTo>
                  <a:pt x="0" y="85343"/>
                </a:lnTo>
                <a:lnTo>
                  <a:pt x="0" y="426719"/>
                </a:lnTo>
                <a:lnTo>
                  <a:pt x="14116" y="473735"/>
                </a:lnTo>
                <a:lnTo>
                  <a:pt x="44303" y="501558"/>
                </a:lnTo>
                <a:lnTo>
                  <a:pt x="85343" y="512063"/>
                </a:lnTo>
                <a:lnTo>
                  <a:pt x="371855" y="512063"/>
                </a:lnTo>
                <a:lnTo>
                  <a:pt x="282066" y="777494"/>
                </a:lnTo>
                <a:lnTo>
                  <a:pt x="929639" y="512063"/>
                </a:lnTo>
                <a:lnTo>
                  <a:pt x="2153201" y="511746"/>
                </a:lnTo>
                <a:lnTo>
                  <a:pt x="2167370" y="509309"/>
                </a:lnTo>
                <a:lnTo>
                  <a:pt x="2203664" y="489432"/>
                </a:lnTo>
                <a:lnTo>
                  <a:pt x="2226330" y="455012"/>
                </a:lnTo>
                <a:lnTo>
                  <a:pt x="2231135" y="426719"/>
                </a:lnTo>
                <a:lnTo>
                  <a:pt x="2231135" y="298704"/>
                </a:lnTo>
                <a:lnTo>
                  <a:pt x="2230818" y="77934"/>
                </a:lnTo>
                <a:lnTo>
                  <a:pt x="2217019" y="38328"/>
                </a:lnTo>
                <a:lnTo>
                  <a:pt x="2186832" y="10505"/>
                </a:lnTo>
                <a:lnTo>
                  <a:pt x="2160336" y="1235"/>
                </a:lnTo>
                <a:lnTo>
                  <a:pt x="2145792" y="0"/>
                </a:lnTo>
                <a:close/>
              </a:path>
            </a:pathLst>
          </a:custGeom>
          <a:solidFill>
            <a:srgbClr val="FFFFC7"/>
          </a:solidFill>
        </p:spPr>
        <p:txBody>
          <a:bodyPr wrap="square" lIns="0" tIns="0" rIns="0" bIns="0" rtlCol="0"/>
          <a:lstStyle/>
          <a:p>
            <a:endParaRPr/>
          </a:p>
        </p:txBody>
      </p:sp>
      <p:sp>
        <p:nvSpPr>
          <p:cNvPr id="7" name="object 7"/>
          <p:cNvSpPr/>
          <p:nvPr/>
        </p:nvSpPr>
        <p:spPr>
          <a:xfrm>
            <a:off x="4406646" y="4039361"/>
            <a:ext cx="2231390" cy="777875"/>
          </a:xfrm>
          <a:custGeom>
            <a:avLst/>
            <a:gdLst/>
            <a:ahLst/>
            <a:cxnLst/>
            <a:rect l="l" t="t" r="r" b="b"/>
            <a:pathLst>
              <a:path w="2231390" h="777875">
                <a:moveTo>
                  <a:pt x="0" y="85343"/>
                </a:moveTo>
                <a:lnTo>
                  <a:pt x="10505" y="44303"/>
                </a:lnTo>
                <a:lnTo>
                  <a:pt x="38328" y="14116"/>
                </a:lnTo>
                <a:lnTo>
                  <a:pt x="77934" y="317"/>
                </a:lnTo>
                <a:lnTo>
                  <a:pt x="371855" y="0"/>
                </a:lnTo>
                <a:lnTo>
                  <a:pt x="929639" y="0"/>
                </a:lnTo>
                <a:lnTo>
                  <a:pt x="2145792" y="0"/>
                </a:lnTo>
                <a:lnTo>
                  <a:pt x="2160336" y="1235"/>
                </a:lnTo>
                <a:lnTo>
                  <a:pt x="2198374" y="18128"/>
                </a:lnTo>
                <a:lnTo>
                  <a:pt x="2223713" y="50494"/>
                </a:lnTo>
                <a:lnTo>
                  <a:pt x="2231135" y="298704"/>
                </a:lnTo>
                <a:lnTo>
                  <a:pt x="2231135" y="426719"/>
                </a:lnTo>
                <a:lnTo>
                  <a:pt x="2229900" y="441264"/>
                </a:lnTo>
                <a:lnTo>
                  <a:pt x="2226330" y="455012"/>
                </a:lnTo>
                <a:lnTo>
                  <a:pt x="2203664" y="489432"/>
                </a:lnTo>
                <a:lnTo>
                  <a:pt x="2167370" y="509309"/>
                </a:lnTo>
                <a:lnTo>
                  <a:pt x="929639" y="512063"/>
                </a:lnTo>
                <a:lnTo>
                  <a:pt x="282066" y="777494"/>
                </a:lnTo>
                <a:lnTo>
                  <a:pt x="371855" y="512063"/>
                </a:lnTo>
                <a:lnTo>
                  <a:pt x="85343" y="512063"/>
                </a:lnTo>
                <a:lnTo>
                  <a:pt x="70799" y="510828"/>
                </a:lnTo>
                <a:lnTo>
                  <a:pt x="32761" y="493935"/>
                </a:lnTo>
                <a:lnTo>
                  <a:pt x="7422" y="461569"/>
                </a:lnTo>
                <a:lnTo>
                  <a:pt x="0" y="426719"/>
                </a:lnTo>
                <a:lnTo>
                  <a:pt x="0" y="298704"/>
                </a:lnTo>
                <a:lnTo>
                  <a:pt x="0" y="85343"/>
                </a:lnTo>
                <a:close/>
              </a:path>
            </a:pathLst>
          </a:custGeom>
          <a:ln w="28955">
            <a:solidFill>
              <a:srgbClr val="000000"/>
            </a:solidFill>
          </a:ln>
        </p:spPr>
        <p:txBody>
          <a:bodyPr wrap="square" lIns="0" tIns="0" rIns="0" bIns="0" rtlCol="0"/>
          <a:lstStyle/>
          <a:p>
            <a:endParaRPr/>
          </a:p>
        </p:txBody>
      </p:sp>
      <p:sp>
        <p:nvSpPr>
          <p:cNvPr id="8" name="object 8"/>
          <p:cNvSpPr txBox="1"/>
          <p:nvPr/>
        </p:nvSpPr>
        <p:spPr>
          <a:xfrm>
            <a:off x="4589779" y="4130984"/>
            <a:ext cx="1863725" cy="330835"/>
          </a:xfrm>
          <a:prstGeom prst="rect">
            <a:avLst/>
          </a:prstGeom>
        </p:spPr>
        <p:txBody>
          <a:bodyPr vert="horz" wrap="square" lIns="0" tIns="0" rIns="0" bIns="0" rtlCol="0">
            <a:spAutoFit/>
          </a:bodyPr>
          <a:lstStyle/>
          <a:p>
            <a:pPr marL="12700">
              <a:lnSpc>
                <a:spcPts val="2840"/>
              </a:lnSpc>
            </a:pPr>
            <a:r>
              <a:rPr sz="2400" b="1" spc="5" dirty="0">
                <a:latin typeface="Microsoft JhengHei"/>
                <a:cs typeface="Microsoft JhengHei"/>
              </a:rPr>
              <a:t>串口工作状态</a:t>
            </a:r>
            <a:endParaRPr sz="2400">
              <a:latin typeface="Microsoft JhengHei"/>
              <a:cs typeface="Microsoft JhengHei"/>
            </a:endParaRPr>
          </a:p>
        </p:txBody>
      </p:sp>
    </p:spTree>
    <p:extLst>
      <p:ext uri="{BB962C8B-B14F-4D97-AF65-F5344CB8AC3E}">
        <p14:creationId xmlns:p14="http://schemas.microsoft.com/office/powerpoint/2010/main" val="23753603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54963" y="1784604"/>
            <a:ext cx="10482072" cy="4866132"/>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840486" y="1770126"/>
            <a:ext cx="10511155" cy="4895215"/>
          </a:xfrm>
          <a:custGeom>
            <a:avLst/>
            <a:gdLst/>
            <a:ahLst/>
            <a:cxnLst/>
            <a:rect l="l" t="t" r="r" b="b"/>
            <a:pathLst>
              <a:path w="10511155" h="4895215">
                <a:moveTo>
                  <a:pt x="0" y="4895088"/>
                </a:moveTo>
                <a:lnTo>
                  <a:pt x="10511027" y="4895088"/>
                </a:lnTo>
                <a:lnTo>
                  <a:pt x="10511027" y="0"/>
                </a:lnTo>
                <a:lnTo>
                  <a:pt x="0" y="0"/>
                </a:lnTo>
                <a:lnTo>
                  <a:pt x="0" y="4895088"/>
                </a:lnTo>
                <a:close/>
              </a:path>
            </a:pathLst>
          </a:custGeom>
          <a:ln w="28955">
            <a:solidFill>
              <a:srgbClr val="5B9BD4"/>
            </a:solidFill>
          </a:ln>
        </p:spPr>
        <p:txBody>
          <a:bodyPr wrap="square" lIns="0" tIns="0" rIns="0" bIns="0" rtlCol="0"/>
          <a:lstStyle/>
          <a:p>
            <a:endParaRPr/>
          </a:p>
        </p:txBody>
      </p:sp>
      <p:sp>
        <p:nvSpPr>
          <p:cNvPr id="4" name="object 4"/>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5" name="object 5"/>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6" name="object 6"/>
          <p:cNvSpPr/>
          <p:nvPr/>
        </p:nvSpPr>
        <p:spPr>
          <a:xfrm>
            <a:off x="0" y="969276"/>
            <a:ext cx="2164079" cy="757415"/>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8" name="object 8"/>
          <p:cNvSpPr/>
          <p:nvPr/>
        </p:nvSpPr>
        <p:spPr>
          <a:xfrm>
            <a:off x="2037588" y="969276"/>
            <a:ext cx="611098" cy="757415"/>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0" name="object 10"/>
          <p:cNvSpPr txBox="1">
            <a:spLocks noGrp="1"/>
          </p:cNvSpPr>
          <p:nvPr>
            <p:ph type="title"/>
          </p:nvPr>
        </p:nvSpPr>
        <p:spPr>
          <a:xfrm>
            <a:off x="184810" y="1165722"/>
            <a:ext cx="1551305" cy="330200"/>
          </a:xfrm>
          <a:prstGeom prst="rect">
            <a:avLst/>
          </a:prstGeom>
        </p:spPr>
        <p:txBody>
          <a:bodyPr vert="horz" wrap="square" lIns="0" tIns="0" rIns="0" bIns="0" rtlCol="0">
            <a:spAutoFit/>
          </a:bodyPr>
          <a:lstStyle/>
          <a:p>
            <a:pPr marL="12700">
              <a:lnSpc>
                <a:spcPct val="100000"/>
              </a:lnSpc>
            </a:pPr>
            <a:r>
              <a:rPr sz="2400" dirty="0">
                <a:solidFill>
                  <a:srgbClr val="FFFFFF"/>
                </a:solidFill>
              </a:rPr>
              <a:t>串口初始化</a:t>
            </a:r>
            <a:endParaRPr sz="2400"/>
          </a:p>
        </p:txBody>
      </p:sp>
      <p:sp>
        <p:nvSpPr>
          <p:cNvPr id="11" name="object 11"/>
          <p:cNvSpPr txBox="1"/>
          <p:nvPr/>
        </p:nvSpPr>
        <p:spPr>
          <a:xfrm>
            <a:off x="2385441" y="389881"/>
            <a:ext cx="668655" cy="254000"/>
          </a:xfrm>
          <a:prstGeom prst="rect">
            <a:avLst/>
          </a:prstGeom>
        </p:spPr>
        <p:txBody>
          <a:bodyPr vert="horz" wrap="square" lIns="0" tIns="0" rIns="0" bIns="0" rtlCol="0">
            <a:spAutoFit/>
          </a:bodyPr>
          <a:lstStyle/>
          <a:p>
            <a:pPr marL="12700">
              <a:lnSpc>
                <a:spcPct val="100000"/>
              </a:lnSpc>
            </a:pPr>
            <a:r>
              <a:rPr sz="1800" b="1" spc="-45" dirty="0">
                <a:solidFill>
                  <a:srgbClr val="252525"/>
                </a:solidFill>
                <a:latin typeface="微软雅黑"/>
                <a:cs typeface="微软雅黑"/>
              </a:rPr>
              <a:t>U</a:t>
            </a:r>
            <a:r>
              <a:rPr sz="1800" b="1" dirty="0">
                <a:solidFill>
                  <a:srgbClr val="252525"/>
                </a:solidFill>
                <a:latin typeface="微软雅黑"/>
                <a:cs typeface="微软雅黑"/>
              </a:rPr>
              <a:t>A</a:t>
            </a:r>
            <a:r>
              <a:rPr sz="1800" b="1" spc="-35" dirty="0">
                <a:solidFill>
                  <a:srgbClr val="252525"/>
                </a:solidFill>
                <a:latin typeface="微软雅黑"/>
                <a:cs typeface="微软雅黑"/>
              </a:rPr>
              <a:t>R</a:t>
            </a:r>
            <a:r>
              <a:rPr sz="1800" b="1" dirty="0">
                <a:solidFill>
                  <a:srgbClr val="252525"/>
                </a:solidFill>
                <a:latin typeface="微软雅黑"/>
                <a:cs typeface="微软雅黑"/>
              </a:rPr>
              <a:t>T</a:t>
            </a:r>
            <a:endParaRPr sz="1800">
              <a:latin typeface="微软雅黑"/>
              <a:cs typeface="微软雅黑"/>
            </a:endParaRPr>
          </a:p>
        </p:txBody>
      </p:sp>
      <p:sp>
        <p:nvSpPr>
          <p:cNvPr id="12" name="object 12"/>
          <p:cNvSpPr txBox="1"/>
          <p:nvPr/>
        </p:nvSpPr>
        <p:spPr>
          <a:xfrm>
            <a:off x="4485259" y="1176965"/>
            <a:ext cx="3221355" cy="381000"/>
          </a:xfrm>
          <a:prstGeom prst="rect">
            <a:avLst/>
          </a:prstGeom>
        </p:spPr>
        <p:txBody>
          <a:bodyPr vert="horz" wrap="square" lIns="0" tIns="0" rIns="0" bIns="0" rtlCol="0">
            <a:spAutoFit/>
          </a:bodyPr>
          <a:lstStyle/>
          <a:p>
            <a:pPr marL="12700">
              <a:lnSpc>
                <a:spcPct val="100000"/>
              </a:lnSpc>
            </a:pPr>
            <a:r>
              <a:rPr sz="2800" b="1" spc="-5" dirty="0">
                <a:latin typeface="微软雅黑"/>
                <a:cs typeface="微软雅黑"/>
              </a:rPr>
              <a:t>串口初始化数据类型</a:t>
            </a:r>
            <a:endParaRPr sz="2800">
              <a:latin typeface="微软雅黑"/>
              <a:cs typeface="微软雅黑"/>
            </a:endParaRPr>
          </a:p>
        </p:txBody>
      </p:sp>
      <p:sp>
        <p:nvSpPr>
          <p:cNvPr id="13" name="object 13"/>
          <p:cNvSpPr txBox="1"/>
          <p:nvPr/>
        </p:nvSpPr>
        <p:spPr>
          <a:xfrm>
            <a:off x="4488179" y="1982723"/>
            <a:ext cx="5043170" cy="523240"/>
          </a:xfrm>
          <a:prstGeom prst="rect">
            <a:avLst/>
          </a:prstGeom>
          <a:solidFill>
            <a:srgbClr val="E34A46"/>
          </a:solidFill>
        </p:spPr>
        <p:txBody>
          <a:bodyPr vert="horz" wrap="square" lIns="0" tIns="0" rIns="0" bIns="0" rtlCol="0">
            <a:spAutoFit/>
          </a:bodyPr>
          <a:lstStyle/>
          <a:p>
            <a:pPr marL="91440">
              <a:lnSpc>
                <a:spcPct val="100000"/>
              </a:lnSpc>
            </a:pPr>
            <a:r>
              <a:rPr sz="2800" b="1" spc="-5" dirty="0">
                <a:solidFill>
                  <a:srgbClr val="FFFFFF"/>
                </a:solidFill>
                <a:latin typeface="微软雅黑"/>
                <a:cs typeface="微软雅黑"/>
              </a:rPr>
              <a:t>结构体类型，包括7个成员变量</a:t>
            </a:r>
            <a:endParaRPr sz="2800">
              <a:latin typeface="微软雅黑"/>
              <a:cs typeface="微软雅黑"/>
            </a:endParaRPr>
          </a:p>
        </p:txBody>
      </p:sp>
      <p:sp>
        <p:nvSpPr>
          <p:cNvPr id="14" name="object 14"/>
          <p:cNvSpPr/>
          <p:nvPr/>
        </p:nvSpPr>
        <p:spPr>
          <a:xfrm>
            <a:off x="1770126" y="6249161"/>
            <a:ext cx="3854450" cy="399415"/>
          </a:xfrm>
          <a:custGeom>
            <a:avLst/>
            <a:gdLst/>
            <a:ahLst/>
            <a:cxnLst/>
            <a:rect l="l" t="t" r="r" b="b"/>
            <a:pathLst>
              <a:path w="3854450" h="399415">
                <a:moveTo>
                  <a:pt x="0" y="399288"/>
                </a:moveTo>
                <a:lnTo>
                  <a:pt x="3854196" y="399288"/>
                </a:lnTo>
                <a:lnTo>
                  <a:pt x="3854196" y="0"/>
                </a:lnTo>
                <a:lnTo>
                  <a:pt x="0" y="0"/>
                </a:lnTo>
                <a:lnTo>
                  <a:pt x="0" y="399288"/>
                </a:lnTo>
                <a:close/>
              </a:path>
            </a:pathLst>
          </a:custGeom>
          <a:ln w="38100">
            <a:solidFill>
              <a:srgbClr val="FF0000"/>
            </a:solidFill>
          </a:ln>
        </p:spPr>
        <p:txBody>
          <a:bodyPr wrap="square" lIns="0" tIns="0" rIns="0" bIns="0" rtlCol="0"/>
          <a:lstStyle/>
          <a:p>
            <a:endParaRPr/>
          </a:p>
        </p:txBody>
      </p:sp>
      <p:sp>
        <p:nvSpPr>
          <p:cNvPr id="15" name="object 15"/>
          <p:cNvSpPr/>
          <p:nvPr/>
        </p:nvSpPr>
        <p:spPr>
          <a:xfrm>
            <a:off x="1770126" y="2801873"/>
            <a:ext cx="3854450" cy="401320"/>
          </a:xfrm>
          <a:custGeom>
            <a:avLst/>
            <a:gdLst/>
            <a:ahLst/>
            <a:cxnLst/>
            <a:rect l="l" t="t" r="r" b="b"/>
            <a:pathLst>
              <a:path w="3854450" h="401319">
                <a:moveTo>
                  <a:pt x="0" y="400812"/>
                </a:moveTo>
                <a:lnTo>
                  <a:pt x="3854196" y="400812"/>
                </a:lnTo>
                <a:lnTo>
                  <a:pt x="3854196" y="0"/>
                </a:lnTo>
                <a:lnTo>
                  <a:pt x="0" y="0"/>
                </a:lnTo>
                <a:lnTo>
                  <a:pt x="0" y="400812"/>
                </a:lnTo>
                <a:close/>
              </a:path>
            </a:pathLst>
          </a:custGeom>
          <a:ln w="38100">
            <a:solidFill>
              <a:srgbClr val="FF0000"/>
            </a:solidFill>
          </a:ln>
        </p:spPr>
        <p:txBody>
          <a:bodyPr wrap="square" lIns="0" tIns="0" rIns="0" bIns="0" rtlCol="0"/>
          <a:lstStyle/>
          <a:p>
            <a:endParaRPr/>
          </a:p>
        </p:txBody>
      </p:sp>
      <p:sp>
        <p:nvSpPr>
          <p:cNvPr id="16" name="object 16"/>
          <p:cNvSpPr/>
          <p:nvPr/>
        </p:nvSpPr>
        <p:spPr>
          <a:xfrm>
            <a:off x="1770126" y="3298697"/>
            <a:ext cx="3854450" cy="401320"/>
          </a:xfrm>
          <a:custGeom>
            <a:avLst/>
            <a:gdLst/>
            <a:ahLst/>
            <a:cxnLst/>
            <a:rect l="l" t="t" r="r" b="b"/>
            <a:pathLst>
              <a:path w="3854450" h="401320">
                <a:moveTo>
                  <a:pt x="0" y="400812"/>
                </a:moveTo>
                <a:lnTo>
                  <a:pt x="3854196" y="400812"/>
                </a:lnTo>
                <a:lnTo>
                  <a:pt x="3854196" y="0"/>
                </a:lnTo>
                <a:lnTo>
                  <a:pt x="0" y="0"/>
                </a:lnTo>
                <a:lnTo>
                  <a:pt x="0" y="400812"/>
                </a:lnTo>
                <a:close/>
              </a:path>
            </a:pathLst>
          </a:custGeom>
          <a:ln w="38100">
            <a:solidFill>
              <a:srgbClr val="FF0000"/>
            </a:solidFill>
          </a:ln>
        </p:spPr>
        <p:txBody>
          <a:bodyPr wrap="square" lIns="0" tIns="0" rIns="0" bIns="0" rtlCol="0"/>
          <a:lstStyle/>
          <a:p>
            <a:endParaRPr/>
          </a:p>
        </p:txBody>
      </p:sp>
      <p:sp>
        <p:nvSpPr>
          <p:cNvPr id="17" name="object 17"/>
          <p:cNvSpPr/>
          <p:nvPr/>
        </p:nvSpPr>
        <p:spPr>
          <a:xfrm>
            <a:off x="1770126" y="3795521"/>
            <a:ext cx="3854450" cy="401320"/>
          </a:xfrm>
          <a:custGeom>
            <a:avLst/>
            <a:gdLst/>
            <a:ahLst/>
            <a:cxnLst/>
            <a:rect l="l" t="t" r="r" b="b"/>
            <a:pathLst>
              <a:path w="3854450" h="401320">
                <a:moveTo>
                  <a:pt x="0" y="400811"/>
                </a:moveTo>
                <a:lnTo>
                  <a:pt x="3854196" y="400811"/>
                </a:lnTo>
                <a:lnTo>
                  <a:pt x="3854196" y="0"/>
                </a:lnTo>
                <a:lnTo>
                  <a:pt x="0" y="0"/>
                </a:lnTo>
                <a:lnTo>
                  <a:pt x="0" y="400811"/>
                </a:lnTo>
                <a:close/>
              </a:path>
            </a:pathLst>
          </a:custGeom>
          <a:ln w="38100">
            <a:solidFill>
              <a:srgbClr val="FF0000"/>
            </a:solidFill>
          </a:ln>
        </p:spPr>
        <p:txBody>
          <a:bodyPr wrap="square" lIns="0" tIns="0" rIns="0" bIns="0" rtlCol="0"/>
          <a:lstStyle/>
          <a:p>
            <a:endParaRPr/>
          </a:p>
        </p:txBody>
      </p:sp>
      <p:sp>
        <p:nvSpPr>
          <p:cNvPr id="18" name="object 18"/>
          <p:cNvSpPr/>
          <p:nvPr/>
        </p:nvSpPr>
        <p:spPr>
          <a:xfrm>
            <a:off x="1770126" y="4287773"/>
            <a:ext cx="3854450" cy="401320"/>
          </a:xfrm>
          <a:custGeom>
            <a:avLst/>
            <a:gdLst/>
            <a:ahLst/>
            <a:cxnLst/>
            <a:rect l="l" t="t" r="r" b="b"/>
            <a:pathLst>
              <a:path w="3854450" h="401320">
                <a:moveTo>
                  <a:pt x="0" y="400812"/>
                </a:moveTo>
                <a:lnTo>
                  <a:pt x="3854196" y="400812"/>
                </a:lnTo>
                <a:lnTo>
                  <a:pt x="3854196" y="0"/>
                </a:lnTo>
                <a:lnTo>
                  <a:pt x="0" y="0"/>
                </a:lnTo>
                <a:lnTo>
                  <a:pt x="0" y="400812"/>
                </a:lnTo>
                <a:close/>
              </a:path>
            </a:pathLst>
          </a:custGeom>
          <a:ln w="38100">
            <a:solidFill>
              <a:srgbClr val="FF0000"/>
            </a:solidFill>
          </a:ln>
        </p:spPr>
        <p:txBody>
          <a:bodyPr wrap="square" lIns="0" tIns="0" rIns="0" bIns="0" rtlCol="0"/>
          <a:lstStyle/>
          <a:p>
            <a:endParaRPr/>
          </a:p>
        </p:txBody>
      </p:sp>
      <p:sp>
        <p:nvSpPr>
          <p:cNvPr id="19" name="object 19"/>
          <p:cNvSpPr/>
          <p:nvPr/>
        </p:nvSpPr>
        <p:spPr>
          <a:xfrm>
            <a:off x="1770126" y="4773929"/>
            <a:ext cx="3854450" cy="401320"/>
          </a:xfrm>
          <a:custGeom>
            <a:avLst/>
            <a:gdLst/>
            <a:ahLst/>
            <a:cxnLst/>
            <a:rect l="l" t="t" r="r" b="b"/>
            <a:pathLst>
              <a:path w="3854450" h="401320">
                <a:moveTo>
                  <a:pt x="0" y="400812"/>
                </a:moveTo>
                <a:lnTo>
                  <a:pt x="3854196" y="400812"/>
                </a:lnTo>
                <a:lnTo>
                  <a:pt x="3854196" y="0"/>
                </a:lnTo>
                <a:lnTo>
                  <a:pt x="0" y="0"/>
                </a:lnTo>
                <a:lnTo>
                  <a:pt x="0" y="400812"/>
                </a:lnTo>
                <a:close/>
              </a:path>
            </a:pathLst>
          </a:custGeom>
          <a:ln w="38100">
            <a:solidFill>
              <a:srgbClr val="FF0000"/>
            </a:solidFill>
          </a:ln>
        </p:spPr>
        <p:txBody>
          <a:bodyPr wrap="square" lIns="0" tIns="0" rIns="0" bIns="0" rtlCol="0"/>
          <a:lstStyle/>
          <a:p>
            <a:endParaRPr/>
          </a:p>
        </p:txBody>
      </p:sp>
      <p:sp>
        <p:nvSpPr>
          <p:cNvPr id="20" name="object 20"/>
          <p:cNvSpPr/>
          <p:nvPr/>
        </p:nvSpPr>
        <p:spPr>
          <a:xfrm>
            <a:off x="1770126" y="5282946"/>
            <a:ext cx="3854450" cy="401320"/>
          </a:xfrm>
          <a:custGeom>
            <a:avLst/>
            <a:gdLst/>
            <a:ahLst/>
            <a:cxnLst/>
            <a:rect l="l" t="t" r="r" b="b"/>
            <a:pathLst>
              <a:path w="3854450" h="401320">
                <a:moveTo>
                  <a:pt x="0" y="400811"/>
                </a:moveTo>
                <a:lnTo>
                  <a:pt x="3854196" y="400811"/>
                </a:lnTo>
                <a:lnTo>
                  <a:pt x="3854196" y="0"/>
                </a:lnTo>
                <a:lnTo>
                  <a:pt x="0" y="0"/>
                </a:lnTo>
                <a:lnTo>
                  <a:pt x="0" y="400811"/>
                </a:lnTo>
                <a:close/>
              </a:path>
            </a:pathLst>
          </a:custGeom>
          <a:ln w="38100">
            <a:solidFill>
              <a:srgbClr val="FF0000"/>
            </a:solidFill>
          </a:ln>
        </p:spPr>
        <p:txBody>
          <a:bodyPr wrap="square" lIns="0" tIns="0" rIns="0" bIns="0" rtlCol="0"/>
          <a:lstStyle/>
          <a:p>
            <a:endParaRPr/>
          </a:p>
        </p:txBody>
      </p:sp>
      <p:sp>
        <p:nvSpPr>
          <p:cNvPr id="21" name="object 21"/>
          <p:cNvSpPr/>
          <p:nvPr/>
        </p:nvSpPr>
        <p:spPr>
          <a:xfrm>
            <a:off x="1770126" y="5763005"/>
            <a:ext cx="3854450" cy="399415"/>
          </a:xfrm>
          <a:custGeom>
            <a:avLst/>
            <a:gdLst/>
            <a:ahLst/>
            <a:cxnLst/>
            <a:rect l="l" t="t" r="r" b="b"/>
            <a:pathLst>
              <a:path w="3854450" h="399414">
                <a:moveTo>
                  <a:pt x="0" y="399288"/>
                </a:moveTo>
                <a:lnTo>
                  <a:pt x="3854196" y="399288"/>
                </a:lnTo>
                <a:lnTo>
                  <a:pt x="3854196" y="0"/>
                </a:lnTo>
                <a:lnTo>
                  <a:pt x="0" y="0"/>
                </a:lnTo>
                <a:lnTo>
                  <a:pt x="0" y="399288"/>
                </a:lnTo>
                <a:close/>
              </a:path>
            </a:pathLst>
          </a:custGeom>
          <a:ln w="38100">
            <a:solidFill>
              <a:srgbClr val="FF0000"/>
            </a:solidFill>
          </a:ln>
        </p:spPr>
        <p:txBody>
          <a:bodyPr wrap="square" lIns="0" tIns="0" rIns="0" bIns="0" rtlCol="0"/>
          <a:lstStyle/>
          <a:p>
            <a:endParaRPr/>
          </a:p>
        </p:txBody>
      </p:sp>
    </p:spTree>
    <p:extLst>
      <p:ext uri="{BB962C8B-B14F-4D97-AF65-F5344CB8AC3E}">
        <p14:creationId xmlns:p14="http://schemas.microsoft.com/office/powerpoint/2010/main" val="26649539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23" y="6516623"/>
            <a:ext cx="12190730" cy="341630"/>
          </a:xfrm>
          <a:prstGeom prst="rect">
            <a:avLst/>
          </a:prstGeom>
        </p:spPr>
        <p:txBody>
          <a:bodyPr vert="horz" wrap="square" lIns="0" tIns="0" rIns="0" bIns="0" rtlCol="0">
            <a:spAutoFit/>
          </a:bodyPr>
          <a:lstStyle/>
          <a:p>
            <a:pPr marR="200660" algn="r">
              <a:lnSpc>
                <a:spcPct val="100000"/>
              </a:lnSpc>
            </a:pPr>
            <a:r>
              <a:rPr sz="1200" b="1" spc="-5" dirty="0">
                <a:solidFill>
                  <a:srgbClr val="FFFFFF"/>
                </a:solidFill>
                <a:latin typeface="微软雅黑"/>
                <a:cs typeface="微软雅黑"/>
              </a:rPr>
              <a:t>--</a:t>
            </a:r>
            <a:r>
              <a:rPr sz="1200" b="1" spc="5" dirty="0">
                <a:solidFill>
                  <a:srgbClr val="FFFFFF"/>
                </a:solidFill>
                <a:latin typeface="微软雅黑"/>
                <a:cs typeface="微软雅黑"/>
              </a:rPr>
              <a:t> </a:t>
            </a:r>
            <a:r>
              <a:rPr sz="1200" b="1" dirty="0">
                <a:solidFill>
                  <a:srgbClr val="FFFFFF"/>
                </a:solidFill>
                <a:latin typeface="微软雅黑"/>
                <a:cs typeface="微软雅黑"/>
              </a:rPr>
              <a:t>南昌大学“卓越”辅导员培养工程建设</a:t>
            </a:r>
            <a:endParaRPr sz="1200">
              <a:latin typeface="微软雅黑"/>
              <a:cs typeface="微软雅黑"/>
            </a:endParaRPr>
          </a:p>
        </p:txBody>
      </p:sp>
      <p:sp>
        <p:nvSpPr>
          <p:cNvPr id="3" name="object 3"/>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4" name="object 4"/>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5" name="object 5"/>
          <p:cNvSpPr/>
          <p:nvPr/>
        </p:nvSpPr>
        <p:spPr>
          <a:xfrm>
            <a:off x="1523" y="6470903"/>
            <a:ext cx="12190730" cy="45720"/>
          </a:xfrm>
          <a:custGeom>
            <a:avLst/>
            <a:gdLst/>
            <a:ahLst/>
            <a:cxnLst/>
            <a:rect l="l" t="t" r="r" b="b"/>
            <a:pathLst>
              <a:path w="12190730" h="45720">
                <a:moveTo>
                  <a:pt x="0" y="45719"/>
                </a:moveTo>
                <a:lnTo>
                  <a:pt x="12190476" y="45719"/>
                </a:lnTo>
                <a:lnTo>
                  <a:pt x="12190476" y="0"/>
                </a:lnTo>
                <a:lnTo>
                  <a:pt x="0" y="0"/>
                </a:lnTo>
                <a:lnTo>
                  <a:pt x="0" y="45719"/>
                </a:lnTo>
              </a:path>
            </a:pathLst>
          </a:custGeom>
          <a:solidFill>
            <a:srgbClr val="FFE699"/>
          </a:solidFill>
        </p:spPr>
        <p:txBody>
          <a:bodyPr wrap="square" lIns="0" tIns="0" rIns="0" bIns="0" rtlCol="0"/>
          <a:lstStyle/>
          <a:p>
            <a:endParaRPr/>
          </a:p>
        </p:txBody>
      </p:sp>
      <p:sp>
        <p:nvSpPr>
          <p:cNvPr id="6" name="object 6"/>
          <p:cNvSpPr/>
          <p:nvPr/>
        </p:nvSpPr>
        <p:spPr>
          <a:xfrm>
            <a:off x="1523" y="6516623"/>
            <a:ext cx="12190730" cy="341630"/>
          </a:xfrm>
          <a:custGeom>
            <a:avLst/>
            <a:gdLst/>
            <a:ahLst/>
            <a:cxnLst/>
            <a:rect l="l" t="t" r="r" b="b"/>
            <a:pathLst>
              <a:path w="12190730" h="341629">
                <a:moveTo>
                  <a:pt x="0" y="341376"/>
                </a:moveTo>
                <a:lnTo>
                  <a:pt x="12190476" y="341376"/>
                </a:lnTo>
                <a:lnTo>
                  <a:pt x="12190476" y="0"/>
                </a:lnTo>
                <a:lnTo>
                  <a:pt x="0" y="0"/>
                </a:lnTo>
                <a:lnTo>
                  <a:pt x="0" y="341376"/>
                </a:lnTo>
              </a:path>
            </a:pathLst>
          </a:custGeom>
          <a:solidFill>
            <a:srgbClr val="E34A46"/>
          </a:solidFill>
        </p:spPr>
        <p:txBody>
          <a:bodyPr wrap="square" lIns="0" tIns="0" rIns="0" bIns="0" rtlCol="0"/>
          <a:lstStyle/>
          <a:p>
            <a:endParaRPr/>
          </a:p>
        </p:txBody>
      </p:sp>
      <p:sp>
        <p:nvSpPr>
          <p:cNvPr id="7" name="object 7"/>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8" name="object 8"/>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9" name="object 9"/>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1" name="object 11"/>
          <p:cNvSpPr txBox="1"/>
          <p:nvPr/>
        </p:nvSpPr>
        <p:spPr>
          <a:xfrm>
            <a:off x="352145" y="1165722"/>
            <a:ext cx="12446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数据长度</a:t>
            </a:r>
            <a:endParaRPr sz="2400">
              <a:latin typeface="微软雅黑"/>
              <a:cs typeface="微软雅黑"/>
            </a:endParaRPr>
          </a:p>
        </p:txBody>
      </p:sp>
      <p:sp>
        <p:nvSpPr>
          <p:cNvPr id="12" name="object 12"/>
          <p:cNvSpPr txBox="1"/>
          <p:nvPr/>
        </p:nvSpPr>
        <p:spPr>
          <a:xfrm>
            <a:off x="2385441" y="389881"/>
            <a:ext cx="668655" cy="254000"/>
          </a:xfrm>
          <a:prstGeom prst="rect">
            <a:avLst/>
          </a:prstGeom>
        </p:spPr>
        <p:txBody>
          <a:bodyPr vert="horz" wrap="square" lIns="0" tIns="0" rIns="0" bIns="0" rtlCol="0">
            <a:spAutoFit/>
          </a:bodyPr>
          <a:lstStyle/>
          <a:p>
            <a:pPr marL="12700">
              <a:lnSpc>
                <a:spcPct val="100000"/>
              </a:lnSpc>
            </a:pPr>
            <a:r>
              <a:rPr sz="1800" b="1" spc="-45" dirty="0">
                <a:solidFill>
                  <a:srgbClr val="252525"/>
                </a:solidFill>
                <a:latin typeface="微软雅黑"/>
                <a:cs typeface="微软雅黑"/>
              </a:rPr>
              <a:t>U</a:t>
            </a:r>
            <a:r>
              <a:rPr sz="1800" b="1" dirty="0">
                <a:solidFill>
                  <a:srgbClr val="252525"/>
                </a:solidFill>
                <a:latin typeface="微软雅黑"/>
                <a:cs typeface="微软雅黑"/>
              </a:rPr>
              <a:t>A</a:t>
            </a:r>
            <a:r>
              <a:rPr sz="1800" b="1" spc="-35" dirty="0">
                <a:solidFill>
                  <a:srgbClr val="252525"/>
                </a:solidFill>
                <a:latin typeface="微软雅黑"/>
                <a:cs typeface="微软雅黑"/>
              </a:rPr>
              <a:t>R</a:t>
            </a:r>
            <a:r>
              <a:rPr sz="1800" b="1" dirty="0">
                <a:solidFill>
                  <a:srgbClr val="252525"/>
                </a:solidFill>
                <a:latin typeface="微软雅黑"/>
                <a:cs typeface="微软雅黑"/>
              </a:rPr>
              <a:t>T</a:t>
            </a:r>
            <a:endParaRPr sz="1800">
              <a:latin typeface="微软雅黑"/>
              <a:cs typeface="微软雅黑"/>
            </a:endParaRPr>
          </a:p>
        </p:txBody>
      </p:sp>
      <p:sp>
        <p:nvSpPr>
          <p:cNvPr id="14" name="object 14"/>
          <p:cNvSpPr txBox="1">
            <a:spLocks noGrp="1"/>
          </p:cNvSpPr>
          <p:nvPr>
            <p:ph type="title"/>
          </p:nvPr>
        </p:nvSpPr>
        <p:spPr>
          <a:prstGeom prst="rect">
            <a:avLst/>
          </a:prstGeom>
        </p:spPr>
        <p:txBody>
          <a:bodyPr vert="horz" wrap="square" lIns="0" tIns="0" rIns="0" bIns="0" rtlCol="0">
            <a:spAutoFit/>
          </a:bodyPr>
          <a:lstStyle/>
          <a:p>
            <a:pPr marL="151130">
              <a:lnSpc>
                <a:spcPct val="100000"/>
              </a:lnSpc>
            </a:pPr>
            <a:r>
              <a:rPr spc="-5" dirty="0"/>
              <a:t>成员变量</a:t>
            </a:r>
            <a:r>
              <a:rPr spc="-90" dirty="0">
                <a:latin typeface="微软雅黑"/>
                <a:cs typeface="微软雅黑"/>
              </a:rPr>
              <a:t>W</a:t>
            </a:r>
            <a:r>
              <a:rPr spc="-10" dirty="0">
                <a:latin typeface="微软雅黑"/>
                <a:cs typeface="微软雅黑"/>
              </a:rPr>
              <a:t>o</a:t>
            </a:r>
            <a:r>
              <a:rPr spc="-20" dirty="0">
                <a:latin typeface="微软雅黑"/>
                <a:cs typeface="微软雅黑"/>
              </a:rPr>
              <a:t>r</a:t>
            </a:r>
            <a:r>
              <a:rPr spc="-5" dirty="0">
                <a:latin typeface="微软雅黑"/>
                <a:cs typeface="微软雅黑"/>
              </a:rPr>
              <a:t>dLengt</a:t>
            </a:r>
            <a:r>
              <a:rPr spc="-20" dirty="0">
                <a:latin typeface="微软雅黑"/>
                <a:cs typeface="微软雅黑"/>
              </a:rPr>
              <a:t>h</a:t>
            </a:r>
            <a:r>
              <a:rPr spc="-5" dirty="0"/>
              <a:t>的</a:t>
            </a:r>
            <a:r>
              <a:rPr dirty="0"/>
              <a:t>取</a:t>
            </a:r>
            <a:r>
              <a:rPr spc="-5" dirty="0"/>
              <a:t>值范围</a:t>
            </a:r>
          </a:p>
        </p:txBody>
      </p:sp>
      <p:graphicFrame>
        <p:nvGraphicFramePr>
          <p:cNvPr id="13" name="object 13"/>
          <p:cNvGraphicFramePr>
            <a:graphicFrameLocks noGrp="1"/>
          </p:cNvGraphicFramePr>
          <p:nvPr/>
        </p:nvGraphicFramePr>
        <p:xfrm>
          <a:off x="1782000" y="2384742"/>
          <a:ext cx="8599423" cy="3239908"/>
        </p:xfrm>
        <a:graphic>
          <a:graphicData uri="http://schemas.openxmlformats.org/drawingml/2006/table">
            <a:tbl>
              <a:tblPr firstRow="1" bandRow="1">
                <a:tableStyleId>{2D5ABB26-0587-4C30-8999-92F81FD0307C}</a:tableStyleId>
              </a:tblPr>
              <a:tblGrid>
                <a:gridCol w="4393946">
                  <a:extLst>
                    <a:ext uri="{9D8B030D-6E8A-4147-A177-3AD203B41FA5}">
                      <a16:colId xmlns:a16="http://schemas.microsoft.com/office/drawing/2014/main" val="20000"/>
                    </a:ext>
                  </a:extLst>
                </a:gridCol>
                <a:gridCol w="4205477">
                  <a:extLst>
                    <a:ext uri="{9D8B030D-6E8A-4147-A177-3AD203B41FA5}">
                      <a16:colId xmlns:a16="http://schemas.microsoft.com/office/drawing/2014/main" val="20001"/>
                    </a:ext>
                  </a:extLst>
                </a:gridCol>
              </a:tblGrid>
              <a:tr h="888492">
                <a:tc>
                  <a:txBody>
                    <a:bodyPr/>
                    <a:lstStyle/>
                    <a:p>
                      <a:pPr marL="1420495">
                        <a:lnSpc>
                          <a:spcPct val="100000"/>
                        </a:lnSpc>
                      </a:pPr>
                      <a:r>
                        <a:rPr sz="2400" b="1" dirty="0">
                          <a:solidFill>
                            <a:srgbClr val="FFFFFF"/>
                          </a:solidFill>
                          <a:latin typeface="微软雅黑"/>
                          <a:cs typeface="微软雅黑"/>
                        </a:rPr>
                        <a:t>宏常量定义</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tc>
                  <a:txBody>
                    <a:bodyPr/>
                    <a:lstStyle/>
                    <a:p>
                      <a:pPr marL="1270" algn="ctr">
                        <a:lnSpc>
                          <a:spcPct val="100000"/>
                        </a:lnSpc>
                      </a:pPr>
                      <a:r>
                        <a:rPr sz="2400" b="1" dirty="0">
                          <a:solidFill>
                            <a:srgbClr val="FFFFFF"/>
                          </a:solidFill>
                          <a:latin typeface="微软雅黑"/>
                          <a:cs typeface="微软雅黑"/>
                        </a:rPr>
                        <a:t>含义</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extLst>
                  <a:ext uri="{0D108BD9-81ED-4DB2-BD59-A6C34878D82A}">
                    <a16:rowId xmlns:a16="http://schemas.microsoft.com/office/drawing/2014/main" val="10000"/>
                  </a:ext>
                </a:extLst>
              </a:tr>
              <a:tr h="1175765">
                <a:tc>
                  <a:txBody>
                    <a:bodyPr/>
                    <a:lstStyle/>
                    <a:p>
                      <a:pPr marL="271145">
                        <a:lnSpc>
                          <a:spcPct val="100000"/>
                        </a:lnSpc>
                      </a:pPr>
                      <a:r>
                        <a:rPr sz="2400" b="1" spc="-65" dirty="0">
                          <a:latin typeface="微软雅黑"/>
                          <a:cs typeface="微软雅黑"/>
                        </a:rPr>
                        <a:t>U</a:t>
                      </a:r>
                      <a:r>
                        <a:rPr sz="2400" b="1" dirty="0">
                          <a:latin typeface="微软雅黑"/>
                          <a:cs typeface="微软雅黑"/>
                        </a:rPr>
                        <a:t>A</a:t>
                      </a:r>
                      <a:r>
                        <a:rPr sz="2400" b="1" spc="-50" dirty="0">
                          <a:latin typeface="微软雅黑"/>
                          <a:cs typeface="微软雅黑"/>
                        </a:rPr>
                        <a:t>R</a:t>
                      </a:r>
                      <a:r>
                        <a:rPr sz="2400" b="1" spc="-5" dirty="0">
                          <a:latin typeface="微软雅黑"/>
                          <a:cs typeface="微软雅黑"/>
                        </a:rPr>
                        <a:t>T_W</a:t>
                      </a:r>
                      <a:r>
                        <a:rPr sz="2400" b="1" spc="5" dirty="0">
                          <a:latin typeface="微软雅黑"/>
                          <a:cs typeface="微软雅黑"/>
                        </a:rPr>
                        <a:t>O</a:t>
                      </a:r>
                      <a:r>
                        <a:rPr sz="2400" b="1" spc="-5" dirty="0">
                          <a:latin typeface="微软雅黑"/>
                          <a:cs typeface="微软雅黑"/>
                        </a:rPr>
                        <a:t>RDL</a:t>
                      </a:r>
                      <a:r>
                        <a:rPr sz="2400" b="1" spc="-10" dirty="0">
                          <a:latin typeface="微软雅黑"/>
                          <a:cs typeface="微软雅黑"/>
                        </a:rPr>
                        <a:t>E</a:t>
                      </a:r>
                      <a:r>
                        <a:rPr sz="2400" b="1" spc="-5" dirty="0">
                          <a:latin typeface="微软雅黑"/>
                          <a:cs typeface="微软雅黑"/>
                        </a:rPr>
                        <a:t>N</a:t>
                      </a:r>
                      <a:r>
                        <a:rPr sz="2400" b="1" spc="-45" dirty="0">
                          <a:latin typeface="微软雅黑"/>
                          <a:cs typeface="微软雅黑"/>
                        </a:rPr>
                        <a:t>G</a:t>
                      </a:r>
                      <a:r>
                        <a:rPr sz="2400" b="1" spc="-5" dirty="0">
                          <a:latin typeface="微软雅黑"/>
                          <a:cs typeface="微软雅黑"/>
                        </a:rPr>
                        <a:t>TH_8B</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929005">
                        <a:lnSpc>
                          <a:spcPct val="100000"/>
                        </a:lnSpc>
                      </a:pPr>
                      <a:r>
                        <a:rPr sz="2400" b="1" dirty="0">
                          <a:latin typeface="微软雅黑"/>
                          <a:cs typeface="微软雅黑"/>
                        </a:rPr>
                        <a:t>数据位长度为</a:t>
                      </a:r>
                      <a:r>
                        <a:rPr sz="2400" b="1" spc="-5" dirty="0">
                          <a:latin typeface="微软雅黑"/>
                          <a:cs typeface="微软雅黑"/>
                        </a:rPr>
                        <a:t>8</a:t>
                      </a:r>
                      <a:r>
                        <a:rPr sz="2400" b="1" dirty="0">
                          <a:latin typeface="微软雅黑"/>
                          <a:cs typeface="微软雅黑"/>
                        </a:rPr>
                        <a:t>位</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1"/>
                  </a:ext>
                </a:extLst>
              </a:tr>
              <a:tr h="1175651">
                <a:tc>
                  <a:txBody>
                    <a:bodyPr/>
                    <a:lstStyle/>
                    <a:p>
                      <a:pPr marL="271145">
                        <a:lnSpc>
                          <a:spcPct val="100000"/>
                        </a:lnSpc>
                      </a:pPr>
                      <a:r>
                        <a:rPr sz="2400" b="1" spc="-65" dirty="0">
                          <a:latin typeface="微软雅黑"/>
                          <a:cs typeface="微软雅黑"/>
                        </a:rPr>
                        <a:t>U</a:t>
                      </a:r>
                      <a:r>
                        <a:rPr sz="2400" b="1" dirty="0">
                          <a:latin typeface="微软雅黑"/>
                          <a:cs typeface="微软雅黑"/>
                        </a:rPr>
                        <a:t>A</a:t>
                      </a:r>
                      <a:r>
                        <a:rPr sz="2400" b="1" spc="-50" dirty="0">
                          <a:latin typeface="微软雅黑"/>
                          <a:cs typeface="微软雅黑"/>
                        </a:rPr>
                        <a:t>R</a:t>
                      </a:r>
                      <a:r>
                        <a:rPr sz="2400" b="1" spc="-5" dirty="0">
                          <a:latin typeface="微软雅黑"/>
                          <a:cs typeface="微软雅黑"/>
                        </a:rPr>
                        <a:t>T_W</a:t>
                      </a:r>
                      <a:r>
                        <a:rPr sz="2400" b="1" spc="5" dirty="0">
                          <a:latin typeface="微软雅黑"/>
                          <a:cs typeface="微软雅黑"/>
                        </a:rPr>
                        <a:t>O</a:t>
                      </a:r>
                      <a:r>
                        <a:rPr sz="2400" b="1" spc="-5" dirty="0">
                          <a:latin typeface="微软雅黑"/>
                          <a:cs typeface="微软雅黑"/>
                        </a:rPr>
                        <a:t>RDL</a:t>
                      </a:r>
                      <a:r>
                        <a:rPr sz="2400" b="1" spc="-10" dirty="0">
                          <a:latin typeface="微软雅黑"/>
                          <a:cs typeface="微软雅黑"/>
                        </a:rPr>
                        <a:t>E</a:t>
                      </a:r>
                      <a:r>
                        <a:rPr sz="2400" b="1" spc="-5" dirty="0">
                          <a:latin typeface="微软雅黑"/>
                          <a:cs typeface="微软雅黑"/>
                        </a:rPr>
                        <a:t>N</a:t>
                      </a:r>
                      <a:r>
                        <a:rPr sz="2400" b="1" spc="-45" dirty="0">
                          <a:latin typeface="微软雅黑"/>
                          <a:cs typeface="微软雅黑"/>
                        </a:rPr>
                        <a:t>G</a:t>
                      </a:r>
                      <a:r>
                        <a:rPr sz="2400" b="1" spc="-5" dirty="0">
                          <a:latin typeface="微软雅黑"/>
                          <a:cs typeface="微软雅黑"/>
                        </a:rPr>
                        <a:t>TH_9B</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929005">
                        <a:lnSpc>
                          <a:spcPct val="100000"/>
                        </a:lnSpc>
                      </a:pPr>
                      <a:r>
                        <a:rPr sz="2400" b="1" dirty="0">
                          <a:latin typeface="微软雅黑"/>
                          <a:cs typeface="微软雅黑"/>
                        </a:rPr>
                        <a:t>数据位长度为</a:t>
                      </a:r>
                      <a:r>
                        <a:rPr sz="2400" b="1" spc="-5" dirty="0">
                          <a:latin typeface="微软雅黑"/>
                          <a:cs typeface="微软雅黑"/>
                        </a:rPr>
                        <a:t>9</a:t>
                      </a:r>
                      <a:r>
                        <a:rPr sz="2400" b="1" dirty="0">
                          <a:latin typeface="微软雅黑"/>
                          <a:cs typeface="微软雅黑"/>
                        </a:rPr>
                        <a:t>位</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9191064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23" y="6516623"/>
            <a:ext cx="12190730" cy="341630"/>
          </a:xfrm>
          <a:prstGeom prst="rect">
            <a:avLst/>
          </a:prstGeom>
        </p:spPr>
        <p:txBody>
          <a:bodyPr vert="horz" wrap="square" lIns="0" tIns="0" rIns="0" bIns="0" rtlCol="0">
            <a:spAutoFit/>
          </a:bodyPr>
          <a:lstStyle/>
          <a:p>
            <a:pPr marR="200660" algn="r">
              <a:lnSpc>
                <a:spcPct val="100000"/>
              </a:lnSpc>
            </a:pPr>
            <a:r>
              <a:rPr sz="1200" b="1" spc="-5" dirty="0">
                <a:solidFill>
                  <a:srgbClr val="FFFFFF"/>
                </a:solidFill>
                <a:latin typeface="微软雅黑"/>
                <a:cs typeface="微软雅黑"/>
              </a:rPr>
              <a:t>--</a:t>
            </a:r>
            <a:r>
              <a:rPr sz="1200" b="1" spc="5" dirty="0">
                <a:solidFill>
                  <a:srgbClr val="FFFFFF"/>
                </a:solidFill>
                <a:latin typeface="微软雅黑"/>
                <a:cs typeface="微软雅黑"/>
              </a:rPr>
              <a:t> </a:t>
            </a:r>
            <a:r>
              <a:rPr sz="1200" b="1" dirty="0">
                <a:solidFill>
                  <a:srgbClr val="FFFFFF"/>
                </a:solidFill>
                <a:latin typeface="微软雅黑"/>
                <a:cs typeface="微软雅黑"/>
              </a:rPr>
              <a:t>南昌大学“卓越”辅导员培养工程建设</a:t>
            </a:r>
            <a:endParaRPr sz="1200">
              <a:latin typeface="微软雅黑"/>
              <a:cs typeface="微软雅黑"/>
            </a:endParaRPr>
          </a:p>
        </p:txBody>
      </p:sp>
      <p:sp>
        <p:nvSpPr>
          <p:cNvPr id="3" name="object 3"/>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4" name="object 4"/>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5" name="object 5"/>
          <p:cNvSpPr/>
          <p:nvPr/>
        </p:nvSpPr>
        <p:spPr>
          <a:xfrm>
            <a:off x="1523" y="6470903"/>
            <a:ext cx="12190730" cy="45720"/>
          </a:xfrm>
          <a:custGeom>
            <a:avLst/>
            <a:gdLst/>
            <a:ahLst/>
            <a:cxnLst/>
            <a:rect l="l" t="t" r="r" b="b"/>
            <a:pathLst>
              <a:path w="12190730" h="45720">
                <a:moveTo>
                  <a:pt x="0" y="45719"/>
                </a:moveTo>
                <a:lnTo>
                  <a:pt x="12190476" y="45719"/>
                </a:lnTo>
                <a:lnTo>
                  <a:pt x="12190476" y="0"/>
                </a:lnTo>
                <a:lnTo>
                  <a:pt x="0" y="0"/>
                </a:lnTo>
                <a:lnTo>
                  <a:pt x="0" y="45719"/>
                </a:lnTo>
              </a:path>
            </a:pathLst>
          </a:custGeom>
          <a:solidFill>
            <a:srgbClr val="FFE699"/>
          </a:solidFill>
        </p:spPr>
        <p:txBody>
          <a:bodyPr wrap="square" lIns="0" tIns="0" rIns="0" bIns="0" rtlCol="0"/>
          <a:lstStyle/>
          <a:p>
            <a:endParaRPr/>
          </a:p>
        </p:txBody>
      </p:sp>
      <p:sp>
        <p:nvSpPr>
          <p:cNvPr id="6" name="object 6"/>
          <p:cNvSpPr/>
          <p:nvPr/>
        </p:nvSpPr>
        <p:spPr>
          <a:xfrm>
            <a:off x="1523" y="6516623"/>
            <a:ext cx="12190730" cy="341630"/>
          </a:xfrm>
          <a:custGeom>
            <a:avLst/>
            <a:gdLst/>
            <a:ahLst/>
            <a:cxnLst/>
            <a:rect l="l" t="t" r="r" b="b"/>
            <a:pathLst>
              <a:path w="12190730" h="341629">
                <a:moveTo>
                  <a:pt x="0" y="341376"/>
                </a:moveTo>
                <a:lnTo>
                  <a:pt x="12190476" y="341376"/>
                </a:lnTo>
                <a:lnTo>
                  <a:pt x="12190476" y="0"/>
                </a:lnTo>
                <a:lnTo>
                  <a:pt x="0" y="0"/>
                </a:lnTo>
                <a:lnTo>
                  <a:pt x="0" y="341376"/>
                </a:lnTo>
              </a:path>
            </a:pathLst>
          </a:custGeom>
          <a:solidFill>
            <a:srgbClr val="E34A46"/>
          </a:solidFill>
        </p:spPr>
        <p:txBody>
          <a:bodyPr wrap="square" lIns="0" tIns="0" rIns="0" bIns="0" rtlCol="0"/>
          <a:lstStyle/>
          <a:p>
            <a:endParaRPr/>
          </a:p>
        </p:txBody>
      </p:sp>
      <p:sp>
        <p:nvSpPr>
          <p:cNvPr id="7" name="object 7"/>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8" name="object 8"/>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9" name="object 9"/>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1" name="object 11"/>
          <p:cNvSpPr txBox="1"/>
          <p:nvPr/>
        </p:nvSpPr>
        <p:spPr>
          <a:xfrm>
            <a:off x="213461" y="1165722"/>
            <a:ext cx="15494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停止位长度</a:t>
            </a:r>
            <a:endParaRPr sz="2400">
              <a:latin typeface="微软雅黑"/>
              <a:cs typeface="微软雅黑"/>
            </a:endParaRPr>
          </a:p>
        </p:txBody>
      </p:sp>
      <p:sp>
        <p:nvSpPr>
          <p:cNvPr id="12" name="object 12"/>
          <p:cNvSpPr txBox="1"/>
          <p:nvPr/>
        </p:nvSpPr>
        <p:spPr>
          <a:xfrm>
            <a:off x="2385441" y="389881"/>
            <a:ext cx="668655" cy="254000"/>
          </a:xfrm>
          <a:prstGeom prst="rect">
            <a:avLst/>
          </a:prstGeom>
        </p:spPr>
        <p:txBody>
          <a:bodyPr vert="horz" wrap="square" lIns="0" tIns="0" rIns="0" bIns="0" rtlCol="0">
            <a:spAutoFit/>
          </a:bodyPr>
          <a:lstStyle/>
          <a:p>
            <a:pPr marL="12700">
              <a:lnSpc>
                <a:spcPct val="100000"/>
              </a:lnSpc>
            </a:pPr>
            <a:r>
              <a:rPr sz="1800" b="1" spc="-45" dirty="0">
                <a:solidFill>
                  <a:srgbClr val="252525"/>
                </a:solidFill>
                <a:latin typeface="微软雅黑"/>
                <a:cs typeface="微软雅黑"/>
              </a:rPr>
              <a:t>U</a:t>
            </a:r>
            <a:r>
              <a:rPr sz="1800" b="1" dirty="0">
                <a:solidFill>
                  <a:srgbClr val="252525"/>
                </a:solidFill>
                <a:latin typeface="微软雅黑"/>
                <a:cs typeface="微软雅黑"/>
              </a:rPr>
              <a:t>A</a:t>
            </a:r>
            <a:r>
              <a:rPr sz="1800" b="1" spc="-35" dirty="0">
                <a:solidFill>
                  <a:srgbClr val="252525"/>
                </a:solidFill>
                <a:latin typeface="微软雅黑"/>
                <a:cs typeface="微软雅黑"/>
              </a:rPr>
              <a:t>R</a:t>
            </a:r>
            <a:r>
              <a:rPr sz="1800" b="1" dirty="0">
                <a:solidFill>
                  <a:srgbClr val="252525"/>
                </a:solidFill>
                <a:latin typeface="微软雅黑"/>
                <a:cs typeface="微软雅黑"/>
              </a:rPr>
              <a:t>T</a:t>
            </a:r>
            <a:endParaRPr sz="1800">
              <a:latin typeface="微软雅黑"/>
              <a:cs typeface="微软雅黑"/>
            </a:endParaRPr>
          </a:p>
        </p:txBody>
      </p:sp>
      <p:sp>
        <p:nvSpPr>
          <p:cNvPr id="14" name="object 14"/>
          <p:cNvSpPr txBox="1">
            <a:spLocks noGrp="1"/>
          </p:cNvSpPr>
          <p:nvPr>
            <p:ph type="title"/>
          </p:nvPr>
        </p:nvSpPr>
        <p:spPr>
          <a:prstGeom prst="rect">
            <a:avLst/>
          </a:prstGeom>
        </p:spPr>
        <p:txBody>
          <a:bodyPr vert="horz" wrap="square" lIns="0" tIns="0" rIns="0" bIns="0" rtlCol="0">
            <a:spAutoFit/>
          </a:bodyPr>
          <a:lstStyle/>
          <a:p>
            <a:pPr marL="548640">
              <a:lnSpc>
                <a:spcPct val="100000"/>
              </a:lnSpc>
            </a:pPr>
            <a:r>
              <a:rPr spc="-5" dirty="0"/>
              <a:t>成员变量</a:t>
            </a:r>
            <a:r>
              <a:rPr spc="-80" dirty="0">
                <a:latin typeface="微软雅黑"/>
                <a:cs typeface="微软雅黑"/>
              </a:rPr>
              <a:t>S</a:t>
            </a:r>
            <a:r>
              <a:rPr spc="-25" dirty="0">
                <a:latin typeface="微软雅黑"/>
                <a:cs typeface="微软雅黑"/>
              </a:rPr>
              <a:t>t</a:t>
            </a:r>
            <a:r>
              <a:rPr spc="-10" dirty="0">
                <a:latin typeface="微软雅黑"/>
                <a:cs typeface="微软雅黑"/>
              </a:rPr>
              <a:t>opBi</a:t>
            </a:r>
            <a:r>
              <a:rPr spc="-20" dirty="0">
                <a:latin typeface="微软雅黑"/>
                <a:cs typeface="微软雅黑"/>
              </a:rPr>
              <a:t>t</a:t>
            </a:r>
            <a:r>
              <a:rPr spc="-5" dirty="0">
                <a:latin typeface="微软雅黑"/>
                <a:cs typeface="微软雅黑"/>
              </a:rPr>
              <a:t>s</a:t>
            </a:r>
            <a:r>
              <a:rPr spc="-5" dirty="0"/>
              <a:t>的取</a:t>
            </a:r>
            <a:r>
              <a:rPr spc="5" dirty="0"/>
              <a:t>值</a:t>
            </a:r>
            <a:r>
              <a:rPr spc="-5" dirty="0"/>
              <a:t>范围</a:t>
            </a:r>
          </a:p>
        </p:txBody>
      </p:sp>
      <p:graphicFrame>
        <p:nvGraphicFramePr>
          <p:cNvPr id="13" name="object 13"/>
          <p:cNvGraphicFramePr>
            <a:graphicFrameLocks noGrp="1"/>
          </p:cNvGraphicFramePr>
          <p:nvPr/>
        </p:nvGraphicFramePr>
        <p:xfrm>
          <a:off x="1782000" y="2443797"/>
          <a:ext cx="8599423" cy="3180853"/>
        </p:xfrm>
        <a:graphic>
          <a:graphicData uri="http://schemas.openxmlformats.org/drawingml/2006/table">
            <a:tbl>
              <a:tblPr firstRow="1" bandRow="1">
                <a:tableStyleId>{2D5ABB26-0587-4C30-8999-92F81FD0307C}</a:tableStyleId>
              </a:tblPr>
              <a:tblGrid>
                <a:gridCol w="4393946">
                  <a:extLst>
                    <a:ext uri="{9D8B030D-6E8A-4147-A177-3AD203B41FA5}">
                      <a16:colId xmlns:a16="http://schemas.microsoft.com/office/drawing/2014/main" val="20000"/>
                    </a:ext>
                  </a:extLst>
                </a:gridCol>
                <a:gridCol w="4205477">
                  <a:extLst>
                    <a:ext uri="{9D8B030D-6E8A-4147-A177-3AD203B41FA5}">
                      <a16:colId xmlns:a16="http://schemas.microsoft.com/office/drawing/2014/main" val="20001"/>
                    </a:ext>
                  </a:extLst>
                </a:gridCol>
              </a:tblGrid>
              <a:tr h="829437">
                <a:tc>
                  <a:txBody>
                    <a:bodyPr/>
                    <a:lstStyle/>
                    <a:p>
                      <a:pPr marL="1420495">
                        <a:lnSpc>
                          <a:spcPct val="100000"/>
                        </a:lnSpc>
                      </a:pPr>
                      <a:r>
                        <a:rPr sz="2400" b="1" spc="-5" dirty="0">
                          <a:solidFill>
                            <a:srgbClr val="FFFFFF"/>
                          </a:solidFill>
                          <a:latin typeface="微软雅黑"/>
                          <a:cs typeface="微软雅黑"/>
                        </a:rPr>
                        <a:t>宏常量定义</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tc>
                  <a:txBody>
                    <a:bodyPr/>
                    <a:lstStyle/>
                    <a:p>
                      <a:pPr marL="1270" algn="ctr">
                        <a:lnSpc>
                          <a:spcPct val="100000"/>
                        </a:lnSpc>
                      </a:pPr>
                      <a:r>
                        <a:rPr sz="2400" b="1" spc="-5" dirty="0">
                          <a:solidFill>
                            <a:srgbClr val="FFFFFF"/>
                          </a:solidFill>
                          <a:latin typeface="微软雅黑"/>
                          <a:cs typeface="微软雅黑"/>
                        </a:rPr>
                        <a:t>含义</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extLst>
                  <a:ext uri="{0D108BD9-81ED-4DB2-BD59-A6C34878D82A}">
                    <a16:rowId xmlns:a16="http://schemas.microsoft.com/office/drawing/2014/main" val="10000"/>
                  </a:ext>
                </a:extLst>
              </a:tr>
              <a:tr h="1175765">
                <a:tc>
                  <a:txBody>
                    <a:bodyPr/>
                    <a:lstStyle/>
                    <a:p>
                      <a:pPr marL="777240">
                        <a:lnSpc>
                          <a:spcPct val="100000"/>
                        </a:lnSpc>
                      </a:pPr>
                      <a:r>
                        <a:rPr sz="2400" b="1" spc="-65" dirty="0">
                          <a:latin typeface="微软雅黑"/>
                          <a:cs typeface="微软雅黑"/>
                        </a:rPr>
                        <a:t>U</a:t>
                      </a:r>
                      <a:r>
                        <a:rPr sz="2400" b="1" dirty="0">
                          <a:latin typeface="微软雅黑"/>
                          <a:cs typeface="微软雅黑"/>
                        </a:rPr>
                        <a:t>A</a:t>
                      </a:r>
                      <a:r>
                        <a:rPr sz="2400" b="1" spc="-50" dirty="0">
                          <a:latin typeface="微软雅黑"/>
                          <a:cs typeface="微软雅黑"/>
                        </a:rPr>
                        <a:t>R</a:t>
                      </a:r>
                      <a:r>
                        <a:rPr sz="2400" b="1" spc="-5" dirty="0">
                          <a:latin typeface="微软雅黑"/>
                          <a:cs typeface="微软雅黑"/>
                        </a:rPr>
                        <a:t>T_S</a:t>
                      </a:r>
                      <a:r>
                        <a:rPr sz="2400" b="1" spc="-95" dirty="0">
                          <a:latin typeface="微软雅黑"/>
                          <a:cs typeface="微软雅黑"/>
                        </a:rPr>
                        <a:t>T</a:t>
                      </a:r>
                      <a:r>
                        <a:rPr sz="2400" b="1" spc="-5" dirty="0">
                          <a:latin typeface="微软雅黑"/>
                          <a:cs typeface="微软雅黑"/>
                        </a:rPr>
                        <a:t>OPBITS_1</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929005">
                        <a:lnSpc>
                          <a:spcPct val="100000"/>
                        </a:lnSpc>
                      </a:pPr>
                      <a:r>
                        <a:rPr sz="2400" b="1" dirty="0">
                          <a:latin typeface="微软雅黑"/>
                          <a:cs typeface="微软雅黑"/>
                        </a:rPr>
                        <a:t>停止位长度为</a:t>
                      </a:r>
                      <a:r>
                        <a:rPr sz="2400" b="1" spc="-5" dirty="0">
                          <a:latin typeface="微软雅黑"/>
                          <a:cs typeface="微软雅黑"/>
                        </a:rPr>
                        <a:t>1</a:t>
                      </a:r>
                      <a:r>
                        <a:rPr sz="2400" b="1" dirty="0">
                          <a:latin typeface="微软雅黑"/>
                          <a:cs typeface="微软雅黑"/>
                        </a:rPr>
                        <a:t>位</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1"/>
                  </a:ext>
                </a:extLst>
              </a:tr>
              <a:tr h="1175651">
                <a:tc>
                  <a:txBody>
                    <a:bodyPr/>
                    <a:lstStyle/>
                    <a:p>
                      <a:pPr marL="777240">
                        <a:lnSpc>
                          <a:spcPct val="100000"/>
                        </a:lnSpc>
                      </a:pPr>
                      <a:r>
                        <a:rPr sz="2400" b="1" spc="-65" dirty="0">
                          <a:latin typeface="微软雅黑"/>
                          <a:cs typeface="微软雅黑"/>
                        </a:rPr>
                        <a:t>U</a:t>
                      </a:r>
                      <a:r>
                        <a:rPr sz="2400" b="1" dirty="0">
                          <a:latin typeface="微软雅黑"/>
                          <a:cs typeface="微软雅黑"/>
                        </a:rPr>
                        <a:t>A</a:t>
                      </a:r>
                      <a:r>
                        <a:rPr sz="2400" b="1" spc="-50" dirty="0">
                          <a:latin typeface="微软雅黑"/>
                          <a:cs typeface="微软雅黑"/>
                        </a:rPr>
                        <a:t>R</a:t>
                      </a:r>
                      <a:r>
                        <a:rPr sz="2400" b="1" spc="-5" dirty="0">
                          <a:latin typeface="微软雅黑"/>
                          <a:cs typeface="微软雅黑"/>
                        </a:rPr>
                        <a:t>T_S</a:t>
                      </a:r>
                      <a:r>
                        <a:rPr sz="2400" b="1" spc="-95" dirty="0">
                          <a:latin typeface="微软雅黑"/>
                          <a:cs typeface="微软雅黑"/>
                        </a:rPr>
                        <a:t>T</a:t>
                      </a:r>
                      <a:r>
                        <a:rPr sz="2400" b="1" spc="-5" dirty="0">
                          <a:latin typeface="微软雅黑"/>
                          <a:cs typeface="微软雅黑"/>
                        </a:rPr>
                        <a:t>OPBITS_2</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929005">
                        <a:lnSpc>
                          <a:spcPct val="100000"/>
                        </a:lnSpc>
                      </a:pPr>
                      <a:r>
                        <a:rPr sz="2400" b="1" dirty="0">
                          <a:latin typeface="微软雅黑"/>
                          <a:cs typeface="微软雅黑"/>
                        </a:rPr>
                        <a:t>停止位长度为</a:t>
                      </a:r>
                      <a:r>
                        <a:rPr sz="2400" b="1" spc="-5" dirty="0">
                          <a:latin typeface="微软雅黑"/>
                          <a:cs typeface="微软雅黑"/>
                        </a:rPr>
                        <a:t>2</a:t>
                      </a:r>
                      <a:r>
                        <a:rPr sz="2400" b="1" dirty="0">
                          <a:latin typeface="微软雅黑"/>
                          <a:cs typeface="微软雅黑"/>
                        </a:rPr>
                        <a:t>位</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181364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23" y="6516623"/>
            <a:ext cx="12190730" cy="341630"/>
          </a:xfrm>
          <a:prstGeom prst="rect">
            <a:avLst/>
          </a:prstGeom>
        </p:spPr>
        <p:txBody>
          <a:bodyPr vert="horz" wrap="square" lIns="0" tIns="0" rIns="0" bIns="0" rtlCol="0">
            <a:spAutoFit/>
          </a:bodyPr>
          <a:lstStyle/>
          <a:p>
            <a:pPr marR="200660" algn="r">
              <a:lnSpc>
                <a:spcPct val="100000"/>
              </a:lnSpc>
            </a:pPr>
            <a:r>
              <a:rPr sz="1200" b="1" spc="-5" dirty="0">
                <a:solidFill>
                  <a:srgbClr val="FFFFFF"/>
                </a:solidFill>
                <a:latin typeface="微软雅黑"/>
                <a:cs typeface="微软雅黑"/>
              </a:rPr>
              <a:t>--</a:t>
            </a:r>
            <a:r>
              <a:rPr sz="1200" b="1" spc="5" dirty="0">
                <a:solidFill>
                  <a:srgbClr val="FFFFFF"/>
                </a:solidFill>
                <a:latin typeface="微软雅黑"/>
                <a:cs typeface="微软雅黑"/>
              </a:rPr>
              <a:t> </a:t>
            </a:r>
            <a:r>
              <a:rPr sz="1200" b="1" dirty="0">
                <a:solidFill>
                  <a:srgbClr val="FFFFFF"/>
                </a:solidFill>
                <a:latin typeface="微软雅黑"/>
                <a:cs typeface="微软雅黑"/>
              </a:rPr>
              <a:t>南昌大学“卓越”辅导员培养工程建设</a:t>
            </a:r>
            <a:endParaRPr sz="1200">
              <a:latin typeface="微软雅黑"/>
              <a:cs typeface="微软雅黑"/>
            </a:endParaRPr>
          </a:p>
        </p:txBody>
      </p:sp>
      <p:sp>
        <p:nvSpPr>
          <p:cNvPr id="3" name="object 3"/>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4" name="object 4"/>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5" name="object 5"/>
          <p:cNvSpPr/>
          <p:nvPr/>
        </p:nvSpPr>
        <p:spPr>
          <a:xfrm>
            <a:off x="1523" y="6470903"/>
            <a:ext cx="12190730" cy="45720"/>
          </a:xfrm>
          <a:custGeom>
            <a:avLst/>
            <a:gdLst/>
            <a:ahLst/>
            <a:cxnLst/>
            <a:rect l="l" t="t" r="r" b="b"/>
            <a:pathLst>
              <a:path w="12190730" h="45720">
                <a:moveTo>
                  <a:pt x="0" y="45719"/>
                </a:moveTo>
                <a:lnTo>
                  <a:pt x="12190476" y="45719"/>
                </a:lnTo>
                <a:lnTo>
                  <a:pt x="12190476" y="0"/>
                </a:lnTo>
                <a:lnTo>
                  <a:pt x="0" y="0"/>
                </a:lnTo>
                <a:lnTo>
                  <a:pt x="0" y="45719"/>
                </a:lnTo>
              </a:path>
            </a:pathLst>
          </a:custGeom>
          <a:solidFill>
            <a:srgbClr val="FFE699"/>
          </a:solidFill>
        </p:spPr>
        <p:txBody>
          <a:bodyPr wrap="square" lIns="0" tIns="0" rIns="0" bIns="0" rtlCol="0"/>
          <a:lstStyle/>
          <a:p>
            <a:endParaRPr/>
          </a:p>
        </p:txBody>
      </p:sp>
      <p:sp>
        <p:nvSpPr>
          <p:cNvPr id="6" name="object 6"/>
          <p:cNvSpPr/>
          <p:nvPr/>
        </p:nvSpPr>
        <p:spPr>
          <a:xfrm>
            <a:off x="1523" y="6516623"/>
            <a:ext cx="12190730" cy="341630"/>
          </a:xfrm>
          <a:custGeom>
            <a:avLst/>
            <a:gdLst/>
            <a:ahLst/>
            <a:cxnLst/>
            <a:rect l="l" t="t" r="r" b="b"/>
            <a:pathLst>
              <a:path w="12190730" h="341629">
                <a:moveTo>
                  <a:pt x="0" y="341376"/>
                </a:moveTo>
                <a:lnTo>
                  <a:pt x="12190476" y="341376"/>
                </a:lnTo>
                <a:lnTo>
                  <a:pt x="12190476" y="0"/>
                </a:lnTo>
                <a:lnTo>
                  <a:pt x="0" y="0"/>
                </a:lnTo>
                <a:lnTo>
                  <a:pt x="0" y="341376"/>
                </a:lnTo>
              </a:path>
            </a:pathLst>
          </a:custGeom>
          <a:solidFill>
            <a:srgbClr val="E34A46"/>
          </a:solidFill>
        </p:spPr>
        <p:txBody>
          <a:bodyPr wrap="square" lIns="0" tIns="0" rIns="0" bIns="0" rtlCol="0"/>
          <a:lstStyle/>
          <a:p>
            <a:endParaRPr/>
          </a:p>
        </p:txBody>
      </p:sp>
      <p:sp>
        <p:nvSpPr>
          <p:cNvPr id="7" name="object 7"/>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8" name="object 8"/>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9" name="object 9"/>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1" name="object 11"/>
          <p:cNvSpPr txBox="1"/>
          <p:nvPr/>
        </p:nvSpPr>
        <p:spPr>
          <a:xfrm>
            <a:off x="296672" y="1165722"/>
            <a:ext cx="12446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奇偶校验</a:t>
            </a:r>
            <a:endParaRPr sz="2400">
              <a:latin typeface="微软雅黑"/>
              <a:cs typeface="微软雅黑"/>
            </a:endParaRPr>
          </a:p>
        </p:txBody>
      </p:sp>
      <p:sp>
        <p:nvSpPr>
          <p:cNvPr id="12" name="object 12"/>
          <p:cNvSpPr txBox="1"/>
          <p:nvPr/>
        </p:nvSpPr>
        <p:spPr>
          <a:xfrm>
            <a:off x="2385441" y="389881"/>
            <a:ext cx="668655" cy="254000"/>
          </a:xfrm>
          <a:prstGeom prst="rect">
            <a:avLst/>
          </a:prstGeom>
        </p:spPr>
        <p:txBody>
          <a:bodyPr vert="horz" wrap="square" lIns="0" tIns="0" rIns="0" bIns="0" rtlCol="0">
            <a:spAutoFit/>
          </a:bodyPr>
          <a:lstStyle/>
          <a:p>
            <a:pPr marL="12700">
              <a:lnSpc>
                <a:spcPct val="100000"/>
              </a:lnSpc>
            </a:pPr>
            <a:r>
              <a:rPr sz="1800" b="1" spc="-45" dirty="0">
                <a:solidFill>
                  <a:srgbClr val="252525"/>
                </a:solidFill>
                <a:latin typeface="微软雅黑"/>
                <a:cs typeface="微软雅黑"/>
              </a:rPr>
              <a:t>U</a:t>
            </a:r>
            <a:r>
              <a:rPr sz="1800" b="1" dirty="0">
                <a:solidFill>
                  <a:srgbClr val="252525"/>
                </a:solidFill>
                <a:latin typeface="微软雅黑"/>
                <a:cs typeface="微软雅黑"/>
              </a:rPr>
              <a:t>A</a:t>
            </a:r>
            <a:r>
              <a:rPr sz="1800" b="1" spc="-35" dirty="0">
                <a:solidFill>
                  <a:srgbClr val="252525"/>
                </a:solidFill>
                <a:latin typeface="微软雅黑"/>
                <a:cs typeface="微软雅黑"/>
              </a:rPr>
              <a:t>R</a:t>
            </a:r>
            <a:r>
              <a:rPr sz="1800" b="1" dirty="0">
                <a:solidFill>
                  <a:srgbClr val="252525"/>
                </a:solidFill>
                <a:latin typeface="微软雅黑"/>
                <a:cs typeface="微软雅黑"/>
              </a:rPr>
              <a:t>T</a:t>
            </a:r>
            <a:endParaRPr sz="1800">
              <a:latin typeface="微软雅黑"/>
              <a:cs typeface="微软雅黑"/>
            </a:endParaRPr>
          </a:p>
        </p:txBody>
      </p:sp>
      <p:sp>
        <p:nvSpPr>
          <p:cNvPr id="14" name="object 14"/>
          <p:cNvSpPr txBox="1">
            <a:spLocks noGrp="1"/>
          </p:cNvSpPr>
          <p:nvPr>
            <p:ph type="title"/>
          </p:nvPr>
        </p:nvSpPr>
        <p:spPr>
          <a:prstGeom prst="rect">
            <a:avLst/>
          </a:prstGeom>
        </p:spPr>
        <p:txBody>
          <a:bodyPr vert="horz" wrap="square" lIns="0" tIns="0" rIns="0" bIns="0" rtlCol="0">
            <a:spAutoFit/>
          </a:bodyPr>
          <a:lstStyle/>
          <a:p>
            <a:pPr marL="753110">
              <a:lnSpc>
                <a:spcPct val="100000"/>
              </a:lnSpc>
            </a:pPr>
            <a:r>
              <a:rPr spc="-5" dirty="0"/>
              <a:t>成员变量</a:t>
            </a:r>
            <a:r>
              <a:rPr spc="-80" dirty="0">
                <a:latin typeface="微软雅黑"/>
                <a:cs typeface="微软雅黑"/>
              </a:rPr>
              <a:t>P</a:t>
            </a:r>
            <a:r>
              <a:rPr spc="-5" dirty="0">
                <a:latin typeface="微软雅黑"/>
                <a:cs typeface="微软雅黑"/>
              </a:rPr>
              <a:t>a</a:t>
            </a:r>
            <a:r>
              <a:rPr spc="10" dirty="0">
                <a:latin typeface="微软雅黑"/>
                <a:cs typeface="微软雅黑"/>
              </a:rPr>
              <a:t>r</a:t>
            </a:r>
            <a:r>
              <a:rPr spc="-5" dirty="0">
                <a:latin typeface="微软雅黑"/>
                <a:cs typeface="微软雅黑"/>
              </a:rPr>
              <a:t>it</a:t>
            </a:r>
            <a:r>
              <a:rPr spc="-15" dirty="0">
                <a:latin typeface="微软雅黑"/>
                <a:cs typeface="微软雅黑"/>
              </a:rPr>
              <a:t>y</a:t>
            </a:r>
            <a:r>
              <a:rPr spc="-5" dirty="0"/>
              <a:t>的取值范围</a:t>
            </a:r>
          </a:p>
        </p:txBody>
      </p:sp>
      <p:graphicFrame>
        <p:nvGraphicFramePr>
          <p:cNvPr id="13" name="object 13"/>
          <p:cNvGraphicFramePr>
            <a:graphicFrameLocks noGrp="1"/>
          </p:cNvGraphicFramePr>
          <p:nvPr/>
        </p:nvGraphicFramePr>
        <p:xfrm>
          <a:off x="2142426" y="2217610"/>
          <a:ext cx="7878571" cy="3554766"/>
        </p:xfrm>
        <a:graphic>
          <a:graphicData uri="http://schemas.openxmlformats.org/drawingml/2006/table">
            <a:tbl>
              <a:tblPr firstRow="1" bandRow="1">
                <a:tableStyleId>{2D5ABB26-0587-4C30-8999-92F81FD0307C}</a:tableStyleId>
              </a:tblPr>
              <a:tblGrid>
                <a:gridCol w="4025646">
                  <a:extLst>
                    <a:ext uri="{9D8B030D-6E8A-4147-A177-3AD203B41FA5}">
                      <a16:colId xmlns:a16="http://schemas.microsoft.com/office/drawing/2014/main" val="20000"/>
                    </a:ext>
                  </a:extLst>
                </a:gridCol>
                <a:gridCol w="3852925">
                  <a:extLst>
                    <a:ext uri="{9D8B030D-6E8A-4147-A177-3AD203B41FA5}">
                      <a16:colId xmlns:a16="http://schemas.microsoft.com/office/drawing/2014/main" val="20001"/>
                    </a:ext>
                  </a:extLst>
                </a:gridCol>
              </a:tblGrid>
              <a:tr h="688339">
                <a:tc>
                  <a:txBody>
                    <a:bodyPr/>
                    <a:lstStyle/>
                    <a:p>
                      <a:pPr marL="1236345">
                        <a:lnSpc>
                          <a:spcPct val="100000"/>
                        </a:lnSpc>
                      </a:pPr>
                      <a:r>
                        <a:rPr sz="2400" b="1" dirty="0">
                          <a:solidFill>
                            <a:srgbClr val="FFFFFF"/>
                          </a:solidFill>
                          <a:latin typeface="微软雅黑"/>
                          <a:cs typeface="微软雅黑"/>
                        </a:rPr>
                        <a:t>宏常量定义</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tc>
                  <a:txBody>
                    <a:bodyPr/>
                    <a:lstStyle/>
                    <a:p>
                      <a:pPr marL="3175" algn="ctr">
                        <a:lnSpc>
                          <a:spcPct val="100000"/>
                        </a:lnSpc>
                      </a:pPr>
                      <a:r>
                        <a:rPr sz="2400" b="1" dirty="0">
                          <a:solidFill>
                            <a:srgbClr val="FFFFFF"/>
                          </a:solidFill>
                          <a:latin typeface="微软雅黑"/>
                          <a:cs typeface="微软雅黑"/>
                        </a:rPr>
                        <a:t>含义</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extLst>
                  <a:ext uri="{0D108BD9-81ED-4DB2-BD59-A6C34878D82A}">
                    <a16:rowId xmlns:a16="http://schemas.microsoft.com/office/drawing/2014/main" val="10000"/>
                  </a:ext>
                </a:extLst>
              </a:tr>
              <a:tr h="955420">
                <a:tc>
                  <a:txBody>
                    <a:bodyPr/>
                    <a:lstStyle/>
                    <a:p>
                      <a:pPr marL="403860">
                        <a:lnSpc>
                          <a:spcPct val="100000"/>
                        </a:lnSpc>
                      </a:pPr>
                      <a:r>
                        <a:rPr sz="2400" b="1" spc="-65" dirty="0">
                          <a:latin typeface="微软雅黑"/>
                          <a:cs typeface="微软雅黑"/>
                        </a:rPr>
                        <a:t>U</a:t>
                      </a:r>
                      <a:r>
                        <a:rPr sz="2400" b="1" dirty="0">
                          <a:latin typeface="微软雅黑"/>
                          <a:cs typeface="微软雅黑"/>
                        </a:rPr>
                        <a:t>A</a:t>
                      </a:r>
                      <a:r>
                        <a:rPr sz="2400" b="1" spc="-50" dirty="0">
                          <a:latin typeface="微软雅黑"/>
                          <a:cs typeface="微软雅黑"/>
                        </a:rPr>
                        <a:t>R</a:t>
                      </a:r>
                      <a:r>
                        <a:rPr sz="2400" b="1" spc="-5" dirty="0">
                          <a:latin typeface="微软雅黑"/>
                          <a:cs typeface="微软雅黑"/>
                        </a:rPr>
                        <a:t>T_</a:t>
                      </a:r>
                      <a:r>
                        <a:rPr sz="2400" b="1" spc="-155" dirty="0">
                          <a:latin typeface="微软雅黑"/>
                          <a:cs typeface="微软雅黑"/>
                        </a:rPr>
                        <a:t>P</a:t>
                      </a:r>
                      <a:r>
                        <a:rPr sz="2400" b="1" dirty="0">
                          <a:latin typeface="微软雅黑"/>
                          <a:cs typeface="微软雅黑"/>
                        </a:rPr>
                        <a:t>ARI</a:t>
                      </a:r>
                      <a:r>
                        <a:rPr sz="2400" b="1" spc="40" dirty="0">
                          <a:latin typeface="微软雅黑"/>
                          <a:cs typeface="微软雅黑"/>
                        </a:rPr>
                        <a:t>T</a:t>
                      </a:r>
                      <a:r>
                        <a:rPr sz="2400" b="1" spc="-5" dirty="0">
                          <a:latin typeface="微软雅黑"/>
                          <a:cs typeface="微软雅黑"/>
                        </a:rPr>
                        <a:t>Y</a:t>
                      </a:r>
                      <a:r>
                        <a:rPr sz="2400" b="1" spc="5" dirty="0">
                          <a:latin typeface="微软雅黑"/>
                          <a:cs typeface="微软雅黑"/>
                        </a:rPr>
                        <a:t>_</a:t>
                      </a:r>
                      <a:r>
                        <a:rPr sz="2400" b="1" spc="-5" dirty="0">
                          <a:latin typeface="微软雅黑"/>
                          <a:cs typeface="微软雅黑"/>
                        </a:rPr>
                        <a:t>N</a:t>
                      </a:r>
                      <a:r>
                        <a:rPr sz="2400" b="1" spc="5" dirty="0">
                          <a:latin typeface="微软雅黑"/>
                          <a:cs typeface="微软雅黑"/>
                        </a:rPr>
                        <a:t>O</a:t>
                      </a:r>
                      <a:r>
                        <a:rPr sz="2400" b="1" spc="-5" dirty="0">
                          <a:latin typeface="微软雅黑"/>
                          <a:cs typeface="微软雅黑"/>
                        </a:rPr>
                        <a:t>NE</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1151255">
                        <a:lnSpc>
                          <a:spcPct val="100000"/>
                        </a:lnSpc>
                      </a:pPr>
                      <a:r>
                        <a:rPr sz="2400" b="1" dirty="0">
                          <a:latin typeface="微软雅黑"/>
                          <a:cs typeface="微软雅黑"/>
                        </a:rPr>
                        <a:t>无奇偶校验</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1"/>
                  </a:ext>
                </a:extLst>
              </a:tr>
              <a:tr h="955548">
                <a:tc>
                  <a:txBody>
                    <a:bodyPr/>
                    <a:lstStyle/>
                    <a:p>
                      <a:pPr marL="461645">
                        <a:lnSpc>
                          <a:spcPct val="100000"/>
                        </a:lnSpc>
                      </a:pPr>
                      <a:r>
                        <a:rPr sz="2400" b="1" spc="-70" dirty="0">
                          <a:latin typeface="微软雅黑"/>
                          <a:cs typeface="微软雅黑"/>
                        </a:rPr>
                        <a:t>U</a:t>
                      </a:r>
                      <a:r>
                        <a:rPr sz="2400" b="1" dirty="0">
                          <a:latin typeface="微软雅黑"/>
                          <a:cs typeface="微软雅黑"/>
                        </a:rPr>
                        <a:t>A</a:t>
                      </a:r>
                      <a:r>
                        <a:rPr sz="2400" b="1" spc="-55" dirty="0">
                          <a:latin typeface="微软雅黑"/>
                          <a:cs typeface="微软雅黑"/>
                        </a:rPr>
                        <a:t>R</a:t>
                      </a:r>
                      <a:r>
                        <a:rPr sz="2400" b="1" spc="-5" dirty="0">
                          <a:latin typeface="微软雅黑"/>
                          <a:cs typeface="微软雅黑"/>
                        </a:rPr>
                        <a:t>T_</a:t>
                      </a:r>
                      <a:r>
                        <a:rPr sz="2400" b="1" spc="-160" dirty="0">
                          <a:latin typeface="微软雅黑"/>
                          <a:cs typeface="微软雅黑"/>
                        </a:rPr>
                        <a:t>P</a:t>
                      </a:r>
                      <a:r>
                        <a:rPr sz="2400" b="1" dirty="0">
                          <a:latin typeface="微软雅黑"/>
                          <a:cs typeface="微软雅黑"/>
                        </a:rPr>
                        <a:t>ARI</a:t>
                      </a:r>
                      <a:r>
                        <a:rPr sz="2400" b="1" spc="35" dirty="0">
                          <a:latin typeface="微软雅黑"/>
                          <a:cs typeface="微软雅黑"/>
                        </a:rPr>
                        <a:t>T</a:t>
                      </a:r>
                      <a:r>
                        <a:rPr sz="2400" b="1" spc="-5" dirty="0">
                          <a:latin typeface="微软雅黑"/>
                          <a:cs typeface="微软雅黑"/>
                        </a:rPr>
                        <a:t>Y_</a:t>
                      </a:r>
                      <a:r>
                        <a:rPr sz="2400" b="1" spc="10" dirty="0">
                          <a:latin typeface="微软雅黑"/>
                          <a:cs typeface="微软雅黑"/>
                        </a:rPr>
                        <a:t>E</a:t>
                      </a:r>
                      <a:r>
                        <a:rPr sz="2400" b="1" dirty="0">
                          <a:latin typeface="微软雅黑"/>
                          <a:cs typeface="微软雅黑"/>
                        </a:rPr>
                        <a:t>V</a:t>
                      </a:r>
                      <a:r>
                        <a:rPr sz="2400" b="1" spc="-10" dirty="0">
                          <a:latin typeface="微软雅黑"/>
                          <a:cs typeface="微软雅黑"/>
                        </a:rPr>
                        <a:t>E</a:t>
                      </a:r>
                      <a:r>
                        <a:rPr sz="2400" b="1" dirty="0">
                          <a:latin typeface="微软雅黑"/>
                          <a:cs typeface="微软雅黑"/>
                        </a:rPr>
                        <a:t>N</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3175" algn="ctr">
                        <a:lnSpc>
                          <a:spcPct val="100000"/>
                        </a:lnSpc>
                      </a:pPr>
                      <a:r>
                        <a:rPr sz="2400" b="1" dirty="0">
                          <a:latin typeface="微软雅黑"/>
                          <a:cs typeface="微软雅黑"/>
                        </a:rPr>
                        <a:t>偶校验</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r h="955459">
                <a:tc>
                  <a:txBody>
                    <a:bodyPr/>
                    <a:lstStyle/>
                    <a:p>
                      <a:pPr marL="508634">
                        <a:lnSpc>
                          <a:spcPct val="100000"/>
                        </a:lnSpc>
                      </a:pPr>
                      <a:r>
                        <a:rPr sz="2400" b="1" spc="-65" dirty="0">
                          <a:latin typeface="微软雅黑"/>
                          <a:cs typeface="微软雅黑"/>
                        </a:rPr>
                        <a:t>U</a:t>
                      </a:r>
                      <a:r>
                        <a:rPr sz="2400" b="1" dirty="0">
                          <a:latin typeface="微软雅黑"/>
                          <a:cs typeface="微软雅黑"/>
                        </a:rPr>
                        <a:t>A</a:t>
                      </a:r>
                      <a:r>
                        <a:rPr sz="2400" b="1" spc="-50" dirty="0">
                          <a:latin typeface="微软雅黑"/>
                          <a:cs typeface="微软雅黑"/>
                        </a:rPr>
                        <a:t>R</a:t>
                      </a:r>
                      <a:r>
                        <a:rPr sz="2400" b="1" spc="-5" dirty="0">
                          <a:latin typeface="微软雅黑"/>
                          <a:cs typeface="微软雅黑"/>
                        </a:rPr>
                        <a:t>T_</a:t>
                      </a:r>
                      <a:r>
                        <a:rPr sz="2400" b="1" spc="-155" dirty="0">
                          <a:latin typeface="微软雅黑"/>
                          <a:cs typeface="微软雅黑"/>
                        </a:rPr>
                        <a:t>P</a:t>
                      </a:r>
                      <a:r>
                        <a:rPr sz="2400" b="1" dirty="0">
                          <a:latin typeface="微软雅黑"/>
                          <a:cs typeface="微软雅黑"/>
                        </a:rPr>
                        <a:t>ARI</a:t>
                      </a:r>
                      <a:r>
                        <a:rPr sz="2400" b="1" spc="40" dirty="0">
                          <a:latin typeface="微软雅黑"/>
                          <a:cs typeface="微软雅黑"/>
                        </a:rPr>
                        <a:t>T</a:t>
                      </a:r>
                      <a:r>
                        <a:rPr sz="2400" b="1" spc="-5" dirty="0">
                          <a:latin typeface="微软雅黑"/>
                          <a:cs typeface="微软雅黑"/>
                        </a:rPr>
                        <a:t>Y</a:t>
                      </a:r>
                      <a:r>
                        <a:rPr sz="2400" b="1" spc="5" dirty="0">
                          <a:latin typeface="微软雅黑"/>
                          <a:cs typeface="微软雅黑"/>
                        </a:rPr>
                        <a:t>_</a:t>
                      </a:r>
                      <a:r>
                        <a:rPr sz="2400" b="1" spc="-5" dirty="0">
                          <a:latin typeface="微软雅黑"/>
                          <a:cs typeface="微软雅黑"/>
                        </a:rPr>
                        <a:t>ODD</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3175" algn="ctr">
                        <a:lnSpc>
                          <a:spcPct val="100000"/>
                        </a:lnSpc>
                      </a:pPr>
                      <a:r>
                        <a:rPr sz="2400" b="1" dirty="0">
                          <a:latin typeface="微软雅黑"/>
                          <a:cs typeface="微软雅黑"/>
                        </a:rPr>
                        <a:t>奇校验</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2930978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23" y="6516623"/>
            <a:ext cx="12190730" cy="341630"/>
          </a:xfrm>
          <a:prstGeom prst="rect">
            <a:avLst/>
          </a:prstGeom>
        </p:spPr>
        <p:txBody>
          <a:bodyPr vert="horz" wrap="square" lIns="0" tIns="0" rIns="0" bIns="0" rtlCol="0">
            <a:spAutoFit/>
          </a:bodyPr>
          <a:lstStyle/>
          <a:p>
            <a:pPr marR="200660" algn="r">
              <a:lnSpc>
                <a:spcPct val="100000"/>
              </a:lnSpc>
            </a:pPr>
            <a:r>
              <a:rPr sz="1200" b="1" spc="-5" dirty="0">
                <a:solidFill>
                  <a:srgbClr val="FFFFFF"/>
                </a:solidFill>
                <a:latin typeface="微软雅黑"/>
                <a:cs typeface="微软雅黑"/>
              </a:rPr>
              <a:t>--</a:t>
            </a:r>
            <a:r>
              <a:rPr sz="1200" b="1" spc="5" dirty="0">
                <a:solidFill>
                  <a:srgbClr val="FFFFFF"/>
                </a:solidFill>
                <a:latin typeface="微软雅黑"/>
                <a:cs typeface="微软雅黑"/>
              </a:rPr>
              <a:t> </a:t>
            </a:r>
            <a:r>
              <a:rPr sz="1200" b="1" dirty="0">
                <a:solidFill>
                  <a:srgbClr val="FFFFFF"/>
                </a:solidFill>
                <a:latin typeface="微软雅黑"/>
                <a:cs typeface="微软雅黑"/>
              </a:rPr>
              <a:t>南昌大学“卓越”辅导员培养工程建设</a:t>
            </a:r>
            <a:endParaRPr sz="1200">
              <a:latin typeface="微软雅黑"/>
              <a:cs typeface="微软雅黑"/>
            </a:endParaRPr>
          </a:p>
        </p:txBody>
      </p:sp>
      <p:sp>
        <p:nvSpPr>
          <p:cNvPr id="3" name="object 3"/>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4" name="object 4"/>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5" name="object 5"/>
          <p:cNvSpPr/>
          <p:nvPr/>
        </p:nvSpPr>
        <p:spPr>
          <a:xfrm>
            <a:off x="1523" y="6470903"/>
            <a:ext cx="12190730" cy="45720"/>
          </a:xfrm>
          <a:custGeom>
            <a:avLst/>
            <a:gdLst/>
            <a:ahLst/>
            <a:cxnLst/>
            <a:rect l="l" t="t" r="r" b="b"/>
            <a:pathLst>
              <a:path w="12190730" h="45720">
                <a:moveTo>
                  <a:pt x="0" y="45719"/>
                </a:moveTo>
                <a:lnTo>
                  <a:pt x="12190476" y="45719"/>
                </a:lnTo>
                <a:lnTo>
                  <a:pt x="12190476" y="0"/>
                </a:lnTo>
                <a:lnTo>
                  <a:pt x="0" y="0"/>
                </a:lnTo>
                <a:lnTo>
                  <a:pt x="0" y="45719"/>
                </a:lnTo>
              </a:path>
            </a:pathLst>
          </a:custGeom>
          <a:solidFill>
            <a:srgbClr val="FFE699"/>
          </a:solidFill>
        </p:spPr>
        <p:txBody>
          <a:bodyPr wrap="square" lIns="0" tIns="0" rIns="0" bIns="0" rtlCol="0"/>
          <a:lstStyle/>
          <a:p>
            <a:endParaRPr/>
          </a:p>
        </p:txBody>
      </p:sp>
      <p:sp>
        <p:nvSpPr>
          <p:cNvPr id="6" name="object 6"/>
          <p:cNvSpPr/>
          <p:nvPr/>
        </p:nvSpPr>
        <p:spPr>
          <a:xfrm>
            <a:off x="1523" y="6516623"/>
            <a:ext cx="12190730" cy="341630"/>
          </a:xfrm>
          <a:custGeom>
            <a:avLst/>
            <a:gdLst/>
            <a:ahLst/>
            <a:cxnLst/>
            <a:rect l="l" t="t" r="r" b="b"/>
            <a:pathLst>
              <a:path w="12190730" h="341629">
                <a:moveTo>
                  <a:pt x="0" y="341376"/>
                </a:moveTo>
                <a:lnTo>
                  <a:pt x="12190476" y="341376"/>
                </a:lnTo>
                <a:lnTo>
                  <a:pt x="12190476" y="0"/>
                </a:lnTo>
                <a:lnTo>
                  <a:pt x="0" y="0"/>
                </a:lnTo>
                <a:lnTo>
                  <a:pt x="0" y="341376"/>
                </a:lnTo>
              </a:path>
            </a:pathLst>
          </a:custGeom>
          <a:solidFill>
            <a:srgbClr val="E34A46"/>
          </a:solidFill>
        </p:spPr>
        <p:txBody>
          <a:bodyPr wrap="square" lIns="0" tIns="0" rIns="0" bIns="0" rtlCol="0"/>
          <a:lstStyle/>
          <a:p>
            <a:endParaRPr/>
          </a:p>
        </p:txBody>
      </p:sp>
      <p:sp>
        <p:nvSpPr>
          <p:cNvPr id="7" name="object 7"/>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8" name="object 8"/>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9" name="object 9"/>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1" name="object 11"/>
          <p:cNvSpPr txBox="1"/>
          <p:nvPr/>
        </p:nvSpPr>
        <p:spPr>
          <a:xfrm>
            <a:off x="333552" y="1165722"/>
            <a:ext cx="12446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通信方式</a:t>
            </a:r>
            <a:endParaRPr sz="2400">
              <a:latin typeface="微软雅黑"/>
              <a:cs typeface="微软雅黑"/>
            </a:endParaRPr>
          </a:p>
        </p:txBody>
      </p:sp>
      <p:sp>
        <p:nvSpPr>
          <p:cNvPr id="12" name="object 12"/>
          <p:cNvSpPr txBox="1"/>
          <p:nvPr/>
        </p:nvSpPr>
        <p:spPr>
          <a:xfrm>
            <a:off x="2385441" y="389881"/>
            <a:ext cx="668655" cy="254000"/>
          </a:xfrm>
          <a:prstGeom prst="rect">
            <a:avLst/>
          </a:prstGeom>
        </p:spPr>
        <p:txBody>
          <a:bodyPr vert="horz" wrap="square" lIns="0" tIns="0" rIns="0" bIns="0" rtlCol="0">
            <a:spAutoFit/>
          </a:bodyPr>
          <a:lstStyle/>
          <a:p>
            <a:pPr marL="12700">
              <a:lnSpc>
                <a:spcPct val="100000"/>
              </a:lnSpc>
            </a:pPr>
            <a:r>
              <a:rPr sz="1800" b="1" spc="-45" dirty="0">
                <a:solidFill>
                  <a:srgbClr val="252525"/>
                </a:solidFill>
                <a:latin typeface="微软雅黑"/>
                <a:cs typeface="微软雅黑"/>
              </a:rPr>
              <a:t>U</a:t>
            </a:r>
            <a:r>
              <a:rPr sz="1800" b="1" dirty="0">
                <a:solidFill>
                  <a:srgbClr val="252525"/>
                </a:solidFill>
                <a:latin typeface="微软雅黑"/>
                <a:cs typeface="微软雅黑"/>
              </a:rPr>
              <a:t>A</a:t>
            </a:r>
            <a:r>
              <a:rPr sz="1800" b="1" spc="-35" dirty="0">
                <a:solidFill>
                  <a:srgbClr val="252525"/>
                </a:solidFill>
                <a:latin typeface="微软雅黑"/>
                <a:cs typeface="微软雅黑"/>
              </a:rPr>
              <a:t>R</a:t>
            </a:r>
            <a:r>
              <a:rPr sz="1800" b="1" dirty="0">
                <a:solidFill>
                  <a:srgbClr val="252525"/>
                </a:solidFill>
                <a:latin typeface="微软雅黑"/>
                <a:cs typeface="微软雅黑"/>
              </a:rPr>
              <a:t>T</a:t>
            </a:r>
            <a:endParaRPr sz="1800">
              <a:latin typeface="微软雅黑"/>
              <a:cs typeface="微软雅黑"/>
            </a:endParaRPr>
          </a:p>
        </p:txBody>
      </p:sp>
      <p:sp>
        <p:nvSpPr>
          <p:cNvPr id="13" name="object 13"/>
          <p:cNvSpPr txBox="1">
            <a:spLocks noGrp="1"/>
          </p:cNvSpPr>
          <p:nvPr>
            <p:ph type="title"/>
          </p:nvPr>
        </p:nvSpPr>
        <p:spPr>
          <a:prstGeom prst="rect">
            <a:avLst/>
          </a:prstGeom>
        </p:spPr>
        <p:txBody>
          <a:bodyPr vert="horz" wrap="square" lIns="0" tIns="0" rIns="0" bIns="0" rtlCol="0">
            <a:spAutoFit/>
          </a:bodyPr>
          <a:lstStyle/>
          <a:p>
            <a:pPr marL="750570">
              <a:lnSpc>
                <a:spcPct val="100000"/>
              </a:lnSpc>
            </a:pPr>
            <a:r>
              <a:rPr spc="-5" dirty="0"/>
              <a:t>成员变量</a:t>
            </a:r>
            <a:r>
              <a:rPr spc="-10" dirty="0">
                <a:latin typeface="微软雅黑"/>
                <a:cs typeface="微软雅黑"/>
              </a:rPr>
              <a:t>Mod</a:t>
            </a:r>
            <a:r>
              <a:rPr spc="0" dirty="0">
                <a:latin typeface="微软雅黑"/>
                <a:cs typeface="微软雅黑"/>
              </a:rPr>
              <a:t>e</a:t>
            </a:r>
            <a:r>
              <a:rPr spc="-5" dirty="0"/>
              <a:t>的取值范围</a:t>
            </a:r>
          </a:p>
        </p:txBody>
      </p:sp>
      <p:graphicFrame>
        <p:nvGraphicFramePr>
          <p:cNvPr id="14" name="object 14"/>
          <p:cNvGraphicFramePr>
            <a:graphicFrameLocks noGrp="1"/>
          </p:cNvGraphicFramePr>
          <p:nvPr/>
        </p:nvGraphicFramePr>
        <p:xfrm>
          <a:off x="553745" y="2247582"/>
          <a:ext cx="11055896" cy="3667415"/>
        </p:xfrm>
        <a:graphic>
          <a:graphicData uri="http://schemas.openxmlformats.org/drawingml/2006/table">
            <a:tbl>
              <a:tblPr firstRow="1" bandRow="1">
                <a:tableStyleId>{2D5ABB26-0587-4C30-8999-92F81FD0307C}</a:tableStyleId>
              </a:tblPr>
              <a:tblGrid>
                <a:gridCol w="3680244">
                  <a:extLst>
                    <a:ext uri="{9D8B030D-6E8A-4147-A177-3AD203B41FA5}">
                      <a16:colId xmlns:a16="http://schemas.microsoft.com/office/drawing/2014/main" val="20000"/>
                    </a:ext>
                  </a:extLst>
                </a:gridCol>
                <a:gridCol w="7375652">
                  <a:extLst>
                    <a:ext uri="{9D8B030D-6E8A-4147-A177-3AD203B41FA5}">
                      <a16:colId xmlns:a16="http://schemas.microsoft.com/office/drawing/2014/main" val="20001"/>
                    </a:ext>
                  </a:extLst>
                </a:gridCol>
              </a:tblGrid>
              <a:tr h="724153">
                <a:tc>
                  <a:txBody>
                    <a:bodyPr/>
                    <a:lstStyle/>
                    <a:p>
                      <a:pPr marL="1063625">
                        <a:lnSpc>
                          <a:spcPct val="100000"/>
                        </a:lnSpc>
                      </a:pPr>
                      <a:r>
                        <a:rPr sz="2400" b="1" dirty="0">
                          <a:solidFill>
                            <a:srgbClr val="FFFFFF"/>
                          </a:solidFill>
                          <a:latin typeface="微软雅黑"/>
                          <a:cs typeface="微软雅黑"/>
                        </a:rPr>
                        <a:t>宏常量定义</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tc>
                  <a:txBody>
                    <a:bodyPr/>
                    <a:lstStyle/>
                    <a:p>
                      <a:pPr algn="ctr">
                        <a:lnSpc>
                          <a:spcPct val="100000"/>
                        </a:lnSpc>
                      </a:pPr>
                      <a:r>
                        <a:rPr sz="2400" b="1" dirty="0">
                          <a:solidFill>
                            <a:srgbClr val="FFFFFF"/>
                          </a:solidFill>
                          <a:latin typeface="微软雅黑"/>
                          <a:cs typeface="微软雅黑"/>
                        </a:rPr>
                        <a:t>含义</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extLst>
                  <a:ext uri="{0D108BD9-81ED-4DB2-BD59-A6C34878D82A}">
                    <a16:rowId xmlns:a16="http://schemas.microsoft.com/office/drawing/2014/main" val="10000"/>
                  </a:ext>
                </a:extLst>
              </a:tr>
              <a:tr h="1016253">
                <a:tc>
                  <a:txBody>
                    <a:bodyPr/>
                    <a:lstStyle/>
                    <a:p>
                      <a:pPr marL="557530">
                        <a:lnSpc>
                          <a:spcPct val="100000"/>
                        </a:lnSpc>
                      </a:pPr>
                      <a:r>
                        <a:rPr sz="2400" b="1" spc="-65" dirty="0">
                          <a:latin typeface="微软雅黑"/>
                          <a:cs typeface="微软雅黑"/>
                        </a:rPr>
                        <a:t>U</a:t>
                      </a:r>
                      <a:r>
                        <a:rPr sz="2400" b="1" dirty="0">
                          <a:latin typeface="微软雅黑"/>
                          <a:cs typeface="微软雅黑"/>
                        </a:rPr>
                        <a:t>A</a:t>
                      </a:r>
                      <a:r>
                        <a:rPr sz="2400" b="1" spc="-50" dirty="0">
                          <a:latin typeface="微软雅黑"/>
                          <a:cs typeface="微软雅黑"/>
                        </a:rPr>
                        <a:t>R</a:t>
                      </a:r>
                      <a:r>
                        <a:rPr sz="2400" b="1" spc="-5" dirty="0">
                          <a:latin typeface="微软雅黑"/>
                          <a:cs typeface="微软雅黑"/>
                        </a:rPr>
                        <a:t>T_M</a:t>
                      </a:r>
                      <a:r>
                        <a:rPr sz="2400" b="1" spc="5" dirty="0">
                          <a:latin typeface="微软雅黑"/>
                          <a:cs typeface="微软雅黑"/>
                        </a:rPr>
                        <a:t>O</a:t>
                      </a:r>
                      <a:r>
                        <a:rPr sz="2400" b="1" dirty="0">
                          <a:latin typeface="微软雅黑"/>
                          <a:cs typeface="微软雅黑"/>
                        </a:rPr>
                        <a:t>D</a:t>
                      </a:r>
                      <a:r>
                        <a:rPr sz="2400" b="1" spc="-10" dirty="0">
                          <a:latin typeface="微软雅黑"/>
                          <a:cs typeface="微软雅黑"/>
                        </a:rPr>
                        <a:t>E</a:t>
                      </a:r>
                      <a:r>
                        <a:rPr sz="2400" b="1" spc="-5" dirty="0">
                          <a:latin typeface="微软雅黑"/>
                          <a:cs typeface="微软雅黑"/>
                        </a:rPr>
                        <a:t>_</a:t>
                      </a:r>
                      <a:r>
                        <a:rPr sz="2400" b="1" spc="5" dirty="0">
                          <a:latin typeface="微软雅黑"/>
                          <a:cs typeface="微软雅黑"/>
                        </a:rPr>
                        <a:t>R</a:t>
                      </a:r>
                      <a:r>
                        <a:rPr sz="2400" b="1" dirty="0">
                          <a:latin typeface="微软雅黑"/>
                          <a:cs typeface="微软雅黑"/>
                        </a:rPr>
                        <a:t>X</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168275">
                        <a:lnSpc>
                          <a:spcPct val="100000"/>
                        </a:lnSpc>
                      </a:pPr>
                      <a:r>
                        <a:rPr sz="2400" b="1" spc="-5" dirty="0">
                          <a:latin typeface="微软雅黑"/>
                          <a:cs typeface="微软雅黑"/>
                        </a:rPr>
                        <a:t>串口仅处于接收模式，只能接收数据，不能发送数据</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1"/>
                  </a:ext>
                </a:extLst>
              </a:tr>
              <a:tr h="973328">
                <a:tc>
                  <a:txBody>
                    <a:bodyPr/>
                    <a:lstStyle/>
                    <a:p>
                      <a:pPr marL="569595">
                        <a:lnSpc>
                          <a:spcPct val="100000"/>
                        </a:lnSpc>
                      </a:pPr>
                      <a:r>
                        <a:rPr sz="2400" b="1" spc="-65" dirty="0">
                          <a:latin typeface="微软雅黑"/>
                          <a:cs typeface="微软雅黑"/>
                        </a:rPr>
                        <a:t>U</a:t>
                      </a:r>
                      <a:r>
                        <a:rPr sz="2400" b="1" dirty="0">
                          <a:latin typeface="微软雅黑"/>
                          <a:cs typeface="微软雅黑"/>
                        </a:rPr>
                        <a:t>A</a:t>
                      </a:r>
                      <a:r>
                        <a:rPr sz="2400" b="1" spc="-45" dirty="0">
                          <a:latin typeface="微软雅黑"/>
                          <a:cs typeface="微软雅黑"/>
                        </a:rPr>
                        <a:t>R</a:t>
                      </a:r>
                      <a:r>
                        <a:rPr sz="2400" b="1" spc="-5" dirty="0">
                          <a:latin typeface="微软雅黑"/>
                          <a:cs typeface="微软雅黑"/>
                        </a:rPr>
                        <a:t>T</a:t>
                      </a:r>
                      <a:r>
                        <a:rPr sz="2400" b="1" spc="5" dirty="0">
                          <a:latin typeface="微软雅黑"/>
                          <a:cs typeface="微软雅黑"/>
                        </a:rPr>
                        <a:t>_</a:t>
                      </a:r>
                      <a:r>
                        <a:rPr sz="2400" b="1" dirty="0">
                          <a:latin typeface="微软雅黑"/>
                          <a:cs typeface="微软雅黑"/>
                        </a:rPr>
                        <a:t>MODE_TX</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168275">
                        <a:lnSpc>
                          <a:spcPct val="100000"/>
                        </a:lnSpc>
                      </a:pPr>
                      <a:r>
                        <a:rPr sz="2400" b="1" dirty="0">
                          <a:latin typeface="微软雅黑"/>
                          <a:cs typeface="微软雅黑"/>
                        </a:rPr>
                        <a:t>串口仅处于发送模式，只能发送数据，不能接收数据</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r h="953681">
                <a:tc>
                  <a:txBody>
                    <a:bodyPr/>
                    <a:lstStyle/>
                    <a:p>
                      <a:pPr marL="287655">
                        <a:lnSpc>
                          <a:spcPct val="100000"/>
                        </a:lnSpc>
                      </a:pPr>
                      <a:r>
                        <a:rPr sz="2400" b="1" spc="-65" dirty="0">
                          <a:latin typeface="微软雅黑"/>
                          <a:cs typeface="微软雅黑"/>
                        </a:rPr>
                        <a:t>U</a:t>
                      </a:r>
                      <a:r>
                        <a:rPr sz="2400" b="1" dirty="0">
                          <a:latin typeface="微软雅黑"/>
                          <a:cs typeface="微软雅黑"/>
                        </a:rPr>
                        <a:t>A</a:t>
                      </a:r>
                      <a:r>
                        <a:rPr sz="2400" b="1" spc="-50" dirty="0">
                          <a:latin typeface="微软雅黑"/>
                          <a:cs typeface="微软雅黑"/>
                        </a:rPr>
                        <a:t>R</a:t>
                      </a:r>
                      <a:r>
                        <a:rPr sz="2400" b="1" spc="-5" dirty="0">
                          <a:latin typeface="微软雅黑"/>
                          <a:cs typeface="微软雅黑"/>
                        </a:rPr>
                        <a:t>T_</a:t>
                      </a:r>
                      <a:r>
                        <a:rPr sz="2400" b="1" spc="5" dirty="0">
                          <a:latin typeface="微软雅黑"/>
                          <a:cs typeface="微软雅黑"/>
                        </a:rPr>
                        <a:t>M</a:t>
                      </a:r>
                      <a:r>
                        <a:rPr sz="2400" b="1" spc="-5" dirty="0">
                          <a:latin typeface="微软雅黑"/>
                          <a:cs typeface="微软雅黑"/>
                        </a:rPr>
                        <a:t>ODE_TX_</a:t>
                      </a:r>
                      <a:r>
                        <a:rPr sz="2400" b="1" spc="10" dirty="0">
                          <a:latin typeface="微软雅黑"/>
                          <a:cs typeface="微软雅黑"/>
                        </a:rPr>
                        <a:t>R</a:t>
                      </a:r>
                      <a:r>
                        <a:rPr sz="2400" b="1" dirty="0">
                          <a:latin typeface="微软雅黑"/>
                          <a:cs typeface="微软雅黑"/>
                        </a:rPr>
                        <a:t>X</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144780">
                        <a:lnSpc>
                          <a:spcPct val="100000"/>
                        </a:lnSpc>
                      </a:pPr>
                      <a:r>
                        <a:rPr sz="2400" b="1" dirty="0">
                          <a:latin typeface="微软雅黑"/>
                          <a:cs typeface="微软雅黑"/>
                        </a:rPr>
                        <a:t>串口处于接收和发送模式，可以同时收发数据</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0964079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23" y="6516623"/>
            <a:ext cx="12190730" cy="341630"/>
          </a:xfrm>
          <a:prstGeom prst="rect">
            <a:avLst/>
          </a:prstGeom>
        </p:spPr>
        <p:txBody>
          <a:bodyPr vert="horz" wrap="square" lIns="0" tIns="0" rIns="0" bIns="0" rtlCol="0">
            <a:spAutoFit/>
          </a:bodyPr>
          <a:lstStyle/>
          <a:p>
            <a:pPr marR="200660" algn="r">
              <a:lnSpc>
                <a:spcPct val="100000"/>
              </a:lnSpc>
            </a:pPr>
            <a:r>
              <a:rPr sz="1200" b="1" spc="-5" dirty="0">
                <a:solidFill>
                  <a:srgbClr val="FFFFFF"/>
                </a:solidFill>
                <a:latin typeface="微软雅黑"/>
                <a:cs typeface="微软雅黑"/>
              </a:rPr>
              <a:t>--</a:t>
            </a:r>
            <a:r>
              <a:rPr sz="1200" b="1" spc="5" dirty="0">
                <a:solidFill>
                  <a:srgbClr val="FFFFFF"/>
                </a:solidFill>
                <a:latin typeface="微软雅黑"/>
                <a:cs typeface="微软雅黑"/>
              </a:rPr>
              <a:t> </a:t>
            </a:r>
            <a:r>
              <a:rPr sz="1200" b="1" dirty="0">
                <a:solidFill>
                  <a:srgbClr val="FFFFFF"/>
                </a:solidFill>
                <a:latin typeface="微软雅黑"/>
                <a:cs typeface="微软雅黑"/>
              </a:rPr>
              <a:t>南昌大学“卓越”辅导员培养工程建设</a:t>
            </a:r>
            <a:endParaRPr sz="1200">
              <a:latin typeface="微软雅黑"/>
              <a:cs typeface="微软雅黑"/>
            </a:endParaRPr>
          </a:p>
        </p:txBody>
      </p:sp>
      <p:sp>
        <p:nvSpPr>
          <p:cNvPr id="3" name="object 3"/>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4" name="object 4"/>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5" name="object 5"/>
          <p:cNvSpPr/>
          <p:nvPr/>
        </p:nvSpPr>
        <p:spPr>
          <a:xfrm>
            <a:off x="1523" y="6470903"/>
            <a:ext cx="12190730" cy="45720"/>
          </a:xfrm>
          <a:custGeom>
            <a:avLst/>
            <a:gdLst/>
            <a:ahLst/>
            <a:cxnLst/>
            <a:rect l="l" t="t" r="r" b="b"/>
            <a:pathLst>
              <a:path w="12190730" h="45720">
                <a:moveTo>
                  <a:pt x="0" y="45719"/>
                </a:moveTo>
                <a:lnTo>
                  <a:pt x="12190476" y="45719"/>
                </a:lnTo>
                <a:lnTo>
                  <a:pt x="12190476" y="0"/>
                </a:lnTo>
                <a:lnTo>
                  <a:pt x="0" y="0"/>
                </a:lnTo>
                <a:lnTo>
                  <a:pt x="0" y="45719"/>
                </a:lnTo>
              </a:path>
            </a:pathLst>
          </a:custGeom>
          <a:solidFill>
            <a:srgbClr val="FFE699"/>
          </a:solidFill>
        </p:spPr>
        <p:txBody>
          <a:bodyPr wrap="square" lIns="0" tIns="0" rIns="0" bIns="0" rtlCol="0"/>
          <a:lstStyle/>
          <a:p>
            <a:endParaRPr/>
          </a:p>
        </p:txBody>
      </p:sp>
      <p:sp>
        <p:nvSpPr>
          <p:cNvPr id="6" name="object 6"/>
          <p:cNvSpPr/>
          <p:nvPr/>
        </p:nvSpPr>
        <p:spPr>
          <a:xfrm>
            <a:off x="1523" y="6516623"/>
            <a:ext cx="12190730" cy="341630"/>
          </a:xfrm>
          <a:custGeom>
            <a:avLst/>
            <a:gdLst/>
            <a:ahLst/>
            <a:cxnLst/>
            <a:rect l="l" t="t" r="r" b="b"/>
            <a:pathLst>
              <a:path w="12190730" h="341629">
                <a:moveTo>
                  <a:pt x="0" y="341376"/>
                </a:moveTo>
                <a:lnTo>
                  <a:pt x="12190476" y="341376"/>
                </a:lnTo>
                <a:lnTo>
                  <a:pt x="12190476" y="0"/>
                </a:lnTo>
                <a:lnTo>
                  <a:pt x="0" y="0"/>
                </a:lnTo>
                <a:lnTo>
                  <a:pt x="0" y="341376"/>
                </a:lnTo>
              </a:path>
            </a:pathLst>
          </a:custGeom>
          <a:solidFill>
            <a:srgbClr val="E34A46"/>
          </a:solidFill>
        </p:spPr>
        <p:txBody>
          <a:bodyPr wrap="square" lIns="0" tIns="0" rIns="0" bIns="0" rtlCol="0"/>
          <a:lstStyle/>
          <a:p>
            <a:endParaRPr/>
          </a:p>
        </p:txBody>
      </p:sp>
      <p:sp>
        <p:nvSpPr>
          <p:cNvPr id="7" name="object 7"/>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8" name="object 8"/>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9" name="object 9"/>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1" name="object 11"/>
          <p:cNvSpPr txBox="1"/>
          <p:nvPr/>
        </p:nvSpPr>
        <p:spPr>
          <a:xfrm>
            <a:off x="333552" y="1165722"/>
            <a:ext cx="12446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硬件流控</a:t>
            </a:r>
            <a:endParaRPr sz="2400">
              <a:latin typeface="微软雅黑"/>
              <a:cs typeface="微软雅黑"/>
            </a:endParaRPr>
          </a:p>
        </p:txBody>
      </p:sp>
      <p:sp>
        <p:nvSpPr>
          <p:cNvPr id="12" name="object 12"/>
          <p:cNvSpPr txBox="1"/>
          <p:nvPr/>
        </p:nvSpPr>
        <p:spPr>
          <a:xfrm>
            <a:off x="2385441" y="389881"/>
            <a:ext cx="668655" cy="254000"/>
          </a:xfrm>
          <a:prstGeom prst="rect">
            <a:avLst/>
          </a:prstGeom>
        </p:spPr>
        <p:txBody>
          <a:bodyPr vert="horz" wrap="square" lIns="0" tIns="0" rIns="0" bIns="0" rtlCol="0">
            <a:spAutoFit/>
          </a:bodyPr>
          <a:lstStyle/>
          <a:p>
            <a:pPr marL="12700">
              <a:lnSpc>
                <a:spcPct val="100000"/>
              </a:lnSpc>
            </a:pPr>
            <a:r>
              <a:rPr sz="1800" b="1" spc="-45" dirty="0">
                <a:solidFill>
                  <a:srgbClr val="252525"/>
                </a:solidFill>
                <a:latin typeface="微软雅黑"/>
                <a:cs typeface="微软雅黑"/>
              </a:rPr>
              <a:t>U</a:t>
            </a:r>
            <a:r>
              <a:rPr sz="1800" b="1" dirty="0">
                <a:solidFill>
                  <a:srgbClr val="252525"/>
                </a:solidFill>
                <a:latin typeface="微软雅黑"/>
                <a:cs typeface="微软雅黑"/>
              </a:rPr>
              <a:t>A</a:t>
            </a:r>
            <a:r>
              <a:rPr sz="1800" b="1" spc="-35" dirty="0">
                <a:solidFill>
                  <a:srgbClr val="252525"/>
                </a:solidFill>
                <a:latin typeface="微软雅黑"/>
                <a:cs typeface="微软雅黑"/>
              </a:rPr>
              <a:t>R</a:t>
            </a:r>
            <a:r>
              <a:rPr sz="1800" b="1" dirty="0">
                <a:solidFill>
                  <a:srgbClr val="252525"/>
                </a:solidFill>
                <a:latin typeface="微软雅黑"/>
                <a:cs typeface="微软雅黑"/>
              </a:rPr>
              <a:t>T</a:t>
            </a:r>
            <a:endParaRPr sz="1800">
              <a:latin typeface="微软雅黑"/>
              <a:cs typeface="微软雅黑"/>
            </a:endParaRPr>
          </a:p>
        </p:txBody>
      </p:sp>
      <p:sp>
        <p:nvSpPr>
          <p:cNvPr id="13" name="object 13"/>
          <p:cNvSpPr txBox="1">
            <a:spLocks noGrp="1"/>
          </p:cNvSpPr>
          <p:nvPr>
            <p:ph type="title"/>
          </p:nvPr>
        </p:nvSpPr>
        <p:spPr>
          <a:prstGeom prst="rect">
            <a:avLst/>
          </a:prstGeom>
        </p:spPr>
        <p:txBody>
          <a:bodyPr vert="horz" wrap="square" lIns="0" tIns="0" rIns="0" bIns="0" rtlCol="0">
            <a:spAutoFit/>
          </a:bodyPr>
          <a:lstStyle/>
          <a:p>
            <a:pPr marL="251460">
              <a:lnSpc>
                <a:spcPct val="100000"/>
              </a:lnSpc>
            </a:pPr>
            <a:r>
              <a:rPr spc="-5" dirty="0"/>
              <a:t>成员变量</a:t>
            </a:r>
            <a:r>
              <a:rPr spc="-10" dirty="0">
                <a:latin typeface="微软雅黑"/>
                <a:cs typeface="微软雅黑"/>
              </a:rPr>
              <a:t>H</a:t>
            </a:r>
            <a:r>
              <a:rPr spc="-15" dirty="0">
                <a:latin typeface="微软雅黑"/>
                <a:cs typeface="微软雅黑"/>
              </a:rPr>
              <a:t>w</a:t>
            </a:r>
            <a:r>
              <a:rPr spc="-10" dirty="0">
                <a:latin typeface="微软雅黑"/>
                <a:cs typeface="微软雅黑"/>
              </a:rPr>
              <a:t>FlowC</a:t>
            </a:r>
            <a:r>
              <a:rPr spc="-20" dirty="0">
                <a:latin typeface="微软雅黑"/>
                <a:cs typeface="微软雅黑"/>
              </a:rPr>
              <a:t>t</a:t>
            </a:r>
            <a:r>
              <a:rPr spc="-5" dirty="0">
                <a:latin typeface="微软雅黑"/>
                <a:cs typeface="微软雅黑"/>
              </a:rPr>
              <a:t>rl</a:t>
            </a:r>
            <a:r>
              <a:rPr dirty="0"/>
              <a:t>的</a:t>
            </a:r>
            <a:r>
              <a:rPr spc="-5" dirty="0"/>
              <a:t>取值</a:t>
            </a:r>
            <a:r>
              <a:rPr dirty="0"/>
              <a:t>范</a:t>
            </a:r>
            <a:r>
              <a:rPr spc="-5" dirty="0"/>
              <a:t>围</a:t>
            </a:r>
          </a:p>
        </p:txBody>
      </p:sp>
      <p:sp>
        <p:nvSpPr>
          <p:cNvPr id="14" name="object 14"/>
          <p:cNvSpPr/>
          <p:nvPr/>
        </p:nvSpPr>
        <p:spPr>
          <a:xfrm>
            <a:off x="368376" y="2097646"/>
            <a:ext cx="4941570" cy="606425"/>
          </a:xfrm>
          <a:custGeom>
            <a:avLst/>
            <a:gdLst/>
            <a:ahLst/>
            <a:cxnLst/>
            <a:rect l="l" t="t" r="r" b="b"/>
            <a:pathLst>
              <a:path w="4941570" h="606425">
                <a:moveTo>
                  <a:pt x="0" y="606183"/>
                </a:moveTo>
                <a:lnTo>
                  <a:pt x="4941443" y="606183"/>
                </a:lnTo>
                <a:lnTo>
                  <a:pt x="4941443" y="0"/>
                </a:lnTo>
                <a:lnTo>
                  <a:pt x="0" y="0"/>
                </a:lnTo>
                <a:lnTo>
                  <a:pt x="0" y="606183"/>
                </a:lnTo>
                <a:close/>
              </a:path>
            </a:pathLst>
          </a:custGeom>
          <a:solidFill>
            <a:srgbClr val="5B9BD4"/>
          </a:solidFill>
        </p:spPr>
        <p:txBody>
          <a:bodyPr wrap="square" lIns="0" tIns="0" rIns="0" bIns="0" rtlCol="0"/>
          <a:lstStyle/>
          <a:p>
            <a:endParaRPr/>
          </a:p>
        </p:txBody>
      </p:sp>
      <p:sp>
        <p:nvSpPr>
          <p:cNvPr id="15" name="object 15"/>
          <p:cNvSpPr/>
          <p:nvPr/>
        </p:nvSpPr>
        <p:spPr>
          <a:xfrm>
            <a:off x="5309870" y="2097646"/>
            <a:ext cx="6513830" cy="606425"/>
          </a:xfrm>
          <a:custGeom>
            <a:avLst/>
            <a:gdLst/>
            <a:ahLst/>
            <a:cxnLst/>
            <a:rect l="l" t="t" r="r" b="b"/>
            <a:pathLst>
              <a:path w="6513830" h="606425">
                <a:moveTo>
                  <a:pt x="0" y="606183"/>
                </a:moveTo>
                <a:lnTo>
                  <a:pt x="6513830" y="606183"/>
                </a:lnTo>
                <a:lnTo>
                  <a:pt x="6513830" y="0"/>
                </a:lnTo>
                <a:lnTo>
                  <a:pt x="0" y="0"/>
                </a:lnTo>
                <a:lnTo>
                  <a:pt x="0" y="606183"/>
                </a:lnTo>
                <a:close/>
              </a:path>
            </a:pathLst>
          </a:custGeom>
          <a:solidFill>
            <a:srgbClr val="5B9BD4"/>
          </a:solidFill>
        </p:spPr>
        <p:txBody>
          <a:bodyPr wrap="square" lIns="0" tIns="0" rIns="0" bIns="0" rtlCol="0"/>
          <a:lstStyle/>
          <a:p>
            <a:endParaRPr/>
          </a:p>
        </p:txBody>
      </p:sp>
      <p:sp>
        <p:nvSpPr>
          <p:cNvPr id="16" name="object 16"/>
          <p:cNvSpPr/>
          <p:nvPr/>
        </p:nvSpPr>
        <p:spPr>
          <a:xfrm>
            <a:off x="368376" y="2703855"/>
            <a:ext cx="4941570" cy="868044"/>
          </a:xfrm>
          <a:custGeom>
            <a:avLst/>
            <a:gdLst/>
            <a:ahLst/>
            <a:cxnLst/>
            <a:rect l="l" t="t" r="r" b="b"/>
            <a:pathLst>
              <a:path w="4941570" h="868045">
                <a:moveTo>
                  <a:pt x="0" y="867892"/>
                </a:moveTo>
                <a:lnTo>
                  <a:pt x="4941443" y="867892"/>
                </a:lnTo>
                <a:lnTo>
                  <a:pt x="4941443" y="0"/>
                </a:lnTo>
                <a:lnTo>
                  <a:pt x="0" y="0"/>
                </a:lnTo>
                <a:lnTo>
                  <a:pt x="0" y="867892"/>
                </a:lnTo>
                <a:close/>
              </a:path>
            </a:pathLst>
          </a:custGeom>
          <a:solidFill>
            <a:srgbClr val="EAEEF7"/>
          </a:solidFill>
        </p:spPr>
        <p:txBody>
          <a:bodyPr wrap="square" lIns="0" tIns="0" rIns="0" bIns="0" rtlCol="0"/>
          <a:lstStyle/>
          <a:p>
            <a:endParaRPr/>
          </a:p>
        </p:txBody>
      </p:sp>
      <p:sp>
        <p:nvSpPr>
          <p:cNvPr id="17" name="object 17"/>
          <p:cNvSpPr/>
          <p:nvPr/>
        </p:nvSpPr>
        <p:spPr>
          <a:xfrm>
            <a:off x="5309870" y="2703855"/>
            <a:ext cx="6513830" cy="868044"/>
          </a:xfrm>
          <a:custGeom>
            <a:avLst/>
            <a:gdLst/>
            <a:ahLst/>
            <a:cxnLst/>
            <a:rect l="l" t="t" r="r" b="b"/>
            <a:pathLst>
              <a:path w="6513830" h="868045">
                <a:moveTo>
                  <a:pt x="0" y="867892"/>
                </a:moveTo>
                <a:lnTo>
                  <a:pt x="6513830" y="867892"/>
                </a:lnTo>
                <a:lnTo>
                  <a:pt x="6513830" y="0"/>
                </a:lnTo>
                <a:lnTo>
                  <a:pt x="0" y="0"/>
                </a:lnTo>
                <a:lnTo>
                  <a:pt x="0" y="867892"/>
                </a:lnTo>
                <a:close/>
              </a:path>
            </a:pathLst>
          </a:custGeom>
          <a:solidFill>
            <a:srgbClr val="EAEEF7"/>
          </a:solidFill>
        </p:spPr>
        <p:txBody>
          <a:bodyPr wrap="square" lIns="0" tIns="0" rIns="0" bIns="0" rtlCol="0"/>
          <a:lstStyle/>
          <a:p>
            <a:endParaRPr/>
          </a:p>
        </p:txBody>
      </p:sp>
      <p:sp>
        <p:nvSpPr>
          <p:cNvPr id="18" name="object 18"/>
          <p:cNvSpPr/>
          <p:nvPr/>
        </p:nvSpPr>
        <p:spPr>
          <a:xfrm>
            <a:off x="368376" y="4439691"/>
            <a:ext cx="4941570" cy="868044"/>
          </a:xfrm>
          <a:custGeom>
            <a:avLst/>
            <a:gdLst/>
            <a:ahLst/>
            <a:cxnLst/>
            <a:rect l="l" t="t" r="r" b="b"/>
            <a:pathLst>
              <a:path w="4941570" h="868045">
                <a:moveTo>
                  <a:pt x="0" y="867892"/>
                </a:moveTo>
                <a:lnTo>
                  <a:pt x="4941443" y="867892"/>
                </a:lnTo>
                <a:lnTo>
                  <a:pt x="4941443" y="0"/>
                </a:lnTo>
                <a:lnTo>
                  <a:pt x="0" y="0"/>
                </a:lnTo>
                <a:lnTo>
                  <a:pt x="0" y="867892"/>
                </a:lnTo>
                <a:close/>
              </a:path>
            </a:pathLst>
          </a:custGeom>
          <a:solidFill>
            <a:srgbClr val="EAEEF7"/>
          </a:solidFill>
        </p:spPr>
        <p:txBody>
          <a:bodyPr wrap="square" lIns="0" tIns="0" rIns="0" bIns="0" rtlCol="0"/>
          <a:lstStyle/>
          <a:p>
            <a:endParaRPr/>
          </a:p>
        </p:txBody>
      </p:sp>
      <p:sp>
        <p:nvSpPr>
          <p:cNvPr id="19" name="object 19"/>
          <p:cNvSpPr/>
          <p:nvPr/>
        </p:nvSpPr>
        <p:spPr>
          <a:xfrm>
            <a:off x="5309870" y="4439691"/>
            <a:ext cx="6513830" cy="868044"/>
          </a:xfrm>
          <a:custGeom>
            <a:avLst/>
            <a:gdLst/>
            <a:ahLst/>
            <a:cxnLst/>
            <a:rect l="l" t="t" r="r" b="b"/>
            <a:pathLst>
              <a:path w="6513830" h="868045">
                <a:moveTo>
                  <a:pt x="0" y="867892"/>
                </a:moveTo>
                <a:lnTo>
                  <a:pt x="6513830" y="867892"/>
                </a:lnTo>
                <a:lnTo>
                  <a:pt x="6513830" y="0"/>
                </a:lnTo>
                <a:lnTo>
                  <a:pt x="0" y="0"/>
                </a:lnTo>
                <a:lnTo>
                  <a:pt x="0" y="867892"/>
                </a:lnTo>
                <a:close/>
              </a:path>
            </a:pathLst>
          </a:custGeom>
          <a:solidFill>
            <a:srgbClr val="EAEEF7"/>
          </a:solidFill>
        </p:spPr>
        <p:txBody>
          <a:bodyPr wrap="square" lIns="0" tIns="0" rIns="0" bIns="0" rtlCol="0"/>
          <a:lstStyle/>
          <a:p>
            <a:endParaRPr/>
          </a:p>
        </p:txBody>
      </p:sp>
      <p:sp>
        <p:nvSpPr>
          <p:cNvPr id="20" name="object 20"/>
          <p:cNvSpPr/>
          <p:nvPr/>
        </p:nvSpPr>
        <p:spPr>
          <a:xfrm>
            <a:off x="5309870" y="2083435"/>
            <a:ext cx="0" cy="4106545"/>
          </a:xfrm>
          <a:custGeom>
            <a:avLst/>
            <a:gdLst/>
            <a:ahLst/>
            <a:cxnLst/>
            <a:rect l="l" t="t" r="r" b="b"/>
            <a:pathLst>
              <a:path h="4106545">
                <a:moveTo>
                  <a:pt x="0" y="0"/>
                </a:moveTo>
                <a:lnTo>
                  <a:pt x="0" y="4106291"/>
                </a:lnTo>
              </a:path>
            </a:pathLst>
          </a:custGeom>
          <a:ln w="28575">
            <a:solidFill>
              <a:srgbClr val="000000"/>
            </a:solidFill>
          </a:ln>
        </p:spPr>
        <p:txBody>
          <a:bodyPr wrap="square" lIns="0" tIns="0" rIns="0" bIns="0" rtlCol="0"/>
          <a:lstStyle/>
          <a:p>
            <a:endParaRPr/>
          </a:p>
        </p:txBody>
      </p:sp>
      <p:sp>
        <p:nvSpPr>
          <p:cNvPr id="21" name="object 21"/>
          <p:cNvSpPr/>
          <p:nvPr/>
        </p:nvSpPr>
        <p:spPr>
          <a:xfrm>
            <a:off x="354088" y="2703829"/>
            <a:ext cx="11483975" cy="0"/>
          </a:xfrm>
          <a:custGeom>
            <a:avLst/>
            <a:gdLst/>
            <a:ahLst/>
            <a:cxnLst/>
            <a:rect l="l" t="t" r="r" b="b"/>
            <a:pathLst>
              <a:path w="11483975">
                <a:moveTo>
                  <a:pt x="0" y="0"/>
                </a:moveTo>
                <a:lnTo>
                  <a:pt x="11483835" y="0"/>
                </a:lnTo>
              </a:path>
            </a:pathLst>
          </a:custGeom>
          <a:ln w="28575">
            <a:solidFill>
              <a:srgbClr val="000000"/>
            </a:solidFill>
          </a:ln>
        </p:spPr>
        <p:txBody>
          <a:bodyPr wrap="square" lIns="0" tIns="0" rIns="0" bIns="0" rtlCol="0"/>
          <a:lstStyle/>
          <a:p>
            <a:endParaRPr/>
          </a:p>
        </p:txBody>
      </p:sp>
      <p:sp>
        <p:nvSpPr>
          <p:cNvPr id="22" name="object 22"/>
          <p:cNvSpPr/>
          <p:nvPr/>
        </p:nvSpPr>
        <p:spPr>
          <a:xfrm>
            <a:off x="354088" y="3571747"/>
            <a:ext cx="11483975" cy="0"/>
          </a:xfrm>
          <a:custGeom>
            <a:avLst/>
            <a:gdLst/>
            <a:ahLst/>
            <a:cxnLst/>
            <a:rect l="l" t="t" r="r" b="b"/>
            <a:pathLst>
              <a:path w="11483975">
                <a:moveTo>
                  <a:pt x="0" y="0"/>
                </a:moveTo>
                <a:lnTo>
                  <a:pt x="11483835" y="0"/>
                </a:lnTo>
              </a:path>
            </a:pathLst>
          </a:custGeom>
          <a:ln w="28575">
            <a:solidFill>
              <a:srgbClr val="000000"/>
            </a:solidFill>
          </a:ln>
        </p:spPr>
        <p:txBody>
          <a:bodyPr wrap="square" lIns="0" tIns="0" rIns="0" bIns="0" rtlCol="0"/>
          <a:lstStyle/>
          <a:p>
            <a:endParaRPr/>
          </a:p>
        </p:txBody>
      </p:sp>
      <p:sp>
        <p:nvSpPr>
          <p:cNvPr id="23" name="object 23"/>
          <p:cNvSpPr/>
          <p:nvPr/>
        </p:nvSpPr>
        <p:spPr>
          <a:xfrm>
            <a:off x="354088" y="4439665"/>
            <a:ext cx="11483975" cy="0"/>
          </a:xfrm>
          <a:custGeom>
            <a:avLst/>
            <a:gdLst/>
            <a:ahLst/>
            <a:cxnLst/>
            <a:rect l="l" t="t" r="r" b="b"/>
            <a:pathLst>
              <a:path w="11483975">
                <a:moveTo>
                  <a:pt x="0" y="0"/>
                </a:moveTo>
                <a:lnTo>
                  <a:pt x="11483835" y="0"/>
                </a:lnTo>
              </a:path>
            </a:pathLst>
          </a:custGeom>
          <a:ln w="28575">
            <a:solidFill>
              <a:srgbClr val="000000"/>
            </a:solidFill>
          </a:ln>
        </p:spPr>
        <p:txBody>
          <a:bodyPr wrap="square" lIns="0" tIns="0" rIns="0" bIns="0" rtlCol="0"/>
          <a:lstStyle/>
          <a:p>
            <a:endParaRPr/>
          </a:p>
        </p:txBody>
      </p:sp>
      <p:sp>
        <p:nvSpPr>
          <p:cNvPr id="24" name="object 24"/>
          <p:cNvSpPr/>
          <p:nvPr/>
        </p:nvSpPr>
        <p:spPr>
          <a:xfrm>
            <a:off x="354088" y="5307584"/>
            <a:ext cx="11483975" cy="0"/>
          </a:xfrm>
          <a:custGeom>
            <a:avLst/>
            <a:gdLst/>
            <a:ahLst/>
            <a:cxnLst/>
            <a:rect l="l" t="t" r="r" b="b"/>
            <a:pathLst>
              <a:path w="11483975">
                <a:moveTo>
                  <a:pt x="0" y="0"/>
                </a:moveTo>
                <a:lnTo>
                  <a:pt x="11483835" y="0"/>
                </a:lnTo>
              </a:path>
            </a:pathLst>
          </a:custGeom>
          <a:ln w="28575">
            <a:solidFill>
              <a:srgbClr val="000000"/>
            </a:solidFill>
          </a:ln>
        </p:spPr>
        <p:txBody>
          <a:bodyPr wrap="square" lIns="0" tIns="0" rIns="0" bIns="0" rtlCol="0"/>
          <a:lstStyle/>
          <a:p>
            <a:endParaRPr/>
          </a:p>
        </p:txBody>
      </p:sp>
      <p:sp>
        <p:nvSpPr>
          <p:cNvPr id="25" name="object 25"/>
          <p:cNvSpPr/>
          <p:nvPr/>
        </p:nvSpPr>
        <p:spPr>
          <a:xfrm>
            <a:off x="368376" y="2083435"/>
            <a:ext cx="0" cy="4106545"/>
          </a:xfrm>
          <a:custGeom>
            <a:avLst/>
            <a:gdLst/>
            <a:ahLst/>
            <a:cxnLst/>
            <a:rect l="l" t="t" r="r" b="b"/>
            <a:pathLst>
              <a:path h="4106545">
                <a:moveTo>
                  <a:pt x="0" y="0"/>
                </a:moveTo>
                <a:lnTo>
                  <a:pt x="0" y="4106291"/>
                </a:lnTo>
              </a:path>
            </a:pathLst>
          </a:custGeom>
          <a:ln w="28575">
            <a:solidFill>
              <a:srgbClr val="000000"/>
            </a:solidFill>
          </a:ln>
        </p:spPr>
        <p:txBody>
          <a:bodyPr wrap="square" lIns="0" tIns="0" rIns="0" bIns="0" rtlCol="0"/>
          <a:lstStyle/>
          <a:p>
            <a:endParaRPr/>
          </a:p>
        </p:txBody>
      </p:sp>
      <p:sp>
        <p:nvSpPr>
          <p:cNvPr id="26" name="object 26"/>
          <p:cNvSpPr/>
          <p:nvPr/>
        </p:nvSpPr>
        <p:spPr>
          <a:xfrm>
            <a:off x="11823572" y="2083435"/>
            <a:ext cx="0" cy="4106545"/>
          </a:xfrm>
          <a:custGeom>
            <a:avLst/>
            <a:gdLst/>
            <a:ahLst/>
            <a:cxnLst/>
            <a:rect l="l" t="t" r="r" b="b"/>
            <a:pathLst>
              <a:path h="4106545">
                <a:moveTo>
                  <a:pt x="0" y="0"/>
                </a:moveTo>
                <a:lnTo>
                  <a:pt x="0" y="4106291"/>
                </a:lnTo>
              </a:path>
            </a:pathLst>
          </a:custGeom>
          <a:ln w="28575">
            <a:solidFill>
              <a:srgbClr val="000000"/>
            </a:solidFill>
          </a:ln>
        </p:spPr>
        <p:txBody>
          <a:bodyPr wrap="square" lIns="0" tIns="0" rIns="0" bIns="0" rtlCol="0"/>
          <a:lstStyle/>
          <a:p>
            <a:endParaRPr/>
          </a:p>
        </p:txBody>
      </p:sp>
      <p:sp>
        <p:nvSpPr>
          <p:cNvPr id="27" name="object 27"/>
          <p:cNvSpPr/>
          <p:nvPr/>
        </p:nvSpPr>
        <p:spPr>
          <a:xfrm>
            <a:off x="354088" y="2097658"/>
            <a:ext cx="11483975" cy="0"/>
          </a:xfrm>
          <a:custGeom>
            <a:avLst/>
            <a:gdLst/>
            <a:ahLst/>
            <a:cxnLst/>
            <a:rect l="l" t="t" r="r" b="b"/>
            <a:pathLst>
              <a:path w="11483975">
                <a:moveTo>
                  <a:pt x="0" y="0"/>
                </a:moveTo>
                <a:lnTo>
                  <a:pt x="11483835" y="0"/>
                </a:lnTo>
              </a:path>
            </a:pathLst>
          </a:custGeom>
          <a:ln w="28575">
            <a:solidFill>
              <a:srgbClr val="000000"/>
            </a:solidFill>
          </a:ln>
        </p:spPr>
        <p:txBody>
          <a:bodyPr wrap="square" lIns="0" tIns="0" rIns="0" bIns="0" rtlCol="0"/>
          <a:lstStyle/>
          <a:p>
            <a:endParaRPr/>
          </a:p>
        </p:txBody>
      </p:sp>
      <p:sp>
        <p:nvSpPr>
          <p:cNvPr id="28" name="object 28"/>
          <p:cNvSpPr/>
          <p:nvPr/>
        </p:nvSpPr>
        <p:spPr>
          <a:xfrm>
            <a:off x="354088" y="6175438"/>
            <a:ext cx="11483975" cy="0"/>
          </a:xfrm>
          <a:custGeom>
            <a:avLst/>
            <a:gdLst/>
            <a:ahLst/>
            <a:cxnLst/>
            <a:rect l="l" t="t" r="r" b="b"/>
            <a:pathLst>
              <a:path w="11483975">
                <a:moveTo>
                  <a:pt x="0" y="0"/>
                </a:moveTo>
                <a:lnTo>
                  <a:pt x="11483835" y="0"/>
                </a:lnTo>
              </a:path>
            </a:pathLst>
          </a:custGeom>
          <a:ln w="28575">
            <a:solidFill>
              <a:srgbClr val="000000"/>
            </a:solidFill>
          </a:ln>
        </p:spPr>
        <p:txBody>
          <a:bodyPr wrap="square" lIns="0" tIns="0" rIns="0" bIns="0" rtlCol="0"/>
          <a:lstStyle/>
          <a:p>
            <a:endParaRPr/>
          </a:p>
        </p:txBody>
      </p:sp>
      <p:sp>
        <p:nvSpPr>
          <p:cNvPr id="29" name="object 29"/>
          <p:cNvSpPr txBox="1">
            <a:spLocks noGrp="1"/>
          </p:cNvSpPr>
          <p:nvPr>
            <p:ph sz="half" idx="2"/>
          </p:nvPr>
        </p:nvSpPr>
        <p:spPr>
          <a:prstGeom prst="rect">
            <a:avLst/>
          </a:prstGeom>
        </p:spPr>
        <p:txBody>
          <a:bodyPr vert="horz" wrap="square" lIns="0" tIns="0" rIns="0" bIns="0" rtlCol="0">
            <a:spAutoFit/>
          </a:bodyPr>
          <a:lstStyle/>
          <a:p>
            <a:pPr marL="635" algn="ctr">
              <a:lnSpc>
                <a:spcPct val="100000"/>
              </a:lnSpc>
            </a:pPr>
            <a:r>
              <a:rPr dirty="0"/>
              <a:t>宏常量定义</a:t>
            </a:r>
          </a:p>
          <a:p>
            <a:pPr>
              <a:lnSpc>
                <a:spcPct val="100000"/>
              </a:lnSpc>
              <a:spcBef>
                <a:spcPts val="48"/>
              </a:spcBef>
            </a:pPr>
            <a:endParaRPr sz="2500">
              <a:latin typeface="Times New Roman"/>
              <a:cs typeface="Times New Roman"/>
            </a:endParaRPr>
          </a:p>
          <a:p>
            <a:pPr marL="635" algn="ctr">
              <a:lnSpc>
                <a:spcPct val="100000"/>
              </a:lnSpc>
            </a:pPr>
            <a:r>
              <a:rPr spc="-65" dirty="0">
                <a:solidFill>
                  <a:srgbClr val="000000"/>
                </a:solidFill>
                <a:latin typeface="微软雅黑"/>
                <a:cs typeface="微软雅黑"/>
              </a:rPr>
              <a:t>U</a:t>
            </a:r>
            <a:r>
              <a:rPr dirty="0">
                <a:solidFill>
                  <a:srgbClr val="000000"/>
                </a:solidFill>
                <a:latin typeface="微软雅黑"/>
                <a:cs typeface="微软雅黑"/>
              </a:rPr>
              <a:t>A</a:t>
            </a:r>
            <a:r>
              <a:rPr spc="-50" dirty="0">
                <a:solidFill>
                  <a:srgbClr val="000000"/>
                </a:solidFill>
                <a:latin typeface="微软雅黑"/>
                <a:cs typeface="微软雅黑"/>
              </a:rPr>
              <a:t>R</a:t>
            </a:r>
            <a:r>
              <a:rPr spc="-5" dirty="0">
                <a:solidFill>
                  <a:srgbClr val="000000"/>
                </a:solidFill>
                <a:latin typeface="微软雅黑"/>
                <a:cs typeface="微软雅黑"/>
              </a:rPr>
              <a:t>T_HW</a:t>
            </a:r>
            <a:r>
              <a:rPr spc="-35" dirty="0">
                <a:solidFill>
                  <a:srgbClr val="000000"/>
                </a:solidFill>
                <a:latin typeface="微软雅黑"/>
                <a:cs typeface="微软雅黑"/>
              </a:rPr>
              <a:t>C</a:t>
            </a:r>
            <a:r>
              <a:rPr spc="-5" dirty="0">
                <a:solidFill>
                  <a:srgbClr val="000000"/>
                </a:solidFill>
                <a:latin typeface="微软雅黑"/>
                <a:cs typeface="微软雅黑"/>
              </a:rPr>
              <a:t>O</a:t>
            </a:r>
            <a:r>
              <a:rPr spc="5" dirty="0">
                <a:solidFill>
                  <a:srgbClr val="000000"/>
                </a:solidFill>
                <a:latin typeface="微软雅黑"/>
                <a:cs typeface="微软雅黑"/>
              </a:rPr>
              <a:t>N</a:t>
            </a:r>
            <a:r>
              <a:rPr spc="-5" dirty="0">
                <a:solidFill>
                  <a:srgbClr val="000000"/>
                </a:solidFill>
                <a:latin typeface="微软雅黑"/>
                <a:cs typeface="微软雅黑"/>
              </a:rPr>
              <a:t>T</a:t>
            </a:r>
            <a:r>
              <a:rPr spc="-20" dirty="0">
                <a:solidFill>
                  <a:srgbClr val="000000"/>
                </a:solidFill>
                <a:latin typeface="微软雅黑"/>
                <a:cs typeface="微软雅黑"/>
              </a:rPr>
              <a:t>R</a:t>
            </a:r>
            <a:r>
              <a:rPr spc="-5" dirty="0">
                <a:solidFill>
                  <a:srgbClr val="000000"/>
                </a:solidFill>
                <a:latin typeface="微软雅黑"/>
                <a:cs typeface="微软雅黑"/>
              </a:rPr>
              <a:t>OL_</a:t>
            </a:r>
            <a:r>
              <a:rPr spc="5" dirty="0">
                <a:solidFill>
                  <a:srgbClr val="000000"/>
                </a:solidFill>
                <a:latin typeface="微软雅黑"/>
                <a:cs typeface="微软雅黑"/>
              </a:rPr>
              <a:t>N</a:t>
            </a:r>
            <a:r>
              <a:rPr spc="-5" dirty="0">
                <a:solidFill>
                  <a:srgbClr val="000000"/>
                </a:solidFill>
                <a:latin typeface="微软雅黑"/>
                <a:cs typeface="微软雅黑"/>
              </a:rPr>
              <a:t>O</a:t>
            </a:r>
            <a:r>
              <a:rPr spc="5" dirty="0">
                <a:solidFill>
                  <a:srgbClr val="000000"/>
                </a:solidFill>
                <a:latin typeface="微软雅黑"/>
                <a:cs typeface="微软雅黑"/>
              </a:rPr>
              <a:t>N</a:t>
            </a:r>
            <a:r>
              <a:rPr spc="-5" dirty="0">
                <a:solidFill>
                  <a:srgbClr val="000000"/>
                </a:solidFill>
                <a:latin typeface="微软雅黑"/>
                <a:cs typeface="微软雅黑"/>
              </a:rPr>
              <a:t>E</a:t>
            </a:r>
          </a:p>
          <a:p>
            <a:pPr marL="12700" marR="5080" indent="-635" algn="ctr">
              <a:lnSpc>
                <a:spcPct val="237300"/>
              </a:lnSpc>
            </a:pPr>
            <a:r>
              <a:rPr spc="-65" dirty="0">
                <a:solidFill>
                  <a:srgbClr val="000000"/>
                </a:solidFill>
                <a:latin typeface="微软雅黑"/>
                <a:cs typeface="微软雅黑"/>
              </a:rPr>
              <a:t>U</a:t>
            </a:r>
            <a:r>
              <a:rPr dirty="0">
                <a:solidFill>
                  <a:srgbClr val="000000"/>
                </a:solidFill>
                <a:latin typeface="微软雅黑"/>
                <a:cs typeface="微软雅黑"/>
              </a:rPr>
              <a:t>A</a:t>
            </a:r>
            <a:r>
              <a:rPr spc="-50" dirty="0">
                <a:solidFill>
                  <a:srgbClr val="000000"/>
                </a:solidFill>
                <a:latin typeface="微软雅黑"/>
                <a:cs typeface="微软雅黑"/>
              </a:rPr>
              <a:t>R</a:t>
            </a:r>
            <a:r>
              <a:rPr spc="-5" dirty="0">
                <a:solidFill>
                  <a:srgbClr val="000000"/>
                </a:solidFill>
                <a:latin typeface="微软雅黑"/>
                <a:cs typeface="微软雅黑"/>
              </a:rPr>
              <a:t>T_HW</a:t>
            </a:r>
            <a:r>
              <a:rPr spc="-35" dirty="0">
                <a:solidFill>
                  <a:srgbClr val="000000"/>
                </a:solidFill>
                <a:latin typeface="微软雅黑"/>
                <a:cs typeface="微软雅黑"/>
              </a:rPr>
              <a:t>C</a:t>
            </a:r>
            <a:r>
              <a:rPr spc="-5" dirty="0">
                <a:solidFill>
                  <a:srgbClr val="000000"/>
                </a:solidFill>
                <a:latin typeface="微软雅黑"/>
                <a:cs typeface="微软雅黑"/>
              </a:rPr>
              <a:t>O</a:t>
            </a:r>
            <a:r>
              <a:rPr spc="5" dirty="0">
                <a:solidFill>
                  <a:srgbClr val="000000"/>
                </a:solidFill>
                <a:latin typeface="微软雅黑"/>
                <a:cs typeface="微软雅黑"/>
              </a:rPr>
              <a:t>N</a:t>
            </a:r>
            <a:r>
              <a:rPr spc="-5" dirty="0">
                <a:solidFill>
                  <a:srgbClr val="000000"/>
                </a:solidFill>
                <a:latin typeface="微软雅黑"/>
                <a:cs typeface="微软雅黑"/>
              </a:rPr>
              <a:t>T</a:t>
            </a:r>
            <a:r>
              <a:rPr spc="-20" dirty="0">
                <a:solidFill>
                  <a:srgbClr val="000000"/>
                </a:solidFill>
                <a:latin typeface="微软雅黑"/>
                <a:cs typeface="微软雅黑"/>
              </a:rPr>
              <a:t>R</a:t>
            </a:r>
            <a:r>
              <a:rPr spc="-5" dirty="0">
                <a:solidFill>
                  <a:srgbClr val="000000"/>
                </a:solidFill>
                <a:latin typeface="微软雅黑"/>
                <a:cs typeface="微软雅黑"/>
              </a:rPr>
              <a:t>OL_</a:t>
            </a:r>
            <a:r>
              <a:rPr spc="-40" dirty="0">
                <a:solidFill>
                  <a:srgbClr val="000000"/>
                </a:solidFill>
                <a:latin typeface="微软雅黑"/>
                <a:cs typeface="微软雅黑"/>
              </a:rPr>
              <a:t>R</a:t>
            </a:r>
            <a:r>
              <a:rPr spc="-5" dirty="0">
                <a:solidFill>
                  <a:srgbClr val="000000"/>
                </a:solidFill>
                <a:latin typeface="微软雅黑"/>
                <a:cs typeface="微软雅黑"/>
              </a:rPr>
              <a:t>TS </a:t>
            </a:r>
            <a:r>
              <a:rPr spc="-70" dirty="0">
                <a:solidFill>
                  <a:srgbClr val="000000"/>
                </a:solidFill>
                <a:latin typeface="微软雅黑"/>
                <a:cs typeface="微软雅黑"/>
              </a:rPr>
              <a:t>U</a:t>
            </a:r>
            <a:r>
              <a:rPr dirty="0">
                <a:solidFill>
                  <a:srgbClr val="000000"/>
                </a:solidFill>
                <a:latin typeface="微软雅黑"/>
                <a:cs typeface="微软雅黑"/>
              </a:rPr>
              <a:t>A</a:t>
            </a:r>
            <a:r>
              <a:rPr spc="-55" dirty="0">
                <a:solidFill>
                  <a:srgbClr val="000000"/>
                </a:solidFill>
                <a:latin typeface="微软雅黑"/>
                <a:cs typeface="微软雅黑"/>
              </a:rPr>
              <a:t>R</a:t>
            </a:r>
            <a:r>
              <a:rPr spc="-5" dirty="0">
                <a:solidFill>
                  <a:srgbClr val="000000"/>
                </a:solidFill>
                <a:latin typeface="微软雅黑"/>
                <a:cs typeface="微软雅黑"/>
              </a:rPr>
              <a:t>T_HW</a:t>
            </a:r>
            <a:r>
              <a:rPr spc="-40" dirty="0">
                <a:solidFill>
                  <a:srgbClr val="000000"/>
                </a:solidFill>
                <a:latin typeface="微软雅黑"/>
                <a:cs typeface="微软雅黑"/>
              </a:rPr>
              <a:t>C</a:t>
            </a:r>
            <a:r>
              <a:rPr spc="-5" dirty="0">
                <a:solidFill>
                  <a:srgbClr val="000000"/>
                </a:solidFill>
                <a:latin typeface="微软雅黑"/>
                <a:cs typeface="微软雅黑"/>
              </a:rPr>
              <a:t>ONT</a:t>
            </a:r>
            <a:r>
              <a:rPr spc="-20" dirty="0">
                <a:solidFill>
                  <a:srgbClr val="000000"/>
                </a:solidFill>
                <a:latin typeface="微软雅黑"/>
                <a:cs typeface="微软雅黑"/>
              </a:rPr>
              <a:t>R</a:t>
            </a:r>
            <a:r>
              <a:rPr spc="-5" dirty="0">
                <a:solidFill>
                  <a:srgbClr val="000000"/>
                </a:solidFill>
                <a:latin typeface="微软雅黑"/>
                <a:cs typeface="微软雅黑"/>
              </a:rPr>
              <a:t>OL_CTS </a:t>
            </a:r>
            <a:r>
              <a:rPr spc="-70" dirty="0">
                <a:solidFill>
                  <a:srgbClr val="000000"/>
                </a:solidFill>
                <a:latin typeface="微软雅黑"/>
                <a:cs typeface="微软雅黑"/>
              </a:rPr>
              <a:t>U</a:t>
            </a:r>
            <a:r>
              <a:rPr dirty="0">
                <a:solidFill>
                  <a:srgbClr val="000000"/>
                </a:solidFill>
                <a:latin typeface="微软雅黑"/>
                <a:cs typeface="微软雅黑"/>
              </a:rPr>
              <a:t>A</a:t>
            </a:r>
            <a:r>
              <a:rPr spc="-55" dirty="0">
                <a:solidFill>
                  <a:srgbClr val="000000"/>
                </a:solidFill>
                <a:latin typeface="微软雅黑"/>
                <a:cs typeface="微软雅黑"/>
              </a:rPr>
              <a:t>R</a:t>
            </a:r>
            <a:r>
              <a:rPr spc="-5" dirty="0">
                <a:solidFill>
                  <a:srgbClr val="000000"/>
                </a:solidFill>
                <a:latin typeface="微软雅黑"/>
                <a:cs typeface="微软雅黑"/>
              </a:rPr>
              <a:t>T_HW</a:t>
            </a:r>
            <a:r>
              <a:rPr spc="-40" dirty="0">
                <a:solidFill>
                  <a:srgbClr val="000000"/>
                </a:solidFill>
                <a:latin typeface="微软雅黑"/>
                <a:cs typeface="微软雅黑"/>
              </a:rPr>
              <a:t>C</a:t>
            </a:r>
            <a:r>
              <a:rPr spc="-5" dirty="0">
                <a:solidFill>
                  <a:srgbClr val="000000"/>
                </a:solidFill>
                <a:latin typeface="微软雅黑"/>
                <a:cs typeface="微软雅黑"/>
              </a:rPr>
              <a:t>ONT</a:t>
            </a:r>
            <a:r>
              <a:rPr spc="-20" dirty="0">
                <a:solidFill>
                  <a:srgbClr val="000000"/>
                </a:solidFill>
                <a:latin typeface="微软雅黑"/>
                <a:cs typeface="微软雅黑"/>
              </a:rPr>
              <a:t>R</a:t>
            </a:r>
            <a:r>
              <a:rPr spc="-5" dirty="0">
                <a:solidFill>
                  <a:srgbClr val="000000"/>
                </a:solidFill>
                <a:latin typeface="微软雅黑"/>
                <a:cs typeface="微软雅黑"/>
              </a:rPr>
              <a:t>OL_</a:t>
            </a:r>
            <a:r>
              <a:rPr spc="-45" dirty="0">
                <a:solidFill>
                  <a:srgbClr val="000000"/>
                </a:solidFill>
                <a:latin typeface="微软雅黑"/>
                <a:cs typeface="微软雅黑"/>
              </a:rPr>
              <a:t>R</a:t>
            </a:r>
            <a:r>
              <a:rPr spc="-5" dirty="0">
                <a:solidFill>
                  <a:srgbClr val="000000"/>
                </a:solidFill>
                <a:latin typeface="微软雅黑"/>
                <a:cs typeface="微软雅黑"/>
              </a:rPr>
              <a:t>T</a:t>
            </a:r>
            <a:r>
              <a:rPr spc="-10" dirty="0">
                <a:solidFill>
                  <a:srgbClr val="000000"/>
                </a:solidFill>
                <a:latin typeface="微软雅黑"/>
                <a:cs typeface="微软雅黑"/>
              </a:rPr>
              <a:t>S</a:t>
            </a:r>
            <a:r>
              <a:rPr spc="-5" dirty="0">
                <a:solidFill>
                  <a:srgbClr val="000000"/>
                </a:solidFill>
                <a:latin typeface="微软雅黑"/>
                <a:cs typeface="微软雅黑"/>
              </a:rPr>
              <a:t>_CTS</a:t>
            </a:r>
          </a:p>
        </p:txBody>
      </p:sp>
      <p:sp>
        <p:nvSpPr>
          <p:cNvPr id="30" name="object 30"/>
          <p:cNvSpPr txBox="1"/>
          <p:nvPr/>
        </p:nvSpPr>
        <p:spPr>
          <a:xfrm>
            <a:off x="5456301" y="2991220"/>
            <a:ext cx="1549400" cy="330200"/>
          </a:xfrm>
          <a:prstGeom prst="rect">
            <a:avLst/>
          </a:prstGeom>
        </p:spPr>
        <p:txBody>
          <a:bodyPr vert="horz" wrap="square" lIns="0" tIns="0" rIns="0" bIns="0" rtlCol="0">
            <a:spAutoFit/>
          </a:bodyPr>
          <a:lstStyle/>
          <a:p>
            <a:pPr marL="12700">
              <a:lnSpc>
                <a:spcPct val="100000"/>
              </a:lnSpc>
            </a:pPr>
            <a:r>
              <a:rPr sz="2400" b="1" dirty="0">
                <a:latin typeface="微软雅黑"/>
                <a:cs typeface="微软雅黑"/>
              </a:rPr>
              <a:t>无硬件流控</a:t>
            </a:r>
            <a:endParaRPr sz="2400">
              <a:latin typeface="微软雅黑"/>
              <a:cs typeface="微软雅黑"/>
            </a:endParaRPr>
          </a:p>
        </p:txBody>
      </p:sp>
      <p:sp>
        <p:nvSpPr>
          <p:cNvPr id="31" name="object 31"/>
          <p:cNvSpPr txBox="1"/>
          <p:nvPr/>
        </p:nvSpPr>
        <p:spPr>
          <a:xfrm>
            <a:off x="5366384" y="3859265"/>
            <a:ext cx="5573395" cy="2309495"/>
          </a:xfrm>
          <a:prstGeom prst="rect">
            <a:avLst/>
          </a:prstGeom>
        </p:spPr>
        <p:txBody>
          <a:bodyPr vert="horz" wrap="square" lIns="0" tIns="0" rIns="0" bIns="0" rtlCol="0">
            <a:spAutoFit/>
          </a:bodyPr>
          <a:lstStyle/>
          <a:p>
            <a:pPr marL="102235">
              <a:lnSpc>
                <a:spcPct val="100000"/>
              </a:lnSpc>
            </a:pPr>
            <a:r>
              <a:rPr sz="2400" b="1" dirty="0">
                <a:latin typeface="微软雅黑"/>
                <a:cs typeface="微软雅黑"/>
              </a:rPr>
              <a:t>使能“请求发送（</a:t>
            </a:r>
            <a:r>
              <a:rPr sz="2400" b="1" spc="-45" dirty="0">
                <a:latin typeface="微软雅黑"/>
                <a:cs typeface="微软雅黑"/>
              </a:rPr>
              <a:t>R</a:t>
            </a:r>
            <a:r>
              <a:rPr sz="2400" b="1" spc="-5" dirty="0">
                <a:latin typeface="微软雅黑"/>
                <a:cs typeface="微软雅黑"/>
              </a:rPr>
              <a:t>TS</a:t>
            </a:r>
            <a:r>
              <a:rPr sz="2400" b="1" dirty="0">
                <a:latin typeface="微软雅黑"/>
                <a:cs typeface="微软雅黑"/>
              </a:rPr>
              <a:t>）”引脚</a:t>
            </a:r>
            <a:endParaRPr sz="2400">
              <a:latin typeface="微软雅黑"/>
              <a:cs typeface="微软雅黑"/>
            </a:endParaRPr>
          </a:p>
          <a:p>
            <a:pPr>
              <a:lnSpc>
                <a:spcPct val="100000"/>
              </a:lnSpc>
              <a:spcBef>
                <a:spcPts val="45"/>
              </a:spcBef>
            </a:pPr>
            <a:endParaRPr sz="3400">
              <a:latin typeface="Times New Roman"/>
              <a:cs typeface="Times New Roman"/>
            </a:endParaRPr>
          </a:p>
          <a:p>
            <a:pPr marL="102235">
              <a:lnSpc>
                <a:spcPct val="100000"/>
              </a:lnSpc>
            </a:pPr>
            <a:r>
              <a:rPr sz="2400" b="1" spc="-5" dirty="0">
                <a:latin typeface="微软雅黑"/>
                <a:cs typeface="微软雅黑"/>
              </a:rPr>
              <a:t>使能“允许发送</a:t>
            </a:r>
            <a:r>
              <a:rPr sz="2400" b="1" dirty="0">
                <a:latin typeface="微软雅黑"/>
                <a:cs typeface="微软雅黑"/>
              </a:rPr>
              <a:t>（</a:t>
            </a:r>
            <a:r>
              <a:rPr sz="2400" b="1" spc="-5" dirty="0">
                <a:latin typeface="微软雅黑"/>
                <a:cs typeface="微软雅黑"/>
              </a:rPr>
              <a:t>CTS）”引脚</a:t>
            </a:r>
            <a:endParaRPr sz="2400">
              <a:latin typeface="微软雅黑"/>
              <a:cs typeface="微软雅黑"/>
            </a:endParaRPr>
          </a:p>
          <a:p>
            <a:pPr>
              <a:lnSpc>
                <a:spcPct val="100000"/>
              </a:lnSpc>
              <a:spcBef>
                <a:spcPts val="14"/>
              </a:spcBef>
            </a:pPr>
            <a:endParaRPr sz="2050">
              <a:latin typeface="Times New Roman"/>
              <a:cs typeface="Times New Roman"/>
            </a:endParaRPr>
          </a:p>
          <a:p>
            <a:pPr marL="102235">
              <a:lnSpc>
                <a:spcPct val="100000"/>
              </a:lnSpc>
            </a:pPr>
            <a:r>
              <a:rPr sz="2400" b="1" dirty="0">
                <a:latin typeface="微软雅黑"/>
                <a:cs typeface="微软雅黑"/>
              </a:rPr>
              <a:t>使能“请求发送（</a:t>
            </a:r>
            <a:r>
              <a:rPr sz="2400" b="1" spc="-45" dirty="0">
                <a:latin typeface="微软雅黑"/>
                <a:cs typeface="微软雅黑"/>
              </a:rPr>
              <a:t>R</a:t>
            </a:r>
            <a:r>
              <a:rPr sz="2400" b="1" spc="-5" dirty="0">
                <a:latin typeface="微软雅黑"/>
                <a:cs typeface="微软雅黑"/>
              </a:rPr>
              <a:t>TS</a:t>
            </a:r>
            <a:r>
              <a:rPr sz="2400" b="1" dirty="0">
                <a:latin typeface="微软雅黑"/>
                <a:cs typeface="微软雅黑"/>
              </a:rPr>
              <a:t>）”和“允许发送</a:t>
            </a:r>
            <a:endParaRPr sz="2400">
              <a:latin typeface="微软雅黑"/>
              <a:cs typeface="微软雅黑"/>
            </a:endParaRPr>
          </a:p>
          <a:p>
            <a:pPr marL="12700">
              <a:lnSpc>
                <a:spcPct val="100000"/>
              </a:lnSpc>
              <a:spcBef>
                <a:spcPts val="615"/>
              </a:spcBef>
            </a:pPr>
            <a:r>
              <a:rPr sz="2400" b="1" dirty="0">
                <a:latin typeface="微软雅黑"/>
                <a:cs typeface="微软雅黑"/>
              </a:rPr>
              <a:t>（</a:t>
            </a:r>
            <a:r>
              <a:rPr sz="2400" b="1" spc="-5" dirty="0">
                <a:latin typeface="微软雅黑"/>
                <a:cs typeface="微软雅黑"/>
              </a:rPr>
              <a:t>CT</a:t>
            </a:r>
            <a:r>
              <a:rPr sz="2400" b="1" dirty="0">
                <a:latin typeface="微软雅黑"/>
                <a:cs typeface="微软雅黑"/>
              </a:rPr>
              <a:t>S）”引脚</a:t>
            </a:r>
            <a:endParaRPr sz="2400">
              <a:latin typeface="微软雅黑"/>
              <a:cs typeface="微软雅黑"/>
            </a:endParaRPr>
          </a:p>
        </p:txBody>
      </p:sp>
      <p:sp>
        <p:nvSpPr>
          <p:cNvPr id="32" name="object 32"/>
          <p:cNvSpPr/>
          <p:nvPr/>
        </p:nvSpPr>
        <p:spPr>
          <a:xfrm>
            <a:off x="7029450" y="1632966"/>
            <a:ext cx="5005070" cy="1379220"/>
          </a:xfrm>
          <a:custGeom>
            <a:avLst/>
            <a:gdLst/>
            <a:ahLst/>
            <a:cxnLst/>
            <a:rect l="l" t="t" r="r" b="b"/>
            <a:pathLst>
              <a:path w="5005070" h="1379220">
                <a:moveTo>
                  <a:pt x="4774946" y="0"/>
                </a:moveTo>
                <a:lnTo>
                  <a:pt x="229870" y="0"/>
                </a:lnTo>
                <a:lnTo>
                  <a:pt x="211010" y="761"/>
                </a:lnTo>
                <a:lnTo>
                  <a:pt x="157195" y="11714"/>
                </a:lnTo>
                <a:lnTo>
                  <a:pt x="108763" y="34428"/>
                </a:lnTo>
                <a:lnTo>
                  <a:pt x="67310" y="67310"/>
                </a:lnTo>
                <a:lnTo>
                  <a:pt x="34428" y="108763"/>
                </a:lnTo>
                <a:lnTo>
                  <a:pt x="11714" y="157195"/>
                </a:lnTo>
                <a:lnTo>
                  <a:pt x="761" y="211010"/>
                </a:lnTo>
                <a:lnTo>
                  <a:pt x="0" y="229870"/>
                </a:lnTo>
                <a:lnTo>
                  <a:pt x="0" y="1149350"/>
                </a:lnTo>
                <a:lnTo>
                  <a:pt x="6677" y="1204605"/>
                </a:lnTo>
                <a:lnTo>
                  <a:pt x="25648" y="1255008"/>
                </a:lnTo>
                <a:lnTo>
                  <a:pt x="55318" y="1298965"/>
                </a:lnTo>
                <a:lnTo>
                  <a:pt x="94091" y="1334881"/>
                </a:lnTo>
                <a:lnTo>
                  <a:pt x="140374" y="1361162"/>
                </a:lnTo>
                <a:lnTo>
                  <a:pt x="192572" y="1376212"/>
                </a:lnTo>
                <a:lnTo>
                  <a:pt x="229870" y="1379220"/>
                </a:lnTo>
                <a:lnTo>
                  <a:pt x="4774946" y="1379220"/>
                </a:lnTo>
                <a:lnTo>
                  <a:pt x="4830201" y="1372542"/>
                </a:lnTo>
                <a:lnTo>
                  <a:pt x="4880604" y="1353571"/>
                </a:lnTo>
                <a:lnTo>
                  <a:pt x="4924561" y="1323901"/>
                </a:lnTo>
                <a:lnTo>
                  <a:pt x="4960477" y="1285128"/>
                </a:lnTo>
                <a:lnTo>
                  <a:pt x="4986758" y="1238845"/>
                </a:lnTo>
                <a:lnTo>
                  <a:pt x="5001808" y="1186647"/>
                </a:lnTo>
                <a:lnTo>
                  <a:pt x="5004816" y="1149350"/>
                </a:lnTo>
                <a:lnTo>
                  <a:pt x="5004816" y="229870"/>
                </a:lnTo>
                <a:lnTo>
                  <a:pt x="4998138" y="174614"/>
                </a:lnTo>
                <a:lnTo>
                  <a:pt x="4979167" y="124211"/>
                </a:lnTo>
                <a:lnTo>
                  <a:pt x="4949497" y="80254"/>
                </a:lnTo>
                <a:lnTo>
                  <a:pt x="4910724" y="44338"/>
                </a:lnTo>
                <a:lnTo>
                  <a:pt x="4864441" y="18057"/>
                </a:lnTo>
                <a:lnTo>
                  <a:pt x="4812243" y="3007"/>
                </a:lnTo>
                <a:lnTo>
                  <a:pt x="4774946" y="0"/>
                </a:lnTo>
                <a:close/>
              </a:path>
            </a:pathLst>
          </a:custGeom>
          <a:solidFill>
            <a:srgbClr val="FFFFC7"/>
          </a:solidFill>
        </p:spPr>
        <p:txBody>
          <a:bodyPr wrap="square" lIns="0" tIns="0" rIns="0" bIns="0" rtlCol="0"/>
          <a:lstStyle/>
          <a:p>
            <a:endParaRPr/>
          </a:p>
        </p:txBody>
      </p:sp>
      <p:sp>
        <p:nvSpPr>
          <p:cNvPr id="33" name="object 33"/>
          <p:cNvSpPr/>
          <p:nvPr/>
        </p:nvSpPr>
        <p:spPr>
          <a:xfrm>
            <a:off x="7029450" y="1632966"/>
            <a:ext cx="5005070" cy="1379220"/>
          </a:xfrm>
          <a:custGeom>
            <a:avLst/>
            <a:gdLst/>
            <a:ahLst/>
            <a:cxnLst/>
            <a:rect l="l" t="t" r="r" b="b"/>
            <a:pathLst>
              <a:path w="5005070" h="1379220">
                <a:moveTo>
                  <a:pt x="0" y="229870"/>
                </a:moveTo>
                <a:lnTo>
                  <a:pt x="6677" y="174614"/>
                </a:lnTo>
                <a:lnTo>
                  <a:pt x="25648" y="124211"/>
                </a:lnTo>
                <a:lnTo>
                  <a:pt x="55318" y="80254"/>
                </a:lnTo>
                <a:lnTo>
                  <a:pt x="94091" y="44338"/>
                </a:lnTo>
                <a:lnTo>
                  <a:pt x="140374" y="18057"/>
                </a:lnTo>
                <a:lnTo>
                  <a:pt x="192572" y="3007"/>
                </a:lnTo>
                <a:lnTo>
                  <a:pt x="229870" y="0"/>
                </a:lnTo>
                <a:lnTo>
                  <a:pt x="834135" y="0"/>
                </a:lnTo>
                <a:lnTo>
                  <a:pt x="2085340" y="0"/>
                </a:lnTo>
                <a:lnTo>
                  <a:pt x="4774946" y="0"/>
                </a:lnTo>
                <a:lnTo>
                  <a:pt x="4793805" y="761"/>
                </a:lnTo>
                <a:lnTo>
                  <a:pt x="4847620" y="11714"/>
                </a:lnTo>
                <a:lnTo>
                  <a:pt x="4896052" y="34428"/>
                </a:lnTo>
                <a:lnTo>
                  <a:pt x="4937506" y="67309"/>
                </a:lnTo>
                <a:lnTo>
                  <a:pt x="4970387" y="108763"/>
                </a:lnTo>
                <a:lnTo>
                  <a:pt x="4993101" y="157195"/>
                </a:lnTo>
                <a:lnTo>
                  <a:pt x="5004054" y="211010"/>
                </a:lnTo>
                <a:lnTo>
                  <a:pt x="5004816" y="229870"/>
                </a:lnTo>
                <a:lnTo>
                  <a:pt x="5004816" y="804545"/>
                </a:lnTo>
                <a:lnTo>
                  <a:pt x="5004816" y="1149350"/>
                </a:lnTo>
                <a:lnTo>
                  <a:pt x="5004054" y="1168209"/>
                </a:lnTo>
                <a:lnTo>
                  <a:pt x="5001808" y="1186647"/>
                </a:lnTo>
                <a:lnTo>
                  <a:pt x="4986758" y="1238845"/>
                </a:lnTo>
                <a:lnTo>
                  <a:pt x="4960477" y="1285128"/>
                </a:lnTo>
                <a:lnTo>
                  <a:pt x="4924561" y="1323901"/>
                </a:lnTo>
                <a:lnTo>
                  <a:pt x="4880604" y="1353571"/>
                </a:lnTo>
                <a:lnTo>
                  <a:pt x="4830201" y="1372542"/>
                </a:lnTo>
                <a:lnTo>
                  <a:pt x="4774946" y="1379220"/>
                </a:lnTo>
                <a:lnTo>
                  <a:pt x="2085340" y="1379220"/>
                </a:lnTo>
                <a:lnTo>
                  <a:pt x="1496314" y="1379220"/>
                </a:lnTo>
                <a:lnTo>
                  <a:pt x="834135" y="1379220"/>
                </a:lnTo>
                <a:lnTo>
                  <a:pt x="229870" y="1379220"/>
                </a:lnTo>
                <a:lnTo>
                  <a:pt x="211010" y="1378458"/>
                </a:lnTo>
                <a:lnTo>
                  <a:pt x="157195" y="1367505"/>
                </a:lnTo>
                <a:lnTo>
                  <a:pt x="108763" y="1344791"/>
                </a:lnTo>
                <a:lnTo>
                  <a:pt x="67309" y="1311910"/>
                </a:lnTo>
                <a:lnTo>
                  <a:pt x="34428" y="1270456"/>
                </a:lnTo>
                <a:lnTo>
                  <a:pt x="11714" y="1222024"/>
                </a:lnTo>
                <a:lnTo>
                  <a:pt x="761" y="1168209"/>
                </a:lnTo>
                <a:lnTo>
                  <a:pt x="0" y="1149350"/>
                </a:lnTo>
                <a:lnTo>
                  <a:pt x="0" y="804545"/>
                </a:lnTo>
                <a:lnTo>
                  <a:pt x="0" y="229870"/>
                </a:lnTo>
                <a:close/>
              </a:path>
            </a:pathLst>
          </a:custGeom>
          <a:ln w="28956">
            <a:solidFill>
              <a:srgbClr val="000000"/>
            </a:solidFill>
          </a:ln>
        </p:spPr>
        <p:txBody>
          <a:bodyPr wrap="square" lIns="0" tIns="0" rIns="0" bIns="0" rtlCol="0"/>
          <a:lstStyle/>
          <a:p>
            <a:endParaRPr/>
          </a:p>
        </p:txBody>
      </p:sp>
      <p:sp>
        <p:nvSpPr>
          <p:cNvPr id="34" name="object 34"/>
          <p:cNvSpPr txBox="1"/>
          <p:nvPr/>
        </p:nvSpPr>
        <p:spPr>
          <a:xfrm>
            <a:off x="7176007" y="1812988"/>
            <a:ext cx="4932045" cy="1040765"/>
          </a:xfrm>
          <a:prstGeom prst="rect">
            <a:avLst/>
          </a:prstGeom>
        </p:spPr>
        <p:txBody>
          <a:bodyPr vert="horz" wrap="square" lIns="0" tIns="0" rIns="0" bIns="0" rtlCol="0">
            <a:spAutoFit/>
          </a:bodyPr>
          <a:lstStyle/>
          <a:p>
            <a:pPr marL="12700" marR="5080">
              <a:lnSpc>
                <a:spcPct val="97100"/>
              </a:lnSpc>
            </a:pPr>
            <a:r>
              <a:rPr sz="2400" b="1" spc="10" dirty="0">
                <a:latin typeface="Microsoft JhengHei"/>
                <a:cs typeface="Microsoft JhengHei"/>
              </a:rPr>
              <a:t>硬件流控可以控制数据传输的进程， 防止数</a:t>
            </a:r>
            <a:r>
              <a:rPr sz="2400" b="1" spc="-1195" dirty="0">
                <a:latin typeface="Microsoft JhengHei"/>
                <a:cs typeface="Microsoft JhengHei"/>
              </a:rPr>
              <a:t>据</a:t>
            </a:r>
            <a:r>
              <a:rPr sz="3600" b="1" spc="-1800" baseline="-10416" dirty="0">
                <a:solidFill>
                  <a:srgbClr val="FFFFFF"/>
                </a:solidFill>
                <a:latin typeface="微软雅黑"/>
                <a:cs typeface="微软雅黑"/>
              </a:rPr>
              <a:t>含</a:t>
            </a:r>
            <a:r>
              <a:rPr sz="2400" b="1" spc="-1210" dirty="0">
                <a:latin typeface="Microsoft JhengHei"/>
                <a:cs typeface="Microsoft JhengHei"/>
              </a:rPr>
              <a:t>丢</a:t>
            </a:r>
            <a:r>
              <a:rPr sz="3600" b="1" spc="-1777" baseline="-10416" dirty="0">
                <a:solidFill>
                  <a:srgbClr val="FFFFFF"/>
                </a:solidFill>
                <a:latin typeface="微软雅黑"/>
                <a:cs typeface="微软雅黑"/>
              </a:rPr>
              <a:t>义</a:t>
            </a:r>
            <a:r>
              <a:rPr sz="2400" b="1" spc="10" dirty="0">
                <a:latin typeface="Microsoft JhengHei"/>
                <a:cs typeface="Microsoft JhengHei"/>
              </a:rPr>
              <a:t>失，该功能主要在收发 双方传输速度不匹配的时候使用。</a:t>
            </a:r>
            <a:endParaRPr sz="2400">
              <a:latin typeface="Microsoft JhengHei"/>
              <a:cs typeface="Microsoft JhengHei"/>
            </a:endParaRPr>
          </a:p>
        </p:txBody>
      </p:sp>
    </p:spTree>
    <p:extLst>
      <p:ext uri="{BB962C8B-B14F-4D97-AF65-F5344CB8AC3E}">
        <p14:creationId xmlns:p14="http://schemas.microsoft.com/office/powerpoint/2010/main" val="28993825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23" y="6516623"/>
            <a:ext cx="12190730" cy="341630"/>
          </a:xfrm>
          <a:prstGeom prst="rect">
            <a:avLst/>
          </a:prstGeom>
        </p:spPr>
        <p:txBody>
          <a:bodyPr vert="horz" wrap="square" lIns="0" tIns="0" rIns="0" bIns="0" rtlCol="0">
            <a:spAutoFit/>
          </a:bodyPr>
          <a:lstStyle/>
          <a:p>
            <a:pPr marR="200660" algn="r">
              <a:lnSpc>
                <a:spcPct val="100000"/>
              </a:lnSpc>
            </a:pPr>
            <a:r>
              <a:rPr sz="1200" b="1" spc="-5" dirty="0">
                <a:solidFill>
                  <a:srgbClr val="FFFFFF"/>
                </a:solidFill>
                <a:latin typeface="微软雅黑"/>
                <a:cs typeface="微软雅黑"/>
              </a:rPr>
              <a:t>--</a:t>
            </a:r>
            <a:r>
              <a:rPr sz="1200" b="1" spc="5" dirty="0">
                <a:solidFill>
                  <a:srgbClr val="FFFFFF"/>
                </a:solidFill>
                <a:latin typeface="微软雅黑"/>
                <a:cs typeface="微软雅黑"/>
              </a:rPr>
              <a:t> </a:t>
            </a:r>
            <a:r>
              <a:rPr sz="1200" b="1" dirty="0">
                <a:solidFill>
                  <a:srgbClr val="FFFFFF"/>
                </a:solidFill>
                <a:latin typeface="微软雅黑"/>
                <a:cs typeface="微软雅黑"/>
              </a:rPr>
              <a:t>南昌大学“卓越”辅导员培养工程建设</a:t>
            </a:r>
            <a:endParaRPr sz="1200">
              <a:latin typeface="微软雅黑"/>
              <a:cs typeface="微软雅黑"/>
            </a:endParaRPr>
          </a:p>
        </p:txBody>
      </p:sp>
      <p:sp>
        <p:nvSpPr>
          <p:cNvPr id="3" name="object 3"/>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4" name="object 4"/>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5" name="object 5"/>
          <p:cNvSpPr/>
          <p:nvPr/>
        </p:nvSpPr>
        <p:spPr>
          <a:xfrm>
            <a:off x="1523" y="6470903"/>
            <a:ext cx="12190730" cy="45720"/>
          </a:xfrm>
          <a:custGeom>
            <a:avLst/>
            <a:gdLst/>
            <a:ahLst/>
            <a:cxnLst/>
            <a:rect l="l" t="t" r="r" b="b"/>
            <a:pathLst>
              <a:path w="12190730" h="45720">
                <a:moveTo>
                  <a:pt x="0" y="45719"/>
                </a:moveTo>
                <a:lnTo>
                  <a:pt x="12190476" y="45719"/>
                </a:lnTo>
                <a:lnTo>
                  <a:pt x="12190476" y="0"/>
                </a:lnTo>
                <a:lnTo>
                  <a:pt x="0" y="0"/>
                </a:lnTo>
                <a:lnTo>
                  <a:pt x="0" y="45719"/>
                </a:lnTo>
              </a:path>
            </a:pathLst>
          </a:custGeom>
          <a:solidFill>
            <a:srgbClr val="FFE699"/>
          </a:solidFill>
        </p:spPr>
        <p:txBody>
          <a:bodyPr wrap="square" lIns="0" tIns="0" rIns="0" bIns="0" rtlCol="0"/>
          <a:lstStyle/>
          <a:p>
            <a:endParaRPr/>
          </a:p>
        </p:txBody>
      </p:sp>
      <p:sp>
        <p:nvSpPr>
          <p:cNvPr id="6" name="object 6"/>
          <p:cNvSpPr/>
          <p:nvPr/>
        </p:nvSpPr>
        <p:spPr>
          <a:xfrm>
            <a:off x="1523" y="6516623"/>
            <a:ext cx="12190730" cy="341630"/>
          </a:xfrm>
          <a:custGeom>
            <a:avLst/>
            <a:gdLst/>
            <a:ahLst/>
            <a:cxnLst/>
            <a:rect l="l" t="t" r="r" b="b"/>
            <a:pathLst>
              <a:path w="12190730" h="341629">
                <a:moveTo>
                  <a:pt x="0" y="341376"/>
                </a:moveTo>
                <a:lnTo>
                  <a:pt x="12190476" y="341376"/>
                </a:lnTo>
                <a:lnTo>
                  <a:pt x="12190476" y="0"/>
                </a:lnTo>
                <a:lnTo>
                  <a:pt x="0" y="0"/>
                </a:lnTo>
                <a:lnTo>
                  <a:pt x="0" y="341376"/>
                </a:lnTo>
              </a:path>
            </a:pathLst>
          </a:custGeom>
          <a:solidFill>
            <a:srgbClr val="E34A46"/>
          </a:solidFill>
        </p:spPr>
        <p:txBody>
          <a:bodyPr wrap="square" lIns="0" tIns="0" rIns="0" bIns="0" rtlCol="0"/>
          <a:lstStyle/>
          <a:p>
            <a:endParaRPr/>
          </a:p>
        </p:txBody>
      </p:sp>
      <p:sp>
        <p:nvSpPr>
          <p:cNvPr id="7" name="object 7"/>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8" name="object 8"/>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9" name="object 9"/>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1" name="object 11"/>
          <p:cNvSpPr txBox="1"/>
          <p:nvPr/>
        </p:nvSpPr>
        <p:spPr>
          <a:xfrm>
            <a:off x="322884" y="1165722"/>
            <a:ext cx="12446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采样频率</a:t>
            </a:r>
            <a:endParaRPr sz="2400">
              <a:latin typeface="微软雅黑"/>
              <a:cs typeface="微软雅黑"/>
            </a:endParaRPr>
          </a:p>
        </p:txBody>
      </p:sp>
      <p:sp>
        <p:nvSpPr>
          <p:cNvPr id="12" name="object 12"/>
          <p:cNvSpPr txBox="1"/>
          <p:nvPr/>
        </p:nvSpPr>
        <p:spPr>
          <a:xfrm>
            <a:off x="2385441" y="389881"/>
            <a:ext cx="668655" cy="254000"/>
          </a:xfrm>
          <a:prstGeom prst="rect">
            <a:avLst/>
          </a:prstGeom>
        </p:spPr>
        <p:txBody>
          <a:bodyPr vert="horz" wrap="square" lIns="0" tIns="0" rIns="0" bIns="0" rtlCol="0">
            <a:spAutoFit/>
          </a:bodyPr>
          <a:lstStyle/>
          <a:p>
            <a:pPr marL="12700">
              <a:lnSpc>
                <a:spcPct val="100000"/>
              </a:lnSpc>
            </a:pPr>
            <a:r>
              <a:rPr sz="1800" b="1" spc="-45" dirty="0">
                <a:solidFill>
                  <a:srgbClr val="252525"/>
                </a:solidFill>
                <a:latin typeface="微软雅黑"/>
                <a:cs typeface="微软雅黑"/>
              </a:rPr>
              <a:t>U</a:t>
            </a:r>
            <a:r>
              <a:rPr sz="1800" b="1" dirty="0">
                <a:solidFill>
                  <a:srgbClr val="252525"/>
                </a:solidFill>
                <a:latin typeface="微软雅黑"/>
                <a:cs typeface="微软雅黑"/>
              </a:rPr>
              <a:t>A</a:t>
            </a:r>
            <a:r>
              <a:rPr sz="1800" b="1" spc="-35" dirty="0">
                <a:solidFill>
                  <a:srgbClr val="252525"/>
                </a:solidFill>
                <a:latin typeface="微软雅黑"/>
                <a:cs typeface="微软雅黑"/>
              </a:rPr>
              <a:t>R</a:t>
            </a:r>
            <a:r>
              <a:rPr sz="1800" b="1" dirty="0">
                <a:solidFill>
                  <a:srgbClr val="252525"/>
                </a:solidFill>
                <a:latin typeface="微软雅黑"/>
                <a:cs typeface="微软雅黑"/>
              </a:rPr>
              <a:t>T</a:t>
            </a:r>
            <a:endParaRPr sz="1800">
              <a:latin typeface="微软雅黑"/>
              <a:cs typeface="微软雅黑"/>
            </a:endParaRPr>
          </a:p>
        </p:txBody>
      </p:sp>
      <p:sp>
        <p:nvSpPr>
          <p:cNvPr id="13" name="object 13"/>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5" dirty="0"/>
              <a:t>成员变量</a:t>
            </a:r>
            <a:r>
              <a:rPr spc="-10" dirty="0">
                <a:latin typeface="微软雅黑"/>
                <a:cs typeface="微软雅黑"/>
              </a:rPr>
              <a:t>O</a:t>
            </a:r>
            <a:r>
              <a:rPr spc="-35" dirty="0">
                <a:latin typeface="微软雅黑"/>
                <a:cs typeface="微软雅黑"/>
              </a:rPr>
              <a:t>v</a:t>
            </a:r>
            <a:r>
              <a:rPr spc="-5" dirty="0">
                <a:latin typeface="微软雅黑"/>
                <a:cs typeface="微软雅黑"/>
              </a:rPr>
              <a:t>erSa</a:t>
            </a:r>
            <a:r>
              <a:rPr spc="0" dirty="0">
                <a:latin typeface="微软雅黑"/>
                <a:cs typeface="微软雅黑"/>
              </a:rPr>
              <a:t>m</a:t>
            </a:r>
            <a:r>
              <a:rPr spc="-5" dirty="0">
                <a:latin typeface="微软雅黑"/>
                <a:cs typeface="微软雅黑"/>
              </a:rPr>
              <a:t>plin</a:t>
            </a:r>
            <a:r>
              <a:rPr dirty="0">
                <a:latin typeface="微软雅黑"/>
                <a:cs typeface="微软雅黑"/>
              </a:rPr>
              <a:t>g</a:t>
            </a:r>
            <a:r>
              <a:rPr spc="-5" dirty="0"/>
              <a:t>的取值范围</a:t>
            </a:r>
          </a:p>
        </p:txBody>
      </p:sp>
      <p:graphicFrame>
        <p:nvGraphicFramePr>
          <p:cNvPr id="14" name="object 14"/>
          <p:cNvGraphicFramePr>
            <a:graphicFrameLocks noGrp="1"/>
          </p:cNvGraphicFramePr>
          <p:nvPr/>
        </p:nvGraphicFramePr>
        <p:xfrm>
          <a:off x="1029030" y="2421826"/>
          <a:ext cx="10105377" cy="3275838"/>
        </p:xfrm>
        <a:graphic>
          <a:graphicData uri="http://schemas.openxmlformats.org/drawingml/2006/table">
            <a:tbl>
              <a:tblPr firstRow="1" bandRow="1">
                <a:tableStyleId>{2D5ABB26-0587-4C30-8999-92F81FD0307C}</a:tableStyleId>
              </a:tblPr>
              <a:tblGrid>
                <a:gridCol w="4498073">
                  <a:extLst>
                    <a:ext uri="{9D8B030D-6E8A-4147-A177-3AD203B41FA5}">
                      <a16:colId xmlns:a16="http://schemas.microsoft.com/office/drawing/2014/main" val="20000"/>
                    </a:ext>
                  </a:extLst>
                </a:gridCol>
                <a:gridCol w="5607304">
                  <a:extLst>
                    <a:ext uri="{9D8B030D-6E8A-4147-A177-3AD203B41FA5}">
                      <a16:colId xmlns:a16="http://schemas.microsoft.com/office/drawing/2014/main" val="20001"/>
                    </a:ext>
                  </a:extLst>
                </a:gridCol>
              </a:tblGrid>
              <a:tr h="710184">
                <a:tc>
                  <a:txBody>
                    <a:bodyPr/>
                    <a:lstStyle/>
                    <a:p>
                      <a:pPr marL="1471930">
                        <a:lnSpc>
                          <a:spcPct val="100000"/>
                        </a:lnSpc>
                      </a:pPr>
                      <a:r>
                        <a:rPr sz="2400" b="1" dirty="0">
                          <a:solidFill>
                            <a:srgbClr val="FFFFFF"/>
                          </a:solidFill>
                          <a:latin typeface="微软雅黑"/>
                          <a:cs typeface="微软雅黑"/>
                        </a:rPr>
                        <a:t>宏常量定义</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tc>
                  <a:txBody>
                    <a:bodyPr/>
                    <a:lstStyle/>
                    <a:p>
                      <a:pPr marL="1270" algn="ctr">
                        <a:lnSpc>
                          <a:spcPct val="100000"/>
                        </a:lnSpc>
                      </a:pPr>
                      <a:r>
                        <a:rPr sz="2400" b="1" dirty="0">
                          <a:solidFill>
                            <a:srgbClr val="FFFFFF"/>
                          </a:solidFill>
                          <a:latin typeface="微软雅黑"/>
                          <a:cs typeface="微软雅黑"/>
                        </a:rPr>
                        <a:t>含义</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extLst>
                  <a:ext uri="{0D108BD9-81ED-4DB2-BD59-A6C34878D82A}">
                    <a16:rowId xmlns:a16="http://schemas.microsoft.com/office/drawing/2014/main" val="10000"/>
                  </a:ext>
                </a:extLst>
              </a:tr>
              <a:tr h="1282827">
                <a:tc>
                  <a:txBody>
                    <a:bodyPr/>
                    <a:lstStyle/>
                    <a:p>
                      <a:pPr marL="211454">
                        <a:lnSpc>
                          <a:spcPct val="100000"/>
                        </a:lnSpc>
                      </a:pPr>
                      <a:r>
                        <a:rPr sz="2400" b="1" spc="-65" dirty="0">
                          <a:latin typeface="微软雅黑"/>
                          <a:cs typeface="微软雅黑"/>
                        </a:rPr>
                        <a:t>U</a:t>
                      </a:r>
                      <a:r>
                        <a:rPr sz="2400" b="1" dirty="0">
                          <a:latin typeface="微软雅黑"/>
                          <a:cs typeface="微软雅黑"/>
                        </a:rPr>
                        <a:t>A</a:t>
                      </a:r>
                      <a:r>
                        <a:rPr sz="2400" b="1" spc="-50" dirty="0">
                          <a:latin typeface="微软雅黑"/>
                          <a:cs typeface="微软雅黑"/>
                        </a:rPr>
                        <a:t>R</a:t>
                      </a:r>
                      <a:r>
                        <a:rPr sz="2400" b="1" spc="-5" dirty="0">
                          <a:latin typeface="微软雅黑"/>
                          <a:cs typeface="微软雅黑"/>
                        </a:rPr>
                        <a:t>T_</a:t>
                      </a:r>
                      <a:r>
                        <a:rPr sz="2400" b="1" spc="5" dirty="0">
                          <a:latin typeface="微软雅黑"/>
                          <a:cs typeface="微软雅黑"/>
                        </a:rPr>
                        <a:t>O</a:t>
                      </a:r>
                      <a:r>
                        <a:rPr sz="2400" b="1" dirty="0">
                          <a:latin typeface="微软雅黑"/>
                          <a:cs typeface="微软雅黑"/>
                        </a:rPr>
                        <a:t>VERS</a:t>
                      </a:r>
                      <a:r>
                        <a:rPr sz="2400" b="1" spc="-10" dirty="0">
                          <a:latin typeface="微软雅黑"/>
                          <a:cs typeface="微软雅黑"/>
                        </a:rPr>
                        <a:t>A</a:t>
                      </a:r>
                      <a:r>
                        <a:rPr sz="2400" b="1" spc="-5" dirty="0">
                          <a:latin typeface="微软雅黑"/>
                          <a:cs typeface="微软雅黑"/>
                        </a:rPr>
                        <a:t>MPLING_16</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621030">
                        <a:lnSpc>
                          <a:spcPct val="100000"/>
                        </a:lnSpc>
                      </a:pPr>
                      <a:r>
                        <a:rPr sz="2400" b="1" dirty="0">
                          <a:latin typeface="微软雅黑"/>
                          <a:cs typeface="微软雅黑"/>
                        </a:rPr>
                        <a:t>采样频率是信号传输频率</a:t>
                      </a:r>
                      <a:r>
                        <a:rPr sz="2400" b="1" spc="-25" dirty="0">
                          <a:latin typeface="微软雅黑"/>
                          <a:cs typeface="微软雅黑"/>
                        </a:rPr>
                        <a:t>的</a:t>
                      </a:r>
                      <a:r>
                        <a:rPr sz="2400" b="1" spc="-5" dirty="0">
                          <a:latin typeface="微软雅黑"/>
                          <a:cs typeface="微软雅黑"/>
                        </a:rPr>
                        <a:t>16</a:t>
                      </a:r>
                      <a:r>
                        <a:rPr sz="2400" b="1" dirty="0">
                          <a:latin typeface="微软雅黑"/>
                          <a:cs typeface="微软雅黑"/>
                        </a:rPr>
                        <a:t>倍</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1"/>
                  </a:ext>
                </a:extLst>
              </a:tr>
              <a:tr h="1282827">
                <a:tc>
                  <a:txBody>
                    <a:bodyPr/>
                    <a:lstStyle/>
                    <a:p>
                      <a:pPr marL="306070">
                        <a:lnSpc>
                          <a:spcPct val="100000"/>
                        </a:lnSpc>
                      </a:pPr>
                      <a:r>
                        <a:rPr sz="2400" b="1" spc="-65" dirty="0">
                          <a:latin typeface="微软雅黑"/>
                          <a:cs typeface="微软雅黑"/>
                        </a:rPr>
                        <a:t>U</a:t>
                      </a:r>
                      <a:r>
                        <a:rPr sz="2400" b="1" dirty="0">
                          <a:latin typeface="微软雅黑"/>
                          <a:cs typeface="微软雅黑"/>
                        </a:rPr>
                        <a:t>A</a:t>
                      </a:r>
                      <a:r>
                        <a:rPr sz="2400" b="1" spc="-50" dirty="0">
                          <a:latin typeface="微软雅黑"/>
                          <a:cs typeface="微软雅黑"/>
                        </a:rPr>
                        <a:t>R</a:t>
                      </a:r>
                      <a:r>
                        <a:rPr sz="2400" b="1" spc="-5" dirty="0">
                          <a:latin typeface="微软雅黑"/>
                          <a:cs typeface="微软雅黑"/>
                        </a:rPr>
                        <a:t>T_</a:t>
                      </a:r>
                      <a:r>
                        <a:rPr sz="2400" b="1" spc="5" dirty="0">
                          <a:latin typeface="微软雅黑"/>
                          <a:cs typeface="微软雅黑"/>
                        </a:rPr>
                        <a:t>O</a:t>
                      </a:r>
                      <a:r>
                        <a:rPr sz="2400" b="1" dirty="0">
                          <a:latin typeface="微软雅黑"/>
                          <a:cs typeface="微软雅黑"/>
                        </a:rPr>
                        <a:t>VERS</a:t>
                      </a:r>
                      <a:r>
                        <a:rPr sz="2400" b="1" spc="-10" dirty="0">
                          <a:latin typeface="微软雅黑"/>
                          <a:cs typeface="微软雅黑"/>
                        </a:rPr>
                        <a:t>A</a:t>
                      </a:r>
                      <a:r>
                        <a:rPr sz="2400" b="1" spc="-5" dirty="0">
                          <a:latin typeface="微软雅黑"/>
                          <a:cs typeface="微软雅黑"/>
                        </a:rPr>
                        <a:t>MPLING_8</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715010">
                        <a:lnSpc>
                          <a:spcPct val="100000"/>
                        </a:lnSpc>
                      </a:pPr>
                      <a:r>
                        <a:rPr sz="2400" b="1" dirty="0">
                          <a:latin typeface="微软雅黑"/>
                          <a:cs typeface="微软雅黑"/>
                        </a:rPr>
                        <a:t>采样频率是信号传输频率</a:t>
                      </a:r>
                      <a:r>
                        <a:rPr sz="2400" b="1" spc="-25" dirty="0">
                          <a:latin typeface="微软雅黑"/>
                          <a:cs typeface="微软雅黑"/>
                        </a:rPr>
                        <a:t>的</a:t>
                      </a:r>
                      <a:r>
                        <a:rPr sz="2400" b="1" spc="-5" dirty="0">
                          <a:latin typeface="微软雅黑"/>
                          <a:cs typeface="微软雅黑"/>
                        </a:rPr>
                        <a:t>8</a:t>
                      </a:r>
                      <a:r>
                        <a:rPr sz="2400" b="1" dirty="0">
                          <a:latin typeface="微软雅黑"/>
                          <a:cs typeface="微软雅黑"/>
                        </a:rPr>
                        <a:t>倍</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37523275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200133" y="6608820"/>
            <a:ext cx="2796540" cy="177800"/>
          </a:xfrm>
          <a:prstGeom prst="rect">
            <a:avLst/>
          </a:prstGeom>
        </p:spPr>
        <p:txBody>
          <a:bodyPr vert="horz" wrap="square" lIns="0" tIns="0" rIns="0" bIns="0" rtlCol="0">
            <a:spAutoFit/>
          </a:bodyPr>
          <a:lstStyle/>
          <a:p>
            <a:pPr marL="12700">
              <a:lnSpc>
                <a:spcPct val="100000"/>
              </a:lnSpc>
            </a:pPr>
            <a:r>
              <a:rPr sz="1200" b="1" spc="-5" dirty="0">
                <a:solidFill>
                  <a:srgbClr val="FFFFFF"/>
                </a:solidFill>
                <a:latin typeface="微软雅黑"/>
                <a:cs typeface="微软雅黑"/>
              </a:rPr>
              <a:t>--</a:t>
            </a:r>
            <a:r>
              <a:rPr sz="1200" b="1" spc="5" dirty="0">
                <a:solidFill>
                  <a:srgbClr val="FFFFFF"/>
                </a:solidFill>
                <a:latin typeface="微软雅黑"/>
                <a:cs typeface="微软雅黑"/>
              </a:rPr>
              <a:t> </a:t>
            </a:r>
            <a:r>
              <a:rPr sz="1200" b="1" dirty="0">
                <a:solidFill>
                  <a:srgbClr val="FFFFFF"/>
                </a:solidFill>
                <a:latin typeface="微软雅黑"/>
                <a:cs typeface="微软雅黑"/>
              </a:rPr>
              <a:t>南昌大学“卓越”辅导员培养工程建设</a:t>
            </a:r>
            <a:endParaRPr sz="1200">
              <a:latin typeface="微软雅黑"/>
              <a:cs typeface="微软雅黑"/>
            </a:endParaRPr>
          </a:p>
        </p:txBody>
      </p:sp>
      <p:sp>
        <p:nvSpPr>
          <p:cNvPr id="3" name="object 3"/>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4" name="object 4"/>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5" name="object 5"/>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7" name="object 7"/>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9" name="object 9"/>
          <p:cNvSpPr txBox="1"/>
          <p:nvPr/>
        </p:nvSpPr>
        <p:spPr>
          <a:xfrm>
            <a:off x="352145" y="1165722"/>
            <a:ext cx="12446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设计思想</a:t>
            </a:r>
            <a:endParaRPr sz="2400">
              <a:latin typeface="微软雅黑"/>
              <a:cs typeface="微软雅黑"/>
            </a:endParaRPr>
          </a:p>
        </p:txBody>
      </p:sp>
      <p:sp>
        <p:nvSpPr>
          <p:cNvPr id="10" name="object 10"/>
          <p:cNvSpPr txBox="1"/>
          <p:nvPr/>
        </p:nvSpPr>
        <p:spPr>
          <a:xfrm>
            <a:off x="2385441" y="389881"/>
            <a:ext cx="668655" cy="254000"/>
          </a:xfrm>
          <a:prstGeom prst="rect">
            <a:avLst/>
          </a:prstGeom>
        </p:spPr>
        <p:txBody>
          <a:bodyPr vert="horz" wrap="square" lIns="0" tIns="0" rIns="0" bIns="0" rtlCol="0">
            <a:spAutoFit/>
          </a:bodyPr>
          <a:lstStyle/>
          <a:p>
            <a:pPr marL="12700">
              <a:lnSpc>
                <a:spcPct val="100000"/>
              </a:lnSpc>
            </a:pPr>
            <a:r>
              <a:rPr sz="1800" b="1" spc="-45" dirty="0">
                <a:solidFill>
                  <a:srgbClr val="252525"/>
                </a:solidFill>
                <a:latin typeface="微软雅黑"/>
                <a:cs typeface="微软雅黑"/>
              </a:rPr>
              <a:t>U</a:t>
            </a:r>
            <a:r>
              <a:rPr sz="1800" b="1" dirty="0">
                <a:solidFill>
                  <a:srgbClr val="252525"/>
                </a:solidFill>
                <a:latin typeface="微软雅黑"/>
                <a:cs typeface="微软雅黑"/>
              </a:rPr>
              <a:t>A</a:t>
            </a:r>
            <a:r>
              <a:rPr sz="1800" b="1" spc="-35" dirty="0">
                <a:solidFill>
                  <a:srgbClr val="252525"/>
                </a:solidFill>
                <a:latin typeface="微软雅黑"/>
                <a:cs typeface="微软雅黑"/>
              </a:rPr>
              <a:t>R</a:t>
            </a:r>
            <a:r>
              <a:rPr sz="1800" b="1" dirty="0">
                <a:solidFill>
                  <a:srgbClr val="252525"/>
                </a:solidFill>
                <a:latin typeface="微软雅黑"/>
                <a:cs typeface="微软雅黑"/>
              </a:rPr>
              <a:t>T</a:t>
            </a:r>
            <a:endParaRPr sz="1800">
              <a:latin typeface="微软雅黑"/>
              <a:cs typeface="微软雅黑"/>
            </a:endParaRPr>
          </a:p>
        </p:txBody>
      </p:sp>
      <p:sp>
        <p:nvSpPr>
          <p:cNvPr id="11" name="object 11"/>
          <p:cNvSpPr txBox="1">
            <a:spLocks noGrp="1"/>
          </p:cNvSpPr>
          <p:nvPr>
            <p:ph type="title"/>
          </p:nvPr>
        </p:nvSpPr>
        <p:spPr>
          <a:prstGeom prst="rect">
            <a:avLst/>
          </a:prstGeom>
        </p:spPr>
        <p:txBody>
          <a:bodyPr vert="horz" wrap="square" lIns="0" tIns="0" rIns="0" bIns="0" rtlCol="0">
            <a:spAutoFit/>
          </a:bodyPr>
          <a:lstStyle/>
          <a:p>
            <a:pPr marL="1779270">
              <a:lnSpc>
                <a:spcPct val="100000"/>
              </a:lnSpc>
            </a:pPr>
            <a:r>
              <a:rPr spc="-5" dirty="0"/>
              <a:t>从抽象到承载</a:t>
            </a:r>
          </a:p>
        </p:txBody>
      </p:sp>
      <p:sp>
        <p:nvSpPr>
          <p:cNvPr id="12" name="object 12"/>
          <p:cNvSpPr txBox="1"/>
          <p:nvPr/>
        </p:nvSpPr>
        <p:spPr>
          <a:xfrm>
            <a:off x="3375659" y="1792223"/>
            <a:ext cx="3096895" cy="462280"/>
          </a:xfrm>
          <a:prstGeom prst="rect">
            <a:avLst/>
          </a:prstGeom>
          <a:solidFill>
            <a:srgbClr val="00AFEF"/>
          </a:solidFill>
        </p:spPr>
        <p:txBody>
          <a:bodyPr vert="horz" wrap="square" lIns="0" tIns="0" rIns="0" bIns="0" rtlCol="0">
            <a:spAutoFit/>
          </a:bodyPr>
          <a:lstStyle/>
          <a:p>
            <a:pPr marL="480695">
              <a:lnSpc>
                <a:spcPct val="100000"/>
              </a:lnSpc>
            </a:pPr>
            <a:r>
              <a:rPr sz="2400" b="1" dirty="0">
                <a:solidFill>
                  <a:srgbClr val="FFFFFF"/>
                </a:solidFill>
                <a:latin typeface="微软雅黑"/>
                <a:cs typeface="微软雅黑"/>
              </a:rPr>
              <a:t>初始化外设句柄</a:t>
            </a:r>
            <a:endParaRPr sz="2400">
              <a:latin typeface="微软雅黑"/>
              <a:cs typeface="微软雅黑"/>
            </a:endParaRPr>
          </a:p>
        </p:txBody>
      </p:sp>
      <p:sp>
        <p:nvSpPr>
          <p:cNvPr id="13" name="object 13"/>
          <p:cNvSpPr/>
          <p:nvPr/>
        </p:nvSpPr>
        <p:spPr>
          <a:xfrm>
            <a:off x="4599432" y="2255520"/>
            <a:ext cx="649223" cy="419100"/>
          </a:xfrm>
          <a:prstGeom prst="rect">
            <a:avLst/>
          </a:prstGeom>
          <a:blipFill>
            <a:blip r:embed="rId4" cstate="print"/>
            <a:stretch>
              <a:fillRect/>
            </a:stretch>
          </a:blipFill>
        </p:spPr>
        <p:txBody>
          <a:bodyPr wrap="square" lIns="0" tIns="0" rIns="0" bIns="0" rtlCol="0"/>
          <a:lstStyle/>
          <a:p>
            <a:endParaRPr/>
          </a:p>
        </p:txBody>
      </p:sp>
      <p:sp>
        <p:nvSpPr>
          <p:cNvPr id="14" name="object 14"/>
          <p:cNvSpPr txBox="1"/>
          <p:nvPr/>
        </p:nvSpPr>
        <p:spPr>
          <a:xfrm>
            <a:off x="3375659" y="2667000"/>
            <a:ext cx="3096895" cy="462280"/>
          </a:xfrm>
          <a:prstGeom prst="rect">
            <a:avLst/>
          </a:prstGeom>
          <a:solidFill>
            <a:srgbClr val="00AFEF"/>
          </a:solidFill>
        </p:spPr>
        <p:txBody>
          <a:bodyPr vert="horz" wrap="square" lIns="0" tIns="0" rIns="0" bIns="0" rtlCol="0">
            <a:spAutoFit/>
          </a:bodyPr>
          <a:lstStyle/>
          <a:p>
            <a:pPr marL="175895">
              <a:lnSpc>
                <a:spcPct val="100000"/>
              </a:lnSpc>
            </a:pPr>
            <a:r>
              <a:rPr sz="2400" b="1" spc="-5" dirty="0">
                <a:solidFill>
                  <a:srgbClr val="FFFFFF"/>
                </a:solidFill>
                <a:latin typeface="微软雅黑"/>
                <a:cs typeface="微软雅黑"/>
              </a:rPr>
              <a:t>句柄参数写入寄存器</a:t>
            </a:r>
            <a:endParaRPr sz="2400">
              <a:latin typeface="微软雅黑"/>
              <a:cs typeface="微软雅黑"/>
            </a:endParaRPr>
          </a:p>
        </p:txBody>
      </p:sp>
      <p:sp>
        <p:nvSpPr>
          <p:cNvPr id="15" name="object 15"/>
          <p:cNvSpPr txBox="1"/>
          <p:nvPr/>
        </p:nvSpPr>
        <p:spPr>
          <a:xfrm>
            <a:off x="3375659" y="3528059"/>
            <a:ext cx="3096895" cy="462280"/>
          </a:xfrm>
          <a:prstGeom prst="rect">
            <a:avLst/>
          </a:prstGeom>
          <a:solidFill>
            <a:srgbClr val="00AFEF"/>
          </a:solidFill>
        </p:spPr>
        <p:txBody>
          <a:bodyPr vert="horz" wrap="square" lIns="0" tIns="0" rIns="0" bIns="0" rtlCol="0">
            <a:spAutoFit/>
          </a:bodyPr>
          <a:lstStyle/>
          <a:p>
            <a:pPr marL="102870">
              <a:lnSpc>
                <a:spcPct val="100000"/>
              </a:lnSpc>
            </a:pPr>
            <a:r>
              <a:rPr sz="2400" b="1" dirty="0">
                <a:solidFill>
                  <a:srgbClr val="FFFFFF"/>
                </a:solidFill>
                <a:latin typeface="微软雅黑"/>
                <a:cs typeface="微软雅黑"/>
              </a:rPr>
              <a:t>与MC</a:t>
            </a:r>
            <a:r>
              <a:rPr sz="2400" b="1" spc="-5" dirty="0">
                <a:solidFill>
                  <a:srgbClr val="FFFFFF"/>
                </a:solidFill>
                <a:latin typeface="微软雅黑"/>
                <a:cs typeface="微软雅黑"/>
              </a:rPr>
              <a:t>U</a:t>
            </a:r>
            <a:r>
              <a:rPr sz="2400" b="1" dirty="0">
                <a:solidFill>
                  <a:srgbClr val="FFFFFF"/>
                </a:solidFill>
                <a:latin typeface="微软雅黑"/>
                <a:cs typeface="微软雅黑"/>
              </a:rPr>
              <a:t>相关的初始化</a:t>
            </a:r>
            <a:endParaRPr sz="2400">
              <a:latin typeface="微软雅黑"/>
              <a:cs typeface="微软雅黑"/>
            </a:endParaRPr>
          </a:p>
        </p:txBody>
      </p:sp>
      <p:sp>
        <p:nvSpPr>
          <p:cNvPr id="16" name="object 16"/>
          <p:cNvSpPr/>
          <p:nvPr/>
        </p:nvSpPr>
        <p:spPr>
          <a:xfrm>
            <a:off x="4599432" y="3134867"/>
            <a:ext cx="649223" cy="419100"/>
          </a:xfrm>
          <a:prstGeom prst="rect">
            <a:avLst/>
          </a:prstGeom>
          <a:blipFill>
            <a:blip r:embed="rId4" cstate="print"/>
            <a:stretch>
              <a:fillRect/>
            </a:stretch>
          </a:blipFill>
        </p:spPr>
        <p:txBody>
          <a:bodyPr wrap="square" lIns="0" tIns="0" rIns="0" bIns="0" rtlCol="0"/>
          <a:lstStyle/>
          <a:p>
            <a:endParaRPr/>
          </a:p>
        </p:txBody>
      </p:sp>
      <p:sp>
        <p:nvSpPr>
          <p:cNvPr id="17" name="object 17"/>
          <p:cNvSpPr/>
          <p:nvPr/>
        </p:nvSpPr>
        <p:spPr>
          <a:xfrm>
            <a:off x="6472428" y="2782823"/>
            <a:ext cx="788035" cy="228600"/>
          </a:xfrm>
          <a:custGeom>
            <a:avLst/>
            <a:gdLst/>
            <a:ahLst/>
            <a:cxnLst/>
            <a:rect l="l" t="t" r="r" b="b"/>
            <a:pathLst>
              <a:path w="788034" h="228600">
                <a:moveTo>
                  <a:pt x="558926" y="0"/>
                </a:moveTo>
                <a:lnTo>
                  <a:pt x="558926" y="228600"/>
                </a:lnTo>
                <a:lnTo>
                  <a:pt x="711326" y="152400"/>
                </a:lnTo>
                <a:lnTo>
                  <a:pt x="597026" y="152400"/>
                </a:lnTo>
                <a:lnTo>
                  <a:pt x="597026" y="76200"/>
                </a:lnTo>
                <a:lnTo>
                  <a:pt x="711326" y="76200"/>
                </a:lnTo>
                <a:lnTo>
                  <a:pt x="558926" y="0"/>
                </a:lnTo>
                <a:close/>
              </a:path>
              <a:path w="788034" h="228600">
                <a:moveTo>
                  <a:pt x="558926" y="76200"/>
                </a:moveTo>
                <a:lnTo>
                  <a:pt x="0" y="76200"/>
                </a:lnTo>
                <a:lnTo>
                  <a:pt x="0" y="152400"/>
                </a:lnTo>
                <a:lnTo>
                  <a:pt x="558926" y="152400"/>
                </a:lnTo>
                <a:lnTo>
                  <a:pt x="558926" y="76200"/>
                </a:lnTo>
                <a:close/>
              </a:path>
              <a:path w="788034" h="228600">
                <a:moveTo>
                  <a:pt x="711326" y="76200"/>
                </a:moveTo>
                <a:lnTo>
                  <a:pt x="597026" y="76200"/>
                </a:lnTo>
                <a:lnTo>
                  <a:pt x="597026" y="152400"/>
                </a:lnTo>
                <a:lnTo>
                  <a:pt x="711326" y="152400"/>
                </a:lnTo>
                <a:lnTo>
                  <a:pt x="787526" y="114300"/>
                </a:lnTo>
                <a:lnTo>
                  <a:pt x="711326" y="76200"/>
                </a:lnTo>
                <a:close/>
              </a:path>
            </a:pathLst>
          </a:custGeom>
          <a:solidFill>
            <a:srgbClr val="FF0000"/>
          </a:solidFill>
        </p:spPr>
        <p:txBody>
          <a:bodyPr wrap="square" lIns="0" tIns="0" rIns="0" bIns="0" rtlCol="0"/>
          <a:lstStyle/>
          <a:p>
            <a:endParaRPr/>
          </a:p>
        </p:txBody>
      </p:sp>
      <p:sp>
        <p:nvSpPr>
          <p:cNvPr id="18" name="object 18"/>
          <p:cNvSpPr txBox="1"/>
          <p:nvPr/>
        </p:nvSpPr>
        <p:spPr>
          <a:xfrm>
            <a:off x="1448561" y="2568701"/>
            <a:ext cx="1111250" cy="607060"/>
          </a:xfrm>
          <a:prstGeom prst="rect">
            <a:avLst/>
          </a:prstGeom>
          <a:ln w="38100">
            <a:solidFill>
              <a:srgbClr val="E34A46"/>
            </a:solidFill>
          </a:ln>
        </p:spPr>
        <p:txBody>
          <a:bodyPr vert="horz" wrap="square" lIns="0" tIns="0" rIns="0" bIns="0" rtlCol="0">
            <a:spAutoFit/>
          </a:bodyPr>
          <a:lstStyle/>
          <a:p>
            <a:pPr marL="184150">
              <a:lnSpc>
                <a:spcPct val="100000"/>
              </a:lnSpc>
            </a:pPr>
            <a:r>
              <a:rPr sz="2800" b="1" spc="-10" dirty="0">
                <a:solidFill>
                  <a:srgbClr val="252525"/>
                </a:solidFill>
                <a:latin typeface="微软雅黑"/>
                <a:cs typeface="微软雅黑"/>
              </a:rPr>
              <a:t>抽象</a:t>
            </a:r>
            <a:endParaRPr sz="2800">
              <a:latin typeface="微软雅黑"/>
              <a:cs typeface="微软雅黑"/>
            </a:endParaRPr>
          </a:p>
        </p:txBody>
      </p:sp>
      <p:sp>
        <p:nvSpPr>
          <p:cNvPr id="19" name="object 19"/>
          <p:cNvSpPr txBox="1"/>
          <p:nvPr/>
        </p:nvSpPr>
        <p:spPr>
          <a:xfrm>
            <a:off x="1433322" y="3477005"/>
            <a:ext cx="1111250" cy="607060"/>
          </a:xfrm>
          <a:prstGeom prst="rect">
            <a:avLst/>
          </a:prstGeom>
          <a:ln w="38099">
            <a:solidFill>
              <a:srgbClr val="E34A46"/>
            </a:solidFill>
          </a:ln>
        </p:spPr>
        <p:txBody>
          <a:bodyPr vert="horz" wrap="square" lIns="0" tIns="0" rIns="0" bIns="0" rtlCol="0">
            <a:spAutoFit/>
          </a:bodyPr>
          <a:lstStyle/>
          <a:p>
            <a:pPr marL="184150">
              <a:lnSpc>
                <a:spcPct val="100000"/>
              </a:lnSpc>
            </a:pPr>
            <a:r>
              <a:rPr sz="2800" b="1" spc="-5" dirty="0">
                <a:solidFill>
                  <a:srgbClr val="252525"/>
                </a:solidFill>
                <a:latin typeface="微软雅黑"/>
                <a:cs typeface="微软雅黑"/>
              </a:rPr>
              <a:t>承载</a:t>
            </a:r>
            <a:endParaRPr sz="2800">
              <a:latin typeface="微软雅黑"/>
              <a:cs typeface="微软雅黑"/>
            </a:endParaRPr>
          </a:p>
        </p:txBody>
      </p:sp>
      <p:sp>
        <p:nvSpPr>
          <p:cNvPr id="20" name="object 20"/>
          <p:cNvSpPr/>
          <p:nvPr/>
        </p:nvSpPr>
        <p:spPr>
          <a:xfrm>
            <a:off x="6495288" y="3625596"/>
            <a:ext cx="788035" cy="228600"/>
          </a:xfrm>
          <a:custGeom>
            <a:avLst/>
            <a:gdLst/>
            <a:ahLst/>
            <a:cxnLst/>
            <a:rect l="l" t="t" r="r" b="b"/>
            <a:pathLst>
              <a:path w="788034" h="228600">
                <a:moveTo>
                  <a:pt x="558927" y="0"/>
                </a:moveTo>
                <a:lnTo>
                  <a:pt x="558927" y="228599"/>
                </a:lnTo>
                <a:lnTo>
                  <a:pt x="711327" y="152399"/>
                </a:lnTo>
                <a:lnTo>
                  <a:pt x="597027" y="152399"/>
                </a:lnTo>
                <a:lnTo>
                  <a:pt x="597027" y="76199"/>
                </a:lnTo>
                <a:lnTo>
                  <a:pt x="711327" y="76199"/>
                </a:lnTo>
                <a:lnTo>
                  <a:pt x="558927" y="0"/>
                </a:lnTo>
                <a:close/>
              </a:path>
              <a:path w="788034" h="228600">
                <a:moveTo>
                  <a:pt x="558927" y="76199"/>
                </a:moveTo>
                <a:lnTo>
                  <a:pt x="0" y="76199"/>
                </a:lnTo>
                <a:lnTo>
                  <a:pt x="0" y="152399"/>
                </a:lnTo>
                <a:lnTo>
                  <a:pt x="558927" y="152399"/>
                </a:lnTo>
                <a:lnTo>
                  <a:pt x="558927" y="76199"/>
                </a:lnTo>
                <a:close/>
              </a:path>
              <a:path w="788034" h="228600">
                <a:moveTo>
                  <a:pt x="711327" y="76199"/>
                </a:moveTo>
                <a:lnTo>
                  <a:pt x="597027" y="76199"/>
                </a:lnTo>
                <a:lnTo>
                  <a:pt x="597027" y="152399"/>
                </a:lnTo>
                <a:lnTo>
                  <a:pt x="711327" y="152399"/>
                </a:lnTo>
                <a:lnTo>
                  <a:pt x="787527" y="114299"/>
                </a:lnTo>
                <a:lnTo>
                  <a:pt x="711327" y="76199"/>
                </a:lnTo>
                <a:close/>
              </a:path>
            </a:pathLst>
          </a:custGeom>
          <a:solidFill>
            <a:srgbClr val="FF0000"/>
          </a:solidFill>
        </p:spPr>
        <p:txBody>
          <a:bodyPr wrap="square" lIns="0" tIns="0" rIns="0" bIns="0" rtlCol="0"/>
          <a:lstStyle/>
          <a:p>
            <a:endParaRPr/>
          </a:p>
        </p:txBody>
      </p:sp>
      <p:sp>
        <p:nvSpPr>
          <p:cNvPr id="21" name="object 21"/>
          <p:cNvSpPr txBox="1"/>
          <p:nvPr/>
        </p:nvSpPr>
        <p:spPr>
          <a:xfrm>
            <a:off x="7305293" y="2568701"/>
            <a:ext cx="3263265" cy="607060"/>
          </a:xfrm>
          <a:prstGeom prst="rect">
            <a:avLst/>
          </a:prstGeom>
          <a:ln w="38100">
            <a:solidFill>
              <a:srgbClr val="E34A46"/>
            </a:solidFill>
          </a:ln>
        </p:spPr>
        <p:txBody>
          <a:bodyPr vert="horz" wrap="square" lIns="0" tIns="0" rIns="0" bIns="0" rtlCol="0">
            <a:spAutoFit/>
          </a:bodyPr>
          <a:lstStyle/>
          <a:p>
            <a:pPr marL="490220">
              <a:lnSpc>
                <a:spcPct val="100000"/>
              </a:lnSpc>
            </a:pPr>
            <a:r>
              <a:rPr sz="2400" b="1" spc="-5" dirty="0">
                <a:solidFill>
                  <a:srgbClr val="252525"/>
                </a:solidFill>
                <a:latin typeface="微软雅黑"/>
                <a:cs typeface="微软雅黑"/>
              </a:rPr>
              <a:t>H</a:t>
            </a:r>
            <a:r>
              <a:rPr sz="2400" b="1" spc="-10" dirty="0">
                <a:solidFill>
                  <a:srgbClr val="252525"/>
                </a:solidFill>
                <a:latin typeface="微软雅黑"/>
                <a:cs typeface="微软雅黑"/>
              </a:rPr>
              <a:t>A</a:t>
            </a:r>
            <a:r>
              <a:rPr sz="2400" b="1" dirty="0">
                <a:solidFill>
                  <a:srgbClr val="252525"/>
                </a:solidFill>
                <a:latin typeface="微软雅黑"/>
                <a:cs typeface="微软雅黑"/>
              </a:rPr>
              <a:t>L_P</a:t>
            </a:r>
            <a:r>
              <a:rPr sz="2400" b="1" spc="-15" dirty="0">
                <a:solidFill>
                  <a:srgbClr val="252525"/>
                </a:solidFill>
                <a:latin typeface="微软雅黑"/>
                <a:cs typeface="微软雅黑"/>
              </a:rPr>
              <a:t>P</a:t>
            </a:r>
            <a:r>
              <a:rPr sz="2400" b="1" spc="-5" dirty="0">
                <a:solidFill>
                  <a:srgbClr val="252525"/>
                </a:solidFill>
                <a:latin typeface="微软雅黑"/>
                <a:cs typeface="微软雅黑"/>
              </a:rPr>
              <a:t>P_Ini</a:t>
            </a:r>
            <a:r>
              <a:rPr sz="2400" b="1" spc="5" dirty="0">
                <a:solidFill>
                  <a:srgbClr val="252525"/>
                </a:solidFill>
                <a:latin typeface="微软雅黑"/>
                <a:cs typeface="微软雅黑"/>
              </a:rPr>
              <a:t>t</a:t>
            </a:r>
            <a:r>
              <a:rPr sz="2400" b="1" spc="-5" dirty="0">
                <a:solidFill>
                  <a:srgbClr val="252525"/>
                </a:solidFill>
                <a:latin typeface="微软雅黑"/>
                <a:cs typeface="微软雅黑"/>
              </a:rPr>
              <a:t>()</a:t>
            </a:r>
            <a:endParaRPr sz="2400">
              <a:latin typeface="微软雅黑"/>
              <a:cs typeface="微软雅黑"/>
            </a:endParaRPr>
          </a:p>
        </p:txBody>
      </p:sp>
      <p:sp>
        <p:nvSpPr>
          <p:cNvPr id="22" name="object 22"/>
          <p:cNvSpPr txBox="1"/>
          <p:nvPr/>
        </p:nvSpPr>
        <p:spPr>
          <a:xfrm>
            <a:off x="7305293" y="3455670"/>
            <a:ext cx="3263265" cy="607060"/>
          </a:xfrm>
          <a:prstGeom prst="rect">
            <a:avLst/>
          </a:prstGeom>
          <a:ln w="38100">
            <a:solidFill>
              <a:srgbClr val="E34A46"/>
            </a:solidFill>
          </a:ln>
        </p:spPr>
        <p:txBody>
          <a:bodyPr vert="horz" wrap="square" lIns="0" tIns="0" rIns="0" bIns="0" rtlCol="0">
            <a:spAutoFit/>
          </a:bodyPr>
          <a:lstStyle/>
          <a:p>
            <a:pPr marL="152400">
              <a:lnSpc>
                <a:spcPct val="100000"/>
              </a:lnSpc>
            </a:pPr>
            <a:r>
              <a:rPr sz="2400" b="1" spc="-5" dirty="0">
                <a:solidFill>
                  <a:srgbClr val="252525"/>
                </a:solidFill>
                <a:latin typeface="微软雅黑"/>
                <a:cs typeface="微软雅黑"/>
              </a:rPr>
              <a:t>H</a:t>
            </a:r>
            <a:r>
              <a:rPr sz="2400" b="1" spc="-10" dirty="0">
                <a:solidFill>
                  <a:srgbClr val="252525"/>
                </a:solidFill>
                <a:latin typeface="微软雅黑"/>
                <a:cs typeface="微软雅黑"/>
              </a:rPr>
              <a:t>A</a:t>
            </a:r>
            <a:r>
              <a:rPr sz="2400" b="1" dirty="0">
                <a:solidFill>
                  <a:srgbClr val="252525"/>
                </a:solidFill>
                <a:latin typeface="微软雅黑"/>
                <a:cs typeface="微软雅黑"/>
              </a:rPr>
              <a:t>L_P</a:t>
            </a:r>
            <a:r>
              <a:rPr sz="2400" b="1" spc="-15" dirty="0">
                <a:solidFill>
                  <a:srgbClr val="252525"/>
                </a:solidFill>
                <a:latin typeface="微软雅黑"/>
                <a:cs typeface="微软雅黑"/>
              </a:rPr>
              <a:t>P</a:t>
            </a:r>
            <a:r>
              <a:rPr sz="2400" b="1" spc="-5" dirty="0">
                <a:solidFill>
                  <a:srgbClr val="252525"/>
                </a:solidFill>
                <a:latin typeface="微软雅黑"/>
                <a:cs typeface="微软雅黑"/>
              </a:rPr>
              <a:t>P</a:t>
            </a:r>
            <a:r>
              <a:rPr sz="2400" b="1" spc="5" dirty="0">
                <a:solidFill>
                  <a:srgbClr val="252525"/>
                </a:solidFill>
                <a:latin typeface="微软雅黑"/>
                <a:cs typeface="微软雅黑"/>
              </a:rPr>
              <a:t>_</a:t>
            </a:r>
            <a:r>
              <a:rPr sz="2400" b="1" spc="-5" dirty="0">
                <a:solidFill>
                  <a:srgbClr val="252525"/>
                </a:solidFill>
                <a:latin typeface="微软雅黑"/>
                <a:cs typeface="微软雅黑"/>
              </a:rPr>
              <a:t>M</a:t>
            </a:r>
            <a:r>
              <a:rPr sz="2400" b="1" spc="5" dirty="0">
                <a:solidFill>
                  <a:srgbClr val="252525"/>
                </a:solidFill>
                <a:latin typeface="微软雅黑"/>
                <a:cs typeface="微软雅黑"/>
              </a:rPr>
              <a:t>s</a:t>
            </a:r>
            <a:r>
              <a:rPr sz="2400" b="1" dirty="0">
                <a:solidFill>
                  <a:srgbClr val="252525"/>
                </a:solidFill>
                <a:latin typeface="微软雅黑"/>
                <a:cs typeface="微软雅黑"/>
              </a:rPr>
              <a:t>p</a:t>
            </a:r>
            <a:r>
              <a:rPr sz="2400" b="1" spc="-20" dirty="0">
                <a:solidFill>
                  <a:srgbClr val="252525"/>
                </a:solidFill>
                <a:latin typeface="微软雅黑"/>
                <a:cs typeface="微软雅黑"/>
              </a:rPr>
              <a:t>I</a:t>
            </a:r>
            <a:r>
              <a:rPr sz="2400" b="1" dirty="0">
                <a:solidFill>
                  <a:srgbClr val="252525"/>
                </a:solidFill>
                <a:latin typeface="微软雅黑"/>
                <a:cs typeface="微软雅黑"/>
              </a:rPr>
              <a:t>ni</a:t>
            </a:r>
            <a:r>
              <a:rPr sz="2400" b="1" spc="10" dirty="0">
                <a:solidFill>
                  <a:srgbClr val="252525"/>
                </a:solidFill>
                <a:latin typeface="微软雅黑"/>
                <a:cs typeface="微软雅黑"/>
              </a:rPr>
              <a:t>t</a:t>
            </a:r>
            <a:r>
              <a:rPr sz="2400" b="1" spc="-5" dirty="0">
                <a:solidFill>
                  <a:srgbClr val="252525"/>
                </a:solidFill>
                <a:latin typeface="微软雅黑"/>
                <a:cs typeface="微软雅黑"/>
              </a:rPr>
              <a:t>()</a:t>
            </a:r>
            <a:endParaRPr sz="2400">
              <a:latin typeface="微软雅黑"/>
              <a:cs typeface="微软雅黑"/>
            </a:endParaRPr>
          </a:p>
        </p:txBody>
      </p:sp>
      <p:sp>
        <p:nvSpPr>
          <p:cNvPr id="23" name="object 23"/>
          <p:cNvSpPr txBox="1"/>
          <p:nvPr/>
        </p:nvSpPr>
        <p:spPr>
          <a:xfrm>
            <a:off x="1221486" y="4466082"/>
            <a:ext cx="9751060" cy="1051560"/>
          </a:xfrm>
          <a:prstGeom prst="rect">
            <a:avLst/>
          </a:prstGeom>
          <a:ln w="38100">
            <a:solidFill>
              <a:srgbClr val="E34A46"/>
            </a:solidFill>
          </a:ln>
        </p:spPr>
        <p:txBody>
          <a:bodyPr vert="horz" wrap="square" lIns="0" tIns="0" rIns="0" bIns="0" rtlCol="0">
            <a:spAutoFit/>
          </a:bodyPr>
          <a:lstStyle/>
          <a:p>
            <a:pPr marL="323215">
              <a:lnSpc>
                <a:spcPct val="100000"/>
              </a:lnSpc>
            </a:pPr>
            <a:r>
              <a:rPr sz="2400" b="1" dirty="0">
                <a:solidFill>
                  <a:srgbClr val="FF0000"/>
                </a:solidFill>
                <a:latin typeface="微软雅黑"/>
                <a:cs typeface="微软雅黑"/>
              </a:rPr>
              <a:t>抽象</a:t>
            </a:r>
            <a:r>
              <a:rPr sz="2400" b="1" spc="-5" dirty="0">
                <a:solidFill>
                  <a:srgbClr val="FF0000"/>
                </a:solidFill>
                <a:latin typeface="微软雅黑"/>
                <a:cs typeface="微软雅黑"/>
              </a:rPr>
              <a:t>：</a:t>
            </a:r>
            <a:r>
              <a:rPr sz="2400" b="1" spc="-5" dirty="0">
                <a:latin typeface="微软雅黑"/>
                <a:cs typeface="微软雅黑"/>
              </a:rPr>
              <a:t>指与</a:t>
            </a:r>
            <a:r>
              <a:rPr sz="2400" b="1" dirty="0">
                <a:latin typeface="微软雅黑"/>
                <a:cs typeface="微软雅黑"/>
              </a:rPr>
              <a:t>MC</a:t>
            </a:r>
            <a:r>
              <a:rPr sz="2400" b="1" spc="-5" dirty="0">
                <a:latin typeface="微软雅黑"/>
                <a:cs typeface="微软雅黑"/>
              </a:rPr>
              <a:t>U</a:t>
            </a:r>
            <a:r>
              <a:rPr sz="2400" b="1" dirty="0">
                <a:latin typeface="微软雅黑"/>
                <a:cs typeface="微软雅黑"/>
              </a:rPr>
              <a:t>无</a:t>
            </a:r>
            <a:r>
              <a:rPr sz="2400" b="1" spc="-15" dirty="0">
                <a:latin typeface="微软雅黑"/>
                <a:cs typeface="微软雅黑"/>
              </a:rPr>
              <a:t>关</a:t>
            </a:r>
            <a:r>
              <a:rPr sz="2400" b="1" dirty="0">
                <a:latin typeface="微软雅黑"/>
                <a:cs typeface="微软雅黑"/>
              </a:rPr>
              <a:t>的参数，比如串口通信中的数据位数、波特率。</a:t>
            </a:r>
            <a:endParaRPr sz="2400">
              <a:latin typeface="微软雅黑"/>
              <a:cs typeface="微软雅黑"/>
            </a:endParaRPr>
          </a:p>
          <a:p>
            <a:pPr marL="323215">
              <a:lnSpc>
                <a:spcPct val="100000"/>
              </a:lnSpc>
              <a:spcBef>
                <a:spcPts val="1440"/>
              </a:spcBef>
            </a:pPr>
            <a:r>
              <a:rPr sz="2400" b="1" dirty="0">
                <a:latin typeface="微软雅黑"/>
                <a:cs typeface="微软雅黑"/>
              </a:rPr>
              <a:t>这些参数属于通用配置，与使用什么样</a:t>
            </a:r>
            <a:r>
              <a:rPr sz="2400" b="1" spc="-35" dirty="0">
                <a:latin typeface="微软雅黑"/>
                <a:cs typeface="微软雅黑"/>
              </a:rPr>
              <a:t>的</a:t>
            </a:r>
            <a:r>
              <a:rPr sz="2400" b="1" dirty="0">
                <a:latin typeface="微软雅黑"/>
                <a:cs typeface="微软雅黑"/>
              </a:rPr>
              <a:t>MC</a:t>
            </a:r>
            <a:r>
              <a:rPr sz="2400" b="1" spc="-5" dirty="0">
                <a:latin typeface="微软雅黑"/>
                <a:cs typeface="微软雅黑"/>
              </a:rPr>
              <a:t>U</a:t>
            </a:r>
            <a:r>
              <a:rPr sz="2400" b="1" dirty="0">
                <a:latin typeface="微软雅黑"/>
                <a:cs typeface="微软雅黑"/>
              </a:rPr>
              <a:t>无关。</a:t>
            </a:r>
            <a:endParaRPr sz="2400">
              <a:latin typeface="微软雅黑"/>
              <a:cs typeface="微软雅黑"/>
            </a:endParaRPr>
          </a:p>
        </p:txBody>
      </p:sp>
      <p:sp>
        <p:nvSpPr>
          <p:cNvPr id="24" name="object 24"/>
          <p:cNvSpPr/>
          <p:nvPr/>
        </p:nvSpPr>
        <p:spPr>
          <a:xfrm>
            <a:off x="1219961" y="5651753"/>
            <a:ext cx="9751060" cy="1050290"/>
          </a:xfrm>
          <a:custGeom>
            <a:avLst/>
            <a:gdLst/>
            <a:ahLst/>
            <a:cxnLst/>
            <a:rect l="l" t="t" r="r" b="b"/>
            <a:pathLst>
              <a:path w="9751060" h="1050290">
                <a:moveTo>
                  <a:pt x="0" y="1050036"/>
                </a:moveTo>
                <a:lnTo>
                  <a:pt x="9750552" y="1050036"/>
                </a:lnTo>
                <a:lnTo>
                  <a:pt x="9750552" y="0"/>
                </a:lnTo>
                <a:lnTo>
                  <a:pt x="0" y="0"/>
                </a:lnTo>
                <a:lnTo>
                  <a:pt x="0" y="1050036"/>
                </a:lnTo>
                <a:close/>
              </a:path>
            </a:pathLst>
          </a:custGeom>
          <a:ln w="38100">
            <a:solidFill>
              <a:srgbClr val="E34A46"/>
            </a:solidFill>
          </a:ln>
        </p:spPr>
        <p:txBody>
          <a:bodyPr wrap="square" lIns="0" tIns="0" rIns="0" bIns="0" rtlCol="0"/>
          <a:lstStyle/>
          <a:p>
            <a:endParaRPr/>
          </a:p>
        </p:txBody>
      </p:sp>
      <p:sp>
        <p:nvSpPr>
          <p:cNvPr id="25" name="object 25"/>
          <p:cNvSpPr txBox="1"/>
          <p:nvPr/>
        </p:nvSpPr>
        <p:spPr>
          <a:xfrm>
            <a:off x="1549400" y="5767922"/>
            <a:ext cx="9337675" cy="879475"/>
          </a:xfrm>
          <a:prstGeom prst="rect">
            <a:avLst/>
          </a:prstGeom>
        </p:spPr>
        <p:txBody>
          <a:bodyPr vert="horz" wrap="square" lIns="0" tIns="0" rIns="0" bIns="0" rtlCol="0">
            <a:spAutoFit/>
          </a:bodyPr>
          <a:lstStyle/>
          <a:p>
            <a:pPr marL="12700">
              <a:lnSpc>
                <a:spcPct val="100000"/>
              </a:lnSpc>
            </a:pPr>
            <a:r>
              <a:rPr sz="2400" b="1" dirty="0">
                <a:solidFill>
                  <a:srgbClr val="FF0000"/>
                </a:solidFill>
                <a:latin typeface="微软雅黑"/>
                <a:cs typeface="微软雅黑"/>
              </a:rPr>
              <a:t>承载：</a:t>
            </a:r>
            <a:r>
              <a:rPr sz="2400" b="1" dirty="0">
                <a:latin typeface="微软雅黑"/>
                <a:cs typeface="微软雅黑"/>
              </a:rPr>
              <a:t>指与具体MC</a:t>
            </a:r>
            <a:r>
              <a:rPr sz="2400" b="1" spc="-5" dirty="0">
                <a:latin typeface="微软雅黑"/>
                <a:cs typeface="微软雅黑"/>
              </a:rPr>
              <a:t>U</a:t>
            </a:r>
            <a:r>
              <a:rPr sz="2400" b="1" dirty="0">
                <a:latin typeface="微软雅黑"/>
                <a:cs typeface="微软雅黑"/>
              </a:rPr>
              <a:t>相关的初始化，将抽象的串口在具体</a:t>
            </a:r>
            <a:r>
              <a:rPr sz="2400" b="1" spc="5" dirty="0">
                <a:latin typeface="微软雅黑"/>
                <a:cs typeface="微软雅黑"/>
              </a:rPr>
              <a:t>的</a:t>
            </a:r>
            <a:r>
              <a:rPr sz="2400" b="1" dirty="0">
                <a:latin typeface="微软雅黑"/>
                <a:cs typeface="微软雅黑"/>
              </a:rPr>
              <a:t>MCU</a:t>
            </a:r>
            <a:endParaRPr sz="2400">
              <a:latin typeface="微软雅黑"/>
              <a:cs typeface="微软雅黑"/>
            </a:endParaRPr>
          </a:p>
          <a:p>
            <a:pPr marL="12700">
              <a:lnSpc>
                <a:spcPct val="100000"/>
              </a:lnSpc>
              <a:spcBef>
                <a:spcPts val="1440"/>
              </a:spcBef>
            </a:pPr>
            <a:r>
              <a:rPr sz="2400" b="1" spc="-5" dirty="0">
                <a:latin typeface="微软雅黑"/>
                <a:cs typeface="微软雅黑"/>
              </a:rPr>
              <a:t>上实现，完成时钟、引脚、</a:t>
            </a:r>
            <a:r>
              <a:rPr sz="2400" b="1" spc="-45" dirty="0">
                <a:latin typeface="微软雅黑"/>
                <a:cs typeface="微软雅黑"/>
              </a:rPr>
              <a:t>D</a:t>
            </a:r>
            <a:r>
              <a:rPr sz="2400" b="1" dirty="0">
                <a:latin typeface="微软雅黑"/>
                <a:cs typeface="微软雅黑"/>
              </a:rPr>
              <a:t>A</a:t>
            </a:r>
            <a:r>
              <a:rPr sz="2400" b="1" spc="-15" dirty="0">
                <a:latin typeface="微软雅黑"/>
                <a:cs typeface="微软雅黑"/>
              </a:rPr>
              <a:t>M</a:t>
            </a:r>
            <a:r>
              <a:rPr sz="2400" b="1" spc="-5" dirty="0">
                <a:latin typeface="微软雅黑"/>
                <a:cs typeface="微软雅黑"/>
              </a:rPr>
              <a:t>数据流和中断等底层硬件的初始化。</a:t>
            </a:r>
            <a:endParaRPr sz="2400">
              <a:latin typeface="微软雅黑"/>
              <a:cs typeface="微软雅黑"/>
            </a:endParaRPr>
          </a:p>
        </p:txBody>
      </p:sp>
      <p:sp>
        <p:nvSpPr>
          <p:cNvPr id="26" name="object 26"/>
          <p:cNvSpPr/>
          <p:nvPr/>
        </p:nvSpPr>
        <p:spPr>
          <a:xfrm>
            <a:off x="2900933" y="2451354"/>
            <a:ext cx="7931150" cy="850900"/>
          </a:xfrm>
          <a:custGeom>
            <a:avLst/>
            <a:gdLst/>
            <a:ahLst/>
            <a:cxnLst/>
            <a:rect l="l" t="t" r="r" b="b"/>
            <a:pathLst>
              <a:path w="7931150" h="850900">
                <a:moveTo>
                  <a:pt x="0" y="850391"/>
                </a:moveTo>
                <a:lnTo>
                  <a:pt x="7930896" y="850391"/>
                </a:lnTo>
                <a:lnTo>
                  <a:pt x="7930896" y="0"/>
                </a:lnTo>
                <a:lnTo>
                  <a:pt x="0" y="0"/>
                </a:lnTo>
                <a:lnTo>
                  <a:pt x="0" y="850391"/>
                </a:lnTo>
                <a:close/>
              </a:path>
            </a:pathLst>
          </a:custGeom>
          <a:ln w="38100">
            <a:solidFill>
              <a:srgbClr val="0066FF"/>
            </a:solidFill>
            <a:prstDash val="lgDash"/>
          </a:ln>
        </p:spPr>
        <p:txBody>
          <a:bodyPr wrap="square" lIns="0" tIns="0" rIns="0" bIns="0" rtlCol="0"/>
          <a:lstStyle/>
          <a:p>
            <a:endParaRPr/>
          </a:p>
        </p:txBody>
      </p:sp>
      <p:sp>
        <p:nvSpPr>
          <p:cNvPr id="27" name="object 27"/>
          <p:cNvSpPr/>
          <p:nvPr/>
        </p:nvSpPr>
        <p:spPr>
          <a:xfrm>
            <a:off x="2900933" y="3387090"/>
            <a:ext cx="7931150" cy="850900"/>
          </a:xfrm>
          <a:custGeom>
            <a:avLst/>
            <a:gdLst/>
            <a:ahLst/>
            <a:cxnLst/>
            <a:rect l="l" t="t" r="r" b="b"/>
            <a:pathLst>
              <a:path w="7931150" h="850900">
                <a:moveTo>
                  <a:pt x="0" y="850392"/>
                </a:moveTo>
                <a:lnTo>
                  <a:pt x="7930896" y="850392"/>
                </a:lnTo>
                <a:lnTo>
                  <a:pt x="7930896" y="0"/>
                </a:lnTo>
                <a:lnTo>
                  <a:pt x="0" y="0"/>
                </a:lnTo>
                <a:lnTo>
                  <a:pt x="0" y="850392"/>
                </a:lnTo>
                <a:close/>
              </a:path>
            </a:pathLst>
          </a:custGeom>
          <a:ln w="38100">
            <a:solidFill>
              <a:srgbClr val="0066FF"/>
            </a:solidFill>
            <a:prstDash val="lgDash"/>
          </a:ln>
        </p:spPr>
        <p:txBody>
          <a:bodyPr wrap="square" lIns="0" tIns="0" rIns="0" bIns="0" rtlCol="0"/>
          <a:lstStyle/>
          <a:p>
            <a:endParaRPr/>
          </a:p>
        </p:txBody>
      </p:sp>
    </p:spTree>
    <p:extLst>
      <p:ext uri="{BB962C8B-B14F-4D97-AF65-F5344CB8AC3E}">
        <p14:creationId xmlns:p14="http://schemas.microsoft.com/office/powerpoint/2010/main" val="423413725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200133" y="6608820"/>
            <a:ext cx="2796540" cy="177800"/>
          </a:xfrm>
          <a:prstGeom prst="rect">
            <a:avLst/>
          </a:prstGeom>
        </p:spPr>
        <p:txBody>
          <a:bodyPr vert="horz" wrap="square" lIns="0" tIns="0" rIns="0" bIns="0" rtlCol="0">
            <a:spAutoFit/>
          </a:bodyPr>
          <a:lstStyle/>
          <a:p>
            <a:pPr marL="12700">
              <a:lnSpc>
                <a:spcPct val="100000"/>
              </a:lnSpc>
            </a:pPr>
            <a:r>
              <a:rPr sz="1200" b="1" spc="-5" dirty="0">
                <a:solidFill>
                  <a:srgbClr val="FFFFFF"/>
                </a:solidFill>
                <a:latin typeface="微软雅黑"/>
                <a:cs typeface="微软雅黑"/>
              </a:rPr>
              <a:t>--</a:t>
            </a:r>
            <a:r>
              <a:rPr sz="1200" b="1" spc="5" dirty="0">
                <a:solidFill>
                  <a:srgbClr val="FFFFFF"/>
                </a:solidFill>
                <a:latin typeface="微软雅黑"/>
                <a:cs typeface="微软雅黑"/>
              </a:rPr>
              <a:t> </a:t>
            </a:r>
            <a:r>
              <a:rPr sz="1200" b="1" dirty="0">
                <a:solidFill>
                  <a:srgbClr val="FFFFFF"/>
                </a:solidFill>
                <a:latin typeface="微软雅黑"/>
                <a:cs typeface="微软雅黑"/>
              </a:rPr>
              <a:t>南昌大学“卓越”辅导员培养工程建设</a:t>
            </a:r>
            <a:endParaRPr sz="1200">
              <a:latin typeface="微软雅黑"/>
              <a:cs typeface="微软雅黑"/>
            </a:endParaRPr>
          </a:p>
        </p:txBody>
      </p:sp>
      <p:sp>
        <p:nvSpPr>
          <p:cNvPr id="3" name="object 3"/>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4" name="object 4"/>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5" name="object 5"/>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7" name="object 7"/>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9" name="object 9"/>
          <p:cNvSpPr txBox="1"/>
          <p:nvPr/>
        </p:nvSpPr>
        <p:spPr>
          <a:xfrm>
            <a:off x="263753" y="1165722"/>
            <a:ext cx="15494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串口初始化</a:t>
            </a:r>
            <a:endParaRPr sz="2400">
              <a:latin typeface="微软雅黑"/>
              <a:cs typeface="微软雅黑"/>
            </a:endParaRPr>
          </a:p>
        </p:txBody>
      </p:sp>
      <p:sp>
        <p:nvSpPr>
          <p:cNvPr id="10" name="object 10"/>
          <p:cNvSpPr txBox="1"/>
          <p:nvPr/>
        </p:nvSpPr>
        <p:spPr>
          <a:xfrm>
            <a:off x="2385441" y="389881"/>
            <a:ext cx="668655" cy="254000"/>
          </a:xfrm>
          <a:prstGeom prst="rect">
            <a:avLst/>
          </a:prstGeom>
        </p:spPr>
        <p:txBody>
          <a:bodyPr vert="horz" wrap="square" lIns="0" tIns="0" rIns="0" bIns="0" rtlCol="0">
            <a:spAutoFit/>
          </a:bodyPr>
          <a:lstStyle/>
          <a:p>
            <a:pPr marL="12700">
              <a:lnSpc>
                <a:spcPct val="100000"/>
              </a:lnSpc>
            </a:pPr>
            <a:r>
              <a:rPr sz="1800" b="1" spc="-45" dirty="0">
                <a:solidFill>
                  <a:srgbClr val="252525"/>
                </a:solidFill>
                <a:latin typeface="微软雅黑"/>
                <a:cs typeface="微软雅黑"/>
              </a:rPr>
              <a:t>U</a:t>
            </a:r>
            <a:r>
              <a:rPr sz="1800" b="1" dirty="0">
                <a:solidFill>
                  <a:srgbClr val="252525"/>
                </a:solidFill>
                <a:latin typeface="微软雅黑"/>
                <a:cs typeface="微软雅黑"/>
              </a:rPr>
              <a:t>A</a:t>
            </a:r>
            <a:r>
              <a:rPr sz="1800" b="1" spc="-35" dirty="0">
                <a:solidFill>
                  <a:srgbClr val="252525"/>
                </a:solidFill>
                <a:latin typeface="微软雅黑"/>
                <a:cs typeface="微软雅黑"/>
              </a:rPr>
              <a:t>R</a:t>
            </a:r>
            <a:r>
              <a:rPr sz="1800" b="1" dirty="0">
                <a:solidFill>
                  <a:srgbClr val="252525"/>
                </a:solidFill>
                <a:latin typeface="微软雅黑"/>
                <a:cs typeface="微软雅黑"/>
              </a:rPr>
              <a:t>T</a:t>
            </a:r>
            <a:endParaRPr sz="1800">
              <a:latin typeface="微软雅黑"/>
              <a:cs typeface="微软雅黑"/>
            </a:endParaRPr>
          </a:p>
        </p:txBody>
      </p:sp>
      <p:sp>
        <p:nvSpPr>
          <p:cNvPr id="11" name="object 11"/>
          <p:cNvSpPr txBox="1">
            <a:spLocks noGrp="1"/>
          </p:cNvSpPr>
          <p:nvPr>
            <p:ph type="title"/>
          </p:nvPr>
        </p:nvSpPr>
        <p:spPr>
          <a:prstGeom prst="rect">
            <a:avLst/>
          </a:prstGeom>
        </p:spPr>
        <p:txBody>
          <a:bodyPr vert="horz" wrap="square" lIns="0" tIns="0" rIns="0" bIns="0" rtlCol="0">
            <a:spAutoFit/>
          </a:bodyPr>
          <a:lstStyle/>
          <a:p>
            <a:pPr marL="1651000">
              <a:lnSpc>
                <a:spcPct val="100000"/>
              </a:lnSpc>
            </a:pPr>
            <a:r>
              <a:rPr spc="-5" dirty="0"/>
              <a:t>串口初始化过程</a:t>
            </a:r>
          </a:p>
        </p:txBody>
      </p:sp>
      <p:sp>
        <p:nvSpPr>
          <p:cNvPr id="12" name="object 12"/>
          <p:cNvSpPr txBox="1"/>
          <p:nvPr/>
        </p:nvSpPr>
        <p:spPr>
          <a:xfrm>
            <a:off x="4186428" y="1787651"/>
            <a:ext cx="3581400" cy="462280"/>
          </a:xfrm>
          <a:prstGeom prst="rect">
            <a:avLst/>
          </a:prstGeom>
          <a:solidFill>
            <a:srgbClr val="00AFEF"/>
          </a:solidFill>
        </p:spPr>
        <p:txBody>
          <a:bodyPr vert="horz" wrap="square" lIns="0" tIns="0" rIns="0" bIns="0" rtlCol="0">
            <a:spAutoFit/>
          </a:bodyPr>
          <a:lstStyle/>
          <a:p>
            <a:pPr marL="110489">
              <a:lnSpc>
                <a:spcPct val="100000"/>
              </a:lnSpc>
            </a:pPr>
            <a:r>
              <a:rPr sz="2400" b="1" spc="-5" dirty="0">
                <a:solidFill>
                  <a:srgbClr val="FFFFFF"/>
                </a:solidFill>
                <a:latin typeface="微软雅黑"/>
                <a:cs typeface="微软雅黑"/>
              </a:rPr>
              <a:t>H</a:t>
            </a:r>
            <a:r>
              <a:rPr sz="2400" b="1" spc="-15" dirty="0">
                <a:solidFill>
                  <a:srgbClr val="FFFFFF"/>
                </a:solidFill>
                <a:latin typeface="微软雅黑"/>
                <a:cs typeface="微软雅黑"/>
              </a:rPr>
              <a:t>A</a:t>
            </a:r>
            <a:r>
              <a:rPr sz="2400" b="1" dirty="0">
                <a:solidFill>
                  <a:srgbClr val="FFFFFF"/>
                </a:solidFill>
                <a:latin typeface="微软雅黑"/>
                <a:cs typeface="微软雅黑"/>
              </a:rPr>
              <a:t>L_</a:t>
            </a:r>
            <a:r>
              <a:rPr sz="2400" b="1" spc="-70" dirty="0">
                <a:solidFill>
                  <a:srgbClr val="FFFFFF"/>
                </a:solidFill>
                <a:latin typeface="微软雅黑"/>
                <a:cs typeface="微软雅黑"/>
              </a:rPr>
              <a:t>U</a:t>
            </a:r>
            <a:r>
              <a:rPr sz="2400" b="1" dirty="0">
                <a:solidFill>
                  <a:srgbClr val="FFFFFF"/>
                </a:solidFill>
                <a:latin typeface="微软雅黑"/>
                <a:cs typeface="微软雅黑"/>
              </a:rPr>
              <a:t>A</a:t>
            </a:r>
            <a:r>
              <a:rPr sz="2400" b="1" spc="-55" dirty="0">
                <a:solidFill>
                  <a:srgbClr val="FFFFFF"/>
                </a:solidFill>
                <a:latin typeface="微软雅黑"/>
                <a:cs typeface="微软雅黑"/>
              </a:rPr>
              <a:t>R</a:t>
            </a:r>
            <a:r>
              <a:rPr sz="2400" b="1" spc="-5" dirty="0">
                <a:solidFill>
                  <a:srgbClr val="FFFFFF"/>
                </a:solidFill>
                <a:latin typeface="微软雅黑"/>
                <a:cs typeface="微软雅黑"/>
              </a:rPr>
              <a:t>T_Ini</a:t>
            </a:r>
            <a:r>
              <a:rPr sz="2400" b="1" spc="5" dirty="0">
                <a:solidFill>
                  <a:srgbClr val="FFFFFF"/>
                </a:solidFill>
                <a:latin typeface="微软雅黑"/>
                <a:cs typeface="微软雅黑"/>
              </a:rPr>
              <a:t>t</a:t>
            </a:r>
            <a:r>
              <a:rPr sz="2400" b="1" dirty="0">
                <a:solidFill>
                  <a:srgbClr val="FFFFFF"/>
                </a:solidFill>
                <a:latin typeface="微软雅黑"/>
                <a:cs typeface="微软雅黑"/>
              </a:rPr>
              <a:t>()</a:t>
            </a:r>
            <a:r>
              <a:rPr sz="2400" b="1" spc="-10" dirty="0">
                <a:solidFill>
                  <a:srgbClr val="FFFFFF"/>
                </a:solidFill>
                <a:latin typeface="微软雅黑"/>
                <a:cs typeface="微软雅黑"/>
              </a:rPr>
              <a:t> </a:t>
            </a:r>
            <a:r>
              <a:rPr sz="2400" b="1" spc="-80" dirty="0">
                <a:solidFill>
                  <a:srgbClr val="FFFFFF"/>
                </a:solidFill>
                <a:latin typeface="微软雅黑"/>
                <a:cs typeface="微软雅黑"/>
              </a:rPr>
              <a:t>S</a:t>
            </a:r>
            <a:r>
              <a:rPr sz="2400" b="1" spc="-5" dirty="0">
                <a:solidFill>
                  <a:srgbClr val="FFFFFF"/>
                </a:solidFill>
                <a:latin typeface="微软雅黑"/>
                <a:cs typeface="微软雅黑"/>
              </a:rPr>
              <a:t>ta</a:t>
            </a:r>
            <a:r>
              <a:rPr sz="2400" b="1" spc="75" dirty="0">
                <a:solidFill>
                  <a:srgbClr val="FFFFFF"/>
                </a:solidFill>
                <a:latin typeface="微软雅黑"/>
                <a:cs typeface="微软雅黑"/>
              </a:rPr>
              <a:t>r</a:t>
            </a:r>
            <a:r>
              <a:rPr sz="2400" b="1" dirty="0">
                <a:solidFill>
                  <a:srgbClr val="FFFFFF"/>
                </a:solidFill>
                <a:latin typeface="微软雅黑"/>
                <a:cs typeface="微软雅黑"/>
              </a:rPr>
              <a:t>t</a:t>
            </a:r>
            <a:endParaRPr sz="2400">
              <a:latin typeface="微软雅黑"/>
              <a:cs typeface="微软雅黑"/>
            </a:endParaRPr>
          </a:p>
        </p:txBody>
      </p:sp>
      <p:sp>
        <p:nvSpPr>
          <p:cNvPr id="13" name="object 13"/>
          <p:cNvSpPr/>
          <p:nvPr/>
        </p:nvSpPr>
        <p:spPr>
          <a:xfrm>
            <a:off x="5410200" y="2250948"/>
            <a:ext cx="649224" cy="419100"/>
          </a:xfrm>
          <a:prstGeom prst="rect">
            <a:avLst/>
          </a:prstGeom>
          <a:blipFill>
            <a:blip r:embed="rId4" cstate="print"/>
            <a:stretch>
              <a:fillRect/>
            </a:stretch>
          </a:blipFill>
        </p:spPr>
        <p:txBody>
          <a:bodyPr wrap="square" lIns="0" tIns="0" rIns="0" bIns="0" rtlCol="0"/>
          <a:lstStyle/>
          <a:p>
            <a:endParaRPr/>
          </a:p>
        </p:txBody>
      </p:sp>
      <p:sp>
        <p:nvSpPr>
          <p:cNvPr id="14" name="object 14"/>
          <p:cNvSpPr txBox="1"/>
          <p:nvPr/>
        </p:nvSpPr>
        <p:spPr>
          <a:xfrm>
            <a:off x="4460747" y="2662427"/>
            <a:ext cx="5503545" cy="462280"/>
          </a:xfrm>
          <a:prstGeom prst="rect">
            <a:avLst/>
          </a:prstGeom>
          <a:solidFill>
            <a:srgbClr val="00AFEF"/>
          </a:solidFill>
        </p:spPr>
        <p:txBody>
          <a:bodyPr vert="horz" wrap="square" lIns="0" tIns="0" rIns="0" bIns="0" rtlCol="0">
            <a:spAutoFit/>
          </a:bodyPr>
          <a:lstStyle/>
          <a:p>
            <a:pPr marL="161290">
              <a:lnSpc>
                <a:spcPct val="100000"/>
              </a:lnSpc>
            </a:pPr>
            <a:r>
              <a:rPr sz="2400" b="1" dirty="0">
                <a:solidFill>
                  <a:srgbClr val="FFFFFF"/>
                </a:solidFill>
                <a:latin typeface="微软雅黑"/>
                <a:cs typeface="微软雅黑"/>
              </a:rPr>
              <a:t>将句柄结构中的初始化参数存入寄存器</a:t>
            </a:r>
            <a:endParaRPr sz="2400">
              <a:latin typeface="微软雅黑"/>
              <a:cs typeface="微软雅黑"/>
            </a:endParaRPr>
          </a:p>
        </p:txBody>
      </p:sp>
      <p:sp>
        <p:nvSpPr>
          <p:cNvPr id="15" name="object 15"/>
          <p:cNvSpPr txBox="1"/>
          <p:nvPr/>
        </p:nvSpPr>
        <p:spPr>
          <a:xfrm>
            <a:off x="4884420" y="3523488"/>
            <a:ext cx="4307205" cy="462280"/>
          </a:xfrm>
          <a:prstGeom prst="rect">
            <a:avLst/>
          </a:prstGeom>
          <a:solidFill>
            <a:srgbClr val="00AFEF"/>
          </a:solidFill>
        </p:spPr>
        <p:txBody>
          <a:bodyPr vert="horz" wrap="square" lIns="0" tIns="0" rIns="0" bIns="0" rtlCol="0">
            <a:spAutoFit/>
          </a:bodyPr>
          <a:lstStyle/>
          <a:p>
            <a:pPr marL="139700">
              <a:lnSpc>
                <a:spcPct val="100000"/>
              </a:lnSpc>
            </a:pPr>
            <a:r>
              <a:rPr sz="2400" b="1" spc="-5" dirty="0">
                <a:solidFill>
                  <a:srgbClr val="FFFFFF"/>
                </a:solidFill>
                <a:latin typeface="微软雅黑"/>
                <a:cs typeface="微软雅黑"/>
              </a:rPr>
              <a:t>H</a:t>
            </a:r>
            <a:r>
              <a:rPr sz="2400" b="1" spc="-10" dirty="0">
                <a:solidFill>
                  <a:srgbClr val="FFFFFF"/>
                </a:solidFill>
                <a:latin typeface="微软雅黑"/>
                <a:cs typeface="微软雅黑"/>
              </a:rPr>
              <a:t>A</a:t>
            </a:r>
            <a:r>
              <a:rPr sz="2400" b="1" dirty="0">
                <a:solidFill>
                  <a:srgbClr val="FFFFFF"/>
                </a:solidFill>
                <a:latin typeface="微软雅黑"/>
                <a:cs typeface="微软雅黑"/>
              </a:rPr>
              <a:t>L_</a:t>
            </a:r>
            <a:r>
              <a:rPr sz="2400" b="1" spc="-65" dirty="0">
                <a:solidFill>
                  <a:srgbClr val="FFFFFF"/>
                </a:solidFill>
                <a:latin typeface="微软雅黑"/>
                <a:cs typeface="微软雅黑"/>
              </a:rPr>
              <a:t>U</a:t>
            </a:r>
            <a:r>
              <a:rPr sz="2400" b="1" dirty="0">
                <a:solidFill>
                  <a:srgbClr val="FFFFFF"/>
                </a:solidFill>
                <a:latin typeface="微软雅黑"/>
                <a:cs typeface="微软雅黑"/>
              </a:rPr>
              <a:t>A</a:t>
            </a:r>
            <a:r>
              <a:rPr sz="2400" b="1" spc="-50" dirty="0">
                <a:solidFill>
                  <a:srgbClr val="FFFFFF"/>
                </a:solidFill>
                <a:latin typeface="微软雅黑"/>
                <a:cs typeface="微软雅黑"/>
              </a:rPr>
              <a:t>R</a:t>
            </a:r>
            <a:r>
              <a:rPr sz="2400" b="1" spc="-5" dirty="0">
                <a:solidFill>
                  <a:srgbClr val="FFFFFF"/>
                </a:solidFill>
                <a:latin typeface="微软雅黑"/>
                <a:cs typeface="微软雅黑"/>
              </a:rPr>
              <a:t>T_</a:t>
            </a:r>
            <a:r>
              <a:rPr sz="2400" b="1" spc="5" dirty="0">
                <a:solidFill>
                  <a:srgbClr val="FFFFFF"/>
                </a:solidFill>
                <a:latin typeface="微软雅黑"/>
                <a:cs typeface="微软雅黑"/>
              </a:rPr>
              <a:t>M</a:t>
            </a:r>
            <a:r>
              <a:rPr sz="2400" b="1" dirty="0">
                <a:solidFill>
                  <a:srgbClr val="FFFFFF"/>
                </a:solidFill>
                <a:latin typeface="微软雅黑"/>
                <a:cs typeface="微软雅黑"/>
              </a:rPr>
              <a:t>spIni</a:t>
            </a:r>
            <a:r>
              <a:rPr sz="2400" b="1" spc="5" dirty="0">
                <a:solidFill>
                  <a:srgbClr val="FFFFFF"/>
                </a:solidFill>
                <a:latin typeface="微软雅黑"/>
                <a:cs typeface="微软雅黑"/>
              </a:rPr>
              <a:t>t</a:t>
            </a:r>
            <a:r>
              <a:rPr sz="2400" b="1" spc="-5" dirty="0">
                <a:solidFill>
                  <a:srgbClr val="FFFFFF"/>
                </a:solidFill>
                <a:latin typeface="微软雅黑"/>
                <a:cs typeface="微软雅黑"/>
              </a:rPr>
              <a:t>()</a:t>
            </a:r>
            <a:r>
              <a:rPr sz="2400" b="1" dirty="0">
                <a:solidFill>
                  <a:srgbClr val="FFFFFF"/>
                </a:solidFill>
                <a:latin typeface="微软雅黑"/>
                <a:cs typeface="微软雅黑"/>
              </a:rPr>
              <a:t> </a:t>
            </a:r>
            <a:r>
              <a:rPr sz="2400" b="1" spc="-90" dirty="0">
                <a:solidFill>
                  <a:srgbClr val="FFFFFF"/>
                </a:solidFill>
                <a:latin typeface="微软雅黑"/>
                <a:cs typeface="微软雅黑"/>
              </a:rPr>
              <a:t>S</a:t>
            </a:r>
            <a:r>
              <a:rPr sz="2400" b="1" spc="-10" dirty="0">
                <a:solidFill>
                  <a:srgbClr val="FFFFFF"/>
                </a:solidFill>
                <a:latin typeface="微软雅黑"/>
                <a:cs typeface="微软雅黑"/>
              </a:rPr>
              <a:t>t</a:t>
            </a:r>
            <a:r>
              <a:rPr sz="2400" b="1" dirty="0">
                <a:solidFill>
                  <a:srgbClr val="FFFFFF"/>
                </a:solidFill>
                <a:latin typeface="微软雅黑"/>
                <a:cs typeface="微软雅黑"/>
              </a:rPr>
              <a:t>a</a:t>
            </a:r>
            <a:r>
              <a:rPr sz="2400" b="1" spc="60" dirty="0">
                <a:solidFill>
                  <a:srgbClr val="FFFFFF"/>
                </a:solidFill>
                <a:latin typeface="微软雅黑"/>
                <a:cs typeface="微软雅黑"/>
              </a:rPr>
              <a:t>r</a:t>
            </a:r>
            <a:r>
              <a:rPr sz="2400" b="1" dirty="0">
                <a:solidFill>
                  <a:srgbClr val="FFFFFF"/>
                </a:solidFill>
                <a:latin typeface="微软雅黑"/>
                <a:cs typeface="微软雅黑"/>
              </a:rPr>
              <a:t>t</a:t>
            </a:r>
            <a:endParaRPr sz="2400">
              <a:latin typeface="微软雅黑"/>
              <a:cs typeface="微软雅黑"/>
            </a:endParaRPr>
          </a:p>
        </p:txBody>
      </p:sp>
      <p:sp>
        <p:nvSpPr>
          <p:cNvPr id="16" name="object 16"/>
          <p:cNvSpPr/>
          <p:nvPr/>
        </p:nvSpPr>
        <p:spPr>
          <a:xfrm>
            <a:off x="5410200" y="3130295"/>
            <a:ext cx="649224" cy="419100"/>
          </a:xfrm>
          <a:prstGeom prst="rect">
            <a:avLst/>
          </a:prstGeom>
          <a:blipFill>
            <a:blip r:embed="rId5" cstate="print"/>
            <a:stretch>
              <a:fillRect/>
            </a:stretch>
          </a:blipFill>
        </p:spPr>
        <p:txBody>
          <a:bodyPr wrap="square" lIns="0" tIns="0" rIns="0" bIns="0" rtlCol="0"/>
          <a:lstStyle/>
          <a:p>
            <a:endParaRPr/>
          </a:p>
        </p:txBody>
      </p:sp>
      <p:sp>
        <p:nvSpPr>
          <p:cNvPr id="17" name="object 17"/>
          <p:cNvSpPr txBox="1"/>
          <p:nvPr/>
        </p:nvSpPr>
        <p:spPr>
          <a:xfrm>
            <a:off x="4884420" y="4410455"/>
            <a:ext cx="4307205" cy="462280"/>
          </a:xfrm>
          <a:prstGeom prst="rect">
            <a:avLst/>
          </a:prstGeom>
          <a:solidFill>
            <a:srgbClr val="00AFEF"/>
          </a:solidFill>
        </p:spPr>
        <p:txBody>
          <a:bodyPr vert="horz" wrap="square" lIns="0" tIns="0" rIns="0" bIns="0" rtlCol="0">
            <a:spAutoFit/>
          </a:bodyPr>
          <a:lstStyle/>
          <a:p>
            <a:pPr marL="476250">
              <a:lnSpc>
                <a:spcPct val="100000"/>
              </a:lnSpc>
            </a:pPr>
            <a:r>
              <a:rPr sz="2400" b="1" dirty="0">
                <a:solidFill>
                  <a:srgbClr val="FFFFFF"/>
                </a:solidFill>
                <a:latin typeface="微软雅黑"/>
                <a:cs typeface="微软雅黑"/>
              </a:rPr>
              <a:t>完成时钟、引脚等初始化</a:t>
            </a:r>
            <a:endParaRPr sz="2400">
              <a:latin typeface="微软雅黑"/>
              <a:cs typeface="微软雅黑"/>
            </a:endParaRPr>
          </a:p>
        </p:txBody>
      </p:sp>
      <p:sp>
        <p:nvSpPr>
          <p:cNvPr id="18" name="object 18"/>
          <p:cNvSpPr/>
          <p:nvPr/>
        </p:nvSpPr>
        <p:spPr>
          <a:xfrm>
            <a:off x="5410200" y="3991355"/>
            <a:ext cx="649224" cy="419100"/>
          </a:xfrm>
          <a:prstGeom prst="rect">
            <a:avLst/>
          </a:prstGeom>
          <a:blipFill>
            <a:blip r:embed="rId4" cstate="print"/>
            <a:stretch>
              <a:fillRect/>
            </a:stretch>
          </a:blipFill>
        </p:spPr>
        <p:txBody>
          <a:bodyPr wrap="square" lIns="0" tIns="0" rIns="0" bIns="0" rtlCol="0"/>
          <a:lstStyle/>
          <a:p>
            <a:endParaRPr/>
          </a:p>
        </p:txBody>
      </p:sp>
      <p:sp>
        <p:nvSpPr>
          <p:cNvPr id="19" name="object 19"/>
          <p:cNvSpPr txBox="1"/>
          <p:nvPr/>
        </p:nvSpPr>
        <p:spPr>
          <a:xfrm>
            <a:off x="4882896" y="5298947"/>
            <a:ext cx="4307205" cy="462280"/>
          </a:xfrm>
          <a:prstGeom prst="rect">
            <a:avLst/>
          </a:prstGeom>
          <a:solidFill>
            <a:srgbClr val="00AFEF"/>
          </a:solidFill>
        </p:spPr>
        <p:txBody>
          <a:bodyPr vert="horz" wrap="square" lIns="0" tIns="0" rIns="0" bIns="0" rtlCol="0">
            <a:spAutoFit/>
          </a:bodyPr>
          <a:lstStyle/>
          <a:p>
            <a:pPr marL="224154">
              <a:lnSpc>
                <a:spcPct val="100000"/>
              </a:lnSpc>
            </a:pPr>
            <a:r>
              <a:rPr sz="2400" b="1" spc="-5" dirty="0">
                <a:solidFill>
                  <a:srgbClr val="FFFFFF"/>
                </a:solidFill>
                <a:latin typeface="微软雅黑"/>
                <a:cs typeface="微软雅黑"/>
              </a:rPr>
              <a:t>H</a:t>
            </a:r>
            <a:r>
              <a:rPr sz="2400" b="1" spc="-10" dirty="0">
                <a:solidFill>
                  <a:srgbClr val="FFFFFF"/>
                </a:solidFill>
                <a:latin typeface="微软雅黑"/>
                <a:cs typeface="微软雅黑"/>
              </a:rPr>
              <a:t>A</a:t>
            </a:r>
            <a:r>
              <a:rPr sz="2400" b="1" dirty="0">
                <a:solidFill>
                  <a:srgbClr val="FFFFFF"/>
                </a:solidFill>
                <a:latin typeface="微软雅黑"/>
                <a:cs typeface="微软雅黑"/>
              </a:rPr>
              <a:t>L_</a:t>
            </a:r>
            <a:r>
              <a:rPr sz="2400" b="1" spc="-65" dirty="0">
                <a:solidFill>
                  <a:srgbClr val="FFFFFF"/>
                </a:solidFill>
                <a:latin typeface="微软雅黑"/>
                <a:cs typeface="微软雅黑"/>
              </a:rPr>
              <a:t>U</a:t>
            </a:r>
            <a:r>
              <a:rPr sz="2400" b="1" dirty="0">
                <a:solidFill>
                  <a:srgbClr val="FFFFFF"/>
                </a:solidFill>
                <a:latin typeface="微软雅黑"/>
                <a:cs typeface="微软雅黑"/>
              </a:rPr>
              <a:t>A</a:t>
            </a:r>
            <a:r>
              <a:rPr sz="2400" b="1" spc="-50" dirty="0">
                <a:solidFill>
                  <a:srgbClr val="FFFFFF"/>
                </a:solidFill>
                <a:latin typeface="微软雅黑"/>
                <a:cs typeface="微软雅黑"/>
              </a:rPr>
              <a:t>R</a:t>
            </a:r>
            <a:r>
              <a:rPr sz="2400" b="1" spc="-5" dirty="0">
                <a:solidFill>
                  <a:srgbClr val="FFFFFF"/>
                </a:solidFill>
                <a:latin typeface="微软雅黑"/>
                <a:cs typeface="微软雅黑"/>
              </a:rPr>
              <a:t>T_</a:t>
            </a:r>
            <a:r>
              <a:rPr sz="2400" b="1" spc="5" dirty="0">
                <a:solidFill>
                  <a:srgbClr val="FFFFFF"/>
                </a:solidFill>
                <a:latin typeface="微软雅黑"/>
                <a:cs typeface="微软雅黑"/>
              </a:rPr>
              <a:t>M</a:t>
            </a:r>
            <a:r>
              <a:rPr sz="2400" b="1" dirty="0">
                <a:solidFill>
                  <a:srgbClr val="FFFFFF"/>
                </a:solidFill>
                <a:latin typeface="微软雅黑"/>
                <a:cs typeface="微软雅黑"/>
              </a:rPr>
              <a:t>spIni</a:t>
            </a:r>
            <a:r>
              <a:rPr sz="2400" b="1" spc="5" dirty="0">
                <a:solidFill>
                  <a:srgbClr val="FFFFFF"/>
                </a:solidFill>
                <a:latin typeface="微软雅黑"/>
                <a:cs typeface="微软雅黑"/>
              </a:rPr>
              <a:t>t</a:t>
            </a:r>
            <a:r>
              <a:rPr sz="2400" b="1" spc="-5" dirty="0">
                <a:solidFill>
                  <a:srgbClr val="FFFFFF"/>
                </a:solidFill>
                <a:latin typeface="微软雅黑"/>
                <a:cs typeface="微软雅黑"/>
              </a:rPr>
              <a:t>()</a:t>
            </a:r>
            <a:r>
              <a:rPr sz="2400" b="1" dirty="0">
                <a:solidFill>
                  <a:srgbClr val="FFFFFF"/>
                </a:solidFill>
                <a:latin typeface="微软雅黑"/>
                <a:cs typeface="微软雅黑"/>
              </a:rPr>
              <a:t> </a:t>
            </a:r>
            <a:r>
              <a:rPr sz="2400" b="1" spc="-20" dirty="0">
                <a:solidFill>
                  <a:srgbClr val="FFFFFF"/>
                </a:solidFill>
                <a:latin typeface="微软雅黑"/>
                <a:cs typeface="微软雅黑"/>
              </a:rPr>
              <a:t>E</a:t>
            </a:r>
            <a:r>
              <a:rPr sz="2400" b="1" spc="-5" dirty="0">
                <a:solidFill>
                  <a:srgbClr val="FFFFFF"/>
                </a:solidFill>
                <a:latin typeface="微软雅黑"/>
                <a:cs typeface="微软雅黑"/>
              </a:rPr>
              <a:t>nd</a:t>
            </a:r>
            <a:endParaRPr sz="2400">
              <a:latin typeface="微软雅黑"/>
              <a:cs typeface="微软雅黑"/>
            </a:endParaRPr>
          </a:p>
        </p:txBody>
      </p:sp>
      <p:sp>
        <p:nvSpPr>
          <p:cNvPr id="20" name="object 20"/>
          <p:cNvSpPr/>
          <p:nvPr/>
        </p:nvSpPr>
        <p:spPr>
          <a:xfrm>
            <a:off x="5408676" y="4879847"/>
            <a:ext cx="649224" cy="419099"/>
          </a:xfrm>
          <a:prstGeom prst="rect">
            <a:avLst/>
          </a:prstGeom>
          <a:blipFill>
            <a:blip r:embed="rId6" cstate="print"/>
            <a:stretch>
              <a:fillRect/>
            </a:stretch>
          </a:blipFill>
        </p:spPr>
        <p:txBody>
          <a:bodyPr wrap="square" lIns="0" tIns="0" rIns="0" bIns="0" rtlCol="0"/>
          <a:lstStyle/>
          <a:p>
            <a:endParaRPr/>
          </a:p>
        </p:txBody>
      </p:sp>
      <p:sp>
        <p:nvSpPr>
          <p:cNvPr id="21" name="object 21"/>
          <p:cNvSpPr/>
          <p:nvPr/>
        </p:nvSpPr>
        <p:spPr>
          <a:xfrm>
            <a:off x="5408676" y="5766815"/>
            <a:ext cx="649224" cy="419100"/>
          </a:xfrm>
          <a:prstGeom prst="rect">
            <a:avLst/>
          </a:prstGeom>
          <a:blipFill>
            <a:blip r:embed="rId7" cstate="print"/>
            <a:stretch>
              <a:fillRect/>
            </a:stretch>
          </a:blipFill>
        </p:spPr>
        <p:txBody>
          <a:bodyPr wrap="square" lIns="0" tIns="0" rIns="0" bIns="0" rtlCol="0"/>
          <a:lstStyle/>
          <a:p>
            <a:endParaRPr/>
          </a:p>
        </p:txBody>
      </p:sp>
      <p:sp>
        <p:nvSpPr>
          <p:cNvPr id="22" name="object 22"/>
          <p:cNvSpPr txBox="1"/>
          <p:nvPr/>
        </p:nvSpPr>
        <p:spPr>
          <a:xfrm>
            <a:off x="4186428" y="6195059"/>
            <a:ext cx="3581400" cy="462280"/>
          </a:xfrm>
          <a:prstGeom prst="rect">
            <a:avLst/>
          </a:prstGeom>
          <a:solidFill>
            <a:srgbClr val="00AFEF"/>
          </a:solidFill>
        </p:spPr>
        <p:txBody>
          <a:bodyPr vert="horz" wrap="square" lIns="0" tIns="0" rIns="0" bIns="0" rtlCol="0">
            <a:spAutoFit/>
          </a:bodyPr>
          <a:lstStyle/>
          <a:p>
            <a:pPr marL="194310">
              <a:lnSpc>
                <a:spcPct val="100000"/>
              </a:lnSpc>
            </a:pPr>
            <a:r>
              <a:rPr sz="2400" b="1" spc="-5" dirty="0">
                <a:solidFill>
                  <a:srgbClr val="FFFFFF"/>
                </a:solidFill>
                <a:latin typeface="微软雅黑"/>
                <a:cs typeface="微软雅黑"/>
              </a:rPr>
              <a:t>H</a:t>
            </a:r>
            <a:r>
              <a:rPr sz="2400" b="1" spc="-10" dirty="0">
                <a:solidFill>
                  <a:srgbClr val="FFFFFF"/>
                </a:solidFill>
                <a:latin typeface="微软雅黑"/>
                <a:cs typeface="微软雅黑"/>
              </a:rPr>
              <a:t>A</a:t>
            </a:r>
            <a:r>
              <a:rPr sz="2400" b="1" dirty="0">
                <a:solidFill>
                  <a:srgbClr val="FFFFFF"/>
                </a:solidFill>
                <a:latin typeface="微软雅黑"/>
                <a:cs typeface="微软雅黑"/>
              </a:rPr>
              <a:t>L_</a:t>
            </a:r>
            <a:r>
              <a:rPr sz="2400" b="1" spc="-65" dirty="0">
                <a:solidFill>
                  <a:srgbClr val="FFFFFF"/>
                </a:solidFill>
                <a:latin typeface="微软雅黑"/>
                <a:cs typeface="微软雅黑"/>
              </a:rPr>
              <a:t>U</a:t>
            </a:r>
            <a:r>
              <a:rPr sz="2400" b="1" dirty="0">
                <a:solidFill>
                  <a:srgbClr val="FFFFFF"/>
                </a:solidFill>
                <a:latin typeface="微软雅黑"/>
                <a:cs typeface="微软雅黑"/>
              </a:rPr>
              <a:t>A</a:t>
            </a:r>
            <a:r>
              <a:rPr sz="2400" b="1" spc="-50" dirty="0">
                <a:solidFill>
                  <a:srgbClr val="FFFFFF"/>
                </a:solidFill>
                <a:latin typeface="微软雅黑"/>
                <a:cs typeface="微软雅黑"/>
              </a:rPr>
              <a:t>R</a:t>
            </a:r>
            <a:r>
              <a:rPr sz="2400" b="1" spc="-5" dirty="0">
                <a:solidFill>
                  <a:srgbClr val="FFFFFF"/>
                </a:solidFill>
                <a:latin typeface="微软雅黑"/>
                <a:cs typeface="微软雅黑"/>
              </a:rPr>
              <a:t>T_I</a:t>
            </a:r>
            <a:r>
              <a:rPr sz="2400" b="1" spc="5" dirty="0">
                <a:solidFill>
                  <a:srgbClr val="FFFFFF"/>
                </a:solidFill>
                <a:latin typeface="微软雅黑"/>
                <a:cs typeface="微软雅黑"/>
              </a:rPr>
              <a:t>n</a:t>
            </a:r>
            <a:r>
              <a:rPr sz="2400" b="1" dirty="0">
                <a:solidFill>
                  <a:srgbClr val="FFFFFF"/>
                </a:solidFill>
                <a:latin typeface="微软雅黑"/>
                <a:cs typeface="微软雅黑"/>
              </a:rPr>
              <a:t>i</a:t>
            </a:r>
            <a:r>
              <a:rPr sz="2400" b="1" spc="5" dirty="0">
                <a:solidFill>
                  <a:srgbClr val="FFFFFF"/>
                </a:solidFill>
                <a:latin typeface="微软雅黑"/>
                <a:cs typeface="微软雅黑"/>
              </a:rPr>
              <a:t>t</a:t>
            </a:r>
            <a:r>
              <a:rPr sz="2400" b="1" spc="-5" dirty="0">
                <a:solidFill>
                  <a:srgbClr val="FFFFFF"/>
                </a:solidFill>
                <a:latin typeface="微软雅黑"/>
                <a:cs typeface="微软雅黑"/>
              </a:rPr>
              <a:t>()</a:t>
            </a:r>
            <a:r>
              <a:rPr sz="2400" b="1" dirty="0">
                <a:solidFill>
                  <a:srgbClr val="FFFFFF"/>
                </a:solidFill>
                <a:latin typeface="微软雅黑"/>
                <a:cs typeface="微软雅黑"/>
              </a:rPr>
              <a:t> </a:t>
            </a:r>
            <a:r>
              <a:rPr sz="2400" b="1" spc="-20" dirty="0">
                <a:solidFill>
                  <a:srgbClr val="FFFFFF"/>
                </a:solidFill>
                <a:latin typeface="微软雅黑"/>
                <a:cs typeface="微软雅黑"/>
              </a:rPr>
              <a:t>E</a:t>
            </a:r>
            <a:r>
              <a:rPr sz="2400" b="1" spc="-5" dirty="0">
                <a:solidFill>
                  <a:srgbClr val="FFFFFF"/>
                </a:solidFill>
                <a:latin typeface="微软雅黑"/>
                <a:cs typeface="微软雅黑"/>
              </a:rPr>
              <a:t>nd</a:t>
            </a:r>
            <a:endParaRPr sz="2400">
              <a:latin typeface="微软雅黑"/>
              <a:cs typeface="微软雅黑"/>
            </a:endParaRPr>
          </a:p>
        </p:txBody>
      </p:sp>
    </p:spTree>
    <p:extLst>
      <p:ext uri="{BB962C8B-B14F-4D97-AF65-F5344CB8AC3E}">
        <p14:creationId xmlns:p14="http://schemas.microsoft.com/office/powerpoint/2010/main" val="224798278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02563" y="82294"/>
            <a:ext cx="10797540" cy="6722364"/>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688086" y="67816"/>
            <a:ext cx="10826750" cy="6751320"/>
          </a:xfrm>
          <a:custGeom>
            <a:avLst/>
            <a:gdLst/>
            <a:ahLst/>
            <a:cxnLst/>
            <a:rect l="l" t="t" r="r" b="b"/>
            <a:pathLst>
              <a:path w="10826750" h="6751320">
                <a:moveTo>
                  <a:pt x="0" y="6751320"/>
                </a:moveTo>
                <a:lnTo>
                  <a:pt x="10826496" y="6751320"/>
                </a:lnTo>
                <a:lnTo>
                  <a:pt x="10826496" y="0"/>
                </a:lnTo>
                <a:lnTo>
                  <a:pt x="0" y="0"/>
                </a:lnTo>
                <a:lnTo>
                  <a:pt x="0" y="6751320"/>
                </a:lnTo>
                <a:close/>
              </a:path>
            </a:pathLst>
          </a:custGeom>
          <a:ln w="28956">
            <a:solidFill>
              <a:srgbClr val="5B9BD4"/>
            </a:solidFill>
          </a:ln>
        </p:spPr>
        <p:txBody>
          <a:bodyPr wrap="square" lIns="0" tIns="0" rIns="0" bIns="0" rtlCol="0"/>
          <a:lstStyle/>
          <a:p>
            <a:endParaRPr/>
          </a:p>
        </p:txBody>
      </p:sp>
      <p:sp>
        <p:nvSpPr>
          <p:cNvPr id="4" name="object 4"/>
          <p:cNvSpPr/>
          <p:nvPr/>
        </p:nvSpPr>
        <p:spPr>
          <a:xfrm>
            <a:off x="9151619" y="102107"/>
            <a:ext cx="2338070" cy="462280"/>
          </a:xfrm>
          <a:custGeom>
            <a:avLst/>
            <a:gdLst/>
            <a:ahLst/>
            <a:cxnLst/>
            <a:rect l="l" t="t" r="r" b="b"/>
            <a:pathLst>
              <a:path w="2338070" h="462280">
                <a:moveTo>
                  <a:pt x="0" y="461772"/>
                </a:moveTo>
                <a:lnTo>
                  <a:pt x="2337816" y="461772"/>
                </a:lnTo>
                <a:lnTo>
                  <a:pt x="2337816" y="0"/>
                </a:lnTo>
                <a:lnTo>
                  <a:pt x="0" y="0"/>
                </a:lnTo>
                <a:lnTo>
                  <a:pt x="0" y="461772"/>
                </a:lnTo>
                <a:close/>
              </a:path>
            </a:pathLst>
          </a:custGeom>
          <a:solidFill>
            <a:srgbClr val="E34A46"/>
          </a:solidFill>
        </p:spPr>
        <p:txBody>
          <a:bodyPr wrap="square" lIns="0" tIns="0" rIns="0" bIns="0" rtlCol="0"/>
          <a:lstStyle/>
          <a:p>
            <a:endParaRPr/>
          </a:p>
        </p:txBody>
      </p:sp>
      <p:sp>
        <p:nvSpPr>
          <p:cNvPr id="5" name="object 5"/>
          <p:cNvSpPr/>
          <p:nvPr/>
        </p:nvSpPr>
        <p:spPr>
          <a:xfrm>
            <a:off x="1523238" y="928877"/>
            <a:ext cx="7021195" cy="3595370"/>
          </a:xfrm>
          <a:custGeom>
            <a:avLst/>
            <a:gdLst/>
            <a:ahLst/>
            <a:cxnLst/>
            <a:rect l="l" t="t" r="r" b="b"/>
            <a:pathLst>
              <a:path w="7021195" h="3595370">
                <a:moveTo>
                  <a:pt x="0" y="3595116"/>
                </a:moveTo>
                <a:lnTo>
                  <a:pt x="7021067" y="3595116"/>
                </a:lnTo>
                <a:lnTo>
                  <a:pt x="7021067" y="0"/>
                </a:lnTo>
                <a:lnTo>
                  <a:pt x="0" y="0"/>
                </a:lnTo>
                <a:lnTo>
                  <a:pt x="0" y="3595116"/>
                </a:lnTo>
                <a:close/>
              </a:path>
            </a:pathLst>
          </a:custGeom>
          <a:ln w="38100">
            <a:solidFill>
              <a:srgbClr val="FF0000"/>
            </a:solidFill>
          </a:ln>
        </p:spPr>
        <p:txBody>
          <a:bodyPr wrap="square" lIns="0" tIns="0" rIns="0" bIns="0" rtlCol="0"/>
          <a:lstStyle/>
          <a:p>
            <a:endParaRPr/>
          </a:p>
        </p:txBody>
      </p:sp>
      <p:sp>
        <p:nvSpPr>
          <p:cNvPr id="6" name="object 6"/>
          <p:cNvSpPr/>
          <p:nvPr/>
        </p:nvSpPr>
        <p:spPr>
          <a:xfrm>
            <a:off x="6870954" y="653033"/>
            <a:ext cx="3651885" cy="777875"/>
          </a:xfrm>
          <a:custGeom>
            <a:avLst/>
            <a:gdLst/>
            <a:ahLst/>
            <a:cxnLst/>
            <a:rect l="l" t="t" r="r" b="b"/>
            <a:pathLst>
              <a:path w="3651884" h="777875">
                <a:moveTo>
                  <a:pt x="3566160" y="0"/>
                </a:moveTo>
                <a:lnTo>
                  <a:pt x="608584" y="0"/>
                </a:lnTo>
                <a:lnTo>
                  <a:pt x="77934" y="317"/>
                </a:lnTo>
                <a:lnTo>
                  <a:pt x="38328" y="14116"/>
                </a:lnTo>
                <a:lnTo>
                  <a:pt x="10505" y="44303"/>
                </a:lnTo>
                <a:lnTo>
                  <a:pt x="0" y="85343"/>
                </a:lnTo>
                <a:lnTo>
                  <a:pt x="0" y="426719"/>
                </a:lnTo>
                <a:lnTo>
                  <a:pt x="14116" y="473735"/>
                </a:lnTo>
                <a:lnTo>
                  <a:pt x="44303" y="501558"/>
                </a:lnTo>
                <a:lnTo>
                  <a:pt x="85344" y="512063"/>
                </a:lnTo>
                <a:lnTo>
                  <a:pt x="608584" y="512063"/>
                </a:lnTo>
                <a:lnTo>
                  <a:pt x="461772" y="777493"/>
                </a:lnTo>
                <a:lnTo>
                  <a:pt x="1521460" y="512063"/>
                </a:lnTo>
                <a:lnTo>
                  <a:pt x="3573569" y="511746"/>
                </a:lnTo>
                <a:lnTo>
                  <a:pt x="3587738" y="509309"/>
                </a:lnTo>
                <a:lnTo>
                  <a:pt x="3624032" y="489432"/>
                </a:lnTo>
                <a:lnTo>
                  <a:pt x="3646698" y="455012"/>
                </a:lnTo>
                <a:lnTo>
                  <a:pt x="3651504" y="426719"/>
                </a:lnTo>
                <a:lnTo>
                  <a:pt x="3651504" y="298703"/>
                </a:lnTo>
                <a:lnTo>
                  <a:pt x="3651186" y="77934"/>
                </a:lnTo>
                <a:lnTo>
                  <a:pt x="3637387" y="38328"/>
                </a:lnTo>
                <a:lnTo>
                  <a:pt x="3607200" y="10505"/>
                </a:lnTo>
                <a:lnTo>
                  <a:pt x="3580704" y="1235"/>
                </a:lnTo>
                <a:lnTo>
                  <a:pt x="3566160" y="0"/>
                </a:lnTo>
                <a:close/>
              </a:path>
            </a:pathLst>
          </a:custGeom>
          <a:solidFill>
            <a:srgbClr val="FFFFC7"/>
          </a:solidFill>
        </p:spPr>
        <p:txBody>
          <a:bodyPr wrap="square" lIns="0" tIns="0" rIns="0" bIns="0" rtlCol="0"/>
          <a:lstStyle/>
          <a:p>
            <a:endParaRPr/>
          </a:p>
        </p:txBody>
      </p:sp>
      <p:sp>
        <p:nvSpPr>
          <p:cNvPr id="7" name="object 7"/>
          <p:cNvSpPr/>
          <p:nvPr/>
        </p:nvSpPr>
        <p:spPr>
          <a:xfrm>
            <a:off x="6870954" y="653033"/>
            <a:ext cx="3651885" cy="777875"/>
          </a:xfrm>
          <a:custGeom>
            <a:avLst/>
            <a:gdLst/>
            <a:ahLst/>
            <a:cxnLst/>
            <a:rect l="l" t="t" r="r" b="b"/>
            <a:pathLst>
              <a:path w="3651884" h="777875">
                <a:moveTo>
                  <a:pt x="0" y="85343"/>
                </a:moveTo>
                <a:lnTo>
                  <a:pt x="10505" y="44303"/>
                </a:lnTo>
                <a:lnTo>
                  <a:pt x="38328" y="14116"/>
                </a:lnTo>
                <a:lnTo>
                  <a:pt x="77934" y="317"/>
                </a:lnTo>
                <a:lnTo>
                  <a:pt x="608584" y="0"/>
                </a:lnTo>
                <a:lnTo>
                  <a:pt x="1521460" y="0"/>
                </a:lnTo>
                <a:lnTo>
                  <a:pt x="3566160" y="0"/>
                </a:lnTo>
                <a:lnTo>
                  <a:pt x="3580704" y="1235"/>
                </a:lnTo>
                <a:lnTo>
                  <a:pt x="3618742" y="18128"/>
                </a:lnTo>
                <a:lnTo>
                  <a:pt x="3644081" y="50494"/>
                </a:lnTo>
                <a:lnTo>
                  <a:pt x="3651504" y="298703"/>
                </a:lnTo>
                <a:lnTo>
                  <a:pt x="3651504" y="426719"/>
                </a:lnTo>
                <a:lnTo>
                  <a:pt x="3650268" y="441264"/>
                </a:lnTo>
                <a:lnTo>
                  <a:pt x="3646698" y="455012"/>
                </a:lnTo>
                <a:lnTo>
                  <a:pt x="3624032" y="489432"/>
                </a:lnTo>
                <a:lnTo>
                  <a:pt x="3587738" y="509309"/>
                </a:lnTo>
                <a:lnTo>
                  <a:pt x="1521460" y="512063"/>
                </a:lnTo>
                <a:lnTo>
                  <a:pt x="461772" y="777493"/>
                </a:lnTo>
                <a:lnTo>
                  <a:pt x="608584" y="512063"/>
                </a:lnTo>
                <a:lnTo>
                  <a:pt x="85344" y="512063"/>
                </a:lnTo>
                <a:lnTo>
                  <a:pt x="70799" y="510828"/>
                </a:lnTo>
                <a:lnTo>
                  <a:pt x="32761" y="493935"/>
                </a:lnTo>
                <a:lnTo>
                  <a:pt x="7422" y="461569"/>
                </a:lnTo>
                <a:lnTo>
                  <a:pt x="0" y="426719"/>
                </a:lnTo>
                <a:lnTo>
                  <a:pt x="0" y="298703"/>
                </a:lnTo>
                <a:lnTo>
                  <a:pt x="0" y="85343"/>
                </a:lnTo>
                <a:close/>
              </a:path>
            </a:pathLst>
          </a:custGeom>
          <a:ln w="28956">
            <a:solidFill>
              <a:srgbClr val="000000"/>
            </a:solidFill>
          </a:ln>
        </p:spPr>
        <p:txBody>
          <a:bodyPr wrap="square" lIns="0" tIns="0" rIns="0" bIns="0" rtlCol="0"/>
          <a:lstStyle/>
          <a:p>
            <a:endParaRPr/>
          </a:p>
        </p:txBody>
      </p:sp>
      <p:sp>
        <p:nvSpPr>
          <p:cNvPr id="8" name="object 8"/>
          <p:cNvSpPr txBox="1"/>
          <p:nvPr/>
        </p:nvSpPr>
        <p:spPr>
          <a:xfrm>
            <a:off x="6998969" y="183123"/>
            <a:ext cx="4391025" cy="890269"/>
          </a:xfrm>
          <a:prstGeom prst="rect">
            <a:avLst/>
          </a:prstGeom>
        </p:spPr>
        <p:txBody>
          <a:bodyPr vert="horz" wrap="square" lIns="0" tIns="0" rIns="0" bIns="0" rtlCol="0">
            <a:spAutoFit/>
          </a:bodyPr>
          <a:lstStyle/>
          <a:p>
            <a:pPr marL="2244725">
              <a:lnSpc>
                <a:spcPct val="100000"/>
              </a:lnSpc>
            </a:pPr>
            <a:r>
              <a:rPr sz="2400" b="1" dirty="0">
                <a:solidFill>
                  <a:srgbClr val="FFFFFF"/>
                </a:solidFill>
                <a:latin typeface="微软雅黑"/>
                <a:cs typeface="微软雅黑"/>
              </a:rPr>
              <a:t>串口初始化函数</a:t>
            </a:r>
            <a:endParaRPr sz="2400">
              <a:latin typeface="微软雅黑"/>
              <a:cs typeface="微软雅黑"/>
            </a:endParaRPr>
          </a:p>
          <a:p>
            <a:pPr marL="12700">
              <a:lnSpc>
                <a:spcPts val="2835"/>
              </a:lnSpc>
              <a:spcBef>
                <a:spcPts val="1664"/>
              </a:spcBef>
            </a:pPr>
            <a:r>
              <a:rPr sz="2400" b="1" spc="10" dirty="0">
                <a:latin typeface="Microsoft JhengHei"/>
                <a:cs typeface="Microsoft JhengHei"/>
              </a:rPr>
              <a:t>将通信参数存入句柄结构</a:t>
            </a:r>
            <a:endParaRPr sz="2400">
              <a:latin typeface="Microsoft JhengHei"/>
              <a:cs typeface="Microsoft JhengHei"/>
            </a:endParaRPr>
          </a:p>
        </p:txBody>
      </p:sp>
      <p:sp>
        <p:nvSpPr>
          <p:cNvPr id="9" name="object 9"/>
          <p:cNvSpPr/>
          <p:nvPr/>
        </p:nvSpPr>
        <p:spPr>
          <a:xfrm>
            <a:off x="1523238" y="4612385"/>
            <a:ext cx="7021195" cy="1750060"/>
          </a:xfrm>
          <a:custGeom>
            <a:avLst/>
            <a:gdLst/>
            <a:ahLst/>
            <a:cxnLst/>
            <a:rect l="l" t="t" r="r" b="b"/>
            <a:pathLst>
              <a:path w="7021195" h="1750060">
                <a:moveTo>
                  <a:pt x="0" y="1749552"/>
                </a:moveTo>
                <a:lnTo>
                  <a:pt x="7021067" y="1749552"/>
                </a:lnTo>
                <a:lnTo>
                  <a:pt x="7021067" y="0"/>
                </a:lnTo>
                <a:lnTo>
                  <a:pt x="0" y="0"/>
                </a:lnTo>
                <a:lnTo>
                  <a:pt x="0" y="1749552"/>
                </a:lnTo>
                <a:close/>
              </a:path>
            </a:pathLst>
          </a:custGeom>
          <a:ln w="38099">
            <a:solidFill>
              <a:srgbClr val="FF0000"/>
            </a:solidFill>
          </a:ln>
        </p:spPr>
        <p:txBody>
          <a:bodyPr wrap="square" lIns="0" tIns="0" rIns="0" bIns="0" rtlCol="0"/>
          <a:lstStyle/>
          <a:p>
            <a:endParaRPr/>
          </a:p>
        </p:txBody>
      </p:sp>
      <p:sp>
        <p:nvSpPr>
          <p:cNvPr id="10" name="object 10"/>
          <p:cNvSpPr/>
          <p:nvPr/>
        </p:nvSpPr>
        <p:spPr>
          <a:xfrm>
            <a:off x="6870954" y="5095494"/>
            <a:ext cx="3651885" cy="777875"/>
          </a:xfrm>
          <a:custGeom>
            <a:avLst/>
            <a:gdLst/>
            <a:ahLst/>
            <a:cxnLst/>
            <a:rect l="l" t="t" r="r" b="b"/>
            <a:pathLst>
              <a:path w="3651884" h="777875">
                <a:moveTo>
                  <a:pt x="3566160" y="0"/>
                </a:moveTo>
                <a:lnTo>
                  <a:pt x="608584" y="0"/>
                </a:lnTo>
                <a:lnTo>
                  <a:pt x="77934" y="317"/>
                </a:lnTo>
                <a:lnTo>
                  <a:pt x="38328" y="14116"/>
                </a:lnTo>
                <a:lnTo>
                  <a:pt x="10505" y="44303"/>
                </a:lnTo>
                <a:lnTo>
                  <a:pt x="0" y="85343"/>
                </a:lnTo>
                <a:lnTo>
                  <a:pt x="0" y="426719"/>
                </a:lnTo>
                <a:lnTo>
                  <a:pt x="14116" y="473735"/>
                </a:lnTo>
                <a:lnTo>
                  <a:pt x="44303" y="501558"/>
                </a:lnTo>
                <a:lnTo>
                  <a:pt x="85344" y="512063"/>
                </a:lnTo>
                <a:lnTo>
                  <a:pt x="608584" y="512063"/>
                </a:lnTo>
                <a:lnTo>
                  <a:pt x="461772" y="777430"/>
                </a:lnTo>
                <a:lnTo>
                  <a:pt x="1521460" y="512063"/>
                </a:lnTo>
                <a:lnTo>
                  <a:pt x="3573569" y="511746"/>
                </a:lnTo>
                <a:lnTo>
                  <a:pt x="3587738" y="509309"/>
                </a:lnTo>
                <a:lnTo>
                  <a:pt x="3624032" y="489432"/>
                </a:lnTo>
                <a:lnTo>
                  <a:pt x="3646698" y="455012"/>
                </a:lnTo>
                <a:lnTo>
                  <a:pt x="3651504" y="426719"/>
                </a:lnTo>
                <a:lnTo>
                  <a:pt x="3651504" y="298703"/>
                </a:lnTo>
                <a:lnTo>
                  <a:pt x="3651186" y="77934"/>
                </a:lnTo>
                <a:lnTo>
                  <a:pt x="3637387" y="38328"/>
                </a:lnTo>
                <a:lnTo>
                  <a:pt x="3607200" y="10505"/>
                </a:lnTo>
                <a:lnTo>
                  <a:pt x="3580704" y="1235"/>
                </a:lnTo>
                <a:lnTo>
                  <a:pt x="3566160" y="0"/>
                </a:lnTo>
                <a:close/>
              </a:path>
            </a:pathLst>
          </a:custGeom>
          <a:solidFill>
            <a:srgbClr val="FFFFC7"/>
          </a:solidFill>
        </p:spPr>
        <p:txBody>
          <a:bodyPr wrap="square" lIns="0" tIns="0" rIns="0" bIns="0" rtlCol="0"/>
          <a:lstStyle/>
          <a:p>
            <a:endParaRPr/>
          </a:p>
        </p:txBody>
      </p:sp>
      <p:sp>
        <p:nvSpPr>
          <p:cNvPr id="11" name="object 11"/>
          <p:cNvSpPr/>
          <p:nvPr/>
        </p:nvSpPr>
        <p:spPr>
          <a:xfrm>
            <a:off x="6870954" y="5095494"/>
            <a:ext cx="3651885" cy="777875"/>
          </a:xfrm>
          <a:custGeom>
            <a:avLst/>
            <a:gdLst/>
            <a:ahLst/>
            <a:cxnLst/>
            <a:rect l="l" t="t" r="r" b="b"/>
            <a:pathLst>
              <a:path w="3651884" h="777875">
                <a:moveTo>
                  <a:pt x="0" y="85343"/>
                </a:moveTo>
                <a:lnTo>
                  <a:pt x="10505" y="44303"/>
                </a:lnTo>
                <a:lnTo>
                  <a:pt x="38328" y="14116"/>
                </a:lnTo>
                <a:lnTo>
                  <a:pt x="77934" y="317"/>
                </a:lnTo>
                <a:lnTo>
                  <a:pt x="608584" y="0"/>
                </a:lnTo>
                <a:lnTo>
                  <a:pt x="1521460" y="0"/>
                </a:lnTo>
                <a:lnTo>
                  <a:pt x="3566160" y="0"/>
                </a:lnTo>
                <a:lnTo>
                  <a:pt x="3580704" y="1235"/>
                </a:lnTo>
                <a:lnTo>
                  <a:pt x="3618742" y="18128"/>
                </a:lnTo>
                <a:lnTo>
                  <a:pt x="3644081" y="50494"/>
                </a:lnTo>
                <a:lnTo>
                  <a:pt x="3651504" y="298703"/>
                </a:lnTo>
                <a:lnTo>
                  <a:pt x="3651504" y="426719"/>
                </a:lnTo>
                <a:lnTo>
                  <a:pt x="3650268" y="441264"/>
                </a:lnTo>
                <a:lnTo>
                  <a:pt x="3646698" y="455012"/>
                </a:lnTo>
                <a:lnTo>
                  <a:pt x="3624032" y="489432"/>
                </a:lnTo>
                <a:lnTo>
                  <a:pt x="3587738" y="509309"/>
                </a:lnTo>
                <a:lnTo>
                  <a:pt x="1521460" y="512063"/>
                </a:lnTo>
                <a:lnTo>
                  <a:pt x="461772" y="777430"/>
                </a:lnTo>
                <a:lnTo>
                  <a:pt x="608584" y="512063"/>
                </a:lnTo>
                <a:lnTo>
                  <a:pt x="85344" y="512063"/>
                </a:lnTo>
                <a:lnTo>
                  <a:pt x="70799" y="510828"/>
                </a:lnTo>
                <a:lnTo>
                  <a:pt x="32761" y="493935"/>
                </a:lnTo>
                <a:lnTo>
                  <a:pt x="7422" y="461569"/>
                </a:lnTo>
                <a:lnTo>
                  <a:pt x="0" y="426719"/>
                </a:lnTo>
                <a:lnTo>
                  <a:pt x="0" y="298703"/>
                </a:lnTo>
                <a:lnTo>
                  <a:pt x="0" y="85343"/>
                </a:lnTo>
                <a:close/>
              </a:path>
            </a:pathLst>
          </a:custGeom>
          <a:ln w="28956">
            <a:solidFill>
              <a:srgbClr val="000000"/>
            </a:solidFill>
          </a:ln>
        </p:spPr>
        <p:txBody>
          <a:bodyPr wrap="square" lIns="0" tIns="0" rIns="0" bIns="0" rtlCol="0"/>
          <a:lstStyle/>
          <a:p>
            <a:endParaRPr/>
          </a:p>
        </p:txBody>
      </p:sp>
      <p:sp>
        <p:nvSpPr>
          <p:cNvPr id="12" name="object 12"/>
          <p:cNvSpPr txBox="1"/>
          <p:nvPr/>
        </p:nvSpPr>
        <p:spPr>
          <a:xfrm>
            <a:off x="7305293" y="5186489"/>
            <a:ext cx="2785110" cy="330200"/>
          </a:xfrm>
          <a:prstGeom prst="rect">
            <a:avLst/>
          </a:prstGeom>
        </p:spPr>
        <p:txBody>
          <a:bodyPr vert="horz" wrap="square" lIns="0" tIns="0" rIns="0" bIns="0" rtlCol="0">
            <a:spAutoFit/>
          </a:bodyPr>
          <a:lstStyle/>
          <a:p>
            <a:pPr marL="12700">
              <a:lnSpc>
                <a:spcPts val="2835"/>
              </a:lnSpc>
            </a:pPr>
            <a:r>
              <a:rPr sz="2400" b="1" spc="10" dirty="0">
                <a:latin typeface="Microsoft JhengHei"/>
                <a:cs typeface="Microsoft JhengHei"/>
              </a:rPr>
              <a:t>执行串口初始化操作</a:t>
            </a:r>
            <a:endParaRPr sz="2400">
              <a:latin typeface="Microsoft JhengHei"/>
              <a:cs typeface="Microsoft JhengHei"/>
            </a:endParaRPr>
          </a:p>
        </p:txBody>
      </p:sp>
    </p:spTree>
    <p:extLst>
      <p:ext uri="{BB962C8B-B14F-4D97-AF65-F5344CB8AC3E}">
        <p14:creationId xmlns:p14="http://schemas.microsoft.com/office/powerpoint/2010/main" val="186474294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84276" y="97534"/>
            <a:ext cx="10823448" cy="6685788"/>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669798" y="83056"/>
            <a:ext cx="10852785" cy="6715125"/>
          </a:xfrm>
          <a:custGeom>
            <a:avLst/>
            <a:gdLst/>
            <a:ahLst/>
            <a:cxnLst/>
            <a:rect l="l" t="t" r="r" b="b"/>
            <a:pathLst>
              <a:path w="10852785" h="6715125">
                <a:moveTo>
                  <a:pt x="0" y="6714744"/>
                </a:moveTo>
                <a:lnTo>
                  <a:pt x="10852404" y="6714744"/>
                </a:lnTo>
                <a:lnTo>
                  <a:pt x="10852404" y="0"/>
                </a:lnTo>
                <a:lnTo>
                  <a:pt x="0" y="0"/>
                </a:lnTo>
                <a:lnTo>
                  <a:pt x="0" y="6714744"/>
                </a:lnTo>
                <a:close/>
              </a:path>
            </a:pathLst>
          </a:custGeom>
          <a:ln w="28956">
            <a:solidFill>
              <a:srgbClr val="5B9BD4"/>
            </a:solidFill>
          </a:ln>
        </p:spPr>
        <p:txBody>
          <a:bodyPr wrap="square" lIns="0" tIns="0" rIns="0" bIns="0" rtlCol="0"/>
          <a:lstStyle/>
          <a:p>
            <a:endParaRPr/>
          </a:p>
        </p:txBody>
      </p:sp>
      <p:sp>
        <p:nvSpPr>
          <p:cNvPr id="4" name="object 4"/>
          <p:cNvSpPr txBox="1"/>
          <p:nvPr/>
        </p:nvSpPr>
        <p:spPr>
          <a:xfrm>
            <a:off x="6950456" y="6608820"/>
            <a:ext cx="5045710" cy="177800"/>
          </a:xfrm>
          <a:prstGeom prst="rect">
            <a:avLst/>
          </a:prstGeom>
        </p:spPr>
        <p:txBody>
          <a:bodyPr vert="horz" wrap="square" lIns="0" tIns="0" rIns="0" bIns="0" rtlCol="0">
            <a:spAutoFit/>
          </a:bodyPr>
          <a:lstStyle/>
          <a:p>
            <a:pPr marL="12700">
              <a:lnSpc>
                <a:spcPct val="100000"/>
              </a:lnSpc>
            </a:pPr>
            <a:r>
              <a:rPr sz="1200" b="1" spc="-5" dirty="0">
                <a:solidFill>
                  <a:srgbClr val="FFFFFF"/>
                </a:solidFill>
                <a:latin typeface="微软雅黑"/>
                <a:cs typeface="微软雅黑"/>
              </a:rPr>
              <a:t>2016年全国辅导员工作精品项目</a:t>
            </a:r>
            <a:r>
              <a:rPr sz="1200" b="1" spc="-20" dirty="0">
                <a:solidFill>
                  <a:srgbClr val="FFFFFF"/>
                </a:solidFill>
                <a:latin typeface="微软雅黑"/>
                <a:cs typeface="微软雅黑"/>
              </a:rPr>
              <a:t> </a:t>
            </a:r>
            <a:r>
              <a:rPr sz="1200" b="1" spc="-5" dirty="0">
                <a:solidFill>
                  <a:srgbClr val="FFFFFF"/>
                </a:solidFill>
                <a:latin typeface="微软雅黑"/>
                <a:cs typeface="微软雅黑"/>
              </a:rPr>
              <a:t>--</a:t>
            </a:r>
            <a:r>
              <a:rPr sz="1200" b="1" spc="5" dirty="0">
                <a:solidFill>
                  <a:srgbClr val="FFFFFF"/>
                </a:solidFill>
                <a:latin typeface="微软雅黑"/>
                <a:cs typeface="微软雅黑"/>
              </a:rPr>
              <a:t> </a:t>
            </a:r>
            <a:r>
              <a:rPr sz="1200" b="1" dirty="0">
                <a:solidFill>
                  <a:srgbClr val="FFFFFF"/>
                </a:solidFill>
                <a:latin typeface="微软雅黑"/>
                <a:cs typeface="微软雅黑"/>
              </a:rPr>
              <a:t>南昌大学“卓越”辅导员培养工程建设</a:t>
            </a:r>
            <a:endParaRPr sz="1200">
              <a:latin typeface="微软雅黑"/>
              <a:cs typeface="微软雅黑"/>
            </a:endParaRPr>
          </a:p>
        </p:txBody>
      </p:sp>
      <p:sp>
        <p:nvSpPr>
          <p:cNvPr id="5" name="object 5"/>
          <p:cNvSpPr/>
          <p:nvPr/>
        </p:nvSpPr>
        <p:spPr>
          <a:xfrm>
            <a:off x="7766304" y="97535"/>
            <a:ext cx="3717290" cy="462280"/>
          </a:xfrm>
          <a:custGeom>
            <a:avLst/>
            <a:gdLst/>
            <a:ahLst/>
            <a:cxnLst/>
            <a:rect l="l" t="t" r="r" b="b"/>
            <a:pathLst>
              <a:path w="3717290" h="462280">
                <a:moveTo>
                  <a:pt x="0" y="461771"/>
                </a:moveTo>
                <a:lnTo>
                  <a:pt x="3717036" y="461771"/>
                </a:lnTo>
                <a:lnTo>
                  <a:pt x="3717036" y="0"/>
                </a:lnTo>
                <a:lnTo>
                  <a:pt x="0" y="0"/>
                </a:lnTo>
                <a:lnTo>
                  <a:pt x="0" y="461771"/>
                </a:lnTo>
                <a:close/>
              </a:path>
            </a:pathLst>
          </a:custGeom>
          <a:solidFill>
            <a:srgbClr val="E34A46"/>
          </a:solidFill>
        </p:spPr>
        <p:txBody>
          <a:bodyPr wrap="square" lIns="0" tIns="0" rIns="0" bIns="0" rtlCol="0"/>
          <a:lstStyle/>
          <a:p>
            <a:endParaRPr/>
          </a:p>
        </p:txBody>
      </p:sp>
      <p:sp>
        <p:nvSpPr>
          <p:cNvPr id="6" name="object 6"/>
          <p:cNvSpPr txBox="1">
            <a:spLocks noGrp="1"/>
          </p:cNvSpPr>
          <p:nvPr>
            <p:ph type="title"/>
          </p:nvPr>
        </p:nvSpPr>
        <p:spPr>
          <a:xfrm>
            <a:off x="7846568" y="179059"/>
            <a:ext cx="3524885" cy="330200"/>
          </a:xfrm>
          <a:prstGeom prst="rect">
            <a:avLst/>
          </a:prstGeom>
        </p:spPr>
        <p:txBody>
          <a:bodyPr vert="horz" wrap="square" lIns="0" tIns="0" rIns="0" bIns="0" rtlCol="0">
            <a:spAutoFit/>
          </a:bodyPr>
          <a:lstStyle/>
          <a:p>
            <a:pPr marL="12700">
              <a:lnSpc>
                <a:spcPct val="100000"/>
              </a:lnSpc>
            </a:pPr>
            <a:r>
              <a:rPr sz="2400" dirty="0">
                <a:solidFill>
                  <a:srgbClr val="FFFFFF"/>
                </a:solidFill>
              </a:rPr>
              <a:t>与</a:t>
            </a:r>
            <a:r>
              <a:rPr sz="2400" dirty="0">
                <a:solidFill>
                  <a:srgbClr val="FFFFFF"/>
                </a:solidFill>
                <a:latin typeface="微软雅黑"/>
                <a:cs typeface="微软雅黑"/>
              </a:rPr>
              <a:t>MC</a:t>
            </a:r>
            <a:r>
              <a:rPr sz="2400" spc="-5" dirty="0">
                <a:solidFill>
                  <a:srgbClr val="FFFFFF"/>
                </a:solidFill>
                <a:latin typeface="微软雅黑"/>
                <a:cs typeface="微软雅黑"/>
              </a:rPr>
              <a:t>U</a:t>
            </a:r>
            <a:r>
              <a:rPr sz="2400" dirty="0">
                <a:solidFill>
                  <a:srgbClr val="FFFFFF"/>
                </a:solidFill>
              </a:rPr>
              <a:t>相关的初始化函数</a:t>
            </a:r>
            <a:endParaRPr sz="2400">
              <a:latin typeface="微软雅黑"/>
              <a:cs typeface="微软雅黑"/>
            </a:endParaRPr>
          </a:p>
        </p:txBody>
      </p:sp>
      <p:sp>
        <p:nvSpPr>
          <p:cNvPr id="7" name="object 7"/>
          <p:cNvSpPr/>
          <p:nvPr/>
        </p:nvSpPr>
        <p:spPr>
          <a:xfrm>
            <a:off x="1728977" y="2173985"/>
            <a:ext cx="4368165" cy="866140"/>
          </a:xfrm>
          <a:custGeom>
            <a:avLst/>
            <a:gdLst/>
            <a:ahLst/>
            <a:cxnLst/>
            <a:rect l="l" t="t" r="r" b="b"/>
            <a:pathLst>
              <a:path w="4368165" h="866139">
                <a:moveTo>
                  <a:pt x="0" y="865632"/>
                </a:moveTo>
                <a:lnTo>
                  <a:pt x="4367784" y="865632"/>
                </a:lnTo>
                <a:lnTo>
                  <a:pt x="4367784" y="0"/>
                </a:lnTo>
                <a:lnTo>
                  <a:pt x="0" y="0"/>
                </a:lnTo>
                <a:lnTo>
                  <a:pt x="0" y="865632"/>
                </a:lnTo>
                <a:close/>
              </a:path>
            </a:pathLst>
          </a:custGeom>
          <a:ln w="38100">
            <a:solidFill>
              <a:srgbClr val="FF0000"/>
            </a:solidFill>
          </a:ln>
        </p:spPr>
        <p:txBody>
          <a:bodyPr wrap="square" lIns="0" tIns="0" rIns="0" bIns="0" rtlCol="0"/>
          <a:lstStyle/>
          <a:p>
            <a:endParaRPr/>
          </a:p>
        </p:txBody>
      </p:sp>
      <p:sp>
        <p:nvSpPr>
          <p:cNvPr id="8" name="object 8"/>
          <p:cNvSpPr/>
          <p:nvPr/>
        </p:nvSpPr>
        <p:spPr>
          <a:xfrm>
            <a:off x="5289041" y="1378458"/>
            <a:ext cx="1781810" cy="777875"/>
          </a:xfrm>
          <a:custGeom>
            <a:avLst/>
            <a:gdLst/>
            <a:ahLst/>
            <a:cxnLst/>
            <a:rect l="l" t="t" r="r" b="b"/>
            <a:pathLst>
              <a:path w="1781809" h="777875">
                <a:moveTo>
                  <a:pt x="1696212" y="0"/>
                </a:moveTo>
                <a:lnTo>
                  <a:pt x="296925" y="0"/>
                </a:lnTo>
                <a:lnTo>
                  <a:pt x="77934" y="317"/>
                </a:lnTo>
                <a:lnTo>
                  <a:pt x="38328" y="14116"/>
                </a:lnTo>
                <a:lnTo>
                  <a:pt x="10505" y="44303"/>
                </a:lnTo>
                <a:lnTo>
                  <a:pt x="0" y="85343"/>
                </a:lnTo>
                <a:lnTo>
                  <a:pt x="0" y="426719"/>
                </a:lnTo>
                <a:lnTo>
                  <a:pt x="14116" y="473735"/>
                </a:lnTo>
                <a:lnTo>
                  <a:pt x="44303" y="501558"/>
                </a:lnTo>
                <a:lnTo>
                  <a:pt x="85344" y="512063"/>
                </a:lnTo>
                <a:lnTo>
                  <a:pt x="296925" y="512063"/>
                </a:lnTo>
                <a:lnTo>
                  <a:pt x="225298" y="777493"/>
                </a:lnTo>
                <a:lnTo>
                  <a:pt x="742315" y="512063"/>
                </a:lnTo>
                <a:lnTo>
                  <a:pt x="1703621" y="511746"/>
                </a:lnTo>
                <a:lnTo>
                  <a:pt x="1717790" y="509309"/>
                </a:lnTo>
                <a:lnTo>
                  <a:pt x="1754084" y="489432"/>
                </a:lnTo>
                <a:lnTo>
                  <a:pt x="1776750" y="455012"/>
                </a:lnTo>
                <a:lnTo>
                  <a:pt x="1781556" y="426719"/>
                </a:lnTo>
                <a:lnTo>
                  <a:pt x="1781556" y="298703"/>
                </a:lnTo>
                <a:lnTo>
                  <a:pt x="1781238" y="77934"/>
                </a:lnTo>
                <a:lnTo>
                  <a:pt x="1767439" y="38328"/>
                </a:lnTo>
                <a:lnTo>
                  <a:pt x="1737252" y="10505"/>
                </a:lnTo>
                <a:lnTo>
                  <a:pt x="1710756" y="1235"/>
                </a:lnTo>
                <a:lnTo>
                  <a:pt x="1696212" y="0"/>
                </a:lnTo>
                <a:close/>
              </a:path>
            </a:pathLst>
          </a:custGeom>
          <a:solidFill>
            <a:srgbClr val="FFFFC7"/>
          </a:solidFill>
        </p:spPr>
        <p:txBody>
          <a:bodyPr wrap="square" lIns="0" tIns="0" rIns="0" bIns="0" rtlCol="0"/>
          <a:lstStyle/>
          <a:p>
            <a:endParaRPr/>
          </a:p>
        </p:txBody>
      </p:sp>
      <p:sp>
        <p:nvSpPr>
          <p:cNvPr id="9" name="object 9"/>
          <p:cNvSpPr/>
          <p:nvPr/>
        </p:nvSpPr>
        <p:spPr>
          <a:xfrm>
            <a:off x="5289041" y="1378458"/>
            <a:ext cx="1781810" cy="777875"/>
          </a:xfrm>
          <a:custGeom>
            <a:avLst/>
            <a:gdLst/>
            <a:ahLst/>
            <a:cxnLst/>
            <a:rect l="l" t="t" r="r" b="b"/>
            <a:pathLst>
              <a:path w="1781809" h="777875">
                <a:moveTo>
                  <a:pt x="0" y="85343"/>
                </a:moveTo>
                <a:lnTo>
                  <a:pt x="10505" y="44303"/>
                </a:lnTo>
                <a:lnTo>
                  <a:pt x="38328" y="14116"/>
                </a:lnTo>
                <a:lnTo>
                  <a:pt x="77934" y="317"/>
                </a:lnTo>
                <a:lnTo>
                  <a:pt x="296925" y="0"/>
                </a:lnTo>
                <a:lnTo>
                  <a:pt x="742315" y="0"/>
                </a:lnTo>
                <a:lnTo>
                  <a:pt x="1696212" y="0"/>
                </a:lnTo>
                <a:lnTo>
                  <a:pt x="1710756" y="1235"/>
                </a:lnTo>
                <a:lnTo>
                  <a:pt x="1748794" y="18128"/>
                </a:lnTo>
                <a:lnTo>
                  <a:pt x="1774133" y="50494"/>
                </a:lnTo>
                <a:lnTo>
                  <a:pt x="1781556" y="298703"/>
                </a:lnTo>
                <a:lnTo>
                  <a:pt x="1781556" y="426719"/>
                </a:lnTo>
                <a:lnTo>
                  <a:pt x="1780320" y="441264"/>
                </a:lnTo>
                <a:lnTo>
                  <a:pt x="1776750" y="455012"/>
                </a:lnTo>
                <a:lnTo>
                  <a:pt x="1754084" y="489432"/>
                </a:lnTo>
                <a:lnTo>
                  <a:pt x="1717790" y="509309"/>
                </a:lnTo>
                <a:lnTo>
                  <a:pt x="742315" y="512063"/>
                </a:lnTo>
                <a:lnTo>
                  <a:pt x="225298" y="777493"/>
                </a:lnTo>
                <a:lnTo>
                  <a:pt x="296925" y="512063"/>
                </a:lnTo>
                <a:lnTo>
                  <a:pt x="85344" y="512063"/>
                </a:lnTo>
                <a:lnTo>
                  <a:pt x="70799" y="510828"/>
                </a:lnTo>
                <a:lnTo>
                  <a:pt x="32761" y="493935"/>
                </a:lnTo>
                <a:lnTo>
                  <a:pt x="7422" y="461569"/>
                </a:lnTo>
                <a:lnTo>
                  <a:pt x="0" y="426719"/>
                </a:lnTo>
                <a:lnTo>
                  <a:pt x="0" y="298703"/>
                </a:lnTo>
                <a:lnTo>
                  <a:pt x="0" y="85343"/>
                </a:lnTo>
                <a:close/>
              </a:path>
            </a:pathLst>
          </a:custGeom>
          <a:ln w="28956">
            <a:solidFill>
              <a:srgbClr val="000000"/>
            </a:solidFill>
          </a:ln>
        </p:spPr>
        <p:txBody>
          <a:bodyPr wrap="square" lIns="0" tIns="0" rIns="0" bIns="0" rtlCol="0"/>
          <a:lstStyle/>
          <a:p>
            <a:endParaRPr/>
          </a:p>
        </p:txBody>
      </p:sp>
      <p:sp>
        <p:nvSpPr>
          <p:cNvPr id="10" name="object 10"/>
          <p:cNvSpPr txBox="1"/>
          <p:nvPr/>
        </p:nvSpPr>
        <p:spPr>
          <a:xfrm>
            <a:off x="5400294" y="1469072"/>
            <a:ext cx="1557020" cy="330200"/>
          </a:xfrm>
          <a:prstGeom prst="rect">
            <a:avLst/>
          </a:prstGeom>
        </p:spPr>
        <p:txBody>
          <a:bodyPr vert="horz" wrap="square" lIns="0" tIns="0" rIns="0" bIns="0" rtlCol="0">
            <a:spAutoFit/>
          </a:bodyPr>
          <a:lstStyle/>
          <a:p>
            <a:pPr marL="12700">
              <a:lnSpc>
                <a:spcPts val="2840"/>
              </a:lnSpc>
            </a:pPr>
            <a:r>
              <a:rPr sz="2400" b="1" spc="10" dirty="0">
                <a:latin typeface="Microsoft JhengHei"/>
                <a:cs typeface="Microsoft JhengHei"/>
              </a:rPr>
              <a:t>时钟初始化</a:t>
            </a:r>
            <a:endParaRPr sz="2400">
              <a:latin typeface="Microsoft JhengHei"/>
              <a:cs typeface="Microsoft JhengHei"/>
            </a:endParaRPr>
          </a:p>
        </p:txBody>
      </p:sp>
      <p:sp>
        <p:nvSpPr>
          <p:cNvPr id="11" name="object 11"/>
          <p:cNvSpPr/>
          <p:nvPr/>
        </p:nvSpPr>
        <p:spPr>
          <a:xfrm>
            <a:off x="1728977" y="3429761"/>
            <a:ext cx="6983095" cy="2550160"/>
          </a:xfrm>
          <a:custGeom>
            <a:avLst/>
            <a:gdLst/>
            <a:ahLst/>
            <a:cxnLst/>
            <a:rect l="l" t="t" r="r" b="b"/>
            <a:pathLst>
              <a:path w="6983095" h="2550160">
                <a:moveTo>
                  <a:pt x="0" y="2549652"/>
                </a:moveTo>
                <a:lnTo>
                  <a:pt x="6982968" y="2549652"/>
                </a:lnTo>
                <a:lnTo>
                  <a:pt x="6982968" y="0"/>
                </a:lnTo>
                <a:lnTo>
                  <a:pt x="0" y="0"/>
                </a:lnTo>
                <a:lnTo>
                  <a:pt x="0" y="2549652"/>
                </a:lnTo>
                <a:close/>
              </a:path>
            </a:pathLst>
          </a:custGeom>
          <a:ln w="38099">
            <a:solidFill>
              <a:srgbClr val="FF0000"/>
            </a:solidFill>
          </a:ln>
        </p:spPr>
        <p:txBody>
          <a:bodyPr wrap="square" lIns="0" tIns="0" rIns="0" bIns="0" rtlCol="0"/>
          <a:lstStyle/>
          <a:p>
            <a:endParaRPr/>
          </a:p>
        </p:txBody>
      </p:sp>
      <p:sp>
        <p:nvSpPr>
          <p:cNvPr id="12" name="object 12"/>
          <p:cNvSpPr/>
          <p:nvPr/>
        </p:nvSpPr>
        <p:spPr>
          <a:xfrm>
            <a:off x="8786368" y="4306061"/>
            <a:ext cx="1861185" cy="740410"/>
          </a:xfrm>
          <a:custGeom>
            <a:avLst/>
            <a:gdLst/>
            <a:ahLst/>
            <a:cxnLst/>
            <a:rect l="l" t="t" r="r" b="b"/>
            <a:pathLst>
              <a:path w="1861184" h="740410">
                <a:moveTo>
                  <a:pt x="1775459" y="0"/>
                </a:moveTo>
                <a:lnTo>
                  <a:pt x="376427" y="0"/>
                </a:lnTo>
                <a:lnTo>
                  <a:pt x="157280" y="353"/>
                </a:lnTo>
                <a:lnTo>
                  <a:pt x="117744" y="14298"/>
                </a:lnTo>
                <a:lnTo>
                  <a:pt x="89981" y="44550"/>
                </a:lnTo>
                <a:lnTo>
                  <a:pt x="79501" y="85598"/>
                </a:lnTo>
                <a:lnTo>
                  <a:pt x="79501" y="427989"/>
                </a:lnTo>
                <a:lnTo>
                  <a:pt x="93800" y="475345"/>
                </a:lnTo>
                <a:lnTo>
                  <a:pt x="124052" y="503108"/>
                </a:lnTo>
                <a:lnTo>
                  <a:pt x="165100" y="513588"/>
                </a:lnTo>
                <a:lnTo>
                  <a:pt x="376427" y="513588"/>
                </a:lnTo>
                <a:lnTo>
                  <a:pt x="0" y="740282"/>
                </a:lnTo>
                <a:lnTo>
                  <a:pt x="821816" y="513588"/>
                </a:lnTo>
                <a:lnTo>
                  <a:pt x="1783279" y="513234"/>
                </a:lnTo>
                <a:lnTo>
                  <a:pt x="1797425" y="510738"/>
                </a:lnTo>
                <a:lnTo>
                  <a:pt x="1833650" y="490745"/>
                </a:lnTo>
                <a:lnTo>
                  <a:pt x="1856264" y="456282"/>
                </a:lnTo>
                <a:lnTo>
                  <a:pt x="1861057" y="427989"/>
                </a:lnTo>
                <a:lnTo>
                  <a:pt x="1861057" y="299593"/>
                </a:lnTo>
                <a:lnTo>
                  <a:pt x="1860704" y="77778"/>
                </a:lnTo>
                <a:lnTo>
                  <a:pt x="1846759" y="38242"/>
                </a:lnTo>
                <a:lnTo>
                  <a:pt x="1816507" y="10479"/>
                </a:lnTo>
                <a:lnTo>
                  <a:pt x="1790001" y="1232"/>
                </a:lnTo>
                <a:lnTo>
                  <a:pt x="1775459" y="0"/>
                </a:lnTo>
                <a:close/>
              </a:path>
            </a:pathLst>
          </a:custGeom>
          <a:solidFill>
            <a:srgbClr val="FFFFC7"/>
          </a:solidFill>
        </p:spPr>
        <p:txBody>
          <a:bodyPr wrap="square" lIns="0" tIns="0" rIns="0" bIns="0" rtlCol="0"/>
          <a:lstStyle/>
          <a:p>
            <a:endParaRPr/>
          </a:p>
        </p:txBody>
      </p:sp>
      <p:sp>
        <p:nvSpPr>
          <p:cNvPr id="13" name="object 13"/>
          <p:cNvSpPr/>
          <p:nvPr/>
        </p:nvSpPr>
        <p:spPr>
          <a:xfrm>
            <a:off x="8786368" y="4306061"/>
            <a:ext cx="1861185" cy="740410"/>
          </a:xfrm>
          <a:custGeom>
            <a:avLst/>
            <a:gdLst/>
            <a:ahLst/>
            <a:cxnLst/>
            <a:rect l="l" t="t" r="r" b="b"/>
            <a:pathLst>
              <a:path w="1861184" h="740410">
                <a:moveTo>
                  <a:pt x="79501" y="85598"/>
                </a:moveTo>
                <a:lnTo>
                  <a:pt x="89981" y="44550"/>
                </a:lnTo>
                <a:lnTo>
                  <a:pt x="117744" y="14298"/>
                </a:lnTo>
                <a:lnTo>
                  <a:pt x="157280" y="353"/>
                </a:lnTo>
                <a:lnTo>
                  <a:pt x="376427" y="0"/>
                </a:lnTo>
                <a:lnTo>
                  <a:pt x="821816" y="0"/>
                </a:lnTo>
                <a:lnTo>
                  <a:pt x="1775459" y="0"/>
                </a:lnTo>
                <a:lnTo>
                  <a:pt x="1790001" y="1232"/>
                </a:lnTo>
                <a:lnTo>
                  <a:pt x="1828063" y="18085"/>
                </a:lnTo>
                <a:lnTo>
                  <a:pt x="1853492" y="50385"/>
                </a:lnTo>
                <a:lnTo>
                  <a:pt x="1861057" y="299593"/>
                </a:lnTo>
                <a:lnTo>
                  <a:pt x="1861057" y="427989"/>
                </a:lnTo>
                <a:lnTo>
                  <a:pt x="1859825" y="442531"/>
                </a:lnTo>
                <a:lnTo>
                  <a:pt x="1856264" y="456282"/>
                </a:lnTo>
                <a:lnTo>
                  <a:pt x="1833650" y="490745"/>
                </a:lnTo>
                <a:lnTo>
                  <a:pt x="1797425" y="510738"/>
                </a:lnTo>
                <a:lnTo>
                  <a:pt x="821816" y="513588"/>
                </a:lnTo>
                <a:lnTo>
                  <a:pt x="0" y="740282"/>
                </a:lnTo>
                <a:lnTo>
                  <a:pt x="376427" y="513588"/>
                </a:lnTo>
                <a:lnTo>
                  <a:pt x="165100" y="513588"/>
                </a:lnTo>
                <a:lnTo>
                  <a:pt x="150558" y="512355"/>
                </a:lnTo>
                <a:lnTo>
                  <a:pt x="112496" y="495502"/>
                </a:lnTo>
                <a:lnTo>
                  <a:pt x="87067" y="463202"/>
                </a:lnTo>
                <a:lnTo>
                  <a:pt x="79501" y="427989"/>
                </a:lnTo>
                <a:lnTo>
                  <a:pt x="79501" y="299593"/>
                </a:lnTo>
                <a:lnTo>
                  <a:pt x="79501" y="85598"/>
                </a:lnTo>
                <a:close/>
              </a:path>
            </a:pathLst>
          </a:custGeom>
          <a:ln w="28956">
            <a:solidFill>
              <a:srgbClr val="000000"/>
            </a:solidFill>
          </a:ln>
        </p:spPr>
        <p:txBody>
          <a:bodyPr wrap="square" lIns="0" tIns="0" rIns="0" bIns="0" rtlCol="0"/>
          <a:lstStyle/>
          <a:p>
            <a:endParaRPr/>
          </a:p>
        </p:txBody>
      </p:sp>
      <p:sp>
        <p:nvSpPr>
          <p:cNvPr id="14" name="object 14"/>
          <p:cNvSpPr txBox="1"/>
          <p:nvPr/>
        </p:nvSpPr>
        <p:spPr>
          <a:xfrm>
            <a:off x="8978010" y="4397938"/>
            <a:ext cx="1558925" cy="330835"/>
          </a:xfrm>
          <a:prstGeom prst="rect">
            <a:avLst/>
          </a:prstGeom>
        </p:spPr>
        <p:txBody>
          <a:bodyPr vert="horz" wrap="square" lIns="0" tIns="0" rIns="0" bIns="0" rtlCol="0">
            <a:spAutoFit/>
          </a:bodyPr>
          <a:lstStyle/>
          <a:p>
            <a:pPr marL="12700">
              <a:lnSpc>
                <a:spcPts val="2840"/>
              </a:lnSpc>
            </a:pPr>
            <a:r>
              <a:rPr sz="2400" b="1" spc="10" dirty="0">
                <a:latin typeface="Microsoft JhengHei"/>
                <a:cs typeface="Microsoft JhengHei"/>
              </a:rPr>
              <a:t>引脚初始化</a:t>
            </a:r>
            <a:endParaRPr sz="2400">
              <a:latin typeface="Microsoft JhengHei"/>
              <a:cs typeface="Microsoft JhengHei"/>
            </a:endParaRPr>
          </a:p>
        </p:txBody>
      </p:sp>
      <p:sp>
        <p:nvSpPr>
          <p:cNvPr id="15" name="object 15"/>
          <p:cNvSpPr/>
          <p:nvPr/>
        </p:nvSpPr>
        <p:spPr>
          <a:xfrm>
            <a:off x="1960626" y="140970"/>
            <a:ext cx="2228215" cy="341630"/>
          </a:xfrm>
          <a:custGeom>
            <a:avLst/>
            <a:gdLst/>
            <a:ahLst/>
            <a:cxnLst/>
            <a:rect l="l" t="t" r="r" b="b"/>
            <a:pathLst>
              <a:path w="2228215" h="341630">
                <a:moveTo>
                  <a:pt x="0" y="341375"/>
                </a:moveTo>
                <a:lnTo>
                  <a:pt x="2228088" y="341375"/>
                </a:lnTo>
                <a:lnTo>
                  <a:pt x="2228088" y="0"/>
                </a:lnTo>
                <a:lnTo>
                  <a:pt x="0" y="0"/>
                </a:lnTo>
                <a:lnTo>
                  <a:pt x="0" y="341375"/>
                </a:lnTo>
                <a:close/>
              </a:path>
            </a:pathLst>
          </a:custGeom>
          <a:ln w="38100">
            <a:solidFill>
              <a:srgbClr val="FF0000"/>
            </a:solidFill>
          </a:ln>
        </p:spPr>
        <p:txBody>
          <a:bodyPr wrap="square" lIns="0" tIns="0" rIns="0" bIns="0" rtlCol="0"/>
          <a:lstStyle/>
          <a:p>
            <a:endParaRPr/>
          </a:p>
        </p:txBody>
      </p:sp>
    </p:spTree>
    <p:extLst>
      <p:ext uri="{BB962C8B-B14F-4D97-AF65-F5344CB8AC3E}">
        <p14:creationId xmlns:p14="http://schemas.microsoft.com/office/powerpoint/2010/main" val="313818239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2179320"/>
            <a:ext cx="12192000" cy="1914525"/>
          </a:xfrm>
          <a:custGeom>
            <a:avLst/>
            <a:gdLst/>
            <a:ahLst/>
            <a:cxnLst/>
            <a:rect l="l" t="t" r="r" b="b"/>
            <a:pathLst>
              <a:path w="12192000" h="1914525">
                <a:moveTo>
                  <a:pt x="0" y="1914143"/>
                </a:moveTo>
                <a:lnTo>
                  <a:pt x="12192000" y="1914143"/>
                </a:lnTo>
                <a:lnTo>
                  <a:pt x="12192000" y="0"/>
                </a:lnTo>
                <a:lnTo>
                  <a:pt x="0" y="0"/>
                </a:lnTo>
                <a:lnTo>
                  <a:pt x="0" y="1914143"/>
                </a:lnTo>
                <a:close/>
              </a:path>
            </a:pathLst>
          </a:custGeom>
          <a:solidFill>
            <a:srgbClr val="E34A46"/>
          </a:solidFill>
        </p:spPr>
        <p:txBody>
          <a:bodyPr wrap="square" lIns="0" tIns="0" rIns="0" bIns="0" rtlCol="0"/>
          <a:lstStyle/>
          <a:p>
            <a:endParaRPr/>
          </a:p>
        </p:txBody>
      </p:sp>
      <p:sp>
        <p:nvSpPr>
          <p:cNvPr id="3" name="object 3"/>
          <p:cNvSpPr txBox="1">
            <a:spLocks noGrp="1"/>
          </p:cNvSpPr>
          <p:nvPr>
            <p:ph type="title"/>
          </p:nvPr>
        </p:nvSpPr>
        <p:spPr>
          <a:xfrm>
            <a:off x="2580513" y="2772004"/>
            <a:ext cx="7030084" cy="711200"/>
          </a:xfrm>
          <a:prstGeom prst="rect">
            <a:avLst/>
          </a:prstGeom>
        </p:spPr>
        <p:txBody>
          <a:bodyPr vert="horz" wrap="square" lIns="0" tIns="0" rIns="0" bIns="0" rtlCol="0">
            <a:spAutoFit/>
          </a:bodyPr>
          <a:lstStyle/>
          <a:p>
            <a:pPr marL="12700">
              <a:lnSpc>
                <a:spcPct val="100000"/>
              </a:lnSpc>
              <a:tabLst>
                <a:tab pos="844550" algn="l"/>
              </a:tabLst>
            </a:pPr>
            <a:r>
              <a:rPr sz="5400" spc="-5" dirty="0">
                <a:solidFill>
                  <a:srgbClr val="FFFFFF"/>
                </a:solidFill>
                <a:latin typeface="微软雅黑"/>
                <a:cs typeface="微软雅黑"/>
              </a:rPr>
              <a:t>1	</a:t>
            </a:r>
            <a:r>
              <a:rPr sz="5400" spc="-5" dirty="0">
                <a:solidFill>
                  <a:srgbClr val="FFFFFF"/>
                </a:solidFill>
              </a:rPr>
              <a:t>轮询方式的接口函数</a:t>
            </a:r>
            <a:endParaRPr sz="5400">
              <a:latin typeface="微软雅黑"/>
              <a:cs typeface="微软雅黑"/>
            </a:endParaRPr>
          </a:p>
        </p:txBody>
      </p:sp>
    </p:spTree>
    <p:extLst>
      <p:ext uri="{BB962C8B-B14F-4D97-AF65-F5344CB8AC3E}">
        <p14:creationId xmlns:p14="http://schemas.microsoft.com/office/powerpoint/2010/main" val="18415685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200133" y="6608820"/>
            <a:ext cx="2796540" cy="177800"/>
          </a:xfrm>
          <a:prstGeom prst="rect">
            <a:avLst/>
          </a:prstGeom>
        </p:spPr>
        <p:txBody>
          <a:bodyPr vert="horz" wrap="square" lIns="0" tIns="0" rIns="0" bIns="0" rtlCol="0">
            <a:spAutoFit/>
          </a:bodyPr>
          <a:lstStyle/>
          <a:p>
            <a:pPr marL="12700">
              <a:lnSpc>
                <a:spcPct val="100000"/>
              </a:lnSpc>
            </a:pPr>
            <a:r>
              <a:rPr sz="1200" b="1" spc="-5" dirty="0">
                <a:solidFill>
                  <a:srgbClr val="FFFFFF"/>
                </a:solidFill>
                <a:latin typeface="微软雅黑"/>
                <a:cs typeface="微软雅黑"/>
              </a:rPr>
              <a:t>--</a:t>
            </a:r>
            <a:r>
              <a:rPr sz="1200" b="1" spc="5" dirty="0">
                <a:solidFill>
                  <a:srgbClr val="FFFFFF"/>
                </a:solidFill>
                <a:latin typeface="微软雅黑"/>
                <a:cs typeface="微软雅黑"/>
              </a:rPr>
              <a:t> </a:t>
            </a:r>
            <a:r>
              <a:rPr sz="1200" b="1" dirty="0">
                <a:solidFill>
                  <a:srgbClr val="FFFFFF"/>
                </a:solidFill>
                <a:latin typeface="微软雅黑"/>
                <a:cs typeface="微软雅黑"/>
              </a:rPr>
              <a:t>南昌大学“卓越”辅导员培养工程建设</a:t>
            </a:r>
            <a:endParaRPr sz="1200">
              <a:latin typeface="微软雅黑"/>
              <a:cs typeface="微软雅黑"/>
            </a:endParaRPr>
          </a:p>
        </p:txBody>
      </p:sp>
      <p:sp>
        <p:nvSpPr>
          <p:cNvPr id="4" name="object 4"/>
          <p:cNvSpPr txBox="1">
            <a:spLocks noGrp="1"/>
          </p:cNvSpPr>
          <p:nvPr>
            <p:ph type="title"/>
          </p:nvPr>
        </p:nvSpPr>
        <p:spPr>
          <a:xfrm>
            <a:off x="3104133" y="675823"/>
            <a:ext cx="5965190" cy="381000"/>
          </a:xfrm>
          <a:prstGeom prst="rect">
            <a:avLst/>
          </a:prstGeom>
        </p:spPr>
        <p:txBody>
          <a:bodyPr vert="horz" wrap="square" lIns="0" tIns="0" rIns="0" bIns="0" rtlCol="0">
            <a:spAutoFit/>
          </a:bodyPr>
          <a:lstStyle/>
          <a:p>
            <a:pPr marL="12700">
              <a:lnSpc>
                <a:spcPct val="100000"/>
              </a:lnSpc>
              <a:tabLst>
                <a:tab pos="443865" algn="l"/>
              </a:tabLst>
            </a:pPr>
            <a:r>
              <a:rPr spc="-5" dirty="0">
                <a:solidFill>
                  <a:srgbClr val="000000"/>
                </a:solidFill>
                <a:latin typeface="微软雅黑"/>
                <a:cs typeface="微软雅黑"/>
              </a:rPr>
              <a:t>1	</a:t>
            </a:r>
            <a:r>
              <a:rPr spc="-5" dirty="0">
                <a:solidFill>
                  <a:srgbClr val="000000"/>
                </a:solidFill>
              </a:rPr>
              <a:t>串口初始化函数：</a:t>
            </a:r>
            <a:r>
              <a:rPr spc="-10" dirty="0">
                <a:solidFill>
                  <a:srgbClr val="000000"/>
                </a:solidFill>
                <a:latin typeface="微软雅黑"/>
                <a:cs typeface="微软雅黑"/>
              </a:rPr>
              <a:t>HA</a:t>
            </a:r>
            <a:r>
              <a:rPr spc="-15" dirty="0">
                <a:solidFill>
                  <a:srgbClr val="000000"/>
                </a:solidFill>
                <a:latin typeface="微软雅黑"/>
                <a:cs typeface="微软雅黑"/>
              </a:rPr>
              <a:t>L</a:t>
            </a:r>
            <a:r>
              <a:rPr spc="-10" dirty="0">
                <a:solidFill>
                  <a:srgbClr val="000000"/>
                </a:solidFill>
                <a:latin typeface="微软雅黑"/>
                <a:cs typeface="微软雅黑"/>
              </a:rPr>
              <a:t>_</a:t>
            </a:r>
            <a:r>
              <a:rPr spc="-70" dirty="0">
                <a:solidFill>
                  <a:srgbClr val="000000"/>
                </a:solidFill>
                <a:latin typeface="微软雅黑"/>
                <a:cs typeface="微软雅黑"/>
              </a:rPr>
              <a:t>U</a:t>
            </a:r>
            <a:r>
              <a:rPr spc="-5" dirty="0">
                <a:solidFill>
                  <a:srgbClr val="000000"/>
                </a:solidFill>
                <a:latin typeface="微软雅黑"/>
                <a:cs typeface="微软雅黑"/>
              </a:rPr>
              <a:t>A</a:t>
            </a:r>
            <a:r>
              <a:rPr spc="-65" dirty="0">
                <a:solidFill>
                  <a:srgbClr val="000000"/>
                </a:solidFill>
                <a:latin typeface="微软雅黑"/>
                <a:cs typeface="微软雅黑"/>
              </a:rPr>
              <a:t>R</a:t>
            </a:r>
            <a:r>
              <a:rPr spc="-10" dirty="0">
                <a:solidFill>
                  <a:srgbClr val="000000"/>
                </a:solidFill>
                <a:latin typeface="微软雅黑"/>
                <a:cs typeface="微软雅黑"/>
              </a:rPr>
              <a:t>T_Init</a:t>
            </a:r>
          </a:p>
        </p:txBody>
      </p:sp>
      <p:graphicFrame>
        <p:nvGraphicFramePr>
          <p:cNvPr id="3" name="object 3"/>
          <p:cNvGraphicFramePr>
            <a:graphicFrameLocks noGrp="1"/>
          </p:cNvGraphicFramePr>
          <p:nvPr/>
        </p:nvGraphicFramePr>
        <p:xfrm>
          <a:off x="283692" y="1239837"/>
          <a:ext cx="11596077" cy="5329909"/>
        </p:xfrm>
        <a:graphic>
          <a:graphicData uri="http://schemas.openxmlformats.org/drawingml/2006/table">
            <a:tbl>
              <a:tblPr firstRow="1" bandRow="1">
                <a:tableStyleId>{2D5ABB26-0587-4C30-8999-92F81FD0307C}</a:tableStyleId>
              </a:tblPr>
              <a:tblGrid>
                <a:gridCol w="1567649">
                  <a:extLst>
                    <a:ext uri="{9D8B030D-6E8A-4147-A177-3AD203B41FA5}">
                      <a16:colId xmlns:a16="http://schemas.microsoft.com/office/drawing/2014/main" val="20000"/>
                    </a:ext>
                  </a:extLst>
                </a:gridCol>
                <a:gridCol w="10028428">
                  <a:extLst>
                    <a:ext uri="{9D8B030D-6E8A-4147-A177-3AD203B41FA5}">
                      <a16:colId xmlns:a16="http://schemas.microsoft.com/office/drawing/2014/main" val="20001"/>
                    </a:ext>
                  </a:extLst>
                </a:gridCol>
              </a:tblGrid>
              <a:tr h="741807">
                <a:tc gridSpan="2">
                  <a:txBody>
                    <a:bodyPr/>
                    <a:lstStyle/>
                    <a:p>
                      <a:pPr marL="1270" algn="ctr">
                        <a:lnSpc>
                          <a:spcPct val="100000"/>
                        </a:lnSpc>
                      </a:pPr>
                      <a:r>
                        <a:rPr sz="2400" b="1" dirty="0">
                          <a:solidFill>
                            <a:srgbClr val="FFFFFF"/>
                          </a:solidFill>
                          <a:latin typeface="微软雅黑"/>
                          <a:cs typeface="微软雅黑"/>
                        </a:rPr>
                        <a:t>接口函数：</a:t>
                      </a:r>
                      <a:r>
                        <a:rPr sz="2400" b="1" spc="-5" dirty="0">
                          <a:solidFill>
                            <a:srgbClr val="FFFFFF"/>
                          </a:solidFill>
                          <a:latin typeface="微软雅黑"/>
                          <a:cs typeface="微软雅黑"/>
                        </a:rPr>
                        <a:t>H</a:t>
                      </a:r>
                      <a:r>
                        <a:rPr sz="2400" b="1" spc="-10" dirty="0">
                          <a:solidFill>
                            <a:srgbClr val="FFFFFF"/>
                          </a:solidFill>
                          <a:latin typeface="微软雅黑"/>
                          <a:cs typeface="微软雅黑"/>
                        </a:rPr>
                        <a:t>A</a:t>
                      </a:r>
                      <a:r>
                        <a:rPr sz="2400" b="1" dirty="0">
                          <a:solidFill>
                            <a:srgbClr val="FFFFFF"/>
                          </a:solidFill>
                          <a:latin typeface="微软雅黑"/>
                          <a:cs typeface="微软雅黑"/>
                        </a:rPr>
                        <a:t>L_</a:t>
                      </a:r>
                      <a:r>
                        <a:rPr sz="2400" b="1" spc="-65" dirty="0">
                          <a:solidFill>
                            <a:srgbClr val="FFFFFF"/>
                          </a:solidFill>
                          <a:latin typeface="微软雅黑"/>
                          <a:cs typeface="微软雅黑"/>
                        </a:rPr>
                        <a:t>U</a:t>
                      </a:r>
                      <a:r>
                        <a:rPr sz="2400" b="1" dirty="0">
                          <a:solidFill>
                            <a:srgbClr val="FFFFFF"/>
                          </a:solidFill>
                          <a:latin typeface="微软雅黑"/>
                          <a:cs typeface="微软雅黑"/>
                        </a:rPr>
                        <a:t>A</a:t>
                      </a:r>
                      <a:r>
                        <a:rPr sz="2400" b="1" spc="-50" dirty="0">
                          <a:solidFill>
                            <a:srgbClr val="FFFFFF"/>
                          </a:solidFill>
                          <a:latin typeface="微软雅黑"/>
                          <a:cs typeface="微软雅黑"/>
                        </a:rPr>
                        <a:t>R</a:t>
                      </a:r>
                      <a:r>
                        <a:rPr sz="2400" b="1" spc="-5" dirty="0">
                          <a:solidFill>
                            <a:srgbClr val="FFFFFF"/>
                          </a:solidFill>
                          <a:latin typeface="微软雅黑"/>
                          <a:cs typeface="微软雅黑"/>
                        </a:rPr>
                        <a:t>T_I</a:t>
                      </a:r>
                      <a:r>
                        <a:rPr sz="2400" b="1" spc="5" dirty="0">
                          <a:solidFill>
                            <a:srgbClr val="FFFFFF"/>
                          </a:solidFill>
                          <a:latin typeface="微软雅黑"/>
                          <a:cs typeface="微软雅黑"/>
                        </a:rPr>
                        <a:t>n</a:t>
                      </a:r>
                      <a:r>
                        <a:rPr sz="2400" b="1" dirty="0">
                          <a:solidFill>
                            <a:srgbClr val="FFFFFF"/>
                          </a:solidFill>
                          <a:latin typeface="微软雅黑"/>
                          <a:cs typeface="微软雅黑"/>
                        </a:rPr>
                        <a:t>it</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tc hMerge="1">
                  <a:txBody>
                    <a:bodyPr/>
                    <a:lstStyle/>
                    <a:p>
                      <a:endParaRPr/>
                    </a:p>
                  </a:txBody>
                  <a:tcPr marL="0" marR="0" marT="0" marB="0"/>
                </a:tc>
                <a:extLst>
                  <a:ext uri="{0D108BD9-81ED-4DB2-BD59-A6C34878D82A}">
                    <a16:rowId xmlns:a16="http://schemas.microsoft.com/office/drawing/2014/main" val="10000"/>
                  </a:ext>
                </a:extLst>
              </a:tr>
              <a:tr h="879220">
                <a:tc>
                  <a:txBody>
                    <a:bodyPr/>
                    <a:lstStyle/>
                    <a:p>
                      <a:pPr marL="159385">
                        <a:lnSpc>
                          <a:spcPct val="100000"/>
                        </a:lnSpc>
                      </a:pPr>
                      <a:r>
                        <a:rPr sz="2400" b="1" dirty="0">
                          <a:latin typeface="微软雅黑"/>
                          <a:cs typeface="微软雅黑"/>
                        </a:rPr>
                        <a:t>函数原型</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4610">
                        <a:lnSpc>
                          <a:spcPct val="100000"/>
                        </a:lnSpc>
                        <a:tabLst>
                          <a:tab pos="3246120" algn="l"/>
                        </a:tabLst>
                      </a:pPr>
                      <a:r>
                        <a:rPr sz="2400" b="1" spc="-5" dirty="0">
                          <a:latin typeface="微软雅黑"/>
                          <a:cs typeface="微软雅黑"/>
                        </a:rPr>
                        <a:t>H</a:t>
                      </a:r>
                      <a:r>
                        <a:rPr sz="2400" b="1" spc="-15" dirty="0">
                          <a:latin typeface="微软雅黑"/>
                          <a:cs typeface="微软雅黑"/>
                        </a:rPr>
                        <a:t>A</a:t>
                      </a:r>
                      <a:r>
                        <a:rPr sz="2400" b="1" dirty="0">
                          <a:latin typeface="微软雅黑"/>
                          <a:cs typeface="微软雅黑"/>
                        </a:rPr>
                        <a:t>L_</a:t>
                      </a:r>
                      <a:r>
                        <a:rPr sz="2400" b="1" spc="-85" dirty="0">
                          <a:latin typeface="微软雅黑"/>
                          <a:cs typeface="微软雅黑"/>
                        </a:rPr>
                        <a:t>S</a:t>
                      </a:r>
                      <a:r>
                        <a:rPr sz="2400" b="1" spc="-5" dirty="0">
                          <a:latin typeface="微软雅黑"/>
                          <a:cs typeface="微软雅黑"/>
                        </a:rPr>
                        <a:t>tat</a:t>
                      </a:r>
                      <a:r>
                        <a:rPr sz="2400" b="1" spc="5" dirty="0">
                          <a:latin typeface="微软雅黑"/>
                          <a:cs typeface="微软雅黑"/>
                        </a:rPr>
                        <a:t>u</a:t>
                      </a:r>
                      <a:r>
                        <a:rPr sz="2400" b="1" dirty="0">
                          <a:latin typeface="微软雅黑"/>
                          <a:cs typeface="微软雅黑"/>
                        </a:rPr>
                        <a:t>s</a:t>
                      </a:r>
                      <a:r>
                        <a:rPr sz="2400" b="1" spc="-125" dirty="0">
                          <a:latin typeface="微软雅黑"/>
                          <a:cs typeface="微软雅黑"/>
                        </a:rPr>
                        <a:t>T</a:t>
                      </a:r>
                      <a:r>
                        <a:rPr sz="2400" b="1" spc="-5" dirty="0">
                          <a:latin typeface="微软雅黑"/>
                          <a:cs typeface="微软雅黑"/>
                        </a:rPr>
                        <a:t>yp</a:t>
                      </a:r>
                      <a:r>
                        <a:rPr sz="2400" b="1" spc="-10" dirty="0">
                          <a:latin typeface="微软雅黑"/>
                          <a:cs typeface="微软雅黑"/>
                        </a:rPr>
                        <a:t>e</a:t>
                      </a:r>
                      <a:r>
                        <a:rPr sz="2400" b="1" dirty="0">
                          <a:latin typeface="微软雅黑"/>
                          <a:cs typeface="微软雅黑"/>
                        </a:rPr>
                        <a:t>D</a:t>
                      </a:r>
                      <a:r>
                        <a:rPr sz="2400" b="1" spc="-15" dirty="0">
                          <a:latin typeface="微软雅黑"/>
                          <a:cs typeface="微软雅黑"/>
                        </a:rPr>
                        <a:t>e</a:t>
                      </a:r>
                      <a:r>
                        <a:rPr sz="2400" b="1" dirty="0">
                          <a:latin typeface="微软雅黑"/>
                          <a:cs typeface="微软雅黑"/>
                        </a:rPr>
                        <a:t>f	</a:t>
                      </a:r>
                      <a:r>
                        <a:rPr sz="2400" b="1" spc="-5" dirty="0">
                          <a:latin typeface="微软雅黑"/>
                          <a:cs typeface="微软雅黑"/>
                        </a:rPr>
                        <a:t>H</a:t>
                      </a:r>
                      <a:r>
                        <a:rPr sz="2400" b="1" spc="-15" dirty="0">
                          <a:latin typeface="微软雅黑"/>
                          <a:cs typeface="微软雅黑"/>
                        </a:rPr>
                        <a:t>A</a:t>
                      </a:r>
                      <a:r>
                        <a:rPr sz="2400" b="1" dirty="0">
                          <a:latin typeface="微软雅黑"/>
                          <a:cs typeface="微软雅黑"/>
                        </a:rPr>
                        <a:t>L_</a:t>
                      </a:r>
                      <a:r>
                        <a:rPr sz="2400" b="1" spc="-70" dirty="0">
                          <a:latin typeface="微软雅黑"/>
                          <a:cs typeface="微软雅黑"/>
                        </a:rPr>
                        <a:t>U</a:t>
                      </a:r>
                      <a:r>
                        <a:rPr sz="2400" b="1" dirty="0">
                          <a:latin typeface="微软雅黑"/>
                          <a:cs typeface="微软雅黑"/>
                        </a:rPr>
                        <a:t>A</a:t>
                      </a:r>
                      <a:r>
                        <a:rPr sz="2400" b="1" spc="-55" dirty="0">
                          <a:latin typeface="微软雅黑"/>
                          <a:cs typeface="微软雅黑"/>
                        </a:rPr>
                        <a:t>R</a:t>
                      </a:r>
                      <a:r>
                        <a:rPr sz="2400" b="1" spc="-5" dirty="0">
                          <a:latin typeface="微软雅黑"/>
                          <a:cs typeface="微软雅黑"/>
                        </a:rPr>
                        <a:t>T_Init</a:t>
                      </a:r>
                      <a:endParaRPr sz="2400">
                        <a:latin typeface="微软雅黑"/>
                        <a:cs typeface="微软雅黑"/>
                      </a:endParaRPr>
                    </a:p>
                    <a:p>
                      <a:pPr marL="54610">
                        <a:lnSpc>
                          <a:spcPct val="100000"/>
                        </a:lnSpc>
                      </a:pPr>
                      <a:r>
                        <a:rPr sz="2400" b="1" dirty="0">
                          <a:latin typeface="微软雅黑"/>
                          <a:cs typeface="微软雅黑"/>
                        </a:rPr>
                        <a:t>(</a:t>
                      </a:r>
                      <a:r>
                        <a:rPr sz="2400" b="1" spc="-65" dirty="0">
                          <a:latin typeface="微软雅黑"/>
                          <a:cs typeface="微软雅黑"/>
                        </a:rPr>
                        <a:t>U</a:t>
                      </a:r>
                      <a:r>
                        <a:rPr sz="2400" b="1" dirty="0">
                          <a:latin typeface="微软雅黑"/>
                          <a:cs typeface="微软雅黑"/>
                        </a:rPr>
                        <a:t>A</a:t>
                      </a:r>
                      <a:r>
                        <a:rPr sz="2400" b="1" spc="-50" dirty="0">
                          <a:latin typeface="微软雅黑"/>
                          <a:cs typeface="微软雅黑"/>
                        </a:rPr>
                        <a:t>R</a:t>
                      </a:r>
                      <a:r>
                        <a:rPr sz="2400" b="1" spc="-5" dirty="0">
                          <a:latin typeface="微软雅黑"/>
                          <a:cs typeface="微软雅黑"/>
                        </a:rPr>
                        <a:t>T_H</a:t>
                      </a:r>
                      <a:r>
                        <a:rPr sz="2400" b="1" spc="5" dirty="0">
                          <a:latin typeface="微软雅黑"/>
                          <a:cs typeface="微软雅黑"/>
                        </a:rPr>
                        <a:t>a</a:t>
                      </a:r>
                      <a:r>
                        <a:rPr sz="2400" b="1" dirty="0">
                          <a:latin typeface="微软雅黑"/>
                          <a:cs typeface="微软雅黑"/>
                        </a:rPr>
                        <a:t>ndle</a:t>
                      </a:r>
                      <a:r>
                        <a:rPr sz="2400" b="1" spc="-125" dirty="0">
                          <a:latin typeface="微软雅黑"/>
                          <a:cs typeface="微软雅黑"/>
                        </a:rPr>
                        <a:t>T</a:t>
                      </a:r>
                      <a:r>
                        <a:rPr sz="2400" b="1" spc="-5" dirty="0">
                          <a:latin typeface="微软雅黑"/>
                          <a:cs typeface="微软雅黑"/>
                        </a:rPr>
                        <a:t>ype</a:t>
                      </a:r>
                      <a:r>
                        <a:rPr sz="2400" b="1" spc="-10" dirty="0">
                          <a:latin typeface="微软雅黑"/>
                          <a:cs typeface="微软雅黑"/>
                        </a:rPr>
                        <a:t>D</a:t>
                      </a:r>
                      <a:r>
                        <a:rPr sz="2400" b="1" dirty="0">
                          <a:latin typeface="微软雅黑"/>
                          <a:cs typeface="微软雅黑"/>
                        </a:rPr>
                        <a:t>ef</a:t>
                      </a:r>
                      <a:r>
                        <a:rPr sz="2400" b="1" spc="25" dirty="0">
                          <a:latin typeface="微软雅黑"/>
                          <a:cs typeface="微软雅黑"/>
                        </a:rPr>
                        <a:t> </a:t>
                      </a:r>
                      <a:r>
                        <a:rPr sz="2400" b="1" spc="-10" dirty="0">
                          <a:latin typeface="微软雅黑"/>
                          <a:cs typeface="微软雅黑"/>
                        </a:rPr>
                        <a:t>*</a:t>
                      </a:r>
                      <a:r>
                        <a:rPr sz="2400" b="1" dirty="0">
                          <a:latin typeface="微软雅黑"/>
                          <a:cs typeface="微软雅黑"/>
                        </a:rPr>
                        <a:t>hua</a:t>
                      </a:r>
                      <a:r>
                        <a:rPr sz="2400" b="1" spc="70" dirty="0">
                          <a:latin typeface="微软雅黑"/>
                          <a:cs typeface="微软雅黑"/>
                        </a:rPr>
                        <a:t>r</a:t>
                      </a:r>
                      <a:r>
                        <a:rPr sz="2400" b="1" spc="10" dirty="0">
                          <a:latin typeface="微软雅黑"/>
                          <a:cs typeface="微软雅黑"/>
                        </a:rPr>
                        <a:t>t</a:t>
                      </a:r>
                      <a:r>
                        <a:rPr sz="2400" b="1" dirty="0">
                          <a:latin typeface="微软雅黑"/>
                          <a:cs typeface="微软雅黑"/>
                        </a:rPr>
                        <a:t>)</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1"/>
                  </a:ext>
                </a:extLst>
              </a:tr>
              <a:tr h="741807">
                <a:tc>
                  <a:txBody>
                    <a:bodyPr/>
                    <a:lstStyle/>
                    <a:p>
                      <a:pPr marL="159385">
                        <a:lnSpc>
                          <a:spcPct val="100000"/>
                        </a:lnSpc>
                      </a:pPr>
                      <a:r>
                        <a:rPr sz="2400" b="1" spc="-5" dirty="0">
                          <a:latin typeface="微软雅黑"/>
                          <a:cs typeface="微软雅黑"/>
                        </a:rPr>
                        <a:t>功能描述</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4610">
                        <a:lnSpc>
                          <a:spcPct val="100000"/>
                        </a:lnSpc>
                      </a:pPr>
                      <a:r>
                        <a:rPr sz="2400" b="1" spc="-5" dirty="0">
                          <a:latin typeface="微软雅黑"/>
                          <a:cs typeface="微软雅黑"/>
                        </a:rPr>
                        <a:t>按照串口句柄中指定的参数初始化串口</a:t>
                      </a:r>
                      <a:endParaRPr sz="2400" dirty="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r h="741807">
                <a:tc>
                  <a:txBody>
                    <a:bodyPr/>
                    <a:lstStyle/>
                    <a:p>
                      <a:pPr marL="159385">
                        <a:lnSpc>
                          <a:spcPct val="100000"/>
                        </a:lnSpc>
                      </a:pPr>
                      <a:r>
                        <a:rPr sz="2400" b="1" dirty="0">
                          <a:latin typeface="微软雅黑"/>
                          <a:cs typeface="微软雅黑"/>
                        </a:rPr>
                        <a:t>入口参数</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4610">
                        <a:lnSpc>
                          <a:spcPct val="100000"/>
                        </a:lnSpc>
                      </a:pPr>
                      <a:r>
                        <a:rPr sz="2400" b="1" dirty="0">
                          <a:latin typeface="微软雅黑"/>
                          <a:cs typeface="微软雅黑"/>
                        </a:rPr>
                        <a:t>hua</a:t>
                      </a:r>
                      <a:r>
                        <a:rPr sz="2400" b="1" spc="70" dirty="0">
                          <a:latin typeface="微软雅黑"/>
                          <a:cs typeface="微软雅黑"/>
                        </a:rPr>
                        <a:t>r</a:t>
                      </a:r>
                      <a:r>
                        <a:rPr sz="2400" b="1" spc="5" dirty="0">
                          <a:latin typeface="微软雅黑"/>
                          <a:cs typeface="微软雅黑"/>
                        </a:rPr>
                        <a:t>t</a:t>
                      </a:r>
                      <a:r>
                        <a:rPr sz="2400" b="1" dirty="0">
                          <a:latin typeface="微软雅黑"/>
                          <a:cs typeface="微软雅黑"/>
                        </a:rPr>
                        <a:t>：串口句柄的地址</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3"/>
                  </a:ext>
                </a:extLst>
              </a:tr>
              <a:tr h="741680">
                <a:tc>
                  <a:txBody>
                    <a:bodyPr/>
                    <a:lstStyle/>
                    <a:p>
                      <a:pPr marL="311785">
                        <a:lnSpc>
                          <a:spcPct val="100000"/>
                        </a:lnSpc>
                      </a:pPr>
                      <a:r>
                        <a:rPr sz="2400" b="1" dirty="0">
                          <a:latin typeface="微软雅黑"/>
                          <a:cs typeface="微软雅黑"/>
                        </a:rPr>
                        <a:t>返回值</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4610">
                        <a:lnSpc>
                          <a:spcPct val="100000"/>
                        </a:lnSpc>
                      </a:pPr>
                      <a:r>
                        <a:rPr sz="2400" b="1" spc="-5" dirty="0">
                          <a:latin typeface="微软雅黑"/>
                          <a:cs typeface="微软雅黑"/>
                        </a:rPr>
                        <a:t>H</a:t>
                      </a:r>
                      <a:r>
                        <a:rPr sz="2400" b="1" spc="-10" dirty="0">
                          <a:latin typeface="微软雅黑"/>
                          <a:cs typeface="微软雅黑"/>
                        </a:rPr>
                        <a:t>A</a:t>
                      </a:r>
                      <a:r>
                        <a:rPr sz="2400" b="1" spc="-5" dirty="0">
                          <a:latin typeface="微软雅黑"/>
                          <a:cs typeface="微软雅黑"/>
                        </a:rPr>
                        <a:t>L</a:t>
                      </a:r>
                      <a:r>
                        <a:rPr sz="2400" b="1" dirty="0">
                          <a:latin typeface="微软雅黑"/>
                          <a:cs typeface="微软雅黑"/>
                        </a:rPr>
                        <a:t>状态值：</a:t>
                      </a:r>
                      <a:r>
                        <a:rPr sz="2400" b="1" spc="-5" dirty="0">
                          <a:latin typeface="微软雅黑"/>
                          <a:cs typeface="微软雅黑"/>
                        </a:rPr>
                        <a:t>HAL_O</a:t>
                      </a:r>
                      <a:r>
                        <a:rPr sz="2400" b="1" spc="5" dirty="0">
                          <a:latin typeface="微软雅黑"/>
                          <a:cs typeface="微软雅黑"/>
                        </a:rPr>
                        <a:t>K</a:t>
                      </a:r>
                      <a:r>
                        <a:rPr sz="2400" b="1" dirty="0">
                          <a:latin typeface="微软雅黑"/>
                          <a:cs typeface="微软雅黑"/>
                        </a:rPr>
                        <a:t>表示初始化成功，</a:t>
                      </a:r>
                      <a:r>
                        <a:rPr sz="2400" b="1" spc="-5" dirty="0">
                          <a:latin typeface="微软雅黑"/>
                          <a:cs typeface="微软雅黑"/>
                        </a:rPr>
                        <a:t>H</a:t>
                      </a:r>
                      <a:r>
                        <a:rPr sz="2400" b="1" spc="-10" dirty="0">
                          <a:latin typeface="微软雅黑"/>
                          <a:cs typeface="微软雅黑"/>
                        </a:rPr>
                        <a:t>A</a:t>
                      </a:r>
                      <a:r>
                        <a:rPr sz="2400" b="1" dirty="0">
                          <a:latin typeface="微软雅黑"/>
                          <a:cs typeface="微软雅黑"/>
                        </a:rPr>
                        <a:t>L_ER</a:t>
                      </a:r>
                      <a:r>
                        <a:rPr sz="2400" b="1" spc="-25" dirty="0">
                          <a:latin typeface="微软雅黑"/>
                          <a:cs typeface="微软雅黑"/>
                        </a:rPr>
                        <a:t>R</a:t>
                      </a:r>
                      <a:r>
                        <a:rPr sz="2400" b="1" spc="-5" dirty="0">
                          <a:latin typeface="微软雅黑"/>
                          <a:cs typeface="微软雅黑"/>
                        </a:rPr>
                        <a:t>O</a:t>
                      </a:r>
                      <a:r>
                        <a:rPr sz="2400" b="1" spc="10" dirty="0">
                          <a:latin typeface="微软雅黑"/>
                          <a:cs typeface="微软雅黑"/>
                        </a:rPr>
                        <a:t>R</a:t>
                      </a:r>
                      <a:r>
                        <a:rPr sz="2400" b="1" dirty="0">
                          <a:latin typeface="微软雅黑"/>
                          <a:cs typeface="微软雅黑"/>
                        </a:rPr>
                        <a:t>表示初始化失败</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4"/>
                  </a:ext>
                </a:extLst>
              </a:tr>
              <a:tr h="1483588">
                <a:tc>
                  <a:txBody>
                    <a:bodyPr/>
                    <a:lstStyle/>
                    <a:p>
                      <a:pPr marL="159385">
                        <a:lnSpc>
                          <a:spcPct val="100000"/>
                        </a:lnSpc>
                      </a:pPr>
                      <a:r>
                        <a:rPr sz="2400" b="1" dirty="0">
                          <a:latin typeface="微软雅黑"/>
                          <a:cs typeface="微软雅黑"/>
                        </a:rPr>
                        <a:t>注意事项</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11809" marR="278765" indent="-457200">
                        <a:lnSpc>
                          <a:spcPct val="121300"/>
                        </a:lnSpc>
                        <a:tabLst>
                          <a:tab pos="511809" algn="l"/>
                        </a:tabLst>
                      </a:pPr>
                      <a:r>
                        <a:rPr sz="2400" b="1" spc="-5" dirty="0">
                          <a:latin typeface="微软雅黑"/>
                          <a:cs typeface="微软雅黑"/>
                        </a:rPr>
                        <a:t>1</a:t>
                      </a:r>
                      <a:r>
                        <a:rPr sz="2400" b="1" dirty="0">
                          <a:latin typeface="微软雅黑"/>
                          <a:cs typeface="微软雅黑"/>
                        </a:rPr>
                        <a:t>.	该函数将调用与MC</a:t>
                      </a:r>
                      <a:r>
                        <a:rPr sz="2400" b="1" spc="-5" dirty="0">
                          <a:latin typeface="微软雅黑"/>
                          <a:cs typeface="微软雅黑"/>
                        </a:rPr>
                        <a:t>U</a:t>
                      </a:r>
                      <a:r>
                        <a:rPr sz="2400" b="1" dirty="0">
                          <a:latin typeface="微软雅黑"/>
                          <a:cs typeface="微软雅黑"/>
                        </a:rPr>
                        <a:t>相关的初始化函数</a:t>
                      </a:r>
                      <a:r>
                        <a:rPr sz="2400" b="1" spc="-5" dirty="0">
                          <a:latin typeface="微软雅黑"/>
                          <a:cs typeface="微软雅黑"/>
                        </a:rPr>
                        <a:t>H</a:t>
                      </a:r>
                      <a:r>
                        <a:rPr sz="2400" b="1" spc="-10" dirty="0">
                          <a:latin typeface="微软雅黑"/>
                          <a:cs typeface="微软雅黑"/>
                        </a:rPr>
                        <a:t>A</a:t>
                      </a:r>
                      <a:r>
                        <a:rPr sz="2400" b="1" dirty="0">
                          <a:latin typeface="微软雅黑"/>
                          <a:cs typeface="微软雅黑"/>
                        </a:rPr>
                        <a:t>L_</a:t>
                      </a:r>
                      <a:r>
                        <a:rPr sz="2400" b="1" spc="-65" dirty="0">
                          <a:latin typeface="微软雅黑"/>
                          <a:cs typeface="微软雅黑"/>
                        </a:rPr>
                        <a:t>U</a:t>
                      </a:r>
                      <a:r>
                        <a:rPr sz="2400" b="1" dirty="0">
                          <a:latin typeface="微软雅黑"/>
                          <a:cs typeface="微软雅黑"/>
                        </a:rPr>
                        <a:t>A</a:t>
                      </a:r>
                      <a:r>
                        <a:rPr sz="2400" b="1" spc="-50" dirty="0">
                          <a:latin typeface="微软雅黑"/>
                          <a:cs typeface="微软雅黑"/>
                        </a:rPr>
                        <a:t>R</a:t>
                      </a:r>
                      <a:r>
                        <a:rPr sz="2400" b="1" spc="-5" dirty="0">
                          <a:latin typeface="微软雅黑"/>
                          <a:cs typeface="微软雅黑"/>
                        </a:rPr>
                        <a:t>T_</a:t>
                      </a:r>
                      <a:r>
                        <a:rPr sz="2400" b="1" spc="5" dirty="0">
                          <a:latin typeface="微软雅黑"/>
                          <a:cs typeface="微软雅黑"/>
                        </a:rPr>
                        <a:t>M</a:t>
                      </a:r>
                      <a:r>
                        <a:rPr sz="2400" b="1" dirty="0">
                          <a:latin typeface="微软雅黑"/>
                          <a:cs typeface="微软雅黑"/>
                        </a:rPr>
                        <a:t>spIni</a:t>
                      </a:r>
                      <a:r>
                        <a:rPr sz="2400" b="1" spc="5" dirty="0">
                          <a:latin typeface="微软雅黑"/>
                          <a:cs typeface="微软雅黑"/>
                        </a:rPr>
                        <a:t>t</a:t>
                      </a:r>
                      <a:r>
                        <a:rPr sz="2400" b="1" dirty="0">
                          <a:latin typeface="微软雅黑"/>
                          <a:cs typeface="微软雅黑"/>
                        </a:rPr>
                        <a:t>完成时 钟、引脚和中断等底层硬件的初始化操作</a:t>
                      </a:r>
                      <a:endParaRPr sz="2400" dirty="0">
                        <a:latin typeface="微软雅黑"/>
                        <a:cs typeface="微软雅黑"/>
                      </a:endParaRPr>
                    </a:p>
                    <a:p>
                      <a:pPr marL="54610">
                        <a:lnSpc>
                          <a:spcPct val="100000"/>
                        </a:lnSpc>
                        <a:spcBef>
                          <a:spcPts val="625"/>
                        </a:spcBef>
                        <a:tabLst>
                          <a:tab pos="509905" algn="l"/>
                        </a:tabLst>
                      </a:pPr>
                      <a:r>
                        <a:rPr sz="2400" b="1" dirty="0">
                          <a:latin typeface="微软雅黑"/>
                          <a:cs typeface="微软雅黑"/>
                        </a:rPr>
                        <a:t>2.	该函数由</a:t>
                      </a:r>
                      <a:r>
                        <a:rPr sz="2400" b="1" spc="-5" dirty="0">
                          <a:latin typeface="微软雅黑"/>
                          <a:cs typeface="微软雅黑"/>
                        </a:rPr>
                        <a:t>C</a:t>
                      </a:r>
                      <a:r>
                        <a:rPr sz="2400" b="1" spc="5" dirty="0">
                          <a:latin typeface="微软雅黑"/>
                          <a:cs typeface="微软雅黑"/>
                        </a:rPr>
                        <a:t>u</a:t>
                      </a:r>
                      <a:r>
                        <a:rPr sz="2400" b="1" dirty="0">
                          <a:latin typeface="微软雅黑"/>
                          <a:cs typeface="微软雅黑"/>
                        </a:rPr>
                        <a:t>b</a:t>
                      </a:r>
                      <a:r>
                        <a:rPr sz="2400" b="1" spc="-10" dirty="0">
                          <a:latin typeface="微软雅黑"/>
                          <a:cs typeface="微软雅黑"/>
                        </a:rPr>
                        <a:t>e</a:t>
                      </a:r>
                      <a:r>
                        <a:rPr sz="2400" b="1" spc="-5" dirty="0">
                          <a:latin typeface="微软雅黑"/>
                          <a:cs typeface="微软雅黑"/>
                        </a:rPr>
                        <a:t>M</a:t>
                      </a:r>
                      <a:r>
                        <a:rPr sz="2400" b="1" spc="5" dirty="0">
                          <a:latin typeface="微软雅黑"/>
                          <a:cs typeface="微软雅黑"/>
                        </a:rPr>
                        <a:t>X</a:t>
                      </a:r>
                      <a:r>
                        <a:rPr sz="2400" b="1" dirty="0">
                          <a:latin typeface="微软雅黑"/>
                          <a:cs typeface="微软雅黑"/>
                        </a:rPr>
                        <a:t>自动生成</a:t>
                      </a:r>
                      <a:endParaRPr sz="2400" dirty="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93799525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712722" y="5214955"/>
            <a:ext cx="10391140" cy="1559560"/>
          </a:xfrm>
          <a:prstGeom prst="rect">
            <a:avLst/>
          </a:prstGeom>
        </p:spPr>
        <p:txBody>
          <a:bodyPr vert="horz" wrap="square" lIns="0" tIns="0" rIns="0" bIns="0" rtlCol="0">
            <a:spAutoFit/>
          </a:bodyPr>
          <a:lstStyle/>
          <a:p>
            <a:pPr marR="113030" algn="r">
              <a:lnSpc>
                <a:spcPts val="1440"/>
              </a:lnSpc>
            </a:pPr>
            <a:r>
              <a:rPr sz="1200" b="1" spc="-5" dirty="0">
                <a:solidFill>
                  <a:srgbClr val="FFFFFF"/>
                </a:solidFill>
                <a:latin typeface="微软雅黑"/>
                <a:cs typeface="微软雅黑"/>
              </a:rPr>
              <a:t>--</a:t>
            </a:r>
            <a:r>
              <a:rPr sz="1200" b="1" spc="5" dirty="0">
                <a:solidFill>
                  <a:srgbClr val="FFFFFF"/>
                </a:solidFill>
                <a:latin typeface="微软雅黑"/>
                <a:cs typeface="微软雅黑"/>
              </a:rPr>
              <a:t> </a:t>
            </a:r>
            <a:r>
              <a:rPr sz="1200" b="1" dirty="0">
                <a:solidFill>
                  <a:srgbClr val="FFFFFF"/>
                </a:solidFill>
                <a:latin typeface="微软雅黑"/>
                <a:cs typeface="微软雅黑"/>
              </a:rPr>
              <a:t>南昌大学“卓越”辅导员培养工程建设</a:t>
            </a:r>
            <a:endParaRPr sz="1200">
              <a:latin typeface="微软雅黑"/>
              <a:cs typeface="微软雅黑"/>
            </a:endParaRPr>
          </a:p>
        </p:txBody>
      </p:sp>
      <p:sp>
        <p:nvSpPr>
          <p:cNvPr id="3" name="object 3"/>
          <p:cNvSpPr/>
          <p:nvPr/>
        </p:nvSpPr>
        <p:spPr>
          <a:xfrm>
            <a:off x="1712722" y="5214955"/>
            <a:ext cx="10391140" cy="1537335"/>
          </a:xfrm>
          <a:custGeom>
            <a:avLst/>
            <a:gdLst/>
            <a:ahLst/>
            <a:cxnLst/>
            <a:rect l="l" t="t" r="r" b="b"/>
            <a:pathLst>
              <a:path w="10391140" h="1537334">
                <a:moveTo>
                  <a:pt x="0" y="1536827"/>
                </a:moveTo>
                <a:lnTo>
                  <a:pt x="10390759" y="1536827"/>
                </a:lnTo>
                <a:lnTo>
                  <a:pt x="10390759" y="0"/>
                </a:lnTo>
                <a:lnTo>
                  <a:pt x="0" y="0"/>
                </a:lnTo>
                <a:lnTo>
                  <a:pt x="0" y="1536827"/>
                </a:lnTo>
                <a:close/>
              </a:path>
            </a:pathLst>
          </a:custGeom>
          <a:solidFill>
            <a:srgbClr val="FFFFFF"/>
          </a:solidFill>
        </p:spPr>
        <p:txBody>
          <a:bodyPr wrap="square" lIns="0" tIns="0" rIns="0" bIns="0" rtlCol="0"/>
          <a:lstStyle/>
          <a:p>
            <a:endParaRPr/>
          </a:p>
        </p:txBody>
      </p:sp>
      <p:graphicFrame>
        <p:nvGraphicFramePr>
          <p:cNvPr id="4" name="object 4"/>
          <p:cNvGraphicFramePr>
            <a:graphicFrameLocks noGrp="1"/>
          </p:cNvGraphicFramePr>
          <p:nvPr/>
        </p:nvGraphicFramePr>
        <p:xfrm>
          <a:off x="74203" y="78041"/>
          <a:ext cx="12014989" cy="6659449"/>
        </p:xfrm>
        <a:graphic>
          <a:graphicData uri="http://schemas.openxmlformats.org/drawingml/2006/table">
            <a:tbl>
              <a:tblPr firstRow="1" bandRow="1">
                <a:tableStyleId>{2D5ABB26-0587-4C30-8999-92F81FD0307C}</a:tableStyleId>
              </a:tblPr>
              <a:tblGrid>
                <a:gridCol w="1624230">
                  <a:extLst>
                    <a:ext uri="{9D8B030D-6E8A-4147-A177-3AD203B41FA5}">
                      <a16:colId xmlns:a16="http://schemas.microsoft.com/office/drawing/2014/main" val="20000"/>
                    </a:ext>
                  </a:extLst>
                </a:gridCol>
                <a:gridCol w="10390759">
                  <a:extLst>
                    <a:ext uri="{9D8B030D-6E8A-4147-A177-3AD203B41FA5}">
                      <a16:colId xmlns:a16="http://schemas.microsoft.com/office/drawing/2014/main" val="20001"/>
                    </a:ext>
                  </a:extLst>
                </a:gridCol>
              </a:tblGrid>
              <a:tr h="512318">
                <a:tc gridSpan="2">
                  <a:txBody>
                    <a:bodyPr/>
                    <a:lstStyle/>
                    <a:p>
                      <a:pPr marL="3675379">
                        <a:lnSpc>
                          <a:spcPct val="100000"/>
                        </a:lnSpc>
                      </a:pPr>
                      <a:r>
                        <a:rPr sz="2400" b="1" dirty="0">
                          <a:solidFill>
                            <a:srgbClr val="FFFFFF"/>
                          </a:solidFill>
                          <a:latin typeface="微软雅黑"/>
                          <a:cs typeface="微软雅黑"/>
                        </a:rPr>
                        <a:t>接口函数</a:t>
                      </a:r>
                      <a:r>
                        <a:rPr sz="2400" b="1" spc="-10" dirty="0">
                          <a:solidFill>
                            <a:srgbClr val="FFFFFF"/>
                          </a:solidFill>
                          <a:latin typeface="微软雅黑"/>
                          <a:cs typeface="微软雅黑"/>
                        </a:rPr>
                        <a:t>：</a:t>
                      </a:r>
                      <a:r>
                        <a:rPr sz="2400" b="1" spc="-5" dirty="0">
                          <a:solidFill>
                            <a:srgbClr val="FFFFFF"/>
                          </a:solidFill>
                          <a:latin typeface="微软雅黑"/>
                          <a:cs typeface="微软雅黑"/>
                        </a:rPr>
                        <a:t>H</a:t>
                      </a:r>
                      <a:r>
                        <a:rPr sz="2400" b="1" spc="-10" dirty="0">
                          <a:solidFill>
                            <a:srgbClr val="FFFFFF"/>
                          </a:solidFill>
                          <a:latin typeface="微软雅黑"/>
                          <a:cs typeface="微软雅黑"/>
                        </a:rPr>
                        <a:t>A</a:t>
                      </a:r>
                      <a:r>
                        <a:rPr sz="2400" b="1" dirty="0">
                          <a:solidFill>
                            <a:srgbClr val="FFFFFF"/>
                          </a:solidFill>
                          <a:latin typeface="微软雅黑"/>
                          <a:cs typeface="微软雅黑"/>
                        </a:rPr>
                        <a:t>L_</a:t>
                      </a:r>
                      <a:r>
                        <a:rPr sz="2400" b="1" spc="-65" dirty="0">
                          <a:solidFill>
                            <a:srgbClr val="FFFFFF"/>
                          </a:solidFill>
                          <a:latin typeface="微软雅黑"/>
                          <a:cs typeface="微软雅黑"/>
                        </a:rPr>
                        <a:t>U</a:t>
                      </a:r>
                      <a:r>
                        <a:rPr sz="2400" b="1" dirty="0">
                          <a:solidFill>
                            <a:srgbClr val="FFFFFF"/>
                          </a:solidFill>
                          <a:latin typeface="微软雅黑"/>
                          <a:cs typeface="微软雅黑"/>
                        </a:rPr>
                        <a:t>A</a:t>
                      </a:r>
                      <a:r>
                        <a:rPr sz="2400" b="1" spc="-50" dirty="0">
                          <a:solidFill>
                            <a:srgbClr val="FFFFFF"/>
                          </a:solidFill>
                          <a:latin typeface="微软雅黑"/>
                          <a:cs typeface="微软雅黑"/>
                        </a:rPr>
                        <a:t>R</a:t>
                      </a:r>
                      <a:r>
                        <a:rPr sz="2400" b="1" spc="-5" dirty="0">
                          <a:solidFill>
                            <a:srgbClr val="FFFFFF"/>
                          </a:solidFill>
                          <a:latin typeface="微软雅黑"/>
                          <a:cs typeface="微软雅黑"/>
                        </a:rPr>
                        <a:t>T_</a:t>
                      </a:r>
                      <a:r>
                        <a:rPr sz="2400" b="1" spc="-190" dirty="0">
                          <a:solidFill>
                            <a:srgbClr val="FFFFFF"/>
                          </a:solidFill>
                          <a:latin typeface="微软雅黑"/>
                          <a:cs typeface="微软雅黑"/>
                        </a:rPr>
                        <a:t>T</a:t>
                      </a:r>
                      <a:r>
                        <a:rPr sz="2400" b="1" dirty="0">
                          <a:solidFill>
                            <a:srgbClr val="FFFFFF"/>
                          </a:solidFill>
                          <a:latin typeface="微软雅黑"/>
                          <a:cs typeface="微软雅黑"/>
                        </a:rPr>
                        <a:t>r</a:t>
                      </a:r>
                      <a:r>
                        <a:rPr sz="2400" b="1" spc="5" dirty="0">
                          <a:solidFill>
                            <a:srgbClr val="FFFFFF"/>
                          </a:solidFill>
                          <a:latin typeface="微软雅黑"/>
                          <a:cs typeface="微软雅黑"/>
                        </a:rPr>
                        <a:t>a</a:t>
                      </a:r>
                      <a:r>
                        <a:rPr sz="2400" b="1" dirty="0">
                          <a:solidFill>
                            <a:srgbClr val="FFFFFF"/>
                          </a:solidFill>
                          <a:latin typeface="微软雅黑"/>
                          <a:cs typeface="微软雅黑"/>
                        </a:rPr>
                        <a:t>n</a:t>
                      </a:r>
                      <a:r>
                        <a:rPr sz="2400" b="1" spc="5" dirty="0">
                          <a:solidFill>
                            <a:srgbClr val="FFFFFF"/>
                          </a:solidFill>
                          <a:latin typeface="微软雅黑"/>
                          <a:cs typeface="微软雅黑"/>
                        </a:rPr>
                        <a:t>s</a:t>
                      </a:r>
                      <a:r>
                        <a:rPr sz="2400" b="1" dirty="0">
                          <a:solidFill>
                            <a:srgbClr val="FFFFFF"/>
                          </a:solidFill>
                          <a:latin typeface="微软雅黑"/>
                          <a:cs typeface="微软雅黑"/>
                        </a:rPr>
                        <a:t>m</a:t>
                      </a:r>
                      <a:r>
                        <a:rPr sz="2400" b="1" spc="-10" dirty="0">
                          <a:solidFill>
                            <a:srgbClr val="FFFFFF"/>
                          </a:solidFill>
                          <a:latin typeface="微软雅黑"/>
                          <a:cs typeface="微软雅黑"/>
                        </a:rPr>
                        <a:t>i</a:t>
                      </a:r>
                      <a:r>
                        <a:rPr sz="2400" b="1" dirty="0">
                          <a:solidFill>
                            <a:srgbClr val="FFFFFF"/>
                          </a:solidFill>
                          <a:latin typeface="微软雅黑"/>
                          <a:cs typeface="微软雅黑"/>
                        </a:rPr>
                        <a:t>t</a:t>
                      </a:r>
                      <a:endParaRPr sz="2400" dirty="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tc hMerge="1">
                  <a:txBody>
                    <a:bodyPr/>
                    <a:lstStyle/>
                    <a:p>
                      <a:endParaRPr/>
                    </a:p>
                  </a:txBody>
                  <a:tcPr marL="0" marR="0" marT="0" marB="0"/>
                </a:tc>
                <a:extLst>
                  <a:ext uri="{0D108BD9-81ED-4DB2-BD59-A6C34878D82A}">
                    <a16:rowId xmlns:a16="http://schemas.microsoft.com/office/drawing/2014/main" val="10000"/>
                  </a:ext>
                </a:extLst>
              </a:tr>
              <a:tr h="1024508">
                <a:tc>
                  <a:txBody>
                    <a:bodyPr/>
                    <a:lstStyle/>
                    <a:p>
                      <a:pPr marL="187325">
                        <a:lnSpc>
                          <a:spcPct val="100000"/>
                        </a:lnSpc>
                      </a:pPr>
                      <a:r>
                        <a:rPr sz="2400" b="1" dirty="0">
                          <a:latin typeface="微软雅黑"/>
                          <a:cs typeface="微软雅黑"/>
                        </a:rPr>
                        <a:t>函数原型</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ts val="2860"/>
                        </a:lnSpc>
                        <a:tabLst>
                          <a:tab pos="3718560" algn="l"/>
                        </a:tabLst>
                      </a:pPr>
                      <a:r>
                        <a:rPr sz="2400" b="1" spc="-5" dirty="0">
                          <a:latin typeface="微软雅黑"/>
                          <a:cs typeface="微软雅黑"/>
                        </a:rPr>
                        <a:t>H</a:t>
                      </a:r>
                      <a:r>
                        <a:rPr sz="2400" b="1" spc="-10" dirty="0">
                          <a:latin typeface="微软雅黑"/>
                          <a:cs typeface="微软雅黑"/>
                        </a:rPr>
                        <a:t>A</a:t>
                      </a:r>
                      <a:r>
                        <a:rPr sz="2400" b="1" dirty="0">
                          <a:latin typeface="微软雅黑"/>
                          <a:cs typeface="微软雅黑"/>
                        </a:rPr>
                        <a:t>L</a:t>
                      </a:r>
                      <a:r>
                        <a:rPr sz="2400" b="1" spc="5" dirty="0">
                          <a:latin typeface="微软雅黑"/>
                          <a:cs typeface="微软雅黑"/>
                        </a:rPr>
                        <a:t>_</a:t>
                      </a:r>
                      <a:r>
                        <a:rPr sz="2400" b="1" spc="-80" dirty="0">
                          <a:latin typeface="微软雅黑"/>
                          <a:cs typeface="微软雅黑"/>
                        </a:rPr>
                        <a:t>S</a:t>
                      </a:r>
                      <a:r>
                        <a:rPr sz="2400" b="1" spc="-5" dirty="0">
                          <a:latin typeface="微软雅黑"/>
                          <a:cs typeface="微软雅黑"/>
                        </a:rPr>
                        <a:t>t</a:t>
                      </a:r>
                      <a:r>
                        <a:rPr sz="2400" b="1" spc="5" dirty="0">
                          <a:latin typeface="微软雅黑"/>
                          <a:cs typeface="微软雅黑"/>
                        </a:rPr>
                        <a:t>a</a:t>
                      </a:r>
                      <a:r>
                        <a:rPr sz="2400" b="1" spc="10" dirty="0">
                          <a:latin typeface="微软雅黑"/>
                          <a:cs typeface="微软雅黑"/>
                        </a:rPr>
                        <a:t>t</a:t>
                      </a:r>
                      <a:r>
                        <a:rPr sz="2400" b="1" dirty="0">
                          <a:latin typeface="微软雅黑"/>
                          <a:cs typeface="微软雅黑"/>
                        </a:rPr>
                        <a:t>u</a:t>
                      </a:r>
                      <a:r>
                        <a:rPr sz="2400" b="1" spc="5" dirty="0">
                          <a:latin typeface="微软雅黑"/>
                          <a:cs typeface="微软雅黑"/>
                        </a:rPr>
                        <a:t>s</a:t>
                      </a:r>
                      <a:r>
                        <a:rPr sz="2400" b="1" spc="-125" dirty="0">
                          <a:latin typeface="微软雅黑"/>
                          <a:cs typeface="微软雅黑"/>
                        </a:rPr>
                        <a:t>T</a:t>
                      </a:r>
                      <a:r>
                        <a:rPr sz="2400" b="1" spc="-5" dirty="0">
                          <a:latin typeface="微软雅黑"/>
                          <a:cs typeface="微软雅黑"/>
                        </a:rPr>
                        <a:t>ype</a:t>
                      </a:r>
                      <a:r>
                        <a:rPr sz="2400" b="1" spc="-10" dirty="0">
                          <a:latin typeface="微软雅黑"/>
                          <a:cs typeface="微软雅黑"/>
                        </a:rPr>
                        <a:t>D</a:t>
                      </a:r>
                      <a:r>
                        <a:rPr sz="2400" b="1" dirty="0">
                          <a:latin typeface="微软雅黑"/>
                          <a:cs typeface="微软雅黑"/>
                        </a:rPr>
                        <a:t>ef	</a:t>
                      </a:r>
                      <a:r>
                        <a:rPr sz="2400" b="1" spc="-5" dirty="0">
                          <a:latin typeface="微软雅黑"/>
                          <a:cs typeface="微软雅黑"/>
                        </a:rPr>
                        <a:t>H</a:t>
                      </a:r>
                      <a:r>
                        <a:rPr sz="2400" b="1" spc="-10" dirty="0">
                          <a:latin typeface="微软雅黑"/>
                          <a:cs typeface="微软雅黑"/>
                        </a:rPr>
                        <a:t>A</a:t>
                      </a:r>
                      <a:r>
                        <a:rPr sz="2400" b="1" spc="5" dirty="0">
                          <a:latin typeface="微软雅黑"/>
                          <a:cs typeface="微软雅黑"/>
                        </a:rPr>
                        <a:t>L</a:t>
                      </a:r>
                      <a:r>
                        <a:rPr sz="2400" b="1" spc="-5" dirty="0">
                          <a:latin typeface="微软雅黑"/>
                          <a:cs typeface="微软雅黑"/>
                        </a:rPr>
                        <a:t>_</a:t>
                      </a:r>
                      <a:r>
                        <a:rPr sz="2400" b="1" spc="-60" dirty="0">
                          <a:latin typeface="微软雅黑"/>
                          <a:cs typeface="微软雅黑"/>
                        </a:rPr>
                        <a:t>U</a:t>
                      </a:r>
                      <a:r>
                        <a:rPr sz="2400" b="1" dirty="0">
                          <a:latin typeface="微软雅黑"/>
                          <a:cs typeface="微软雅黑"/>
                        </a:rPr>
                        <a:t>A</a:t>
                      </a:r>
                      <a:r>
                        <a:rPr sz="2400" b="1" spc="-50" dirty="0">
                          <a:latin typeface="微软雅黑"/>
                          <a:cs typeface="微软雅黑"/>
                        </a:rPr>
                        <a:t>R</a:t>
                      </a:r>
                      <a:r>
                        <a:rPr sz="2400" b="1" spc="-5" dirty="0">
                          <a:latin typeface="微软雅黑"/>
                          <a:cs typeface="微软雅黑"/>
                        </a:rPr>
                        <a:t>T</a:t>
                      </a:r>
                      <a:r>
                        <a:rPr sz="2400" b="1" spc="-10" dirty="0">
                          <a:latin typeface="微软雅黑"/>
                          <a:cs typeface="微软雅黑"/>
                        </a:rPr>
                        <a:t>_</a:t>
                      </a:r>
                      <a:r>
                        <a:rPr sz="2400" b="1" spc="-195" dirty="0">
                          <a:latin typeface="微软雅黑"/>
                          <a:cs typeface="微软雅黑"/>
                        </a:rPr>
                        <a:t>T</a:t>
                      </a:r>
                      <a:r>
                        <a:rPr sz="2400" b="1" spc="-10" dirty="0">
                          <a:latin typeface="微软雅黑"/>
                          <a:cs typeface="微软雅黑"/>
                        </a:rPr>
                        <a:t>r</a:t>
                      </a:r>
                      <a:r>
                        <a:rPr sz="2400" b="1" dirty="0">
                          <a:latin typeface="微软雅黑"/>
                          <a:cs typeface="微软雅黑"/>
                        </a:rPr>
                        <a:t>a</a:t>
                      </a:r>
                      <a:r>
                        <a:rPr sz="2400" b="1" spc="5" dirty="0">
                          <a:latin typeface="微软雅黑"/>
                          <a:cs typeface="微软雅黑"/>
                        </a:rPr>
                        <a:t>n</a:t>
                      </a:r>
                      <a:r>
                        <a:rPr sz="2400" b="1" dirty="0">
                          <a:latin typeface="微软雅黑"/>
                          <a:cs typeface="微软雅黑"/>
                        </a:rPr>
                        <a:t>smit(</a:t>
                      </a:r>
                      <a:r>
                        <a:rPr sz="2400" b="1" spc="-55" dirty="0">
                          <a:latin typeface="微软雅黑"/>
                          <a:cs typeface="微软雅黑"/>
                        </a:rPr>
                        <a:t>U</a:t>
                      </a:r>
                      <a:r>
                        <a:rPr sz="2400" b="1" dirty="0">
                          <a:latin typeface="微软雅黑"/>
                          <a:cs typeface="微软雅黑"/>
                        </a:rPr>
                        <a:t>A</a:t>
                      </a:r>
                      <a:r>
                        <a:rPr sz="2400" b="1" spc="-50" dirty="0">
                          <a:latin typeface="微软雅黑"/>
                          <a:cs typeface="微软雅黑"/>
                        </a:rPr>
                        <a:t>R</a:t>
                      </a:r>
                      <a:r>
                        <a:rPr sz="2400" b="1" spc="-5" dirty="0">
                          <a:latin typeface="微软雅黑"/>
                          <a:cs typeface="微软雅黑"/>
                        </a:rPr>
                        <a:t>T_Ha</a:t>
                      </a:r>
                      <a:r>
                        <a:rPr sz="2400" b="1" spc="-10" dirty="0">
                          <a:latin typeface="微软雅黑"/>
                          <a:cs typeface="微软雅黑"/>
                        </a:rPr>
                        <a:t>n</a:t>
                      </a:r>
                      <a:r>
                        <a:rPr sz="2400" b="1" dirty="0">
                          <a:latin typeface="微软雅黑"/>
                          <a:cs typeface="微软雅黑"/>
                        </a:rPr>
                        <a:t>dl</a:t>
                      </a:r>
                      <a:r>
                        <a:rPr sz="2400" b="1" spc="-10" dirty="0">
                          <a:latin typeface="微软雅黑"/>
                          <a:cs typeface="微软雅黑"/>
                        </a:rPr>
                        <a:t>e</a:t>
                      </a:r>
                      <a:r>
                        <a:rPr sz="2400" b="1" spc="-125" dirty="0">
                          <a:latin typeface="微软雅黑"/>
                          <a:cs typeface="微软雅黑"/>
                        </a:rPr>
                        <a:t>T</a:t>
                      </a:r>
                      <a:r>
                        <a:rPr sz="2400" b="1" spc="-5" dirty="0">
                          <a:latin typeface="微软雅黑"/>
                          <a:cs typeface="微软雅黑"/>
                        </a:rPr>
                        <a:t>y</a:t>
                      </a:r>
                      <a:r>
                        <a:rPr sz="2400" b="1" spc="5" dirty="0">
                          <a:latin typeface="微软雅黑"/>
                          <a:cs typeface="微软雅黑"/>
                        </a:rPr>
                        <a:t>p</a:t>
                      </a:r>
                      <a:r>
                        <a:rPr sz="2400" b="1" dirty="0">
                          <a:latin typeface="微软雅黑"/>
                          <a:cs typeface="微软雅黑"/>
                        </a:rPr>
                        <a:t>eDef</a:t>
                      </a:r>
                      <a:endParaRPr sz="2400">
                        <a:latin typeface="微软雅黑"/>
                        <a:cs typeface="微软雅黑"/>
                      </a:endParaRPr>
                    </a:p>
                    <a:p>
                      <a:pPr marL="53975">
                        <a:lnSpc>
                          <a:spcPts val="2860"/>
                        </a:lnSpc>
                      </a:pPr>
                      <a:r>
                        <a:rPr sz="2400" b="1" spc="-10" dirty="0">
                          <a:latin typeface="微软雅黑"/>
                          <a:cs typeface="微软雅黑"/>
                        </a:rPr>
                        <a:t>*</a:t>
                      </a:r>
                      <a:r>
                        <a:rPr sz="2400" b="1" dirty="0">
                          <a:latin typeface="微软雅黑"/>
                          <a:cs typeface="微软雅黑"/>
                        </a:rPr>
                        <a:t>hua</a:t>
                      </a:r>
                      <a:r>
                        <a:rPr sz="2400" b="1" spc="70" dirty="0">
                          <a:latin typeface="微软雅黑"/>
                          <a:cs typeface="微软雅黑"/>
                        </a:rPr>
                        <a:t>r</a:t>
                      </a:r>
                      <a:r>
                        <a:rPr sz="2400" b="1" dirty="0">
                          <a:latin typeface="微软雅黑"/>
                          <a:cs typeface="微软雅黑"/>
                        </a:rPr>
                        <a:t>t,</a:t>
                      </a:r>
                      <a:r>
                        <a:rPr sz="2400" b="1" spc="-10" dirty="0">
                          <a:latin typeface="微软雅黑"/>
                          <a:cs typeface="微软雅黑"/>
                        </a:rPr>
                        <a:t> </a:t>
                      </a:r>
                      <a:r>
                        <a:rPr sz="2400" b="1" dirty="0">
                          <a:latin typeface="微软雅黑"/>
                          <a:cs typeface="微软雅黑"/>
                        </a:rPr>
                        <a:t>uint</a:t>
                      </a:r>
                      <a:r>
                        <a:rPr sz="2400" b="1" spc="-10" dirty="0">
                          <a:latin typeface="微软雅黑"/>
                          <a:cs typeface="微软雅黑"/>
                        </a:rPr>
                        <a:t>8</a:t>
                      </a:r>
                      <a:r>
                        <a:rPr sz="2400" b="1" dirty="0">
                          <a:latin typeface="微软雅黑"/>
                          <a:cs typeface="微软雅黑"/>
                        </a:rPr>
                        <a:t>_t</a:t>
                      </a:r>
                      <a:r>
                        <a:rPr sz="2400" b="1" spc="-10" dirty="0">
                          <a:latin typeface="微软雅黑"/>
                          <a:cs typeface="微软雅黑"/>
                        </a:rPr>
                        <a:t> *</a:t>
                      </a:r>
                      <a:r>
                        <a:rPr sz="2400" b="1" dirty="0">
                          <a:latin typeface="微软雅黑"/>
                          <a:cs typeface="微软雅黑"/>
                        </a:rPr>
                        <a:t>p</a:t>
                      </a:r>
                      <a:r>
                        <a:rPr sz="2400" b="1" spc="-10" dirty="0">
                          <a:latin typeface="微软雅黑"/>
                          <a:cs typeface="微软雅黑"/>
                        </a:rPr>
                        <a:t>D</a:t>
                      </a:r>
                      <a:r>
                        <a:rPr sz="2400" b="1" dirty="0">
                          <a:latin typeface="微软雅黑"/>
                          <a:cs typeface="微软雅黑"/>
                        </a:rPr>
                        <a:t>at</a:t>
                      </a:r>
                      <a:r>
                        <a:rPr sz="2400" b="1" spc="10" dirty="0">
                          <a:latin typeface="微软雅黑"/>
                          <a:cs typeface="微软雅黑"/>
                        </a:rPr>
                        <a:t>a</a:t>
                      </a:r>
                      <a:r>
                        <a:rPr sz="2400" b="1" dirty="0">
                          <a:latin typeface="微软雅黑"/>
                          <a:cs typeface="微软雅黑"/>
                        </a:rPr>
                        <a:t>,</a:t>
                      </a:r>
                      <a:r>
                        <a:rPr sz="2400" b="1" spc="10" dirty="0">
                          <a:latin typeface="微软雅黑"/>
                          <a:cs typeface="微软雅黑"/>
                        </a:rPr>
                        <a:t> </a:t>
                      </a:r>
                      <a:r>
                        <a:rPr sz="2400" b="1" dirty="0">
                          <a:latin typeface="微软雅黑"/>
                          <a:cs typeface="微软雅黑"/>
                        </a:rPr>
                        <a:t>uint</a:t>
                      </a:r>
                      <a:r>
                        <a:rPr sz="2400" b="1" spc="-10" dirty="0">
                          <a:latin typeface="微软雅黑"/>
                          <a:cs typeface="微软雅黑"/>
                        </a:rPr>
                        <a:t>16</a:t>
                      </a:r>
                      <a:r>
                        <a:rPr sz="2400" b="1" dirty="0">
                          <a:latin typeface="微软雅黑"/>
                          <a:cs typeface="微软雅黑"/>
                        </a:rPr>
                        <a:t>_t</a:t>
                      </a:r>
                      <a:r>
                        <a:rPr sz="2400" b="1" spc="-20" dirty="0">
                          <a:latin typeface="微软雅黑"/>
                          <a:cs typeface="微软雅黑"/>
                        </a:rPr>
                        <a:t> </a:t>
                      </a:r>
                      <a:r>
                        <a:rPr sz="2400" b="1" dirty="0">
                          <a:latin typeface="微软雅黑"/>
                          <a:cs typeface="微软雅黑"/>
                        </a:rPr>
                        <a:t>S</a:t>
                      </a:r>
                      <a:r>
                        <a:rPr sz="2400" b="1" spc="-10" dirty="0">
                          <a:latin typeface="微软雅黑"/>
                          <a:cs typeface="微软雅黑"/>
                        </a:rPr>
                        <a:t>i</a:t>
                      </a:r>
                      <a:r>
                        <a:rPr sz="2400" b="1" dirty="0">
                          <a:latin typeface="微软雅黑"/>
                          <a:cs typeface="微软雅黑"/>
                        </a:rPr>
                        <a:t>ze,</a:t>
                      </a:r>
                      <a:r>
                        <a:rPr sz="2400" b="1" spc="10" dirty="0">
                          <a:latin typeface="微软雅黑"/>
                          <a:cs typeface="微软雅黑"/>
                        </a:rPr>
                        <a:t> </a:t>
                      </a:r>
                      <a:r>
                        <a:rPr sz="2400" b="1" dirty="0">
                          <a:latin typeface="微软雅黑"/>
                          <a:cs typeface="微软雅黑"/>
                        </a:rPr>
                        <a:t>uint</a:t>
                      </a:r>
                      <a:r>
                        <a:rPr sz="2400" b="1" spc="-10" dirty="0">
                          <a:latin typeface="微软雅黑"/>
                          <a:cs typeface="微软雅黑"/>
                        </a:rPr>
                        <a:t>32</a:t>
                      </a:r>
                      <a:r>
                        <a:rPr sz="2400" b="1" dirty="0">
                          <a:latin typeface="微软雅黑"/>
                          <a:cs typeface="微软雅黑"/>
                        </a:rPr>
                        <a:t>_t</a:t>
                      </a:r>
                      <a:r>
                        <a:rPr sz="2400" b="1" spc="-10" dirty="0">
                          <a:latin typeface="微软雅黑"/>
                          <a:cs typeface="微软雅黑"/>
                        </a:rPr>
                        <a:t> </a:t>
                      </a:r>
                      <a:r>
                        <a:rPr sz="2400" b="1" spc="-5" dirty="0">
                          <a:latin typeface="微软雅黑"/>
                          <a:cs typeface="微软雅黑"/>
                        </a:rPr>
                        <a:t>Ti</a:t>
                      </a:r>
                      <a:r>
                        <a:rPr sz="2400" b="1" spc="-15" dirty="0">
                          <a:latin typeface="微软雅黑"/>
                          <a:cs typeface="微软雅黑"/>
                        </a:rPr>
                        <a:t>m</a:t>
                      </a:r>
                      <a:r>
                        <a:rPr sz="2400" b="1" dirty="0">
                          <a:latin typeface="微软雅黑"/>
                          <a:cs typeface="微软雅黑"/>
                        </a:rPr>
                        <a:t>e</a:t>
                      </a:r>
                      <a:r>
                        <a:rPr sz="2400" b="1" spc="-15" dirty="0">
                          <a:latin typeface="微软雅黑"/>
                          <a:cs typeface="微软雅黑"/>
                        </a:rPr>
                        <a:t>o</a:t>
                      </a:r>
                      <a:r>
                        <a:rPr sz="2400" b="1" dirty="0">
                          <a:latin typeface="微软雅黑"/>
                          <a:cs typeface="微软雅黑"/>
                        </a:rPr>
                        <a:t>ut)</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1"/>
                  </a:ext>
                </a:extLst>
              </a:tr>
              <a:tr h="512318">
                <a:tc>
                  <a:txBody>
                    <a:bodyPr/>
                    <a:lstStyle/>
                    <a:p>
                      <a:pPr marL="187325">
                        <a:lnSpc>
                          <a:spcPct val="100000"/>
                        </a:lnSpc>
                      </a:pPr>
                      <a:r>
                        <a:rPr sz="2400" b="1" dirty="0">
                          <a:latin typeface="微软雅黑"/>
                          <a:cs typeface="微软雅黑"/>
                        </a:rPr>
                        <a:t>功能描述</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3975">
                        <a:lnSpc>
                          <a:spcPct val="100000"/>
                        </a:lnSpc>
                      </a:pPr>
                      <a:r>
                        <a:rPr sz="2400" b="1" dirty="0">
                          <a:latin typeface="微软雅黑"/>
                          <a:cs typeface="微软雅黑"/>
                        </a:rPr>
                        <a:t>在轮询方式下发送一定数量的数据</a:t>
                      </a:r>
                      <a:endParaRPr sz="2400" dirty="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r h="512190">
                <a:tc>
                  <a:txBody>
                    <a:bodyPr/>
                    <a:lstStyle/>
                    <a:p>
                      <a:pPr marL="93980">
                        <a:lnSpc>
                          <a:spcPct val="100000"/>
                        </a:lnSpc>
                      </a:pPr>
                      <a:r>
                        <a:rPr sz="2400" b="1" dirty="0">
                          <a:latin typeface="微软雅黑"/>
                          <a:cs typeface="微软雅黑"/>
                        </a:rPr>
                        <a:t>入口参数1</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ct val="100000"/>
                        </a:lnSpc>
                      </a:pPr>
                      <a:r>
                        <a:rPr sz="2400" b="1" dirty="0">
                          <a:latin typeface="微软雅黑"/>
                          <a:cs typeface="微软雅黑"/>
                        </a:rPr>
                        <a:t>hua</a:t>
                      </a:r>
                      <a:r>
                        <a:rPr sz="2400" b="1" spc="70" dirty="0">
                          <a:latin typeface="微软雅黑"/>
                          <a:cs typeface="微软雅黑"/>
                        </a:rPr>
                        <a:t>r</a:t>
                      </a:r>
                      <a:r>
                        <a:rPr sz="2400" b="1" spc="5" dirty="0">
                          <a:latin typeface="微软雅黑"/>
                          <a:cs typeface="微软雅黑"/>
                        </a:rPr>
                        <a:t>t</a:t>
                      </a:r>
                      <a:r>
                        <a:rPr sz="2400" b="1" dirty="0">
                          <a:latin typeface="微软雅黑"/>
                          <a:cs typeface="微软雅黑"/>
                        </a:rPr>
                        <a:t>：串口句柄的地址</a:t>
                      </a:r>
                      <a:endParaRPr sz="2400" dirty="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3"/>
                  </a:ext>
                </a:extLst>
              </a:tr>
              <a:tr h="512318">
                <a:tc>
                  <a:txBody>
                    <a:bodyPr/>
                    <a:lstStyle/>
                    <a:p>
                      <a:pPr marL="93980">
                        <a:lnSpc>
                          <a:spcPct val="100000"/>
                        </a:lnSpc>
                      </a:pPr>
                      <a:r>
                        <a:rPr sz="2400" b="1" dirty="0">
                          <a:latin typeface="微软雅黑"/>
                          <a:cs typeface="微软雅黑"/>
                        </a:rPr>
                        <a:t>入口参数2</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3975">
                        <a:lnSpc>
                          <a:spcPct val="100000"/>
                        </a:lnSpc>
                      </a:pPr>
                      <a:r>
                        <a:rPr sz="2400" b="1" dirty="0">
                          <a:latin typeface="微软雅黑"/>
                          <a:cs typeface="微软雅黑"/>
                        </a:rPr>
                        <a:t>p</a:t>
                      </a:r>
                      <a:r>
                        <a:rPr sz="2400" b="1" spc="-10" dirty="0">
                          <a:latin typeface="微软雅黑"/>
                          <a:cs typeface="微软雅黑"/>
                        </a:rPr>
                        <a:t>D</a:t>
                      </a:r>
                      <a:r>
                        <a:rPr sz="2400" b="1" dirty="0">
                          <a:latin typeface="微软雅黑"/>
                          <a:cs typeface="微软雅黑"/>
                        </a:rPr>
                        <a:t>at</a:t>
                      </a:r>
                      <a:r>
                        <a:rPr sz="2400" b="1" spc="5" dirty="0">
                          <a:latin typeface="微软雅黑"/>
                          <a:cs typeface="微软雅黑"/>
                        </a:rPr>
                        <a:t>a</a:t>
                      </a:r>
                      <a:r>
                        <a:rPr sz="2400" b="1" dirty="0">
                          <a:latin typeface="微软雅黑"/>
                          <a:cs typeface="微软雅黑"/>
                        </a:rPr>
                        <a:t>：待发送数据的首地址</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4"/>
                  </a:ext>
                </a:extLst>
              </a:tr>
              <a:tr h="512190">
                <a:tc>
                  <a:txBody>
                    <a:bodyPr/>
                    <a:lstStyle/>
                    <a:p>
                      <a:pPr marL="93980">
                        <a:lnSpc>
                          <a:spcPct val="100000"/>
                        </a:lnSpc>
                      </a:pPr>
                      <a:r>
                        <a:rPr sz="2400" b="1" dirty="0">
                          <a:latin typeface="微软雅黑"/>
                          <a:cs typeface="微软雅黑"/>
                        </a:rPr>
                        <a:t>入口参数3</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ct val="100000"/>
                        </a:lnSpc>
                      </a:pPr>
                      <a:r>
                        <a:rPr sz="2400" b="1" dirty="0">
                          <a:latin typeface="微软雅黑"/>
                          <a:cs typeface="微软雅黑"/>
                        </a:rPr>
                        <a:t>Siz</a:t>
                      </a:r>
                      <a:r>
                        <a:rPr sz="2400" b="1" spc="-15" dirty="0">
                          <a:latin typeface="微软雅黑"/>
                          <a:cs typeface="微软雅黑"/>
                        </a:rPr>
                        <a:t>e</a:t>
                      </a:r>
                      <a:r>
                        <a:rPr sz="2400" b="1" dirty="0">
                          <a:latin typeface="微软雅黑"/>
                          <a:cs typeface="微软雅黑"/>
                        </a:rPr>
                        <a:t>：待发送数据的个数</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5"/>
                  </a:ext>
                </a:extLst>
              </a:tr>
              <a:tr h="512318">
                <a:tc>
                  <a:txBody>
                    <a:bodyPr/>
                    <a:lstStyle/>
                    <a:p>
                      <a:pPr marL="93980">
                        <a:lnSpc>
                          <a:spcPct val="100000"/>
                        </a:lnSpc>
                      </a:pPr>
                      <a:r>
                        <a:rPr sz="2400" b="1" dirty="0">
                          <a:latin typeface="微软雅黑"/>
                          <a:cs typeface="微软雅黑"/>
                        </a:rPr>
                        <a:t>入口参数4</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3975">
                        <a:lnSpc>
                          <a:spcPct val="100000"/>
                        </a:lnSpc>
                      </a:pPr>
                      <a:r>
                        <a:rPr sz="2400" b="1" spc="-5" dirty="0">
                          <a:latin typeface="微软雅黑"/>
                          <a:cs typeface="微软雅黑"/>
                        </a:rPr>
                        <a:t>Ti</a:t>
                      </a:r>
                      <a:r>
                        <a:rPr sz="2400" b="1" spc="-10" dirty="0">
                          <a:latin typeface="微软雅黑"/>
                          <a:cs typeface="微软雅黑"/>
                        </a:rPr>
                        <a:t>m</a:t>
                      </a:r>
                      <a:r>
                        <a:rPr sz="2400" b="1" dirty="0">
                          <a:latin typeface="微软雅黑"/>
                          <a:cs typeface="微软雅黑"/>
                        </a:rPr>
                        <a:t>e</a:t>
                      </a:r>
                      <a:r>
                        <a:rPr sz="2400" b="1" spc="-15" dirty="0">
                          <a:latin typeface="微软雅黑"/>
                          <a:cs typeface="微软雅黑"/>
                        </a:rPr>
                        <a:t>o</a:t>
                      </a:r>
                      <a:r>
                        <a:rPr sz="2400" b="1" dirty="0">
                          <a:latin typeface="微软雅黑"/>
                          <a:cs typeface="微软雅黑"/>
                        </a:rPr>
                        <a:t>u</a:t>
                      </a:r>
                      <a:r>
                        <a:rPr sz="2400" b="1" spc="5" dirty="0">
                          <a:latin typeface="微软雅黑"/>
                          <a:cs typeface="微软雅黑"/>
                        </a:rPr>
                        <a:t>t</a:t>
                      </a:r>
                      <a:r>
                        <a:rPr sz="2400" b="1" dirty="0">
                          <a:latin typeface="微软雅黑"/>
                          <a:cs typeface="微软雅黑"/>
                        </a:rPr>
                        <a:t>：超时等待时间，以</a:t>
                      </a:r>
                      <a:r>
                        <a:rPr sz="2400" b="1" spc="-5" dirty="0">
                          <a:latin typeface="微软雅黑"/>
                          <a:cs typeface="微软雅黑"/>
                        </a:rPr>
                        <a:t>m</a:t>
                      </a:r>
                      <a:r>
                        <a:rPr sz="2400" b="1" dirty="0">
                          <a:latin typeface="微软雅黑"/>
                          <a:cs typeface="微软雅黑"/>
                        </a:rPr>
                        <a:t>s为单位，</a:t>
                      </a:r>
                      <a:r>
                        <a:rPr sz="2400" b="1" spc="-5" dirty="0">
                          <a:latin typeface="微软雅黑"/>
                          <a:cs typeface="微软雅黑"/>
                        </a:rPr>
                        <a:t>H</a:t>
                      </a:r>
                      <a:r>
                        <a:rPr sz="2400" b="1" spc="-10" dirty="0">
                          <a:latin typeface="微软雅黑"/>
                          <a:cs typeface="微软雅黑"/>
                        </a:rPr>
                        <a:t>A</a:t>
                      </a:r>
                      <a:r>
                        <a:rPr sz="2400" b="1" dirty="0">
                          <a:latin typeface="微软雅黑"/>
                          <a:cs typeface="微软雅黑"/>
                        </a:rPr>
                        <a:t>L_MAX_DE</a:t>
                      </a:r>
                      <a:r>
                        <a:rPr sz="2400" b="1" spc="45" dirty="0">
                          <a:latin typeface="微软雅黑"/>
                          <a:cs typeface="微软雅黑"/>
                        </a:rPr>
                        <a:t>L</a:t>
                      </a:r>
                      <a:r>
                        <a:rPr sz="2400" b="1" spc="-200" dirty="0">
                          <a:latin typeface="微软雅黑"/>
                          <a:cs typeface="微软雅黑"/>
                        </a:rPr>
                        <a:t>A</a:t>
                      </a:r>
                      <a:r>
                        <a:rPr sz="2400" b="1" spc="5" dirty="0">
                          <a:latin typeface="微软雅黑"/>
                          <a:cs typeface="微软雅黑"/>
                        </a:rPr>
                        <a:t>Y</a:t>
                      </a:r>
                      <a:r>
                        <a:rPr sz="2400" b="1" dirty="0">
                          <a:latin typeface="微软雅黑"/>
                          <a:cs typeface="微软雅黑"/>
                        </a:rPr>
                        <a:t>表示无限等待</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6"/>
                  </a:ext>
                </a:extLst>
              </a:tr>
              <a:tr h="1024508">
                <a:tc>
                  <a:txBody>
                    <a:bodyPr/>
                    <a:lstStyle/>
                    <a:p>
                      <a:pPr marL="339725">
                        <a:lnSpc>
                          <a:spcPct val="100000"/>
                        </a:lnSpc>
                      </a:pPr>
                      <a:r>
                        <a:rPr sz="2400" b="1" dirty="0">
                          <a:latin typeface="微软雅黑"/>
                          <a:cs typeface="微软雅黑"/>
                        </a:rPr>
                        <a:t>返回值</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ts val="2865"/>
                        </a:lnSpc>
                      </a:pPr>
                      <a:r>
                        <a:rPr sz="2400" b="1" spc="-5" dirty="0">
                          <a:latin typeface="微软雅黑"/>
                          <a:cs typeface="微软雅黑"/>
                        </a:rPr>
                        <a:t>H</a:t>
                      </a:r>
                      <a:r>
                        <a:rPr sz="2400" b="1" spc="-15" dirty="0">
                          <a:latin typeface="微软雅黑"/>
                          <a:cs typeface="微软雅黑"/>
                        </a:rPr>
                        <a:t>A</a:t>
                      </a:r>
                      <a:r>
                        <a:rPr sz="2400" b="1" spc="-5" dirty="0">
                          <a:latin typeface="微软雅黑"/>
                          <a:cs typeface="微软雅黑"/>
                        </a:rPr>
                        <a:t>L状态值：H</a:t>
                      </a:r>
                      <a:r>
                        <a:rPr sz="2400" b="1" spc="-15" dirty="0">
                          <a:latin typeface="微软雅黑"/>
                          <a:cs typeface="微软雅黑"/>
                        </a:rPr>
                        <a:t>A</a:t>
                      </a:r>
                      <a:r>
                        <a:rPr sz="2400" b="1" dirty="0">
                          <a:latin typeface="微软雅黑"/>
                          <a:cs typeface="微软雅黑"/>
                        </a:rPr>
                        <a:t>L_OK表示发送成功</a:t>
                      </a:r>
                      <a:r>
                        <a:rPr sz="2400" b="1" spc="-15" dirty="0">
                          <a:latin typeface="微软雅黑"/>
                          <a:cs typeface="微软雅黑"/>
                        </a:rPr>
                        <a:t>；</a:t>
                      </a:r>
                      <a:r>
                        <a:rPr sz="2400" b="1" spc="-5" dirty="0">
                          <a:latin typeface="微软雅黑"/>
                          <a:cs typeface="微软雅黑"/>
                        </a:rPr>
                        <a:t>HA</a:t>
                      </a:r>
                      <a:r>
                        <a:rPr sz="2400" b="1" spc="-15" dirty="0">
                          <a:latin typeface="微软雅黑"/>
                          <a:cs typeface="微软雅黑"/>
                        </a:rPr>
                        <a:t>L</a:t>
                      </a:r>
                      <a:r>
                        <a:rPr sz="2400" b="1" spc="-5" dirty="0">
                          <a:latin typeface="微软雅黑"/>
                          <a:cs typeface="微软雅黑"/>
                        </a:rPr>
                        <a:t>_ER</a:t>
                      </a:r>
                      <a:r>
                        <a:rPr sz="2400" b="1" spc="-15" dirty="0">
                          <a:latin typeface="微软雅黑"/>
                          <a:cs typeface="微软雅黑"/>
                        </a:rPr>
                        <a:t>R</a:t>
                      </a:r>
                      <a:r>
                        <a:rPr sz="2400" b="1" spc="-5" dirty="0">
                          <a:latin typeface="微软雅黑"/>
                          <a:cs typeface="微软雅黑"/>
                        </a:rPr>
                        <a:t>OR表示参数错误；</a:t>
                      </a:r>
                      <a:endParaRPr sz="2400">
                        <a:latin typeface="微软雅黑"/>
                        <a:cs typeface="微软雅黑"/>
                      </a:endParaRPr>
                    </a:p>
                    <a:p>
                      <a:pPr marL="53975">
                        <a:lnSpc>
                          <a:spcPts val="2865"/>
                        </a:lnSpc>
                      </a:pPr>
                      <a:r>
                        <a:rPr sz="2400" b="1" spc="-5" dirty="0">
                          <a:latin typeface="微软雅黑"/>
                          <a:cs typeface="微软雅黑"/>
                        </a:rPr>
                        <a:t>H</a:t>
                      </a:r>
                      <a:r>
                        <a:rPr sz="2400" b="1" spc="-10" dirty="0">
                          <a:latin typeface="微软雅黑"/>
                          <a:cs typeface="微软雅黑"/>
                        </a:rPr>
                        <a:t>A</a:t>
                      </a:r>
                      <a:r>
                        <a:rPr sz="2400" b="1" dirty="0">
                          <a:latin typeface="微软雅黑"/>
                          <a:cs typeface="微软雅黑"/>
                        </a:rPr>
                        <a:t>L_BUSY表示串口被占用；</a:t>
                      </a:r>
                      <a:r>
                        <a:rPr sz="2400" b="1" spc="-5" dirty="0">
                          <a:latin typeface="微软雅黑"/>
                          <a:cs typeface="微软雅黑"/>
                        </a:rPr>
                        <a:t>H</a:t>
                      </a:r>
                      <a:r>
                        <a:rPr sz="2400" b="1" spc="-10" dirty="0">
                          <a:latin typeface="微软雅黑"/>
                          <a:cs typeface="微软雅黑"/>
                        </a:rPr>
                        <a:t>A</a:t>
                      </a:r>
                      <a:r>
                        <a:rPr sz="2400" b="1" dirty="0">
                          <a:latin typeface="微软雅黑"/>
                          <a:cs typeface="微软雅黑"/>
                        </a:rPr>
                        <a:t>L_TIMEOU</a:t>
                      </a:r>
                      <a:r>
                        <a:rPr sz="2400" b="1" spc="-5" dirty="0">
                          <a:latin typeface="微软雅黑"/>
                          <a:cs typeface="微软雅黑"/>
                        </a:rPr>
                        <a:t>T</a:t>
                      </a:r>
                      <a:r>
                        <a:rPr sz="2400" b="1" dirty="0">
                          <a:latin typeface="微软雅黑"/>
                          <a:cs typeface="微软雅黑"/>
                        </a:rPr>
                        <a:t>表示发送超时</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7"/>
                  </a:ext>
                </a:extLst>
              </a:tr>
              <a:tr h="1536781">
                <a:tc>
                  <a:txBody>
                    <a:bodyPr/>
                    <a:lstStyle/>
                    <a:p>
                      <a:pPr marL="187325">
                        <a:lnSpc>
                          <a:spcPct val="100000"/>
                        </a:lnSpc>
                      </a:pPr>
                      <a:r>
                        <a:rPr sz="2400" b="1" dirty="0">
                          <a:latin typeface="微软雅黑"/>
                          <a:cs typeface="微软雅黑"/>
                        </a:rPr>
                        <a:t>注意事项</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11175" marR="119380" indent="-457200">
                        <a:lnSpc>
                          <a:spcPct val="100000"/>
                        </a:lnSpc>
                        <a:tabLst>
                          <a:tab pos="511175" algn="l"/>
                        </a:tabLst>
                      </a:pPr>
                      <a:r>
                        <a:rPr sz="2400" b="1" spc="-5" dirty="0">
                          <a:latin typeface="微软雅黑"/>
                          <a:cs typeface="微软雅黑"/>
                        </a:rPr>
                        <a:t>1</a:t>
                      </a:r>
                      <a:r>
                        <a:rPr sz="2400" b="1" dirty="0">
                          <a:latin typeface="微软雅黑"/>
                          <a:cs typeface="微软雅黑"/>
                        </a:rPr>
                        <a:t>.	该函数连续发送数据，发送过程中通过判断</a:t>
                      </a:r>
                      <a:r>
                        <a:rPr sz="2400" b="1" spc="-5" dirty="0">
                          <a:latin typeface="微软雅黑"/>
                          <a:cs typeface="微软雅黑"/>
                        </a:rPr>
                        <a:t>TXE</a:t>
                      </a:r>
                      <a:r>
                        <a:rPr sz="2400" b="1" dirty="0">
                          <a:latin typeface="微软雅黑"/>
                          <a:cs typeface="微软雅黑"/>
                        </a:rPr>
                        <a:t>标志来发送下一个数据， 通过判断</a:t>
                      </a:r>
                      <a:r>
                        <a:rPr sz="2400" b="1" spc="-100" dirty="0">
                          <a:latin typeface="微软雅黑"/>
                          <a:cs typeface="微软雅黑"/>
                        </a:rPr>
                        <a:t>T</a:t>
                      </a:r>
                      <a:r>
                        <a:rPr sz="2400" b="1" dirty="0">
                          <a:latin typeface="微软雅黑"/>
                          <a:cs typeface="微软雅黑"/>
                        </a:rPr>
                        <a:t>C标志来结束数据的发送</a:t>
                      </a:r>
                      <a:endParaRPr sz="2400" dirty="0">
                        <a:latin typeface="微软雅黑"/>
                        <a:cs typeface="微软雅黑"/>
                      </a:endParaRPr>
                    </a:p>
                    <a:p>
                      <a:pPr marL="53975">
                        <a:lnSpc>
                          <a:spcPts val="2865"/>
                        </a:lnSpc>
                        <a:tabLst>
                          <a:tab pos="511175" algn="l"/>
                        </a:tabLst>
                      </a:pPr>
                      <a:r>
                        <a:rPr sz="2400" b="1" spc="-10" dirty="0">
                          <a:latin typeface="微软雅黑"/>
                          <a:cs typeface="微软雅黑"/>
                        </a:rPr>
                        <a:t>2</a:t>
                      </a:r>
                      <a:r>
                        <a:rPr sz="2400" b="1" dirty="0">
                          <a:latin typeface="微软雅黑"/>
                          <a:cs typeface="微软雅黑"/>
                        </a:rPr>
                        <a:t>.	</a:t>
                      </a:r>
                      <a:r>
                        <a:rPr sz="2400" b="1" spc="-5" dirty="0">
                          <a:latin typeface="微软雅黑"/>
                          <a:cs typeface="微软雅黑"/>
                        </a:rPr>
                        <a:t>如果在等待时间内没</a:t>
                      </a:r>
                      <a:r>
                        <a:rPr sz="2400" b="1" dirty="0">
                          <a:latin typeface="微软雅黑"/>
                          <a:cs typeface="微软雅黑"/>
                        </a:rPr>
                        <a:t>有</a:t>
                      </a:r>
                      <a:r>
                        <a:rPr sz="2400" b="1" spc="-5" dirty="0">
                          <a:latin typeface="微软雅黑"/>
                          <a:cs typeface="微软雅黑"/>
                        </a:rPr>
                        <a:t>完成发送，则不再发送，返回超时标志</a:t>
                      </a:r>
                      <a:endParaRPr sz="2400" dirty="0">
                        <a:latin typeface="微软雅黑"/>
                        <a:cs typeface="微软雅黑"/>
                      </a:endParaRPr>
                    </a:p>
                    <a:p>
                      <a:pPr marL="53975">
                        <a:lnSpc>
                          <a:spcPts val="2865"/>
                        </a:lnSpc>
                        <a:tabLst>
                          <a:tab pos="509905" algn="l"/>
                        </a:tabLst>
                      </a:pPr>
                      <a:r>
                        <a:rPr sz="2400" b="1" dirty="0">
                          <a:latin typeface="微软雅黑"/>
                          <a:cs typeface="微软雅黑"/>
                        </a:rPr>
                        <a:t>3.	该函数由用户调用</a:t>
                      </a:r>
                      <a:endParaRPr sz="2400" dirty="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69677164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737867" y="5223464"/>
            <a:ext cx="10331450" cy="1550670"/>
          </a:xfrm>
          <a:prstGeom prst="rect">
            <a:avLst/>
          </a:prstGeom>
        </p:spPr>
        <p:txBody>
          <a:bodyPr vert="horz" wrap="square" lIns="0" tIns="0" rIns="0" bIns="0" rtlCol="0">
            <a:spAutoFit/>
          </a:bodyPr>
          <a:lstStyle/>
          <a:p>
            <a:pPr marR="78740" algn="r">
              <a:lnSpc>
                <a:spcPts val="1440"/>
              </a:lnSpc>
            </a:pPr>
            <a:r>
              <a:rPr sz="1200" b="1" spc="-5" dirty="0">
                <a:solidFill>
                  <a:srgbClr val="FFFFFF"/>
                </a:solidFill>
                <a:latin typeface="微软雅黑"/>
                <a:cs typeface="微软雅黑"/>
              </a:rPr>
              <a:t>--</a:t>
            </a:r>
            <a:r>
              <a:rPr sz="1200" b="1" spc="5" dirty="0">
                <a:solidFill>
                  <a:srgbClr val="FFFFFF"/>
                </a:solidFill>
                <a:latin typeface="微软雅黑"/>
                <a:cs typeface="微软雅黑"/>
              </a:rPr>
              <a:t> </a:t>
            </a:r>
            <a:r>
              <a:rPr sz="1200" b="1" dirty="0">
                <a:solidFill>
                  <a:srgbClr val="FFFFFF"/>
                </a:solidFill>
                <a:latin typeface="微软雅黑"/>
                <a:cs typeface="微软雅黑"/>
              </a:rPr>
              <a:t>南昌大学“卓越”辅导员培养工程建设</a:t>
            </a:r>
            <a:endParaRPr sz="1200">
              <a:latin typeface="微软雅黑"/>
              <a:cs typeface="微软雅黑"/>
            </a:endParaRPr>
          </a:p>
        </p:txBody>
      </p:sp>
      <p:sp>
        <p:nvSpPr>
          <p:cNvPr id="3" name="object 3"/>
          <p:cNvSpPr/>
          <p:nvPr/>
        </p:nvSpPr>
        <p:spPr>
          <a:xfrm>
            <a:off x="1737867" y="5223464"/>
            <a:ext cx="10331450" cy="1528445"/>
          </a:xfrm>
          <a:custGeom>
            <a:avLst/>
            <a:gdLst/>
            <a:ahLst/>
            <a:cxnLst/>
            <a:rect l="l" t="t" r="r" b="b"/>
            <a:pathLst>
              <a:path w="10331450" h="1528445">
                <a:moveTo>
                  <a:pt x="0" y="1528317"/>
                </a:moveTo>
                <a:lnTo>
                  <a:pt x="10331323" y="1528317"/>
                </a:lnTo>
                <a:lnTo>
                  <a:pt x="10331323" y="0"/>
                </a:lnTo>
                <a:lnTo>
                  <a:pt x="0" y="0"/>
                </a:lnTo>
                <a:lnTo>
                  <a:pt x="0" y="1528317"/>
                </a:lnTo>
                <a:close/>
              </a:path>
            </a:pathLst>
          </a:custGeom>
          <a:solidFill>
            <a:srgbClr val="FFFFFF"/>
          </a:solidFill>
        </p:spPr>
        <p:txBody>
          <a:bodyPr wrap="square" lIns="0" tIns="0" rIns="0" bIns="0" rtlCol="0"/>
          <a:lstStyle/>
          <a:p>
            <a:endParaRPr/>
          </a:p>
        </p:txBody>
      </p:sp>
      <p:graphicFrame>
        <p:nvGraphicFramePr>
          <p:cNvPr id="4" name="object 4"/>
          <p:cNvGraphicFramePr>
            <a:graphicFrameLocks noGrp="1"/>
          </p:cNvGraphicFramePr>
          <p:nvPr/>
        </p:nvGraphicFramePr>
        <p:xfrm>
          <a:off x="108615" y="114998"/>
          <a:ext cx="11946161" cy="6622494"/>
        </p:xfrm>
        <a:graphic>
          <a:graphicData uri="http://schemas.openxmlformats.org/drawingml/2006/table">
            <a:tbl>
              <a:tblPr firstRow="1" bandRow="1">
                <a:tableStyleId>{2D5ABB26-0587-4C30-8999-92F81FD0307C}</a:tableStyleId>
              </a:tblPr>
              <a:tblGrid>
                <a:gridCol w="1614965">
                  <a:extLst>
                    <a:ext uri="{9D8B030D-6E8A-4147-A177-3AD203B41FA5}">
                      <a16:colId xmlns:a16="http://schemas.microsoft.com/office/drawing/2014/main" val="20000"/>
                    </a:ext>
                  </a:extLst>
                </a:gridCol>
                <a:gridCol w="10331196">
                  <a:extLst>
                    <a:ext uri="{9D8B030D-6E8A-4147-A177-3AD203B41FA5}">
                      <a16:colId xmlns:a16="http://schemas.microsoft.com/office/drawing/2014/main" val="20001"/>
                    </a:ext>
                  </a:extLst>
                </a:gridCol>
              </a:tblGrid>
              <a:tr h="509397">
                <a:tc gridSpan="2">
                  <a:txBody>
                    <a:bodyPr/>
                    <a:lstStyle/>
                    <a:p>
                      <a:pPr marL="3732529">
                        <a:lnSpc>
                          <a:spcPct val="100000"/>
                        </a:lnSpc>
                      </a:pPr>
                      <a:r>
                        <a:rPr sz="2400" b="1" spc="-5" dirty="0">
                          <a:solidFill>
                            <a:srgbClr val="FFFFFF"/>
                          </a:solidFill>
                          <a:latin typeface="微软雅黑"/>
                          <a:cs typeface="微软雅黑"/>
                        </a:rPr>
                        <a:t>接口函数：H</a:t>
                      </a:r>
                      <a:r>
                        <a:rPr sz="2400" b="1" spc="-15" dirty="0">
                          <a:solidFill>
                            <a:srgbClr val="FFFFFF"/>
                          </a:solidFill>
                          <a:latin typeface="微软雅黑"/>
                          <a:cs typeface="微软雅黑"/>
                        </a:rPr>
                        <a:t>A</a:t>
                      </a:r>
                      <a:r>
                        <a:rPr sz="2400" b="1" dirty="0">
                          <a:solidFill>
                            <a:srgbClr val="FFFFFF"/>
                          </a:solidFill>
                          <a:latin typeface="微软雅黑"/>
                          <a:cs typeface="微软雅黑"/>
                        </a:rPr>
                        <a:t>L_</a:t>
                      </a:r>
                      <a:r>
                        <a:rPr sz="2400" b="1" spc="-70" dirty="0">
                          <a:solidFill>
                            <a:srgbClr val="FFFFFF"/>
                          </a:solidFill>
                          <a:latin typeface="微软雅黑"/>
                          <a:cs typeface="微软雅黑"/>
                        </a:rPr>
                        <a:t>U</a:t>
                      </a:r>
                      <a:r>
                        <a:rPr sz="2400" b="1" dirty="0">
                          <a:solidFill>
                            <a:srgbClr val="FFFFFF"/>
                          </a:solidFill>
                          <a:latin typeface="微软雅黑"/>
                          <a:cs typeface="微软雅黑"/>
                        </a:rPr>
                        <a:t>A</a:t>
                      </a:r>
                      <a:r>
                        <a:rPr sz="2400" b="1" spc="-55" dirty="0">
                          <a:solidFill>
                            <a:srgbClr val="FFFFFF"/>
                          </a:solidFill>
                          <a:latin typeface="微软雅黑"/>
                          <a:cs typeface="微软雅黑"/>
                        </a:rPr>
                        <a:t>R</a:t>
                      </a:r>
                      <a:r>
                        <a:rPr sz="2400" b="1" spc="-5" dirty="0">
                          <a:solidFill>
                            <a:srgbClr val="FFFFFF"/>
                          </a:solidFill>
                          <a:latin typeface="微软雅黑"/>
                          <a:cs typeface="微软雅黑"/>
                        </a:rPr>
                        <a:t>T_</a:t>
                      </a:r>
                      <a:r>
                        <a:rPr sz="2400" b="1" spc="-60" dirty="0">
                          <a:solidFill>
                            <a:srgbClr val="FFFFFF"/>
                          </a:solidFill>
                          <a:latin typeface="微软雅黑"/>
                          <a:cs typeface="微软雅黑"/>
                        </a:rPr>
                        <a:t>R</a:t>
                      </a:r>
                      <a:r>
                        <a:rPr sz="2400" b="1" dirty="0">
                          <a:solidFill>
                            <a:srgbClr val="FFFFFF"/>
                          </a:solidFill>
                          <a:latin typeface="微软雅黑"/>
                          <a:cs typeface="微软雅黑"/>
                        </a:rPr>
                        <a:t>e</a:t>
                      </a:r>
                      <a:r>
                        <a:rPr sz="2400" b="1" spc="-15" dirty="0">
                          <a:solidFill>
                            <a:srgbClr val="FFFFFF"/>
                          </a:solidFill>
                          <a:latin typeface="微软雅黑"/>
                          <a:cs typeface="微软雅黑"/>
                        </a:rPr>
                        <a:t>c</a:t>
                      </a:r>
                      <a:r>
                        <a:rPr sz="2400" b="1" dirty="0">
                          <a:solidFill>
                            <a:srgbClr val="FFFFFF"/>
                          </a:solidFill>
                          <a:latin typeface="微软雅黑"/>
                          <a:cs typeface="微软雅黑"/>
                        </a:rPr>
                        <a:t>e</a:t>
                      </a:r>
                      <a:r>
                        <a:rPr sz="2400" b="1" spc="-10" dirty="0">
                          <a:solidFill>
                            <a:srgbClr val="FFFFFF"/>
                          </a:solidFill>
                          <a:latin typeface="微软雅黑"/>
                          <a:cs typeface="微软雅黑"/>
                        </a:rPr>
                        <a:t>i</a:t>
                      </a:r>
                      <a:r>
                        <a:rPr sz="2400" b="1" spc="-35" dirty="0">
                          <a:solidFill>
                            <a:srgbClr val="FFFFFF"/>
                          </a:solidFill>
                          <a:latin typeface="微软雅黑"/>
                          <a:cs typeface="微软雅黑"/>
                        </a:rPr>
                        <a:t>v</a:t>
                      </a:r>
                      <a:r>
                        <a:rPr sz="2400" b="1" dirty="0">
                          <a:solidFill>
                            <a:srgbClr val="FFFFFF"/>
                          </a:solidFill>
                          <a:latin typeface="微软雅黑"/>
                          <a:cs typeface="微软雅黑"/>
                        </a:rPr>
                        <a:t>e</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tc hMerge="1">
                  <a:txBody>
                    <a:bodyPr/>
                    <a:lstStyle/>
                    <a:p>
                      <a:endParaRPr/>
                    </a:p>
                  </a:txBody>
                  <a:tcPr marL="0" marR="0" marT="0" marB="0"/>
                </a:tc>
                <a:extLst>
                  <a:ext uri="{0D108BD9-81ED-4DB2-BD59-A6C34878D82A}">
                    <a16:rowId xmlns:a16="http://schemas.microsoft.com/office/drawing/2014/main" val="10000"/>
                  </a:ext>
                </a:extLst>
              </a:tr>
              <a:tr h="1018920">
                <a:tc>
                  <a:txBody>
                    <a:bodyPr/>
                    <a:lstStyle/>
                    <a:p>
                      <a:pPr marL="182880">
                        <a:lnSpc>
                          <a:spcPct val="100000"/>
                        </a:lnSpc>
                      </a:pPr>
                      <a:r>
                        <a:rPr sz="2400" b="1" dirty="0">
                          <a:latin typeface="微软雅黑"/>
                          <a:cs typeface="微软雅黑"/>
                        </a:rPr>
                        <a:t>函数原型</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ct val="100000"/>
                        </a:lnSpc>
                        <a:tabLst>
                          <a:tab pos="3837304" algn="l"/>
                        </a:tabLst>
                      </a:pPr>
                      <a:r>
                        <a:rPr sz="2400" b="1" spc="-5" dirty="0">
                          <a:latin typeface="微软雅黑"/>
                          <a:cs typeface="微软雅黑"/>
                        </a:rPr>
                        <a:t>HAL</a:t>
                      </a:r>
                      <a:r>
                        <a:rPr sz="2400" b="1" spc="5" dirty="0">
                          <a:latin typeface="微软雅黑"/>
                          <a:cs typeface="微软雅黑"/>
                        </a:rPr>
                        <a:t>_</a:t>
                      </a:r>
                      <a:r>
                        <a:rPr sz="2400" b="1" spc="-80" dirty="0">
                          <a:latin typeface="微软雅黑"/>
                          <a:cs typeface="微软雅黑"/>
                        </a:rPr>
                        <a:t>S</a:t>
                      </a:r>
                      <a:r>
                        <a:rPr sz="2400" b="1" spc="-5" dirty="0">
                          <a:latin typeface="微软雅黑"/>
                          <a:cs typeface="微软雅黑"/>
                        </a:rPr>
                        <a:t>t</a:t>
                      </a:r>
                      <a:r>
                        <a:rPr sz="2400" b="1" spc="5" dirty="0">
                          <a:latin typeface="微软雅黑"/>
                          <a:cs typeface="微软雅黑"/>
                        </a:rPr>
                        <a:t>a</a:t>
                      </a:r>
                      <a:r>
                        <a:rPr sz="2400" b="1" spc="10" dirty="0">
                          <a:latin typeface="微软雅黑"/>
                          <a:cs typeface="微软雅黑"/>
                        </a:rPr>
                        <a:t>t</a:t>
                      </a:r>
                      <a:r>
                        <a:rPr sz="2400" b="1" dirty="0">
                          <a:latin typeface="微软雅黑"/>
                          <a:cs typeface="微软雅黑"/>
                        </a:rPr>
                        <a:t>u</a:t>
                      </a:r>
                      <a:r>
                        <a:rPr sz="2400" b="1" spc="5" dirty="0">
                          <a:latin typeface="微软雅黑"/>
                          <a:cs typeface="微软雅黑"/>
                        </a:rPr>
                        <a:t>s</a:t>
                      </a:r>
                      <a:r>
                        <a:rPr sz="2400" b="1" spc="-125" dirty="0">
                          <a:latin typeface="微软雅黑"/>
                          <a:cs typeface="微软雅黑"/>
                        </a:rPr>
                        <a:t>T</a:t>
                      </a:r>
                      <a:r>
                        <a:rPr sz="2400" b="1" spc="-5" dirty="0">
                          <a:latin typeface="微软雅黑"/>
                          <a:cs typeface="微软雅黑"/>
                        </a:rPr>
                        <a:t>ypeD</a:t>
                      </a:r>
                      <a:r>
                        <a:rPr sz="2400" b="1" dirty="0">
                          <a:latin typeface="微软雅黑"/>
                          <a:cs typeface="微软雅黑"/>
                        </a:rPr>
                        <a:t>ef	</a:t>
                      </a:r>
                      <a:r>
                        <a:rPr sz="2400" b="1" spc="-5" dirty="0">
                          <a:latin typeface="微软雅黑"/>
                          <a:cs typeface="微软雅黑"/>
                        </a:rPr>
                        <a:t>H</a:t>
                      </a:r>
                      <a:r>
                        <a:rPr sz="2400" b="1" spc="-10" dirty="0">
                          <a:latin typeface="微软雅黑"/>
                          <a:cs typeface="微软雅黑"/>
                        </a:rPr>
                        <a:t>A</a:t>
                      </a:r>
                      <a:r>
                        <a:rPr sz="2400" b="1" spc="5" dirty="0">
                          <a:latin typeface="微软雅黑"/>
                          <a:cs typeface="微软雅黑"/>
                        </a:rPr>
                        <a:t>L</a:t>
                      </a:r>
                      <a:r>
                        <a:rPr sz="2400" b="1" spc="-5" dirty="0">
                          <a:latin typeface="微软雅黑"/>
                          <a:cs typeface="微软雅黑"/>
                        </a:rPr>
                        <a:t>_</a:t>
                      </a:r>
                      <a:r>
                        <a:rPr sz="2400" b="1" spc="-60" dirty="0">
                          <a:latin typeface="微软雅黑"/>
                          <a:cs typeface="微软雅黑"/>
                        </a:rPr>
                        <a:t>U</a:t>
                      </a:r>
                      <a:r>
                        <a:rPr sz="2400" b="1" dirty="0">
                          <a:latin typeface="微软雅黑"/>
                          <a:cs typeface="微软雅黑"/>
                        </a:rPr>
                        <a:t>A</a:t>
                      </a:r>
                      <a:r>
                        <a:rPr sz="2400" b="1" spc="-50" dirty="0">
                          <a:latin typeface="微软雅黑"/>
                          <a:cs typeface="微软雅黑"/>
                        </a:rPr>
                        <a:t>R</a:t>
                      </a:r>
                      <a:r>
                        <a:rPr sz="2400" b="1" spc="-5" dirty="0">
                          <a:latin typeface="微软雅黑"/>
                          <a:cs typeface="微软雅黑"/>
                        </a:rPr>
                        <a:t>T</a:t>
                      </a:r>
                      <a:r>
                        <a:rPr sz="2400" b="1" spc="-10" dirty="0">
                          <a:latin typeface="微软雅黑"/>
                          <a:cs typeface="微软雅黑"/>
                        </a:rPr>
                        <a:t>_</a:t>
                      </a:r>
                      <a:r>
                        <a:rPr sz="2400" b="1" spc="-60" dirty="0">
                          <a:latin typeface="微软雅黑"/>
                          <a:cs typeface="微软雅黑"/>
                        </a:rPr>
                        <a:t>R</a:t>
                      </a:r>
                      <a:r>
                        <a:rPr sz="2400" b="1" dirty="0">
                          <a:latin typeface="微软雅黑"/>
                          <a:cs typeface="微软雅黑"/>
                        </a:rPr>
                        <a:t>e</a:t>
                      </a:r>
                      <a:r>
                        <a:rPr sz="2400" b="1" spc="-10" dirty="0">
                          <a:latin typeface="微软雅黑"/>
                          <a:cs typeface="微软雅黑"/>
                        </a:rPr>
                        <a:t>c</a:t>
                      </a:r>
                      <a:r>
                        <a:rPr sz="2400" b="1" dirty="0">
                          <a:latin typeface="微软雅黑"/>
                          <a:cs typeface="微软雅黑"/>
                        </a:rPr>
                        <a:t>ei</a:t>
                      </a:r>
                      <a:r>
                        <a:rPr sz="2400" b="1" spc="-25" dirty="0">
                          <a:latin typeface="微软雅黑"/>
                          <a:cs typeface="微软雅黑"/>
                        </a:rPr>
                        <a:t>v</a:t>
                      </a:r>
                      <a:r>
                        <a:rPr sz="2400" b="1" spc="-5" dirty="0">
                          <a:latin typeface="微软雅黑"/>
                          <a:cs typeface="微软雅黑"/>
                        </a:rPr>
                        <a:t>e</a:t>
                      </a:r>
                      <a:r>
                        <a:rPr sz="2400" b="1" spc="10" dirty="0">
                          <a:latin typeface="微软雅黑"/>
                          <a:cs typeface="微软雅黑"/>
                        </a:rPr>
                        <a:t>(</a:t>
                      </a:r>
                      <a:r>
                        <a:rPr sz="2400" b="1" spc="-65" dirty="0">
                          <a:latin typeface="微软雅黑"/>
                          <a:cs typeface="微软雅黑"/>
                        </a:rPr>
                        <a:t>U</a:t>
                      </a:r>
                      <a:r>
                        <a:rPr sz="2400" b="1" dirty="0">
                          <a:latin typeface="微软雅黑"/>
                          <a:cs typeface="微软雅黑"/>
                        </a:rPr>
                        <a:t>A</a:t>
                      </a:r>
                      <a:r>
                        <a:rPr sz="2400" b="1" spc="-50" dirty="0">
                          <a:latin typeface="微软雅黑"/>
                          <a:cs typeface="微软雅黑"/>
                        </a:rPr>
                        <a:t>R</a:t>
                      </a:r>
                      <a:r>
                        <a:rPr sz="2400" b="1" spc="-5" dirty="0">
                          <a:latin typeface="微软雅黑"/>
                          <a:cs typeface="微软雅黑"/>
                        </a:rPr>
                        <a:t>T_H</a:t>
                      </a:r>
                      <a:r>
                        <a:rPr sz="2400" b="1" spc="5" dirty="0">
                          <a:latin typeface="微软雅黑"/>
                          <a:cs typeface="微软雅黑"/>
                        </a:rPr>
                        <a:t>a</a:t>
                      </a:r>
                      <a:r>
                        <a:rPr sz="2400" b="1" dirty="0">
                          <a:latin typeface="微软雅黑"/>
                          <a:cs typeface="微软雅黑"/>
                        </a:rPr>
                        <a:t>ndle</a:t>
                      </a:r>
                      <a:r>
                        <a:rPr sz="2400" b="1" spc="-125" dirty="0">
                          <a:latin typeface="微软雅黑"/>
                          <a:cs typeface="微软雅黑"/>
                        </a:rPr>
                        <a:t>T</a:t>
                      </a:r>
                      <a:r>
                        <a:rPr sz="2400" b="1" spc="-5" dirty="0">
                          <a:latin typeface="微软雅黑"/>
                          <a:cs typeface="微软雅黑"/>
                        </a:rPr>
                        <a:t>ypeDef</a:t>
                      </a:r>
                      <a:endParaRPr sz="2400">
                        <a:latin typeface="微软雅黑"/>
                        <a:cs typeface="微软雅黑"/>
                      </a:endParaRPr>
                    </a:p>
                    <a:p>
                      <a:pPr marL="53975">
                        <a:lnSpc>
                          <a:spcPct val="100000"/>
                        </a:lnSpc>
                      </a:pPr>
                      <a:r>
                        <a:rPr sz="2400" b="1" spc="-10" dirty="0">
                          <a:latin typeface="微软雅黑"/>
                          <a:cs typeface="微软雅黑"/>
                        </a:rPr>
                        <a:t>*</a:t>
                      </a:r>
                      <a:r>
                        <a:rPr sz="2400" b="1" dirty="0">
                          <a:latin typeface="微软雅黑"/>
                          <a:cs typeface="微软雅黑"/>
                        </a:rPr>
                        <a:t>hu</a:t>
                      </a:r>
                      <a:r>
                        <a:rPr sz="2400" b="1" spc="10" dirty="0">
                          <a:latin typeface="微软雅黑"/>
                          <a:cs typeface="微软雅黑"/>
                        </a:rPr>
                        <a:t>a</a:t>
                      </a:r>
                      <a:r>
                        <a:rPr sz="2400" b="1" spc="70" dirty="0">
                          <a:latin typeface="微软雅黑"/>
                          <a:cs typeface="微软雅黑"/>
                        </a:rPr>
                        <a:t>r</a:t>
                      </a:r>
                      <a:r>
                        <a:rPr sz="2400" b="1" spc="-5" dirty="0">
                          <a:latin typeface="微软雅黑"/>
                          <a:cs typeface="微软雅黑"/>
                        </a:rPr>
                        <a:t>t</a:t>
                      </a:r>
                      <a:r>
                        <a:rPr sz="2400" b="1" dirty="0">
                          <a:latin typeface="微软雅黑"/>
                          <a:cs typeface="微软雅黑"/>
                        </a:rPr>
                        <a:t>,</a:t>
                      </a:r>
                      <a:r>
                        <a:rPr sz="2400" b="1" spc="-10" dirty="0">
                          <a:latin typeface="微软雅黑"/>
                          <a:cs typeface="微软雅黑"/>
                        </a:rPr>
                        <a:t> </a:t>
                      </a:r>
                      <a:r>
                        <a:rPr sz="2400" b="1" dirty="0">
                          <a:latin typeface="微软雅黑"/>
                          <a:cs typeface="微软雅黑"/>
                        </a:rPr>
                        <a:t>ui</a:t>
                      </a:r>
                      <a:r>
                        <a:rPr sz="2400" b="1" spc="5" dirty="0">
                          <a:latin typeface="微软雅黑"/>
                          <a:cs typeface="微软雅黑"/>
                        </a:rPr>
                        <a:t>n</a:t>
                      </a:r>
                      <a:r>
                        <a:rPr sz="2400" b="1" dirty="0">
                          <a:latin typeface="微软雅黑"/>
                          <a:cs typeface="微软雅黑"/>
                        </a:rPr>
                        <a:t>t</a:t>
                      </a:r>
                      <a:r>
                        <a:rPr sz="2400" b="1" spc="-5" dirty="0">
                          <a:latin typeface="微软雅黑"/>
                          <a:cs typeface="微软雅黑"/>
                        </a:rPr>
                        <a:t>8</a:t>
                      </a:r>
                      <a:r>
                        <a:rPr sz="2400" b="1" dirty="0">
                          <a:latin typeface="微软雅黑"/>
                          <a:cs typeface="微软雅黑"/>
                        </a:rPr>
                        <a:t>_t</a:t>
                      </a:r>
                      <a:r>
                        <a:rPr sz="2400" b="1" spc="-5" dirty="0">
                          <a:latin typeface="微软雅黑"/>
                          <a:cs typeface="微软雅黑"/>
                        </a:rPr>
                        <a:t> *</a:t>
                      </a:r>
                      <a:r>
                        <a:rPr sz="2400" b="1" dirty="0">
                          <a:latin typeface="微软雅黑"/>
                          <a:cs typeface="微软雅黑"/>
                        </a:rPr>
                        <a:t>p</a:t>
                      </a:r>
                      <a:r>
                        <a:rPr sz="2400" b="1" spc="-10" dirty="0">
                          <a:latin typeface="微软雅黑"/>
                          <a:cs typeface="微软雅黑"/>
                        </a:rPr>
                        <a:t>D</a:t>
                      </a:r>
                      <a:r>
                        <a:rPr sz="2400" b="1" dirty="0">
                          <a:latin typeface="微软雅黑"/>
                          <a:cs typeface="微软雅黑"/>
                        </a:rPr>
                        <a:t>at</a:t>
                      </a:r>
                      <a:r>
                        <a:rPr sz="2400" b="1" spc="5" dirty="0">
                          <a:latin typeface="微软雅黑"/>
                          <a:cs typeface="微软雅黑"/>
                        </a:rPr>
                        <a:t>a</a:t>
                      </a:r>
                      <a:r>
                        <a:rPr sz="2400" b="1" dirty="0">
                          <a:latin typeface="微软雅黑"/>
                          <a:cs typeface="微软雅黑"/>
                        </a:rPr>
                        <a:t>,</a:t>
                      </a:r>
                      <a:r>
                        <a:rPr sz="2400" b="1" spc="15" dirty="0">
                          <a:latin typeface="微软雅黑"/>
                          <a:cs typeface="微软雅黑"/>
                        </a:rPr>
                        <a:t> </a:t>
                      </a:r>
                      <a:r>
                        <a:rPr sz="2400" b="1" dirty="0">
                          <a:latin typeface="微软雅黑"/>
                          <a:cs typeface="微软雅黑"/>
                        </a:rPr>
                        <a:t>ui</a:t>
                      </a:r>
                      <a:r>
                        <a:rPr sz="2400" b="1" spc="5" dirty="0">
                          <a:latin typeface="微软雅黑"/>
                          <a:cs typeface="微软雅黑"/>
                        </a:rPr>
                        <a:t>n</a:t>
                      </a:r>
                      <a:r>
                        <a:rPr sz="2400" b="1" dirty="0">
                          <a:latin typeface="微软雅黑"/>
                          <a:cs typeface="微软雅黑"/>
                        </a:rPr>
                        <a:t>t</a:t>
                      </a:r>
                      <a:r>
                        <a:rPr sz="2400" b="1" spc="-5" dirty="0">
                          <a:latin typeface="微软雅黑"/>
                          <a:cs typeface="微软雅黑"/>
                        </a:rPr>
                        <a:t>16</a:t>
                      </a:r>
                      <a:r>
                        <a:rPr sz="2400" b="1" spc="5" dirty="0">
                          <a:latin typeface="微软雅黑"/>
                          <a:cs typeface="微软雅黑"/>
                        </a:rPr>
                        <a:t>_</a:t>
                      </a:r>
                      <a:r>
                        <a:rPr sz="2400" b="1" dirty="0">
                          <a:latin typeface="微软雅黑"/>
                          <a:cs typeface="微软雅黑"/>
                        </a:rPr>
                        <a:t>t</a:t>
                      </a:r>
                      <a:r>
                        <a:rPr sz="2400" b="1" spc="-20" dirty="0">
                          <a:latin typeface="微软雅黑"/>
                          <a:cs typeface="微软雅黑"/>
                        </a:rPr>
                        <a:t> </a:t>
                      </a:r>
                      <a:r>
                        <a:rPr sz="2400" b="1" dirty="0">
                          <a:latin typeface="微软雅黑"/>
                          <a:cs typeface="微软雅黑"/>
                        </a:rPr>
                        <a:t>Siz</a:t>
                      </a:r>
                      <a:r>
                        <a:rPr sz="2400" b="1" spc="-15" dirty="0">
                          <a:latin typeface="微软雅黑"/>
                          <a:cs typeface="微软雅黑"/>
                        </a:rPr>
                        <a:t>e</a:t>
                      </a:r>
                      <a:r>
                        <a:rPr sz="2400" b="1" dirty="0">
                          <a:latin typeface="微软雅黑"/>
                          <a:cs typeface="微软雅黑"/>
                        </a:rPr>
                        <a:t>,</a:t>
                      </a:r>
                      <a:r>
                        <a:rPr sz="2400" b="1" spc="15" dirty="0">
                          <a:latin typeface="微软雅黑"/>
                          <a:cs typeface="微软雅黑"/>
                        </a:rPr>
                        <a:t> </a:t>
                      </a:r>
                      <a:r>
                        <a:rPr sz="2400" b="1" dirty="0">
                          <a:latin typeface="微软雅黑"/>
                          <a:cs typeface="微软雅黑"/>
                        </a:rPr>
                        <a:t>ui</a:t>
                      </a:r>
                      <a:r>
                        <a:rPr sz="2400" b="1" spc="5" dirty="0">
                          <a:latin typeface="微软雅黑"/>
                          <a:cs typeface="微软雅黑"/>
                        </a:rPr>
                        <a:t>n</a:t>
                      </a:r>
                      <a:r>
                        <a:rPr sz="2400" b="1" dirty="0">
                          <a:latin typeface="微软雅黑"/>
                          <a:cs typeface="微软雅黑"/>
                        </a:rPr>
                        <a:t>t</a:t>
                      </a:r>
                      <a:r>
                        <a:rPr sz="2400" b="1" spc="-5" dirty="0">
                          <a:latin typeface="微软雅黑"/>
                          <a:cs typeface="微软雅黑"/>
                        </a:rPr>
                        <a:t>32</a:t>
                      </a:r>
                      <a:r>
                        <a:rPr sz="2400" b="1" spc="5" dirty="0">
                          <a:latin typeface="微软雅黑"/>
                          <a:cs typeface="微软雅黑"/>
                        </a:rPr>
                        <a:t>_</a:t>
                      </a:r>
                      <a:r>
                        <a:rPr sz="2400" b="1" dirty="0">
                          <a:latin typeface="微软雅黑"/>
                          <a:cs typeface="微软雅黑"/>
                        </a:rPr>
                        <a:t>t</a:t>
                      </a:r>
                      <a:r>
                        <a:rPr sz="2400" b="1" spc="-10" dirty="0">
                          <a:latin typeface="微软雅黑"/>
                          <a:cs typeface="微软雅黑"/>
                        </a:rPr>
                        <a:t> </a:t>
                      </a:r>
                      <a:r>
                        <a:rPr sz="2400" b="1" spc="-5" dirty="0">
                          <a:latin typeface="微软雅黑"/>
                          <a:cs typeface="微软雅黑"/>
                        </a:rPr>
                        <a:t>Ti</a:t>
                      </a:r>
                      <a:r>
                        <a:rPr sz="2400" b="1" spc="-10" dirty="0">
                          <a:latin typeface="微软雅黑"/>
                          <a:cs typeface="微软雅黑"/>
                        </a:rPr>
                        <a:t>m</a:t>
                      </a:r>
                      <a:r>
                        <a:rPr sz="2400" b="1" dirty="0">
                          <a:latin typeface="微软雅黑"/>
                          <a:cs typeface="微软雅黑"/>
                        </a:rPr>
                        <a:t>e</a:t>
                      </a:r>
                      <a:r>
                        <a:rPr sz="2400" b="1" spc="-15" dirty="0">
                          <a:latin typeface="微软雅黑"/>
                          <a:cs typeface="微软雅黑"/>
                        </a:rPr>
                        <a:t>o</a:t>
                      </a:r>
                      <a:r>
                        <a:rPr sz="2400" b="1" dirty="0">
                          <a:latin typeface="微软雅黑"/>
                          <a:cs typeface="微软雅黑"/>
                        </a:rPr>
                        <a:t>ut)</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1"/>
                  </a:ext>
                </a:extLst>
              </a:tr>
              <a:tr h="509397">
                <a:tc>
                  <a:txBody>
                    <a:bodyPr/>
                    <a:lstStyle/>
                    <a:p>
                      <a:pPr marL="182880">
                        <a:lnSpc>
                          <a:spcPct val="100000"/>
                        </a:lnSpc>
                      </a:pPr>
                      <a:r>
                        <a:rPr sz="2400" b="1" spc="-5" dirty="0">
                          <a:latin typeface="微软雅黑"/>
                          <a:cs typeface="微软雅黑"/>
                        </a:rPr>
                        <a:t>功能描述</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3975">
                        <a:lnSpc>
                          <a:spcPct val="100000"/>
                        </a:lnSpc>
                      </a:pPr>
                      <a:r>
                        <a:rPr sz="2400" b="1" dirty="0">
                          <a:latin typeface="微软雅黑"/>
                          <a:cs typeface="微软雅黑"/>
                        </a:rPr>
                        <a:t>在轮询方式下接收一定数量的数据</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r h="509397">
                <a:tc>
                  <a:txBody>
                    <a:bodyPr/>
                    <a:lstStyle/>
                    <a:p>
                      <a:pPr marL="90170">
                        <a:lnSpc>
                          <a:spcPct val="100000"/>
                        </a:lnSpc>
                      </a:pPr>
                      <a:r>
                        <a:rPr sz="2400" b="1" dirty="0">
                          <a:latin typeface="微软雅黑"/>
                          <a:cs typeface="微软雅黑"/>
                        </a:rPr>
                        <a:t>入口参</a:t>
                      </a:r>
                      <a:r>
                        <a:rPr sz="2400" b="1" spc="-5" dirty="0">
                          <a:latin typeface="微软雅黑"/>
                          <a:cs typeface="微软雅黑"/>
                        </a:rPr>
                        <a:t>数</a:t>
                      </a:r>
                      <a:r>
                        <a:rPr sz="2400" b="1" dirty="0">
                          <a:latin typeface="微软雅黑"/>
                          <a:cs typeface="微软雅黑"/>
                        </a:rPr>
                        <a:t>1</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ct val="100000"/>
                        </a:lnSpc>
                      </a:pPr>
                      <a:r>
                        <a:rPr sz="2400" b="1" dirty="0">
                          <a:latin typeface="微软雅黑"/>
                          <a:cs typeface="微软雅黑"/>
                        </a:rPr>
                        <a:t>hua</a:t>
                      </a:r>
                      <a:r>
                        <a:rPr sz="2400" b="1" spc="70" dirty="0">
                          <a:latin typeface="微软雅黑"/>
                          <a:cs typeface="微软雅黑"/>
                        </a:rPr>
                        <a:t>r</a:t>
                      </a:r>
                      <a:r>
                        <a:rPr sz="2400" b="1" spc="5" dirty="0">
                          <a:latin typeface="微软雅黑"/>
                          <a:cs typeface="微软雅黑"/>
                        </a:rPr>
                        <a:t>t</a:t>
                      </a:r>
                      <a:r>
                        <a:rPr sz="2400" b="1" dirty="0">
                          <a:latin typeface="微软雅黑"/>
                          <a:cs typeface="微软雅黑"/>
                        </a:rPr>
                        <a:t>：串口句柄的地址</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3"/>
                  </a:ext>
                </a:extLst>
              </a:tr>
              <a:tr h="509397">
                <a:tc>
                  <a:txBody>
                    <a:bodyPr/>
                    <a:lstStyle/>
                    <a:p>
                      <a:pPr marL="90170">
                        <a:lnSpc>
                          <a:spcPct val="100000"/>
                        </a:lnSpc>
                      </a:pPr>
                      <a:r>
                        <a:rPr sz="2400" b="1" dirty="0">
                          <a:latin typeface="微软雅黑"/>
                          <a:cs typeface="微软雅黑"/>
                        </a:rPr>
                        <a:t>入口参</a:t>
                      </a:r>
                      <a:r>
                        <a:rPr sz="2400" b="1" spc="-5" dirty="0">
                          <a:latin typeface="微软雅黑"/>
                          <a:cs typeface="微软雅黑"/>
                        </a:rPr>
                        <a:t>数</a:t>
                      </a:r>
                      <a:r>
                        <a:rPr sz="2400" b="1" dirty="0">
                          <a:latin typeface="微软雅黑"/>
                          <a:cs typeface="微软雅黑"/>
                        </a:rPr>
                        <a:t>2</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3975">
                        <a:lnSpc>
                          <a:spcPct val="100000"/>
                        </a:lnSpc>
                      </a:pPr>
                      <a:r>
                        <a:rPr sz="2400" b="1" dirty="0">
                          <a:latin typeface="微软雅黑"/>
                          <a:cs typeface="微软雅黑"/>
                        </a:rPr>
                        <a:t>pDat</a:t>
                      </a:r>
                      <a:r>
                        <a:rPr sz="2400" b="1" spc="5" dirty="0">
                          <a:latin typeface="微软雅黑"/>
                          <a:cs typeface="微软雅黑"/>
                        </a:rPr>
                        <a:t>a</a:t>
                      </a:r>
                      <a:r>
                        <a:rPr sz="2400" b="1" dirty="0">
                          <a:latin typeface="微软雅黑"/>
                          <a:cs typeface="微软雅黑"/>
                        </a:rPr>
                        <a:t>：存放接收数据的首地址</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4"/>
                  </a:ext>
                </a:extLst>
              </a:tr>
              <a:tr h="509523">
                <a:tc>
                  <a:txBody>
                    <a:bodyPr/>
                    <a:lstStyle/>
                    <a:p>
                      <a:pPr marL="90170">
                        <a:lnSpc>
                          <a:spcPct val="100000"/>
                        </a:lnSpc>
                      </a:pPr>
                      <a:r>
                        <a:rPr sz="2400" b="1" dirty="0">
                          <a:latin typeface="微软雅黑"/>
                          <a:cs typeface="微软雅黑"/>
                        </a:rPr>
                        <a:t>入口参</a:t>
                      </a:r>
                      <a:r>
                        <a:rPr sz="2400" b="1" spc="-5" dirty="0">
                          <a:latin typeface="微软雅黑"/>
                          <a:cs typeface="微软雅黑"/>
                        </a:rPr>
                        <a:t>数</a:t>
                      </a:r>
                      <a:r>
                        <a:rPr sz="2400" b="1" dirty="0">
                          <a:latin typeface="微软雅黑"/>
                          <a:cs typeface="微软雅黑"/>
                        </a:rPr>
                        <a:t>3</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ct val="100000"/>
                        </a:lnSpc>
                      </a:pPr>
                      <a:r>
                        <a:rPr sz="2400" b="1" dirty="0">
                          <a:latin typeface="微软雅黑"/>
                          <a:cs typeface="微软雅黑"/>
                        </a:rPr>
                        <a:t>Siz</a:t>
                      </a:r>
                      <a:r>
                        <a:rPr sz="2400" b="1" spc="-10" dirty="0">
                          <a:latin typeface="微软雅黑"/>
                          <a:cs typeface="微软雅黑"/>
                        </a:rPr>
                        <a:t>e</a:t>
                      </a:r>
                      <a:r>
                        <a:rPr sz="2400" b="1" dirty="0">
                          <a:latin typeface="微软雅黑"/>
                          <a:cs typeface="微软雅黑"/>
                        </a:rPr>
                        <a:t>：待接收数据的个数</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5"/>
                  </a:ext>
                </a:extLst>
              </a:tr>
              <a:tr h="509397">
                <a:tc>
                  <a:txBody>
                    <a:bodyPr/>
                    <a:lstStyle/>
                    <a:p>
                      <a:pPr marL="90170">
                        <a:lnSpc>
                          <a:spcPct val="100000"/>
                        </a:lnSpc>
                      </a:pPr>
                      <a:r>
                        <a:rPr sz="2400" b="1" spc="-5" dirty="0">
                          <a:latin typeface="微软雅黑"/>
                          <a:cs typeface="微软雅黑"/>
                        </a:rPr>
                        <a:t>入口参数</a:t>
                      </a:r>
                      <a:r>
                        <a:rPr sz="2400" b="1" dirty="0">
                          <a:latin typeface="微软雅黑"/>
                          <a:cs typeface="微软雅黑"/>
                        </a:rPr>
                        <a:t>4</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3975">
                        <a:lnSpc>
                          <a:spcPct val="100000"/>
                        </a:lnSpc>
                      </a:pPr>
                      <a:r>
                        <a:rPr sz="2400" b="1" spc="-5" dirty="0">
                          <a:latin typeface="微软雅黑"/>
                          <a:cs typeface="微软雅黑"/>
                        </a:rPr>
                        <a:t>Ti</a:t>
                      </a:r>
                      <a:r>
                        <a:rPr sz="2400" b="1" spc="-10" dirty="0">
                          <a:latin typeface="微软雅黑"/>
                          <a:cs typeface="微软雅黑"/>
                        </a:rPr>
                        <a:t>m</a:t>
                      </a:r>
                      <a:r>
                        <a:rPr sz="2400" b="1" dirty="0">
                          <a:latin typeface="微软雅黑"/>
                          <a:cs typeface="微软雅黑"/>
                        </a:rPr>
                        <a:t>e</a:t>
                      </a:r>
                      <a:r>
                        <a:rPr sz="2400" b="1" spc="-15" dirty="0">
                          <a:latin typeface="微软雅黑"/>
                          <a:cs typeface="微软雅黑"/>
                        </a:rPr>
                        <a:t>o</a:t>
                      </a:r>
                      <a:r>
                        <a:rPr sz="2400" b="1" dirty="0">
                          <a:latin typeface="微软雅黑"/>
                          <a:cs typeface="微软雅黑"/>
                        </a:rPr>
                        <a:t>ut</a:t>
                      </a:r>
                      <a:r>
                        <a:rPr sz="2400" b="1" spc="-5" dirty="0">
                          <a:latin typeface="微软雅黑"/>
                          <a:cs typeface="微软雅黑"/>
                        </a:rPr>
                        <a:t>：超时等待时</a:t>
                      </a:r>
                      <a:r>
                        <a:rPr sz="2400" b="1" dirty="0">
                          <a:latin typeface="微软雅黑"/>
                          <a:cs typeface="微软雅黑"/>
                        </a:rPr>
                        <a:t>间</a:t>
                      </a:r>
                      <a:r>
                        <a:rPr sz="2400" b="1" spc="-5" dirty="0">
                          <a:latin typeface="微软雅黑"/>
                          <a:cs typeface="微软雅黑"/>
                        </a:rPr>
                        <a:t>，以</a:t>
                      </a:r>
                      <a:r>
                        <a:rPr sz="2400" b="1" spc="-10" dirty="0">
                          <a:latin typeface="微软雅黑"/>
                          <a:cs typeface="微软雅黑"/>
                        </a:rPr>
                        <a:t>m</a:t>
                      </a:r>
                      <a:r>
                        <a:rPr sz="2400" b="1" dirty="0">
                          <a:latin typeface="微软雅黑"/>
                          <a:cs typeface="微软雅黑"/>
                        </a:rPr>
                        <a:t>s为单位</a:t>
                      </a:r>
                      <a:r>
                        <a:rPr sz="2400" b="1" spc="-10" dirty="0">
                          <a:latin typeface="微软雅黑"/>
                          <a:cs typeface="微软雅黑"/>
                        </a:rPr>
                        <a:t>，</a:t>
                      </a:r>
                      <a:r>
                        <a:rPr sz="2400" b="1" spc="-5" dirty="0">
                          <a:latin typeface="微软雅黑"/>
                          <a:cs typeface="微软雅黑"/>
                        </a:rPr>
                        <a:t>H</a:t>
                      </a:r>
                      <a:r>
                        <a:rPr sz="2400" b="1" spc="-15" dirty="0">
                          <a:latin typeface="微软雅黑"/>
                          <a:cs typeface="微软雅黑"/>
                        </a:rPr>
                        <a:t>A</a:t>
                      </a:r>
                      <a:r>
                        <a:rPr sz="2400" b="1" dirty="0">
                          <a:latin typeface="微软雅黑"/>
                          <a:cs typeface="微软雅黑"/>
                        </a:rPr>
                        <a:t>L_MA</a:t>
                      </a:r>
                      <a:r>
                        <a:rPr sz="2400" b="1" spc="-10" dirty="0">
                          <a:latin typeface="微软雅黑"/>
                          <a:cs typeface="微软雅黑"/>
                        </a:rPr>
                        <a:t>X</a:t>
                      </a:r>
                      <a:r>
                        <a:rPr sz="2400" b="1" spc="-5" dirty="0">
                          <a:latin typeface="微软雅黑"/>
                          <a:cs typeface="微软雅黑"/>
                        </a:rPr>
                        <a:t>_D</a:t>
                      </a:r>
                      <a:r>
                        <a:rPr sz="2400" b="1" spc="-10" dirty="0">
                          <a:latin typeface="微软雅黑"/>
                          <a:cs typeface="微软雅黑"/>
                        </a:rPr>
                        <a:t>E</a:t>
                      </a:r>
                      <a:r>
                        <a:rPr sz="2400" b="1" spc="50" dirty="0">
                          <a:latin typeface="微软雅黑"/>
                          <a:cs typeface="微软雅黑"/>
                        </a:rPr>
                        <a:t>L</a:t>
                      </a:r>
                      <a:r>
                        <a:rPr sz="2400" b="1" spc="-200" dirty="0">
                          <a:latin typeface="微软雅黑"/>
                          <a:cs typeface="微软雅黑"/>
                        </a:rPr>
                        <a:t>A</a:t>
                      </a:r>
                      <a:r>
                        <a:rPr sz="2400" b="1" spc="5" dirty="0">
                          <a:latin typeface="微软雅黑"/>
                          <a:cs typeface="微软雅黑"/>
                        </a:rPr>
                        <a:t>Y</a:t>
                      </a:r>
                      <a:r>
                        <a:rPr sz="2400" b="1" spc="-5" dirty="0">
                          <a:latin typeface="微软雅黑"/>
                          <a:cs typeface="微软雅黑"/>
                        </a:rPr>
                        <a:t>表示无限等待</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6"/>
                  </a:ext>
                </a:extLst>
              </a:tr>
              <a:tr h="1018794">
                <a:tc>
                  <a:txBody>
                    <a:bodyPr/>
                    <a:lstStyle/>
                    <a:p>
                      <a:pPr marL="335280">
                        <a:lnSpc>
                          <a:spcPct val="100000"/>
                        </a:lnSpc>
                      </a:pPr>
                      <a:r>
                        <a:rPr sz="2400" b="1" dirty="0">
                          <a:latin typeface="微软雅黑"/>
                          <a:cs typeface="微软雅黑"/>
                        </a:rPr>
                        <a:t>返回值</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marR="1021715">
                        <a:lnSpc>
                          <a:spcPct val="100000"/>
                        </a:lnSpc>
                      </a:pPr>
                      <a:r>
                        <a:rPr sz="2400" b="1" spc="-5" dirty="0">
                          <a:latin typeface="微软雅黑"/>
                          <a:cs typeface="微软雅黑"/>
                        </a:rPr>
                        <a:t>HA</a:t>
                      </a:r>
                      <a:r>
                        <a:rPr sz="2400" b="1" spc="-10" dirty="0">
                          <a:latin typeface="微软雅黑"/>
                          <a:cs typeface="微软雅黑"/>
                        </a:rPr>
                        <a:t>L</a:t>
                      </a:r>
                      <a:r>
                        <a:rPr sz="2400" b="1" dirty="0">
                          <a:latin typeface="微软雅黑"/>
                          <a:cs typeface="微软雅黑"/>
                        </a:rPr>
                        <a:t>状态值：</a:t>
                      </a:r>
                      <a:r>
                        <a:rPr sz="2400" b="1" spc="-5" dirty="0">
                          <a:latin typeface="微软雅黑"/>
                          <a:cs typeface="微软雅黑"/>
                        </a:rPr>
                        <a:t>H</a:t>
                      </a:r>
                      <a:r>
                        <a:rPr sz="2400" b="1" spc="-10" dirty="0">
                          <a:latin typeface="微软雅黑"/>
                          <a:cs typeface="微软雅黑"/>
                        </a:rPr>
                        <a:t>A</a:t>
                      </a:r>
                      <a:r>
                        <a:rPr sz="2400" b="1" dirty="0">
                          <a:latin typeface="微软雅黑"/>
                          <a:cs typeface="微软雅黑"/>
                        </a:rPr>
                        <a:t>L_O</a:t>
                      </a:r>
                      <a:r>
                        <a:rPr sz="2400" b="1" spc="10" dirty="0">
                          <a:latin typeface="微软雅黑"/>
                          <a:cs typeface="微软雅黑"/>
                        </a:rPr>
                        <a:t>K</a:t>
                      </a:r>
                      <a:r>
                        <a:rPr sz="2400" b="1" dirty="0">
                          <a:latin typeface="微软雅黑"/>
                          <a:cs typeface="微软雅黑"/>
                        </a:rPr>
                        <a:t>表示接收成功；</a:t>
                      </a:r>
                      <a:r>
                        <a:rPr sz="2400" b="1" spc="-5" dirty="0">
                          <a:latin typeface="微软雅黑"/>
                          <a:cs typeface="微软雅黑"/>
                        </a:rPr>
                        <a:t>H</a:t>
                      </a:r>
                      <a:r>
                        <a:rPr sz="2400" b="1" spc="-10" dirty="0">
                          <a:latin typeface="微软雅黑"/>
                          <a:cs typeface="微软雅黑"/>
                        </a:rPr>
                        <a:t>A</a:t>
                      </a:r>
                      <a:r>
                        <a:rPr sz="2400" b="1" dirty="0">
                          <a:latin typeface="微软雅黑"/>
                          <a:cs typeface="微软雅黑"/>
                        </a:rPr>
                        <a:t>L_ER</a:t>
                      </a:r>
                      <a:r>
                        <a:rPr sz="2400" b="1" spc="-25" dirty="0">
                          <a:latin typeface="微软雅黑"/>
                          <a:cs typeface="微软雅黑"/>
                        </a:rPr>
                        <a:t>R</a:t>
                      </a:r>
                      <a:r>
                        <a:rPr sz="2400" b="1" spc="-5" dirty="0">
                          <a:latin typeface="微软雅黑"/>
                          <a:cs typeface="微软雅黑"/>
                        </a:rPr>
                        <a:t>O</a:t>
                      </a:r>
                      <a:r>
                        <a:rPr sz="2400" b="1" spc="10" dirty="0">
                          <a:latin typeface="微软雅黑"/>
                          <a:cs typeface="微软雅黑"/>
                        </a:rPr>
                        <a:t>R</a:t>
                      </a:r>
                      <a:r>
                        <a:rPr sz="2400" b="1" dirty="0">
                          <a:latin typeface="微软雅黑"/>
                          <a:cs typeface="微软雅黑"/>
                        </a:rPr>
                        <a:t>表示参数错误； </a:t>
                      </a:r>
                      <a:r>
                        <a:rPr sz="2400" b="1" spc="-5" dirty="0">
                          <a:latin typeface="微软雅黑"/>
                          <a:cs typeface="微软雅黑"/>
                        </a:rPr>
                        <a:t>HAL_BUSY</a:t>
                      </a:r>
                      <a:r>
                        <a:rPr sz="2400" b="1" dirty="0">
                          <a:latin typeface="微软雅黑"/>
                          <a:cs typeface="微软雅黑"/>
                        </a:rPr>
                        <a:t>表示串口被占用；</a:t>
                      </a:r>
                      <a:r>
                        <a:rPr sz="2400" b="1" spc="-5" dirty="0">
                          <a:latin typeface="微软雅黑"/>
                          <a:cs typeface="微软雅黑"/>
                        </a:rPr>
                        <a:t>H</a:t>
                      </a:r>
                      <a:r>
                        <a:rPr sz="2400" b="1" spc="-10" dirty="0">
                          <a:latin typeface="微软雅黑"/>
                          <a:cs typeface="微软雅黑"/>
                        </a:rPr>
                        <a:t>A</a:t>
                      </a:r>
                      <a:r>
                        <a:rPr sz="2400" b="1" dirty="0">
                          <a:latin typeface="微软雅黑"/>
                          <a:cs typeface="微软雅黑"/>
                        </a:rPr>
                        <a:t>L_TIMEOU</a:t>
                      </a:r>
                      <a:r>
                        <a:rPr sz="2400" b="1" spc="-5" dirty="0">
                          <a:latin typeface="微软雅黑"/>
                          <a:cs typeface="微软雅黑"/>
                        </a:rPr>
                        <a:t>T</a:t>
                      </a:r>
                      <a:r>
                        <a:rPr sz="2400" b="1" dirty="0">
                          <a:latin typeface="微软雅黑"/>
                          <a:cs typeface="微软雅黑"/>
                        </a:rPr>
                        <a:t>表示接收超时</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7"/>
                  </a:ext>
                </a:extLst>
              </a:tr>
              <a:tr h="1528272">
                <a:tc>
                  <a:txBody>
                    <a:bodyPr/>
                    <a:lstStyle/>
                    <a:p>
                      <a:pPr marL="182880">
                        <a:lnSpc>
                          <a:spcPct val="100000"/>
                        </a:lnSpc>
                      </a:pPr>
                      <a:r>
                        <a:rPr sz="2400" b="1" dirty="0">
                          <a:latin typeface="微软雅黑"/>
                          <a:cs typeface="微软雅黑"/>
                        </a:rPr>
                        <a:t>注意事项</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06730" marR="387985" indent="-453390">
                        <a:lnSpc>
                          <a:spcPct val="100000"/>
                        </a:lnSpc>
                        <a:tabLst>
                          <a:tab pos="511809" algn="l"/>
                        </a:tabLst>
                      </a:pPr>
                      <a:r>
                        <a:rPr sz="2400" b="1" spc="-5" dirty="0">
                          <a:latin typeface="微软雅黑"/>
                          <a:cs typeface="微软雅黑"/>
                        </a:rPr>
                        <a:t>1</a:t>
                      </a:r>
                      <a:r>
                        <a:rPr sz="2400" b="1" dirty="0">
                          <a:latin typeface="微软雅黑"/>
                          <a:cs typeface="微软雅黑"/>
                        </a:rPr>
                        <a:t>.		该函数连续接收数据，在接收过程中通过判断R</a:t>
                      </a:r>
                      <a:r>
                        <a:rPr sz="2400" b="1" spc="-5" dirty="0">
                          <a:latin typeface="微软雅黑"/>
                          <a:cs typeface="微软雅黑"/>
                        </a:rPr>
                        <a:t>X</a:t>
                      </a:r>
                      <a:r>
                        <a:rPr sz="2400" b="1" spc="5" dirty="0">
                          <a:latin typeface="微软雅黑"/>
                          <a:cs typeface="微软雅黑"/>
                        </a:rPr>
                        <a:t>N</a:t>
                      </a:r>
                      <a:r>
                        <a:rPr sz="2400" b="1" spc="-5" dirty="0">
                          <a:latin typeface="微软雅黑"/>
                          <a:cs typeface="微软雅黑"/>
                        </a:rPr>
                        <a:t>E</a:t>
                      </a:r>
                      <a:r>
                        <a:rPr sz="2400" b="1" dirty="0">
                          <a:latin typeface="微软雅黑"/>
                          <a:cs typeface="微软雅黑"/>
                        </a:rPr>
                        <a:t>标志来接收新的数 据</a:t>
                      </a:r>
                      <a:endParaRPr sz="2400">
                        <a:latin typeface="微软雅黑"/>
                        <a:cs typeface="微软雅黑"/>
                      </a:endParaRPr>
                    </a:p>
                    <a:p>
                      <a:pPr marL="53975">
                        <a:lnSpc>
                          <a:spcPct val="100000"/>
                        </a:lnSpc>
                        <a:tabLst>
                          <a:tab pos="511809" algn="l"/>
                        </a:tabLst>
                      </a:pPr>
                      <a:r>
                        <a:rPr sz="2400" b="1" spc="-10" dirty="0">
                          <a:latin typeface="微软雅黑"/>
                          <a:cs typeface="微软雅黑"/>
                        </a:rPr>
                        <a:t>2</a:t>
                      </a:r>
                      <a:r>
                        <a:rPr sz="2400" b="1" dirty="0">
                          <a:latin typeface="微软雅黑"/>
                          <a:cs typeface="微软雅黑"/>
                        </a:rPr>
                        <a:t>.	</a:t>
                      </a:r>
                      <a:r>
                        <a:rPr sz="2400" b="1" spc="-5" dirty="0">
                          <a:latin typeface="微软雅黑"/>
                          <a:cs typeface="微软雅黑"/>
                        </a:rPr>
                        <a:t>如果在超时时间内</a:t>
                      </a:r>
                      <a:r>
                        <a:rPr sz="2400" b="1" dirty="0">
                          <a:latin typeface="微软雅黑"/>
                          <a:cs typeface="微软雅黑"/>
                        </a:rPr>
                        <a:t>没</a:t>
                      </a:r>
                      <a:r>
                        <a:rPr sz="2400" b="1" spc="-5" dirty="0">
                          <a:latin typeface="微软雅黑"/>
                          <a:cs typeface="微软雅黑"/>
                        </a:rPr>
                        <a:t>有完成接收，则不再接收数据，返回超时标志</a:t>
                      </a:r>
                      <a:endParaRPr sz="2400">
                        <a:latin typeface="微软雅黑"/>
                        <a:cs typeface="微软雅黑"/>
                      </a:endParaRPr>
                    </a:p>
                    <a:p>
                      <a:pPr marL="53975">
                        <a:lnSpc>
                          <a:spcPct val="100000"/>
                        </a:lnSpc>
                        <a:tabLst>
                          <a:tab pos="511809" algn="l"/>
                        </a:tabLst>
                      </a:pPr>
                      <a:r>
                        <a:rPr sz="2400" b="1" spc="-5" dirty="0">
                          <a:latin typeface="微软雅黑"/>
                          <a:cs typeface="微软雅黑"/>
                        </a:rPr>
                        <a:t>3</a:t>
                      </a:r>
                      <a:r>
                        <a:rPr sz="2400" b="1" dirty="0">
                          <a:latin typeface="微软雅黑"/>
                          <a:cs typeface="微软雅黑"/>
                        </a:rPr>
                        <a:t>.	该函数由用户调用</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3974980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2179320"/>
            <a:ext cx="12192000" cy="1914525"/>
          </a:xfrm>
          <a:custGeom>
            <a:avLst/>
            <a:gdLst/>
            <a:ahLst/>
            <a:cxnLst/>
            <a:rect l="l" t="t" r="r" b="b"/>
            <a:pathLst>
              <a:path w="12192000" h="1914525">
                <a:moveTo>
                  <a:pt x="0" y="1914143"/>
                </a:moveTo>
                <a:lnTo>
                  <a:pt x="12192000" y="1914143"/>
                </a:lnTo>
                <a:lnTo>
                  <a:pt x="12192000" y="0"/>
                </a:lnTo>
                <a:lnTo>
                  <a:pt x="0" y="0"/>
                </a:lnTo>
                <a:lnTo>
                  <a:pt x="0" y="1914143"/>
                </a:lnTo>
                <a:close/>
              </a:path>
            </a:pathLst>
          </a:custGeom>
          <a:solidFill>
            <a:srgbClr val="E34A46"/>
          </a:solidFill>
        </p:spPr>
        <p:txBody>
          <a:bodyPr wrap="square" lIns="0" tIns="0" rIns="0" bIns="0" rtlCol="0"/>
          <a:lstStyle/>
          <a:p>
            <a:endParaRPr/>
          </a:p>
        </p:txBody>
      </p:sp>
      <p:sp>
        <p:nvSpPr>
          <p:cNvPr id="3" name="object 3"/>
          <p:cNvSpPr txBox="1">
            <a:spLocks noGrp="1"/>
          </p:cNvSpPr>
          <p:nvPr>
            <p:ph type="title"/>
          </p:nvPr>
        </p:nvSpPr>
        <p:spPr>
          <a:xfrm>
            <a:off x="2580513" y="2712106"/>
            <a:ext cx="7030084" cy="830997"/>
          </a:xfrm>
          <a:prstGeom prst="rect">
            <a:avLst/>
          </a:prstGeom>
        </p:spPr>
        <p:txBody>
          <a:bodyPr vert="horz" wrap="square" lIns="0" tIns="0" rIns="0" bIns="0" rtlCol="0">
            <a:spAutoFit/>
          </a:bodyPr>
          <a:lstStyle/>
          <a:p>
            <a:pPr marL="12700">
              <a:lnSpc>
                <a:spcPct val="100000"/>
              </a:lnSpc>
              <a:tabLst>
                <a:tab pos="844550" algn="l"/>
              </a:tabLst>
            </a:pPr>
            <a:r>
              <a:rPr lang="en-US" sz="5400" spc="-5" dirty="0">
                <a:solidFill>
                  <a:srgbClr val="FFFFFF"/>
                </a:solidFill>
              </a:rPr>
              <a:t>2</a:t>
            </a:r>
            <a:r>
              <a:rPr sz="5400" spc="-5" dirty="0">
                <a:solidFill>
                  <a:srgbClr val="FFFFFF"/>
                </a:solidFill>
                <a:latin typeface="微软雅黑"/>
                <a:cs typeface="微软雅黑"/>
              </a:rPr>
              <a:t>	</a:t>
            </a:r>
            <a:r>
              <a:rPr sz="5400" spc="-5" dirty="0">
                <a:solidFill>
                  <a:srgbClr val="FFFFFF"/>
                </a:solidFill>
              </a:rPr>
              <a:t>中断方式的接口函数</a:t>
            </a:r>
            <a:endParaRPr sz="5400" dirty="0">
              <a:latin typeface="微软雅黑"/>
              <a:cs typeface="微软雅黑"/>
            </a:endParaRPr>
          </a:p>
        </p:txBody>
      </p:sp>
    </p:spTree>
    <p:extLst>
      <p:ext uri="{BB962C8B-B14F-4D97-AF65-F5344CB8AC3E}">
        <p14:creationId xmlns:p14="http://schemas.microsoft.com/office/powerpoint/2010/main" val="387727939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23" y="6516623"/>
            <a:ext cx="12190730" cy="341630"/>
          </a:xfrm>
          <a:prstGeom prst="rect">
            <a:avLst/>
          </a:prstGeom>
        </p:spPr>
        <p:txBody>
          <a:bodyPr vert="horz" wrap="square" lIns="0" tIns="0" rIns="0" bIns="0" rtlCol="0">
            <a:spAutoFit/>
          </a:bodyPr>
          <a:lstStyle/>
          <a:p>
            <a:pPr marR="192405" algn="r">
              <a:lnSpc>
                <a:spcPct val="100000"/>
              </a:lnSpc>
            </a:pPr>
            <a:r>
              <a:rPr sz="1200" b="1" spc="-5" dirty="0">
                <a:solidFill>
                  <a:srgbClr val="FFFFFF"/>
                </a:solidFill>
                <a:latin typeface="黑体"/>
                <a:cs typeface="黑体"/>
              </a:rPr>
              <a:t>-- 南昌大学“卓越”辅导员培养工程建设</a:t>
            </a:r>
            <a:endParaRPr sz="1200">
              <a:latin typeface="黑体"/>
              <a:cs typeface="黑体"/>
            </a:endParaRPr>
          </a:p>
        </p:txBody>
      </p:sp>
      <p:sp>
        <p:nvSpPr>
          <p:cNvPr id="3" name="object 3"/>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5" name="object 5"/>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7" name="object 7"/>
          <p:cNvSpPr txBox="1"/>
          <p:nvPr/>
        </p:nvSpPr>
        <p:spPr>
          <a:xfrm>
            <a:off x="46126" y="1168516"/>
            <a:ext cx="18542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串口中断方式</a:t>
            </a:r>
            <a:endParaRPr sz="2400">
              <a:latin typeface="微软雅黑"/>
              <a:cs typeface="微软雅黑"/>
            </a:endParaRPr>
          </a:p>
        </p:txBody>
      </p:sp>
      <p:sp>
        <p:nvSpPr>
          <p:cNvPr id="8" name="object 8"/>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9" name="object 9"/>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10" name="object 10"/>
          <p:cNvSpPr txBox="1"/>
          <p:nvPr/>
        </p:nvSpPr>
        <p:spPr>
          <a:xfrm>
            <a:off x="731621" y="2071359"/>
            <a:ext cx="10911205" cy="4171950"/>
          </a:xfrm>
          <a:prstGeom prst="rect">
            <a:avLst/>
          </a:prstGeom>
        </p:spPr>
        <p:txBody>
          <a:bodyPr vert="horz" wrap="square" lIns="0" tIns="0" rIns="0" bIns="0" rtlCol="0">
            <a:spAutoFit/>
          </a:bodyPr>
          <a:lstStyle/>
          <a:p>
            <a:pPr marL="12700">
              <a:lnSpc>
                <a:spcPct val="100000"/>
              </a:lnSpc>
              <a:tabLst>
                <a:tab pos="469265" algn="l"/>
              </a:tabLst>
            </a:pPr>
            <a:r>
              <a:rPr sz="2400" b="1" spc="-10" dirty="0">
                <a:latin typeface="微软雅黑"/>
                <a:cs typeface="微软雅黑"/>
              </a:rPr>
              <a:t>1</a:t>
            </a:r>
            <a:r>
              <a:rPr sz="2400" b="1" spc="-5" dirty="0">
                <a:latin typeface="微软雅黑"/>
                <a:cs typeface="微软雅黑"/>
              </a:rPr>
              <a:t>.</a:t>
            </a:r>
            <a:r>
              <a:rPr sz="2400" b="1" dirty="0">
                <a:latin typeface="微软雅黑"/>
                <a:cs typeface="微软雅黑"/>
              </a:rPr>
              <a:t>	发送数据时，将一字节数据放入数据寄存</a:t>
            </a:r>
            <a:r>
              <a:rPr sz="2400" b="1" spc="-40" dirty="0">
                <a:latin typeface="微软雅黑"/>
                <a:cs typeface="微软雅黑"/>
              </a:rPr>
              <a:t>器</a:t>
            </a:r>
            <a:r>
              <a:rPr sz="2400" b="1" spc="-10" dirty="0">
                <a:latin typeface="微软雅黑"/>
                <a:cs typeface="微软雅黑"/>
              </a:rPr>
              <a:t>D</a:t>
            </a:r>
            <a:r>
              <a:rPr sz="2400" b="1" spc="-5" dirty="0">
                <a:latin typeface="微软雅黑"/>
                <a:cs typeface="微软雅黑"/>
              </a:rPr>
              <a:t>R</a:t>
            </a:r>
            <a:r>
              <a:rPr sz="2400" b="1" dirty="0">
                <a:latin typeface="微软雅黑"/>
                <a:cs typeface="微软雅黑"/>
              </a:rPr>
              <a:t>；接收数据时，将</a:t>
            </a:r>
            <a:r>
              <a:rPr sz="2400" b="1" spc="-10" dirty="0">
                <a:latin typeface="微软雅黑"/>
                <a:cs typeface="微软雅黑"/>
              </a:rPr>
              <a:t>D</a:t>
            </a:r>
            <a:r>
              <a:rPr sz="2400" b="1" spc="-5" dirty="0">
                <a:latin typeface="微软雅黑"/>
                <a:cs typeface="微软雅黑"/>
              </a:rPr>
              <a:t>R</a:t>
            </a:r>
            <a:r>
              <a:rPr sz="2400" b="1" dirty="0">
                <a:latin typeface="微软雅黑"/>
                <a:cs typeface="微软雅黑"/>
              </a:rPr>
              <a:t>的内容</a:t>
            </a:r>
            <a:endParaRPr sz="2400">
              <a:latin typeface="微软雅黑"/>
              <a:cs typeface="微软雅黑"/>
            </a:endParaRPr>
          </a:p>
          <a:p>
            <a:pPr marL="469900">
              <a:lnSpc>
                <a:spcPct val="100000"/>
              </a:lnSpc>
              <a:spcBef>
                <a:spcPts val="1440"/>
              </a:spcBef>
            </a:pPr>
            <a:r>
              <a:rPr sz="2400" b="1" dirty="0">
                <a:latin typeface="微软雅黑"/>
                <a:cs typeface="微软雅黑"/>
              </a:rPr>
              <a:t>存放到用户存储区；</a:t>
            </a:r>
            <a:endParaRPr sz="2400">
              <a:latin typeface="微软雅黑"/>
              <a:cs typeface="微软雅黑"/>
            </a:endParaRPr>
          </a:p>
          <a:p>
            <a:pPr marL="469900" marR="364490" indent="-457200" algn="just">
              <a:lnSpc>
                <a:spcPct val="150000"/>
              </a:lnSpc>
            </a:pPr>
            <a:r>
              <a:rPr sz="2400" b="1" spc="-10" dirty="0">
                <a:latin typeface="微软雅黑"/>
                <a:cs typeface="微软雅黑"/>
              </a:rPr>
              <a:t>2</a:t>
            </a:r>
            <a:r>
              <a:rPr sz="2400" b="1" spc="-5" dirty="0">
                <a:latin typeface="微软雅黑"/>
                <a:cs typeface="微软雅黑"/>
              </a:rPr>
              <a:t>.</a:t>
            </a:r>
            <a:r>
              <a:rPr sz="2400" b="1" dirty="0">
                <a:latin typeface="微软雅黑"/>
                <a:cs typeface="微软雅黑"/>
              </a:rPr>
              <a:t> </a:t>
            </a:r>
            <a:r>
              <a:rPr sz="2400" b="1" spc="5" dirty="0">
                <a:latin typeface="微软雅黑"/>
                <a:cs typeface="微软雅黑"/>
              </a:rPr>
              <a:t> </a:t>
            </a:r>
            <a:r>
              <a:rPr sz="2400" b="1" dirty="0">
                <a:latin typeface="微软雅黑"/>
                <a:cs typeface="微软雅黑"/>
              </a:rPr>
              <a:t>中断方式不必等待数据的传输过程，只需要在每字节数据收发完成后，由中 断标志位触发中断，在中断服务程序中放入新的一字节数据或者读取接收到 的一字节数据；</a:t>
            </a:r>
            <a:endParaRPr sz="2400">
              <a:latin typeface="微软雅黑"/>
              <a:cs typeface="微软雅黑"/>
            </a:endParaRPr>
          </a:p>
          <a:p>
            <a:pPr marL="12700">
              <a:lnSpc>
                <a:spcPct val="100000"/>
              </a:lnSpc>
              <a:spcBef>
                <a:spcPts val="1440"/>
              </a:spcBef>
              <a:tabLst>
                <a:tab pos="469265" algn="l"/>
              </a:tabLst>
            </a:pPr>
            <a:r>
              <a:rPr sz="2400" b="1" spc="-10" dirty="0">
                <a:latin typeface="微软雅黑"/>
                <a:cs typeface="微软雅黑"/>
              </a:rPr>
              <a:t>3</a:t>
            </a:r>
            <a:r>
              <a:rPr sz="2400" b="1" spc="-5" dirty="0">
                <a:latin typeface="微软雅黑"/>
                <a:cs typeface="微软雅黑"/>
              </a:rPr>
              <a:t>.</a:t>
            </a:r>
            <a:r>
              <a:rPr sz="2400" b="1" dirty="0">
                <a:latin typeface="微软雅黑"/>
                <a:cs typeface="微软雅黑"/>
              </a:rPr>
              <a:t>	在传输数据量较大，且通信波特率较高（大</a:t>
            </a:r>
            <a:r>
              <a:rPr sz="2400" b="1" spc="-40" dirty="0">
                <a:latin typeface="微软雅黑"/>
                <a:cs typeface="微软雅黑"/>
              </a:rPr>
              <a:t>于</a:t>
            </a:r>
            <a:r>
              <a:rPr sz="2400" b="1" spc="-10" dirty="0">
                <a:latin typeface="微软雅黑"/>
                <a:cs typeface="微软雅黑"/>
              </a:rPr>
              <a:t>38400</a:t>
            </a:r>
            <a:r>
              <a:rPr sz="2400" b="1" dirty="0">
                <a:latin typeface="微软雅黑"/>
                <a:cs typeface="微软雅黑"/>
              </a:rPr>
              <a:t>）时，如果采用中断方</a:t>
            </a:r>
            <a:endParaRPr sz="2400">
              <a:latin typeface="微软雅黑"/>
              <a:cs typeface="微软雅黑"/>
            </a:endParaRPr>
          </a:p>
          <a:p>
            <a:pPr marL="469900" marR="5080">
              <a:lnSpc>
                <a:spcPct val="150000"/>
              </a:lnSpc>
            </a:pPr>
            <a:r>
              <a:rPr sz="2400" b="1" dirty="0">
                <a:latin typeface="微软雅黑"/>
                <a:cs typeface="微软雅黑"/>
              </a:rPr>
              <a:t>式，每收发一个字节的数据</a:t>
            </a:r>
            <a:r>
              <a:rPr sz="2400" b="1" spc="-25" dirty="0">
                <a:latin typeface="微软雅黑"/>
                <a:cs typeface="微软雅黑"/>
              </a:rPr>
              <a:t>，</a:t>
            </a:r>
            <a:r>
              <a:rPr sz="2400" b="1" spc="-5" dirty="0">
                <a:latin typeface="微软雅黑"/>
                <a:cs typeface="微软雅黑"/>
              </a:rPr>
              <a:t>CPU</a:t>
            </a:r>
            <a:r>
              <a:rPr sz="2400" b="1" dirty="0">
                <a:latin typeface="微软雅黑"/>
                <a:cs typeface="微软雅黑"/>
              </a:rPr>
              <a:t>都会被打断，造成</a:t>
            </a:r>
            <a:r>
              <a:rPr sz="2400" b="1" spc="-5" dirty="0">
                <a:latin typeface="微软雅黑"/>
                <a:cs typeface="微软雅黑"/>
              </a:rPr>
              <a:t>CPU</a:t>
            </a:r>
            <a:r>
              <a:rPr sz="2400" b="1" dirty="0">
                <a:latin typeface="微软雅黑"/>
                <a:cs typeface="微软雅黑"/>
              </a:rPr>
              <a:t>无法处理其他事务。 因此在批量数据传输，通信波特率较高时，建议采</a:t>
            </a:r>
            <a:r>
              <a:rPr sz="2400" b="1" spc="-45" dirty="0">
                <a:latin typeface="微软雅黑"/>
                <a:cs typeface="微软雅黑"/>
              </a:rPr>
              <a:t>用</a:t>
            </a:r>
            <a:r>
              <a:rPr sz="2400" b="1" dirty="0">
                <a:latin typeface="微软雅黑"/>
                <a:cs typeface="微软雅黑"/>
              </a:rPr>
              <a:t>DM</a:t>
            </a:r>
            <a:r>
              <a:rPr sz="2400" b="1" spc="-10" dirty="0">
                <a:latin typeface="微软雅黑"/>
                <a:cs typeface="微软雅黑"/>
              </a:rPr>
              <a:t>A</a:t>
            </a:r>
            <a:r>
              <a:rPr sz="2400" b="1" dirty="0">
                <a:latin typeface="微软雅黑"/>
                <a:cs typeface="微软雅黑"/>
              </a:rPr>
              <a:t>方式。</a:t>
            </a:r>
            <a:endParaRPr sz="2400">
              <a:latin typeface="微软雅黑"/>
              <a:cs typeface="微软雅黑"/>
            </a:endParaRPr>
          </a:p>
        </p:txBody>
      </p:sp>
      <p:sp>
        <p:nvSpPr>
          <p:cNvPr id="11" name="object 11"/>
          <p:cNvSpPr/>
          <p:nvPr/>
        </p:nvSpPr>
        <p:spPr>
          <a:xfrm>
            <a:off x="480822" y="1838705"/>
            <a:ext cx="11231880" cy="4531360"/>
          </a:xfrm>
          <a:custGeom>
            <a:avLst/>
            <a:gdLst/>
            <a:ahLst/>
            <a:cxnLst/>
            <a:rect l="l" t="t" r="r" b="b"/>
            <a:pathLst>
              <a:path w="11231880" h="4531360">
                <a:moveTo>
                  <a:pt x="0" y="4530852"/>
                </a:moveTo>
                <a:lnTo>
                  <a:pt x="11231880" y="4530852"/>
                </a:lnTo>
                <a:lnTo>
                  <a:pt x="11231880" y="0"/>
                </a:lnTo>
                <a:lnTo>
                  <a:pt x="0" y="0"/>
                </a:lnTo>
                <a:lnTo>
                  <a:pt x="0" y="4530852"/>
                </a:lnTo>
                <a:close/>
              </a:path>
            </a:pathLst>
          </a:custGeom>
          <a:ln w="38100">
            <a:solidFill>
              <a:srgbClr val="E34A46"/>
            </a:solidFill>
          </a:ln>
        </p:spPr>
        <p:txBody>
          <a:bodyPr wrap="square" lIns="0" tIns="0" rIns="0" bIns="0" rtlCol="0"/>
          <a:lstStyle/>
          <a:p>
            <a:endParaRPr/>
          </a:p>
        </p:txBody>
      </p:sp>
      <p:sp>
        <p:nvSpPr>
          <p:cNvPr id="12" name="object 12"/>
          <p:cNvSpPr/>
          <p:nvPr/>
        </p:nvSpPr>
        <p:spPr>
          <a:xfrm>
            <a:off x="1523" y="6470903"/>
            <a:ext cx="12190730" cy="45720"/>
          </a:xfrm>
          <a:custGeom>
            <a:avLst/>
            <a:gdLst/>
            <a:ahLst/>
            <a:cxnLst/>
            <a:rect l="l" t="t" r="r" b="b"/>
            <a:pathLst>
              <a:path w="12190730" h="45720">
                <a:moveTo>
                  <a:pt x="0" y="45719"/>
                </a:moveTo>
                <a:lnTo>
                  <a:pt x="12190476" y="45719"/>
                </a:lnTo>
                <a:lnTo>
                  <a:pt x="12190476" y="0"/>
                </a:lnTo>
                <a:lnTo>
                  <a:pt x="0" y="0"/>
                </a:lnTo>
                <a:lnTo>
                  <a:pt x="0" y="45719"/>
                </a:lnTo>
              </a:path>
            </a:pathLst>
          </a:custGeom>
          <a:solidFill>
            <a:srgbClr val="FFE699"/>
          </a:solidFill>
        </p:spPr>
        <p:txBody>
          <a:bodyPr wrap="square" lIns="0" tIns="0" rIns="0" bIns="0" rtlCol="0"/>
          <a:lstStyle/>
          <a:p>
            <a:endParaRPr/>
          </a:p>
        </p:txBody>
      </p:sp>
      <p:sp>
        <p:nvSpPr>
          <p:cNvPr id="13" name="object 13"/>
          <p:cNvSpPr/>
          <p:nvPr/>
        </p:nvSpPr>
        <p:spPr>
          <a:xfrm>
            <a:off x="1523" y="6516623"/>
            <a:ext cx="12190730" cy="341630"/>
          </a:xfrm>
          <a:custGeom>
            <a:avLst/>
            <a:gdLst/>
            <a:ahLst/>
            <a:cxnLst/>
            <a:rect l="l" t="t" r="r" b="b"/>
            <a:pathLst>
              <a:path w="12190730" h="341629">
                <a:moveTo>
                  <a:pt x="0" y="341376"/>
                </a:moveTo>
                <a:lnTo>
                  <a:pt x="12190476" y="341376"/>
                </a:lnTo>
                <a:lnTo>
                  <a:pt x="12190476" y="0"/>
                </a:lnTo>
                <a:lnTo>
                  <a:pt x="0" y="0"/>
                </a:lnTo>
                <a:lnTo>
                  <a:pt x="0" y="341376"/>
                </a:lnTo>
              </a:path>
            </a:pathLst>
          </a:custGeom>
          <a:solidFill>
            <a:srgbClr val="E34A46"/>
          </a:solidFill>
        </p:spPr>
        <p:txBody>
          <a:bodyPr wrap="square" lIns="0" tIns="0" rIns="0" bIns="0" rtlCol="0"/>
          <a:lstStyle/>
          <a:p>
            <a:endParaRPr/>
          </a:p>
        </p:txBody>
      </p:sp>
      <p:sp>
        <p:nvSpPr>
          <p:cNvPr id="14" name="object 14"/>
          <p:cNvSpPr txBox="1">
            <a:spLocks noGrp="1"/>
          </p:cNvSpPr>
          <p:nvPr>
            <p:ph type="title"/>
          </p:nvPr>
        </p:nvSpPr>
        <p:spPr>
          <a:prstGeom prst="rect">
            <a:avLst/>
          </a:prstGeom>
        </p:spPr>
        <p:txBody>
          <a:bodyPr vert="horz" wrap="square" lIns="0" tIns="0" rIns="0" bIns="0" rtlCol="0">
            <a:spAutoFit/>
          </a:bodyPr>
          <a:lstStyle/>
          <a:p>
            <a:pPr marL="1270000">
              <a:lnSpc>
                <a:spcPct val="100000"/>
              </a:lnSpc>
            </a:pPr>
            <a:r>
              <a:rPr spc="-5" dirty="0">
                <a:solidFill>
                  <a:srgbClr val="000000"/>
                </a:solidFill>
              </a:rPr>
              <a:t>串口中断方式的特点</a:t>
            </a:r>
          </a:p>
        </p:txBody>
      </p:sp>
      <p:sp>
        <p:nvSpPr>
          <p:cNvPr id="15" name="object 15"/>
          <p:cNvSpPr txBox="1"/>
          <p:nvPr/>
        </p:nvSpPr>
        <p:spPr>
          <a:xfrm>
            <a:off x="2385441" y="389881"/>
            <a:ext cx="668655" cy="254000"/>
          </a:xfrm>
          <a:prstGeom prst="rect">
            <a:avLst/>
          </a:prstGeom>
        </p:spPr>
        <p:txBody>
          <a:bodyPr vert="horz" wrap="square" lIns="0" tIns="0" rIns="0" bIns="0" rtlCol="0">
            <a:spAutoFit/>
          </a:bodyPr>
          <a:lstStyle/>
          <a:p>
            <a:pPr marL="12700">
              <a:lnSpc>
                <a:spcPct val="100000"/>
              </a:lnSpc>
            </a:pPr>
            <a:r>
              <a:rPr sz="1800" b="1" spc="-45" dirty="0">
                <a:solidFill>
                  <a:srgbClr val="252525"/>
                </a:solidFill>
                <a:latin typeface="微软雅黑"/>
                <a:cs typeface="微软雅黑"/>
              </a:rPr>
              <a:t>U</a:t>
            </a:r>
            <a:r>
              <a:rPr sz="1800" b="1" dirty="0">
                <a:solidFill>
                  <a:srgbClr val="252525"/>
                </a:solidFill>
                <a:latin typeface="微软雅黑"/>
                <a:cs typeface="微软雅黑"/>
              </a:rPr>
              <a:t>A</a:t>
            </a:r>
            <a:r>
              <a:rPr sz="1800" b="1" spc="-35" dirty="0">
                <a:solidFill>
                  <a:srgbClr val="252525"/>
                </a:solidFill>
                <a:latin typeface="微软雅黑"/>
                <a:cs typeface="微软雅黑"/>
              </a:rPr>
              <a:t>R</a:t>
            </a:r>
            <a:r>
              <a:rPr sz="1800" b="1" dirty="0">
                <a:solidFill>
                  <a:srgbClr val="252525"/>
                </a:solidFill>
                <a:latin typeface="微软雅黑"/>
                <a:cs typeface="微软雅黑"/>
              </a:rPr>
              <a:t>T</a:t>
            </a:r>
            <a:endParaRPr sz="1800">
              <a:latin typeface="微软雅黑"/>
              <a:cs typeface="微软雅黑"/>
            </a:endParaRPr>
          </a:p>
        </p:txBody>
      </p:sp>
    </p:spTree>
    <p:extLst>
      <p:ext uri="{BB962C8B-B14F-4D97-AF65-F5344CB8AC3E}">
        <p14:creationId xmlns:p14="http://schemas.microsoft.com/office/powerpoint/2010/main" val="161755257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133600" y="3781416"/>
            <a:ext cx="9850120" cy="3035935"/>
          </a:xfrm>
          <a:prstGeom prst="rect">
            <a:avLst/>
          </a:prstGeom>
        </p:spPr>
        <p:txBody>
          <a:bodyPr vert="horz" wrap="square" lIns="0" tIns="0" rIns="0" bIns="0" rtlCol="0">
            <a:spAutoFit/>
          </a:bodyPr>
          <a:lstStyle/>
          <a:p>
            <a:pPr algn="r">
              <a:lnSpc>
                <a:spcPct val="100000"/>
              </a:lnSpc>
            </a:pPr>
            <a:r>
              <a:rPr sz="1200" b="1" spc="-5" dirty="0">
                <a:solidFill>
                  <a:srgbClr val="FFFFFF"/>
                </a:solidFill>
                <a:latin typeface="微软雅黑"/>
                <a:cs typeface="微软雅黑"/>
              </a:rPr>
              <a:t>--</a:t>
            </a:r>
            <a:r>
              <a:rPr sz="1200" b="1" spc="5" dirty="0">
                <a:solidFill>
                  <a:srgbClr val="FFFFFF"/>
                </a:solidFill>
                <a:latin typeface="微软雅黑"/>
                <a:cs typeface="微软雅黑"/>
              </a:rPr>
              <a:t> </a:t>
            </a:r>
            <a:r>
              <a:rPr sz="1200" b="1" dirty="0">
                <a:solidFill>
                  <a:srgbClr val="FFFFFF"/>
                </a:solidFill>
                <a:latin typeface="微软雅黑"/>
                <a:cs typeface="微软雅黑"/>
              </a:rPr>
              <a:t>南昌大学“卓越”辅导员培养工程建设</a:t>
            </a:r>
            <a:endParaRPr sz="1200">
              <a:latin typeface="微软雅黑"/>
              <a:cs typeface="微软雅黑"/>
            </a:endParaRPr>
          </a:p>
        </p:txBody>
      </p:sp>
      <p:sp>
        <p:nvSpPr>
          <p:cNvPr id="3" name="object 3"/>
          <p:cNvSpPr/>
          <p:nvPr/>
        </p:nvSpPr>
        <p:spPr>
          <a:xfrm>
            <a:off x="7335773" y="1248917"/>
            <a:ext cx="4392295" cy="1626235"/>
          </a:xfrm>
          <a:custGeom>
            <a:avLst/>
            <a:gdLst/>
            <a:ahLst/>
            <a:cxnLst/>
            <a:rect l="l" t="t" r="r" b="b"/>
            <a:pathLst>
              <a:path w="4392295" h="1626235">
                <a:moveTo>
                  <a:pt x="4121150" y="0"/>
                </a:moveTo>
                <a:lnTo>
                  <a:pt x="271018" y="0"/>
                </a:lnTo>
                <a:lnTo>
                  <a:pt x="248783" y="898"/>
                </a:lnTo>
                <a:lnTo>
                  <a:pt x="205871" y="7873"/>
                </a:lnTo>
                <a:lnTo>
                  <a:pt x="165502" y="21290"/>
                </a:lnTo>
                <a:lnTo>
                  <a:pt x="128233" y="40591"/>
                </a:lnTo>
                <a:lnTo>
                  <a:pt x="94620" y="65220"/>
                </a:lnTo>
                <a:lnTo>
                  <a:pt x="65220" y="94620"/>
                </a:lnTo>
                <a:lnTo>
                  <a:pt x="40591" y="128233"/>
                </a:lnTo>
                <a:lnTo>
                  <a:pt x="21290" y="165502"/>
                </a:lnTo>
                <a:lnTo>
                  <a:pt x="7873" y="205871"/>
                </a:lnTo>
                <a:lnTo>
                  <a:pt x="898" y="248783"/>
                </a:lnTo>
                <a:lnTo>
                  <a:pt x="0" y="271018"/>
                </a:lnTo>
                <a:lnTo>
                  <a:pt x="0" y="1355090"/>
                </a:lnTo>
                <a:lnTo>
                  <a:pt x="3545" y="1399063"/>
                </a:lnTo>
                <a:lnTo>
                  <a:pt x="13811" y="1440773"/>
                </a:lnTo>
                <a:lnTo>
                  <a:pt x="30240" y="1479662"/>
                </a:lnTo>
                <a:lnTo>
                  <a:pt x="52275" y="1515172"/>
                </a:lnTo>
                <a:lnTo>
                  <a:pt x="79359" y="1546748"/>
                </a:lnTo>
                <a:lnTo>
                  <a:pt x="110935" y="1573832"/>
                </a:lnTo>
                <a:lnTo>
                  <a:pt x="146445" y="1595867"/>
                </a:lnTo>
                <a:lnTo>
                  <a:pt x="185334" y="1612296"/>
                </a:lnTo>
                <a:lnTo>
                  <a:pt x="227044" y="1622562"/>
                </a:lnTo>
                <a:lnTo>
                  <a:pt x="271018" y="1626108"/>
                </a:lnTo>
                <a:lnTo>
                  <a:pt x="4121150" y="1626108"/>
                </a:lnTo>
                <a:lnTo>
                  <a:pt x="4165123" y="1622562"/>
                </a:lnTo>
                <a:lnTo>
                  <a:pt x="4206833" y="1612296"/>
                </a:lnTo>
                <a:lnTo>
                  <a:pt x="4245722" y="1595867"/>
                </a:lnTo>
                <a:lnTo>
                  <a:pt x="4281232" y="1573832"/>
                </a:lnTo>
                <a:lnTo>
                  <a:pt x="4312808" y="1546748"/>
                </a:lnTo>
                <a:lnTo>
                  <a:pt x="4339892" y="1515172"/>
                </a:lnTo>
                <a:lnTo>
                  <a:pt x="4361927" y="1479662"/>
                </a:lnTo>
                <a:lnTo>
                  <a:pt x="4378356" y="1440773"/>
                </a:lnTo>
                <a:lnTo>
                  <a:pt x="4388622" y="1399063"/>
                </a:lnTo>
                <a:lnTo>
                  <a:pt x="4392168" y="1355090"/>
                </a:lnTo>
                <a:lnTo>
                  <a:pt x="4392168" y="271018"/>
                </a:lnTo>
                <a:lnTo>
                  <a:pt x="4388622" y="227044"/>
                </a:lnTo>
                <a:lnTo>
                  <a:pt x="4378356" y="185334"/>
                </a:lnTo>
                <a:lnTo>
                  <a:pt x="4361927" y="146445"/>
                </a:lnTo>
                <a:lnTo>
                  <a:pt x="4339892" y="110935"/>
                </a:lnTo>
                <a:lnTo>
                  <a:pt x="4312808" y="79359"/>
                </a:lnTo>
                <a:lnTo>
                  <a:pt x="4281232" y="52275"/>
                </a:lnTo>
                <a:lnTo>
                  <a:pt x="4245722" y="30240"/>
                </a:lnTo>
                <a:lnTo>
                  <a:pt x="4206833" y="13811"/>
                </a:lnTo>
                <a:lnTo>
                  <a:pt x="4165123" y="3545"/>
                </a:lnTo>
                <a:lnTo>
                  <a:pt x="4121150" y="0"/>
                </a:lnTo>
                <a:close/>
              </a:path>
            </a:pathLst>
          </a:custGeom>
          <a:solidFill>
            <a:srgbClr val="FFFFC7"/>
          </a:solidFill>
        </p:spPr>
        <p:txBody>
          <a:bodyPr wrap="square" lIns="0" tIns="0" rIns="0" bIns="0" rtlCol="0"/>
          <a:lstStyle/>
          <a:p>
            <a:endParaRPr/>
          </a:p>
        </p:txBody>
      </p:sp>
      <p:sp>
        <p:nvSpPr>
          <p:cNvPr id="4" name="object 4"/>
          <p:cNvSpPr/>
          <p:nvPr/>
        </p:nvSpPr>
        <p:spPr>
          <a:xfrm>
            <a:off x="7335773" y="1248917"/>
            <a:ext cx="4392295" cy="1626235"/>
          </a:xfrm>
          <a:custGeom>
            <a:avLst/>
            <a:gdLst/>
            <a:ahLst/>
            <a:cxnLst/>
            <a:rect l="l" t="t" r="r" b="b"/>
            <a:pathLst>
              <a:path w="4392295" h="1626235">
                <a:moveTo>
                  <a:pt x="0" y="271018"/>
                </a:moveTo>
                <a:lnTo>
                  <a:pt x="3545" y="227044"/>
                </a:lnTo>
                <a:lnTo>
                  <a:pt x="13811" y="185334"/>
                </a:lnTo>
                <a:lnTo>
                  <a:pt x="30240" y="146445"/>
                </a:lnTo>
                <a:lnTo>
                  <a:pt x="52275" y="110935"/>
                </a:lnTo>
                <a:lnTo>
                  <a:pt x="79359" y="79359"/>
                </a:lnTo>
                <a:lnTo>
                  <a:pt x="110935" y="52275"/>
                </a:lnTo>
                <a:lnTo>
                  <a:pt x="146445" y="30240"/>
                </a:lnTo>
                <a:lnTo>
                  <a:pt x="185334" y="13811"/>
                </a:lnTo>
                <a:lnTo>
                  <a:pt x="227044" y="3545"/>
                </a:lnTo>
                <a:lnTo>
                  <a:pt x="271018" y="0"/>
                </a:lnTo>
                <a:lnTo>
                  <a:pt x="732027" y="0"/>
                </a:lnTo>
                <a:lnTo>
                  <a:pt x="1830070" y="0"/>
                </a:lnTo>
                <a:lnTo>
                  <a:pt x="4121150" y="0"/>
                </a:lnTo>
                <a:lnTo>
                  <a:pt x="4143384" y="898"/>
                </a:lnTo>
                <a:lnTo>
                  <a:pt x="4186296" y="7873"/>
                </a:lnTo>
                <a:lnTo>
                  <a:pt x="4226665" y="21290"/>
                </a:lnTo>
                <a:lnTo>
                  <a:pt x="4263934" y="40591"/>
                </a:lnTo>
                <a:lnTo>
                  <a:pt x="4297547" y="65220"/>
                </a:lnTo>
                <a:lnTo>
                  <a:pt x="4326947" y="94620"/>
                </a:lnTo>
                <a:lnTo>
                  <a:pt x="4351576" y="128233"/>
                </a:lnTo>
                <a:lnTo>
                  <a:pt x="4370877" y="165502"/>
                </a:lnTo>
                <a:lnTo>
                  <a:pt x="4384294" y="205871"/>
                </a:lnTo>
                <a:lnTo>
                  <a:pt x="4391269" y="248783"/>
                </a:lnTo>
                <a:lnTo>
                  <a:pt x="4392168" y="271018"/>
                </a:lnTo>
                <a:lnTo>
                  <a:pt x="4392168" y="948563"/>
                </a:lnTo>
                <a:lnTo>
                  <a:pt x="4392168" y="1355090"/>
                </a:lnTo>
                <a:lnTo>
                  <a:pt x="4391269" y="1377324"/>
                </a:lnTo>
                <a:lnTo>
                  <a:pt x="4388622" y="1399063"/>
                </a:lnTo>
                <a:lnTo>
                  <a:pt x="4378356" y="1440773"/>
                </a:lnTo>
                <a:lnTo>
                  <a:pt x="4361927" y="1479662"/>
                </a:lnTo>
                <a:lnTo>
                  <a:pt x="4339892" y="1515172"/>
                </a:lnTo>
                <a:lnTo>
                  <a:pt x="4312808" y="1546748"/>
                </a:lnTo>
                <a:lnTo>
                  <a:pt x="4281232" y="1573832"/>
                </a:lnTo>
                <a:lnTo>
                  <a:pt x="4245722" y="1595867"/>
                </a:lnTo>
                <a:lnTo>
                  <a:pt x="4206833" y="1612296"/>
                </a:lnTo>
                <a:lnTo>
                  <a:pt x="4165123" y="1622562"/>
                </a:lnTo>
                <a:lnTo>
                  <a:pt x="4121150" y="1626108"/>
                </a:lnTo>
                <a:lnTo>
                  <a:pt x="1830070" y="1626108"/>
                </a:lnTo>
                <a:lnTo>
                  <a:pt x="2004186" y="1626108"/>
                </a:lnTo>
                <a:lnTo>
                  <a:pt x="732027" y="1626108"/>
                </a:lnTo>
                <a:lnTo>
                  <a:pt x="271018" y="1626108"/>
                </a:lnTo>
                <a:lnTo>
                  <a:pt x="248783" y="1625209"/>
                </a:lnTo>
                <a:lnTo>
                  <a:pt x="205871" y="1618234"/>
                </a:lnTo>
                <a:lnTo>
                  <a:pt x="165502" y="1604817"/>
                </a:lnTo>
                <a:lnTo>
                  <a:pt x="128233" y="1585516"/>
                </a:lnTo>
                <a:lnTo>
                  <a:pt x="94620" y="1560887"/>
                </a:lnTo>
                <a:lnTo>
                  <a:pt x="65220" y="1531487"/>
                </a:lnTo>
                <a:lnTo>
                  <a:pt x="40591" y="1497874"/>
                </a:lnTo>
                <a:lnTo>
                  <a:pt x="21290" y="1460605"/>
                </a:lnTo>
                <a:lnTo>
                  <a:pt x="7873" y="1420236"/>
                </a:lnTo>
                <a:lnTo>
                  <a:pt x="898" y="1377324"/>
                </a:lnTo>
                <a:lnTo>
                  <a:pt x="0" y="1355090"/>
                </a:lnTo>
                <a:lnTo>
                  <a:pt x="0" y="948563"/>
                </a:lnTo>
                <a:lnTo>
                  <a:pt x="0" y="271018"/>
                </a:lnTo>
                <a:close/>
              </a:path>
            </a:pathLst>
          </a:custGeom>
          <a:ln w="28955">
            <a:solidFill>
              <a:srgbClr val="000000"/>
            </a:solidFill>
          </a:ln>
        </p:spPr>
        <p:txBody>
          <a:bodyPr wrap="square" lIns="0" tIns="0" rIns="0" bIns="0" rtlCol="0"/>
          <a:lstStyle/>
          <a:p>
            <a:endParaRPr/>
          </a:p>
        </p:txBody>
      </p:sp>
      <p:graphicFrame>
        <p:nvGraphicFramePr>
          <p:cNvPr id="5" name="object 5"/>
          <p:cNvGraphicFramePr>
            <a:graphicFrameLocks noGrp="1"/>
          </p:cNvGraphicFramePr>
          <p:nvPr/>
        </p:nvGraphicFramePr>
        <p:xfrm>
          <a:off x="216623" y="63436"/>
          <a:ext cx="11730202" cy="6739242"/>
        </p:xfrm>
        <a:graphic>
          <a:graphicData uri="http://schemas.openxmlformats.org/drawingml/2006/table">
            <a:tbl>
              <a:tblPr firstRow="1" bandRow="1">
                <a:tableStyleId>{2D5ABB26-0587-4C30-8999-92F81FD0307C}</a:tableStyleId>
              </a:tblPr>
              <a:tblGrid>
                <a:gridCol w="1902688">
                  <a:extLst>
                    <a:ext uri="{9D8B030D-6E8A-4147-A177-3AD203B41FA5}">
                      <a16:colId xmlns:a16="http://schemas.microsoft.com/office/drawing/2014/main" val="20000"/>
                    </a:ext>
                  </a:extLst>
                </a:gridCol>
                <a:gridCol w="9827514">
                  <a:extLst>
                    <a:ext uri="{9D8B030D-6E8A-4147-A177-3AD203B41FA5}">
                      <a16:colId xmlns:a16="http://schemas.microsoft.com/office/drawing/2014/main" val="20001"/>
                    </a:ext>
                  </a:extLst>
                </a:gridCol>
              </a:tblGrid>
              <a:tr h="379475">
                <a:tc gridSpan="2">
                  <a:txBody>
                    <a:bodyPr/>
                    <a:lstStyle/>
                    <a:p>
                      <a:pPr marL="2219325">
                        <a:lnSpc>
                          <a:spcPct val="100000"/>
                        </a:lnSpc>
                        <a:tabLst>
                          <a:tab pos="2587625" algn="l"/>
                        </a:tabLst>
                      </a:pPr>
                      <a:r>
                        <a:rPr sz="2400" b="1" dirty="0">
                          <a:solidFill>
                            <a:srgbClr val="FFFFFF"/>
                          </a:solidFill>
                          <a:latin typeface="微软雅黑"/>
                          <a:cs typeface="微软雅黑"/>
                        </a:rPr>
                        <a:t>1	串口中断方式发送函数：</a:t>
                      </a:r>
                      <a:r>
                        <a:rPr sz="2400" b="1" spc="-5" dirty="0">
                          <a:solidFill>
                            <a:srgbClr val="FFFFFF"/>
                          </a:solidFill>
                          <a:latin typeface="微软雅黑"/>
                          <a:cs typeface="微软雅黑"/>
                        </a:rPr>
                        <a:t>H</a:t>
                      </a:r>
                      <a:r>
                        <a:rPr sz="2400" b="1" spc="-10" dirty="0">
                          <a:solidFill>
                            <a:srgbClr val="FFFFFF"/>
                          </a:solidFill>
                          <a:latin typeface="微软雅黑"/>
                          <a:cs typeface="微软雅黑"/>
                        </a:rPr>
                        <a:t>A</a:t>
                      </a:r>
                      <a:r>
                        <a:rPr sz="2400" b="1" dirty="0">
                          <a:solidFill>
                            <a:srgbClr val="FFFFFF"/>
                          </a:solidFill>
                          <a:latin typeface="微软雅黑"/>
                          <a:cs typeface="微软雅黑"/>
                        </a:rPr>
                        <a:t>L_</a:t>
                      </a:r>
                      <a:r>
                        <a:rPr sz="2400" b="1" spc="-65" dirty="0">
                          <a:solidFill>
                            <a:srgbClr val="FFFFFF"/>
                          </a:solidFill>
                          <a:latin typeface="微软雅黑"/>
                          <a:cs typeface="微软雅黑"/>
                        </a:rPr>
                        <a:t>U</a:t>
                      </a:r>
                      <a:r>
                        <a:rPr sz="2400" b="1" dirty="0">
                          <a:solidFill>
                            <a:srgbClr val="FFFFFF"/>
                          </a:solidFill>
                          <a:latin typeface="微软雅黑"/>
                          <a:cs typeface="微软雅黑"/>
                        </a:rPr>
                        <a:t>A</a:t>
                      </a:r>
                      <a:r>
                        <a:rPr sz="2400" b="1" spc="-50" dirty="0">
                          <a:solidFill>
                            <a:srgbClr val="FFFFFF"/>
                          </a:solidFill>
                          <a:latin typeface="微软雅黑"/>
                          <a:cs typeface="微软雅黑"/>
                        </a:rPr>
                        <a:t>R</a:t>
                      </a:r>
                      <a:r>
                        <a:rPr sz="2400" b="1" spc="-5" dirty="0">
                          <a:solidFill>
                            <a:srgbClr val="FFFFFF"/>
                          </a:solidFill>
                          <a:latin typeface="微软雅黑"/>
                          <a:cs typeface="微软雅黑"/>
                        </a:rPr>
                        <a:t>T_</a:t>
                      </a:r>
                      <a:r>
                        <a:rPr sz="2400" b="1" spc="-190" dirty="0">
                          <a:solidFill>
                            <a:srgbClr val="FFFFFF"/>
                          </a:solidFill>
                          <a:latin typeface="微软雅黑"/>
                          <a:cs typeface="微软雅黑"/>
                        </a:rPr>
                        <a:t>T</a:t>
                      </a:r>
                      <a:r>
                        <a:rPr sz="2400" b="1" dirty="0">
                          <a:solidFill>
                            <a:srgbClr val="FFFFFF"/>
                          </a:solidFill>
                          <a:latin typeface="微软雅黑"/>
                          <a:cs typeface="微软雅黑"/>
                        </a:rPr>
                        <a:t>r</a:t>
                      </a:r>
                      <a:r>
                        <a:rPr sz="2400" b="1" spc="5" dirty="0">
                          <a:solidFill>
                            <a:srgbClr val="FFFFFF"/>
                          </a:solidFill>
                          <a:latin typeface="微软雅黑"/>
                          <a:cs typeface="微软雅黑"/>
                        </a:rPr>
                        <a:t>a</a:t>
                      </a:r>
                      <a:r>
                        <a:rPr sz="2400" b="1" dirty="0">
                          <a:solidFill>
                            <a:srgbClr val="FFFFFF"/>
                          </a:solidFill>
                          <a:latin typeface="微软雅黑"/>
                          <a:cs typeface="微软雅黑"/>
                        </a:rPr>
                        <a:t>n</a:t>
                      </a:r>
                      <a:r>
                        <a:rPr sz="2400" b="1" spc="5" dirty="0">
                          <a:solidFill>
                            <a:srgbClr val="FFFFFF"/>
                          </a:solidFill>
                          <a:latin typeface="微软雅黑"/>
                          <a:cs typeface="微软雅黑"/>
                        </a:rPr>
                        <a:t>s</a:t>
                      </a:r>
                      <a:r>
                        <a:rPr sz="2400" b="1" dirty="0">
                          <a:solidFill>
                            <a:srgbClr val="FFFFFF"/>
                          </a:solidFill>
                          <a:latin typeface="微软雅黑"/>
                          <a:cs typeface="微软雅黑"/>
                        </a:rPr>
                        <a:t>m</a:t>
                      </a:r>
                      <a:r>
                        <a:rPr sz="2400" b="1" spc="-10" dirty="0">
                          <a:solidFill>
                            <a:srgbClr val="FFFFFF"/>
                          </a:solidFill>
                          <a:latin typeface="微软雅黑"/>
                          <a:cs typeface="微软雅黑"/>
                        </a:rPr>
                        <a:t>i</a:t>
                      </a:r>
                      <a:r>
                        <a:rPr sz="2400" b="1" spc="-5" dirty="0">
                          <a:solidFill>
                            <a:srgbClr val="FFFFFF"/>
                          </a:solidFill>
                          <a:latin typeface="微软雅黑"/>
                          <a:cs typeface="微软雅黑"/>
                        </a:rPr>
                        <a:t>t</a:t>
                      </a:r>
                      <a:r>
                        <a:rPr sz="2400" b="1" dirty="0">
                          <a:solidFill>
                            <a:srgbClr val="FFFFFF"/>
                          </a:solidFill>
                          <a:latin typeface="微软雅黑"/>
                          <a:cs typeface="微软雅黑"/>
                        </a:rPr>
                        <a:t>_</a:t>
                      </a:r>
                      <a:r>
                        <a:rPr sz="2400" b="1" spc="-5" dirty="0">
                          <a:solidFill>
                            <a:srgbClr val="FFFFFF"/>
                          </a:solidFill>
                          <a:latin typeface="微软雅黑"/>
                          <a:cs typeface="微软雅黑"/>
                        </a:rPr>
                        <a:t>IT</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tc hMerge="1">
                  <a:txBody>
                    <a:bodyPr/>
                    <a:lstStyle/>
                    <a:p>
                      <a:endParaRPr/>
                    </a:p>
                  </a:txBody>
                  <a:tcPr marL="0" marR="0" marT="0" marB="0"/>
                </a:tc>
                <a:extLst>
                  <a:ext uri="{0D108BD9-81ED-4DB2-BD59-A6C34878D82A}">
                    <a16:rowId xmlns:a16="http://schemas.microsoft.com/office/drawing/2014/main" val="10000"/>
                  </a:ext>
                </a:extLst>
              </a:tr>
              <a:tr h="758825">
                <a:tc>
                  <a:txBody>
                    <a:bodyPr/>
                    <a:lstStyle/>
                    <a:p>
                      <a:pPr marL="327025">
                        <a:lnSpc>
                          <a:spcPct val="100000"/>
                        </a:lnSpc>
                      </a:pPr>
                      <a:r>
                        <a:rPr sz="2400" b="1" spc="-5" dirty="0">
                          <a:latin typeface="微软雅黑"/>
                          <a:cs typeface="微软雅黑"/>
                        </a:rPr>
                        <a:t>函数原型</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ts val="2865"/>
                        </a:lnSpc>
                        <a:tabLst>
                          <a:tab pos="3337560" algn="l"/>
                        </a:tabLst>
                      </a:pPr>
                      <a:r>
                        <a:rPr sz="2400" b="1" spc="-5" dirty="0">
                          <a:latin typeface="微软雅黑"/>
                          <a:cs typeface="微软雅黑"/>
                        </a:rPr>
                        <a:t>H</a:t>
                      </a:r>
                      <a:r>
                        <a:rPr sz="2400" b="1" spc="-15" dirty="0">
                          <a:latin typeface="微软雅黑"/>
                          <a:cs typeface="微软雅黑"/>
                        </a:rPr>
                        <a:t>A</a:t>
                      </a:r>
                      <a:r>
                        <a:rPr sz="2400" b="1" dirty="0">
                          <a:latin typeface="微软雅黑"/>
                          <a:cs typeface="微软雅黑"/>
                        </a:rPr>
                        <a:t>L_</a:t>
                      </a:r>
                      <a:r>
                        <a:rPr sz="2400" b="1" spc="-85" dirty="0">
                          <a:latin typeface="微软雅黑"/>
                          <a:cs typeface="微软雅黑"/>
                        </a:rPr>
                        <a:t>S</a:t>
                      </a:r>
                      <a:r>
                        <a:rPr sz="2400" b="1" spc="-5" dirty="0">
                          <a:latin typeface="微软雅黑"/>
                          <a:cs typeface="微软雅黑"/>
                        </a:rPr>
                        <a:t>tat</a:t>
                      </a:r>
                      <a:r>
                        <a:rPr sz="2400" b="1" spc="5" dirty="0">
                          <a:latin typeface="微软雅黑"/>
                          <a:cs typeface="微软雅黑"/>
                        </a:rPr>
                        <a:t>u</a:t>
                      </a:r>
                      <a:r>
                        <a:rPr sz="2400" b="1" dirty="0">
                          <a:latin typeface="微软雅黑"/>
                          <a:cs typeface="微软雅黑"/>
                        </a:rPr>
                        <a:t>s</a:t>
                      </a:r>
                      <a:r>
                        <a:rPr sz="2400" b="1" spc="-125" dirty="0">
                          <a:latin typeface="微软雅黑"/>
                          <a:cs typeface="微软雅黑"/>
                        </a:rPr>
                        <a:t>T</a:t>
                      </a:r>
                      <a:r>
                        <a:rPr sz="2400" b="1" spc="-5" dirty="0">
                          <a:latin typeface="微软雅黑"/>
                          <a:cs typeface="微软雅黑"/>
                        </a:rPr>
                        <a:t>yp</a:t>
                      </a:r>
                      <a:r>
                        <a:rPr sz="2400" b="1" spc="-10" dirty="0">
                          <a:latin typeface="微软雅黑"/>
                          <a:cs typeface="微软雅黑"/>
                        </a:rPr>
                        <a:t>e</a:t>
                      </a:r>
                      <a:r>
                        <a:rPr sz="2400" b="1" dirty="0">
                          <a:latin typeface="微软雅黑"/>
                          <a:cs typeface="微软雅黑"/>
                        </a:rPr>
                        <a:t>D</a:t>
                      </a:r>
                      <a:r>
                        <a:rPr sz="2400" b="1" spc="-15" dirty="0">
                          <a:latin typeface="微软雅黑"/>
                          <a:cs typeface="微软雅黑"/>
                        </a:rPr>
                        <a:t>e</a:t>
                      </a:r>
                      <a:r>
                        <a:rPr sz="2400" b="1" dirty="0">
                          <a:latin typeface="微软雅黑"/>
                          <a:cs typeface="微软雅黑"/>
                        </a:rPr>
                        <a:t>f	</a:t>
                      </a:r>
                      <a:r>
                        <a:rPr sz="2400" b="1" spc="-5" dirty="0">
                          <a:latin typeface="微软雅黑"/>
                          <a:cs typeface="微软雅黑"/>
                        </a:rPr>
                        <a:t>H</a:t>
                      </a:r>
                      <a:r>
                        <a:rPr sz="2400" b="1" spc="-15" dirty="0">
                          <a:latin typeface="微软雅黑"/>
                          <a:cs typeface="微软雅黑"/>
                        </a:rPr>
                        <a:t>A</a:t>
                      </a:r>
                      <a:r>
                        <a:rPr sz="2400" b="1" dirty="0">
                          <a:latin typeface="微软雅黑"/>
                          <a:cs typeface="微软雅黑"/>
                        </a:rPr>
                        <a:t>L_</a:t>
                      </a:r>
                      <a:r>
                        <a:rPr sz="2400" b="1" spc="-70" dirty="0">
                          <a:latin typeface="微软雅黑"/>
                          <a:cs typeface="微软雅黑"/>
                        </a:rPr>
                        <a:t>U</a:t>
                      </a:r>
                      <a:r>
                        <a:rPr sz="2400" b="1" dirty="0">
                          <a:latin typeface="微软雅黑"/>
                          <a:cs typeface="微软雅黑"/>
                        </a:rPr>
                        <a:t>A</a:t>
                      </a:r>
                      <a:r>
                        <a:rPr sz="2400" b="1" spc="-55" dirty="0">
                          <a:latin typeface="微软雅黑"/>
                          <a:cs typeface="微软雅黑"/>
                        </a:rPr>
                        <a:t>R</a:t>
                      </a:r>
                      <a:r>
                        <a:rPr sz="2400" b="1" spc="-5" dirty="0">
                          <a:latin typeface="微软雅黑"/>
                          <a:cs typeface="微软雅黑"/>
                        </a:rPr>
                        <a:t>T_</a:t>
                      </a:r>
                      <a:r>
                        <a:rPr sz="2400" b="1" spc="-195" dirty="0">
                          <a:latin typeface="微软雅黑"/>
                          <a:cs typeface="微软雅黑"/>
                        </a:rPr>
                        <a:t>T</a:t>
                      </a:r>
                      <a:r>
                        <a:rPr sz="2400" b="1" dirty="0">
                          <a:latin typeface="微软雅黑"/>
                          <a:cs typeface="微软雅黑"/>
                        </a:rPr>
                        <a:t>ra</a:t>
                      </a:r>
                      <a:r>
                        <a:rPr sz="2400" b="1" spc="5" dirty="0">
                          <a:latin typeface="微软雅黑"/>
                          <a:cs typeface="微软雅黑"/>
                        </a:rPr>
                        <a:t>n</a:t>
                      </a:r>
                      <a:r>
                        <a:rPr sz="2400" b="1" dirty="0">
                          <a:latin typeface="微软雅黑"/>
                          <a:cs typeface="微软雅黑"/>
                        </a:rPr>
                        <a:t>sm</a:t>
                      </a:r>
                      <a:r>
                        <a:rPr sz="2400" b="1" spc="-10" dirty="0">
                          <a:latin typeface="微软雅黑"/>
                          <a:cs typeface="微软雅黑"/>
                        </a:rPr>
                        <a:t>i</a:t>
                      </a:r>
                      <a:r>
                        <a:rPr sz="2400" b="1" spc="-5" dirty="0">
                          <a:latin typeface="微软雅黑"/>
                          <a:cs typeface="微软雅黑"/>
                        </a:rPr>
                        <a:t>t_IT</a:t>
                      </a:r>
                      <a:endParaRPr sz="2400">
                        <a:latin typeface="微软雅黑"/>
                        <a:cs typeface="微软雅黑"/>
                      </a:endParaRPr>
                    </a:p>
                    <a:p>
                      <a:pPr marL="53975">
                        <a:lnSpc>
                          <a:spcPts val="2865"/>
                        </a:lnSpc>
                        <a:tabLst>
                          <a:tab pos="3715385" algn="l"/>
                        </a:tabLst>
                      </a:pPr>
                      <a:r>
                        <a:rPr sz="2400" b="1" dirty="0">
                          <a:latin typeface="微软雅黑"/>
                          <a:cs typeface="微软雅黑"/>
                        </a:rPr>
                        <a:t>(</a:t>
                      </a:r>
                      <a:r>
                        <a:rPr sz="2400" b="1" spc="-65" dirty="0">
                          <a:latin typeface="微软雅黑"/>
                          <a:cs typeface="微软雅黑"/>
                        </a:rPr>
                        <a:t>U</a:t>
                      </a:r>
                      <a:r>
                        <a:rPr sz="2400" b="1" dirty="0">
                          <a:latin typeface="微软雅黑"/>
                          <a:cs typeface="微软雅黑"/>
                        </a:rPr>
                        <a:t>A</a:t>
                      </a:r>
                      <a:r>
                        <a:rPr sz="2400" b="1" spc="-50" dirty="0">
                          <a:latin typeface="微软雅黑"/>
                          <a:cs typeface="微软雅黑"/>
                        </a:rPr>
                        <a:t>R</a:t>
                      </a:r>
                      <a:r>
                        <a:rPr sz="2400" b="1" spc="-5" dirty="0">
                          <a:latin typeface="微软雅黑"/>
                          <a:cs typeface="微软雅黑"/>
                        </a:rPr>
                        <a:t>T_H</a:t>
                      </a:r>
                      <a:r>
                        <a:rPr sz="2400" b="1" spc="5" dirty="0">
                          <a:latin typeface="微软雅黑"/>
                          <a:cs typeface="微软雅黑"/>
                        </a:rPr>
                        <a:t>a</a:t>
                      </a:r>
                      <a:r>
                        <a:rPr sz="2400" b="1" dirty="0">
                          <a:latin typeface="微软雅黑"/>
                          <a:cs typeface="微软雅黑"/>
                        </a:rPr>
                        <a:t>ndle</a:t>
                      </a:r>
                      <a:r>
                        <a:rPr sz="2400" b="1" spc="-125" dirty="0">
                          <a:latin typeface="微软雅黑"/>
                          <a:cs typeface="微软雅黑"/>
                        </a:rPr>
                        <a:t>T</a:t>
                      </a:r>
                      <a:r>
                        <a:rPr sz="2400" b="1" spc="-5" dirty="0">
                          <a:latin typeface="微软雅黑"/>
                          <a:cs typeface="微软雅黑"/>
                        </a:rPr>
                        <a:t>ype</a:t>
                      </a:r>
                      <a:r>
                        <a:rPr sz="2400" b="1" spc="-10" dirty="0">
                          <a:latin typeface="微软雅黑"/>
                          <a:cs typeface="微软雅黑"/>
                        </a:rPr>
                        <a:t>D</a:t>
                      </a:r>
                      <a:r>
                        <a:rPr sz="2400" b="1" dirty="0">
                          <a:latin typeface="微软雅黑"/>
                          <a:cs typeface="微软雅黑"/>
                        </a:rPr>
                        <a:t>ef	</a:t>
                      </a:r>
                      <a:r>
                        <a:rPr sz="2400" b="1" spc="-5" dirty="0">
                          <a:latin typeface="微软雅黑"/>
                          <a:cs typeface="微软雅黑"/>
                        </a:rPr>
                        <a:t>*</a:t>
                      </a:r>
                      <a:r>
                        <a:rPr sz="2400" b="1" spc="-10" dirty="0">
                          <a:latin typeface="微软雅黑"/>
                          <a:cs typeface="微软雅黑"/>
                        </a:rPr>
                        <a:t>h</a:t>
                      </a:r>
                      <a:r>
                        <a:rPr sz="2400" b="1" dirty="0">
                          <a:latin typeface="微软雅黑"/>
                          <a:cs typeface="微软雅黑"/>
                        </a:rPr>
                        <a:t>u</a:t>
                      </a:r>
                      <a:r>
                        <a:rPr sz="2400" b="1" spc="5" dirty="0">
                          <a:latin typeface="微软雅黑"/>
                          <a:cs typeface="微软雅黑"/>
                        </a:rPr>
                        <a:t>a</a:t>
                      </a:r>
                      <a:r>
                        <a:rPr sz="2400" b="1" spc="70" dirty="0">
                          <a:latin typeface="微软雅黑"/>
                          <a:cs typeface="微软雅黑"/>
                        </a:rPr>
                        <a:t>r</a:t>
                      </a:r>
                      <a:r>
                        <a:rPr sz="2400" b="1" spc="-5" dirty="0">
                          <a:latin typeface="微软雅黑"/>
                          <a:cs typeface="微软雅黑"/>
                        </a:rPr>
                        <a:t>t,ui</a:t>
                      </a:r>
                      <a:r>
                        <a:rPr sz="2400" b="1" spc="5" dirty="0">
                          <a:latin typeface="微软雅黑"/>
                          <a:cs typeface="微软雅黑"/>
                        </a:rPr>
                        <a:t>nt</a:t>
                      </a:r>
                      <a:r>
                        <a:rPr sz="2400" b="1" spc="-5" dirty="0">
                          <a:latin typeface="微软雅黑"/>
                          <a:cs typeface="微软雅黑"/>
                        </a:rPr>
                        <a:t>8</a:t>
                      </a:r>
                      <a:r>
                        <a:rPr sz="2400" b="1" dirty="0">
                          <a:latin typeface="微软雅黑"/>
                          <a:cs typeface="微软雅黑"/>
                        </a:rPr>
                        <a:t>_t</a:t>
                      </a:r>
                      <a:r>
                        <a:rPr sz="2400" b="1" spc="-20" dirty="0">
                          <a:latin typeface="微软雅黑"/>
                          <a:cs typeface="微软雅黑"/>
                        </a:rPr>
                        <a:t> </a:t>
                      </a:r>
                      <a:r>
                        <a:rPr sz="2400" b="1" spc="-10" dirty="0">
                          <a:latin typeface="微软雅黑"/>
                          <a:cs typeface="微软雅黑"/>
                        </a:rPr>
                        <a:t>*</a:t>
                      </a:r>
                      <a:r>
                        <a:rPr sz="2400" b="1" dirty="0">
                          <a:latin typeface="微软雅黑"/>
                          <a:cs typeface="微软雅黑"/>
                        </a:rPr>
                        <a:t>p</a:t>
                      </a:r>
                      <a:r>
                        <a:rPr sz="2400" b="1" spc="-10" dirty="0">
                          <a:latin typeface="微软雅黑"/>
                          <a:cs typeface="微软雅黑"/>
                        </a:rPr>
                        <a:t>D</a:t>
                      </a:r>
                      <a:r>
                        <a:rPr sz="2400" b="1" dirty="0">
                          <a:latin typeface="微软雅黑"/>
                          <a:cs typeface="微软雅黑"/>
                        </a:rPr>
                        <a:t>at</a:t>
                      </a:r>
                      <a:r>
                        <a:rPr sz="2400" b="1" spc="5" dirty="0">
                          <a:latin typeface="微软雅黑"/>
                          <a:cs typeface="微软雅黑"/>
                        </a:rPr>
                        <a:t>a</a:t>
                      </a:r>
                      <a:r>
                        <a:rPr sz="2400" b="1" dirty="0">
                          <a:latin typeface="微软雅黑"/>
                          <a:cs typeface="微软雅黑"/>
                        </a:rPr>
                        <a:t>,</a:t>
                      </a:r>
                      <a:r>
                        <a:rPr sz="2400" b="1" spc="15" dirty="0">
                          <a:latin typeface="微软雅黑"/>
                          <a:cs typeface="微软雅黑"/>
                        </a:rPr>
                        <a:t> </a:t>
                      </a:r>
                      <a:r>
                        <a:rPr sz="2400" b="1" dirty="0">
                          <a:latin typeface="微软雅黑"/>
                          <a:cs typeface="微软雅黑"/>
                        </a:rPr>
                        <a:t>ui</a:t>
                      </a:r>
                      <a:r>
                        <a:rPr sz="2400" b="1" spc="5" dirty="0">
                          <a:latin typeface="微软雅黑"/>
                          <a:cs typeface="微软雅黑"/>
                        </a:rPr>
                        <a:t>nt</a:t>
                      </a:r>
                      <a:r>
                        <a:rPr sz="2400" b="1" spc="-5" dirty="0">
                          <a:latin typeface="微软雅黑"/>
                          <a:cs typeface="微软雅黑"/>
                        </a:rPr>
                        <a:t>16</a:t>
                      </a:r>
                      <a:r>
                        <a:rPr sz="2400" b="1" dirty="0">
                          <a:latin typeface="微软雅黑"/>
                          <a:cs typeface="微软雅黑"/>
                        </a:rPr>
                        <a:t>_t</a:t>
                      </a:r>
                      <a:r>
                        <a:rPr sz="2400" b="1" spc="-20" dirty="0">
                          <a:latin typeface="微软雅黑"/>
                          <a:cs typeface="微软雅黑"/>
                        </a:rPr>
                        <a:t> </a:t>
                      </a:r>
                      <a:r>
                        <a:rPr sz="2400" b="1" dirty="0">
                          <a:latin typeface="微软雅黑"/>
                          <a:cs typeface="微软雅黑"/>
                        </a:rPr>
                        <a:t>Siz</a:t>
                      </a:r>
                      <a:r>
                        <a:rPr sz="2400" b="1" spc="-15" dirty="0">
                          <a:latin typeface="微软雅黑"/>
                          <a:cs typeface="微软雅黑"/>
                        </a:rPr>
                        <a:t>e</a:t>
                      </a:r>
                      <a:r>
                        <a:rPr sz="2400" b="1" dirty="0">
                          <a:latin typeface="微软雅黑"/>
                          <a:cs typeface="微软雅黑"/>
                        </a:rPr>
                        <a:t>)</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1"/>
                  </a:ext>
                </a:extLst>
              </a:tr>
              <a:tr h="435737">
                <a:tc>
                  <a:txBody>
                    <a:bodyPr/>
                    <a:lstStyle/>
                    <a:p>
                      <a:pPr marL="327025">
                        <a:lnSpc>
                          <a:spcPct val="100000"/>
                        </a:lnSpc>
                      </a:pPr>
                      <a:r>
                        <a:rPr sz="2400" b="1" dirty="0">
                          <a:latin typeface="微软雅黑"/>
                          <a:cs typeface="微软雅黑"/>
                        </a:rPr>
                        <a:t>功能描述</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3975">
                        <a:lnSpc>
                          <a:spcPct val="100000"/>
                        </a:lnSpc>
                        <a:tabLst>
                          <a:tab pos="6770370" algn="l"/>
                        </a:tabLst>
                      </a:pPr>
                      <a:r>
                        <a:rPr sz="2400" b="1" dirty="0">
                          <a:latin typeface="微软雅黑"/>
                          <a:cs typeface="微软雅黑"/>
                        </a:rPr>
                        <a:t>在中断方式下发送一定数量的数据	</a:t>
                      </a:r>
                      <a:r>
                        <a:rPr sz="3600" b="1" spc="15" baseline="-15046" dirty="0">
                          <a:solidFill>
                            <a:srgbClr val="FF0000"/>
                          </a:solidFill>
                          <a:latin typeface="Microsoft JhengHei"/>
                          <a:cs typeface="Microsoft JhengHei"/>
                        </a:rPr>
                        <a:t>发送过程</a:t>
                      </a:r>
                      <a:endParaRPr sz="3600" baseline="-15046">
                        <a:latin typeface="Microsoft JhengHei"/>
                        <a:cs typeface="Microsoft JhengHei"/>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r h="379475">
                <a:tc>
                  <a:txBody>
                    <a:bodyPr/>
                    <a:lstStyle/>
                    <a:p>
                      <a:pPr marL="232410">
                        <a:lnSpc>
                          <a:spcPct val="100000"/>
                        </a:lnSpc>
                      </a:pPr>
                      <a:r>
                        <a:rPr sz="2400" b="1" spc="-5" dirty="0">
                          <a:latin typeface="微软雅黑"/>
                          <a:cs typeface="微软雅黑"/>
                        </a:rPr>
                        <a:t>入口参</a:t>
                      </a:r>
                      <a:r>
                        <a:rPr sz="2400" b="1" dirty="0">
                          <a:latin typeface="微软雅黑"/>
                          <a:cs typeface="微软雅黑"/>
                        </a:rPr>
                        <a:t>数1</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ts val="2455"/>
                        </a:lnSpc>
                        <a:tabLst>
                          <a:tab pos="5358765" algn="l"/>
                        </a:tabLst>
                      </a:pPr>
                      <a:r>
                        <a:rPr sz="3600" b="1" baseline="11574" dirty="0">
                          <a:latin typeface="微软雅黑"/>
                          <a:cs typeface="微软雅黑"/>
                        </a:rPr>
                        <a:t>hua</a:t>
                      </a:r>
                      <a:r>
                        <a:rPr sz="3600" b="1" spc="104" baseline="11574" dirty="0">
                          <a:latin typeface="微软雅黑"/>
                          <a:cs typeface="微软雅黑"/>
                        </a:rPr>
                        <a:t>r</a:t>
                      </a:r>
                      <a:r>
                        <a:rPr sz="3600" b="1" baseline="11574" dirty="0">
                          <a:latin typeface="微软雅黑"/>
                          <a:cs typeface="微软雅黑"/>
                        </a:rPr>
                        <a:t>t</a:t>
                      </a:r>
                      <a:r>
                        <a:rPr sz="3600" b="1" spc="-30" baseline="11574" dirty="0">
                          <a:latin typeface="微软雅黑"/>
                          <a:cs typeface="微软雅黑"/>
                        </a:rPr>
                        <a:t> </a:t>
                      </a:r>
                      <a:r>
                        <a:rPr sz="3600" b="1" baseline="11574" dirty="0">
                          <a:latin typeface="微软雅黑"/>
                          <a:cs typeface="微软雅黑"/>
                        </a:rPr>
                        <a:t>：串口句柄的地址	</a:t>
                      </a:r>
                      <a:r>
                        <a:rPr sz="2400" b="1" spc="10" dirty="0">
                          <a:latin typeface="Microsoft JhengHei"/>
                          <a:cs typeface="Microsoft JhengHei"/>
                        </a:rPr>
                        <a:t>每发送一个数据进入一次中断，</a:t>
                      </a:r>
                      <a:endParaRPr sz="2400">
                        <a:latin typeface="Microsoft JhengHei"/>
                        <a:cs typeface="Microsoft JhengHei"/>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3"/>
                  </a:ext>
                </a:extLst>
              </a:tr>
              <a:tr h="379475">
                <a:tc>
                  <a:txBody>
                    <a:bodyPr/>
                    <a:lstStyle/>
                    <a:p>
                      <a:pPr marL="232410">
                        <a:lnSpc>
                          <a:spcPct val="100000"/>
                        </a:lnSpc>
                      </a:pPr>
                      <a:r>
                        <a:rPr sz="2400" b="1" spc="-5" dirty="0">
                          <a:latin typeface="微软雅黑"/>
                          <a:cs typeface="微软雅黑"/>
                        </a:rPr>
                        <a:t>入口参</a:t>
                      </a:r>
                      <a:r>
                        <a:rPr sz="2400" b="1" dirty="0">
                          <a:latin typeface="微软雅黑"/>
                          <a:cs typeface="微软雅黑"/>
                        </a:rPr>
                        <a:t>数2</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3975">
                        <a:lnSpc>
                          <a:spcPct val="100000"/>
                        </a:lnSpc>
                        <a:tabLst>
                          <a:tab pos="5358765" algn="l"/>
                        </a:tabLst>
                      </a:pPr>
                      <a:r>
                        <a:rPr sz="2400" b="1" dirty="0">
                          <a:latin typeface="微软雅黑"/>
                          <a:cs typeface="微软雅黑"/>
                        </a:rPr>
                        <a:t>p</a:t>
                      </a:r>
                      <a:r>
                        <a:rPr sz="2400" b="1" spc="-10" dirty="0">
                          <a:latin typeface="微软雅黑"/>
                          <a:cs typeface="微软雅黑"/>
                        </a:rPr>
                        <a:t>D</a:t>
                      </a:r>
                      <a:r>
                        <a:rPr sz="2400" b="1" dirty="0">
                          <a:latin typeface="微软雅黑"/>
                          <a:cs typeface="微软雅黑"/>
                        </a:rPr>
                        <a:t>at</a:t>
                      </a:r>
                      <a:r>
                        <a:rPr sz="2400" b="1" spc="5" dirty="0">
                          <a:latin typeface="微软雅黑"/>
                          <a:cs typeface="微软雅黑"/>
                        </a:rPr>
                        <a:t>a</a:t>
                      </a:r>
                      <a:r>
                        <a:rPr sz="2400" b="1" dirty="0">
                          <a:latin typeface="微软雅黑"/>
                          <a:cs typeface="微软雅黑"/>
                        </a:rPr>
                        <a:t>：待发送数据的首地址	</a:t>
                      </a:r>
                      <a:r>
                        <a:rPr sz="3600" b="1" spc="15" baseline="-9259" dirty="0">
                          <a:latin typeface="Microsoft JhengHei"/>
                          <a:cs typeface="Microsoft JhengHei"/>
                        </a:rPr>
                        <a:t>在中断中根据发送数据的个数</a:t>
                      </a:r>
                      <a:endParaRPr sz="3600" baseline="-9259">
                        <a:latin typeface="Microsoft JhengHei"/>
                        <a:cs typeface="Microsoft JhengHei"/>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4"/>
                  </a:ext>
                </a:extLst>
              </a:tr>
              <a:tr h="486663">
                <a:tc>
                  <a:txBody>
                    <a:bodyPr/>
                    <a:lstStyle/>
                    <a:p>
                      <a:pPr marL="232410">
                        <a:lnSpc>
                          <a:spcPct val="100000"/>
                        </a:lnSpc>
                      </a:pPr>
                      <a:r>
                        <a:rPr sz="2400" b="1" dirty="0">
                          <a:latin typeface="微软雅黑"/>
                          <a:cs typeface="微软雅黑"/>
                        </a:rPr>
                        <a:t>入口参数3</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ct val="100000"/>
                        </a:lnSpc>
                        <a:tabLst>
                          <a:tab pos="935355" algn="l"/>
                          <a:tab pos="5358765" algn="l"/>
                        </a:tabLst>
                      </a:pPr>
                      <a:r>
                        <a:rPr sz="2400" b="1" dirty="0">
                          <a:latin typeface="微软雅黑"/>
                          <a:cs typeface="微软雅黑"/>
                        </a:rPr>
                        <a:t>Size	：</a:t>
                      </a:r>
                      <a:r>
                        <a:rPr sz="2400" b="1" spc="-5" dirty="0">
                          <a:latin typeface="微软雅黑"/>
                          <a:cs typeface="微软雅黑"/>
                        </a:rPr>
                        <a:t> </a:t>
                      </a:r>
                      <a:r>
                        <a:rPr sz="2400" b="1" dirty="0">
                          <a:latin typeface="微软雅黑"/>
                          <a:cs typeface="微软雅黑"/>
                        </a:rPr>
                        <a:t>待发送数据的个数	</a:t>
                      </a:r>
                      <a:r>
                        <a:rPr sz="3600" b="1" spc="7" baseline="6944" dirty="0">
                          <a:latin typeface="Microsoft JhengHei"/>
                          <a:cs typeface="Microsoft JhengHei"/>
                        </a:rPr>
                        <a:t>来判断数据是否发送完成</a:t>
                      </a:r>
                      <a:endParaRPr sz="3600" baseline="6944">
                        <a:latin typeface="Microsoft JhengHei"/>
                        <a:cs typeface="Microsoft JhengHei"/>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5"/>
                  </a:ext>
                </a:extLst>
              </a:tr>
              <a:tr h="884047">
                <a:tc>
                  <a:txBody>
                    <a:bodyPr/>
                    <a:lstStyle/>
                    <a:p>
                      <a:pPr marL="479425">
                        <a:lnSpc>
                          <a:spcPct val="100000"/>
                        </a:lnSpc>
                      </a:pPr>
                      <a:r>
                        <a:rPr sz="2400" b="1" dirty="0">
                          <a:latin typeface="微软雅黑"/>
                          <a:cs typeface="微软雅黑"/>
                        </a:rPr>
                        <a:t>返回值</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3975" marR="518159">
                        <a:lnSpc>
                          <a:spcPts val="2840"/>
                        </a:lnSpc>
                      </a:pPr>
                      <a:r>
                        <a:rPr sz="2400" b="1" spc="-5" dirty="0">
                          <a:latin typeface="微软雅黑"/>
                          <a:cs typeface="微软雅黑"/>
                        </a:rPr>
                        <a:t>H</a:t>
                      </a:r>
                      <a:r>
                        <a:rPr sz="2400" b="1" spc="-10" dirty="0">
                          <a:latin typeface="微软雅黑"/>
                          <a:cs typeface="微软雅黑"/>
                        </a:rPr>
                        <a:t>A</a:t>
                      </a:r>
                      <a:r>
                        <a:rPr sz="2400" b="1" spc="-5" dirty="0">
                          <a:latin typeface="微软雅黑"/>
                          <a:cs typeface="微软雅黑"/>
                        </a:rPr>
                        <a:t>L</a:t>
                      </a:r>
                      <a:r>
                        <a:rPr sz="2400" b="1" dirty="0">
                          <a:latin typeface="微软雅黑"/>
                          <a:cs typeface="微软雅黑"/>
                        </a:rPr>
                        <a:t>状态值：</a:t>
                      </a:r>
                      <a:r>
                        <a:rPr sz="2400" b="1" spc="-5" dirty="0">
                          <a:latin typeface="微软雅黑"/>
                          <a:cs typeface="微软雅黑"/>
                        </a:rPr>
                        <a:t>H</a:t>
                      </a:r>
                      <a:r>
                        <a:rPr sz="2400" b="1" spc="-10" dirty="0">
                          <a:latin typeface="微软雅黑"/>
                          <a:cs typeface="微软雅黑"/>
                        </a:rPr>
                        <a:t>A</a:t>
                      </a:r>
                      <a:r>
                        <a:rPr sz="2400" b="1" dirty="0">
                          <a:latin typeface="微软雅黑"/>
                          <a:cs typeface="微软雅黑"/>
                        </a:rPr>
                        <a:t>L_O</a:t>
                      </a:r>
                      <a:r>
                        <a:rPr sz="2400" b="1" spc="5" dirty="0">
                          <a:latin typeface="微软雅黑"/>
                          <a:cs typeface="微软雅黑"/>
                        </a:rPr>
                        <a:t>K</a:t>
                      </a:r>
                      <a:r>
                        <a:rPr sz="2400" b="1" dirty="0">
                          <a:latin typeface="微软雅黑"/>
                          <a:cs typeface="微软雅黑"/>
                        </a:rPr>
                        <a:t>表示发送成功</a:t>
                      </a:r>
                      <a:r>
                        <a:rPr sz="2400" b="1" spc="-15" dirty="0">
                          <a:latin typeface="微软雅黑"/>
                          <a:cs typeface="微软雅黑"/>
                        </a:rPr>
                        <a:t>；</a:t>
                      </a:r>
                      <a:r>
                        <a:rPr sz="2400" b="1" spc="-5" dirty="0">
                          <a:latin typeface="微软雅黑"/>
                          <a:cs typeface="微软雅黑"/>
                        </a:rPr>
                        <a:t>HAL_ER</a:t>
                      </a:r>
                      <a:r>
                        <a:rPr sz="2400" b="1" spc="-15" dirty="0">
                          <a:latin typeface="微软雅黑"/>
                          <a:cs typeface="微软雅黑"/>
                        </a:rPr>
                        <a:t>R</a:t>
                      </a:r>
                      <a:r>
                        <a:rPr sz="2400" b="1" dirty="0">
                          <a:latin typeface="微软雅黑"/>
                          <a:cs typeface="微软雅黑"/>
                        </a:rPr>
                        <a:t>O</a:t>
                      </a:r>
                      <a:r>
                        <a:rPr sz="2400" b="1" spc="-5" dirty="0">
                          <a:latin typeface="微软雅黑"/>
                          <a:cs typeface="微软雅黑"/>
                        </a:rPr>
                        <a:t>R</a:t>
                      </a:r>
                      <a:r>
                        <a:rPr sz="2400" b="1" dirty="0">
                          <a:latin typeface="微软雅黑"/>
                          <a:cs typeface="微软雅黑"/>
                        </a:rPr>
                        <a:t>表示参数错误； </a:t>
                      </a:r>
                      <a:r>
                        <a:rPr sz="2400" b="1" spc="-5" dirty="0">
                          <a:latin typeface="微软雅黑"/>
                          <a:cs typeface="微软雅黑"/>
                        </a:rPr>
                        <a:t>H</a:t>
                      </a:r>
                      <a:r>
                        <a:rPr sz="2400" b="1" spc="-10" dirty="0">
                          <a:latin typeface="微软雅黑"/>
                          <a:cs typeface="微软雅黑"/>
                        </a:rPr>
                        <a:t>A</a:t>
                      </a:r>
                      <a:r>
                        <a:rPr sz="2400" b="1" dirty="0">
                          <a:latin typeface="微软雅黑"/>
                          <a:cs typeface="微软雅黑"/>
                        </a:rPr>
                        <a:t>L_BUSY表示串口被占用</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6"/>
                  </a:ext>
                </a:extLst>
              </a:tr>
              <a:tr h="3035545">
                <a:tc>
                  <a:txBody>
                    <a:bodyPr/>
                    <a:lstStyle/>
                    <a:p>
                      <a:pPr marL="327025">
                        <a:lnSpc>
                          <a:spcPct val="100000"/>
                        </a:lnSpc>
                      </a:pPr>
                      <a:r>
                        <a:rPr sz="2400" b="1" dirty="0">
                          <a:latin typeface="微软雅黑"/>
                          <a:cs typeface="微软雅黑"/>
                        </a:rPr>
                        <a:t>注意事项</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ct val="100000"/>
                        </a:lnSpc>
                      </a:pPr>
                      <a:r>
                        <a:rPr sz="2400" b="1" dirty="0">
                          <a:latin typeface="微软雅黑"/>
                          <a:cs typeface="微软雅黑"/>
                        </a:rPr>
                        <a:t>1.</a:t>
                      </a:r>
                      <a:r>
                        <a:rPr sz="2400" b="1" spc="-5" dirty="0">
                          <a:latin typeface="微软雅黑"/>
                          <a:cs typeface="微软雅黑"/>
                        </a:rPr>
                        <a:t> </a:t>
                      </a:r>
                      <a:r>
                        <a:rPr sz="2400" b="1" dirty="0">
                          <a:latin typeface="微软雅黑"/>
                          <a:cs typeface="微软雅黑"/>
                        </a:rPr>
                        <a:t>函数将使能串口发送中断</a:t>
                      </a:r>
                      <a:endParaRPr sz="2400">
                        <a:latin typeface="微软雅黑"/>
                        <a:cs typeface="微软雅黑"/>
                      </a:endParaRPr>
                    </a:p>
                    <a:p>
                      <a:pPr marL="417195" marR="178435" indent="-363220" algn="just">
                        <a:lnSpc>
                          <a:spcPct val="100000"/>
                        </a:lnSpc>
                      </a:pPr>
                      <a:r>
                        <a:rPr sz="2400" b="1" dirty="0">
                          <a:latin typeface="微软雅黑"/>
                          <a:cs typeface="微软雅黑"/>
                        </a:rPr>
                        <a:t>2.</a:t>
                      </a:r>
                      <a:r>
                        <a:rPr sz="2400" b="1" spc="-5" dirty="0">
                          <a:latin typeface="微软雅黑"/>
                          <a:cs typeface="微软雅黑"/>
                        </a:rPr>
                        <a:t> 函数将置</a:t>
                      </a:r>
                      <a:r>
                        <a:rPr sz="2400" b="1" dirty="0">
                          <a:latin typeface="微软雅黑"/>
                          <a:cs typeface="微软雅黑"/>
                        </a:rPr>
                        <a:t>位</a:t>
                      </a:r>
                      <a:r>
                        <a:rPr sz="2400" b="1" spc="-5" dirty="0">
                          <a:latin typeface="微软雅黑"/>
                          <a:cs typeface="微软雅黑"/>
                        </a:rPr>
                        <a:t>TX</a:t>
                      </a:r>
                      <a:r>
                        <a:rPr sz="2400" b="1" spc="-10" dirty="0">
                          <a:latin typeface="微软雅黑"/>
                          <a:cs typeface="微软雅黑"/>
                        </a:rPr>
                        <a:t>E</a:t>
                      </a:r>
                      <a:r>
                        <a:rPr sz="2400" b="1" spc="-5" dirty="0">
                          <a:latin typeface="微软雅黑"/>
                          <a:cs typeface="微软雅黑"/>
                        </a:rPr>
                        <a:t>I</a:t>
                      </a:r>
                      <a:r>
                        <a:rPr sz="2400" b="1" spc="-10" dirty="0">
                          <a:latin typeface="微软雅黑"/>
                          <a:cs typeface="微软雅黑"/>
                        </a:rPr>
                        <a:t>E</a:t>
                      </a:r>
                      <a:r>
                        <a:rPr sz="2400" b="1" spc="-5" dirty="0">
                          <a:latin typeface="微软雅黑"/>
                          <a:cs typeface="微软雅黑"/>
                        </a:rPr>
                        <a:t>和</a:t>
                      </a:r>
                      <a:r>
                        <a:rPr sz="2400" b="1" spc="-100" dirty="0">
                          <a:latin typeface="微软雅黑"/>
                          <a:cs typeface="微软雅黑"/>
                        </a:rPr>
                        <a:t>T</a:t>
                      </a:r>
                      <a:r>
                        <a:rPr sz="2400" b="1" spc="-5" dirty="0">
                          <a:latin typeface="微软雅黑"/>
                          <a:cs typeface="微软雅黑"/>
                        </a:rPr>
                        <a:t>CIE，使能发送数据寄存器空中断和发送完成中 </a:t>
                      </a:r>
                      <a:r>
                        <a:rPr sz="2400" b="1" dirty="0">
                          <a:latin typeface="微软雅黑"/>
                          <a:cs typeface="微软雅黑"/>
                        </a:rPr>
                        <a:t>断。完成指定数量的数据发送后，将会关闭发送中断，即清</a:t>
                      </a:r>
                      <a:r>
                        <a:rPr sz="2400" b="1" spc="10" dirty="0">
                          <a:latin typeface="微软雅黑"/>
                          <a:cs typeface="微软雅黑"/>
                        </a:rPr>
                        <a:t>零</a:t>
                      </a:r>
                      <a:r>
                        <a:rPr sz="2400" b="1" spc="-5" dirty="0">
                          <a:latin typeface="微软雅黑"/>
                          <a:cs typeface="微软雅黑"/>
                        </a:rPr>
                        <a:t>TXEIE </a:t>
                      </a:r>
                      <a:r>
                        <a:rPr sz="2400" b="1" dirty="0">
                          <a:latin typeface="微软雅黑"/>
                          <a:cs typeface="微软雅黑"/>
                        </a:rPr>
                        <a:t>和</a:t>
                      </a:r>
                      <a:r>
                        <a:rPr sz="2400" b="1" spc="-100" dirty="0">
                          <a:latin typeface="微软雅黑"/>
                          <a:cs typeface="微软雅黑"/>
                        </a:rPr>
                        <a:t>T</a:t>
                      </a:r>
                      <a:r>
                        <a:rPr sz="2400" b="1" spc="-5" dirty="0">
                          <a:latin typeface="微软雅黑"/>
                          <a:cs typeface="微软雅黑"/>
                        </a:rPr>
                        <a:t>CI</a:t>
                      </a:r>
                      <a:r>
                        <a:rPr sz="2400" b="1" dirty="0">
                          <a:latin typeface="微软雅黑"/>
                          <a:cs typeface="微软雅黑"/>
                        </a:rPr>
                        <a:t>E。因此用户采用中断方式连续发送数据时，需</a:t>
                      </a:r>
                      <a:r>
                        <a:rPr sz="2400" b="1" spc="-15" dirty="0">
                          <a:latin typeface="微软雅黑"/>
                          <a:cs typeface="微软雅黑"/>
                        </a:rPr>
                        <a:t>要</a:t>
                      </a:r>
                      <a:r>
                        <a:rPr sz="2400" b="1" dirty="0">
                          <a:latin typeface="微软雅黑"/>
                          <a:cs typeface="微软雅黑"/>
                        </a:rPr>
                        <a:t>重复调用该函 数，以便重新开启发送中断</a:t>
                      </a:r>
                      <a:endParaRPr sz="2400">
                        <a:latin typeface="微软雅黑"/>
                        <a:cs typeface="微软雅黑"/>
                      </a:endParaRPr>
                    </a:p>
                    <a:p>
                      <a:pPr marL="53975">
                        <a:lnSpc>
                          <a:spcPct val="100000"/>
                        </a:lnSpc>
                      </a:pPr>
                      <a:r>
                        <a:rPr sz="2400" b="1" dirty="0">
                          <a:latin typeface="微软雅黑"/>
                          <a:cs typeface="微软雅黑"/>
                        </a:rPr>
                        <a:t>3.</a:t>
                      </a:r>
                      <a:r>
                        <a:rPr sz="2400" b="1" spc="-5" dirty="0">
                          <a:latin typeface="微软雅黑"/>
                          <a:cs typeface="微软雅黑"/>
                        </a:rPr>
                        <a:t> 当指定数量的数据发送完成后，将调用发送中断回调函数</a:t>
                      </a:r>
                      <a:endParaRPr sz="2400">
                        <a:latin typeface="微软雅黑"/>
                        <a:cs typeface="微软雅黑"/>
                      </a:endParaRPr>
                    </a:p>
                    <a:p>
                      <a:pPr marL="53975" marR="3524250" indent="362585">
                        <a:lnSpc>
                          <a:spcPts val="2840"/>
                        </a:lnSpc>
                        <a:spcBef>
                          <a:spcPts val="130"/>
                        </a:spcBef>
                      </a:pPr>
                      <a:r>
                        <a:rPr sz="2400" b="1" spc="-5" dirty="0">
                          <a:latin typeface="微软雅黑"/>
                          <a:cs typeface="微软雅黑"/>
                        </a:rPr>
                        <a:t>H</a:t>
                      </a:r>
                      <a:r>
                        <a:rPr sz="2400" b="1" spc="-10" dirty="0">
                          <a:latin typeface="微软雅黑"/>
                          <a:cs typeface="微软雅黑"/>
                        </a:rPr>
                        <a:t>A</a:t>
                      </a:r>
                      <a:r>
                        <a:rPr sz="2400" b="1" dirty="0">
                          <a:latin typeface="微软雅黑"/>
                          <a:cs typeface="微软雅黑"/>
                        </a:rPr>
                        <a:t>L_</a:t>
                      </a:r>
                      <a:r>
                        <a:rPr sz="2400" b="1" spc="-65" dirty="0">
                          <a:latin typeface="微软雅黑"/>
                          <a:cs typeface="微软雅黑"/>
                        </a:rPr>
                        <a:t>U</a:t>
                      </a:r>
                      <a:r>
                        <a:rPr sz="2400" b="1" dirty="0">
                          <a:latin typeface="微软雅黑"/>
                          <a:cs typeface="微软雅黑"/>
                        </a:rPr>
                        <a:t>A</a:t>
                      </a:r>
                      <a:r>
                        <a:rPr sz="2400" b="1" spc="-50" dirty="0">
                          <a:latin typeface="微软雅黑"/>
                          <a:cs typeface="微软雅黑"/>
                        </a:rPr>
                        <a:t>R</a:t>
                      </a:r>
                      <a:r>
                        <a:rPr sz="2400" b="1" spc="-5" dirty="0">
                          <a:latin typeface="微软雅黑"/>
                          <a:cs typeface="微软雅黑"/>
                        </a:rPr>
                        <a:t>T_</a:t>
                      </a:r>
                      <a:r>
                        <a:rPr sz="2400" b="1" spc="-190" dirty="0">
                          <a:latin typeface="微软雅黑"/>
                          <a:cs typeface="微软雅黑"/>
                        </a:rPr>
                        <a:t>T</a:t>
                      </a:r>
                      <a:r>
                        <a:rPr sz="2400" b="1" dirty="0">
                          <a:latin typeface="微软雅黑"/>
                          <a:cs typeface="微软雅黑"/>
                        </a:rPr>
                        <a:t>xCpltCall</a:t>
                      </a:r>
                      <a:r>
                        <a:rPr sz="2400" b="1" spc="-30" dirty="0">
                          <a:latin typeface="微软雅黑"/>
                          <a:cs typeface="微软雅黑"/>
                        </a:rPr>
                        <a:t>b</a:t>
                      </a:r>
                      <a:r>
                        <a:rPr sz="2400" b="1" dirty="0">
                          <a:latin typeface="微软雅黑"/>
                          <a:cs typeface="微软雅黑"/>
                        </a:rPr>
                        <a:t>ack进行后续处理 4.</a:t>
                      </a:r>
                      <a:r>
                        <a:rPr sz="2400" b="1" spc="-5" dirty="0">
                          <a:latin typeface="微软雅黑"/>
                          <a:cs typeface="微软雅黑"/>
                        </a:rPr>
                        <a:t> </a:t>
                      </a:r>
                      <a:r>
                        <a:rPr sz="2400" b="1" dirty="0">
                          <a:latin typeface="微软雅黑"/>
                          <a:cs typeface="微软雅黑"/>
                        </a:rPr>
                        <a:t>该函数由用户调用。</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95671013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989073" y="3847452"/>
            <a:ext cx="10027920" cy="2926715"/>
          </a:xfrm>
          <a:prstGeom prst="rect">
            <a:avLst/>
          </a:prstGeom>
        </p:spPr>
        <p:txBody>
          <a:bodyPr vert="horz" wrap="square" lIns="0" tIns="0" rIns="0" bIns="0" rtlCol="0">
            <a:spAutoFit/>
          </a:bodyPr>
          <a:lstStyle/>
          <a:p>
            <a:pPr marR="26034" algn="r">
              <a:lnSpc>
                <a:spcPts val="1440"/>
              </a:lnSpc>
            </a:pPr>
            <a:r>
              <a:rPr sz="1200" b="1" spc="-5" dirty="0">
                <a:solidFill>
                  <a:srgbClr val="FFFFFF"/>
                </a:solidFill>
                <a:latin typeface="微软雅黑"/>
                <a:cs typeface="微软雅黑"/>
              </a:rPr>
              <a:t>--</a:t>
            </a:r>
            <a:r>
              <a:rPr sz="1200" b="1" spc="5" dirty="0">
                <a:solidFill>
                  <a:srgbClr val="FFFFFF"/>
                </a:solidFill>
                <a:latin typeface="微软雅黑"/>
                <a:cs typeface="微软雅黑"/>
              </a:rPr>
              <a:t> </a:t>
            </a:r>
            <a:r>
              <a:rPr sz="1200" b="1" dirty="0">
                <a:solidFill>
                  <a:srgbClr val="FFFFFF"/>
                </a:solidFill>
                <a:latin typeface="微软雅黑"/>
                <a:cs typeface="微软雅黑"/>
              </a:rPr>
              <a:t>南昌大学“卓越”辅导员培养工程建设</a:t>
            </a:r>
            <a:endParaRPr sz="1200">
              <a:latin typeface="微软雅黑"/>
              <a:cs typeface="微软雅黑"/>
            </a:endParaRPr>
          </a:p>
        </p:txBody>
      </p:sp>
      <p:sp>
        <p:nvSpPr>
          <p:cNvPr id="3" name="object 3"/>
          <p:cNvSpPr/>
          <p:nvPr/>
        </p:nvSpPr>
        <p:spPr>
          <a:xfrm>
            <a:off x="7335773" y="1387602"/>
            <a:ext cx="4392295" cy="1624965"/>
          </a:xfrm>
          <a:custGeom>
            <a:avLst/>
            <a:gdLst/>
            <a:ahLst/>
            <a:cxnLst/>
            <a:rect l="l" t="t" r="r" b="b"/>
            <a:pathLst>
              <a:path w="4392295" h="1624964">
                <a:moveTo>
                  <a:pt x="4121404" y="0"/>
                </a:moveTo>
                <a:lnTo>
                  <a:pt x="270764" y="0"/>
                </a:lnTo>
                <a:lnTo>
                  <a:pt x="248565" y="898"/>
                </a:lnTo>
                <a:lnTo>
                  <a:pt x="205715" y="7872"/>
                </a:lnTo>
                <a:lnTo>
                  <a:pt x="165395" y="21286"/>
                </a:lnTo>
                <a:lnTo>
                  <a:pt x="128163" y="40580"/>
                </a:lnTo>
                <a:lnTo>
                  <a:pt x="94578" y="65197"/>
                </a:lnTo>
                <a:lnTo>
                  <a:pt x="65197" y="94578"/>
                </a:lnTo>
                <a:lnTo>
                  <a:pt x="40580" y="128163"/>
                </a:lnTo>
                <a:lnTo>
                  <a:pt x="21286" y="165395"/>
                </a:lnTo>
                <a:lnTo>
                  <a:pt x="7872" y="205715"/>
                </a:lnTo>
                <a:lnTo>
                  <a:pt x="898" y="248565"/>
                </a:lnTo>
                <a:lnTo>
                  <a:pt x="0" y="270763"/>
                </a:lnTo>
                <a:lnTo>
                  <a:pt x="0" y="1353820"/>
                </a:lnTo>
                <a:lnTo>
                  <a:pt x="3545" y="1397724"/>
                </a:lnTo>
                <a:lnTo>
                  <a:pt x="13809" y="1439379"/>
                </a:lnTo>
                <a:lnTo>
                  <a:pt x="30233" y="1478225"/>
                </a:lnTo>
                <a:lnTo>
                  <a:pt x="52258" y="1513703"/>
                </a:lnTo>
                <a:lnTo>
                  <a:pt x="79327" y="1545256"/>
                </a:lnTo>
                <a:lnTo>
                  <a:pt x="110880" y="1572325"/>
                </a:lnTo>
                <a:lnTo>
                  <a:pt x="146358" y="1594350"/>
                </a:lnTo>
                <a:lnTo>
                  <a:pt x="185204" y="1610774"/>
                </a:lnTo>
                <a:lnTo>
                  <a:pt x="226859" y="1621038"/>
                </a:lnTo>
                <a:lnTo>
                  <a:pt x="270764" y="1624584"/>
                </a:lnTo>
                <a:lnTo>
                  <a:pt x="4121404" y="1624584"/>
                </a:lnTo>
                <a:lnTo>
                  <a:pt x="4165308" y="1621038"/>
                </a:lnTo>
                <a:lnTo>
                  <a:pt x="4206963" y="1610774"/>
                </a:lnTo>
                <a:lnTo>
                  <a:pt x="4245809" y="1594350"/>
                </a:lnTo>
                <a:lnTo>
                  <a:pt x="4281287" y="1572325"/>
                </a:lnTo>
                <a:lnTo>
                  <a:pt x="4312840" y="1545256"/>
                </a:lnTo>
                <a:lnTo>
                  <a:pt x="4339909" y="1513703"/>
                </a:lnTo>
                <a:lnTo>
                  <a:pt x="4361934" y="1478225"/>
                </a:lnTo>
                <a:lnTo>
                  <a:pt x="4378358" y="1439379"/>
                </a:lnTo>
                <a:lnTo>
                  <a:pt x="4388622" y="1397724"/>
                </a:lnTo>
                <a:lnTo>
                  <a:pt x="4392168" y="1353820"/>
                </a:lnTo>
                <a:lnTo>
                  <a:pt x="4392168" y="270763"/>
                </a:lnTo>
                <a:lnTo>
                  <a:pt x="4388622" y="226859"/>
                </a:lnTo>
                <a:lnTo>
                  <a:pt x="4378358" y="185204"/>
                </a:lnTo>
                <a:lnTo>
                  <a:pt x="4361934" y="146358"/>
                </a:lnTo>
                <a:lnTo>
                  <a:pt x="4339909" y="110880"/>
                </a:lnTo>
                <a:lnTo>
                  <a:pt x="4312840" y="79327"/>
                </a:lnTo>
                <a:lnTo>
                  <a:pt x="4281287" y="52258"/>
                </a:lnTo>
                <a:lnTo>
                  <a:pt x="4245809" y="30233"/>
                </a:lnTo>
                <a:lnTo>
                  <a:pt x="4206963" y="13809"/>
                </a:lnTo>
                <a:lnTo>
                  <a:pt x="4165308" y="3545"/>
                </a:lnTo>
                <a:lnTo>
                  <a:pt x="4121404" y="0"/>
                </a:lnTo>
                <a:close/>
              </a:path>
            </a:pathLst>
          </a:custGeom>
          <a:solidFill>
            <a:srgbClr val="FFFFC7"/>
          </a:solidFill>
        </p:spPr>
        <p:txBody>
          <a:bodyPr wrap="square" lIns="0" tIns="0" rIns="0" bIns="0" rtlCol="0"/>
          <a:lstStyle/>
          <a:p>
            <a:endParaRPr/>
          </a:p>
        </p:txBody>
      </p:sp>
      <p:sp>
        <p:nvSpPr>
          <p:cNvPr id="4" name="object 4"/>
          <p:cNvSpPr/>
          <p:nvPr/>
        </p:nvSpPr>
        <p:spPr>
          <a:xfrm>
            <a:off x="7335773" y="1387602"/>
            <a:ext cx="4392295" cy="1624965"/>
          </a:xfrm>
          <a:custGeom>
            <a:avLst/>
            <a:gdLst/>
            <a:ahLst/>
            <a:cxnLst/>
            <a:rect l="l" t="t" r="r" b="b"/>
            <a:pathLst>
              <a:path w="4392295" h="1624964">
                <a:moveTo>
                  <a:pt x="0" y="270763"/>
                </a:moveTo>
                <a:lnTo>
                  <a:pt x="3545" y="226859"/>
                </a:lnTo>
                <a:lnTo>
                  <a:pt x="13809" y="185204"/>
                </a:lnTo>
                <a:lnTo>
                  <a:pt x="30233" y="146358"/>
                </a:lnTo>
                <a:lnTo>
                  <a:pt x="52258" y="110880"/>
                </a:lnTo>
                <a:lnTo>
                  <a:pt x="79327" y="79327"/>
                </a:lnTo>
                <a:lnTo>
                  <a:pt x="110880" y="52258"/>
                </a:lnTo>
                <a:lnTo>
                  <a:pt x="146358" y="30233"/>
                </a:lnTo>
                <a:lnTo>
                  <a:pt x="185204" y="13809"/>
                </a:lnTo>
                <a:lnTo>
                  <a:pt x="226859" y="3545"/>
                </a:lnTo>
                <a:lnTo>
                  <a:pt x="270764" y="0"/>
                </a:lnTo>
                <a:lnTo>
                  <a:pt x="732027" y="0"/>
                </a:lnTo>
                <a:lnTo>
                  <a:pt x="1830070" y="0"/>
                </a:lnTo>
                <a:lnTo>
                  <a:pt x="4121404" y="0"/>
                </a:lnTo>
                <a:lnTo>
                  <a:pt x="4143602" y="898"/>
                </a:lnTo>
                <a:lnTo>
                  <a:pt x="4186452" y="7872"/>
                </a:lnTo>
                <a:lnTo>
                  <a:pt x="4226772" y="21286"/>
                </a:lnTo>
                <a:lnTo>
                  <a:pt x="4264004" y="40580"/>
                </a:lnTo>
                <a:lnTo>
                  <a:pt x="4297589" y="65197"/>
                </a:lnTo>
                <a:lnTo>
                  <a:pt x="4326970" y="94578"/>
                </a:lnTo>
                <a:lnTo>
                  <a:pt x="4351587" y="128163"/>
                </a:lnTo>
                <a:lnTo>
                  <a:pt x="4370881" y="165395"/>
                </a:lnTo>
                <a:lnTo>
                  <a:pt x="4384295" y="205715"/>
                </a:lnTo>
                <a:lnTo>
                  <a:pt x="4391269" y="248565"/>
                </a:lnTo>
                <a:lnTo>
                  <a:pt x="4392168" y="270763"/>
                </a:lnTo>
                <a:lnTo>
                  <a:pt x="4392168" y="947674"/>
                </a:lnTo>
                <a:lnTo>
                  <a:pt x="4392168" y="1353820"/>
                </a:lnTo>
                <a:lnTo>
                  <a:pt x="4391269" y="1376018"/>
                </a:lnTo>
                <a:lnTo>
                  <a:pt x="4388622" y="1397724"/>
                </a:lnTo>
                <a:lnTo>
                  <a:pt x="4378358" y="1439379"/>
                </a:lnTo>
                <a:lnTo>
                  <a:pt x="4361934" y="1478225"/>
                </a:lnTo>
                <a:lnTo>
                  <a:pt x="4339909" y="1513703"/>
                </a:lnTo>
                <a:lnTo>
                  <a:pt x="4312840" y="1545256"/>
                </a:lnTo>
                <a:lnTo>
                  <a:pt x="4281287" y="1572325"/>
                </a:lnTo>
                <a:lnTo>
                  <a:pt x="4245809" y="1594350"/>
                </a:lnTo>
                <a:lnTo>
                  <a:pt x="4206963" y="1610774"/>
                </a:lnTo>
                <a:lnTo>
                  <a:pt x="4165308" y="1621038"/>
                </a:lnTo>
                <a:lnTo>
                  <a:pt x="4121404" y="1624584"/>
                </a:lnTo>
                <a:lnTo>
                  <a:pt x="1830070" y="1624584"/>
                </a:lnTo>
                <a:lnTo>
                  <a:pt x="2004186" y="1624584"/>
                </a:lnTo>
                <a:lnTo>
                  <a:pt x="732027" y="1624584"/>
                </a:lnTo>
                <a:lnTo>
                  <a:pt x="270764" y="1624584"/>
                </a:lnTo>
                <a:lnTo>
                  <a:pt x="248565" y="1623685"/>
                </a:lnTo>
                <a:lnTo>
                  <a:pt x="205715" y="1616711"/>
                </a:lnTo>
                <a:lnTo>
                  <a:pt x="165395" y="1603297"/>
                </a:lnTo>
                <a:lnTo>
                  <a:pt x="128163" y="1584003"/>
                </a:lnTo>
                <a:lnTo>
                  <a:pt x="94578" y="1559386"/>
                </a:lnTo>
                <a:lnTo>
                  <a:pt x="65197" y="1530005"/>
                </a:lnTo>
                <a:lnTo>
                  <a:pt x="40580" y="1496420"/>
                </a:lnTo>
                <a:lnTo>
                  <a:pt x="21286" y="1459188"/>
                </a:lnTo>
                <a:lnTo>
                  <a:pt x="7872" y="1418868"/>
                </a:lnTo>
                <a:lnTo>
                  <a:pt x="898" y="1376018"/>
                </a:lnTo>
                <a:lnTo>
                  <a:pt x="0" y="1353820"/>
                </a:lnTo>
                <a:lnTo>
                  <a:pt x="0" y="947674"/>
                </a:lnTo>
                <a:lnTo>
                  <a:pt x="0" y="270763"/>
                </a:lnTo>
                <a:close/>
              </a:path>
            </a:pathLst>
          </a:custGeom>
          <a:ln w="28956">
            <a:solidFill>
              <a:srgbClr val="000000"/>
            </a:solidFill>
          </a:ln>
        </p:spPr>
        <p:txBody>
          <a:bodyPr wrap="square" lIns="0" tIns="0" rIns="0" bIns="0" rtlCol="0"/>
          <a:lstStyle/>
          <a:p>
            <a:endParaRPr/>
          </a:p>
        </p:txBody>
      </p:sp>
      <p:graphicFrame>
        <p:nvGraphicFramePr>
          <p:cNvPr id="5" name="object 5"/>
          <p:cNvGraphicFramePr>
            <a:graphicFrameLocks noGrp="1"/>
          </p:cNvGraphicFramePr>
          <p:nvPr/>
        </p:nvGraphicFramePr>
        <p:xfrm>
          <a:off x="161201" y="133159"/>
          <a:ext cx="11840997" cy="6577824"/>
        </p:xfrm>
        <a:graphic>
          <a:graphicData uri="http://schemas.openxmlformats.org/drawingml/2006/table">
            <a:tbl>
              <a:tblPr firstRow="1" bandRow="1">
                <a:tableStyleId>{2D5ABB26-0587-4C30-8999-92F81FD0307C}</a:tableStyleId>
              </a:tblPr>
              <a:tblGrid>
                <a:gridCol w="1813585">
                  <a:extLst>
                    <a:ext uri="{9D8B030D-6E8A-4147-A177-3AD203B41FA5}">
                      <a16:colId xmlns:a16="http://schemas.microsoft.com/office/drawing/2014/main" val="20000"/>
                    </a:ext>
                  </a:extLst>
                </a:gridCol>
                <a:gridCol w="10027412">
                  <a:extLst>
                    <a:ext uri="{9D8B030D-6E8A-4147-A177-3AD203B41FA5}">
                      <a16:colId xmlns:a16="http://schemas.microsoft.com/office/drawing/2014/main" val="20001"/>
                    </a:ext>
                  </a:extLst>
                </a:gridCol>
              </a:tblGrid>
              <a:tr h="411099">
                <a:tc gridSpan="2">
                  <a:txBody>
                    <a:bodyPr/>
                    <a:lstStyle/>
                    <a:p>
                      <a:pPr marL="2364740">
                        <a:lnSpc>
                          <a:spcPct val="100000"/>
                        </a:lnSpc>
                        <a:tabLst>
                          <a:tab pos="2733675" algn="l"/>
                        </a:tabLst>
                      </a:pPr>
                      <a:r>
                        <a:rPr sz="2400" b="1" dirty="0">
                          <a:solidFill>
                            <a:srgbClr val="FFFFFF"/>
                          </a:solidFill>
                          <a:latin typeface="微软雅黑"/>
                          <a:cs typeface="微软雅黑"/>
                        </a:rPr>
                        <a:t>2	串口中断方式接</a:t>
                      </a:r>
                      <a:r>
                        <a:rPr sz="2400" b="1" spc="-15" dirty="0">
                          <a:solidFill>
                            <a:srgbClr val="FFFFFF"/>
                          </a:solidFill>
                          <a:latin typeface="微软雅黑"/>
                          <a:cs typeface="微软雅黑"/>
                        </a:rPr>
                        <a:t>收</a:t>
                      </a:r>
                      <a:r>
                        <a:rPr sz="2400" b="1" dirty="0">
                          <a:solidFill>
                            <a:srgbClr val="FFFFFF"/>
                          </a:solidFill>
                          <a:latin typeface="微软雅黑"/>
                          <a:cs typeface="微软雅黑"/>
                        </a:rPr>
                        <a:t>函数：</a:t>
                      </a:r>
                      <a:r>
                        <a:rPr sz="2400" b="1" spc="-5" dirty="0">
                          <a:solidFill>
                            <a:srgbClr val="FFFFFF"/>
                          </a:solidFill>
                          <a:latin typeface="微软雅黑"/>
                          <a:cs typeface="微软雅黑"/>
                        </a:rPr>
                        <a:t>H</a:t>
                      </a:r>
                      <a:r>
                        <a:rPr sz="2400" b="1" spc="-10" dirty="0">
                          <a:solidFill>
                            <a:srgbClr val="FFFFFF"/>
                          </a:solidFill>
                          <a:latin typeface="微软雅黑"/>
                          <a:cs typeface="微软雅黑"/>
                        </a:rPr>
                        <a:t>A</a:t>
                      </a:r>
                      <a:r>
                        <a:rPr sz="2400" b="1" dirty="0">
                          <a:solidFill>
                            <a:srgbClr val="FFFFFF"/>
                          </a:solidFill>
                          <a:latin typeface="微软雅黑"/>
                          <a:cs typeface="微软雅黑"/>
                        </a:rPr>
                        <a:t>L_</a:t>
                      </a:r>
                      <a:r>
                        <a:rPr sz="2400" b="1" spc="-65" dirty="0">
                          <a:solidFill>
                            <a:srgbClr val="FFFFFF"/>
                          </a:solidFill>
                          <a:latin typeface="微软雅黑"/>
                          <a:cs typeface="微软雅黑"/>
                        </a:rPr>
                        <a:t>U</a:t>
                      </a:r>
                      <a:r>
                        <a:rPr sz="2400" b="1" dirty="0">
                          <a:solidFill>
                            <a:srgbClr val="FFFFFF"/>
                          </a:solidFill>
                          <a:latin typeface="微软雅黑"/>
                          <a:cs typeface="微软雅黑"/>
                        </a:rPr>
                        <a:t>A</a:t>
                      </a:r>
                      <a:r>
                        <a:rPr sz="2400" b="1" spc="-50" dirty="0">
                          <a:solidFill>
                            <a:srgbClr val="FFFFFF"/>
                          </a:solidFill>
                          <a:latin typeface="微软雅黑"/>
                          <a:cs typeface="微软雅黑"/>
                        </a:rPr>
                        <a:t>R</a:t>
                      </a:r>
                      <a:r>
                        <a:rPr sz="2400" b="1" spc="-5" dirty="0">
                          <a:solidFill>
                            <a:srgbClr val="FFFFFF"/>
                          </a:solidFill>
                          <a:latin typeface="微软雅黑"/>
                          <a:cs typeface="微软雅黑"/>
                        </a:rPr>
                        <a:t>T_</a:t>
                      </a:r>
                      <a:r>
                        <a:rPr sz="2400" b="1" spc="-55" dirty="0">
                          <a:solidFill>
                            <a:srgbClr val="FFFFFF"/>
                          </a:solidFill>
                          <a:latin typeface="微软雅黑"/>
                          <a:cs typeface="微软雅黑"/>
                        </a:rPr>
                        <a:t>R</a:t>
                      </a:r>
                      <a:r>
                        <a:rPr sz="2400" b="1" dirty="0">
                          <a:solidFill>
                            <a:srgbClr val="FFFFFF"/>
                          </a:solidFill>
                          <a:latin typeface="微软雅黑"/>
                          <a:cs typeface="微软雅黑"/>
                        </a:rPr>
                        <a:t>e</a:t>
                      </a:r>
                      <a:r>
                        <a:rPr sz="2400" b="1" spc="-10" dirty="0">
                          <a:solidFill>
                            <a:srgbClr val="FFFFFF"/>
                          </a:solidFill>
                          <a:latin typeface="微软雅黑"/>
                          <a:cs typeface="微软雅黑"/>
                        </a:rPr>
                        <a:t>c</a:t>
                      </a:r>
                      <a:r>
                        <a:rPr sz="2400" b="1" dirty="0">
                          <a:solidFill>
                            <a:srgbClr val="FFFFFF"/>
                          </a:solidFill>
                          <a:latin typeface="微软雅黑"/>
                          <a:cs typeface="微软雅黑"/>
                        </a:rPr>
                        <a:t>e</a:t>
                      </a:r>
                      <a:r>
                        <a:rPr sz="2400" b="1" spc="-10" dirty="0">
                          <a:solidFill>
                            <a:srgbClr val="FFFFFF"/>
                          </a:solidFill>
                          <a:latin typeface="微软雅黑"/>
                          <a:cs typeface="微软雅黑"/>
                        </a:rPr>
                        <a:t>i</a:t>
                      </a:r>
                      <a:r>
                        <a:rPr sz="2400" b="1" spc="-30" dirty="0">
                          <a:solidFill>
                            <a:srgbClr val="FFFFFF"/>
                          </a:solidFill>
                          <a:latin typeface="微软雅黑"/>
                          <a:cs typeface="微软雅黑"/>
                        </a:rPr>
                        <a:t>v</a:t>
                      </a:r>
                      <a:r>
                        <a:rPr sz="2400" b="1" dirty="0">
                          <a:solidFill>
                            <a:srgbClr val="FFFFFF"/>
                          </a:solidFill>
                          <a:latin typeface="微软雅黑"/>
                          <a:cs typeface="微软雅黑"/>
                        </a:rPr>
                        <a:t>e_IT</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tc hMerge="1">
                  <a:txBody>
                    <a:bodyPr/>
                    <a:lstStyle/>
                    <a:p>
                      <a:endParaRPr/>
                    </a:p>
                  </a:txBody>
                  <a:tcPr marL="0" marR="0" marT="0" marB="0"/>
                </a:tc>
                <a:extLst>
                  <a:ext uri="{0D108BD9-81ED-4DB2-BD59-A6C34878D82A}">
                    <a16:rowId xmlns:a16="http://schemas.microsoft.com/office/drawing/2014/main" val="10000"/>
                  </a:ext>
                </a:extLst>
              </a:tr>
              <a:tr h="822325">
                <a:tc>
                  <a:txBody>
                    <a:bodyPr/>
                    <a:lstStyle/>
                    <a:p>
                      <a:pPr marL="282575">
                        <a:lnSpc>
                          <a:spcPct val="100000"/>
                        </a:lnSpc>
                      </a:pPr>
                      <a:r>
                        <a:rPr sz="2400" b="1" spc="-5" dirty="0">
                          <a:latin typeface="微软雅黑"/>
                          <a:cs typeface="微软雅黑"/>
                        </a:rPr>
                        <a:t>函数原型</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4610">
                        <a:lnSpc>
                          <a:spcPct val="100000"/>
                        </a:lnSpc>
                        <a:tabLst>
                          <a:tab pos="3246120" algn="l"/>
                        </a:tabLst>
                      </a:pPr>
                      <a:r>
                        <a:rPr sz="2400" b="1" spc="-5" dirty="0">
                          <a:latin typeface="微软雅黑"/>
                          <a:cs typeface="微软雅黑"/>
                        </a:rPr>
                        <a:t>H</a:t>
                      </a:r>
                      <a:r>
                        <a:rPr sz="2400" b="1" spc="-10" dirty="0">
                          <a:latin typeface="微软雅黑"/>
                          <a:cs typeface="微软雅黑"/>
                        </a:rPr>
                        <a:t>A</a:t>
                      </a:r>
                      <a:r>
                        <a:rPr sz="2400" b="1" dirty="0">
                          <a:latin typeface="微软雅黑"/>
                          <a:cs typeface="微软雅黑"/>
                        </a:rPr>
                        <a:t>L_</a:t>
                      </a:r>
                      <a:r>
                        <a:rPr sz="2400" b="1" spc="-80" dirty="0">
                          <a:latin typeface="微软雅黑"/>
                          <a:cs typeface="微软雅黑"/>
                        </a:rPr>
                        <a:t>S</a:t>
                      </a:r>
                      <a:r>
                        <a:rPr sz="2400" b="1" spc="-5" dirty="0">
                          <a:latin typeface="微软雅黑"/>
                          <a:cs typeface="微软雅黑"/>
                        </a:rPr>
                        <a:t>t</a:t>
                      </a:r>
                      <a:r>
                        <a:rPr sz="2400" b="1" spc="5" dirty="0">
                          <a:latin typeface="微软雅黑"/>
                          <a:cs typeface="微软雅黑"/>
                        </a:rPr>
                        <a:t>a</a:t>
                      </a:r>
                      <a:r>
                        <a:rPr sz="2400" b="1" spc="-5" dirty="0">
                          <a:latin typeface="微软雅黑"/>
                          <a:cs typeface="微软雅黑"/>
                        </a:rPr>
                        <a:t>t</a:t>
                      </a:r>
                      <a:r>
                        <a:rPr sz="2400" b="1" spc="5" dirty="0">
                          <a:latin typeface="微软雅黑"/>
                          <a:cs typeface="微软雅黑"/>
                        </a:rPr>
                        <a:t>u</a:t>
                      </a:r>
                      <a:r>
                        <a:rPr sz="2400" b="1" dirty="0">
                          <a:latin typeface="微软雅黑"/>
                          <a:cs typeface="微软雅黑"/>
                        </a:rPr>
                        <a:t>s</a:t>
                      </a:r>
                      <a:r>
                        <a:rPr sz="2400" b="1" spc="-120" dirty="0">
                          <a:latin typeface="微软雅黑"/>
                          <a:cs typeface="微软雅黑"/>
                        </a:rPr>
                        <a:t>T</a:t>
                      </a:r>
                      <a:r>
                        <a:rPr sz="2400" b="1" spc="-5" dirty="0">
                          <a:latin typeface="微软雅黑"/>
                          <a:cs typeface="微软雅黑"/>
                        </a:rPr>
                        <a:t>ype</a:t>
                      </a:r>
                      <a:r>
                        <a:rPr sz="2400" b="1" spc="-10" dirty="0">
                          <a:latin typeface="微软雅黑"/>
                          <a:cs typeface="微软雅黑"/>
                        </a:rPr>
                        <a:t>D</a:t>
                      </a:r>
                      <a:r>
                        <a:rPr sz="2400" b="1" dirty="0">
                          <a:latin typeface="微软雅黑"/>
                          <a:cs typeface="微软雅黑"/>
                        </a:rPr>
                        <a:t>ef	</a:t>
                      </a:r>
                      <a:r>
                        <a:rPr sz="2400" b="1" spc="-5" dirty="0">
                          <a:latin typeface="微软雅黑"/>
                          <a:cs typeface="微软雅黑"/>
                        </a:rPr>
                        <a:t>H</a:t>
                      </a:r>
                      <a:r>
                        <a:rPr sz="2400" b="1" spc="-10" dirty="0">
                          <a:latin typeface="微软雅黑"/>
                          <a:cs typeface="微软雅黑"/>
                        </a:rPr>
                        <a:t>A</a:t>
                      </a:r>
                      <a:r>
                        <a:rPr sz="2400" b="1" dirty="0">
                          <a:latin typeface="微软雅黑"/>
                          <a:cs typeface="微软雅黑"/>
                        </a:rPr>
                        <a:t>L_</a:t>
                      </a:r>
                      <a:r>
                        <a:rPr sz="2400" b="1" spc="-65" dirty="0">
                          <a:latin typeface="微软雅黑"/>
                          <a:cs typeface="微软雅黑"/>
                        </a:rPr>
                        <a:t>U</a:t>
                      </a:r>
                      <a:r>
                        <a:rPr sz="2400" b="1" dirty="0">
                          <a:latin typeface="微软雅黑"/>
                          <a:cs typeface="微软雅黑"/>
                        </a:rPr>
                        <a:t>A</a:t>
                      </a:r>
                      <a:r>
                        <a:rPr sz="2400" b="1" spc="-50" dirty="0">
                          <a:latin typeface="微软雅黑"/>
                          <a:cs typeface="微软雅黑"/>
                        </a:rPr>
                        <a:t>R</a:t>
                      </a:r>
                      <a:r>
                        <a:rPr sz="2400" b="1" spc="-5" dirty="0">
                          <a:latin typeface="微软雅黑"/>
                          <a:cs typeface="微软雅黑"/>
                        </a:rPr>
                        <a:t>T_</a:t>
                      </a:r>
                      <a:r>
                        <a:rPr sz="2400" b="1" spc="-55" dirty="0">
                          <a:latin typeface="微软雅黑"/>
                          <a:cs typeface="微软雅黑"/>
                        </a:rPr>
                        <a:t>R</a:t>
                      </a:r>
                      <a:r>
                        <a:rPr sz="2400" b="1" dirty="0">
                          <a:latin typeface="微软雅黑"/>
                          <a:cs typeface="微软雅黑"/>
                        </a:rPr>
                        <a:t>e</a:t>
                      </a:r>
                      <a:r>
                        <a:rPr sz="2400" b="1" spc="-10" dirty="0">
                          <a:latin typeface="微软雅黑"/>
                          <a:cs typeface="微软雅黑"/>
                        </a:rPr>
                        <a:t>c</a:t>
                      </a:r>
                      <a:r>
                        <a:rPr sz="2400" b="1" dirty="0">
                          <a:latin typeface="微软雅黑"/>
                          <a:cs typeface="微软雅黑"/>
                        </a:rPr>
                        <a:t>e</a:t>
                      </a:r>
                      <a:r>
                        <a:rPr sz="2400" b="1" spc="-10" dirty="0">
                          <a:latin typeface="微软雅黑"/>
                          <a:cs typeface="微软雅黑"/>
                        </a:rPr>
                        <a:t>i</a:t>
                      </a:r>
                      <a:r>
                        <a:rPr sz="2400" b="1" spc="-30" dirty="0">
                          <a:latin typeface="微软雅黑"/>
                          <a:cs typeface="微软雅黑"/>
                        </a:rPr>
                        <a:t>v</a:t>
                      </a:r>
                      <a:r>
                        <a:rPr sz="2400" b="1" dirty="0">
                          <a:latin typeface="微软雅黑"/>
                          <a:cs typeface="微软雅黑"/>
                        </a:rPr>
                        <a:t>e_IT</a:t>
                      </a:r>
                      <a:endParaRPr sz="2400">
                        <a:latin typeface="微软雅黑"/>
                        <a:cs typeface="微软雅黑"/>
                      </a:endParaRPr>
                    </a:p>
                    <a:p>
                      <a:pPr marL="54610">
                        <a:lnSpc>
                          <a:spcPct val="100000"/>
                        </a:lnSpc>
                        <a:tabLst>
                          <a:tab pos="4878705" algn="l"/>
                          <a:tab pos="7371715" algn="l"/>
                        </a:tabLst>
                      </a:pPr>
                      <a:r>
                        <a:rPr sz="2400" b="1" dirty="0">
                          <a:latin typeface="微软雅黑"/>
                          <a:cs typeface="微软雅黑"/>
                        </a:rPr>
                        <a:t>(</a:t>
                      </a:r>
                      <a:r>
                        <a:rPr sz="2400" b="1" spc="-70" dirty="0">
                          <a:latin typeface="微软雅黑"/>
                          <a:cs typeface="微软雅黑"/>
                        </a:rPr>
                        <a:t>U</a:t>
                      </a:r>
                      <a:r>
                        <a:rPr sz="2400" b="1" dirty="0">
                          <a:latin typeface="微软雅黑"/>
                          <a:cs typeface="微软雅黑"/>
                        </a:rPr>
                        <a:t>A</a:t>
                      </a:r>
                      <a:r>
                        <a:rPr sz="2400" b="1" spc="-55" dirty="0">
                          <a:latin typeface="微软雅黑"/>
                          <a:cs typeface="微软雅黑"/>
                        </a:rPr>
                        <a:t>R</a:t>
                      </a:r>
                      <a:r>
                        <a:rPr sz="2400" b="1" spc="-5" dirty="0">
                          <a:latin typeface="微软雅黑"/>
                          <a:cs typeface="微软雅黑"/>
                        </a:rPr>
                        <a:t>T_Handle</a:t>
                      </a:r>
                      <a:r>
                        <a:rPr sz="2400" b="1" spc="-120" dirty="0">
                          <a:latin typeface="微软雅黑"/>
                          <a:cs typeface="微软雅黑"/>
                        </a:rPr>
                        <a:t>T</a:t>
                      </a:r>
                      <a:r>
                        <a:rPr sz="2400" b="1" spc="-5" dirty="0">
                          <a:latin typeface="微软雅黑"/>
                          <a:cs typeface="微软雅黑"/>
                        </a:rPr>
                        <a:t>yp</a:t>
                      </a:r>
                      <a:r>
                        <a:rPr sz="2400" b="1" spc="-10" dirty="0">
                          <a:latin typeface="微软雅黑"/>
                          <a:cs typeface="微软雅黑"/>
                        </a:rPr>
                        <a:t>e</a:t>
                      </a:r>
                      <a:r>
                        <a:rPr sz="2400" b="1" dirty="0">
                          <a:latin typeface="微软雅黑"/>
                          <a:cs typeface="微软雅黑"/>
                        </a:rPr>
                        <a:t>D</a:t>
                      </a:r>
                      <a:r>
                        <a:rPr sz="2400" b="1" spc="-15" dirty="0">
                          <a:latin typeface="微软雅黑"/>
                          <a:cs typeface="微软雅黑"/>
                        </a:rPr>
                        <a:t>e</a:t>
                      </a:r>
                      <a:r>
                        <a:rPr sz="2400" b="1" dirty="0">
                          <a:latin typeface="微软雅黑"/>
                          <a:cs typeface="微软雅黑"/>
                        </a:rPr>
                        <a:t>f</a:t>
                      </a:r>
                      <a:r>
                        <a:rPr sz="2400" b="1" spc="25" dirty="0">
                          <a:latin typeface="微软雅黑"/>
                          <a:cs typeface="微软雅黑"/>
                        </a:rPr>
                        <a:t> </a:t>
                      </a:r>
                      <a:r>
                        <a:rPr sz="2400" b="1" spc="-10" dirty="0">
                          <a:latin typeface="微软雅黑"/>
                          <a:cs typeface="微软雅黑"/>
                        </a:rPr>
                        <a:t>*</a:t>
                      </a:r>
                      <a:r>
                        <a:rPr sz="2400" b="1" dirty="0">
                          <a:latin typeface="微软雅黑"/>
                          <a:cs typeface="微软雅黑"/>
                        </a:rPr>
                        <a:t>hua</a:t>
                      </a:r>
                      <a:r>
                        <a:rPr sz="2400" b="1" spc="70" dirty="0">
                          <a:latin typeface="微软雅黑"/>
                          <a:cs typeface="微软雅黑"/>
                        </a:rPr>
                        <a:t>r</a:t>
                      </a:r>
                      <a:r>
                        <a:rPr sz="2400" b="1" spc="5" dirty="0">
                          <a:latin typeface="微软雅黑"/>
                          <a:cs typeface="微软雅黑"/>
                        </a:rPr>
                        <a:t>t</a:t>
                      </a:r>
                      <a:r>
                        <a:rPr sz="2400" b="1" dirty="0">
                          <a:latin typeface="微软雅黑"/>
                          <a:cs typeface="微软雅黑"/>
                        </a:rPr>
                        <a:t>,	uint</a:t>
                      </a:r>
                      <a:r>
                        <a:rPr sz="2400" b="1" spc="-10" dirty="0">
                          <a:latin typeface="微软雅黑"/>
                          <a:cs typeface="微软雅黑"/>
                        </a:rPr>
                        <a:t>8</a:t>
                      </a:r>
                      <a:r>
                        <a:rPr sz="2400" b="1" dirty="0">
                          <a:latin typeface="微软雅黑"/>
                          <a:cs typeface="微软雅黑"/>
                        </a:rPr>
                        <a:t>_t</a:t>
                      </a:r>
                      <a:r>
                        <a:rPr sz="2400" b="1" spc="-20" dirty="0">
                          <a:latin typeface="微软雅黑"/>
                          <a:cs typeface="微软雅黑"/>
                        </a:rPr>
                        <a:t> </a:t>
                      </a:r>
                      <a:r>
                        <a:rPr sz="2400" b="1" spc="-5" dirty="0">
                          <a:latin typeface="微软雅黑"/>
                          <a:cs typeface="微软雅黑"/>
                        </a:rPr>
                        <a:t>*</a:t>
                      </a:r>
                      <a:r>
                        <a:rPr sz="2400" b="1" dirty="0">
                          <a:latin typeface="微软雅黑"/>
                          <a:cs typeface="微软雅黑"/>
                        </a:rPr>
                        <a:t>p</a:t>
                      </a:r>
                      <a:r>
                        <a:rPr sz="2400" b="1" spc="-10" dirty="0">
                          <a:latin typeface="微软雅黑"/>
                          <a:cs typeface="微软雅黑"/>
                        </a:rPr>
                        <a:t>D</a:t>
                      </a:r>
                      <a:r>
                        <a:rPr sz="2400" b="1" dirty="0">
                          <a:latin typeface="微软雅黑"/>
                          <a:cs typeface="微软雅黑"/>
                        </a:rPr>
                        <a:t>at</a:t>
                      </a:r>
                      <a:r>
                        <a:rPr sz="2400" b="1" spc="5" dirty="0">
                          <a:latin typeface="微软雅黑"/>
                          <a:cs typeface="微软雅黑"/>
                        </a:rPr>
                        <a:t>a</a:t>
                      </a:r>
                      <a:r>
                        <a:rPr sz="2400" b="1" dirty="0">
                          <a:latin typeface="微软雅黑"/>
                          <a:cs typeface="微软雅黑"/>
                        </a:rPr>
                        <a:t>,	uint</a:t>
                      </a:r>
                      <a:r>
                        <a:rPr sz="2400" b="1" spc="-10" dirty="0">
                          <a:latin typeface="微软雅黑"/>
                          <a:cs typeface="微软雅黑"/>
                        </a:rPr>
                        <a:t>1</a:t>
                      </a:r>
                      <a:r>
                        <a:rPr sz="2400" b="1" spc="-5" dirty="0">
                          <a:latin typeface="微软雅黑"/>
                          <a:cs typeface="微软雅黑"/>
                        </a:rPr>
                        <a:t>6</a:t>
                      </a:r>
                      <a:r>
                        <a:rPr sz="2400" b="1" dirty="0">
                          <a:latin typeface="微软雅黑"/>
                          <a:cs typeface="微软雅黑"/>
                        </a:rPr>
                        <a:t>_t</a:t>
                      </a:r>
                      <a:r>
                        <a:rPr sz="2400" b="1" spc="-20" dirty="0">
                          <a:latin typeface="微软雅黑"/>
                          <a:cs typeface="微软雅黑"/>
                        </a:rPr>
                        <a:t> </a:t>
                      </a:r>
                      <a:r>
                        <a:rPr sz="2400" b="1" dirty="0">
                          <a:latin typeface="微软雅黑"/>
                          <a:cs typeface="微软雅黑"/>
                        </a:rPr>
                        <a:t>S</a:t>
                      </a:r>
                      <a:r>
                        <a:rPr sz="2400" b="1" spc="-10" dirty="0">
                          <a:latin typeface="微软雅黑"/>
                          <a:cs typeface="微软雅黑"/>
                        </a:rPr>
                        <a:t>i</a:t>
                      </a:r>
                      <a:r>
                        <a:rPr sz="2400" b="1" dirty="0">
                          <a:latin typeface="微软雅黑"/>
                          <a:cs typeface="微软雅黑"/>
                        </a:rPr>
                        <a:t>ze)</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1"/>
                  </a:ext>
                </a:extLst>
              </a:tr>
              <a:tr h="411099">
                <a:tc>
                  <a:txBody>
                    <a:bodyPr/>
                    <a:lstStyle/>
                    <a:p>
                      <a:pPr marL="282575">
                        <a:lnSpc>
                          <a:spcPct val="100000"/>
                        </a:lnSpc>
                      </a:pPr>
                      <a:r>
                        <a:rPr sz="2400" b="1" dirty="0">
                          <a:latin typeface="微软雅黑"/>
                          <a:cs typeface="微软雅黑"/>
                        </a:rPr>
                        <a:t>功能描述</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4610">
                        <a:lnSpc>
                          <a:spcPct val="100000"/>
                        </a:lnSpc>
                        <a:tabLst>
                          <a:tab pos="6915150" algn="l"/>
                        </a:tabLst>
                      </a:pPr>
                      <a:r>
                        <a:rPr sz="2400" b="1" dirty="0">
                          <a:latin typeface="微软雅黑"/>
                          <a:cs typeface="微软雅黑"/>
                        </a:rPr>
                        <a:t>在中断方式下接收一定数量的数据	</a:t>
                      </a:r>
                      <a:r>
                        <a:rPr sz="3600" b="1" spc="7" baseline="-11574" dirty="0">
                          <a:solidFill>
                            <a:srgbClr val="FF0000"/>
                          </a:solidFill>
                          <a:latin typeface="Microsoft JhengHei"/>
                          <a:cs typeface="Microsoft JhengHei"/>
                        </a:rPr>
                        <a:t>接收过程</a:t>
                      </a:r>
                      <a:endParaRPr sz="3600" baseline="-11574" dirty="0">
                        <a:latin typeface="Microsoft JhengHei"/>
                        <a:cs typeface="Microsoft JhengHei"/>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r h="411099">
                <a:tc>
                  <a:txBody>
                    <a:bodyPr/>
                    <a:lstStyle/>
                    <a:p>
                      <a:pPr marL="187960">
                        <a:lnSpc>
                          <a:spcPct val="100000"/>
                        </a:lnSpc>
                      </a:pPr>
                      <a:r>
                        <a:rPr sz="2400" b="1" dirty="0">
                          <a:latin typeface="微软雅黑"/>
                          <a:cs typeface="微软雅黑"/>
                        </a:rPr>
                        <a:t>入口参数1</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4610">
                        <a:lnSpc>
                          <a:spcPts val="2725"/>
                        </a:lnSpc>
                        <a:tabLst>
                          <a:tab pos="5503545" algn="l"/>
                        </a:tabLst>
                      </a:pPr>
                      <a:r>
                        <a:rPr sz="3600" b="1" baseline="6944" dirty="0">
                          <a:latin typeface="微软雅黑"/>
                          <a:cs typeface="微软雅黑"/>
                        </a:rPr>
                        <a:t>hua</a:t>
                      </a:r>
                      <a:r>
                        <a:rPr sz="3600" b="1" spc="104" baseline="6944" dirty="0">
                          <a:latin typeface="微软雅黑"/>
                          <a:cs typeface="微软雅黑"/>
                        </a:rPr>
                        <a:t>r</a:t>
                      </a:r>
                      <a:r>
                        <a:rPr sz="3600" b="1" baseline="6944" dirty="0">
                          <a:latin typeface="微软雅黑"/>
                          <a:cs typeface="微软雅黑"/>
                        </a:rPr>
                        <a:t>t</a:t>
                      </a:r>
                      <a:r>
                        <a:rPr sz="3600" b="1" spc="-22" baseline="6944" dirty="0">
                          <a:latin typeface="微软雅黑"/>
                          <a:cs typeface="微软雅黑"/>
                        </a:rPr>
                        <a:t> </a:t>
                      </a:r>
                      <a:r>
                        <a:rPr sz="3600" b="1" baseline="6944" dirty="0">
                          <a:latin typeface="微软雅黑"/>
                          <a:cs typeface="微软雅黑"/>
                        </a:rPr>
                        <a:t>：串口句柄的地址	</a:t>
                      </a:r>
                      <a:r>
                        <a:rPr sz="2400" b="1" spc="10" dirty="0">
                          <a:latin typeface="Microsoft JhengHei"/>
                          <a:cs typeface="Microsoft JhengHei"/>
                        </a:rPr>
                        <a:t>每接收一个数据进入一次中断，</a:t>
                      </a:r>
                      <a:endParaRPr sz="2400">
                        <a:latin typeface="Microsoft JhengHei"/>
                        <a:cs typeface="Microsoft JhengHei"/>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3"/>
                  </a:ext>
                </a:extLst>
              </a:tr>
              <a:tr h="411098">
                <a:tc>
                  <a:txBody>
                    <a:bodyPr/>
                    <a:lstStyle/>
                    <a:p>
                      <a:pPr marL="187960">
                        <a:lnSpc>
                          <a:spcPct val="100000"/>
                        </a:lnSpc>
                      </a:pPr>
                      <a:r>
                        <a:rPr sz="2400" b="1" dirty="0">
                          <a:latin typeface="微软雅黑"/>
                          <a:cs typeface="微软雅黑"/>
                        </a:rPr>
                        <a:t>入口参数2</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4610">
                        <a:lnSpc>
                          <a:spcPct val="100000"/>
                        </a:lnSpc>
                        <a:tabLst>
                          <a:tab pos="5503545" algn="l"/>
                        </a:tabLst>
                      </a:pPr>
                      <a:r>
                        <a:rPr sz="2400" b="1" dirty="0">
                          <a:latin typeface="微软雅黑"/>
                          <a:cs typeface="微软雅黑"/>
                        </a:rPr>
                        <a:t>p</a:t>
                      </a:r>
                      <a:r>
                        <a:rPr sz="2400" b="1" spc="-10" dirty="0">
                          <a:latin typeface="微软雅黑"/>
                          <a:cs typeface="微软雅黑"/>
                        </a:rPr>
                        <a:t>D</a:t>
                      </a:r>
                      <a:r>
                        <a:rPr sz="2400" b="1" dirty="0">
                          <a:latin typeface="微软雅黑"/>
                          <a:cs typeface="微软雅黑"/>
                        </a:rPr>
                        <a:t>at</a:t>
                      </a:r>
                      <a:r>
                        <a:rPr sz="2400" b="1" spc="5" dirty="0">
                          <a:latin typeface="微软雅黑"/>
                          <a:cs typeface="微软雅黑"/>
                        </a:rPr>
                        <a:t>a</a:t>
                      </a:r>
                      <a:r>
                        <a:rPr sz="2400" b="1" dirty="0">
                          <a:latin typeface="微软雅黑"/>
                          <a:cs typeface="微软雅黑"/>
                        </a:rPr>
                        <a:t>：存放接收数据的首地址	</a:t>
                      </a:r>
                      <a:r>
                        <a:rPr sz="3600" b="1" spc="15" baseline="1157" dirty="0">
                          <a:latin typeface="Microsoft JhengHei"/>
                          <a:cs typeface="Microsoft JhengHei"/>
                        </a:rPr>
                        <a:t>在中断中根据接收数据的个数</a:t>
                      </a:r>
                      <a:endParaRPr sz="3600" baseline="1157">
                        <a:latin typeface="Microsoft JhengHei"/>
                        <a:cs typeface="Microsoft JhengHei"/>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4"/>
                  </a:ext>
                </a:extLst>
              </a:tr>
              <a:tr h="411099">
                <a:tc>
                  <a:txBody>
                    <a:bodyPr/>
                    <a:lstStyle/>
                    <a:p>
                      <a:pPr marL="187960">
                        <a:lnSpc>
                          <a:spcPct val="100000"/>
                        </a:lnSpc>
                      </a:pPr>
                      <a:r>
                        <a:rPr sz="2400" b="1" spc="-5" dirty="0">
                          <a:latin typeface="微软雅黑"/>
                          <a:cs typeface="微软雅黑"/>
                        </a:rPr>
                        <a:t>入口参</a:t>
                      </a:r>
                      <a:r>
                        <a:rPr sz="2400" b="1" dirty="0">
                          <a:latin typeface="微软雅黑"/>
                          <a:cs typeface="微软雅黑"/>
                        </a:rPr>
                        <a:t>数3</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4610">
                        <a:lnSpc>
                          <a:spcPct val="100000"/>
                        </a:lnSpc>
                        <a:tabLst>
                          <a:tab pos="935355" algn="l"/>
                          <a:tab pos="5503545" algn="l"/>
                        </a:tabLst>
                      </a:pPr>
                      <a:r>
                        <a:rPr sz="2400" b="1" dirty="0">
                          <a:latin typeface="微软雅黑"/>
                          <a:cs typeface="微软雅黑"/>
                        </a:rPr>
                        <a:t>S</a:t>
                      </a:r>
                      <a:r>
                        <a:rPr sz="2400" b="1" spc="-10" dirty="0">
                          <a:latin typeface="微软雅黑"/>
                          <a:cs typeface="微软雅黑"/>
                        </a:rPr>
                        <a:t>i</a:t>
                      </a:r>
                      <a:r>
                        <a:rPr sz="2400" b="1" dirty="0">
                          <a:latin typeface="微软雅黑"/>
                          <a:cs typeface="微软雅黑"/>
                        </a:rPr>
                        <a:t>ze	</a:t>
                      </a:r>
                      <a:r>
                        <a:rPr sz="2400" b="1" spc="-5" dirty="0">
                          <a:latin typeface="微软雅黑"/>
                          <a:cs typeface="微软雅黑"/>
                        </a:rPr>
                        <a:t>：待接收数据的个</a:t>
                      </a:r>
                      <a:r>
                        <a:rPr sz="2400" b="1" dirty="0">
                          <a:latin typeface="微软雅黑"/>
                          <a:cs typeface="微软雅黑"/>
                        </a:rPr>
                        <a:t>数	</a:t>
                      </a:r>
                      <a:r>
                        <a:rPr sz="3600" b="1" spc="15" baseline="12731" dirty="0">
                          <a:latin typeface="Microsoft JhengHei"/>
                          <a:cs typeface="Microsoft JhengHei"/>
                        </a:rPr>
                        <a:t>来判断数据是否接收完成</a:t>
                      </a:r>
                      <a:endParaRPr sz="3600" baseline="12731">
                        <a:latin typeface="Microsoft JhengHei"/>
                        <a:cs typeface="Microsoft JhengHei"/>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5"/>
                  </a:ext>
                </a:extLst>
              </a:tr>
              <a:tr h="822198">
                <a:tc>
                  <a:txBody>
                    <a:bodyPr/>
                    <a:lstStyle/>
                    <a:p>
                      <a:pPr marL="434975">
                        <a:lnSpc>
                          <a:spcPct val="100000"/>
                        </a:lnSpc>
                      </a:pPr>
                      <a:r>
                        <a:rPr sz="2400" b="1" dirty="0">
                          <a:latin typeface="微软雅黑"/>
                          <a:cs typeface="微软雅黑"/>
                        </a:rPr>
                        <a:t>返回值</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4610" marR="718185">
                        <a:lnSpc>
                          <a:spcPct val="100000"/>
                        </a:lnSpc>
                      </a:pPr>
                      <a:r>
                        <a:rPr sz="2400" b="1" spc="-5" dirty="0">
                          <a:latin typeface="微软雅黑"/>
                          <a:cs typeface="微软雅黑"/>
                        </a:rPr>
                        <a:t>H</a:t>
                      </a:r>
                      <a:r>
                        <a:rPr sz="2400" b="1" spc="-10" dirty="0">
                          <a:latin typeface="微软雅黑"/>
                          <a:cs typeface="微软雅黑"/>
                        </a:rPr>
                        <a:t>A</a:t>
                      </a:r>
                      <a:r>
                        <a:rPr sz="2400" b="1" spc="-5" dirty="0">
                          <a:latin typeface="微软雅黑"/>
                          <a:cs typeface="微软雅黑"/>
                        </a:rPr>
                        <a:t>L</a:t>
                      </a:r>
                      <a:r>
                        <a:rPr sz="2400" b="1" dirty="0">
                          <a:latin typeface="微软雅黑"/>
                          <a:cs typeface="微软雅黑"/>
                        </a:rPr>
                        <a:t>状态值：</a:t>
                      </a:r>
                      <a:r>
                        <a:rPr sz="2400" b="1" spc="-5" dirty="0">
                          <a:latin typeface="微软雅黑"/>
                          <a:cs typeface="微软雅黑"/>
                        </a:rPr>
                        <a:t>H</a:t>
                      </a:r>
                      <a:r>
                        <a:rPr sz="2400" b="1" spc="-10" dirty="0">
                          <a:latin typeface="微软雅黑"/>
                          <a:cs typeface="微软雅黑"/>
                        </a:rPr>
                        <a:t>A</a:t>
                      </a:r>
                      <a:r>
                        <a:rPr sz="2400" b="1" dirty="0">
                          <a:latin typeface="微软雅黑"/>
                          <a:cs typeface="微软雅黑"/>
                        </a:rPr>
                        <a:t>L_O</a:t>
                      </a:r>
                      <a:r>
                        <a:rPr sz="2400" b="1" spc="5" dirty="0">
                          <a:latin typeface="微软雅黑"/>
                          <a:cs typeface="微软雅黑"/>
                        </a:rPr>
                        <a:t>K</a:t>
                      </a:r>
                      <a:r>
                        <a:rPr sz="2400" b="1" dirty="0">
                          <a:latin typeface="微软雅黑"/>
                          <a:cs typeface="微软雅黑"/>
                        </a:rPr>
                        <a:t>表示接收成功；</a:t>
                      </a:r>
                      <a:r>
                        <a:rPr sz="2400" b="1" spc="-5" dirty="0">
                          <a:latin typeface="微软雅黑"/>
                          <a:cs typeface="微软雅黑"/>
                        </a:rPr>
                        <a:t>H</a:t>
                      </a:r>
                      <a:r>
                        <a:rPr sz="2400" b="1" spc="-10" dirty="0">
                          <a:latin typeface="微软雅黑"/>
                          <a:cs typeface="微软雅黑"/>
                        </a:rPr>
                        <a:t>A</a:t>
                      </a:r>
                      <a:r>
                        <a:rPr sz="2400" b="1" dirty="0">
                          <a:latin typeface="微软雅黑"/>
                          <a:cs typeface="微软雅黑"/>
                        </a:rPr>
                        <a:t>L_ER</a:t>
                      </a:r>
                      <a:r>
                        <a:rPr sz="2400" b="1" spc="-25" dirty="0">
                          <a:latin typeface="微软雅黑"/>
                          <a:cs typeface="微软雅黑"/>
                        </a:rPr>
                        <a:t>R</a:t>
                      </a:r>
                      <a:r>
                        <a:rPr sz="2400" b="1" spc="-5" dirty="0">
                          <a:latin typeface="微软雅黑"/>
                          <a:cs typeface="微软雅黑"/>
                        </a:rPr>
                        <a:t>O</a:t>
                      </a:r>
                      <a:r>
                        <a:rPr sz="2400" b="1" spc="10" dirty="0">
                          <a:latin typeface="微软雅黑"/>
                          <a:cs typeface="微软雅黑"/>
                        </a:rPr>
                        <a:t>R</a:t>
                      </a:r>
                      <a:r>
                        <a:rPr sz="2400" b="1" dirty="0">
                          <a:latin typeface="微软雅黑"/>
                          <a:cs typeface="微软雅黑"/>
                        </a:rPr>
                        <a:t>表示参数错误； </a:t>
                      </a:r>
                      <a:r>
                        <a:rPr sz="2400" b="1" spc="-5" dirty="0">
                          <a:latin typeface="微软雅黑"/>
                          <a:cs typeface="微软雅黑"/>
                        </a:rPr>
                        <a:t>H</a:t>
                      </a:r>
                      <a:r>
                        <a:rPr sz="2400" b="1" spc="-10" dirty="0">
                          <a:latin typeface="微软雅黑"/>
                          <a:cs typeface="微软雅黑"/>
                        </a:rPr>
                        <a:t>A</a:t>
                      </a:r>
                      <a:r>
                        <a:rPr sz="2400" b="1" dirty="0">
                          <a:latin typeface="微软雅黑"/>
                          <a:cs typeface="微软雅黑"/>
                        </a:rPr>
                        <a:t>L_BUS</a:t>
                      </a:r>
                      <a:r>
                        <a:rPr sz="2400" b="1" spc="-5" dirty="0">
                          <a:latin typeface="微软雅黑"/>
                          <a:cs typeface="微软雅黑"/>
                        </a:rPr>
                        <a:t>Y</a:t>
                      </a:r>
                      <a:r>
                        <a:rPr sz="2400" b="1" dirty="0">
                          <a:latin typeface="微软雅黑"/>
                          <a:cs typeface="微软雅黑"/>
                        </a:rPr>
                        <a:t>表示串口被占用</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6"/>
                  </a:ext>
                </a:extLst>
              </a:tr>
              <a:tr h="2877807">
                <a:tc>
                  <a:txBody>
                    <a:bodyPr/>
                    <a:lstStyle/>
                    <a:p>
                      <a:pPr marL="282575">
                        <a:lnSpc>
                          <a:spcPct val="100000"/>
                        </a:lnSpc>
                      </a:pPr>
                      <a:r>
                        <a:rPr sz="2400" b="1" dirty="0">
                          <a:latin typeface="微软雅黑"/>
                          <a:cs typeface="微软雅黑"/>
                        </a:rPr>
                        <a:t>注意事项</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4610">
                        <a:lnSpc>
                          <a:spcPct val="100000"/>
                        </a:lnSpc>
                      </a:pPr>
                      <a:r>
                        <a:rPr sz="2400" b="1" dirty="0">
                          <a:latin typeface="微软雅黑"/>
                          <a:cs typeface="微软雅黑"/>
                        </a:rPr>
                        <a:t>1.</a:t>
                      </a:r>
                      <a:r>
                        <a:rPr sz="2400" b="1" spc="-5" dirty="0">
                          <a:latin typeface="微软雅黑"/>
                          <a:cs typeface="微软雅黑"/>
                        </a:rPr>
                        <a:t> </a:t>
                      </a:r>
                      <a:r>
                        <a:rPr sz="2400" b="1" dirty="0">
                          <a:latin typeface="微软雅黑"/>
                          <a:cs typeface="微软雅黑"/>
                        </a:rPr>
                        <a:t>函数将使能串口接收中断</a:t>
                      </a:r>
                      <a:endParaRPr sz="2400" dirty="0">
                        <a:latin typeface="微软雅黑"/>
                        <a:cs typeface="微软雅黑"/>
                      </a:endParaRPr>
                    </a:p>
                    <a:p>
                      <a:pPr marL="417195" marR="123825" indent="-363220" algn="just">
                        <a:lnSpc>
                          <a:spcPct val="100000"/>
                        </a:lnSpc>
                      </a:pPr>
                      <a:r>
                        <a:rPr sz="2400" b="1" dirty="0">
                          <a:latin typeface="微软雅黑"/>
                          <a:cs typeface="微软雅黑"/>
                        </a:rPr>
                        <a:t>2.</a:t>
                      </a:r>
                      <a:r>
                        <a:rPr sz="2400" b="1" spc="-5" dirty="0">
                          <a:latin typeface="微软雅黑"/>
                          <a:cs typeface="微软雅黑"/>
                        </a:rPr>
                        <a:t> 函数将置位RXNEI</a:t>
                      </a:r>
                      <a:r>
                        <a:rPr sz="2400" b="1" spc="-10" dirty="0">
                          <a:latin typeface="微软雅黑"/>
                          <a:cs typeface="微软雅黑"/>
                        </a:rPr>
                        <a:t>E</a:t>
                      </a:r>
                      <a:r>
                        <a:rPr sz="2400" b="1" spc="-5" dirty="0">
                          <a:latin typeface="微软雅黑"/>
                          <a:cs typeface="微软雅黑"/>
                        </a:rPr>
                        <a:t>，使能接收数据寄存器非空中</a:t>
                      </a:r>
                      <a:r>
                        <a:rPr sz="2400" b="1" dirty="0">
                          <a:latin typeface="微软雅黑"/>
                          <a:cs typeface="微软雅黑"/>
                        </a:rPr>
                        <a:t>断</a:t>
                      </a:r>
                      <a:r>
                        <a:rPr sz="2400" b="1" spc="-5" dirty="0">
                          <a:latin typeface="微软雅黑"/>
                          <a:cs typeface="微软雅黑"/>
                        </a:rPr>
                        <a:t>RXNE</a:t>
                      </a:r>
                      <a:r>
                        <a:rPr sz="2400" b="1" dirty="0">
                          <a:latin typeface="微软雅黑"/>
                          <a:cs typeface="微软雅黑"/>
                        </a:rPr>
                        <a:t>。完成指定 数量的数据接收后，将会关闭接收中断，即清</a:t>
                      </a:r>
                      <a:r>
                        <a:rPr sz="2400" b="1" spc="5" dirty="0">
                          <a:latin typeface="微软雅黑"/>
                          <a:cs typeface="微软雅黑"/>
                        </a:rPr>
                        <a:t>零</a:t>
                      </a:r>
                      <a:r>
                        <a:rPr sz="2400" b="1" spc="-5" dirty="0">
                          <a:latin typeface="微软雅黑"/>
                          <a:cs typeface="微软雅黑"/>
                        </a:rPr>
                        <a:t>RX</a:t>
                      </a:r>
                      <a:r>
                        <a:rPr sz="2400" b="1" spc="5" dirty="0">
                          <a:latin typeface="微软雅黑"/>
                          <a:cs typeface="微软雅黑"/>
                        </a:rPr>
                        <a:t>N</a:t>
                      </a:r>
                      <a:r>
                        <a:rPr sz="2400" b="1" dirty="0">
                          <a:latin typeface="微软雅黑"/>
                          <a:cs typeface="微软雅黑"/>
                        </a:rPr>
                        <a:t>EI</a:t>
                      </a:r>
                      <a:r>
                        <a:rPr sz="2400" b="1" spc="-10" dirty="0">
                          <a:latin typeface="微软雅黑"/>
                          <a:cs typeface="微软雅黑"/>
                        </a:rPr>
                        <a:t>E</a:t>
                      </a:r>
                      <a:r>
                        <a:rPr sz="2400" b="1" dirty="0">
                          <a:latin typeface="微软雅黑"/>
                          <a:cs typeface="微软雅黑"/>
                        </a:rPr>
                        <a:t>。因此用户采 用中断方式连续接收数据时，要重复调用该函数，以重新开启接收中断</a:t>
                      </a:r>
                      <a:endParaRPr sz="2400" dirty="0">
                        <a:latin typeface="微软雅黑"/>
                        <a:cs typeface="微软雅黑"/>
                      </a:endParaRPr>
                    </a:p>
                    <a:p>
                      <a:pPr marL="54610">
                        <a:lnSpc>
                          <a:spcPct val="100000"/>
                        </a:lnSpc>
                      </a:pPr>
                      <a:r>
                        <a:rPr sz="2400" b="1" dirty="0">
                          <a:latin typeface="微软雅黑"/>
                          <a:cs typeface="微软雅黑"/>
                        </a:rPr>
                        <a:t>3.</a:t>
                      </a:r>
                      <a:r>
                        <a:rPr sz="2400" b="1" spc="-5" dirty="0">
                          <a:latin typeface="微软雅黑"/>
                          <a:cs typeface="微软雅黑"/>
                        </a:rPr>
                        <a:t> </a:t>
                      </a:r>
                      <a:r>
                        <a:rPr sz="2400" b="1" dirty="0">
                          <a:latin typeface="微软雅黑"/>
                          <a:cs typeface="微软雅黑"/>
                        </a:rPr>
                        <a:t>当指定数量的数据接收完成后，将调用接收中断回调函数</a:t>
                      </a:r>
                      <a:endParaRPr sz="2400" dirty="0">
                        <a:latin typeface="微软雅黑"/>
                        <a:cs typeface="微软雅黑"/>
                      </a:endParaRPr>
                    </a:p>
                    <a:p>
                      <a:pPr marL="417195">
                        <a:lnSpc>
                          <a:spcPct val="100000"/>
                        </a:lnSpc>
                      </a:pPr>
                      <a:r>
                        <a:rPr sz="2400" b="1" spc="-5" dirty="0">
                          <a:latin typeface="微软雅黑"/>
                          <a:cs typeface="微软雅黑"/>
                        </a:rPr>
                        <a:t>H</a:t>
                      </a:r>
                      <a:r>
                        <a:rPr sz="2400" b="1" spc="-15" dirty="0">
                          <a:latin typeface="微软雅黑"/>
                          <a:cs typeface="微软雅黑"/>
                        </a:rPr>
                        <a:t>A</a:t>
                      </a:r>
                      <a:r>
                        <a:rPr sz="2400" b="1" dirty="0">
                          <a:latin typeface="微软雅黑"/>
                          <a:cs typeface="微软雅黑"/>
                        </a:rPr>
                        <a:t>L_</a:t>
                      </a:r>
                      <a:r>
                        <a:rPr sz="2400" b="1" spc="-70" dirty="0">
                          <a:latin typeface="微软雅黑"/>
                          <a:cs typeface="微软雅黑"/>
                        </a:rPr>
                        <a:t>U</a:t>
                      </a:r>
                      <a:r>
                        <a:rPr sz="2400" b="1" dirty="0">
                          <a:latin typeface="微软雅黑"/>
                          <a:cs typeface="微软雅黑"/>
                        </a:rPr>
                        <a:t>A</a:t>
                      </a:r>
                      <a:r>
                        <a:rPr sz="2400" b="1" spc="-55" dirty="0">
                          <a:latin typeface="微软雅黑"/>
                          <a:cs typeface="微软雅黑"/>
                        </a:rPr>
                        <a:t>R</a:t>
                      </a:r>
                      <a:r>
                        <a:rPr sz="2400" b="1" spc="-5" dirty="0">
                          <a:latin typeface="微软雅黑"/>
                          <a:cs typeface="微软雅黑"/>
                        </a:rPr>
                        <a:t>T_RxCpltC</a:t>
                      </a:r>
                      <a:r>
                        <a:rPr sz="2400" b="1" spc="10" dirty="0">
                          <a:latin typeface="微软雅黑"/>
                          <a:cs typeface="微软雅黑"/>
                        </a:rPr>
                        <a:t>a</a:t>
                      </a:r>
                      <a:r>
                        <a:rPr sz="2400" b="1" dirty="0">
                          <a:latin typeface="微软雅黑"/>
                          <a:cs typeface="微软雅黑"/>
                        </a:rPr>
                        <a:t>ll</a:t>
                      </a:r>
                      <a:r>
                        <a:rPr sz="2400" b="1" spc="-35" dirty="0">
                          <a:latin typeface="微软雅黑"/>
                          <a:cs typeface="微软雅黑"/>
                        </a:rPr>
                        <a:t>b</a:t>
                      </a:r>
                      <a:r>
                        <a:rPr sz="2400" b="1" dirty="0">
                          <a:latin typeface="微软雅黑"/>
                          <a:cs typeface="微软雅黑"/>
                        </a:rPr>
                        <a:t>ack</a:t>
                      </a:r>
                      <a:r>
                        <a:rPr sz="2400" b="1" spc="-5" dirty="0">
                          <a:latin typeface="微软雅黑"/>
                          <a:cs typeface="微软雅黑"/>
                        </a:rPr>
                        <a:t>进行后续处理</a:t>
                      </a:r>
                      <a:endParaRPr sz="2400" dirty="0">
                        <a:latin typeface="微软雅黑"/>
                        <a:cs typeface="微软雅黑"/>
                      </a:endParaRPr>
                    </a:p>
                    <a:p>
                      <a:pPr marL="54610">
                        <a:lnSpc>
                          <a:spcPct val="100000"/>
                        </a:lnSpc>
                      </a:pPr>
                      <a:r>
                        <a:rPr sz="2400" b="1" dirty="0">
                          <a:latin typeface="微软雅黑"/>
                          <a:cs typeface="微软雅黑"/>
                        </a:rPr>
                        <a:t>4.</a:t>
                      </a:r>
                      <a:r>
                        <a:rPr sz="2400" b="1" spc="-5" dirty="0">
                          <a:latin typeface="微软雅黑"/>
                          <a:cs typeface="微软雅黑"/>
                        </a:rPr>
                        <a:t> </a:t>
                      </a:r>
                      <a:r>
                        <a:rPr sz="2400" b="1" dirty="0">
                          <a:latin typeface="微软雅黑"/>
                          <a:cs typeface="微软雅黑"/>
                        </a:rPr>
                        <a:t>该函数由用户调用</a:t>
                      </a:r>
                      <a:endParaRPr sz="2400" dirty="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59537151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3" name="object 3"/>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4" name="object 4"/>
          <p:cNvSpPr txBox="1">
            <a:spLocks noGrp="1"/>
          </p:cNvSpPr>
          <p:nvPr>
            <p:ph type="title"/>
          </p:nvPr>
        </p:nvSpPr>
        <p:spPr>
          <a:xfrm>
            <a:off x="2385441" y="389881"/>
            <a:ext cx="668655" cy="254000"/>
          </a:xfrm>
          <a:prstGeom prst="rect">
            <a:avLst/>
          </a:prstGeom>
        </p:spPr>
        <p:txBody>
          <a:bodyPr vert="horz" wrap="square" lIns="0" tIns="0" rIns="0" bIns="0" rtlCol="0">
            <a:spAutoFit/>
          </a:bodyPr>
          <a:lstStyle/>
          <a:p>
            <a:pPr marL="12700">
              <a:lnSpc>
                <a:spcPct val="100000"/>
              </a:lnSpc>
            </a:pPr>
            <a:r>
              <a:rPr sz="1800" spc="-45" dirty="0">
                <a:latin typeface="微软雅黑"/>
                <a:cs typeface="微软雅黑"/>
              </a:rPr>
              <a:t>U</a:t>
            </a:r>
            <a:r>
              <a:rPr sz="1800" dirty="0">
                <a:latin typeface="微软雅黑"/>
                <a:cs typeface="微软雅黑"/>
              </a:rPr>
              <a:t>A</a:t>
            </a:r>
            <a:r>
              <a:rPr sz="1800" spc="-35" dirty="0">
                <a:latin typeface="微软雅黑"/>
                <a:cs typeface="微软雅黑"/>
              </a:rPr>
              <a:t>R</a:t>
            </a:r>
            <a:r>
              <a:rPr sz="1800" dirty="0">
                <a:latin typeface="微软雅黑"/>
                <a:cs typeface="微软雅黑"/>
              </a:rPr>
              <a:t>T</a:t>
            </a:r>
            <a:endParaRPr sz="1800">
              <a:latin typeface="微软雅黑"/>
              <a:cs typeface="微软雅黑"/>
            </a:endParaRPr>
          </a:p>
        </p:txBody>
      </p:sp>
      <p:sp>
        <p:nvSpPr>
          <p:cNvPr id="6" name="object 6"/>
          <p:cNvSpPr txBox="1"/>
          <p:nvPr/>
        </p:nvSpPr>
        <p:spPr>
          <a:xfrm>
            <a:off x="1840738" y="1120577"/>
            <a:ext cx="8514715" cy="381000"/>
          </a:xfrm>
          <a:prstGeom prst="rect">
            <a:avLst/>
          </a:prstGeom>
        </p:spPr>
        <p:txBody>
          <a:bodyPr vert="horz" wrap="square" lIns="0" tIns="0" rIns="0" bIns="0" rtlCol="0">
            <a:spAutoFit/>
          </a:bodyPr>
          <a:lstStyle/>
          <a:p>
            <a:pPr marL="12700">
              <a:lnSpc>
                <a:spcPct val="100000"/>
              </a:lnSpc>
              <a:tabLst>
                <a:tab pos="443865" algn="l"/>
              </a:tabLst>
            </a:pPr>
            <a:r>
              <a:rPr sz="2800" b="1" spc="-5" dirty="0">
                <a:latin typeface="微软雅黑"/>
                <a:cs typeface="微软雅黑"/>
              </a:rPr>
              <a:t>3	串口中断通用处理函数：</a:t>
            </a:r>
            <a:r>
              <a:rPr sz="2800" b="1" spc="-10" dirty="0">
                <a:latin typeface="微软雅黑"/>
                <a:cs typeface="微软雅黑"/>
              </a:rPr>
              <a:t>H</a:t>
            </a:r>
            <a:r>
              <a:rPr sz="2800" b="1" dirty="0">
                <a:latin typeface="微软雅黑"/>
                <a:cs typeface="微软雅黑"/>
              </a:rPr>
              <a:t>A</a:t>
            </a:r>
            <a:r>
              <a:rPr sz="2800" b="1" spc="-5" dirty="0">
                <a:latin typeface="微软雅黑"/>
                <a:cs typeface="微软雅黑"/>
              </a:rPr>
              <a:t>L_</a:t>
            </a:r>
            <a:r>
              <a:rPr sz="2800" b="1" spc="-70" dirty="0">
                <a:latin typeface="微软雅黑"/>
                <a:cs typeface="微软雅黑"/>
              </a:rPr>
              <a:t>U</a:t>
            </a:r>
            <a:r>
              <a:rPr sz="2800" b="1" spc="-5" dirty="0">
                <a:latin typeface="微软雅黑"/>
                <a:cs typeface="微软雅黑"/>
              </a:rPr>
              <a:t>A</a:t>
            </a:r>
            <a:r>
              <a:rPr sz="2800" b="1" spc="-60" dirty="0">
                <a:latin typeface="微软雅黑"/>
                <a:cs typeface="微软雅黑"/>
              </a:rPr>
              <a:t>R</a:t>
            </a:r>
            <a:r>
              <a:rPr sz="2800" b="1" spc="-10" dirty="0">
                <a:latin typeface="微软雅黑"/>
                <a:cs typeface="微软雅黑"/>
              </a:rPr>
              <a:t>T_I</a:t>
            </a:r>
            <a:r>
              <a:rPr sz="2800" b="1" spc="-30" dirty="0">
                <a:latin typeface="微软雅黑"/>
                <a:cs typeface="微软雅黑"/>
              </a:rPr>
              <a:t>R</a:t>
            </a:r>
            <a:r>
              <a:rPr sz="2800" b="1" spc="-10" dirty="0">
                <a:latin typeface="微软雅黑"/>
                <a:cs typeface="微软雅黑"/>
              </a:rPr>
              <a:t>QH</a:t>
            </a:r>
            <a:r>
              <a:rPr sz="2800" b="1" dirty="0">
                <a:latin typeface="微软雅黑"/>
                <a:cs typeface="微软雅黑"/>
              </a:rPr>
              <a:t>a</a:t>
            </a:r>
            <a:r>
              <a:rPr sz="2800" b="1" spc="-5" dirty="0">
                <a:latin typeface="微软雅黑"/>
                <a:cs typeface="微软雅黑"/>
              </a:rPr>
              <a:t>nd</a:t>
            </a:r>
            <a:r>
              <a:rPr sz="2800" b="1" dirty="0">
                <a:latin typeface="微软雅黑"/>
                <a:cs typeface="微软雅黑"/>
              </a:rPr>
              <a:t>l</a:t>
            </a:r>
            <a:r>
              <a:rPr sz="2800" b="1" spc="-5" dirty="0">
                <a:latin typeface="微软雅黑"/>
                <a:cs typeface="微软雅黑"/>
              </a:rPr>
              <a:t>er</a:t>
            </a:r>
            <a:endParaRPr sz="2800" dirty="0">
              <a:latin typeface="微软雅黑"/>
              <a:cs typeface="微软雅黑"/>
            </a:endParaRPr>
          </a:p>
        </p:txBody>
      </p:sp>
      <p:graphicFrame>
        <p:nvGraphicFramePr>
          <p:cNvPr id="5" name="object 5"/>
          <p:cNvGraphicFramePr>
            <a:graphicFrameLocks noGrp="1"/>
          </p:cNvGraphicFramePr>
          <p:nvPr/>
        </p:nvGraphicFramePr>
        <p:xfrm>
          <a:off x="419823" y="1760283"/>
          <a:ext cx="11323802" cy="4728500"/>
        </p:xfrm>
        <a:graphic>
          <a:graphicData uri="http://schemas.openxmlformats.org/drawingml/2006/table">
            <a:tbl>
              <a:tblPr firstRow="1" bandRow="1">
                <a:tableStyleId>{2D5ABB26-0587-4C30-8999-92F81FD0307C}</a:tableStyleId>
              </a:tblPr>
              <a:tblGrid>
                <a:gridCol w="1337792">
                  <a:extLst>
                    <a:ext uri="{9D8B030D-6E8A-4147-A177-3AD203B41FA5}">
                      <a16:colId xmlns:a16="http://schemas.microsoft.com/office/drawing/2014/main" val="20000"/>
                    </a:ext>
                  </a:extLst>
                </a:gridCol>
                <a:gridCol w="9986010">
                  <a:extLst>
                    <a:ext uri="{9D8B030D-6E8A-4147-A177-3AD203B41FA5}">
                      <a16:colId xmlns:a16="http://schemas.microsoft.com/office/drawing/2014/main" val="20001"/>
                    </a:ext>
                  </a:extLst>
                </a:gridCol>
              </a:tblGrid>
              <a:tr h="575309">
                <a:tc gridSpan="2">
                  <a:txBody>
                    <a:bodyPr/>
                    <a:lstStyle/>
                    <a:p>
                      <a:pPr marL="3106420">
                        <a:lnSpc>
                          <a:spcPct val="100000"/>
                        </a:lnSpc>
                      </a:pPr>
                      <a:r>
                        <a:rPr sz="2400" b="1" spc="-5" dirty="0">
                          <a:solidFill>
                            <a:srgbClr val="FFFFFF"/>
                          </a:solidFill>
                          <a:latin typeface="微软雅黑"/>
                          <a:cs typeface="微软雅黑"/>
                        </a:rPr>
                        <a:t>接口函数：HA</a:t>
                      </a:r>
                      <a:r>
                        <a:rPr sz="2400" b="1" spc="-15" dirty="0">
                          <a:solidFill>
                            <a:srgbClr val="FFFFFF"/>
                          </a:solidFill>
                          <a:latin typeface="微软雅黑"/>
                          <a:cs typeface="微软雅黑"/>
                        </a:rPr>
                        <a:t>L</a:t>
                      </a:r>
                      <a:r>
                        <a:rPr sz="2400" b="1" spc="-5" dirty="0">
                          <a:solidFill>
                            <a:srgbClr val="FFFFFF"/>
                          </a:solidFill>
                          <a:latin typeface="微软雅黑"/>
                          <a:cs typeface="微软雅黑"/>
                        </a:rPr>
                        <a:t>_</a:t>
                      </a:r>
                      <a:r>
                        <a:rPr sz="2400" b="1" spc="-60" dirty="0">
                          <a:solidFill>
                            <a:srgbClr val="FFFFFF"/>
                          </a:solidFill>
                          <a:latin typeface="微软雅黑"/>
                          <a:cs typeface="微软雅黑"/>
                        </a:rPr>
                        <a:t>U</a:t>
                      </a:r>
                      <a:r>
                        <a:rPr sz="2400" b="1" dirty="0">
                          <a:solidFill>
                            <a:srgbClr val="FFFFFF"/>
                          </a:solidFill>
                          <a:latin typeface="微软雅黑"/>
                          <a:cs typeface="微软雅黑"/>
                        </a:rPr>
                        <a:t>A</a:t>
                      </a:r>
                      <a:r>
                        <a:rPr sz="2400" b="1" spc="-50" dirty="0">
                          <a:solidFill>
                            <a:srgbClr val="FFFFFF"/>
                          </a:solidFill>
                          <a:latin typeface="微软雅黑"/>
                          <a:cs typeface="微软雅黑"/>
                        </a:rPr>
                        <a:t>R</a:t>
                      </a:r>
                      <a:r>
                        <a:rPr sz="2400" b="1" spc="-5" dirty="0">
                          <a:solidFill>
                            <a:srgbClr val="FFFFFF"/>
                          </a:solidFill>
                          <a:latin typeface="微软雅黑"/>
                          <a:cs typeface="微软雅黑"/>
                        </a:rPr>
                        <a:t>T_I</a:t>
                      </a:r>
                      <a:r>
                        <a:rPr sz="2400" b="1" spc="-20" dirty="0">
                          <a:solidFill>
                            <a:srgbClr val="FFFFFF"/>
                          </a:solidFill>
                          <a:latin typeface="微软雅黑"/>
                          <a:cs typeface="微软雅黑"/>
                        </a:rPr>
                        <a:t>R</a:t>
                      </a:r>
                      <a:r>
                        <a:rPr sz="2400" b="1" spc="-5" dirty="0">
                          <a:solidFill>
                            <a:srgbClr val="FFFFFF"/>
                          </a:solidFill>
                          <a:latin typeface="微软雅黑"/>
                          <a:cs typeface="微软雅黑"/>
                        </a:rPr>
                        <a:t>QHa</a:t>
                      </a:r>
                      <a:r>
                        <a:rPr sz="2400" b="1" spc="5" dirty="0">
                          <a:solidFill>
                            <a:srgbClr val="FFFFFF"/>
                          </a:solidFill>
                          <a:latin typeface="微软雅黑"/>
                          <a:cs typeface="微软雅黑"/>
                        </a:rPr>
                        <a:t>n</a:t>
                      </a:r>
                      <a:r>
                        <a:rPr sz="2400" b="1" dirty="0">
                          <a:solidFill>
                            <a:srgbClr val="FFFFFF"/>
                          </a:solidFill>
                          <a:latin typeface="微软雅黑"/>
                          <a:cs typeface="微软雅黑"/>
                        </a:rPr>
                        <a:t>dl</a:t>
                      </a:r>
                      <a:r>
                        <a:rPr sz="2400" b="1" spc="-15" dirty="0">
                          <a:solidFill>
                            <a:srgbClr val="FFFFFF"/>
                          </a:solidFill>
                          <a:latin typeface="微软雅黑"/>
                          <a:cs typeface="微软雅黑"/>
                        </a:rPr>
                        <a:t>e</a:t>
                      </a:r>
                      <a:r>
                        <a:rPr sz="2400" b="1" dirty="0">
                          <a:solidFill>
                            <a:srgbClr val="FFFFFF"/>
                          </a:solidFill>
                          <a:latin typeface="微软雅黑"/>
                          <a:cs typeface="微软雅黑"/>
                        </a:rPr>
                        <a:t>r</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tc hMerge="1">
                  <a:txBody>
                    <a:bodyPr/>
                    <a:lstStyle/>
                    <a:p>
                      <a:endParaRPr/>
                    </a:p>
                  </a:txBody>
                  <a:tcPr marL="0" marR="0" marT="0" marB="0"/>
                </a:tc>
                <a:extLst>
                  <a:ext uri="{0D108BD9-81ED-4DB2-BD59-A6C34878D82A}">
                    <a16:rowId xmlns:a16="http://schemas.microsoft.com/office/drawing/2014/main" val="10000"/>
                  </a:ext>
                </a:extLst>
              </a:tr>
              <a:tr h="847471">
                <a:tc>
                  <a:txBody>
                    <a:bodyPr/>
                    <a:lstStyle/>
                    <a:p>
                      <a:pPr marL="349885" marR="340995">
                        <a:lnSpc>
                          <a:spcPct val="100000"/>
                        </a:lnSpc>
                      </a:pPr>
                      <a:r>
                        <a:rPr sz="2400" b="1" dirty="0">
                          <a:latin typeface="微软雅黑"/>
                          <a:cs typeface="微软雅黑"/>
                        </a:rPr>
                        <a:t>函数 原型</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ct val="100000"/>
                        </a:lnSpc>
                      </a:pPr>
                      <a:r>
                        <a:rPr sz="2400" b="1" spc="-30" dirty="0">
                          <a:latin typeface="微软雅黑"/>
                          <a:cs typeface="微软雅黑"/>
                        </a:rPr>
                        <a:t>v</a:t>
                      </a:r>
                      <a:r>
                        <a:rPr sz="2400" b="1" spc="-5" dirty="0">
                          <a:latin typeface="微软雅黑"/>
                          <a:cs typeface="微软雅黑"/>
                        </a:rPr>
                        <a:t>oi</a:t>
                      </a:r>
                      <a:r>
                        <a:rPr sz="2400" b="1" dirty="0">
                          <a:latin typeface="微软雅黑"/>
                          <a:cs typeface="微软雅黑"/>
                        </a:rPr>
                        <a:t>d</a:t>
                      </a:r>
                      <a:r>
                        <a:rPr sz="2400" b="1" spc="10" dirty="0">
                          <a:latin typeface="微软雅黑"/>
                          <a:cs typeface="微软雅黑"/>
                        </a:rPr>
                        <a:t> </a:t>
                      </a:r>
                      <a:r>
                        <a:rPr sz="2400" b="1" spc="-5" dirty="0">
                          <a:latin typeface="微软雅黑"/>
                          <a:cs typeface="微软雅黑"/>
                        </a:rPr>
                        <a:t>H</a:t>
                      </a:r>
                      <a:r>
                        <a:rPr sz="2400" b="1" spc="-10" dirty="0">
                          <a:latin typeface="微软雅黑"/>
                          <a:cs typeface="微软雅黑"/>
                        </a:rPr>
                        <a:t>A</a:t>
                      </a:r>
                      <a:r>
                        <a:rPr sz="2400" b="1" dirty="0">
                          <a:latin typeface="微软雅黑"/>
                          <a:cs typeface="微软雅黑"/>
                        </a:rPr>
                        <a:t>L_</a:t>
                      </a:r>
                      <a:r>
                        <a:rPr sz="2400" b="1" spc="-65" dirty="0">
                          <a:latin typeface="微软雅黑"/>
                          <a:cs typeface="微软雅黑"/>
                        </a:rPr>
                        <a:t>U</a:t>
                      </a:r>
                      <a:r>
                        <a:rPr sz="2400" b="1" dirty="0">
                          <a:latin typeface="微软雅黑"/>
                          <a:cs typeface="微软雅黑"/>
                        </a:rPr>
                        <a:t>A</a:t>
                      </a:r>
                      <a:r>
                        <a:rPr sz="2400" b="1" spc="-50" dirty="0">
                          <a:latin typeface="微软雅黑"/>
                          <a:cs typeface="微软雅黑"/>
                        </a:rPr>
                        <a:t>R</a:t>
                      </a:r>
                      <a:r>
                        <a:rPr sz="2400" b="1" spc="-5" dirty="0">
                          <a:latin typeface="微软雅黑"/>
                          <a:cs typeface="微软雅黑"/>
                        </a:rPr>
                        <a:t>T_I</a:t>
                      </a:r>
                      <a:r>
                        <a:rPr sz="2400" b="1" spc="-15" dirty="0">
                          <a:latin typeface="微软雅黑"/>
                          <a:cs typeface="微软雅黑"/>
                        </a:rPr>
                        <a:t>R</a:t>
                      </a:r>
                      <a:r>
                        <a:rPr sz="2400" b="1" spc="-5" dirty="0">
                          <a:latin typeface="微软雅黑"/>
                          <a:cs typeface="微软雅黑"/>
                        </a:rPr>
                        <a:t>QH</a:t>
                      </a:r>
                      <a:r>
                        <a:rPr sz="2400" b="1" spc="5" dirty="0">
                          <a:latin typeface="微软雅黑"/>
                          <a:cs typeface="微软雅黑"/>
                        </a:rPr>
                        <a:t>a</a:t>
                      </a:r>
                      <a:r>
                        <a:rPr sz="2400" b="1" dirty="0">
                          <a:latin typeface="微软雅黑"/>
                          <a:cs typeface="微软雅黑"/>
                        </a:rPr>
                        <a:t>ndler(</a:t>
                      </a:r>
                      <a:r>
                        <a:rPr sz="2400" b="1" spc="-65" dirty="0">
                          <a:latin typeface="微软雅黑"/>
                          <a:cs typeface="微软雅黑"/>
                        </a:rPr>
                        <a:t>U</a:t>
                      </a:r>
                      <a:r>
                        <a:rPr sz="2400" b="1" dirty="0">
                          <a:latin typeface="微软雅黑"/>
                          <a:cs typeface="微软雅黑"/>
                        </a:rPr>
                        <a:t>A</a:t>
                      </a:r>
                      <a:r>
                        <a:rPr sz="2400" b="1" spc="-50" dirty="0">
                          <a:latin typeface="微软雅黑"/>
                          <a:cs typeface="微软雅黑"/>
                        </a:rPr>
                        <a:t>R</a:t>
                      </a:r>
                      <a:r>
                        <a:rPr sz="2400" b="1" spc="-5" dirty="0">
                          <a:latin typeface="微软雅黑"/>
                          <a:cs typeface="微软雅黑"/>
                        </a:rPr>
                        <a:t>T_H</a:t>
                      </a:r>
                      <a:r>
                        <a:rPr sz="2400" b="1" spc="5" dirty="0">
                          <a:latin typeface="微软雅黑"/>
                          <a:cs typeface="微软雅黑"/>
                        </a:rPr>
                        <a:t>a</a:t>
                      </a:r>
                      <a:r>
                        <a:rPr sz="2400" b="1" dirty="0">
                          <a:latin typeface="微软雅黑"/>
                          <a:cs typeface="微软雅黑"/>
                        </a:rPr>
                        <a:t>ndle</a:t>
                      </a:r>
                      <a:r>
                        <a:rPr sz="2400" b="1" spc="-125" dirty="0">
                          <a:latin typeface="微软雅黑"/>
                          <a:cs typeface="微软雅黑"/>
                        </a:rPr>
                        <a:t>T</a:t>
                      </a:r>
                      <a:r>
                        <a:rPr sz="2400" b="1" spc="-5" dirty="0">
                          <a:latin typeface="微软雅黑"/>
                          <a:cs typeface="微软雅黑"/>
                        </a:rPr>
                        <a:t>ype</a:t>
                      </a:r>
                      <a:r>
                        <a:rPr sz="2400" b="1" spc="-10" dirty="0">
                          <a:latin typeface="微软雅黑"/>
                          <a:cs typeface="微软雅黑"/>
                        </a:rPr>
                        <a:t>D</a:t>
                      </a:r>
                      <a:r>
                        <a:rPr sz="2400" b="1" dirty="0">
                          <a:latin typeface="微软雅黑"/>
                          <a:cs typeface="微软雅黑"/>
                        </a:rPr>
                        <a:t>ef</a:t>
                      </a:r>
                      <a:r>
                        <a:rPr sz="2400" b="1" spc="10" dirty="0">
                          <a:latin typeface="微软雅黑"/>
                          <a:cs typeface="微软雅黑"/>
                        </a:rPr>
                        <a:t> </a:t>
                      </a:r>
                      <a:r>
                        <a:rPr sz="2400" b="1" spc="-5" dirty="0">
                          <a:latin typeface="微软雅黑"/>
                          <a:cs typeface="微软雅黑"/>
                        </a:rPr>
                        <a:t>*</a:t>
                      </a:r>
                      <a:r>
                        <a:rPr sz="2400" b="1" spc="-10" dirty="0">
                          <a:latin typeface="微软雅黑"/>
                          <a:cs typeface="微软雅黑"/>
                        </a:rPr>
                        <a:t>h</a:t>
                      </a:r>
                      <a:r>
                        <a:rPr sz="2400" b="1" dirty="0">
                          <a:latin typeface="微软雅黑"/>
                          <a:cs typeface="微软雅黑"/>
                        </a:rPr>
                        <a:t>u</a:t>
                      </a:r>
                      <a:r>
                        <a:rPr sz="2400" b="1" spc="5" dirty="0">
                          <a:latin typeface="微软雅黑"/>
                          <a:cs typeface="微软雅黑"/>
                        </a:rPr>
                        <a:t>a</a:t>
                      </a:r>
                      <a:r>
                        <a:rPr sz="2400" b="1" spc="70" dirty="0">
                          <a:latin typeface="微软雅黑"/>
                          <a:cs typeface="微软雅黑"/>
                        </a:rPr>
                        <a:t>r</a:t>
                      </a:r>
                      <a:r>
                        <a:rPr sz="2400" b="1" spc="-5" dirty="0">
                          <a:latin typeface="微软雅黑"/>
                          <a:cs typeface="微软雅黑"/>
                        </a:rPr>
                        <a:t>t)</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1"/>
                  </a:ext>
                </a:extLst>
              </a:tr>
              <a:tr h="847598">
                <a:tc>
                  <a:txBody>
                    <a:bodyPr/>
                    <a:lstStyle/>
                    <a:p>
                      <a:pPr marL="349885">
                        <a:lnSpc>
                          <a:spcPct val="100000"/>
                        </a:lnSpc>
                      </a:pPr>
                      <a:r>
                        <a:rPr sz="2400" b="1" dirty="0">
                          <a:latin typeface="微软雅黑"/>
                          <a:cs typeface="微软雅黑"/>
                        </a:rPr>
                        <a:t>功能</a:t>
                      </a:r>
                      <a:endParaRPr sz="2400">
                        <a:latin typeface="微软雅黑"/>
                        <a:cs typeface="微软雅黑"/>
                      </a:endParaRPr>
                    </a:p>
                    <a:p>
                      <a:pPr marL="349885">
                        <a:lnSpc>
                          <a:spcPct val="100000"/>
                        </a:lnSpc>
                      </a:pPr>
                      <a:r>
                        <a:rPr sz="2400" b="1" dirty="0">
                          <a:latin typeface="微软雅黑"/>
                          <a:cs typeface="微软雅黑"/>
                        </a:rPr>
                        <a:t>描述</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3975">
                        <a:lnSpc>
                          <a:spcPct val="100000"/>
                        </a:lnSpc>
                      </a:pPr>
                      <a:r>
                        <a:rPr sz="2400" b="1" spc="-5" dirty="0">
                          <a:latin typeface="微软雅黑"/>
                          <a:cs typeface="微软雅黑"/>
                        </a:rPr>
                        <a:t>作为所有串口中断发生后的通用处理函数</a:t>
                      </a:r>
                      <a:endParaRPr sz="2400" dirty="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r h="763016">
                <a:tc>
                  <a:txBody>
                    <a:bodyPr/>
                    <a:lstStyle/>
                    <a:p>
                      <a:pPr marL="349885" marR="340995">
                        <a:lnSpc>
                          <a:spcPct val="100000"/>
                        </a:lnSpc>
                      </a:pPr>
                      <a:r>
                        <a:rPr sz="2400" b="1" dirty="0">
                          <a:latin typeface="微软雅黑"/>
                          <a:cs typeface="微软雅黑"/>
                        </a:rPr>
                        <a:t>入口 参数</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ct val="100000"/>
                        </a:lnSpc>
                      </a:pPr>
                      <a:r>
                        <a:rPr sz="2400" b="1" dirty="0">
                          <a:latin typeface="微软雅黑"/>
                          <a:cs typeface="微软雅黑"/>
                        </a:rPr>
                        <a:t>hua</a:t>
                      </a:r>
                      <a:r>
                        <a:rPr sz="2400" b="1" spc="70" dirty="0">
                          <a:latin typeface="微软雅黑"/>
                          <a:cs typeface="微软雅黑"/>
                        </a:rPr>
                        <a:t>r</a:t>
                      </a:r>
                      <a:r>
                        <a:rPr sz="2400" b="1" spc="5" dirty="0">
                          <a:latin typeface="微软雅黑"/>
                          <a:cs typeface="微软雅黑"/>
                        </a:rPr>
                        <a:t>t</a:t>
                      </a:r>
                      <a:r>
                        <a:rPr sz="2400" b="1" dirty="0">
                          <a:latin typeface="微软雅黑"/>
                          <a:cs typeface="微软雅黑"/>
                        </a:rPr>
                        <a:t>：串口句柄的地址</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3"/>
                  </a:ext>
                </a:extLst>
              </a:tr>
              <a:tr h="423798">
                <a:tc>
                  <a:txBody>
                    <a:bodyPr/>
                    <a:lstStyle/>
                    <a:p>
                      <a:pPr marL="197485">
                        <a:lnSpc>
                          <a:spcPct val="100000"/>
                        </a:lnSpc>
                      </a:pPr>
                      <a:r>
                        <a:rPr sz="2400" b="1" spc="-5" dirty="0">
                          <a:latin typeface="微软雅黑"/>
                          <a:cs typeface="微软雅黑"/>
                        </a:rPr>
                        <a:t>返回值</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3975">
                        <a:lnSpc>
                          <a:spcPct val="100000"/>
                        </a:lnSpc>
                      </a:pPr>
                      <a:r>
                        <a:rPr sz="2400" b="1" dirty="0">
                          <a:latin typeface="微软雅黑"/>
                          <a:cs typeface="微软雅黑"/>
                        </a:rPr>
                        <a:t>无</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4"/>
                  </a:ext>
                </a:extLst>
              </a:tr>
              <a:tr h="1271308">
                <a:tc>
                  <a:txBody>
                    <a:bodyPr/>
                    <a:lstStyle/>
                    <a:p>
                      <a:pPr marL="349885">
                        <a:lnSpc>
                          <a:spcPct val="100000"/>
                        </a:lnSpc>
                      </a:pPr>
                      <a:r>
                        <a:rPr sz="2400" b="1" dirty="0">
                          <a:latin typeface="微软雅黑"/>
                          <a:cs typeface="微软雅黑"/>
                        </a:rPr>
                        <a:t>注意</a:t>
                      </a:r>
                      <a:endParaRPr sz="2400">
                        <a:latin typeface="微软雅黑"/>
                        <a:cs typeface="微软雅黑"/>
                      </a:endParaRPr>
                    </a:p>
                    <a:p>
                      <a:pPr marL="349885">
                        <a:lnSpc>
                          <a:spcPct val="100000"/>
                        </a:lnSpc>
                      </a:pPr>
                      <a:r>
                        <a:rPr sz="2400" b="1" dirty="0">
                          <a:latin typeface="微软雅黑"/>
                          <a:cs typeface="微软雅黑"/>
                        </a:rPr>
                        <a:t>事项</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ct val="100000"/>
                        </a:lnSpc>
                      </a:pPr>
                      <a:r>
                        <a:rPr sz="2400" b="1" dirty="0">
                          <a:latin typeface="微软雅黑"/>
                          <a:cs typeface="微软雅黑"/>
                        </a:rPr>
                        <a:t>1.</a:t>
                      </a:r>
                      <a:r>
                        <a:rPr sz="2400" b="1" spc="-5" dirty="0">
                          <a:latin typeface="微软雅黑"/>
                          <a:cs typeface="微软雅黑"/>
                        </a:rPr>
                        <a:t> 函数内部先判断中断类型，并清除对应的中断标志，最后调用回调函数</a:t>
                      </a:r>
                      <a:endParaRPr sz="2400" dirty="0">
                        <a:latin typeface="微软雅黑"/>
                        <a:cs typeface="微软雅黑"/>
                      </a:endParaRPr>
                    </a:p>
                    <a:p>
                      <a:pPr marL="417195">
                        <a:lnSpc>
                          <a:spcPct val="100000"/>
                        </a:lnSpc>
                      </a:pPr>
                      <a:r>
                        <a:rPr sz="2400" b="1" dirty="0">
                          <a:latin typeface="微软雅黑"/>
                          <a:cs typeface="微软雅黑"/>
                        </a:rPr>
                        <a:t>完成对应的中断处理</a:t>
                      </a:r>
                      <a:endParaRPr sz="2400" dirty="0">
                        <a:latin typeface="微软雅黑"/>
                        <a:cs typeface="微软雅黑"/>
                      </a:endParaRPr>
                    </a:p>
                    <a:p>
                      <a:pPr marL="53975">
                        <a:lnSpc>
                          <a:spcPct val="100000"/>
                        </a:lnSpc>
                      </a:pPr>
                      <a:r>
                        <a:rPr sz="2400" b="1" dirty="0">
                          <a:latin typeface="微软雅黑"/>
                          <a:cs typeface="微软雅黑"/>
                        </a:rPr>
                        <a:t>2.</a:t>
                      </a:r>
                      <a:r>
                        <a:rPr sz="2400" b="1" spc="-5" dirty="0">
                          <a:latin typeface="微软雅黑"/>
                          <a:cs typeface="微软雅黑"/>
                        </a:rPr>
                        <a:t> </a:t>
                      </a:r>
                      <a:r>
                        <a:rPr sz="2400" b="1" dirty="0">
                          <a:latin typeface="微软雅黑"/>
                          <a:cs typeface="微软雅黑"/>
                        </a:rPr>
                        <a:t>该函数由</a:t>
                      </a:r>
                      <a:r>
                        <a:rPr sz="2400" b="1" spc="-5" dirty="0">
                          <a:latin typeface="微软雅黑"/>
                          <a:cs typeface="微软雅黑"/>
                        </a:rPr>
                        <a:t>C</a:t>
                      </a:r>
                      <a:r>
                        <a:rPr sz="2400" b="1" spc="5" dirty="0">
                          <a:latin typeface="微软雅黑"/>
                          <a:cs typeface="微软雅黑"/>
                        </a:rPr>
                        <a:t>u</a:t>
                      </a:r>
                      <a:r>
                        <a:rPr sz="2400" b="1" dirty="0">
                          <a:latin typeface="微软雅黑"/>
                          <a:cs typeface="微软雅黑"/>
                        </a:rPr>
                        <a:t>b</a:t>
                      </a:r>
                      <a:r>
                        <a:rPr sz="2400" b="1" spc="-10" dirty="0">
                          <a:latin typeface="微软雅黑"/>
                          <a:cs typeface="微软雅黑"/>
                        </a:rPr>
                        <a:t>e</a:t>
                      </a:r>
                      <a:r>
                        <a:rPr sz="2400" b="1" spc="-5" dirty="0">
                          <a:latin typeface="微软雅黑"/>
                          <a:cs typeface="微软雅黑"/>
                        </a:rPr>
                        <a:t>M</a:t>
                      </a:r>
                      <a:r>
                        <a:rPr sz="2400" b="1" spc="5" dirty="0">
                          <a:latin typeface="微软雅黑"/>
                          <a:cs typeface="微软雅黑"/>
                        </a:rPr>
                        <a:t>X</a:t>
                      </a:r>
                      <a:r>
                        <a:rPr sz="2400" b="1" dirty="0">
                          <a:latin typeface="微软雅黑"/>
                          <a:cs typeface="微软雅黑"/>
                        </a:rPr>
                        <a:t>自动生成</a:t>
                      </a:r>
                      <a:endParaRPr sz="2400" dirty="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07847078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3" name="object 3"/>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4" name="object 4"/>
          <p:cNvSpPr txBox="1">
            <a:spLocks noGrp="1"/>
          </p:cNvSpPr>
          <p:nvPr>
            <p:ph type="title"/>
          </p:nvPr>
        </p:nvSpPr>
        <p:spPr>
          <a:xfrm>
            <a:off x="2385441" y="389881"/>
            <a:ext cx="668655" cy="254000"/>
          </a:xfrm>
          <a:prstGeom prst="rect">
            <a:avLst/>
          </a:prstGeom>
        </p:spPr>
        <p:txBody>
          <a:bodyPr vert="horz" wrap="square" lIns="0" tIns="0" rIns="0" bIns="0" rtlCol="0">
            <a:spAutoFit/>
          </a:bodyPr>
          <a:lstStyle/>
          <a:p>
            <a:pPr marL="12700">
              <a:lnSpc>
                <a:spcPct val="100000"/>
              </a:lnSpc>
            </a:pPr>
            <a:r>
              <a:rPr sz="1800" spc="-45" dirty="0">
                <a:latin typeface="微软雅黑"/>
                <a:cs typeface="微软雅黑"/>
              </a:rPr>
              <a:t>U</a:t>
            </a:r>
            <a:r>
              <a:rPr sz="1800" dirty="0">
                <a:latin typeface="微软雅黑"/>
                <a:cs typeface="微软雅黑"/>
              </a:rPr>
              <a:t>A</a:t>
            </a:r>
            <a:r>
              <a:rPr sz="1800" spc="-35" dirty="0">
                <a:latin typeface="微软雅黑"/>
                <a:cs typeface="微软雅黑"/>
              </a:rPr>
              <a:t>R</a:t>
            </a:r>
            <a:r>
              <a:rPr sz="1800" dirty="0">
                <a:latin typeface="微软雅黑"/>
                <a:cs typeface="微软雅黑"/>
              </a:rPr>
              <a:t>T</a:t>
            </a:r>
            <a:endParaRPr sz="1800">
              <a:latin typeface="微软雅黑"/>
              <a:cs typeface="微软雅黑"/>
            </a:endParaRPr>
          </a:p>
        </p:txBody>
      </p:sp>
      <p:sp>
        <p:nvSpPr>
          <p:cNvPr id="5" name="object 5"/>
          <p:cNvSpPr txBox="1"/>
          <p:nvPr/>
        </p:nvSpPr>
        <p:spPr>
          <a:xfrm>
            <a:off x="1533905" y="1166687"/>
            <a:ext cx="9050020" cy="381000"/>
          </a:xfrm>
          <a:prstGeom prst="rect">
            <a:avLst/>
          </a:prstGeom>
        </p:spPr>
        <p:txBody>
          <a:bodyPr vert="horz" wrap="square" lIns="0" tIns="0" rIns="0" bIns="0" rtlCol="0">
            <a:spAutoFit/>
          </a:bodyPr>
          <a:lstStyle/>
          <a:p>
            <a:pPr marL="12700">
              <a:lnSpc>
                <a:spcPct val="100000"/>
              </a:lnSpc>
              <a:tabLst>
                <a:tab pos="443865" algn="l"/>
              </a:tabLst>
            </a:pPr>
            <a:r>
              <a:rPr sz="2800" b="1" spc="-5" dirty="0">
                <a:latin typeface="微软雅黑"/>
                <a:cs typeface="微软雅黑"/>
              </a:rPr>
              <a:t>4	</a:t>
            </a:r>
            <a:r>
              <a:rPr sz="2800" b="1" spc="-10" dirty="0">
                <a:latin typeface="微软雅黑"/>
                <a:cs typeface="微软雅黑"/>
              </a:rPr>
              <a:t>串口发送中断回调函数</a:t>
            </a:r>
            <a:r>
              <a:rPr sz="2800" b="1" spc="-5" dirty="0">
                <a:latin typeface="微软雅黑"/>
                <a:cs typeface="微软雅黑"/>
              </a:rPr>
              <a:t>：</a:t>
            </a:r>
            <a:r>
              <a:rPr sz="2800" b="1" spc="-10" dirty="0">
                <a:latin typeface="微软雅黑"/>
                <a:cs typeface="微软雅黑"/>
              </a:rPr>
              <a:t>HAL</a:t>
            </a:r>
            <a:r>
              <a:rPr sz="2800" b="1" spc="-15" dirty="0">
                <a:latin typeface="微软雅黑"/>
                <a:cs typeface="微软雅黑"/>
              </a:rPr>
              <a:t>_</a:t>
            </a:r>
            <a:r>
              <a:rPr sz="2800" b="1" spc="-65" dirty="0">
                <a:latin typeface="微软雅黑"/>
                <a:cs typeface="微软雅黑"/>
              </a:rPr>
              <a:t>U</a:t>
            </a:r>
            <a:r>
              <a:rPr sz="2800" b="1" spc="-5" dirty="0">
                <a:latin typeface="微软雅黑"/>
                <a:cs typeface="微软雅黑"/>
              </a:rPr>
              <a:t>A</a:t>
            </a:r>
            <a:r>
              <a:rPr sz="2800" b="1" spc="-70" dirty="0">
                <a:latin typeface="微软雅黑"/>
                <a:cs typeface="微软雅黑"/>
              </a:rPr>
              <a:t>R</a:t>
            </a:r>
            <a:r>
              <a:rPr sz="2800" b="1" spc="-5" dirty="0">
                <a:latin typeface="微软雅黑"/>
                <a:cs typeface="微软雅黑"/>
              </a:rPr>
              <a:t>T_</a:t>
            </a:r>
            <a:r>
              <a:rPr sz="2800" b="1" spc="-215" dirty="0">
                <a:latin typeface="微软雅黑"/>
                <a:cs typeface="微软雅黑"/>
              </a:rPr>
              <a:t>T</a:t>
            </a:r>
            <a:r>
              <a:rPr sz="2800" b="1" spc="-5" dirty="0">
                <a:latin typeface="微软雅黑"/>
                <a:cs typeface="微软雅黑"/>
              </a:rPr>
              <a:t>xCp</a:t>
            </a:r>
            <a:r>
              <a:rPr sz="2800" b="1" spc="-15" dirty="0">
                <a:latin typeface="微软雅黑"/>
                <a:cs typeface="微软雅黑"/>
              </a:rPr>
              <a:t>l</a:t>
            </a:r>
            <a:r>
              <a:rPr sz="2800" b="1" spc="-10" dirty="0">
                <a:latin typeface="微软雅黑"/>
                <a:cs typeface="微软雅黑"/>
              </a:rPr>
              <a:t>tC</a:t>
            </a:r>
            <a:r>
              <a:rPr sz="2800" b="1" dirty="0">
                <a:latin typeface="微软雅黑"/>
                <a:cs typeface="微软雅黑"/>
              </a:rPr>
              <a:t>a</a:t>
            </a:r>
            <a:r>
              <a:rPr sz="2800" b="1" spc="-5" dirty="0">
                <a:latin typeface="微软雅黑"/>
                <a:cs typeface="微软雅黑"/>
              </a:rPr>
              <a:t>ll</a:t>
            </a:r>
            <a:r>
              <a:rPr sz="2800" b="1" spc="-45" dirty="0">
                <a:latin typeface="微软雅黑"/>
                <a:cs typeface="微软雅黑"/>
              </a:rPr>
              <a:t>b</a:t>
            </a:r>
            <a:r>
              <a:rPr sz="2800" b="1" spc="-5" dirty="0">
                <a:latin typeface="微软雅黑"/>
                <a:cs typeface="微软雅黑"/>
              </a:rPr>
              <a:t>ack</a:t>
            </a:r>
            <a:endParaRPr sz="2800">
              <a:latin typeface="微软雅黑"/>
              <a:cs typeface="微软雅黑"/>
            </a:endParaRPr>
          </a:p>
        </p:txBody>
      </p:sp>
      <p:graphicFrame>
        <p:nvGraphicFramePr>
          <p:cNvPr id="6" name="object 6"/>
          <p:cNvGraphicFramePr>
            <a:graphicFrameLocks noGrp="1"/>
          </p:cNvGraphicFramePr>
          <p:nvPr/>
        </p:nvGraphicFramePr>
        <p:xfrm>
          <a:off x="221246" y="1861629"/>
          <a:ext cx="11720880" cy="4647549"/>
        </p:xfrm>
        <a:graphic>
          <a:graphicData uri="http://schemas.openxmlformats.org/drawingml/2006/table">
            <a:tbl>
              <a:tblPr firstRow="1" bandRow="1">
                <a:tableStyleId>{2D5ABB26-0587-4C30-8999-92F81FD0307C}</a:tableStyleId>
              </a:tblPr>
              <a:tblGrid>
                <a:gridCol w="1384731">
                  <a:extLst>
                    <a:ext uri="{9D8B030D-6E8A-4147-A177-3AD203B41FA5}">
                      <a16:colId xmlns:a16="http://schemas.microsoft.com/office/drawing/2014/main" val="20000"/>
                    </a:ext>
                  </a:extLst>
                </a:gridCol>
                <a:gridCol w="10336149">
                  <a:extLst>
                    <a:ext uri="{9D8B030D-6E8A-4147-A177-3AD203B41FA5}">
                      <a16:colId xmlns:a16="http://schemas.microsoft.com/office/drawing/2014/main" val="20001"/>
                    </a:ext>
                  </a:extLst>
                </a:gridCol>
              </a:tblGrid>
              <a:tr h="551942">
                <a:tc gridSpan="2">
                  <a:txBody>
                    <a:bodyPr/>
                    <a:lstStyle/>
                    <a:p>
                      <a:pPr marL="3028315">
                        <a:lnSpc>
                          <a:spcPct val="100000"/>
                        </a:lnSpc>
                      </a:pPr>
                      <a:r>
                        <a:rPr sz="2400" b="1" dirty="0">
                          <a:solidFill>
                            <a:srgbClr val="FFFFFF"/>
                          </a:solidFill>
                          <a:latin typeface="微软雅黑"/>
                          <a:cs typeface="微软雅黑"/>
                        </a:rPr>
                        <a:t>接口函数：</a:t>
                      </a:r>
                      <a:r>
                        <a:rPr sz="2400" b="1" spc="-10" dirty="0">
                          <a:solidFill>
                            <a:srgbClr val="FFFFFF"/>
                          </a:solidFill>
                          <a:latin typeface="微软雅黑"/>
                          <a:cs typeface="微软雅黑"/>
                        </a:rPr>
                        <a:t> </a:t>
                      </a:r>
                      <a:r>
                        <a:rPr sz="2400" b="1" spc="-5" dirty="0">
                          <a:solidFill>
                            <a:srgbClr val="FFFFFF"/>
                          </a:solidFill>
                          <a:latin typeface="微软雅黑"/>
                          <a:cs typeface="微软雅黑"/>
                        </a:rPr>
                        <a:t>H</a:t>
                      </a:r>
                      <a:r>
                        <a:rPr sz="2400" b="1" spc="-10" dirty="0">
                          <a:solidFill>
                            <a:srgbClr val="FFFFFF"/>
                          </a:solidFill>
                          <a:latin typeface="微软雅黑"/>
                          <a:cs typeface="微软雅黑"/>
                        </a:rPr>
                        <a:t>A</a:t>
                      </a:r>
                      <a:r>
                        <a:rPr sz="2400" b="1" dirty="0">
                          <a:solidFill>
                            <a:srgbClr val="FFFFFF"/>
                          </a:solidFill>
                          <a:latin typeface="微软雅黑"/>
                          <a:cs typeface="微软雅黑"/>
                        </a:rPr>
                        <a:t>L_</a:t>
                      </a:r>
                      <a:r>
                        <a:rPr sz="2400" b="1" spc="-65" dirty="0">
                          <a:solidFill>
                            <a:srgbClr val="FFFFFF"/>
                          </a:solidFill>
                          <a:latin typeface="微软雅黑"/>
                          <a:cs typeface="微软雅黑"/>
                        </a:rPr>
                        <a:t>U</a:t>
                      </a:r>
                      <a:r>
                        <a:rPr sz="2400" b="1" dirty="0">
                          <a:solidFill>
                            <a:srgbClr val="FFFFFF"/>
                          </a:solidFill>
                          <a:latin typeface="微软雅黑"/>
                          <a:cs typeface="微软雅黑"/>
                        </a:rPr>
                        <a:t>A</a:t>
                      </a:r>
                      <a:r>
                        <a:rPr sz="2400" b="1" spc="-50" dirty="0">
                          <a:solidFill>
                            <a:srgbClr val="FFFFFF"/>
                          </a:solidFill>
                          <a:latin typeface="微软雅黑"/>
                          <a:cs typeface="微软雅黑"/>
                        </a:rPr>
                        <a:t>R</a:t>
                      </a:r>
                      <a:r>
                        <a:rPr sz="2400" b="1" spc="-5" dirty="0">
                          <a:solidFill>
                            <a:srgbClr val="FFFFFF"/>
                          </a:solidFill>
                          <a:latin typeface="微软雅黑"/>
                          <a:cs typeface="微软雅黑"/>
                        </a:rPr>
                        <a:t>T_</a:t>
                      </a:r>
                      <a:r>
                        <a:rPr sz="2400" b="1" spc="-190" dirty="0">
                          <a:solidFill>
                            <a:srgbClr val="FFFFFF"/>
                          </a:solidFill>
                          <a:latin typeface="微软雅黑"/>
                          <a:cs typeface="微软雅黑"/>
                        </a:rPr>
                        <a:t>T</a:t>
                      </a:r>
                      <a:r>
                        <a:rPr sz="2400" b="1" dirty="0">
                          <a:solidFill>
                            <a:srgbClr val="FFFFFF"/>
                          </a:solidFill>
                          <a:latin typeface="微软雅黑"/>
                          <a:cs typeface="微软雅黑"/>
                        </a:rPr>
                        <a:t>xCpltCall</a:t>
                      </a:r>
                      <a:r>
                        <a:rPr sz="2400" b="1" spc="-30" dirty="0">
                          <a:solidFill>
                            <a:srgbClr val="FFFFFF"/>
                          </a:solidFill>
                          <a:latin typeface="微软雅黑"/>
                          <a:cs typeface="微软雅黑"/>
                        </a:rPr>
                        <a:t>b</a:t>
                      </a:r>
                      <a:r>
                        <a:rPr sz="2400" b="1" dirty="0">
                          <a:solidFill>
                            <a:srgbClr val="FFFFFF"/>
                          </a:solidFill>
                          <a:latin typeface="微软雅黑"/>
                          <a:cs typeface="微软雅黑"/>
                        </a:rPr>
                        <a:t>ack</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tc hMerge="1">
                  <a:txBody>
                    <a:bodyPr/>
                    <a:lstStyle/>
                    <a:p>
                      <a:endParaRPr/>
                    </a:p>
                  </a:txBody>
                  <a:tcPr marL="0" marR="0" marT="0" marB="0"/>
                </a:tc>
                <a:extLst>
                  <a:ext uri="{0D108BD9-81ED-4DB2-BD59-A6C34878D82A}">
                    <a16:rowId xmlns:a16="http://schemas.microsoft.com/office/drawing/2014/main" val="10000"/>
                  </a:ext>
                </a:extLst>
              </a:tr>
              <a:tr h="551814">
                <a:tc>
                  <a:txBody>
                    <a:bodyPr/>
                    <a:lstStyle/>
                    <a:p>
                      <a:pPr marL="68580">
                        <a:lnSpc>
                          <a:spcPct val="100000"/>
                        </a:lnSpc>
                      </a:pPr>
                      <a:r>
                        <a:rPr sz="2400" b="1" dirty="0">
                          <a:latin typeface="微软雅黑"/>
                          <a:cs typeface="微软雅黑"/>
                        </a:rPr>
                        <a:t>函数原型</a:t>
                      </a:r>
                      <a:endParaRPr sz="2400">
                        <a:latin typeface="微软雅黑"/>
                        <a:cs typeface="微软雅黑"/>
                      </a:endParaRPr>
                    </a:p>
                  </a:txBody>
                  <a:tcPr marL="0" marR="0" marT="0" marB="0">
                    <a:lnL w="28575">
                      <a:solidFill>
                        <a:srgbClr val="000000"/>
                      </a:solidFill>
                      <a:prstDash val="solid"/>
                    </a:lnL>
                    <a:lnR w="28574">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4610">
                        <a:lnSpc>
                          <a:spcPct val="100000"/>
                        </a:lnSpc>
                      </a:pPr>
                      <a:r>
                        <a:rPr sz="2400" b="1" spc="-30" dirty="0">
                          <a:latin typeface="微软雅黑"/>
                          <a:cs typeface="微软雅黑"/>
                        </a:rPr>
                        <a:t>v</a:t>
                      </a:r>
                      <a:r>
                        <a:rPr sz="2400" b="1" spc="-5" dirty="0">
                          <a:latin typeface="微软雅黑"/>
                          <a:cs typeface="微软雅黑"/>
                        </a:rPr>
                        <a:t>oi</a:t>
                      </a:r>
                      <a:r>
                        <a:rPr sz="2400" b="1" dirty="0">
                          <a:latin typeface="微软雅黑"/>
                          <a:cs typeface="微软雅黑"/>
                        </a:rPr>
                        <a:t>d</a:t>
                      </a:r>
                      <a:r>
                        <a:rPr sz="2400" b="1" spc="10" dirty="0">
                          <a:latin typeface="微软雅黑"/>
                          <a:cs typeface="微软雅黑"/>
                        </a:rPr>
                        <a:t> </a:t>
                      </a:r>
                      <a:r>
                        <a:rPr sz="2400" b="1" spc="-5" dirty="0">
                          <a:latin typeface="微软雅黑"/>
                          <a:cs typeface="微软雅黑"/>
                        </a:rPr>
                        <a:t>H</a:t>
                      </a:r>
                      <a:r>
                        <a:rPr sz="2400" b="1" spc="-10" dirty="0">
                          <a:latin typeface="微软雅黑"/>
                          <a:cs typeface="微软雅黑"/>
                        </a:rPr>
                        <a:t>A</a:t>
                      </a:r>
                      <a:r>
                        <a:rPr sz="2400" b="1" dirty="0">
                          <a:latin typeface="微软雅黑"/>
                          <a:cs typeface="微软雅黑"/>
                        </a:rPr>
                        <a:t>L_</a:t>
                      </a:r>
                      <a:r>
                        <a:rPr sz="2400" b="1" spc="-65" dirty="0">
                          <a:latin typeface="微软雅黑"/>
                          <a:cs typeface="微软雅黑"/>
                        </a:rPr>
                        <a:t>U</a:t>
                      </a:r>
                      <a:r>
                        <a:rPr sz="2400" b="1" dirty="0">
                          <a:latin typeface="微软雅黑"/>
                          <a:cs typeface="微软雅黑"/>
                        </a:rPr>
                        <a:t>A</a:t>
                      </a:r>
                      <a:r>
                        <a:rPr sz="2400" b="1" spc="-50" dirty="0">
                          <a:latin typeface="微软雅黑"/>
                          <a:cs typeface="微软雅黑"/>
                        </a:rPr>
                        <a:t>R</a:t>
                      </a:r>
                      <a:r>
                        <a:rPr sz="2400" b="1" spc="-5" dirty="0">
                          <a:latin typeface="微软雅黑"/>
                          <a:cs typeface="微软雅黑"/>
                        </a:rPr>
                        <a:t>T_</a:t>
                      </a:r>
                      <a:r>
                        <a:rPr sz="2400" b="1" spc="-190" dirty="0">
                          <a:latin typeface="微软雅黑"/>
                          <a:cs typeface="微软雅黑"/>
                        </a:rPr>
                        <a:t>T</a:t>
                      </a:r>
                      <a:r>
                        <a:rPr sz="2400" b="1" dirty="0">
                          <a:latin typeface="微软雅黑"/>
                          <a:cs typeface="微软雅黑"/>
                        </a:rPr>
                        <a:t>xCpltCall</a:t>
                      </a:r>
                      <a:r>
                        <a:rPr sz="2400" b="1" spc="-30" dirty="0">
                          <a:latin typeface="微软雅黑"/>
                          <a:cs typeface="微软雅黑"/>
                        </a:rPr>
                        <a:t>b</a:t>
                      </a:r>
                      <a:r>
                        <a:rPr sz="2400" b="1" dirty="0">
                          <a:latin typeface="微软雅黑"/>
                          <a:cs typeface="微软雅黑"/>
                        </a:rPr>
                        <a:t>ack(</a:t>
                      </a:r>
                      <a:r>
                        <a:rPr sz="2400" b="1" spc="-65" dirty="0">
                          <a:latin typeface="微软雅黑"/>
                          <a:cs typeface="微软雅黑"/>
                        </a:rPr>
                        <a:t>U</a:t>
                      </a:r>
                      <a:r>
                        <a:rPr sz="2400" b="1" dirty="0">
                          <a:latin typeface="微软雅黑"/>
                          <a:cs typeface="微软雅黑"/>
                        </a:rPr>
                        <a:t>A</a:t>
                      </a:r>
                      <a:r>
                        <a:rPr sz="2400" b="1" spc="-50" dirty="0">
                          <a:latin typeface="微软雅黑"/>
                          <a:cs typeface="微软雅黑"/>
                        </a:rPr>
                        <a:t>R</a:t>
                      </a:r>
                      <a:r>
                        <a:rPr sz="2400" b="1" spc="-5" dirty="0">
                          <a:latin typeface="微软雅黑"/>
                          <a:cs typeface="微软雅黑"/>
                        </a:rPr>
                        <a:t>T_H</a:t>
                      </a:r>
                      <a:r>
                        <a:rPr sz="2400" b="1" spc="5" dirty="0">
                          <a:latin typeface="微软雅黑"/>
                          <a:cs typeface="微软雅黑"/>
                        </a:rPr>
                        <a:t>a</a:t>
                      </a:r>
                      <a:r>
                        <a:rPr sz="2400" b="1" dirty="0">
                          <a:latin typeface="微软雅黑"/>
                          <a:cs typeface="微软雅黑"/>
                        </a:rPr>
                        <a:t>ndle</a:t>
                      </a:r>
                      <a:r>
                        <a:rPr sz="2400" b="1" spc="-125" dirty="0">
                          <a:latin typeface="微软雅黑"/>
                          <a:cs typeface="微软雅黑"/>
                        </a:rPr>
                        <a:t>T</a:t>
                      </a:r>
                      <a:r>
                        <a:rPr sz="2400" b="1" spc="-5" dirty="0">
                          <a:latin typeface="微软雅黑"/>
                          <a:cs typeface="微软雅黑"/>
                        </a:rPr>
                        <a:t>ype</a:t>
                      </a:r>
                      <a:r>
                        <a:rPr sz="2400" b="1" spc="-10" dirty="0">
                          <a:latin typeface="微软雅黑"/>
                          <a:cs typeface="微软雅黑"/>
                        </a:rPr>
                        <a:t>D</a:t>
                      </a:r>
                      <a:r>
                        <a:rPr sz="2400" b="1" dirty="0">
                          <a:latin typeface="微软雅黑"/>
                          <a:cs typeface="微软雅黑"/>
                        </a:rPr>
                        <a:t>ef</a:t>
                      </a:r>
                      <a:r>
                        <a:rPr sz="2400" b="1" spc="15" dirty="0">
                          <a:latin typeface="微软雅黑"/>
                          <a:cs typeface="微软雅黑"/>
                        </a:rPr>
                        <a:t> </a:t>
                      </a:r>
                      <a:r>
                        <a:rPr sz="2400" b="1" spc="-10" dirty="0">
                          <a:latin typeface="微软雅黑"/>
                          <a:cs typeface="微软雅黑"/>
                        </a:rPr>
                        <a:t>*</a:t>
                      </a:r>
                      <a:r>
                        <a:rPr sz="2400" b="1" dirty="0">
                          <a:latin typeface="微软雅黑"/>
                          <a:cs typeface="微软雅黑"/>
                        </a:rPr>
                        <a:t>hua</a:t>
                      </a:r>
                      <a:r>
                        <a:rPr sz="2400" b="1" spc="70" dirty="0">
                          <a:latin typeface="微软雅黑"/>
                          <a:cs typeface="微软雅黑"/>
                        </a:rPr>
                        <a:t>r</a:t>
                      </a:r>
                      <a:r>
                        <a:rPr sz="2400" b="1" spc="5" dirty="0">
                          <a:latin typeface="微软雅黑"/>
                          <a:cs typeface="微软雅黑"/>
                        </a:rPr>
                        <a:t>t</a:t>
                      </a:r>
                      <a:r>
                        <a:rPr sz="2400" b="1" dirty="0">
                          <a:latin typeface="微软雅黑"/>
                          <a:cs typeface="微软雅黑"/>
                        </a:rPr>
                        <a:t>)</a:t>
                      </a:r>
                      <a:endParaRPr sz="2400">
                        <a:latin typeface="微软雅黑"/>
                        <a:cs typeface="微软雅黑"/>
                      </a:endParaRPr>
                    </a:p>
                  </a:txBody>
                  <a:tcPr marL="0" marR="0" marT="0" marB="0">
                    <a:lnL w="28574">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1"/>
                  </a:ext>
                </a:extLst>
              </a:tr>
              <a:tr h="784351">
                <a:tc>
                  <a:txBody>
                    <a:bodyPr/>
                    <a:lstStyle/>
                    <a:p>
                      <a:pPr marL="68580">
                        <a:lnSpc>
                          <a:spcPct val="100000"/>
                        </a:lnSpc>
                      </a:pPr>
                      <a:r>
                        <a:rPr sz="2400" b="1" dirty="0">
                          <a:latin typeface="微软雅黑"/>
                          <a:cs typeface="微软雅黑"/>
                        </a:rPr>
                        <a:t>功能描述</a:t>
                      </a:r>
                      <a:endParaRPr sz="2400">
                        <a:latin typeface="微软雅黑"/>
                        <a:cs typeface="微软雅黑"/>
                      </a:endParaRPr>
                    </a:p>
                  </a:txBody>
                  <a:tcPr marL="0" marR="0" marT="0" marB="0">
                    <a:lnL w="28575">
                      <a:solidFill>
                        <a:srgbClr val="000000"/>
                      </a:solidFill>
                      <a:prstDash val="solid"/>
                    </a:lnL>
                    <a:lnR w="28574">
                      <a:solidFill>
                        <a:srgbClr val="000000"/>
                      </a:solidFill>
                      <a:prstDash val="solid"/>
                    </a:lnR>
                    <a:lnT w="28575">
                      <a:solidFill>
                        <a:srgbClr val="000000"/>
                      </a:solidFill>
                      <a:prstDash val="solid"/>
                    </a:lnT>
                    <a:lnB w="28575">
                      <a:solidFill>
                        <a:srgbClr val="000000"/>
                      </a:solidFill>
                      <a:prstDash val="solid"/>
                    </a:lnB>
                  </a:tcPr>
                </a:tc>
                <a:tc>
                  <a:txBody>
                    <a:bodyPr/>
                    <a:lstStyle/>
                    <a:p>
                      <a:pPr marL="54610">
                        <a:lnSpc>
                          <a:spcPct val="100000"/>
                        </a:lnSpc>
                      </a:pPr>
                      <a:r>
                        <a:rPr sz="2400" b="1" dirty="0">
                          <a:latin typeface="微软雅黑"/>
                          <a:cs typeface="微软雅黑"/>
                        </a:rPr>
                        <a:t>回调函数，用于处理所有串口的发送中断，用户在该函数内编写实际的任务</a:t>
                      </a:r>
                      <a:endParaRPr sz="2400">
                        <a:latin typeface="微软雅黑"/>
                        <a:cs typeface="微软雅黑"/>
                      </a:endParaRPr>
                    </a:p>
                    <a:p>
                      <a:pPr marL="54610">
                        <a:lnSpc>
                          <a:spcPct val="100000"/>
                        </a:lnSpc>
                      </a:pPr>
                      <a:r>
                        <a:rPr sz="2400" b="1" spc="-5" dirty="0">
                          <a:latin typeface="微软雅黑"/>
                          <a:cs typeface="微软雅黑"/>
                        </a:rPr>
                        <a:t>处理程序</a:t>
                      </a:r>
                      <a:endParaRPr sz="2400">
                        <a:latin typeface="微软雅黑"/>
                        <a:cs typeface="微软雅黑"/>
                      </a:endParaRPr>
                    </a:p>
                  </a:txBody>
                  <a:tcPr marL="0" marR="0" marT="0" marB="0">
                    <a:lnL w="28574">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r h="551942">
                <a:tc>
                  <a:txBody>
                    <a:bodyPr/>
                    <a:lstStyle/>
                    <a:p>
                      <a:pPr marL="68580">
                        <a:lnSpc>
                          <a:spcPct val="100000"/>
                        </a:lnSpc>
                      </a:pPr>
                      <a:r>
                        <a:rPr sz="2400" b="1" dirty="0">
                          <a:latin typeface="微软雅黑"/>
                          <a:cs typeface="微软雅黑"/>
                        </a:rPr>
                        <a:t>入口参数</a:t>
                      </a:r>
                      <a:endParaRPr sz="2400">
                        <a:latin typeface="微软雅黑"/>
                        <a:cs typeface="微软雅黑"/>
                      </a:endParaRPr>
                    </a:p>
                  </a:txBody>
                  <a:tcPr marL="0" marR="0" marT="0" marB="0">
                    <a:lnL w="28575">
                      <a:solidFill>
                        <a:srgbClr val="000000"/>
                      </a:solidFill>
                      <a:prstDash val="solid"/>
                    </a:lnL>
                    <a:lnR w="28574">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4610">
                        <a:lnSpc>
                          <a:spcPct val="100000"/>
                        </a:lnSpc>
                      </a:pPr>
                      <a:r>
                        <a:rPr sz="2400" b="1" dirty="0">
                          <a:latin typeface="微软雅黑"/>
                          <a:cs typeface="微软雅黑"/>
                        </a:rPr>
                        <a:t>hua</a:t>
                      </a:r>
                      <a:r>
                        <a:rPr sz="2400" b="1" spc="70" dirty="0">
                          <a:latin typeface="微软雅黑"/>
                          <a:cs typeface="微软雅黑"/>
                        </a:rPr>
                        <a:t>r</a:t>
                      </a:r>
                      <a:r>
                        <a:rPr sz="2400" b="1" spc="5" dirty="0">
                          <a:latin typeface="微软雅黑"/>
                          <a:cs typeface="微软雅黑"/>
                        </a:rPr>
                        <a:t>t</a:t>
                      </a:r>
                      <a:r>
                        <a:rPr sz="2400" b="1" dirty="0">
                          <a:latin typeface="微软雅黑"/>
                          <a:cs typeface="微软雅黑"/>
                        </a:rPr>
                        <a:t>：串口句柄的地址</a:t>
                      </a:r>
                      <a:endParaRPr sz="2400">
                        <a:latin typeface="微软雅黑"/>
                        <a:cs typeface="微软雅黑"/>
                      </a:endParaRPr>
                    </a:p>
                  </a:txBody>
                  <a:tcPr marL="0" marR="0" marT="0" marB="0">
                    <a:lnL w="28574">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3"/>
                  </a:ext>
                </a:extLst>
              </a:tr>
              <a:tr h="551814">
                <a:tc>
                  <a:txBody>
                    <a:bodyPr/>
                    <a:lstStyle/>
                    <a:p>
                      <a:pPr marL="220979">
                        <a:lnSpc>
                          <a:spcPct val="100000"/>
                        </a:lnSpc>
                      </a:pPr>
                      <a:r>
                        <a:rPr sz="2400" b="1" dirty="0">
                          <a:latin typeface="微软雅黑"/>
                          <a:cs typeface="微软雅黑"/>
                        </a:rPr>
                        <a:t>返回值</a:t>
                      </a:r>
                      <a:endParaRPr sz="2400">
                        <a:latin typeface="微软雅黑"/>
                        <a:cs typeface="微软雅黑"/>
                      </a:endParaRPr>
                    </a:p>
                  </a:txBody>
                  <a:tcPr marL="0" marR="0" marT="0" marB="0">
                    <a:lnL w="28575">
                      <a:solidFill>
                        <a:srgbClr val="000000"/>
                      </a:solidFill>
                      <a:prstDash val="solid"/>
                    </a:lnL>
                    <a:lnR w="28574">
                      <a:solidFill>
                        <a:srgbClr val="000000"/>
                      </a:solidFill>
                      <a:prstDash val="solid"/>
                    </a:lnR>
                    <a:lnT w="28575">
                      <a:solidFill>
                        <a:srgbClr val="000000"/>
                      </a:solidFill>
                      <a:prstDash val="solid"/>
                    </a:lnT>
                    <a:lnB w="28575">
                      <a:solidFill>
                        <a:srgbClr val="000000"/>
                      </a:solidFill>
                      <a:prstDash val="solid"/>
                    </a:lnB>
                  </a:tcPr>
                </a:tc>
                <a:tc>
                  <a:txBody>
                    <a:bodyPr/>
                    <a:lstStyle/>
                    <a:p>
                      <a:pPr marL="54610">
                        <a:lnSpc>
                          <a:spcPct val="100000"/>
                        </a:lnSpc>
                      </a:pPr>
                      <a:r>
                        <a:rPr sz="2400" b="1" dirty="0">
                          <a:latin typeface="微软雅黑"/>
                          <a:cs typeface="微软雅黑"/>
                        </a:rPr>
                        <a:t>无</a:t>
                      </a:r>
                      <a:endParaRPr sz="2400">
                        <a:latin typeface="微软雅黑"/>
                        <a:cs typeface="微软雅黑"/>
                      </a:endParaRPr>
                    </a:p>
                  </a:txBody>
                  <a:tcPr marL="0" marR="0" marT="0" marB="0">
                    <a:lnL w="28574">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4"/>
                  </a:ext>
                </a:extLst>
              </a:tr>
              <a:tr h="1655686">
                <a:tc>
                  <a:txBody>
                    <a:bodyPr/>
                    <a:lstStyle/>
                    <a:p>
                      <a:pPr marL="68580">
                        <a:lnSpc>
                          <a:spcPct val="100000"/>
                        </a:lnSpc>
                      </a:pPr>
                      <a:r>
                        <a:rPr sz="2400" b="1" dirty="0">
                          <a:latin typeface="微软雅黑"/>
                          <a:cs typeface="微软雅黑"/>
                        </a:rPr>
                        <a:t>注意事项</a:t>
                      </a:r>
                      <a:endParaRPr sz="2400">
                        <a:latin typeface="微软雅黑"/>
                        <a:cs typeface="微软雅黑"/>
                      </a:endParaRPr>
                    </a:p>
                  </a:txBody>
                  <a:tcPr marL="0" marR="0" marT="0" marB="0">
                    <a:lnL w="28575">
                      <a:solidFill>
                        <a:srgbClr val="000000"/>
                      </a:solidFill>
                      <a:prstDash val="solid"/>
                    </a:lnL>
                    <a:lnR w="28574">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4610">
                        <a:lnSpc>
                          <a:spcPct val="100000"/>
                        </a:lnSpc>
                      </a:pPr>
                      <a:r>
                        <a:rPr sz="2400" b="1" dirty="0">
                          <a:latin typeface="微软雅黑"/>
                          <a:cs typeface="微软雅黑"/>
                        </a:rPr>
                        <a:t>1.</a:t>
                      </a:r>
                      <a:r>
                        <a:rPr sz="2400" b="1" spc="-5" dirty="0">
                          <a:latin typeface="微软雅黑"/>
                          <a:cs typeface="微软雅黑"/>
                        </a:rPr>
                        <a:t> 函数由串口中断通用处理函数HA</a:t>
                      </a:r>
                      <a:r>
                        <a:rPr sz="2400" b="1" spc="-10" dirty="0">
                          <a:latin typeface="微软雅黑"/>
                          <a:cs typeface="微软雅黑"/>
                        </a:rPr>
                        <a:t>L</a:t>
                      </a:r>
                      <a:r>
                        <a:rPr sz="2400" b="1" spc="-5" dirty="0">
                          <a:latin typeface="微软雅黑"/>
                          <a:cs typeface="微软雅黑"/>
                        </a:rPr>
                        <a:t>_</a:t>
                      </a:r>
                      <a:r>
                        <a:rPr sz="2400" b="1" spc="-60" dirty="0">
                          <a:latin typeface="微软雅黑"/>
                          <a:cs typeface="微软雅黑"/>
                        </a:rPr>
                        <a:t>U</a:t>
                      </a:r>
                      <a:r>
                        <a:rPr sz="2400" b="1" dirty="0">
                          <a:latin typeface="微软雅黑"/>
                          <a:cs typeface="微软雅黑"/>
                        </a:rPr>
                        <a:t>A</a:t>
                      </a:r>
                      <a:r>
                        <a:rPr sz="2400" b="1" spc="-50" dirty="0">
                          <a:latin typeface="微软雅黑"/>
                          <a:cs typeface="微软雅黑"/>
                        </a:rPr>
                        <a:t>R</a:t>
                      </a:r>
                      <a:r>
                        <a:rPr sz="2400" b="1" spc="-5" dirty="0">
                          <a:latin typeface="微软雅黑"/>
                          <a:cs typeface="微软雅黑"/>
                        </a:rPr>
                        <a:t>T_</a:t>
                      </a:r>
                      <a:r>
                        <a:rPr sz="2400" b="1" spc="5" dirty="0">
                          <a:latin typeface="微软雅黑"/>
                          <a:cs typeface="微软雅黑"/>
                        </a:rPr>
                        <a:t>I</a:t>
                      </a:r>
                      <a:r>
                        <a:rPr sz="2400" b="1" spc="-20" dirty="0">
                          <a:latin typeface="微软雅黑"/>
                          <a:cs typeface="微软雅黑"/>
                        </a:rPr>
                        <a:t>R</a:t>
                      </a:r>
                      <a:r>
                        <a:rPr sz="2400" b="1" spc="-5" dirty="0">
                          <a:latin typeface="微软雅黑"/>
                          <a:cs typeface="微软雅黑"/>
                        </a:rPr>
                        <a:t>QH</a:t>
                      </a:r>
                      <a:r>
                        <a:rPr sz="2400" b="1" spc="5" dirty="0">
                          <a:latin typeface="微软雅黑"/>
                          <a:cs typeface="微软雅黑"/>
                        </a:rPr>
                        <a:t>a</a:t>
                      </a:r>
                      <a:r>
                        <a:rPr sz="2400" b="1" dirty="0">
                          <a:latin typeface="微软雅黑"/>
                          <a:cs typeface="微软雅黑"/>
                        </a:rPr>
                        <a:t>ndle</a:t>
                      </a:r>
                      <a:r>
                        <a:rPr sz="2400" b="1" spc="-35" dirty="0">
                          <a:latin typeface="微软雅黑"/>
                          <a:cs typeface="微软雅黑"/>
                        </a:rPr>
                        <a:t>r</a:t>
                      </a:r>
                      <a:r>
                        <a:rPr sz="2400" b="1" spc="-5" dirty="0">
                          <a:latin typeface="微软雅黑"/>
                          <a:cs typeface="微软雅黑"/>
                        </a:rPr>
                        <a:t>调用，完成所有</a:t>
                      </a:r>
                      <a:endParaRPr sz="2400">
                        <a:latin typeface="微软雅黑"/>
                        <a:cs typeface="微软雅黑"/>
                      </a:endParaRPr>
                    </a:p>
                    <a:p>
                      <a:pPr marL="417195">
                        <a:lnSpc>
                          <a:spcPct val="100000"/>
                        </a:lnSpc>
                      </a:pPr>
                      <a:r>
                        <a:rPr sz="2400" b="1" dirty="0">
                          <a:latin typeface="微软雅黑"/>
                          <a:cs typeface="微软雅黑"/>
                        </a:rPr>
                        <a:t>串口的发送中断任务处理</a:t>
                      </a:r>
                      <a:endParaRPr sz="2400">
                        <a:latin typeface="微软雅黑"/>
                        <a:cs typeface="微软雅黑"/>
                      </a:endParaRPr>
                    </a:p>
                    <a:p>
                      <a:pPr marL="54610">
                        <a:lnSpc>
                          <a:spcPct val="100000"/>
                        </a:lnSpc>
                      </a:pPr>
                      <a:r>
                        <a:rPr sz="2400" b="1" spc="-5" dirty="0">
                          <a:latin typeface="微软雅黑"/>
                          <a:cs typeface="微软雅黑"/>
                        </a:rPr>
                        <a:t>2</a:t>
                      </a:r>
                      <a:r>
                        <a:rPr sz="2400" b="1" dirty="0">
                          <a:latin typeface="微软雅黑"/>
                          <a:cs typeface="微软雅黑"/>
                        </a:rPr>
                        <a:t>. 函数内部需要根据串口句柄的实例来判断是哪一个串口产生的发送中断</a:t>
                      </a:r>
                      <a:endParaRPr sz="2400">
                        <a:latin typeface="微软雅黑"/>
                        <a:cs typeface="微软雅黑"/>
                      </a:endParaRPr>
                    </a:p>
                    <a:p>
                      <a:pPr marL="54610">
                        <a:lnSpc>
                          <a:spcPct val="100000"/>
                        </a:lnSpc>
                      </a:pPr>
                      <a:r>
                        <a:rPr sz="2400" b="1" spc="-10" dirty="0">
                          <a:latin typeface="微软雅黑"/>
                          <a:cs typeface="微软雅黑"/>
                        </a:rPr>
                        <a:t>3</a:t>
                      </a:r>
                      <a:r>
                        <a:rPr sz="2400" b="1" dirty="0">
                          <a:latin typeface="微软雅黑"/>
                          <a:cs typeface="微软雅黑"/>
                        </a:rPr>
                        <a:t>. </a:t>
                      </a:r>
                      <a:r>
                        <a:rPr sz="2400" b="1" spc="-5" dirty="0">
                          <a:latin typeface="微软雅黑"/>
                          <a:cs typeface="微软雅黑"/>
                        </a:rPr>
                        <a:t>函数由用户根据具体的处理任务编写</a:t>
                      </a:r>
                      <a:endParaRPr sz="2400">
                        <a:latin typeface="微软雅黑"/>
                        <a:cs typeface="微软雅黑"/>
                      </a:endParaRPr>
                    </a:p>
                  </a:txBody>
                  <a:tcPr marL="0" marR="0" marT="0" marB="0">
                    <a:lnL w="28574">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48773444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3" name="object 3"/>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4" name="object 4"/>
          <p:cNvSpPr txBox="1">
            <a:spLocks noGrp="1"/>
          </p:cNvSpPr>
          <p:nvPr>
            <p:ph type="title"/>
          </p:nvPr>
        </p:nvSpPr>
        <p:spPr>
          <a:xfrm>
            <a:off x="2385441" y="389881"/>
            <a:ext cx="668655" cy="254000"/>
          </a:xfrm>
          <a:prstGeom prst="rect">
            <a:avLst/>
          </a:prstGeom>
        </p:spPr>
        <p:txBody>
          <a:bodyPr vert="horz" wrap="square" lIns="0" tIns="0" rIns="0" bIns="0" rtlCol="0">
            <a:spAutoFit/>
          </a:bodyPr>
          <a:lstStyle/>
          <a:p>
            <a:pPr marL="12700">
              <a:lnSpc>
                <a:spcPct val="100000"/>
              </a:lnSpc>
            </a:pPr>
            <a:r>
              <a:rPr sz="1800" spc="-45" dirty="0">
                <a:latin typeface="微软雅黑"/>
                <a:cs typeface="微软雅黑"/>
              </a:rPr>
              <a:t>U</a:t>
            </a:r>
            <a:r>
              <a:rPr sz="1800" dirty="0">
                <a:latin typeface="微软雅黑"/>
                <a:cs typeface="微软雅黑"/>
              </a:rPr>
              <a:t>A</a:t>
            </a:r>
            <a:r>
              <a:rPr sz="1800" spc="-35" dirty="0">
                <a:latin typeface="微软雅黑"/>
                <a:cs typeface="微软雅黑"/>
              </a:rPr>
              <a:t>R</a:t>
            </a:r>
            <a:r>
              <a:rPr sz="1800" dirty="0">
                <a:latin typeface="微软雅黑"/>
                <a:cs typeface="微软雅黑"/>
              </a:rPr>
              <a:t>T</a:t>
            </a:r>
            <a:endParaRPr sz="1800">
              <a:latin typeface="微软雅黑"/>
              <a:cs typeface="微软雅黑"/>
            </a:endParaRPr>
          </a:p>
        </p:txBody>
      </p:sp>
      <p:sp>
        <p:nvSpPr>
          <p:cNvPr id="5" name="object 5"/>
          <p:cNvSpPr txBox="1"/>
          <p:nvPr/>
        </p:nvSpPr>
        <p:spPr>
          <a:xfrm>
            <a:off x="1519174" y="1180267"/>
            <a:ext cx="9103360" cy="381000"/>
          </a:xfrm>
          <a:prstGeom prst="rect">
            <a:avLst/>
          </a:prstGeom>
        </p:spPr>
        <p:txBody>
          <a:bodyPr vert="horz" wrap="square" lIns="0" tIns="0" rIns="0" bIns="0" rtlCol="0">
            <a:spAutoFit/>
          </a:bodyPr>
          <a:lstStyle/>
          <a:p>
            <a:pPr marL="12700">
              <a:lnSpc>
                <a:spcPct val="100000"/>
              </a:lnSpc>
              <a:tabLst>
                <a:tab pos="443865" algn="l"/>
              </a:tabLst>
            </a:pPr>
            <a:r>
              <a:rPr sz="2800" b="1" spc="-5" dirty="0">
                <a:latin typeface="微软雅黑"/>
                <a:cs typeface="微软雅黑"/>
              </a:rPr>
              <a:t>5	串口接收中断回调函数</a:t>
            </a:r>
            <a:r>
              <a:rPr sz="2800" b="1" dirty="0">
                <a:latin typeface="微软雅黑"/>
                <a:cs typeface="微软雅黑"/>
              </a:rPr>
              <a:t>：</a:t>
            </a:r>
            <a:r>
              <a:rPr sz="2800" b="1" spc="-10" dirty="0">
                <a:latin typeface="微软雅黑"/>
                <a:cs typeface="微软雅黑"/>
              </a:rPr>
              <a:t>HAL_</a:t>
            </a:r>
            <a:r>
              <a:rPr sz="2800" b="1" spc="-70" dirty="0">
                <a:latin typeface="微软雅黑"/>
                <a:cs typeface="微软雅黑"/>
              </a:rPr>
              <a:t>U</a:t>
            </a:r>
            <a:r>
              <a:rPr sz="2800" b="1" spc="-5" dirty="0">
                <a:latin typeface="微软雅黑"/>
                <a:cs typeface="微软雅黑"/>
              </a:rPr>
              <a:t>A</a:t>
            </a:r>
            <a:r>
              <a:rPr sz="2800" b="1" spc="-65" dirty="0">
                <a:latin typeface="微软雅黑"/>
                <a:cs typeface="微软雅黑"/>
              </a:rPr>
              <a:t>R</a:t>
            </a:r>
            <a:r>
              <a:rPr sz="2800" b="1" spc="-10" dirty="0">
                <a:latin typeface="微软雅黑"/>
                <a:cs typeface="微软雅黑"/>
              </a:rPr>
              <a:t>T_RxCplt</a:t>
            </a:r>
            <a:r>
              <a:rPr sz="2800" b="1" spc="0" dirty="0">
                <a:latin typeface="微软雅黑"/>
                <a:cs typeface="微软雅黑"/>
              </a:rPr>
              <a:t>C</a:t>
            </a:r>
            <a:r>
              <a:rPr sz="2800" b="1" spc="-5" dirty="0">
                <a:latin typeface="微软雅黑"/>
                <a:cs typeface="微软雅黑"/>
              </a:rPr>
              <a:t>all</a:t>
            </a:r>
            <a:r>
              <a:rPr sz="2800" b="1" spc="-40" dirty="0">
                <a:latin typeface="微软雅黑"/>
                <a:cs typeface="微软雅黑"/>
              </a:rPr>
              <a:t>b</a:t>
            </a:r>
            <a:r>
              <a:rPr sz="2800" b="1" spc="-5" dirty="0">
                <a:latin typeface="微软雅黑"/>
                <a:cs typeface="微软雅黑"/>
              </a:rPr>
              <a:t>ack</a:t>
            </a:r>
            <a:endParaRPr sz="2800">
              <a:latin typeface="微软雅黑"/>
              <a:cs typeface="微软雅黑"/>
            </a:endParaRPr>
          </a:p>
        </p:txBody>
      </p:sp>
      <p:graphicFrame>
        <p:nvGraphicFramePr>
          <p:cNvPr id="6" name="object 6"/>
          <p:cNvGraphicFramePr>
            <a:graphicFrameLocks noGrp="1"/>
          </p:cNvGraphicFramePr>
          <p:nvPr/>
        </p:nvGraphicFramePr>
        <p:xfrm>
          <a:off x="221246" y="1861629"/>
          <a:ext cx="11720880" cy="4647549"/>
        </p:xfrm>
        <a:graphic>
          <a:graphicData uri="http://schemas.openxmlformats.org/drawingml/2006/table">
            <a:tbl>
              <a:tblPr firstRow="1" bandRow="1">
                <a:tableStyleId>{2D5ABB26-0587-4C30-8999-92F81FD0307C}</a:tableStyleId>
              </a:tblPr>
              <a:tblGrid>
                <a:gridCol w="1384731">
                  <a:extLst>
                    <a:ext uri="{9D8B030D-6E8A-4147-A177-3AD203B41FA5}">
                      <a16:colId xmlns:a16="http://schemas.microsoft.com/office/drawing/2014/main" val="20000"/>
                    </a:ext>
                  </a:extLst>
                </a:gridCol>
                <a:gridCol w="10336149">
                  <a:extLst>
                    <a:ext uri="{9D8B030D-6E8A-4147-A177-3AD203B41FA5}">
                      <a16:colId xmlns:a16="http://schemas.microsoft.com/office/drawing/2014/main" val="20001"/>
                    </a:ext>
                  </a:extLst>
                </a:gridCol>
              </a:tblGrid>
              <a:tr h="551942">
                <a:tc gridSpan="2">
                  <a:txBody>
                    <a:bodyPr/>
                    <a:lstStyle/>
                    <a:p>
                      <a:pPr marL="3005455">
                        <a:lnSpc>
                          <a:spcPct val="100000"/>
                        </a:lnSpc>
                      </a:pPr>
                      <a:r>
                        <a:rPr sz="2400" b="1" dirty="0">
                          <a:solidFill>
                            <a:srgbClr val="FFFFFF"/>
                          </a:solidFill>
                          <a:latin typeface="微软雅黑"/>
                          <a:cs typeface="微软雅黑"/>
                        </a:rPr>
                        <a:t>接口函数：</a:t>
                      </a:r>
                      <a:r>
                        <a:rPr sz="2400" b="1" spc="-10" dirty="0">
                          <a:solidFill>
                            <a:srgbClr val="FFFFFF"/>
                          </a:solidFill>
                          <a:latin typeface="微软雅黑"/>
                          <a:cs typeface="微软雅黑"/>
                        </a:rPr>
                        <a:t> </a:t>
                      </a:r>
                      <a:r>
                        <a:rPr sz="2400" b="1" spc="-5" dirty="0">
                          <a:solidFill>
                            <a:srgbClr val="FFFFFF"/>
                          </a:solidFill>
                          <a:latin typeface="微软雅黑"/>
                          <a:cs typeface="微软雅黑"/>
                        </a:rPr>
                        <a:t>H</a:t>
                      </a:r>
                      <a:r>
                        <a:rPr sz="2400" b="1" spc="-10" dirty="0">
                          <a:solidFill>
                            <a:srgbClr val="FFFFFF"/>
                          </a:solidFill>
                          <a:latin typeface="微软雅黑"/>
                          <a:cs typeface="微软雅黑"/>
                        </a:rPr>
                        <a:t>A</a:t>
                      </a:r>
                      <a:r>
                        <a:rPr sz="2400" b="1" dirty="0">
                          <a:solidFill>
                            <a:srgbClr val="FFFFFF"/>
                          </a:solidFill>
                          <a:latin typeface="微软雅黑"/>
                          <a:cs typeface="微软雅黑"/>
                        </a:rPr>
                        <a:t>L_</a:t>
                      </a:r>
                      <a:r>
                        <a:rPr sz="2400" b="1" spc="-65" dirty="0">
                          <a:solidFill>
                            <a:srgbClr val="FFFFFF"/>
                          </a:solidFill>
                          <a:latin typeface="微软雅黑"/>
                          <a:cs typeface="微软雅黑"/>
                        </a:rPr>
                        <a:t>U</a:t>
                      </a:r>
                      <a:r>
                        <a:rPr sz="2400" b="1" dirty="0">
                          <a:solidFill>
                            <a:srgbClr val="FFFFFF"/>
                          </a:solidFill>
                          <a:latin typeface="微软雅黑"/>
                          <a:cs typeface="微软雅黑"/>
                        </a:rPr>
                        <a:t>A</a:t>
                      </a:r>
                      <a:r>
                        <a:rPr sz="2400" b="1" spc="-50" dirty="0">
                          <a:solidFill>
                            <a:srgbClr val="FFFFFF"/>
                          </a:solidFill>
                          <a:latin typeface="微软雅黑"/>
                          <a:cs typeface="微软雅黑"/>
                        </a:rPr>
                        <a:t>R</a:t>
                      </a:r>
                      <a:r>
                        <a:rPr sz="2400" b="1" spc="-5" dirty="0">
                          <a:solidFill>
                            <a:srgbClr val="FFFFFF"/>
                          </a:solidFill>
                          <a:latin typeface="微软雅黑"/>
                          <a:cs typeface="微软雅黑"/>
                        </a:rPr>
                        <a:t>T_</a:t>
                      </a:r>
                      <a:r>
                        <a:rPr sz="2400" b="1" spc="5" dirty="0">
                          <a:solidFill>
                            <a:srgbClr val="FFFFFF"/>
                          </a:solidFill>
                          <a:latin typeface="微软雅黑"/>
                          <a:cs typeface="微软雅黑"/>
                        </a:rPr>
                        <a:t>R</a:t>
                      </a:r>
                      <a:r>
                        <a:rPr sz="2400" b="1" dirty="0">
                          <a:solidFill>
                            <a:srgbClr val="FFFFFF"/>
                          </a:solidFill>
                          <a:latin typeface="微软雅黑"/>
                          <a:cs typeface="微软雅黑"/>
                        </a:rPr>
                        <a:t>xCpltCall</a:t>
                      </a:r>
                      <a:r>
                        <a:rPr sz="2400" b="1" spc="-30" dirty="0">
                          <a:solidFill>
                            <a:srgbClr val="FFFFFF"/>
                          </a:solidFill>
                          <a:latin typeface="微软雅黑"/>
                          <a:cs typeface="微软雅黑"/>
                        </a:rPr>
                        <a:t>b</a:t>
                      </a:r>
                      <a:r>
                        <a:rPr sz="2400" b="1" dirty="0">
                          <a:solidFill>
                            <a:srgbClr val="FFFFFF"/>
                          </a:solidFill>
                          <a:latin typeface="微软雅黑"/>
                          <a:cs typeface="微软雅黑"/>
                        </a:rPr>
                        <a:t>ack</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tc hMerge="1">
                  <a:txBody>
                    <a:bodyPr/>
                    <a:lstStyle/>
                    <a:p>
                      <a:endParaRPr/>
                    </a:p>
                  </a:txBody>
                  <a:tcPr marL="0" marR="0" marT="0" marB="0"/>
                </a:tc>
                <a:extLst>
                  <a:ext uri="{0D108BD9-81ED-4DB2-BD59-A6C34878D82A}">
                    <a16:rowId xmlns:a16="http://schemas.microsoft.com/office/drawing/2014/main" val="10000"/>
                  </a:ext>
                </a:extLst>
              </a:tr>
              <a:tr h="551814">
                <a:tc>
                  <a:txBody>
                    <a:bodyPr/>
                    <a:lstStyle/>
                    <a:p>
                      <a:pPr marL="68580">
                        <a:lnSpc>
                          <a:spcPct val="100000"/>
                        </a:lnSpc>
                      </a:pPr>
                      <a:r>
                        <a:rPr sz="2400" b="1" dirty="0">
                          <a:latin typeface="微软雅黑"/>
                          <a:cs typeface="微软雅黑"/>
                        </a:rPr>
                        <a:t>函数原型</a:t>
                      </a:r>
                      <a:endParaRPr sz="2400">
                        <a:latin typeface="微软雅黑"/>
                        <a:cs typeface="微软雅黑"/>
                      </a:endParaRPr>
                    </a:p>
                  </a:txBody>
                  <a:tcPr marL="0" marR="0" marT="0" marB="0">
                    <a:lnL w="28575">
                      <a:solidFill>
                        <a:srgbClr val="000000"/>
                      </a:solidFill>
                      <a:prstDash val="solid"/>
                    </a:lnL>
                    <a:lnR w="28574">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4610">
                        <a:lnSpc>
                          <a:spcPct val="100000"/>
                        </a:lnSpc>
                      </a:pPr>
                      <a:r>
                        <a:rPr sz="2400" b="1" spc="-30" dirty="0">
                          <a:latin typeface="微软雅黑"/>
                          <a:cs typeface="微软雅黑"/>
                        </a:rPr>
                        <a:t>v</a:t>
                      </a:r>
                      <a:r>
                        <a:rPr sz="2400" b="1" spc="-5" dirty="0">
                          <a:latin typeface="微软雅黑"/>
                          <a:cs typeface="微软雅黑"/>
                        </a:rPr>
                        <a:t>oi</a:t>
                      </a:r>
                      <a:r>
                        <a:rPr sz="2400" b="1" dirty="0">
                          <a:latin typeface="微软雅黑"/>
                          <a:cs typeface="微软雅黑"/>
                        </a:rPr>
                        <a:t>d</a:t>
                      </a:r>
                      <a:r>
                        <a:rPr sz="2400" b="1" spc="10" dirty="0">
                          <a:latin typeface="微软雅黑"/>
                          <a:cs typeface="微软雅黑"/>
                        </a:rPr>
                        <a:t> </a:t>
                      </a:r>
                      <a:r>
                        <a:rPr sz="2400" b="1" spc="-5" dirty="0">
                          <a:latin typeface="微软雅黑"/>
                          <a:cs typeface="微软雅黑"/>
                        </a:rPr>
                        <a:t>H</a:t>
                      </a:r>
                      <a:r>
                        <a:rPr sz="2400" b="1" spc="-10" dirty="0">
                          <a:latin typeface="微软雅黑"/>
                          <a:cs typeface="微软雅黑"/>
                        </a:rPr>
                        <a:t>A</a:t>
                      </a:r>
                      <a:r>
                        <a:rPr sz="2400" b="1" dirty="0">
                          <a:latin typeface="微软雅黑"/>
                          <a:cs typeface="微软雅黑"/>
                        </a:rPr>
                        <a:t>L_</a:t>
                      </a:r>
                      <a:r>
                        <a:rPr sz="2400" b="1" spc="-65" dirty="0">
                          <a:latin typeface="微软雅黑"/>
                          <a:cs typeface="微软雅黑"/>
                        </a:rPr>
                        <a:t>U</a:t>
                      </a:r>
                      <a:r>
                        <a:rPr sz="2400" b="1" dirty="0">
                          <a:latin typeface="微软雅黑"/>
                          <a:cs typeface="微软雅黑"/>
                        </a:rPr>
                        <a:t>A</a:t>
                      </a:r>
                      <a:r>
                        <a:rPr sz="2400" b="1" spc="-50" dirty="0">
                          <a:latin typeface="微软雅黑"/>
                          <a:cs typeface="微软雅黑"/>
                        </a:rPr>
                        <a:t>R</a:t>
                      </a:r>
                      <a:r>
                        <a:rPr sz="2400" b="1" spc="-5" dirty="0">
                          <a:latin typeface="微软雅黑"/>
                          <a:cs typeface="微软雅黑"/>
                        </a:rPr>
                        <a:t>T_</a:t>
                      </a:r>
                      <a:r>
                        <a:rPr sz="2400" b="1" spc="5" dirty="0">
                          <a:latin typeface="微软雅黑"/>
                          <a:cs typeface="微软雅黑"/>
                        </a:rPr>
                        <a:t>R</a:t>
                      </a:r>
                      <a:r>
                        <a:rPr sz="2400" b="1" dirty="0">
                          <a:latin typeface="微软雅黑"/>
                          <a:cs typeface="微软雅黑"/>
                        </a:rPr>
                        <a:t>xCpltCall</a:t>
                      </a:r>
                      <a:r>
                        <a:rPr sz="2400" b="1" spc="-30" dirty="0">
                          <a:latin typeface="微软雅黑"/>
                          <a:cs typeface="微软雅黑"/>
                        </a:rPr>
                        <a:t>b</a:t>
                      </a:r>
                      <a:r>
                        <a:rPr sz="2400" b="1" dirty="0">
                          <a:latin typeface="微软雅黑"/>
                          <a:cs typeface="微软雅黑"/>
                        </a:rPr>
                        <a:t>ac</a:t>
                      </a:r>
                      <a:r>
                        <a:rPr sz="2400" b="1" spc="5" dirty="0">
                          <a:latin typeface="微软雅黑"/>
                          <a:cs typeface="微软雅黑"/>
                        </a:rPr>
                        <a:t>k</a:t>
                      </a:r>
                      <a:r>
                        <a:rPr sz="2400" b="1" dirty="0">
                          <a:latin typeface="微软雅黑"/>
                          <a:cs typeface="微软雅黑"/>
                        </a:rPr>
                        <a:t>(</a:t>
                      </a:r>
                      <a:r>
                        <a:rPr sz="2400" b="1" spc="-65" dirty="0">
                          <a:latin typeface="微软雅黑"/>
                          <a:cs typeface="微软雅黑"/>
                        </a:rPr>
                        <a:t>U</a:t>
                      </a:r>
                      <a:r>
                        <a:rPr sz="2400" b="1" dirty="0">
                          <a:latin typeface="微软雅黑"/>
                          <a:cs typeface="微软雅黑"/>
                        </a:rPr>
                        <a:t>A</a:t>
                      </a:r>
                      <a:r>
                        <a:rPr sz="2400" b="1" spc="-50" dirty="0">
                          <a:latin typeface="微软雅黑"/>
                          <a:cs typeface="微软雅黑"/>
                        </a:rPr>
                        <a:t>R</a:t>
                      </a:r>
                      <a:r>
                        <a:rPr sz="2400" b="1" spc="-5" dirty="0">
                          <a:latin typeface="微软雅黑"/>
                          <a:cs typeface="微软雅黑"/>
                        </a:rPr>
                        <a:t>T_H</a:t>
                      </a:r>
                      <a:r>
                        <a:rPr sz="2400" b="1" spc="5" dirty="0">
                          <a:latin typeface="微软雅黑"/>
                          <a:cs typeface="微软雅黑"/>
                        </a:rPr>
                        <a:t>a</a:t>
                      </a:r>
                      <a:r>
                        <a:rPr sz="2400" b="1" dirty="0">
                          <a:latin typeface="微软雅黑"/>
                          <a:cs typeface="微软雅黑"/>
                        </a:rPr>
                        <a:t>ndle</a:t>
                      </a:r>
                      <a:r>
                        <a:rPr sz="2400" b="1" spc="-125" dirty="0">
                          <a:latin typeface="微软雅黑"/>
                          <a:cs typeface="微软雅黑"/>
                        </a:rPr>
                        <a:t>T</a:t>
                      </a:r>
                      <a:r>
                        <a:rPr sz="2400" b="1" spc="-5" dirty="0">
                          <a:latin typeface="微软雅黑"/>
                          <a:cs typeface="微软雅黑"/>
                        </a:rPr>
                        <a:t>ype</a:t>
                      </a:r>
                      <a:r>
                        <a:rPr sz="2400" b="1" spc="-10" dirty="0">
                          <a:latin typeface="微软雅黑"/>
                          <a:cs typeface="微软雅黑"/>
                        </a:rPr>
                        <a:t>D</a:t>
                      </a:r>
                      <a:r>
                        <a:rPr sz="2400" b="1" dirty="0">
                          <a:latin typeface="微软雅黑"/>
                          <a:cs typeface="微软雅黑"/>
                        </a:rPr>
                        <a:t>ef </a:t>
                      </a:r>
                      <a:r>
                        <a:rPr sz="2400" b="1" spc="-10" dirty="0">
                          <a:latin typeface="微软雅黑"/>
                          <a:cs typeface="微软雅黑"/>
                        </a:rPr>
                        <a:t>*</a:t>
                      </a:r>
                      <a:r>
                        <a:rPr sz="2400" b="1" dirty="0">
                          <a:latin typeface="微软雅黑"/>
                          <a:cs typeface="微软雅黑"/>
                        </a:rPr>
                        <a:t>hua</a:t>
                      </a:r>
                      <a:r>
                        <a:rPr sz="2400" b="1" spc="70" dirty="0">
                          <a:latin typeface="微软雅黑"/>
                          <a:cs typeface="微软雅黑"/>
                        </a:rPr>
                        <a:t>r</a:t>
                      </a:r>
                      <a:r>
                        <a:rPr sz="2400" b="1" spc="5" dirty="0">
                          <a:latin typeface="微软雅黑"/>
                          <a:cs typeface="微软雅黑"/>
                        </a:rPr>
                        <a:t>t</a:t>
                      </a:r>
                      <a:r>
                        <a:rPr sz="2400" b="1" dirty="0">
                          <a:latin typeface="微软雅黑"/>
                          <a:cs typeface="微软雅黑"/>
                        </a:rPr>
                        <a:t>)</a:t>
                      </a:r>
                      <a:endParaRPr sz="2400">
                        <a:latin typeface="微软雅黑"/>
                        <a:cs typeface="微软雅黑"/>
                      </a:endParaRPr>
                    </a:p>
                  </a:txBody>
                  <a:tcPr marL="0" marR="0" marT="0" marB="0">
                    <a:lnL w="28574">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1"/>
                  </a:ext>
                </a:extLst>
              </a:tr>
              <a:tr h="784351">
                <a:tc>
                  <a:txBody>
                    <a:bodyPr/>
                    <a:lstStyle/>
                    <a:p>
                      <a:pPr marL="68580">
                        <a:lnSpc>
                          <a:spcPct val="100000"/>
                        </a:lnSpc>
                      </a:pPr>
                      <a:r>
                        <a:rPr sz="2400" b="1" dirty="0">
                          <a:latin typeface="微软雅黑"/>
                          <a:cs typeface="微软雅黑"/>
                        </a:rPr>
                        <a:t>功能描述</a:t>
                      </a:r>
                      <a:endParaRPr sz="2400">
                        <a:latin typeface="微软雅黑"/>
                        <a:cs typeface="微软雅黑"/>
                      </a:endParaRPr>
                    </a:p>
                  </a:txBody>
                  <a:tcPr marL="0" marR="0" marT="0" marB="0">
                    <a:lnL w="28575">
                      <a:solidFill>
                        <a:srgbClr val="000000"/>
                      </a:solidFill>
                      <a:prstDash val="solid"/>
                    </a:lnL>
                    <a:lnR w="28574">
                      <a:solidFill>
                        <a:srgbClr val="000000"/>
                      </a:solidFill>
                      <a:prstDash val="solid"/>
                    </a:lnR>
                    <a:lnT w="28575">
                      <a:solidFill>
                        <a:srgbClr val="000000"/>
                      </a:solidFill>
                      <a:prstDash val="solid"/>
                    </a:lnT>
                    <a:lnB w="28575">
                      <a:solidFill>
                        <a:srgbClr val="000000"/>
                      </a:solidFill>
                      <a:prstDash val="solid"/>
                    </a:lnB>
                  </a:tcPr>
                </a:tc>
                <a:tc>
                  <a:txBody>
                    <a:bodyPr/>
                    <a:lstStyle/>
                    <a:p>
                      <a:pPr marL="54610">
                        <a:lnSpc>
                          <a:spcPct val="100000"/>
                        </a:lnSpc>
                      </a:pPr>
                      <a:r>
                        <a:rPr sz="2400" b="1" dirty="0">
                          <a:latin typeface="微软雅黑"/>
                          <a:cs typeface="微软雅黑"/>
                        </a:rPr>
                        <a:t>回调函数，用于处理所有串口的接收中断，用户在该函数内编写实际的任务</a:t>
                      </a:r>
                      <a:endParaRPr sz="2400">
                        <a:latin typeface="微软雅黑"/>
                        <a:cs typeface="微软雅黑"/>
                      </a:endParaRPr>
                    </a:p>
                    <a:p>
                      <a:pPr marL="54610">
                        <a:lnSpc>
                          <a:spcPct val="100000"/>
                        </a:lnSpc>
                      </a:pPr>
                      <a:r>
                        <a:rPr sz="2400" b="1" spc="-5" dirty="0">
                          <a:latin typeface="微软雅黑"/>
                          <a:cs typeface="微软雅黑"/>
                        </a:rPr>
                        <a:t>处理程序</a:t>
                      </a:r>
                      <a:endParaRPr sz="2400">
                        <a:latin typeface="微软雅黑"/>
                        <a:cs typeface="微软雅黑"/>
                      </a:endParaRPr>
                    </a:p>
                  </a:txBody>
                  <a:tcPr marL="0" marR="0" marT="0" marB="0">
                    <a:lnL w="28574">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r h="551942">
                <a:tc>
                  <a:txBody>
                    <a:bodyPr/>
                    <a:lstStyle/>
                    <a:p>
                      <a:pPr marL="68580">
                        <a:lnSpc>
                          <a:spcPct val="100000"/>
                        </a:lnSpc>
                      </a:pPr>
                      <a:r>
                        <a:rPr sz="2400" b="1" dirty="0">
                          <a:latin typeface="微软雅黑"/>
                          <a:cs typeface="微软雅黑"/>
                        </a:rPr>
                        <a:t>入口参数</a:t>
                      </a:r>
                      <a:endParaRPr sz="2400">
                        <a:latin typeface="微软雅黑"/>
                        <a:cs typeface="微软雅黑"/>
                      </a:endParaRPr>
                    </a:p>
                  </a:txBody>
                  <a:tcPr marL="0" marR="0" marT="0" marB="0">
                    <a:lnL w="28575">
                      <a:solidFill>
                        <a:srgbClr val="000000"/>
                      </a:solidFill>
                      <a:prstDash val="solid"/>
                    </a:lnL>
                    <a:lnR w="28574">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4610">
                        <a:lnSpc>
                          <a:spcPct val="100000"/>
                        </a:lnSpc>
                      </a:pPr>
                      <a:r>
                        <a:rPr sz="2400" b="1" dirty="0">
                          <a:latin typeface="微软雅黑"/>
                          <a:cs typeface="微软雅黑"/>
                        </a:rPr>
                        <a:t>hua</a:t>
                      </a:r>
                      <a:r>
                        <a:rPr sz="2400" b="1" spc="70" dirty="0">
                          <a:latin typeface="微软雅黑"/>
                          <a:cs typeface="微软雅黑"/>
                        </a:rPr>
                        <a:t>r</a:t>
                      </a:r>
                      <a:r>
                        <a:rPr sz="2400" b="1" spc="5" dirty="0">
                          <a:latin typeface="微软雅黑"/>
                          <a:cs typeface="微软雅黑"/>
                        </a:rPr>
                        <a:t>t</a:t>
                      </a:r>
                      <a:r>
                        <a:rPr sz="2400" b="1" dirty="0">
                          <a:latin typeface="微软雅黑"/>
                          <a:cs typeface="微软雅黑"/>
                        </a:rPr>
                        <a:t>：串口句柄的地址</a:t>
                      </a:r>
                      <a:endParaRPr sz="2400">
                        <a:latin typeface="微软雅黑"/>
                        <a:cs typeface="微软雅黑"/>
                      </a:endParaRPr>
                    </a:p>
                  </a:txBody>
                  <a:tcPr marL="0" marR="0" marT="0" marB="0">
                    <a:lnL w="28574">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3"/>
                  </a:ext>
                </a:extLst>
              </a:tr>
              <a:tr h="551814">
                <a:tc>
                  <a:txBody>
                    <a:bodyPr/>
                    <a:lstStyle/>
                    <a:p>
                      <a:pPr marL="220979">
                        <a:lnSpc>
                          <a:spcPct val="100000"/>
                        </a:lnSpc>
                      </a:pPr>
                      <a:r>
                        <a:rPr sz="2400" b="1" dirty="0">
                          <a:latin typeface="微软雅黑"/>
                          <a:cs typeface="微软雅黑"/>
                        </a:rPr>
                        <a:t>返回值</a:t>
                      </a:r>
                      <a:endParaRPr sz="2400">
                        <a:latin typeface="微软雅黑"/>
                        <a:cs typeface="微软雅黑"/>
                      </a:endParaRPr>
                    </a:p>
                  </a:txBody>
                  <a:tcPr marL="0" marR="0" marT="0" marB="0">
                    <a:lnL w="28575">
                      <a:solidFill>
                        <a:srgbClr val="000000"/>
                      </a:solidFill>
                      <a:prstDash val="solid"/>
                    </a:lnL>
                    <a:lnR w="28574">
                      <a:solidFill>
                        <a:srgbClr val="000000"/>
                      </a:solidFill>
                      <a:prstDash val="solid"/>
                    </a:lnR>
                    <a:lnT w="28575">
                      <a:solidFill>
                        <a:srgbClr val="000000"/>
                      </a:solidFill>
                      <a:prstDash val="solid"/>
                    </a:lnT>
                    <a:lnB w="28575">
                      <a:solidFill>
                        <a:srgbClr val="000000"/>
                      </a:solidFill>
                      <a:prstDash val="solid"/>
                    </a:lnB>
                  </a:tcPr>
                </a:tc>
                <a:tc>
                  <a:txBody>
                    <a:bodyPr/>
                    <a:lstStyle/>
                    <a:p>
                      <a:pPr marL="54610">
                        <a:lnSpc>
                          <a:spcPct val="100000"/>
                        </a:lnSpc>
                      </a:pPr>
                      <a:r>
                        <a:rPr sz="2400" b="1" dirty="0">
                          <a:latin typeface="微软雅黑"/>
                          <a:cs typeface="微软雅黑"/>
                        </a:rPr>
                        <a:t>无</a:t>
                      </a:r>
                      <a:endParaRPr sz="2400">
                        <a:latin typeface="微软雅黑"/>
                        <a:cs typeface="微软雅黑"/>
                      </a:endParaRPr>
                    </a:p>
                  </a:txBody>
                  <a:tcPr marL="0" marR="0" marT="0" marB="0">
                    <a:lnL w="28574">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4"/>
                  </a:ext>
                </a:extLst>
              </a:tr>
              <a:tr h="1655686">
                <a:tc>
                  <a:txBody>
                    <a:bodyPr/>
                    <a:lstStyle/>
                    <a:p>
                      <a:pPr marL="68580">
                        <a:lnSpc>
                          <a:spcPct val="100000"/>
                        </a:lnSpc>
                      </a:pPr>
                      <a:r>
                        <a:rPr sz="2400" b="1" dirty="0">
                          <a:latin typeface="微软雅黑"/>
                          <a:cs typeface="微软雅黑"/>
                        </a:rPr>
                        <a:t>注意事项</a:t>
                      </a:r>
                      <a:endParaRPr sz="2400">
                        <a:latin typeface="微软雅黑"/>
                        <a:cs typeface="微软雅黑"/>
                      </a:endParaRPr>
                    </a:p>
                  </a:txBody>
                  <a:tcPr marL="0" marR="0" marT="0" marB="0">
                    <a:lnL w="28575">
                      <a:solidFill>
                        <a:srgbClr val="000000"/>
                      </a:solidFill>
                      <a:prstDash val="solid"/>
                    </a:lnL>
                    <a:lnR w="28574">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4610">
                        <a:lnSpc>
                          <a:spcPct val="100000"/>
                        </a:lnSpc>
                      </a:pPr>
                      <a:r>
                        <a:rPr sz="2400" b="1" dirty="0">
                          <a:latin typeface="微软雅黑"/>
                          <a:cs typeface="微软雅黑"/>
                        </a:rPr>
                        <a:t>1.</a:t>
                      </a:r>
                      <a:r>
                        <a:rPr sz="2400" b="1" spc="-5" dirty="0">
                          <a:latin typeface="微软雅黑"/>
                          <a:cs typeface="微软雅黑"/>
                        </a:rPr>
                        <a:t> 函数由串口中断通用处理函数HA</a:t>
                      </a:r>
                      <a:r>
                        <a:rPr sz="2400" b="1" spc="-10" dirty="0">
                          <a:latin typeface="微软雅黑"/>
                          <a:cs typeface="微软雅黑"/>
                        </a:rPr>
                        <a:t>L</a:t>
                      </a:r>
                      <a:r>
                        <a:rPr sz="2400" b="1" spc="-5" dirty="0">
                          <a:latin typeface="微软雅黑"/>
                          <a:cs typeface="微软雅黑"/>
                        </a:rPr>
                        <a:t>_</a:t>
                      </a:r>
                      <a:r>
                        <a:rPr sz="2400" b="1" spc="-60" dirty="0">
                          <a:latin typeface="微软雅黑"/>
                          <a:cs typeface="微软雅黑"/>
                        </a:rPr>
                        <a:t>U</a:t>
                      </a:r>
                      <a:r>
                        <a:rPr sz="2400" b="1" dirty="0">
                          <a:latin typeface="微软雅黑"/>
                          <a:cs typeface="微软雅黑"/>
                        </a:rPr>
                        <a:t>A</a:t>
                      </a:r>
                      <a:r>
                        <a:rPr sz="2400" b="1" spc="-50" dirty="0">
                          <a:latin typeface="微软雅黑"/>
                          <a:cs typeface="微软雅黑"/>
                        </a:rPr>
                        <a:t>R</a:t>
                      </a:r>
                      <a:r>
                        <a:rPr sz="2400" b="1" spc="-5" dirty="0">
                          <a:latin typeface="微软雅黑"/>
                          <a:cs typeface="微软雅黑"/>
                        </a:rPr>
                        <a:t>T_</a:t>
                      </a:r>
                      <a:r>
                        <a:rPr sz="2400" b="1" spc="5" dirty="0">
                          <a:latin typeface="微软雅黑"/>
                          <a:cs typeface="微软雅黑"/>
                        </a:rPr>
                        <a:t>I</a:t>
                      </a:r>
                      <a:r>
                        <a:rPr sz="2400" b="1" spc="-20" dirty="0">
                          <a:latin typeface="微软雅黑"/>
                          <a:cs typeface="微软雅黑"/>
                        </a:rPr>
                        <a:t>R</a:t>
                      </a:r>
                      <a:r>
                        <a:rPr sz="2400" b="1" spc="-5" dirty="0">
                          <a:latin typeface="微软雅黑"/>
                          <a:cs typeface="微软雅黑"/>
                        </a:rPr>
                        <a:t>QH</a:t>
                      </a:r>
                      <a:r>
                        <a:rPr sz="2400" b="1" spc="5" dirty="0">
                          <a:latin typeface="微软雅黑"/>
                          <a:cs typeface="微软雅黑"/>
                        </a:rPr>
                        <a:t>a</a:t>
                      </a:r>
                      <a:r>
                        <a:rPr sz="2400" b="1" dirty="0">
                          <a:latin typeface="微软雅黑"/>
                          <a:cs typeface="微软雅黑"/>
                        </a:rPr>
                        <a:t>ndle</a:t>
                      </a:r>
                      <a:r>
                        <a:rPr sz="2400" b="1" spc="-35" dirty="0">
                          <a:latin typeface="微软雅黑"/>
                          <a:cs typeface="微软雅黑"/>
                        </a:rPr>
                        <a:t>r</a:t>
                      </a:r>
                      <a:r>
                        <a:rPr sz="2400" b="1" spc="-5" dirty="0">
                          <a:latin typeface="微软雅黑"/>
                          <a:cs typeface="微软雅黑"/>
                        </a:rPr>
                        <a:t>调用，完成所有</a:t>
                      </a:r>
                      <a:endParaRPr sz="2400">
                        <a:latin typeface="微软雅黑"/>
                        <a:cs typeface="微软雅黑"/>
                      </a:endParaRPr>
                    </a:p>
                    <a:p>
                      <a:pPr marL="417195">
                        <a:lnSpc>
                          <a:spcPct val="100000"/>
                        </a:lnSpc>
                      </a:pPr>
                      <a:r>
                        <a:rPr sz="2400" b="1" dirty="0">
                          <a:latin typeface="微软雅黑"/>
                          <a:cs typeface="微软雅黑"/>
                        </a:rPr>
                        <a:t>串口的接收中断任务处理</a:t>
                      </a:r>
                      <a:endParaRPr sz="2400">
                        <a:latin typeface="微软雅黑"/>
                        <a:cs typeface="微软雅黑"/>
                      </a:endParaRPr>
                    </a:p>
                    <a:p>
                      <a:pPr marL="54610">
                        <a:lnSpc>
                          <a:spcPct val="100000"/>
                        </a:lnSpc>
                      </a:pPr>
                      <a:r>
                        <a:rPr sz="2400" b="1" spc="-5" dirty="0">
                          <a:latin typeface="微软雅黑"/>
                          <a:cs typeface="微软雅黑"/>
                        </a:rPr>
                        <a:t>2</a:t>
                      </a:r>
                      <a:r>
                        <a:rPr sz="2400" b="1" dirty="0">
                          <a:latin typeface="微软雅黑"/>
                          <a:cs typeface="微软雅黑"/>
                        </a:rPr>
                        <a:t>. 函数内部需要根据串口句柄的实例来判断是哪一个串口产生的接收中断</a:t>
                      </a:r>
                      <a:endParaRPr sz="2400">
                        <a:latin typeface="微软雅黑"/>
                        <a:cs typeface="微软雅黑"/>
                      </a:endParaRPr>
                    </a:p>
                    <a:p>
                      <a:pPr marL="54610">
                        <a:lnSpc>
                          <a:spcPct val="100000"/>
                        </a:lnSpc>
                      </a:pPr>
                      <a:r>
                        <a:rPr sz="2400" b="1" spc="-10" dirty="0">
                          <a:latin typeface="微软雅黑"/>
                          <a:cs typeface="微软雅黑"/>
                        </a:rPr>
                        <a:t>3</a:t>
                      </a:r>
                      <a:r>
                        <a:rPr sz="2400" b="1" dirty="0">
                          <a:latin typeface="微软雅黑"/>
                          <a:cs typeface="微软雅黑"/>
                        </a:rPr>
                        <a:t>. </a:t>
                      </a:r>
                      <a:r>
                        <a:rPr sz="2400" b="1" spc="-5" dirty="0">
                          <a:latin typeface="微软雅黑"/>
                          <a:cs typeface="微软雅黑"/>
                        </a:rPr>
                        <a:t>函数由用户根据具体的处理任务编写</a:t>
                      </a:r>
                      <a:endParaRPr sz="2400">
                        <a:latin typeface="微软雅黑"/>
                        <a:cs typeface="微软雅黑"/>
                      </a:endParaRPr>
                    </a:p>
                  </a:txBody>
                  <a:tcPr marL="0" marR="0" marT="0" marB="0">
                    <a:lnL w="28574">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38309602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41119" y="5752345"/>
            <a:ext cx="10182860" cy="1023619"/>
          </a:xfrm>
          <a:prstGeom prst="rect">
            <a:avLst/>
          </a:prstGeom>
        </p:spPr>
        <p:txBody>
          <a:bodyPr vert="horz" wrap="square" lIns="0" tIns="0" rIns="0" bIns="0" rtlCol="0">
            <a:spAutoFit/>
          </a:bodyPr>
          <a:lstStyle/>
          <a:p>
            <a:pPr marR="24130" algn="r">
              <a:lnSpc>
                <a:spcPts val="1370"/>
              </a:lnSpc>
            </a:pPr>
            <a:r>
              <a:rPr sz="1200" b="1" spc="-5" dirty="0">
                <a:solidFill>
                  <a:srgbClr val="FFFFFF"/>
                </a:solidFill>
                <a:latin typeface="黑体"/>
                <a:cs typeface="黑体"/>
              </a:rPr>
              <a:t>-- 南昌大学“卓越”辅导员培养工程建设</a:t>
            </a:r>
            <a:endParaRPr sz="1200">
              <a:latin typeface="黑体"/>
              <a:cs typeface="黑体"/>
            </a:endParaRPr>
          </a:p>
        </p:txBody>
      </p:sp>
      <p:sp>
        <p:nvSpPr>
          <p:cNvPr id="3" name="object 3"/>
          <p:cNvSpPr txBox="1">
            <a:spLocks noGrp="1"/>
          </p:cNvSpPr>
          <p:nvPr>
            <p:ph type="title"/>
          </p:nvPr>
        </p:nvSpPr>
        <p:spPr>
          <a:xfrm>
            <a:off x="2055367" y="221807"/>
            <a:ext cx="7949565" cy="381000"/>
          </a:xfrm>
          <a:prstGeom prst="rect">
            <a:avLst/>
          </a:prstGeom>
        </p:spPr>
        <p:txBody>
          <a:bodyPr vert="horz" wrap="square" lIns="0" tIns="0" rIns="0" bIns="0" rtlCol="0">
            <a:spAutoFit/>
          </a:bodyPr>
          <a:lstStyle/>
          <a:p>
            <a:pPr marL="12700">
              <a:lnSpc>
                <a:spcPct val="100000"/>
              </a:lnSpc>
              <a:tabLst>
                <a:tab pos="443865" algn="l"/>
                <a:tab pos="3957320" algn="l"/>
              </a:tabLst>
            </a:pPr>
            <a:r>
              <a:rPr spc="-5" dirty="0">
                <a:solidFill>
                  <a:srgbClr val="000000"/>
                </a:solidFill>
                <a:latin typeface="微软雅黑"/>
                <a:cs typeface="微软雅黑"/>
              </a:rPr>
              <a:t>6	</a:t>
            </a:r>
            <a:r>
              <a:rPr spc="-10" dirty="0">
                <a:solidFill>
                  <a:srgbClr val="000000"/>
                </a:solidFill>
              </a:rPr>
              <a:t>串口中断使能函数</a:t>
            </a:r>
            <a:r>
              <a:rPr spc="-5" dirty="0">
                <a:solidFill>
                  <a:srgbClr val="000000"/>
                </a:solidFill>
              </a:rPr>
              <a:t>：</a:t>
            </a:r>
            <a:r>
              <a:rPr u="heavy" spc="-5" dirty="0">
                <a:solidFill>
                  <a:srgbClr val="000000"/>
                </a:solidFill>
                <a:latin typeface="微软雅黑"/>
                <a:cs typeface="微软雅黑"/>
              </a:rPr>
              <a:t> </a:t>
            </a:r>
            <a:r>
              <a:rPr u="heavy" dirty="0">
                <a:solidFill>
                  <a:srgbClr val="000000"/>
                </a:solidFill>
                <a:latin typeface="微软雅黑"/>
                <a:cs typeface="微软雅黑"/>
              </a:rPr>
              <a:t>	</a:t>
            </a:r>
            <a:r>
              <a:rPr spc="-10" dirty="0">
                <a:solidFill>
                  <a:srgbClr val="000000"/>
                </a:solidFill>
                <a:latin typeface="微软雅黑"/>
                <a:cs typeface="微软雅黑"/>
              </a:rPr>
              <a:t>H</a:t>
            </a:r>
            <a:r>
              <a:rPr spc="-20" dirty="0">
                <a:solidFill>
                  <a:srgbClr val="000000"/>
                </a:solidFill>
                <a:latin typeface="微软雅黑"/>
                <a:cs typeface="微软雅黑"/>
              </a:rPr>
              <a:t>A</a:t>
            </a:r>
            <a:r>
              <a:rPr spc="-5" dirty="0">
                <a:solidFill>
                  <a:srgbClr val="000000"/>
                </a:solidFill>
                <a:latin typeface="微软雅黑"/>
                <a:cs typeface="微软雅黑"/>
              </a:rPr>
              <a:t>L_</a:t>
            </a:r>
            <a:r>
              <a:rPr spc="-70" dirty="0">
                <a:solidFill>
                  <a:srgbClr val="000000"/>
                </a:solidFill>
                <a:latin typeface="微软雅黑"/>
                <a:cs typeface="微软雅黑"/>
              </a:rPr>
              <a:t>U</a:t>
            </a:r>
            <a:r>
              <a:rPr spc="-5" dirty="0">
                <a:solidFill>
                  <a:srgbClr val="000000"/>
                </a:solidFill>
                <a:latin typeface="微软雅黑"/>
                <a:cs typeface="微软雅黑"/>
              </a:rPr>
              <a:t>A</a:t>
            </a:r>
            <a:r>
              <a:rPr spc="-70" dirty="0">
                <a:solidFill>
                  <a:srgbClr val="000000"/>
                </a:solidFill>
                <a:latin typeface="微软雅黑"/>
                <a:cs typeface="微软雅黑"/>
              </a:rPr>
              <a:t>R</a:t>
            </a:r>
            <a:r>
              <a:rPr spc="-10" dirty="0">
                <a:solidFill>
                  <a:srgbClr val="000000"/>
                </a:solidFill>
                <a:latin typeface="微软雅黑"/>
                <a:cs typeface="微软雅黑"/>
              </a:rPr>
              <a:t>T_ENA</a:t>
            </a:r>
            <a:r>
              <a:rPr spc="-5" dirty="0">
                <a:solidFill>
                  <a:srgbClr val="000000"/>
                </a:solidFill>
                <a:latin typeface="微软雅黑"/>
                <a:cs typeface="微软雅黑"/>
              </a:rPr>
              <a:t>BLE</a:t>
            </a:r>
            <a:r>
              <a:rPr spc="-20" dirty="0">
                <a:solidFill>
                  <a:srgbClr val="000000"/>
                </a:solidFill>
                <a:latin typeface="微软雅黑"/>
                <a:cs typeface="微软雅黑"/>
              </a:rPr>
              <a:t>_</a:t>
            </a:r>
            <a:r>
              <a:rPr spc="-5" dirty="0">
                <a:solidFill>
                  <a:srgbClr val="000000"/>
                </a:solidFill>
                <a:latin typeface="微软雅黑"/>
                <a:cs typeface="微软雅黑"/>
              </a:rPr>
              <a:t>IT</a:t>
            </a:r>
          </a:p>
        </p:txBody>
      </p:sp>
      <p:sp>
        <p:nvSpPr>
          <p:cNvPr id="4" name="object 4"/>
          <p:cNvSpPr/>
          <p:nvPr/>
        </p:nvSpPr>
        <p:spPr>
          <a:xfrm>
            <a:off x="1841119" y="5752345"/>
            <a:ext cx="10182860" cy="1003300"/>
          </a:xfrm>
          <a:custGeom>
            <a:avLst/>
            <a:gdLst/>
            <a:ahLst/>
            <a:cxnLst/>
            <a:rect l="l" t="t" r="r" b="b"/>
            <a:pathLst>
              <a:path w="10182860" h="1003300">
                <a:moveTo>
                  <a:pt x="0" y="1003223"/>
                </a:moveTo>
                <a:lnTo>
                  <a:pt x="10182606" y="1003223"/>
                </a:lnTo>
                <a:lnTo>
                  <a:pt x="10182606" y="0"/>
                </a:lnTo>
                <a:lnTo>
                  <a:pt x="0" y="0"/>
                </a:lnTo>
                <a:lnTo>
                  <a:pt x="0" y="1003223"/>
                </a:lnTo>
                <a:close/>
              </a:path>
            </a:pathLst>
          </a:custGeom>
          <a:solidFill>
            <a:srgbClr val="FFFFFF"/>
          </a:solidFill>
        </p:spPr>
        <p:txBody>
          <a:bodyPr wrap="square" lIns="0" tIns="0" rIns="0" bIns="0" rtlCol="0"/>
          <a:lstStyle/>
          <a:p>
            <a:endParaRPr/>
          </a:p>
        </p:txBody>
      </p:sp>
      <p:graphicFrame>
        <p:nvGraphicFramePr>
          <p:cNvPr id="5" name="object 5"/>
          <p:cNvGraphicFramePr>
            <a:graphicFrameLocks noGrp="1"/>
          </p:cNvGraphicFramePr>
          <p:nvPr/>
        </p:nvGraphicFramePr>
        <p:xfrm>
          <a:off x="235089" y="730694"/>
          <a:ext cx="11774220" cy="6010585"/>
        </p:xfrm>
        <a:graphic>
          <a:graphicData uri="http://schemas.openxmlformats.org/drawingml/2006/table">
            <a:tbl>
              <a:tblPr firstRow="1" bandRow="1">
                <a:tableStyleId>{2D5ABB26-0587-4C30-8999-92F81FD0307C}</a:tableStyleId>
              </a:tblPr>
              <a:tblGrid>
                <a:gridCol w="1591741">
                  <a:extLst>
                    <a:ext uri="{9D8B030D-6E8A-4147-A177-3AD203B41FA5}">
                      <a16:colId xmlns:a16="http://schemas.microsoft.com/office/drawing/2014/main" val="20000"/>
                    </a:ext>
                  </a:extLst>
                </a:gridCol>
                <a:gridCol w="10182479">
                  <a:extLst>
                    <a:ext uri="{9D8B030D-6E8A-4147-A177-3AD203B41FA5}">
                      <a16:colId xmlns:a16="http://schemas.microsoft.com/office/drawing/2014/main" val="20001"/>
                    </a:ext>
                  </a:extLst>
                </a:gridCol>
              </a:tblGrid>
              <a:tr h="501522">
                <a:tc gridSpan="2">
                  <a:txBody>
                    <a:bodyPr/>
                    <a:lstStyle/>
                    <a:p>
                      <a:pPr marL="3265804">
                        <a:lnSpc>
                          <a:spcPct val="100000"/>
                        </a:lnSpc>
                        <a:tabLst>
                          <a:tab pos="5064125" algn="l"/>
                        </a:tabLst>
                      </a:pPr>
                      <a:r>
                        <a:rPr sz="2400" b="1" dirty="0">
                          <a:solidFill>
                            <a:srgbClr val="FFFFFF"/>
                          </a:solidFill>
                          <a:latin typeface="微软雅黑"/>
                          <a:cs typeface="微软雅黑"/>
                        </a:rPr>
                        <a:t>接口函数：</a:t>
                      </a:r>
                      <a:r>
                        <a:rPr sz="2400" u="heavy" dirty="0">
                          <a:solidFill>
                            <a:srgbClr val="FFFFFF"/>
                          </a:solidFill>
                          <a:latin typeface="Times New Roman"/>
                          <a:cs typeface="Times New Roman"/>
                        </a:rPr>
                        <a:t> 	</a:t>
                      </a:r>
                      <a:r>
                        <a:rPr sz="2400" b="1" spc="-5" dirty="0">
                          <a:solidFill>
                            <a:srgbClr val="FFFFFF"/>
                          </a:solidFill>
                          <a:latin typeface="微软雅黑"/>
                          <a:cs typeface="微软雅黑"/>
                        </a:rPr>
                        <a:t>H</a:t>
                      </a:r>
                      <a:r>
                        <a:rPr sz="2400" b="1" spc="-10" dirty="0">
                          <a:solidFill>
                            <a:srgbClr val="FFFFFF"/>
                          </a:solidFill>
                          <a:latin typeface="微软雅黑"/>
                          <a:cs typeface="微软雅黑"/>
                        </a:rPr>
                        <a:t>A</a:t>
                      </a:r>
                      <a:r>
                        <a:rPr sz="2400" b="1" dirty="0">
                          <a:solidFill>
                            <a:srgbClr val="FFFFFF"/>
                          </a:solidFill>
                          <a:latin typeface="微软雅黑"/>
                          <a:cs typeface="微软雅黑"/>
                        </a:rPr>
                        <a:t>L_</a:t>
                      </a:r>
                      <a:r>
                        <a:rPr sz="2400" b="1" spc="-65" dirty="0">
                          <a:solidFill>
                            <a:srgbClr val="FFFFFF"/>
                          </a:solidFill>
                          <a:latin typeface="微软雅黑"/>
                          <a:cs typeface="微软雅黑"/>
                        </a:rPr>
                        <a:t>U</a:t>
                      </a:r>
                      <a:r>
                        <a:rPr sz="2400" b="1" dirty="0">
                          <a:solidFill>
                            <a:srgbClr val="FFFFFF"/>
                          </a:solidFill>
                          <a:latin typeface="微软雅黑"/>
                          <a:cs typeface="微软雅黑"/>
                        </a:rPr>
                        <a:t>A</a:t>
                      </a:r>
                      <a:r>
                        <a:rPr sz="2400" b="1" spc="-50" dirty="0">
                          <a:solidFill>
                            <a:srgbClr val="FFFFFF"/>
                          </a:solidFill>
                          <a:latin typeface="微软雅黑"/>
                          <a:cs typeface="微软雅黑"/>
                        </a:rPr>
                        <a:t>R</a:t>
                      </a:r>
                      <a:r>
                        <a:rPr sz="2400" b="1" spc="-5" dirty="0">
                          <a:solidFill>
                            <a:srgbClr val="FFFFFF"/>
                          </a:solidFill>
                          <a:latin typeface="微软雅黑"/>
                          <a:cs typeface="微软雅黑"/>
                        </a:rPr>
                        <a:t>T_ENABLE_IT</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tc hMerge="1">
                  <a:txBody>
                    <a:bodyPr/>
                    <a:lstStyle/>
                    <a:p>
                      <a:endParaRPr/>
                    </a:p>
                  </a:txBody>
                  <a:tcPr marL="0" marR="0" marT="0" marB="0"/>
                </a:tc>
                <a:extLst>
                  <a:ext uri="{0D108BD9-81ED-4DB2-BD59-A6C34878D82A}">
                    <a16:rowId xmlns:a16="http://schemas.microsoft.com/office/drawing/2014/main" val="10000"/>
                  </a:ext>
                </a:extLst>
              </a:tr>
              <a:tr h="783336">
                <a:tc>
                  <a:txBody>
                    <a:bodyPr/>
                    <a:lstStyle/>
                    <a:p>
                      <a:pPr marL="171450">
                        <a:lnSpc>
                          <a:spcPct val="100000"/>
                        </a:lnSpc>
                      </a:pPr>
                      <a:r>
                        <a:rPr sz="2400" b="1" dirty="0">
                          <a:latin typeface="微软雅黑"/>
                          <a:cs typeface="微软雅黑"/>
                        </a:rPr>
                        <a:t>函数原型</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ct val="100000"/>
                        </a:lnSpc>
                        <a:tabLst>
                          <a:tab pos="328295" algn="l"/>
                          <a:tab pos="4131945" algn="l"/>
                          <a:tab pos="5727065" algn="l"/>
                          <a:tab pos="6179820" algn="l"/>
                          <a:tab pos="8232140" algn="l"/>
                        </a:tabLst>
                      </a:pPr>
                      <a:r>
                        <a:rPr sz="2400" u="heavy" dirty="0">
                          <a:latin typeface="Times New Roman"/>
                          <a:cs typeface="Times New Roman"/>
                        </a:rPr>
                        <a:t> 	</a:t>
                      </a:r>
                      <a:r>
                        <a:rPr sz="2400" b="1" spc="-5" dirty="0">
                          <a:latin typeface="微软雅黑"/>
                          <a:cs typeface="微软雅黑"/>
                        </a:rPr>
                        <a:t>H</a:t>
                      </a:r>
                      <a:r>
                        <a:rPr sz="2400" b="1" spc="-10" dirty="0">
                          <a:latin typeface="微软雅黑"/>
                          <a:cs typeface="微软雅黑"/>
                        </a:rPr>
                        <a:t>A</a:t>
                      </a:r>
                      <a:r>
                        <a:rPr sz="2400" b="1" dirty="0">
                          <a:latin typeface="微软雅黑"/>
                          <a:cs typeface="微软雅黑"/>
                        </a:rPr>
                        <a:t>L_</a:t>
                      </a:r>
                      <a:r>
                        <a:rPr sz="2400" b="1" spc="-65" dirty="0">
                          <a:latin typeface="微软雅黑"/>
                          <a:cs typeface="微软雅黑"/>
                        </a:rPr>
                        <a:t>U</a:t>
                      </a:r>
                      <a:r>
                        <a:rPr sz="2400" b="1" dirty="0">
                          <a:latin typeface="微软雅黑"/>
                          <a:cs typeface="微软雅黑"/>
                        </a:rPr>
                        <a:t>A</a:t>
                      </a:r>
                      <a:r>
                        <a:rPr sz="2400" b="1" spc="-50" dirty="0">
                          <a:latin typeface="微软雅黑"/>
                          <a:cs typeface="微软雅黑"/>
                        </a:rPr>
                        <a:t>R</a:t>
                      </a:r>
                      <a:r>
                        <a:rPr sz="2400" b="1" spc="-5" dirty="0">
                          <a:latin typeface="微软雅黑"/>
                          <a:cs typeface="微软雅黑"/>
                        </a:rPr>
                        <a:t>T_ENABLE_IT(</a:t>
                      </a:r>
                      <a:r>
                        <a:rPr sz="2400" b="1" u="heavy" dirty="0">
                          <a:latin typeface="微软雅黑"/>
                          <a:cs typeface="微软雅黑"/>
                        </a:rPr>
                        <a:t> 	</a:t>
                      </a:r>
                      <a:r>
                        <a:rPr sz="2400" b="1" spc="-5" dirty="0">
                          <a:latin typeface="微软雅黑"/>
                          <a:cs typeface="微软雅黑"/>
                        </a:rPr>
                        <a:t>HANDL</a:t>
                      </a:r>
                      <a:r>
                        <a:rPr sz="2400" b="1" spc="10" dirty="0">
                          <a:latin typeface="微软雅黑"/>
                          <a:cs typeface="微软雅黑"/>
                        </a:rPr>
                        <a:t>E</a:t>
                      </a:r>
                      <a:r>
                        <a:rPr sz="2400" b="1" u="heavy" dirty="0">
                          <a:latin typeface="微软雅黑"/>
                          <a:cs typeface="微软雅黑"/>
                        </a:rPr>
                        <a:t> 	</a:t>
                      </a:r>
                      <a:r>
                        <a:rPr sz="2400" b="1" dirty="0">
                          <a:latin typeface="微软雅黑"/>
                          <a:cs typeface="微软雅黑"/>
                        </a:rPr>
                        <a:t>, </a:t>
                      </a:r>
                      <a:r>
                        <a:rPr sz="2400" b="1" u="heavy" dirty="0">
                          <a:latin typeface="微软雅黑"/>
                          <a:cs typeface="微软雅黑"/>
                        </a:rPr>
                        <a:t> 	</a:t>
                      </a:r>
                      <a:r>
                        <a:rPr sz="2400" b="1" spc="-5" dirty="0">
                          <a:latin typeface="微软雅黑"/>
                          <a:cs typeface="微软雅黑"/>
                        </a:rPr>
                        <a:t>INTER</a:t>
                      </a:r>
                      <a:r>
                        <a:rPr sz="2400" b="1" spc="5" dirty="0">
                          <a:latin typeface="微软雅黑"/>
                          <a:cs typeface="微软雅黑"/>
                        </a:rPr>
                        <a:t>R</a:t>
                      </a:r>
                      <a:r>
                        <a:rPr sz="2400" b="1" spc="-5" dirty="0">
                          <a:latin typeface="微软雅黑"/>
                          <a:cs typeface="微软雅黑"/>
                        </a:rPr>
                        <a:t>U</a:t>
                      </a:r>
                      <a:r>
                        <a:rPr sz="2400" b="1" spc="-10" dirty="0">
                          <a:latin typeface="微软雅黑"/>
                          <a:cs typeface="微软雅黑"/>
                        </a:rPr>
                        <a:t>P</a:t>
                      </a:r>
                      <a:r>
                        <a:rPr sz="2400" b="1" spc="-5" dirty="0">
                          <a:latin typeface="微软雅黑"/>
                          <a:cs typeface="微软雅黑"/>
                        </a:rPr>
                        <a:t>T</a:t>
                      </a:r>
                      <a:r>
                        <a:rPr sz="2400" b="1" u="heavy" dirty="0">
                          <a:latin typeface="微软雅黑"/>
                          <a:cs typeface="微软雅黑"/>
                        </a:rPr>
                        <a:t> 	</a:t>
                      </a:r>
                      <a:r>
                        <a:rPr sz="2400" b="1" dirty="0">
                          <a:latin typeface="微软雅黑"/>
                          <a:cs typeface="微软雅黑"/>
                        </a:rPr>
                        <a:t>)</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1"/>
                  </a:ext>
                </a:extLst>
              </a:tr>
              <a:tr h="695071">
                <a:tc>
                  <a:txBody>
                    <a:bodyPr/>
                    <a:lstStyle/>
                    <a:p>
                      <a:pPr marL="171450">
                        <a:lnSpc>
                          <a:spcPct val="100000"/>
                        </a:lnSpc>
                      </a:pPr>
                      <a:r>
                        <a:rPr sz="2400" b="1" dirty="0">
                          <a:latin typeface="微软雅黑"/>
                          <a:cs typeface="微软雅黑"/>
                        </a:rPr>
                        <a:t>功能描述</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3975">
                        <a:lnSpc>
                          <a:spcPct val="100000"/>
                        </a:lnSpc>
                      </a:pPr>
                      <a:r>
                        <a:rPr sz="2400" b="1" dirty="0">
                          <a:latin typeface="微软雅黑"/>
                          <a:cs typeface="微软雅黑"/>
                        </a:rPr>
                        <a:t>使能对应的串口中断类型</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r h="546988">
                <a:tc>
                  <a:txBody>
                    <a:bodyPr/>
                    <a:lstStyle/>
                    <a:p>
                      <a:pPr marL="381635">
                        <a:lnSpc>
                          <a:spcPct val="100000"/>
                        </a:lnSpc>
                      </a:pPr>
                      <a:r>
                        <a:rPr sz="2400" b="1" dirty="0">
                          <a:latin typeface="微软雅黑"/>
                          <a:cs typeface="微软雅黑"/>
                        </a:rPr>
                        <a:t>参数1</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ct val="100000"/>
                        </a:lnSpc>
                        <a:tabLst>
                          <a:tab pos="328295" algn="l"/>
                          <a:tab pos="1921510" algn="l"/>
                        </a:tabLst>
                      </a:pPr>
                      <a:r>
                        <a:rPr sz="2400" b="1" u="heavy" dirty="0">
                          <a:latin typeface="微软雅黑"/>
                          <a:cs typeface="微软雅黑"/>
                        </a:rPr>
                        <a:t> 	</a:t>
                      </a:r>
                      <a:r>
                        <a:rPr sz="2400" b="1" spc="-5" dirty="0">
                          <a:latin typeface="微软雅黑"/>
                          <a:cs typeface="微软雅黑"/>
                        </a:rPr>
                        <a:t>H</a:t>
                      </a:r>
                      <a:r>
                        <a:rPr sz="2400" b="1" spc="-10" dirty="0">
                          <a:latin typeface="微软雅黑"/>
                          <a:cs typeface="微软雅黑"/>
                        </a:rPr>
                        <a:t>A</a:t>
                      </a:r>
                      <a:r>
                        <a:rPr sz="2400" b="1" spc="-5" dirty="0">
                          <a:latin typeface="微软雅黑"/>
                          <a:cs typeface="微软雅黑"/>
                        </a:rPr>
                        <a:t>NDL</a:t>
                      </a:r>
                      <a:r>
                        <a:rPr sz="2400" b="1" spc="-10" dirty="0">
                          <a:latin typeface="微软雅黑"/>
                          <a:cs typeface="微软雅黑"/>
                        </a:rPr>
                        <a:t>E</a:t>
                      </a:r>
                      <a:r>
                        <a:rPr sz="2400" b="1" u="heavy" dirty="0">
                          <a:latin typeface="微软雅黑"/>
                          <a:cs typeface="微软雅黑"/>
                        </a:rPr>
                        <a:t> 	</a:t>
                      </a:r>
                      <a:r>
                        <a:rPr sz="2400" b="1" dirty="0">
                          <a:latin typeface="微软雅黑"/>
                          <a:cs typeface="微软雅黑"/>
                        </a:rPr>
                        <a:t>：串口句柄的地址</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3"/>
                  </a:ext>
                </a:extLst>
              </a:tr>
              <a:tr h="1978787">
                <a:tc>
                  <a:txBody>
                    <a:bodyPr/>
                    <a:lstStyle/>
                    <a:p>
                      <a:pPr marL="381635">
                        <a:lnSpc>
                          <a:spcPct val="100000"/>
                        </a:lnSpc>
                      </a:pPr>
                      <a:r>
                        <a:rPr sz="2400" b="1" dirty="0">
                          <a:latin typeface="微软雅黑"/>
                          <a:cs typeface="微软雅黑"/>
                        </a:rPr>
                        <a:t>参数2</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3975">
                        <a:lnSpc>
                          <a:spcPct val="100000"/>
                        </a:lnSpc>
                        <a:tabLst>
                          <a:tab pos="328295" algn="l"/>
                          <a:tab pos="2557145" algn="l"/>
                        </a:tabLst>
                      </a:pPr>
                      <a:r>
                        <a:rPr sz="2400" b="1" u="heavy" dirty="0">
                          <a:latin typeface="微软雅黑"/>
                          <a:cs typeface="微软雅黑"/>
                        </a:rPr>
                        <a:t> 	</a:t>
                      </a:r>
                      <a:r>
                        <a:rPr sz="2400" b="1" spc="-5" dirty="0">
                          <a:latin typeface="微软雅黑"/>
                          <a:cs typeface="微软雅黑"/>
                        </a:rPr>
                        <a:t>INTERRU</a:t>
                      </a:r>
                      <a:r>
                        <a:rPr sz="2400" b="1" spc="-10" dirty="0">
                          <a:latin typeface="微软雅黑"/>
                          <a:cs typeface="微软雅黑"/>
                        </a:rPr>
                        <a:t>P</a:t>
                      </a:r>
                      <a:r>
                        <a:rPr sz="2400" b="1" dirty="0">
                          <a:latin typeface="微软雅黑"/>
                          <a:cs typeface="微软雅黑"/>
                        </a:rPr>
                        <a:t>T</a:t>
                      </a:r>
                      <a:r>
                        <a:rPr sz="2400" b="1" spc="-20" dirty="0">
                          <a:latin typeface="微软雅黑"/>
                          <a:cs typeface="微软雅黑"/>
                        </a:rPr>
                        <a:t> </a:t>
                      </a:r>
                      <a:r>
                        <a:rPr sz="2400" b="1" u="heavy" dirty="0">
                          <a:latin typeface="微软雅黑"/>
                          <a:cs typeface="微软雅黑"/>
                        </a:rPr>
                        <a:t> 	</a:t>
                      </a:r>
                      <a:r>
                        <a:rPr sz="2400" b="1" spc="-5" dirty="0">
                          <a:latin typeface="微软雅黑"/>
                          <a:cs typeface="微软雅黑"/>
                        </a:rPr>
                        <a:t>：</a:t>
                      </a:r>
                      <a:r>
                        <a:rPr sz="2400" b="1" dirty="0">
                          <a:latin typeface="微软雅黑"/>
                          <a:cs typeface="微软雅黑"/>
                        </a:rPr>
                        <a:t>串口中断类</a:t>
                      </a:r>
                      <a:r>
                        <a:rPr sz="2400" b="1" spc="-15" dirty="0">
                          <a:latin typeface="微软雅黑"/>
                          <a:cs typeface="微软雅黑"/>
                        </a:rPr>
                        <a:t>型</a:t>
                      </a:r>
                      <a:r>
                        <a:rPr sz="2400" b="1" spc="-5" dirty="0">
                          <a:latin typeface="微软雅黑"/>
                          <a:cs typeface="微软雅黑"/>
                        </a:rPr>
                        <a:t>，</a:t>
                      </a:r>
                      <a:r>
                        <a:rPr sz="2400" b="1" dirty="0">
                          <a:latin typeface="微软雅黑"/>
                          <a:cs typeface="微软雅黑"/>
                        </a:rPr>
                        <a:t>该参数几个常用的取值如下：</a:t>
                      </a:r>
                      <a:endParaRPr sz="2400">
                        <a:latin typeface="微软雅黑"/>
                        <a:cs typeface="微软雅黑"/>
                      </a:endParaRPr>
                    </a:p>
                    <a:p>
                      <a:pPr marL="416559" marR="3785870">
                        <a:lnSpc>
                          <a:spcPct val="100000"/>
                        </a:lnSpc>
                        <a:tabLst>
                          <a:tab pos="2671445" algn="l"/>
                        </a:tabLst>
                      </a:pPr>
                      <a:r>
                        <a:rPr sz="2400" b="1" spc="-65" dirty="0">
                          <a:latin typeface="微软雅黑"/>
                          <a:cs typeface="微软雅黑"/>
                        </a:rPr>
                        <a:t>U</a:t>
                      </a:r>
                      <a:r>
                        <a:rPr sz="2400" b="1" dirty="0">
                          <a:latin typeface="微软雅黑"/>
                          <a:cs typeface="微软雅黑"/>
                        </a:rPr>
                        <a:t>A</a:t>
                      </a:r>
                      <a:r>
                        <a:rPr sz="2400" b="1" spc="-50" dirty="0">
                          <a:latin typeface="微软雅黑"/>
                          <a:cs typeface="微软雅黑"/>
                        </a:rPr>
                        <a:t>R</a:t>
                      </a:r>
                      <a:r>
                        <a:rPr sz="2400" b="1" spc="-5" dirty="0">
                          <a:latin typeface="微软雅黑"/>
                          <a:cs typeface="微软雅黑"/>
                        </a:rPr>
                        <a:t>T_IT</a:t>
                      </a:r>
                      <a:r>
                        <a:rPr sz="2400" b="1" spc="5" dirty="0">
                          <a:latin typeface="微软雅黑"/>
                          <a:cs typeface="微软雅黑"/>
                        </a:rPr>
                        <a:t>_</a:t>
                      </a:r>
                      <a:r>
                        <a:rPr sz="2400" b="1" spc="-5" dirty="0">
                          <a:latin typeface="微软雅黑"/>
                          <a:cs typeface="微软雅黑"/>
                        </a:rPr>
                        <a:t>TX</a:t>
                      </a:r>
                      <a:r>
                        <a:rPr sz="2400" b="1" dirty="0">
                          <a:latin typeface="微软雅黑"/>
                          <a:cs typeface="微软雅黑"/>
                        </a:rPr>
                        <a:t>E	 ：发送数据寄存器空中断 </a:t>
                      </a:r>
                      <a:r>
                        <a:rPr sz="2400" b="1" spc="-65" dirty="0">
                          <a:latin typeface="微软雅黑"/>
                          <a:cs typeface="微软雅黑"/>
                        </a:rPr>
                        <a:t>U</a:t>
                      </a:r>
                      <a:r>
                        <a:rPr sz="2400" b="1" dirty="0">
                          <a:latin typeface="微软雅黑"/>
                          <a:cs typeface="微软雅黑"/>
                        </a:rPr>
                        <a:t>A</a:t>
                      </a:r>
                      <a:r>
                        <a:rPr sz="2400" b="1" spc="-50" dirty="0">
                          <a:latin typeface="微软雅黑"/>
                          <a:cs typeface="微软雅黑"/>
                        </a:rPr>
                        <a:t>R</a:t>
                      </a:r>
                      <a:r>
                        <a:rPr sz="2400" b="1" spc="-5" dirty="0">
                          <a:latin typeface="微软雅黑"/>
                          <a:cs typeface="微软雅黑"/>
                        </a:rPr>
                        <a:t>T_IT</a:t>
                      </a:r>
                      <a:r>
                        <a:rPr sz="2400" b="1" spc="5" dirty="0">
                          <a:latin typeface="微软雅黑"/>
                          <a:cs typeface="微软雅黑"/>
                        </a:rPr>
                        <a:t>_</a:t>
                      </a:r>
                      <a:r>
                        <a:rPr sz="2400" b="1" spc="-100" dirty="0">
                          <a:latin typeface="微软雅黑"/>
                          <a:cs typeface="微软雅黑"/>
                        </a:rPr>
                        <a:t>T</a:t>
                      </a:r>
                      <a:r>
                        <a:rPr sz="2400" b="1" dirty="0">
                          <a:latin typeface="微软雅黑"/>
                          <a:cs typeface="微软雅黑"/>
                        </a:rPr>
                        <a:t>C	：发送完成中断 </a:t>
                      </a:r>
                      <a:r>
                        <a:rPr sz="2400" b="1" spc="-65" dirty="0">
                          <a:latin typeface="微软雅黑"/>
                          <a:cs typeface="微软雅黑"/>
                        </a:rPr>
                        <a:t>U</a:t>
                      </a:r>
                      <a:r>
                        <a:rPr sz="2400" b="1" dirty="0">
                          <a:latin typeface="微软雅黑"/>
                          <a:cs typeface="微软雅黑"/>
                        </a:rPr>
                        <a:t>A</a:t>
                      </a:r>
                      <a:r>
                        <a:rPr sz="2400" b="1" spc="-50" dirty="0">
                          <a:latin typeface="微软雅黑"/>
                          <a:cs typeface="微软雅黑"/>
                        </a:rPr>
                        <a:t>R</a:t>
                      </a:r>
                      <a:r>
                        <a:rPr sz="2400" b="1" spc="-5" dirty="0">
                          <a:latin typeface="微软雅黑"/>
                          <a:cs typeface="微软雅黑"/>
                        </a:rPr>
                        <a:t>T_IT</a:t>
                      </a:r>
                      <a:r>
                        <a:rPr sz="2400" b="1" spc="5" dirty="0">
                          <a:latin typeface="微软雅黑"/>
                          <a:cs typeface="微软雅黑"/>
                        </a:rPr>
                        <a:t>_</a:t>
                      </a:r>
                      <a:r>
                        <a:rPr sz="2400" b="1" spc="-5" dirty="0">
                          <a:latin typeface="微软雅黑"/>
                          <a:cs typeface="微软雅黑"/>
                        </a:rPr>
                        <a:t>RX</a:t>
                      </a:r>
                      <a:r>
                        <a:rPr sz="2400" b="1" spc="5" dirty="0">
                          <a:latin typeface="微软雅黑"/>
                          <a:cs typeface="微软雅黑"/>
                        </a:rPr>
                        <a:t>N</a:t>
                      </a:r>
                      <a:r>
                        <a:rPr sz="2400" b="1" dirty="0">
                          <a:latin typeface="微软雅黑"/>
                          <a:cs typeface="微软雅黑"/>
                        </a:rPr>
                        <a:t>E：接收数据寄存器非空中断 </a:t>
                      </a:r>
                      <a:r>
                        <a:rPr sz="2400" b="1" spc="-65" dirty="0">
                          <a:latin typeface="微软雅黑"/>
                          <a:cs typeface="微软雅黑"/>
                        </a:rPr>
                        <a:t>U</a:t>
                      </a:r>
                      <a:r>
                        <a:rPr sz="2400" b="1" dirty="0">
                          <a:latin typeface="微软雅黑"/>
                          <a:cs typeface="微软雅黑"/>
                        </a:rPr>
                        <a:t>A</a:t>
                      </a:r>
                      <a:r>
                        <a:rPr sz="2400" b="1" spc="-50" dirty="0">
                          <a:latin typeface="微软雅黑"/>
                          <a:cs typeface="微软雅黑"/>
                        </a:rPr>
                        <a:t>R</a:t>
                      </a:r>
                      <a:r>
                        <a:rPr sz="2400" b="1" spc="-5" dirty="0">
                          <a:latin typeface="微软雅黑"/>
                          <a:cs typeface="微软雅黑"/>
                        </a:rPr>
                        <a:t>T_IT</a:t>
                      </a:r>
                      <a:r>
                        <a:rPr sz="2400" b="1" spc="5" dirty="0">
                          <a:latin typeface="微软雅黑"/>
                          <a:cs typeface="微软雅黑"/>
                        </a:rPr>
                        <a:t>_</a:t>
                      </a:r>
                      <a:r>
                        <a:rPr sz="2400" b="1" spc="-5" dirty="0">
                          <a:latin typeface="微软雅黑"/>
                          <a:cs typeface="微软雅黑"/>
                        </a:rPr>
                        <a:t>ID</a:t>
                      </a:r>
                      <a:r>
                        <a:rPr sz="2400" b="1" spc="-10" dirty="0">
                          <a:latin typeface="微软雅黑"/>
                          <a:cs typeface="微软雅黑"/>
                        </a:rPr>
                        <a:t>L</a:t>
                      </a:r>
                      <a:r>
                        <a:rPr sz="2400" b="1" dirty="0">
                          <a:latin typeface="微软雅黑"/>
                          <a:cs typeface="微软雅黑"/>
                        </a:rPr>
                        <a:t>E	 ：线路空闲中断</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4"/>
                  </a:ext>
                </a:extLst>
              </a:tr>
              <a:tr h="501650">
                <a:tc>
                  <a:txBody>
                    <a:bodyPr/>
                    <a:lstStyle/>
                    <a:p>
                      <a:pPr marL="323850">
                        <a:lnSpc>
                          <a:spcPct val="100000"/>
                        </a:lnSpc>
                      </a:pPr>
                      <a:r>
                        <a:rPr sz="2400" b="1" dirty="0">
                          <a:latin typeface="微软雅黑"/>
                          <a:cs typeface="微软雅黑"/>
                        </a:rPr>
                        <a:t>返回值</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ct val="100000"/>
                        </a:lnSpc>
                      </a:pPr>
                      <a:r>
                        <a:rPr sz="2400" b="1" dirty="0">
                          <a:latin typeface="微软雅黑"/>
                          <a:cs typeface="微软雅黑"/>
                        </a:rPr>
                        <a:t>无</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5"/>
                  </a:ext>
                </a:extLst>
              </a:tr>
              <a:tr h="1003231">
                <a:tc>
                  <a:txBody>
                    <a:bodyPr/>
                    <a:lstStyle/>
                    <a:p>
                      <a:pPr marL="171450">
                        <a:lnSpc>
                          <a:spcPct val="100000"/>
                        </a:lnSpc>
                      </a:pPr>
                      <a:r>
                        <a:rPr sz="2400" b="1" dirty="0">
                          <a:latin typeface="微软雅黑"/>
                          <a:cs typeface="微软雅黑"/>
                        </a:rPr>
                        <a:t>注意事项</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3975">
                        <a:lnSpc>
                          <a:spcPct val="100000"/>
                        </a:lnSpc>
                      </a:pPr>
                      <a:r>
                        <a:rPr sz="2400" b="1" dirty="0">
                          <a:latin typeface="微软雅黑"/>
                          <a:cs typeface="微软雅黑"/>
                        </a:rPr>
                        <a:t>1.</a:t>
                      </a:r>
                      <a:r>
                        <a:rPr sz="2400" b="1" spc="-5" dirty="0">
                          <a:latin typeface="微软雅黑"/>
                          <a:cs typeface="微软雅黑"/>
                        </a:rPr>
                        <a:t> </a:t>
                      </a:r>
                      <a:r>
                        <a:rPr sz="2400" b="1" dirty="0">
                          <a:latin typeface="微软雅黑"/>
                          <a:cs typeface="微软雅黑"/>
                        </a:rPr>
                        <a:t>该函数是宏函数，进行宏替换，不发生函数调用</a:t>
                      </a:r>
                      <a:endParaRPr sz="2400">
                        <a:latin typeface="微软雅黑"/>
                        <a:cs typeface="微软雅黑"/>
                      </a:endParaRPr>
                    </a:p>
                    <a:p>
                      <a:pPr marL="53975">
                        <a:lnSpc>
                          <a:spcPct val="100000"/>
                        </a:lnSpc>
                      </a:pPr>
                      <a:r>
                        <a:rPr sz="2400" b="1" dirty="0">
                          <a:latin typeface="微软雅黑"/>
                          <a:cs typeface="微软雅黑"/>
                        </a:rPr>
                        <a:t>2.</a:t>
                      </a:r>
                      <a:r>
                        <a:rPr sz="2400" b="1" spc="-5" dirty="0">
                          <a:latin typeface="微软雅黑"/>
                          <a:cs typeface="微软雅黑"/>
                        </a:rPr>
                        <a:t> </a:t>
                      </a:r>
                      <a:r>
                        <a:rPr sz="2400" b="1" dirty="0">
                          <a:latin typeface="微软雅黑"/>
                          <a:cs typeface="微软雅黑"/>
                        </a:rPr>
                        <a:t>函数需要由用户调用，用</a:t>
                      </a:r>
                      <a:r>
                        <a:rPr sz="2400" b="1" spc="5" dirty="0">
                          <a:latin typeface="微软雅黑"/>
                          <a:cs typeface="微软雅黑"/>
                        </a:rPr>
                        <a:t>于</a:t>
                      </a:r>
                      <a:r>
                        <a:rPr sz="2400" b="1" dirty="0">
                          <a:latin typeface="微软雅黑"/>
                          <a:cs typeface="微软雅黑"/>
                        </a:rPr>
                        <a:t>使能对应的串口中断类型</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64454997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41119" y="5707507"/>
            <a:ext cx="10182860" cy="1068705"/>
          </a:xfrm>
          <a:prstGeom prst="rect">
            <a:avLst/>
          </a:prstGeom>
        </p:spPr>
        <p:txBody>
          <a:bodyPr vert="horz" wrap="square" lIns="0" tIns="0" rIns="0" bIns="0" rtlCol="0">
            <a:spAutoFit/>
          </a:bodyPr>
          <a:lstStyle/>
          <a:p>
            <a:pPr marR="24130" algn="r">
              <a:lnSpc>
                <a:spcPts val="1370"/>
              </a:lnSpc>
            </a:pPr>
            <a:r>
              <a:rPr sz="1200" b="1" spc="-5" dirty="0">
                <a:solidFill>
                  <a:srgbClr val="FFFFFF"/>
                </a:solidFill>
                <a:latin typeface="黑体"/>
                <a:cs typeface="黑体"/>
              </a:rPr>
              <a:t>-- 南昌大学“卓越”辅导员培养工程建设</a:t>
            </a:r>
            <a:endParaRPr sz="1200">
              <a:latin typeface="黑体"/>
              <a:cs typeface="黑体"/>
            </a:endParaRPr>
          </a:p>
        </p:txBody>
      </p:sp>
      <p:sp>
        <p:nvSpPr>
          <p:cNvPr id="3" name="object 3"/>
          <p:cNvSpPr txBox="1">
            <a:spLocks noGrp="1"/>
          </p:cNvSpPr>
          <p:nvPr>
            <p:ph type="title"/>
          </p:nvPr>
        </p:nvSpPr>
        <p:spPr>
          <a:xfrm>
            <a:off x="1784985" y="221807"/>
            <a:ext cx="8542655" cy="381000"/>
          </a:xfrm>
          <a:prstGeom prst="rect">
            <a:avLst/>
          </a:prstGeom>
        </p:spPr>
        <p:txBody>
          <a:bodyPr vert="horz" wrap="square" lIns="0" tIns="0" rIns="0" bIns="0" rtlCol="0">
            <a:spAutoFit/>
          </a:bodyPr>
          <a:lstStyle/>
          <a:p>
            <a:pPr marL="12700">
              <a:lnSpc>
                <a:spcPct val="100000"/>
              </a:lnSpc>
              <a:tabLst>
                <a:tab pos="443865" algn="l"/>
                <a:tab pos="4667250" algn="l"/>
              </a:tabLst>
            </a:pPr>
            <a:r>
              <a:rPr spc="-5" dirty="0">
                <a:solidFill>
                  <a:srgbClr val="000000"/>
                </a:solidFill>
                <a:latin typeface="微软雅黑"/>
                <a:cs typeface="微软雅黑"/>
              </a:rPr>
              <a:t>7	</a:t>
            </a:r>
            <a:r>
              <a:rPr spc="-10" dirty="0">
                <a:solidFill>
                  <a:srgbClr val="000000"/>
                </a:solidFill>
              </a:rPr>
              <a:t>串口中断标志查询函数</a:t>
            </a:r>
            <a:r>
              <a:rPr spc="-5" dirty="0">
                <a:solidFill>
                  <a:srgbClr val="000000"/>
                </a:solidFill>
              </a:rPr>
              <a:t>：</a:t>
            </a:r>
            <a:r>
              <a:rPr u="heavy" spc="-5" dirty="0">
                <a:solidFill>
                  <a:srgbClr val="000000"/>
                </a:solidFill>
                <a:latin typeface="微软雅黑"/>
                <a:cs typeface="微软雅黑"/>
              </a:rPr>
              <a:t> </a:t>
            </a:r>
            <a:r>
              <a:rPr u="heavy" dirty="0">
                <a:solidFill>
                  <a:srgbClr val="000000"/>
                </a:solidFill>
                <a:latin typeface="微软雅黑"/>
                <a:cs typeface="微软雅黑"/>
              </a:rPr>
              <a:t>	</a:t>
            </a:r>
            <a:r>
              <a:rPr spc="-10" dirty="0">
                <a:solidFill>
                  <a:srgbClr val="000000"/>
                </a:solidFill>
                <a:latin typeface="微软雅黑"/>
                <a:cs typeface="微软雅黑"/>
              </a:rPr>
              <a:t>HAL</a:t>
            </a:r>
            <a:r>
              <a:rPr spc="-15" dirty="0">
                <a:solidFill>
                  <a:srgbClr val="000000"/>
                </a:solidFill>
                <a:latin typeface="微软雅黑"/>
                <a:cs typeface="微软雅黑"/>
              </a:rPr>
              <a:t>_</a:t>
            </a:r>
            <a:r>
              <a:rPr spc="-65" dirty="0">
                <a:solidFill>
                  <a:srgbClr val="000000"/>
                </a:solidFill>
                <a:latin typeface="微软雅黑"/>
                <a:cs typeface="微软雅黑"/>
              </a:rPr>
              <a:t>U</a:t>
            </a:r>
            <a:r>
              <a:rPr spc="-5" dirty="0">
                <a:solidFill>
                  <a:srgbClr val="000000"/>
                </a:solidFill>
                <a:latin typeface="微软雅黑"/>
                <a:cs typeface="微软雅黑"/>
              </a:rPr>
              <a:t>A</a:t>
            </a:r>
            <a:r>
              <a:rPr spc="-70" dirty="0">
                <a:solidFill>
                  <a:srgbClr val="000000"/>
                </a:solidFill>
                <a:latin typeface="微软雅黑"/>
                <a:cs typeface="微软雅黑"/>
              </a:rPr>
              <a:t>R</a:t>
            </a:r>
            <a:r>
              <a:rPr spc="-10" dirty="0">
                <a:solidFill>
                  <a:srgbClr val="000000"/>
                </a:solidFill>
                <a:latin typeface="微软雅黑"/>
                <a:cs typeface="微软雅黑"/>
              </a:rPr>
              <a:t>T_G</a:t>
            </a:r>
            <a:r>
              <a:rPr spc="0" dirty="0">
                <a:solidFill>
                  <a:srgbClr val="000000"/>
                </a:solidFill>
                <a:latin typeface="微软雅黑"/>
                <a:cs typeface="微软雅黑"/>
              </a:rPr>
              <a:t>E</a:t>
            </a:r>
            <a:r>
              <a:rPr spc="-10" dirty="0">
                <a:solidFill>
                  <a:srgbClr val="000000"/>
                </a:solidFill>
                <a:latin typeface="微软雅黑"/>
                <a:cs typeface="微软雅黑"/>
              </a:rPr>
              <a:t>T_F</a:t>
            </a:r>
            <a:r>
              <a:rPr spc="60" dirty="0">
                <a:solidFill>
                  <a:srgbClr val="000000"/>
                </a:solidFill>
                <a:latin typeface="微软雅黑"/>
                <a:cs typeface="微软雅黑"/>
              </a:rPr>
              <a:t>L</a:t>
            </a:r>
            <a:r>
              <a:rPr spc="-45" dirty="0">
                <a:solidFill>
                  <a:srgbClr val="000000"/>
                </a:solidFill>
                <a:latin typeface="微软雅黑"/>
                <a:cs typeface="微软雅黑"/>
              </a:rPr>
              <a:t>A</a:t>
            </a:r>
            <a:r>
              <a:rPr spc="-5" dirty="0">
                <a:solidFill>
                  <a:srgbClr val="000000"/>
                </a:solidFill>
                <a:latin typeface="微软雅黑"/>
                <a:cs typeface="微软雅黑"/>
              </a:rPr>
              <a:t>G</a:t>
            </a:r>
          </a:p>
        </p:txBody>
      </p:sp>
      <p:sp>
        <p:nvSpPr>
          <p:cNvPr id="4" name="object 4"/>
          <p:cNvSpPr/>
          <p:nvPr/>
        </p:nvSpPr>
        <p:spPr>
          <a:xfrm>
            <a:off x="1841119" y="5707507"/>
            <a:ext cx="10182860" cy="1003300"/>
          </a:xfrm>
          <a:custGeom>
            <a:avLst/>
            <a:gdLst/>
            <a:ahLst/>
            <a:cxnLst/>
            <a:rect l="l" t="t" r="r" b="b"/>
            <a:pathLst>
              <a:path w="10182860" h="1003300">
                <a:moveTo>
                  <a:pt x="0" y="1003223"/>
                </a:moveTo>
                <a:lnTo>
                  <a:pt x="10182606" y="1003223"/>
                </a:lnTo>
                <a:lnTo>
                  <a:pt x="10182606" y="0"/>
                </a:lnTo>
                <a:lnTo>
                  <a:pt x="0" y="0"/>
                </a:lnTo>
                <a:lnTo>
                  <a:pt x="0" y="1003223"/>
                </a:lnTo>
                <a:close/>
              </a:path>
            </a:pathLst>
          </a:custGeom>
          <a:solidFill>
            <a:srgbClr val="FFFFFF"/>
          </a:solidFill>
        </p:spPr>
        <p:txBody>
          <a:bodyPr wrap="square" lIns="0" tIns="0" rIns="0" bIns="0" rtlCol="0"/>
          <a:lstStyle/>
          <a:p>
            <a:endParaRPr/>
          </a:p>
        </p:txBody>
      </p:sp>
      <p:graphicFrame>
        <p:nvGraphicFramePr>
          <p:cNvPr id="5" name="object 5"/>
          <p:cNvGraphicFramePr>
            <a:graphicFrameLocks noGrp="1"/>
          </p:cNvGraphicFramePr>
          <p:nvPr/>
        </p:nvGraphicFramePr>
        <p:xfrm>
          <a:off x="235089" y="806132"/>
          <a:ext cx="11774220" cy="5890307"/>
        </p:xfrm>
        <a:graphic>
          <a:graphicData uri="http://schemas.openxmlformats.org/drawingml/2006/table">
            <a:tbl>
              <a:tblPr firstRow="1" bandRow="1">
                <a:tableStyleId>{2D5ABB26-0587-4C30-8999-92F81FD0307C}</a:tableStyleId>
              </a:tblPr>
              <a:tblGrid>
                <a:gridCol w="1591741">
                  <a:extLst>
                    <a:ext uri="{9D8B030D-6E8A-4147-A177-3AD203B41FA5}">
                      <a16:colId xmlns:a16="http://schemas.microsoft.com/office/drawing/2014/main" val="20000"/>
                    </a:ext>
                  </a:extLst>
                </a:gridCol>
                <a:gridCol w="10182479">
                  <a:extLst>
                    <a:ext uri="{9D8B030D-6E8A-4147-A177-3AD203B41FA5}">
                      <a16:colId xmlns:a16="http://schemas.microsoft.com/office/drawing/2014/main" val="20001"/>
                    </a:ext>
                  </a:extLst>
                </a:gridCol>
              </a:tblGrid>
              <a:tr h="501522">
                <a:tc gridSpan="2">
                  <a:txBody>
                    <a:bodyPr/>
                    <a:lstStyle/>
                    <a:p>
                      <a:pPr marL="3315970">
                        <a:lnSpc>
                          <a:spcPct val="100000"/>
                        </a:lnSpc>
                        <a:tabLst>
                          <a:tab pos="5114290" algn="l"/>
                        </a:tabLst>
                      </a:pPr>
                      <a:r>
                        <a:rPr sz="2400" b="1" spc="-5" dirty="0">
                          <a:solidFill>
                            <a:srgbClr val="FFFFFF"/>
                          </a:solidFill>
                          <a:latin typeface="微软雅黑"/>
                          <a:cs typeface="微软雅黑"/>
                        </a:rPr>
                        <a:t>接口函数</a:t>
                      </a:r>
                      <a:r>
                        <a:rPr sz="2400" b="1" dirty="0">
                          <a:solidFill>
                            <a:srgbClr val="FFFFFF"/>
                          </a:solidFill>
                          <a:latin typeface="微软雅黑"/>
                          <a:cs typeface="微软雅黑"/>
                        </a:rPr>
                        <a:t>：</a:t>
                      </a:r>
                      <a:r>
                        <a:rPr sz="2400" u="heavy" dirty="0">
                          <a:solidFill>
                            <a:srgbClr val="FFFFFF"/>
                          </a:solidFill>
                          <a:latin typeface="Times New Roman"/>
                          <a:cs typeface="Times New Roman"/>
                        </a:rPr>
                        <a:t> 	</a:t>
                      </a:r>
                      <a:r>
                        <a:rPr sz="2400" b="1" spc="-5" dirty="0">
                          <a:solidFill>
                            <a:srgbClr val="FFFFFF"/>
                          </a:solidFill>
                          <a:latin typeface="微软雅黑"/>
                          <a:cs typeface="微软雅黑"/>
                        </a:rPr>
                        <a:t>H</a:t>
                      </a:r>
                      <a:r>
                        <a:rPr sz="2400" b="1" spc="-15" dirty="0">
                          <a:solidFill>
                            <a:srgbClr val="FFFFFF"/>
                          </a:solidFill>
                          <a:latin typeface="微软雅黑"/>
                          <a:cs typeface="微软雅黑"/>
                        </a:rPr>
                        <a:t>A</a:t>
                      </a:r>
                      <a:r>
                        <a:rPr sz="2400" b="1" dirty="0">
                          <a:solidFill>
                            <a:srgbClr val="FFFFFF"/>
                          </a:solidFill>
                          <a:latin typeface="微软雅黑"/>
                          <a:cs typeface="微软雅黑"/>
                        </a:rPr>
                        <a:t>L_</a:t>
                      </a:r>
                      <a:r>
                        <a:rPr sz="2400" b="1" spc="-70" dirty="0">
                          <a:solidFill>
                            <a:srgbClr val="FFFFFF"/>
                          </a:solidFill>
                          <a:latin typeface="微软雅黑"/>
                          <a:cs typeface="微软雅黑"/>
                        </a:rPr>
                        <a:t>U</a:t>
                      </a:r>
                      <a:r>
                        <a:rPr sz="2400" b="1" dirty="0">
                          <a:solidFill>
                            <a:srgbClr val="FFFFFF"/>
                          </a:solidFill>
                          <a:latin typeface="微软雅黑"/>
                          <a:cs typeface="微软雅黑"/>
                        </a:rPr>
                        <a:t>A</a:t>
                      </a:r>
                      <a:r>
                        <a:rPr sz="2400" b="1" spc="-55" dirty="0">
                          <a:solidFill>
                            <a:srgbClr val="FFFFFF"/>
                          </a:solidFill>
                          <a:latin typeface="微软雅黑"/>
                          <a:cs typeface="微软雅黑"/>
                        </a:rPr>
                        <a:t>R</a:t>
                      </a:r>
                      <a:r>
                        <a:rPr sz="2400" b="1" spc="-5" dirty="0">
                          <a:solidFill>
                            <a:srgbClr val="FFFFFF"/>
                          </a:solidFill>
                          <a:latin typeface="微软雅黑"/>
                          <a:cs typeface="微软雅黑"/>
                        </a:rPr>
                        <a:t>T_G</a:t>
                      </a:r>
                      <a:r>
                        <a:rPr sz="2400" b="1" spc="15" dirty="0">
                          <a:solidFill>
                            <a:srgbClr val="FFFFFF"/>
                          </a:solidFill>
                          <a:latin typeface="微软雅黑"/>
                          <a:cs typeface="微软雅黑"/>
                        </a:rPr>
                        <a:t>E</a:t>
                      </a:r>
                      <a:r>
                        <a:rPr sz="2400" b="1" spc="-5" dirty="0">
                          <a:solidFill>
                            <a:srgbClr val="FFFFFF"/>
                          </a:solidFill>
                          <a:latin typeface="微软雅黑"/>
                          <a:cs typeface="微软雅黑"/>
                        </a:rPr>
                        <a:t>T_F</a:t>
                      </a:r>
                      <a:r>
                        <a:rPr sz="2400" b="1" spc="55" dirty="0">
                          <a:solidFill>
                            <a:srgbClr val="FFFFFF"/>
                          </a:solidFill>
                          <a:latin typeface="微软雅黑"/>
                          <a:cs typeface="微软雅黑"/>
                        </a:rPr>
                        <a:t>L</a:t>
                      </a:r>
                      <a:r>
                        <a:rPr sz="2400" b="1" spc="-35" dirty="0">
                          <a:solidFill>
                            <a:srgbClr val="FFFFFF"/>
                          </a:solidFill>
                          <a:latin typeface="微软雅黑"/>
                          <a:cs typeface="微软雅黑"/>
                        </a:rPr>
                        <a:t>A</a:t>
                      </a:r>
                      <a:r>
                        <a:rPr sz="2400" b="1" dirty="0">
                          <a:solidFill>
                            <a:srgbClr val="FFFFFF"/>
                          </a:solidFill>
                          <a:latin typeface="微软雅黑"/>
                          <a:cs typeface="微软雅黑"/>
                        </a:rPr>
                        <a:t>G</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tc hMerge="1">
                  <a:txBody>
                    <a:bodyPr/>
                    <a:lstStyle/>
                    <a:p>
                      <a:endParaRPr/>
                    </a:p>
                  </a:txBody>
                  <a:tcPr marL="0" marR="0" marT="0" marB="0"/>
                </a:tc>
                <a:extLst>
                  <a:ext uri="{0D108BD9-81ED-4DB2-BD59-A6C34878D82A}">
                    <a16:rowId xmlns:a16="http://schemas.microsoft.com/office/drawing/2014/main" val="10000"/>
                  </a:ext>
                </a:extLst>
              </a:tr>
              <a:tr h="634619">
                <a:tc>
                  <a:txBody>
                    <a:bodyPr/>
                    <a:lstStyle/>
                    <a:p>
                      <a:pPr marL="171450">
                        <a:lnSpc>
                          <a:spcPct val="100000"/>
                        </a:lnSpc>
                      </a:pPr>
                      <a:r>
                        <a:rPr sz="2400" b="1" dirty="0">
                          <a:latin typeface="微软雅黑"/>
                          <a:cs typeface="微软雅黑"/>
                        </a:rPr>
                        <a:t>函数原型</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ct val="100000"/>
                        </a:lnSpc>
                        <a:tabLst>
                          <a:tab pos="328295" algn="l"/>
                          <a:tab pos="4124960" algn="l"/>
                          <a:tab pos="5716905" algn="l"/>
                          <a:tab pos="6170295" algn="l"/>
                          <a:tab pos="8222615" algn="l"/>
                        </a:tabLst>
                      </a:pPr>
                      <a:r>
                        <a:rPr sz="2400" u="heavy" dirty="0">
                          <a:latin typeface="Times New Roman"/>
                          <a:cs typeface="Times New Roman"/>
                        </a:rPr>
                        <a:t> 	</a:t>
                      </a:r>
                      <a:r>
                        <a:rPr sz="2400" b="1" spc="-5" dirty="0">
                          <a:latin typeface="微软雅黑"/>
                          <a:cs typeface="微软雅黑"/>
                        </a:rPr>
                        <a:t>H</a:t>
                      </a:r>
                      <a:r>
                        <a:rPr sz="2400" b="1" spc="-10" dirty="0">
                          <a:latin typeface="微软雅黑"/>
                          <a:cs typeface="微软雅黑"/>
                        </a:rPr>
                        <a:t>A</a:t>
                      </a:r>
                      <a:r>
                        <a:rPr sz="2400" b="1" dirty="0">
                          <a:latin typeface="微软雅黑"/>
                          <a:cs typeface="微软雅黑"/>
                        </a:rPr>
                        <a:t>L_</a:t>
                      </a:r>
                      <a:r>
                        <a:rPr sz="2400" b="1" spc="-65" dirty="0">
                          <a:latin typeface="微软雅黑"/>
                          <a:cs typeface="微软雅黑"/>
                        </a:rPr>
                        <a:t>U</a:t>
                      </a:r>
                      <a:r>
                        <a:rPr sz="2400" b="1" dirty="0">
                          <a:latin typeface="微软雅黑"/>
                          <a:cs typeface="微软雅黑"/>
                        </a:rPr>
                        <a:t>A</a:t>
                      </a:r>
                      <a:r>
                        <a:rPr sz="2400" b="1" spc="-50" dirty="0">
                          <a:latin typeface="微软雅黑"/>
                          <a:cs typeface="微软雅黑"/>
                        </a:rPr>
                        <a:t>R</a:t>
                      </a:r>
                      <a:r>
                        <a:rPr sz="2400" b="1" spc="-5" dirty="0">
                          <a:latin typeface="微软雅黑"/>
                          <a:cs typeface="微软雅黑"/>
                        </a:rPr>
                        <a:t>T_G</a:t>
                      </a:r>
                      <a:r>
                        <a:rPr sz="2400" b="1" spc="20" dirty="0">
                          <a:latin typeface="微软雅黑"/>
                          <a:cs typeface="微软雅黑"/>
                        </a:rPr>
                        <a:t>E</a:t>
                      </a:r>
                      <a:r>
                        <a:rPr sz="2400" b="1" spc="-5" dirty="0">
                          <a:latin typeface="微软雅黑"/>
                          <a:cs typeface="微软雅黑"/>
                        </a:rPr>
                        <a:t>T_</a:t>
                      </a:r>
                      <a:r>
                        <a:rPr sz="2400" b="1" spc="5" dirty="0">
                          <a:latin typeface="微软雅黑"/>
                          <a:cs typeface="微软雅黑"/>
                        </a:rPr>
                        <a:t>F</a:t>
                      </a:r>
                      <a:r>
                        <a:rPr sz="2400" b="1" spc="50" dirty="0">
                          <a:latin typeface="微软雅黑"/>
                          <a:cs typeface="微软雅黑"/>
                        </a:rPr>
                        <a:t>L</a:t>
                      </a:r>
                      <a:r>
                        <a:rPr sz="2400" b="1" spc="-30" dirty="0">
                          <a:latin typeface="微软雅黑"/>
                          <a:cs typeface="微软雅黑"/>
                        </a:rPr>
                        <a:t>A</a:t>
                      </a:r>
                      <a:r>
                        <a:rPr sz="2400" b="1" dirty="0">
                          <a:latin typeface="微软雅黑"/>
                          <a:cs typeface="微软雅黑"/>
                        </a:rPr>
                        <a:t>G</a:t>
                      </a:r>
                      <a:r>
                        <a:rPr sz="2400" b="1" spc="-5" dirty="0">
                          <a:latin typeface="微软雅黑"/>
                          <a:cs typeface="微软雅黑"/>
                        </a:rPr>
                        <a:t> </a:t>
                      </a:r>
                      <a:r>
                        <a:rPr sz="2400" b="1" dirty="0">
                          <a:latin typeface="微软雅黑"/>
                          <a:cs typeface="微软雅黑"/>
                        </a:rPr>
                        <a:t>(</a:t>
                      </a:r>
                      <a:r>
                        <a:rPr sz="2400" b="1" u="heavy" dirty="0">
                          <a:latin typeface="微软雅黑"/>
                          <a:cs typeface="微软雅黑"/>
                        </a:rPr>
                        <a:t> 	</a:t>
                      </a:r>
                      <a:r>
                        <a:rPr sz="2400" b="1" spc="-5" dirty="0">
                          <a:latin typeface="微软雅黑"/>
                          <a:cs typeface="微软雅黑"/>
                        </a:rPr>
                        <a:t>H</a:t>
                      </a:r>
                      <a:r>
                        <a:rPr sz="2400" b="1" spc="-10" dirty="0">
                          <a:latin typeface="微软雅黑"/>
                          <a:cs typeface="微软雅黑"/>
                        </a:rPr>
                        <a:t>A</a:t>
                      </a:r>
                      <a:r>
                        <a:rPr sz="2400" b="1" spc="-5" dirty="0">
                          <a:latin typeface="微软雅黑"/>
                          <a:cs typeface="微软雅黑"/>
                        </a:rPr>
                        <a:t>NDL</a:t>
                      </a:r>
                      <a:r>
                        <a:rPr sz="2400" b="1" spc="-10" dirty="0">
                          <a:latin typeface="微软雅黑"/>
                          <a:cs typeface="微软雅黑"/>
                        </a:rPr>
                        <a:t>E</a:t>
                      </a:r>
                      <a:r>
                        <a:rPr sz="2400" b="1" u="heavy" dirty="0">
                          <a:latin typeface="微软雅黑"/>
                          <a:cs typeface="微软雅黑"/>
                        </a:rPr>
                        <a:t> 	</a:t>
                      </a:r>
                      <a:r>
                        <a:rPr sz="2400" b="1" dirty="0">
                          <a:latin typeface="微软雅黑"/>
                          <a:cs typeface="微软雅黑"/>
                        </a:rPr>
                        <a:t>,</a:t>
                      </a:r>
                      <a:r>
                        <a:rPr sz="2400" b="1" spc="10" dirty="0">
                          <a:latin typeface="微软雅黑"/>
                          <a:cs typeface="微软雅黑"/>
                        </a:rPr>
                        <a:t> </a:t>
                      </a:r>
                      <a:r>
                        <a:rPr sz="2400" b="1" u="heavy" dirty="0">
                          <a:latin typeface="微软雅黑"/>
                          <a:cs typeface="微软雅黑"/>
                        </a:rPr>
                        <a:t> 	</a:t>
                      </a:r>
                      <a:r>
                        <a:rPr sz="2400" b="1" spc="-5" dirty="0">
                          <a:latin typeface="微软雅黑"/>
                          <a:cs typeface="微软雅黑"/>
                        </a:rPr>
                        <a:t>INTER</a:t>
                      </a:r>
                      <a:r>
                        <a:rPr sz="2400" b="1" spc="5" dirty="0">
                          <a:latin typeface="微软雅黑"/>
                          <a:cs typeface="微软雅黑"/>
                        </a:rPr>
                        <a:t>R</a:t>
                      </a:r>
                      <a:r>
                        <a:rPr sz="2400" b="1" spc="-5" dirty="0">
                          <a:latin typeface="微软雅黑"/>
                          <a:cs typeface="微软雅黑"/>
                        </a:rPr>
                        <a:t>U</a:t>
                      </a:r>
                      <a:r>
                        <a:rPr sz="2400" b="1" spc="-10" dirty="0">
                          <a:latin typeface="微软雅黑"/>
                          <a:cs typeface="微软雅黑"/>
                        </a:rPr>
                        <a:t>P</a:t>
                      </a:r>
                      <a:r>
                        <a:rPr sz="2400" b="1" spc="-5" dirty="0">
                          <a:latin typeface="微软雅黑"/>
                          <a:cs typeface="微软雅黑"/>
                        </a:rPr>
                        <a:t>T</a:t>
                      </a:r>
                      <a:r>
                        <a:rPr sz="2400" b="1" u="heavy" dirty="0">
                          <a:latin typeface="微软雅黑"/>
                          <a:cs typeface="微软雅黑"/>
                        </a:rPr>
                        <a:t> 	</a:t>
                      </a:r>
                      <a:r>
                        <a:rPr sz="2400" b="1" dirty="0">
                          <a:latin typeface="微软雅黑"/>
                          <a:cs typeface="微软雅黑"/>
                        </a:rPr>
                        <a:t>)</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1"/>
                  </a:ext>
                </a:extLst>
              </a:tr>
              <a:tr h="828801">
                <a:tc>
                  <a:txBody>
                    <a:bodyPr/>
                    <a:lstStyle/>
                    <a:p>
                      <a:pPr marL="171450">
                        <a:lnSpc>
                          <a:spcPct val="100000"/>
                        </a:lnSpc>
                      </a:pPr>
                      <a:r>
                        <a:rPr sz="2400" b="1" dirty="0">
                          <a:latin typeface="微软雅黑"/>
                          <a:cs typeface="微软雅黑"/>
                        </a:rPr>
                        <a:t>功能描述</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3975">
                        <a:lnSpc>
                          <a:spcPct val="100000"/>
                        </a:lnSpc>
                      </a:pPr>
                      <a:r>
                        <a:rPr sz="2400" b="1" dirty="0">
                          <a:latin typeface="微软雅黑"/>
                          <a:cs typeface="微软雅黑"/>
                        </a:rPr>
                        <a:t>查询对应的串口中断标志</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r h="546988">
                <a:tc>
                  <a:txBody>
                    <a:bodyPr/>
                    <a:lstStyle/>
                    <a:p>
                      <a:pPr marL="381635">
                        <a:lnSpc>
                          <a:spcPct val="100000"/>
                        </a:lnSpc>
                      </a:pPr>
                      <a:r>
                        <a:rPr sz="2400" b="1" dirty="0">
                          <a:latin typeface="微软雅黑"/>
                          <a:cs typeface="微软雅黑"/>
                        </a:rPr>
                        <a:t>参数1</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ct val="100000"/>
                        </a:lnSpc>
                        <a:tabLst>
                          <a:tab pos="328295" algn="l"/>
                          <a:tab pos="1921510" algn="l"/>
                        </a:tabLst>
                      </a:pPr>
                      <a:r>
                        <a:rPr sz="2400" b="1" u="heavy" dirty="0">
                          <a:latin typeface="微软雅黑"/>
                          <a:cs typeface="微软雅黑"/>
                        </a:rPr>
                        <a:t> 	</a:t>
                      </a:r>
                      <a:r>
                        <a:rPr sz="2400" b="1" spc="-5" dirty="0">
                          <a:latin typeface="微软雅黑"/>
                          <a:cs typeface="微软雅黑"/>
                        </a:rPr>
                        <a:t>H</a:t>
                      </a:r>
                      <a:r>
                        <a:rPr sz="2400" b="1" spc="-10" dirty="0">
                          <a:latin typeface="微软雅黑"/>
                          <a:cs typeface="微软雅黑"/>
                        </a:rPr>
                        <a:t>A</a:t>
                      </a:r>
                      <a:r>
                        <a:rPr sz="2400" b="1" spc="-5" dirty="0">
                          <a:latin typeface="微软雅黑"/>
                          <a:cs typeface="微软雅黑"/>
                        </a:rPr>
                        <a:t>NDL</a:t>
                      </a:r>
                      <a:r>
                        <a:rPr sz="2400" b="1" spc="-10" dirty="0">
                          <a:latin typeface="微软雅黑"/>
                          <a:cs typeface="微软雅黑"/>
                        </a:rPr>
                        <a:t>E</a:t>
                      </a:r>
                      <a:r>
                        <a:rPr sz="2400" b="1" u="heavy" dirty="0">
                          <a:latin typeface="微软雅黑"/>
                          <a:cs typeface="微软雅黑"/>
                        </a:rPr>
                        <a:t> 	</a:t>
                      </a:r>
                      <a:r>
                        <a:rPr sz="2400" b="1" dirty="0">
                          <a:latin typeface="微软雅黑"/>
                          <a:cs typeface="微软雅黑"/>
                        </a:rPr>
                        <a:t>：串口句柄的地址</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3"/>
                  </a:ext>
                </a:extLst>
              </a:tr>
              <a:tr h="1873504">
                <a:tc>
                  <a:txBody>
                    <a:bodyPr/>
                    <a:lstStyle/>
                    <a:p>
                      <a:pPr marL="381635">
                        <a:lnSpc>
                          <a:spcPct val="100000"/>
                        </a:lnSpc>
                      </a:pPr>
                      <a:r>
                        <a:rPr sz="2400" b="1" dirty="0">
                          <a:latin typeface="微软雅黑"/>
                          <a:cs typeface="微软雅黑"/>
                        </a:rPr>
                        <a:t>参数2</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3975">
                        <a:lnSpc>
                          <a:spcPct val="100000"/>
                        </a:lnSpc>
                        <a:tabLst>
                          <a:tab pos="328295" algn="l"/>
                          <a:tab pos="2557145" algn="l"/>
                        </a:tabLst>
                      </a:pPr>
                      <a:r>
                        <a:rPr sz="2400" b="1" u="heavy" dirty="0">
                          <a:latin typeface="微软雅黑"/>
                          <a:cs typeface="微软雅黑"/>
                        </a:rPr>
                        <a:t> 	</a:t>
                      </a:r>
                      <a:r>
                        <a:rPr sz="2400" b="1" spc="-5" dirty="0">
                          <a:latin typeface="微软雅黑"/>
                          <a:cs typeface="微软雅黑"/>
                        </a:rPr>
                        <a:t>INTER</a:t>
                      </a:r>
                      <a:r>
                        <a:rPr sz="2400" b="1" spc="5" dirty="0">
                          <a:latin typeface="微软雅黑"/>
                          <a:cs typeface="微软雅黑"/>
                        </a:rPr>
                        <a:t>R</a:t>
                      </a:r>
                      <a:r>
                        <a:rPr sz="2400" b="1" spc="-5" dirty="0">
                          <a:latin typeface="微软雅黑"/>
                          <a:cs typeface="微软雅黑"/>
                        </a:rPr>
                        <a:t>U</a:t>
                      </a:r>
                      <a:r>
                        <a:rPr sz="2400" b="1" spc="-10" dirty="0">
                          <a:latin typeface="微软雅黑"/>
                          <a:cs typeface="微软雅黑"/>
                        </a:rPr>
                        <a:t>P</a:t>
                      </a:r>
                      <a:r>
                        <a:rPr sz="2400" b="1" dirty="0">
                          <a:latin typeface="微软雅黑"/>
                          <a:cs typeface="微软雅黑"/>
                        </a:rPr>
                        <a:t>T</a:t>
                      </a:r>
                      <a:r>
                        <a:rPr sz="2400" b="1" spc="-15" dirty="0">
                          <a:latin typeface="微软雅黑"/>
                          <a:cs typeface="微软雅黑"/>
                        </a:rPr>
                        <a:t> </a:t>
                      </a:r>
                      <a:r>
                        <a:rPr sz="2400" b="1" u="heavy" dirty="0">
                          <a:latin typeface="微软雅黑"/>
                          <a:cs typeface="微软雅黑"/>
                        </a:rPr>
                        <a:t> 	</a:t>
                      </a:r>
                      <a:r>
                        <a:rPr sz="2400" b="1" dirty="0">
                          <a:latin typeface="微软雅黑"/>
                          <a:cs typeface="微软雅黑"/>
                        </a:rPr>
                        <a:t>：串口中断类</a:t>
                      </a:r>
                      <a:r>
                        <a:rPr sz="2400" b="1" spc="-10" dirty="0">
                          <a:latin typeface="微软雅黑"/>
                          <a:cs typeface="微软雅黑"/>
                        </a:rPr>
                        <a:t>型</a:t>
                      </a:r>
                      <a:r>
                        <a:rPr sz="2400" b="1" dirty="0">
                          <a:latin typeface="微软雅黑"/>
                          <a:cs typeface="微软雅黑"/>
                        </a:rPr>
                        <a:t>，该参数几个常用的取值如下：</a:t>
                      </a:r>
                      <a:endParaRPr sz="2400">
                        <a:latin typeface="微软雅黑"/>
                        <a:cs typeface="微软雅黑"/>
                      </a:endParaRPr>
                    </a:p>
                    <a:p>
                      <a:pPr marL="416559" marR="3785870">
                        <a:lnSpc>
                          <a:spcPct val="100000"/>
                        </a:lnSpc>
                        <a:tabLst>
                          <a:tab pos="2671445" algn="l"/>
                        </a:tabLst>
                      </a:pPr>
                      <a:r>
                        <a:rPr sz="2400" b="1" spc="-70" dirty="0">
                          <a:latin typeface="微软雅黑"/>
                          <a:cs typeface="微软雅黑"/>
                        </a:rPr>
                        <a:t>U</a:t>
                      </a:r>
                      <a:r>
                        <a:rPr sz="2400" b="1" dirty="0">
                          <a:latin typeface="微软雅黑"/>
                          <a:cs typeface="微软雅黑"/>
                        </a:rPr>
                        <a:t>A</a:t>
                      </a:r>
                      <a:r>
                        <a:rPr sz="2400" b="1" spc="-55" dirty="0">
                          <a:latin typeface="微软雅黑"/>
                          <a:cs typeface="微软雅黑"/>
                        </a:rPr>
                        <a:t>R</a:t>
                      </a:r>
                      <a:r>
                        <a:rPr sz="2400" b="1" spc="-5" dirty="0">
                          <a:latin typeface="微软雅黑"/>
                          <a:cs typeface="微软雅黑"/>
                        </a:rPr>
                        <a:t>T_IT_TX</a:t>
                      </a:r>
                      <a:r>
                        <a:rPr sz="2400" b="1" dirty="0">
                          <a:latin typeface="微软雅黑"/>
                          <a:cs typeface="微软雅黑"/>
                        </a:rPr>
                        <a:t>E	 </a:t>
                      </a:r>
                      <a:r>
                        <a:rPr sz="2400" b="1" spc="-5" dirty="0">
                          <a:latin typeface="微软雅黑"/>
                          <a:cs typeface="微软雅黑"/>
                        </a:rPr>
                        <a:t>：</a:t>
                      </a:r>
                      <a:r>
                        <a:rPr sz="2400" b="1" dirty="0">
                          <a:latin typeface="微软雅黑"/>
                          <a:cs typeface="微软雅黑"/>
                        </a:rPr>
                        <a:t>发送数据寄存器空中断 </a:t>
                      </a:r>
                      <a:r>
                        <a:rPr sz="2400" b="1" spc="-65" dirty="0">
                          <a:latin typeface="微软雅黑"/>
                          <a:cs typeface="微软雅黑"/>
                        </a:rPr>
                        <a:t>U</a:t>
                      </a:r>
                      <a:r>
                        <a:rPr sz="2400" b="1" dirty="0">
                          <a:latin typeface="微软雅黑"/>
                          <a:cs typeface="微软雅黑"/>
                        </a:rPr>
                        <a:t>A</a:t>
                      </a:r>
                      <a:r>
                        <a:rPr sz="2400" b="1" spc="-50" dirty="0">
                          <a:latin typeface="微软雅黑"/>
                          <a:cs typeface="微软雅黑"/>
                        </a:rPr>
                        <a:t>R</a:t>
                      </a:r>
                      <a:r>
                        <a:rPr sz="2400" b="1" spc="-5" dirty="0">
                          <a:latin typeface="微软雅黑"/>
                          <a:cs typeface="微软雅黑"/>
                        </a:rPr>
                        <a:t>T_IT</a:t>
                      </a:r>
                      <a:r>
                        <a:rPr sz="2400" b="1" spc="5" dirty="0">
                          <a:latin typeface="微软雅黑"/>
                          <a:cs typeface="微软雅黑"/>
                        </a:rPr>
                        <a:t>_</a:t>
                      </a:r>
                      <a:r>
                        <a:rPr sz="2400" b="1" spc="-100" dirty="0">
                          <a:latin typeface="微软雅黑"/>
                          <a:cs typeface="微软雅黑"/>
                        </a:rPr>
                        <a:t>T</a:t>
                      </a:r>
                      <a:r>
                        <a:rPr sz="2400" b="1" dirty="0">
                          <a:latin typeface="微软雅黑"/>
                          <a:cs typeface="微软雅黑"/>
                        </a:rPr>
                        <a:t>C	：发送完成中断 </a:t>
                      </a:r>
                      <a:r>
                        <a:rPr sz="2400" b="1" spc="-65" dirty="0">
                          <a:latin typeface="微软雅黑"/>
                          <a:cs typeface="微软雅黑"/>
                        </a:rPr>
                        <a:t>U</a:t>
                      </a:r>
                      <a:r>
                        <a:rPr sz="2400" b="1" dirty="0">
                          <a:latin typeface="微软雅黑"/>
                          <a:cs typeface="微软雅黑"/>
                        </a:rPr>
                        <a:t>A</a:t>
                      </a:r>
                      <a:r>
                        <a:rPr sz="2400" b="1" spc="-50" dirty="0">
                          <a:latin typeface="微软雅黑"/>
                          <a:cs typeface="微软雅黑"/>
                        </a:rPr>
                        <a:t>R</a:t>
                      </a:r>
                      <a:r>
                        <a:rPr sz="2400" b="1" spc="-5" dirty="0">
                          <a:latin typeface="微软雅黑"/>
                          <a:cs typeface="微软雅黑"/>
                        </a:rPr>
                        <a:t>T_IT</a:t>
                      </a:r>
                      <a:r>
                        <a:rPr sz="2400" b="1" spc="5" dirty="0">
                          <a:latin typeface="微软雅黑"/>
                          <a:cs typeface="微软雅黑"/>
                        </a:rPr>
                        <a:t>_</a:t>
                      </a:r>
                      <a:r>
                        <a:rPr sz="2400" b="1" spc="-5" dirty="0">
                          <a:latin typeface="微软雅黑"/>
                          <a:cs typeface="微软雅黑"/>
                        </a:rPr>
                        <a:t>RX</a:t>
                      </a:r>
                      <a:r>
                        <a:rPr sz="2400" b="1" spc="5" dirty="0">
                          <a:latin typeface="微软雅黑"/>
                          <a:cs typeface="微软雅黑"/>
                        </a:rPr>
                        <a:t>N</a:t>
                      </a:r>
                      <a:r>
                        <a:rPr sz="2400" b="1" dirty="0">
                          <a:latin typeface="微软雅黑"/>
                          <a:cs typeface="微软雅黑"/>
                        </a:rPr>
                        <a:t>E：接收数据寄存器非空中断 </a:t>
                      </a:r>
                      <a:r>
                        <a:rPr sz="2400" b="1" spc="-65" dirty="0">
                          <a:latin typeface="微软雅黑"/>
                          <a:cs typeface="微软雅黑"/>
                        </a:rPr>
                        <a:t>U</a:t>
                      </a:r>
                      <a:r>
                        <a:rPr sz="2400" b="1" dirty="0">
                          <a:latin typeface="微软雅黑"/>
                          <a:cs typeface="微软雅黑"/>
                        </a:rPr>
                        <a:t>A</a:t>
                      </a:r>
                      <a:r>
                        <a:rPr sz="2400" b="1" spc="-50" dirty="0">
                          <a:latin typeface="微软雅黑"/>
                          <a:cs typeface="微软雅黑"/>
                        </a:rPr>
                        <a:t>R</a:t>
                      </a:r>
                      <a:r>
                        <a:rPr sz="2400" b="1" spc="-5" dirty="0">
                          <a:latin typeface="微软雅黑"/>
                          <a:cs typeface="微软雅黑"/>
                        </a:rPr>
                        <a:t>T_IT</a:t>
                      </a:r>
                      <a:r>
                        <a:rPr sz="2400" b="1" spc="5" dirty="0">
                          <a:latin typeface="微软雅黑"/>
                          <a:cs typeface="微软雅黑"/>
                        </a:rPr>
                        <a:t>_</a:t>
                      </a:r>
                      <a:r>
                        <a:rPr sz="2400" b="1" spc="-5" dirty="0">
                          <a:latin typeface="微软雅黑"/>
                          <a:cs typeface="微软雅黑"/>
                        </a:rPr>
                        <a:t>ID</a:t>
                      </a:r>
                      <a:r>
                        <a:rPr sz="2400" b="1" spc="-10" dirty="0">
                          <a:latin typeface="微软雅黑"/>
                          <a:cs typeface="微软雅黑"/>
                        </a:rPr>
                        <a:t>L</a:t>
                      </a:r>
                      <a:r>
                        <a:rPr sz="2400" b="1" dirty="0">
                          <a:latin typeface="微软雅黑"/>
                          <a:cs typeface="微软雅黑"/>
                        </a:rPr>
                        <a:t>E	 ：线路空闲中断</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4"/>
                  </a:ext>
                </a:extLst>
              </a:tr>
              <a:tr h="501650">
                <a:tc>
                  <a:txBody>
                    <a:bodyPr/>
                    <a:lstStyle/>
                    <a:p>
                      <a:pPr marL="323850">
                        <a:lnSpc>
                          <a:spcPct val="100000"/>
                        </a:lnSpc>
                      </a:pPr>
                      <a:r>
                        <a:rPr sz="2400" b="1" dirty="0">
                          <a:latin typeface="微软雅黑"/>
                          <a:cs typeface="微软雅黑"/>
                        </a:rPr>
                        <a:t>返回值</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ct val="100000"/>
                        </a:lnSpc>
                      </a:pPr>
                      <a:r>
                        <a:rPr sz="2400" b="1" dirty="0">
                          <a:latin typeface="微软雅黑"/>
                          <a:cs typeface="微软雅黑"/>
                        </a:rPr>
                        <a:t>中断标志的状态值：S</a:t>
                      </a:r>
                      <a:r>
                        <a:rPr sz="2400" b="1" spc="10" dirty="0">
                          <a:latin typeface="微软雅黑"/>
                          <a:cs typeface="微软雅黑"/>
                        </a:rPr>
                        <a:t>E</a:t>
                      </a:r>
                      <a:r>
                        <a:rPr sz="2400" b="1" dirty="0">
                          <a:latin typeface="微软雅黑"/>
                          <a:cs typeface="微软雅黑"/>
                        </a:rPr>
                        <a:t>T表示中断标志置位；</a:t>
                      </a:r>
                      <a:r>
                        <a:rPr sz="2400" b="1" spc="-5" dirty="0">
                          <a:latin typeface="微软雅黑"/>
                          <a:cs typeface="微软雅黑"/>
                        </a:rPr>
                        <a:t>RES</a:t>
                      </a:r>
                      <a:r>
                        <a:rPr sz="2400" b="1" spc="15" dirty="0">
                          <a:latin typeface="微软雅黑"/>
                          <a:cs typeface="微软雅黑"/>
                        </a:rPr>
                        <a:t>E</a:t>
                      </a:r>
                      <a:r>
                        <a:rPr sz="2400" b="1" dirty="0">
                          <a:latin typeface="微软雅黑"/>
                          <a:cs typeface="微软雅黑"/>
                        </a:rPr>
                        <a:t>T表示中断标志没有置位</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5"/>
                  </a:ext>
                </a:extLst>
              </a:tr>
              <a:tr h="1003223">
                <a:tc>
                  <a:txBody>
                    <a:bodyPr/>
                    <a:lstStyle/>
                    <a:p>
                      <a:pPr marL="171450">
                        <a:lnSpc>
                          <a:spcPct val="100000"/>
                        </a:lnSpc>
                      </a:pPr>
                      <a:r>
                        <a:rPr sz="2400" b="1" dirty="0">
                          <a:latin typeface="微软雅黑"/>
                          <a:cs typeface="微软雅黑"/>
                        </a:rPr>
                        <a:t>注意事项</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3975">
                        <a:lnSpc>
                          <a:spcPct val="100000"/>
                        </a:lnSpc>
                      </a:pPr>
                      <a:r>
                        <a:rPr sz="2400" b="1" dirty="0">
                          <a:latin typeface="微软雅黑"/>
                          <a:cs typeface="微软雅黑"/>
                        </a:rPr>
                        <a:t>1.</a:t>
                      </a:r>
                      <a:r>
                        <a:rPr sz="2400" b="1" spc="-5" dirty="0">
                          <a:latin typeface="微软雅黑"/>
                          <a:cs typeface="微软雅黑"/>
                        </a:rPr>
                        <a:t> </a:t>
                      </a:r>
                      <a:r>
                        <a:rPr sz="2400" b="1" dirty="0">
                          <a:latin typeface="微软雅黑"/>
                          <a:cs typeface="微软雅黑"/>
                        </a:rPr>
                        <a:t>该函数是宏函数，进行宏替换，不发生函数调用</a:t>
                      </a:r>
                      <a:endParaRPr sz="2400">
                        <a:latin typeface="微软雅黑"/>
                        <a:cs typeface="微软雅黑"/>
                      </a:endParaRPr>
                    </a:p>
                    <a:p>
                      <a:pPr marL="53975">
                        <a:lnSpc>
                          <a:spcPct val="100000"/>
                        </a:lnSpc>
                      </a:pPr>
                      <a:r>
                        <a:rPr sz="2400" b="1" dirty="0">
                          <a:latin typeface="微软雅黑"/>
                          <a:cs typeface="微软雅黑"/>
                        </a:rPr>
                        <a:t>2.</a:t>
                      </a:r>
                      <a:r>
                        <a:rPr sz="2400" b="1" spc="-5" dirty="0">
                          <a:latin typeface="微软雅黑"/>
                          <a:cs typeface="微软雅黑"/>
                        </a:rPr>
                        <a:t> </a:t>
                      </a:r>
                      <a:r>
                        <a:rPr sz="2400" b="1" dirty="0">
                          <a:latin typeface="微软雅黑"/>
                          <a:cs typeface="微软雅黑"/>
                        </a:rPr>
                        <a:t>函数需要由用户调用，用</a:t>
                      </a:r>
                      <a:r>
                        <a:rPr sz="2400" b="1" spc="5" dirty="0">
                          <a:latin typeface="微软雅黑"/>
                          <a:cs typeface="微软雅黑"/>
                        </a:rPr>
                        <a:t>于</a:t>
                      </a:r>
                      <a:r>
                        <a:rPr sz="2400" b="1" dirty="0">
                          <a:latin typeface="微软雅黑"/>
                          <a:cs typeface="微软雅黑"/>
                        </a:rPr>
                        <a:t>查询对应的串口中断标志</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62788787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3" name="object 3"/>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4" name="object 4"/>
          <p:cNvSpPr/>
          <p:nvPr/>
        </p:nvSpPr>
        <p:spPr>
          <a:xfrm>
            <a:off x="1523" y="6470903"/>
            <a:ext cx="12190730" cy="45720"/>
          </a:xfrm>
          <a:custGeom>
            <a:avLst/>
            <a:gdLst/>
            <a:ahLst/>
            <a:cxnLst/>
            <a:rect l="l" t="t" r="r" b="b"/>
            <a:pathLst>
              <a:path w="12190730" h="45720">
                <a:moveTo>
                  <a:pt x="0" y="45719"/>
                </a:moveTo>
                <a:lnTo>
                  <a:pt x="12190476" y="45719"/>
                </a:lnTo>
                <a:lnTo>
                  <a:pt x="12190476" y="0"/>
                </a:lnTo>
                <a:lnTo>
                  <a:pt x="0" y="0"/>
                </a:lnTo>
                <a:lnTo>
                  <a:pt x="0" y="45719"/>
                </a:lnTo>
              </a:path>
            </a:pathLst>
          </a:custGeom>
          <a:solidFill>
            <a:srgbClr val="FFE699"/>
          </a:solidFill>
        </p:spPr>
        <p:txBody>
          <a:bodyPr wrap="square" lIns="0" tIns="0" rIns="0" bIns="0" rtlCol="0"/>
          <a:lstStyle/>
          <a:p>
            <a:endParaRPr/>
          </a:p>
        </p:txBody>
      </p:sp>
      <p:sp>
        <p:nvSpPr>
          <p:cNvPr id="5" name="object 5"/>
          <p:cNvSpPr/>
          <p:nvPr/>
        </p:nvSpPr>
        <p:spPr>
          <a:xfrm>
            <a:off x="1523" y="6516623"/>
            <a:ext cx="12190730" cy="341630"/>
          </a:xfrm>
          <a:custGeom>
            <a:avLst/>
            <a:gdLst/>
            <a:ahLst/>
            <a:cxnLst/>
            <a:rect l="l" t="t" r="r" b="b"/>
            <a:pathLst>
              <a:path w="12190730" h="341629">
                <a:moveTo>
                  <a:pt x="0" y="341376"/>
                </a:moveTo>
                <a:lnTo>
                  <a:pt x="12190476" y="341376"/>
                </a:lnTo>
                <a:lnTo>
                  <a:pt x="12190476" y="0"/>
                </a:lnTo>
                <a:lnTo>
                  <a:pt x="0" y="0"/>
                </a:lnTo>
                <a:lnTo>
                  <a:pt x="0" y="341376"/>
                </a:lnTo>
              </a:path>
            </a:pathLst>
          </a:custGeom>
          <a:solidFill>
            <a:srgbClr val="E34A46"/>
          </a:solidFill>
        </p:spPr>
        <p:txBody>
          <a:bodyPr wrap="square" lIns="0" tIns="0" rIns="0" bIns="0" rtlCol="0"/>
          <a:lstStyle/>
          <a:p>
            <a:endParaRPr/>
          </a:p>
        </p:txBody>
      </p:sp>
      <p:sp>
        <p:nvSpPr>
          <p:cNvPr id="6" name="object 6"/>
          <p:cNvSpPr txBox="1">
            <a:spLocks noGrp="1"/>
          </p:cNvSpPr>
          <p:nvPr>
            <p:ph type="title"/>
          </p:nvPr>
        </p:nvSpPr>
        <p:spPr>
          <a:xfrm>
            <a:off x="2385441" y="389881"/>
            <a:ext cx="668655" cy="254000"/>
          </a:xfrm>
          <a:prstGeom prst="rect">
            <a:avLst/>
          </a:prstGeom>
        </p:spPr>
        <p:txBody>
          <a:bodyPr vert="horz" wrap="square" lIns="0" tIns="0" rIns="0" bIns="0" rtlCol="0">
            <a:spAutoFit/>
          </a:bodyPr>
          <a:lstStyle/>
          <a:p>
            <a:pPr marL="12700">
              <a:lnSpc>
                <a:spcPct val="100000"/>
              </a:lnSpc>
            </a:pPr>
            <a:r>
              <a:rPr sz="1800" spc="-45" dirty="0">
                <a:latin typeface="微软雅黑"/>
                <a:cs typeface="微软雅黑"/>
              </a:rPr>
              <a:t>U</a:t>
            </a:r>
            <a:r>
              <a:rPr sz="1800" dirty="0">
                <a:latin typeface="微软雅黑"/>
                <a:cs typeface="微软雅黑"/>
              </a:rPr>
              <a:t>A</a:t>
            </a:r>
            <a:r>
              <a:rPr sz="1800" spc="-35" dirty="0">
                <a:latin typeface="微软雅黑"/>
                <a:cs typeface="微软雅黑"/>
              </a:rPr>
              <a:t>R</a:t>
            </a:r>
            <a:r>
              <a:rPr sz="1800" dirty="0">
                <a:latin typeface="微软雅黑"/>
                <a:cs typeface="微软雅黑"/>
              </a:rPr>
              <a:t>T</a:t>
            </a:r>
            <a:endParaRPr sz="1800">
              <a:latin typeface="微软雅黑"/>
              <a:cs typeface="微软雅黑"/>
            </a:endParaRPr>
          </a:p>
        </p:txBody>
      </p:sp>
      <p:sp>
        <p:nvSpPr>
          <p:cNvPr id="8" name="object 8"/>
          <p:cNvSpPr txBox="1"/>
          <p:nvPr/>
        </p:nvSpPr>
        <p:spPr>
          <a:xfrm>
            <a:off x="1165047" y="1145850"/>
            <a:ext cx="9799320" cy="381000"/>
          </a:xfrm>
          <a:prstGeom prst="rect">
            <a:avLst/>
          </a:prstGeom>
        </p:spPr>
        <p:txBody>
          <a:bodyPr vert="horz" wrap="square" lIns="0" tIns="0" rIns="0" bIns="0" rtlCol="0">
            <a:spAutoFit/>
          </a:bodyPr>
          <a:lstStyle/>
          <a:p>
            <a:pPr marL="12700">
              <a:lnSpc>
                <a:spcPct val="100000"/>
              </a:lnSpc>
              <a:tabLst>
                <a:tab pos="443865" algn="l"/>
                <a:tab pos="4667250" algn="l"/>
              </a:tabLst>
            </a:pPr>
            <a:r>
              <a:rPr sz="2800" b="1" spc="-5" dirty="0">
                <a:latin typeface="微软雅黑"/>
                <a:cs typeface="微软雅黑"/>
              </a:rPr>
              <a:t>8	空闲中断标志清除函数：</a:t>
            </a:r>
            <a:r>
              <a:rPr sz="2800" b="1" u="heavy" spc="-5" dirty="0">
                <a:latin typeface="微软雅黑"/>
                <a:cs typeface="微软雅黑"/>
              </a:rPr>
              <a:t> 	</a:t>
            </a:r>
            <a:r>
              <a:rPr sz="2800" b="1" spc="-10" dirty="0">
                <a:latin typeface="微软雅黑"/>
                <a:cs typeface="微软雅黑"/>
              </a:rPr>
              <a:t>HAL_</a:t>
            </a:r>
            <a:r>
              <a:rPr sz="2800" b="1" spc="-70" dirty="0">
                <a:latin typeface="微软雅黑"/>
                <a:cs typeface="微软雅黑"/>
              </a:rPr>
              <a:t>U</a:t>
            </a:r>
            <a:r>
              <a:rPr sz="2800" b="1" spc="-5" dirty="0">
                <a:latin typeface="微软雅黑"/>
                <a:cs typeface="微软雅黑"/>
              </a:rPr>
              <a:t>A</a:t>
            </a:r>
            <a:r>
              <a:rPr sz="2800" b="1" spc="-65" dirty="0">
                <a:latin typeface="微软雅黑"/>
                <a:cs typeface="微软雅黑"/>
              </a:rPr>
              <a:t>R</a:t>
            </a:r>
            <a:r>
              <a:rPr sz="2800" b="1" spc="-10" dirty="0">
                <a:latin typeface="微软雅黑"/>
                <a:cs typeface="微软雅黑"/>
              </a:rPr>
              <a:t>T_</a:t>
            </a:r>
            <a:r>
              <a:rPr sz="2800" b="1" spc="0" dirty="0">
                <a:latin typeface="微软雅黑"/>
                <a:cs typeface="微软雅黑"/>
              </a:rPr>
              <a:t>C</a:t>
            </a:r>
            <a:r>
              <a:rPr sz="2800" b="1" spc="-5" dirty="0">
                <a:latin typeface="微软雅黑"/>
                <a:cs typeface="微软雅黑"/>
              </a:rPr>
              <a:t>L</a:t>
            </a:r>
            <a:r>
              <a:rPr sz="2800" b="1" spc="25" dirty="0">
                <a:latin typeface="微软雅黑"/>
                <a:cs typeface="微软雅黑"/>
              </a:rPr>
              <a:t>E</a:t>
            </a:r>
            <a:r>
              <a:rPr sz="2800" b="1" spc="-5" dirty="0">
                <a:latin typeface="微软雅黑"/>
                <a:cs typeface="微软雅黑"/>
              </a:rPr>
              <a:t>AR_IDLEF</a:t>
            </a:r>
            <a:r>
              <a:rPr sz="2800" b="1" spc="75" dirty="0">
                <a:latin typeface="微软雅黑"/>
                <a:cs typeface="微软雅黑"/>
              </a:rPr>
              <a:t>L</a:t>
            </a:r>
            <a:r>
              <a:rPr sz="2800" b="1" spc="-45" dirty="0">
                <a:latin typeface="微软雅黑"/>
                <a:cs typeface="微软雅黑"/>
              </a:rPr>
              <a:t>A</a:t>
            </a:r>
            <a:r>
              <a:rPr sz="2800" b="1" spc="-5" dirty="0">
                <a:latin typeface="微软雅黑"/>
                <a:cs typeface="微软雅黑"/>
              </a:rPr>
              <a:t>G</a:t>
            </a:r>
            <a:endParaRPr sz="2800">
              <a:latin typeface="微软雅黑"/>
              <a:cs typeface="微软雅黑"/>
            </a:endParaRPr>
          </a:p>
        </p:txBody>
      </p:sp>
      <p:graphicFrame>
        <p:nvGraphicFramePr>
          <p:cNvPr id="7" name="object 7"/>
          <p:cNvGraphicFramePr>
            <a:graphicFrameLocks noGrp="1"/>
          </p:cNvGraphicFramePr>
          <p:nvPr/>
        </p:nvGraphicFramePr>
        <p:xfrm>
          <a:off x="597725" y="2038032"/>
          <a:ext cx="10967973" cy="4016766"/>
        </p:xfrm>
        <a:graphic>
          <a:graphicData uri="http://schemas.openxmlformats.org/drawingml/2006/table">
            <a:tbl>
              <a:tblPr firstRow="1" bandRow="1">
                <a:tableStyleId>{2D5ABB26-0587-4C30-8999-92F81FD0307C}</a:tableStyleId>
              </a:tblPr>
              <a:tblGrid>
                <a:gridCol w="1482725">
                  <a:extLst>
                    <a:ext uri="{9D8B030D-6E8A-4147-A177-3AD203B41FA5}">
                      <a16:colId xmlns:a16="http://schemas.microsoft.com/office/drawing/2014/main" val="20000"/>
                    </a:ext>
                  </a:extLst>
                </a:gridCol>
                <a:gridCol w="9485248">
                  <a:extLst>
                    <a:ext uri="{9D8B030D-6E8A-4147-A177-3AD203B41FA5}">
                      <a16:colId xmlns:a16="http://schemas.microsoft.com/office/drawing/2014/main" val="20001"/>
                    </a:ext>
                  </a:extLst>
                </a:gridCol>
              </a:tblGrid>
              <a:tr h="501650">
                <a:tc gridSpan="2">
                  <a:txBody>
                    <a:bodyPr/>
                    <a:lstStyle/>
                    <a:p>
                      <a:pPr marL="2376170">
                        <a:lnSpc>
                          <a:spcPct val="100000"/>
                        </a:lnSpc>
                        <a:tabLst>
                          <a:tab pos="4174490" algn="l"/>
                        </a:tabLst>
                      </a:pPr>
                      <a:r>
                        <a:rPr sz="2400" b="1" dirty="0">
                          <a:solidFill>
                            <a:srgbClr val="FFFFFF"/>
                          </a:solidFill>
                          <a:latin typeface="微软雅黑"/>
                          <a:cs typeface="微软雅黑"/>
                        </a:rPr>
                        <a:t>接口函数：</a:t>
                      </a:r>
                      <a:r>
                        <a:rPr sz="2400" u="heavy" dirty="0">
                          <a:solidFill>
                            <a:srgbClr val="FFFFFF"/>
                          </a:solidFill>
                          <a:latin typeface="Times New Roman"/>
                          <a:cs typeface="Times New Roman"/>
                        </a:rPr>
                        <a:t> 	</a:t>
                      </a:r>
                      <a:r>
                        <a:rPr sz="2400" b="1" spc="-5" dirty="0">
                          <a:solidFill>
                            <a:srgbClr val="FFFFFF"/>
                          </a:solidFill>
                          <a:latin typeface="微软雅黑"/>
                          <a:cs typeface="微软雅黑"/>
                        </a:rPr>
                        <a:t>HAL_</a:t>
                      </a:r>
                      <a:r>
                        <a:rPr sz="2400" b="1" spc="-60" dirty="0">
                          <a:solidFill>
                            <a:srgbClr val="FFFFFF"/>
                          </a:solidFill>
                          <a:latin typeface="微软雅黑"/>
                          <a:cs typeface="微软雅黑"/>
                        </a:rPr>
                        <a:t>U</a:t>
                      </a:r>
                      <a:r>
                        <a:rPr sz="2400" b="1" dirty="0">
                          <a:solidFill>
                            <a:srgbClr val="FFFFFF"/>
                          </a:solidFill>
                          <a:latin typeface="微软雅黑"/>
                          <a:cs typeface="微软雅黑"/>
                        </a:rPr>
                        <a:t>A</a:t>
                      </a:r>
                      <a:r>
                        <a:rPr sz="2400" b="1" spc="-45" dirty="0">
                          <a:solidFill>
                            <a:srgbClr val="FFFFFF"/>
                          </a:solidFill>
                          <a:latin typeface="微软雅黑"/>
                          <a:cs typeface="微软雅黑"/>
                        </a:rPr>
                        <a:t>R</a:t>
                      </a:r>
                      <a:r>
                        <a:rPr sz="2400" b="1" spc="-5" dirty="0">
                          <a:solidFill>
                            <a:srgbClr val="FFFFFF"/>
                          </a:solidFill>
                          <a:latin typeface="微软雅黑"/>
                          <a:cs typeface="微软雅黑"/>
                        </a:rPr>
                        <a:t>T</a:t>
                      </a:r>
                      <a:r>
                        <a:rPr sz="2400" b="1" spc="5" dirty="0">
                          <a:solidFill>
                            <a:srgbClr val="FFFFFF"/>
                          </a:solidFill>
                          <a:latin typeface="微软雅黑"/>
                          <a:cs typeface="微软雅黑"/>
                        </a:rPr>
                        <a:t>_</a:t>
                      </a:r>
                      <a:r>
                        <a:rPr sz="2400" b="1" spc="-5" dirty="0">
                          <a:solidFill>
                            <a:srgbClr val="FFFFFF"/>
                          </a:solidFill>
                          <a:latin typeface="微软雅黑"/>
                          <a:cs typeface="微软雅黑"/>
                        </a:rPr>
                        <a:t>CL</a:t>
                      </a:r>
                      <a:r>
                        <a:rPr sz="2400" b="1" spc="35" dirty="0">
                          <a:solidFill>
                            <a:srgbClr val="FFFFFF"/>
                          </a:solidFill>
                          <a:latin typeface="微软雅黑"/>
                          <a:cs typeface="微软雅黑"/>
                        </a:rPr>
                        <a:t>E</a:t>
                      </a:r>
                      <a:r>
                        <a:rPr sz="2400" b="1" dirty="0">
                          <a:solidFill>
                            <a:srgbClr val="FFFFFF"/>
                          </a:solidFill>
                          <a:latin typeface="微软雅黑"/>
                          <a:cs typeface="微软雅黑"/>
                        </a:rPr>
                        <a:t>AR</a:t>
                      </a:r>
                      <a:r>
                        <a:rPr sz="2400" b="1" spc="5" dirty="0">
                          <a:solidFill>
                            <a:srgbClr val="FFFFFF"/>
                          </a:solidFill>
                          <a:latin typeface="微软雅黑"/>
                          <a:cs typeface="微软雅黑"/>
                        </a:rPr>
                        <a:t>_</a:t>
                      </a:r>
                      <a:r>
                        <a:rPr sz="2400" b="1" spc="-5" dirty="0">
                          <a:solidFill>
                            <a:srgbClr val="FFFFFF"/>
                          </a:solidFill>
                          <a:latin typeface="微软雅黑"/>
                          <a:cs typeface="微软雅黑"/>
                        </a:rPr>
                        <a:t>IDLEF</a:t>
                      </a:r>
                      <a:r>
                        <a:rPr sz="2400" b="1" spc="60" dirty="0">
                          <a:solidFill>
                            <a:srgbClr val="FFFFFF"/>
                          </a:solidFill>
                          <a:latin typeface="微软雅黑"/>
                          <a:cs typeface="微软雅黑"/>
                        </a:rPr>
                        <a:t>L</a:t>
                      </a:r>
                      <a:r>
                        <a:rPr sz="2400" b="1" spc="-30" dirty="0">
                          <a:solidFill>
                            <a:srgbClr val="FFFFFF"/>
                          </a:solidFill>
                          <a:latin typeface="微软雅黑"/>
                          <a:cs typeface="微软雅黑"/>
                        </a:rPr>
                        <a:t>A</a:t>
                      </a:r>
                      <a:r>
                        <a:rPr sz="2400" b="1" dirty="0">
                          <a:solidFill>
                            <a:srgbClr val="FFFFFF"/>
                          </a:solidFill>
                          <a:latin typeface="微软雅黑"/>
                          <a:cs typeface="微软雅黑"/>
                        </a:rPr>
                        <a:t>G</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tc hMerge="1">
                  <a:txBody>
                    <a:bodyPr/>
                    <a:lstStyle/>
                    <a:p>
                      <a:endParaRPr/>
                    </a:p>
                  </a:txBody>
                  <a:tcPr marL="0" marR="0" marT="0" marB="0"/>
                </a:tc>
                <a:extLst>
                  <a:ext uri="{0D108BD9-81ED-4DB2-BD59-A6C34878D82A}">
                    <a16:rowId xmlns:a16="http://schemas.microsoft.com/office/drawing/2014/main" val="10000"/>
                  </a:ext>
                </a:extLst>
              </a:tr>
              <a:tr h="634618">
                <a:tc>
                  <a:txBody>
                    <a:bodyPr/>
                    <a:lstStyle/>
                    <a:p>
                      <a:pPr marL="116839">
                        <a:lnSpc>
                          <a:spcPct val="100000"/>
                        </a:lnSpc>
                      </a:pPr>
                      <a:r>
                        <a:rPr sz="2400" b="1" spc="-5" dirty="0">
                          <a:latin typeface="微软雅黑"/>
                          <a:cs typeface="微软雅黑"/>
                        </a:rPr>
                        <a:t>函数原型</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ct val="100000"/>
                        </a:lnSpc>
                        <a:tabLst>
                          <a:tab pos="328295" algn="l"/>
                          <a:tab pos="5199380" algn="l"/>
                          <a:tab pos="6792595" algn="l"/>
                        </a:tabLst>
                      </a:pPr>
                      <a:r>
                        <a:rPr sz="2400" u="heavy" dirty="0">
                          <a:latin typeface="Times New Roman"/>
                          <a:cs typeface="Times New Roman"/>
                        </a:rPr>
                        <a:t> 	</a:t>
                      </a:r>
                      <a:r>
                        <a:rPr sz="2400" b="1" spc="-5" dirty="0">
                          <a:latin typeface="微软雅黑"/>
                          <a:cs typeface="微软雅黑"/>
                        </a:rPr>
                        <a:t>HA</a:t>
                      </a:r>
                      <a:r>
                        <a:rPr sz="2400" b="1" spc="-15" dirty="0">
                          <a:latin typeface="微软雅黑"/>
                          <a:cs typeface="微软雅黑"/>
                        </a:rPr>
                        <a:t>L</a:t>
                      </a:r>
                      <a:r>
                        <a:rPr sz="2400" b="1" spc="-5" dirty="0">
                          <a:latin typeface="微软雅黑"/>
                          <a:cs typeface="微软雅黑"/>
                        </a:rPr>
                        <a:t>_</a:t>
                      </a:r>
                      <a:r>
                        <a:rPr sz="2400" b="1" spc="-60" dirty="0">
                          <a:latin typeface="微软雅黑"/>
                          <a:cs typeface="微软雅黑"/>
                        </a:rPr>
                        <a:t>U</a:t>
                      </a:r>
                      <a:r>
                        <a:rPr sz="2400" b="1" dirty="0">
                          <a:latin typeface="微软雅黑"/>
                          <a:cs typeface="微软雅黑"/>
                        </a:rPr>
                        <a:t>A</a:t>
                      </a:r>
                      <a:r>
                        <a:rPr sz="2400" b="1" spc="-50" dirty="0">
                          <a:latin typeface="微软雅黑"/>
                          <a:cs typeface="微软雅黑"/>
                        </a:rPr>
                        <a:t>R</a:t>
                      </a:r>
                      <a:r>
                        <a:rPr sz="2400" b="1" spc="-5" dirty="0">
                          <a:latin typeface="微软雅黑"/>
                          <a:cs typeface="微软雅黑"/>
                        </a:rPr>
                        <a:t>T_CL</a:t>
                      </a:r>
                      <a:r>
                        <a:rPr sz="2400" b="1" spc="25" dirty="0">
                          <a:latin typeface="微软雅黑"/>
                          <a:cs typeface="微软雅黑"/>
                        </a:rPr>
                        <a:t>E</a:t>
                      </a:r>
                      <a:r>
                        <a:rPr sz="2400" b="1" dirty="0">
                          <a:latin typeface="微软雅黑"/>
                          <a:cs typeface="微软雅黑"/>
                        </a:rPr>
                        <a:t>AR_IDL</a:t>
                      </a:r>
                      <a:r>
                        <a:rPr sz="2400" b="1" spc="-15" dirty="0">
                          <a:latin typeface="微软雅黑"/>
                          <a:cs typeface="微软雅黑"/>
                        </a:rPr>
                        <a:t>E</a:t>
                      </a:r>
                      <a:r>
                        <a:rPr sz="2400" b="1" spc="-5" dirty="0">
                          <a:latin typeface="微软雅黑"/>
                          <a:cs typeface="微软雅黑"/>
                        </a:rPr>
                        <a:t>F</a:t>
                      </a:r>
                      <a:r>
                        <a:rPr sz="2400" b="1" spc="55" dirty="0">
                          <a:latin typeface="微软雅黑"/>
                          <a:cs typeface="微软雅黑"/>
                        </a:rPr>
                        <a:t>L</a:t>
                      </a:r>
                      <a:r>
                        <a:rPr sz="2400" b="1" spc="-30" dirty="0">
                          <a:latin typeface="微软雅黑"/>
                          <a:cs typeface="微软雅黑"/>
                        </a:rPr>
                        <a:t>A</a:t>
                      </a:r>
                      <a:r>
                        <a:rPr sz="2400" b="1" dirty="0">
                          <a:latin typeface="微软雅黑"/>
                          <a:cs typeface="微软雅黑"/>
                        </a:rPr>
                        <a:t>G</a:t>
                      </a:r>
                      <a:r>
                        <a:rPr sz="2400" b="1" spc="-30" dirty="0">
                          <a:latin typeface="微软雅黑"/>
                          <a:cs typeface="微软雅黑"/>
                        </a:rPr>
                        <a:t> </a:t>
                      </a:r>
                      <a:r>
                        <a:rPr sz="2400" b="1" dirty="0">
                          <a:latin typeface="微软雅黑"/>
                          <a:cs typeface="微软雅黑"/>
                        </a:rPr>
                        <a:t>(</a:t>
                      </a:r>
                      <a:r>
                        <a:rPr sz="2400" b="1" u="heavy" dirty="0">
                          <a:latin typeface="微软雅黑"/>
                          <a:cs typeface="微软雅黑"/>
                        </a:rPr>
                        <a:t> 	</a:t>
                      </a:r>
                      <a:r>
                        <a:rPr sz="2400" b="1" dirty="0">
                          <a:latin typeface="微软雅黑"/>
                          <a:cs typeface="微软雅黑"/>
                        </a:rPr>
                        <a:t>HAN</a:t>
                      </a:r>
                      <a:r>
                        <a:rPr sz="2400" b="1" spc="-15" dirty="0">
                          <a:latin typeface="微软雅黑"/>
                          <a:cs typeface="微软雅黑"/>
                        </a:rPr>
                        <a:t>D</a:t>
                      </a:r>
                      <a:r>
                        <a:rPr sz="2400" b="1" dirty="0">
                          <a:latin typeface="微软雅黑"/>
                          <a:cs typeface="微软雅黑"/>
                        </a:rPr>
                        <a:t>L</a:t>
                      </a:r>
                      <a:r>
                        <a:rPr sz="2400" b="1" spc="-15" dirty="0">
                          <a:latin typeface="微软雅黑"/>
                          <a:cs typeface="微软雅黑"/>
                        </a:rPr>
                        <a:t>E</a:t>
                      </a:r>
                      <a:r>
                        <a:rPr sz="2400" b="1" u="heavy" dirty="0">
                          <a:latin typeface="微软雅黑"/>
                          <a:cs typeface="微软雅黑"/>
                        </a:rPr>
                        <a:t> 	</a:t>
                      </a:r>
                      <a:r>
                        <a:rPr sz="2400" b="1" dirty="0">
                          <a:latin typeface="微软雅黑"/>
                          <a:cs typeface="微软雅黑"/>
                        </a:rPr>
                        <a:t>)</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1"/>
                  </a:ext>
                </a:extLst>
              </a:tr>
              <a:tr h="828675">
                <a:tc>
                  <a:txBody>
                    <a:bodyPr/>
                    <a:lstStyle/>
                    <a:p>
                      <a:pPr marL="116839">
                        <a:lnSpc>
                          <a:spcPct val="100000"/>
                        </a:lnSpc>
                      </a:pPr>
                      <a:r>
                        <a:rPr sz="2400" b="1" spc="-5" dirty="0">
                          <a:latin typeface="微软雅黑"/>
                          <a:cs typeface="微软雅黑"/>
                        </a:rPr>
                        <a:t>功能描述</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3975">
                        <a:lnSpc>
                          <a:spcPct val="100000"/>
                        </a:lnSpc>
                      </a:pPr>
                      <a:r>
                        <a:rPr sz="2400" b="1" dirty="0">
                          <a:latin typeface="微软雅黑"/>
                          <a:cs typeface="微软雅黑"/>
                        </a:rPr>
                        <a:t>清除串口的空闲中断标志</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r h="546988">
                <a:tc>
                  <a:txBody>
                    <a:bodyPr/>
                    <a:lstStyle/>
                    <a:p>
                      <a:pPr marL="421640">
                        <a:lnSpc>
                          <a:spcPct val="100000"/>
                        </a:lnSpc>
                      </a:pPr>
                      <a:r>
                        <a:rPr sz="2400" b="1" dirty="0">
                          <a:latin typeface="微软雅黑"/>
                          <a:cs typeface="微软雅黑"/>
                        </a:rPr>
                        <a:t>参数</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ct val="100000"/>
                        </a:lnSpc>
                        <a:tabLst>
                          <a:tab pos="328295" algn="l"/>
                          <a:tab pos="1921510" algn="l"/>
                        </a:tabLst>
                      </a:pPr>
                      <a:r>
                        <a:rPr sz="2400" u="heavy" dirty="0">
                          <a:latin typeface="Times New Roman"/>
                          <a:cs typeface="Times New Roman"/>
                        </a:rPr>
                        <a:t> 	</a:t>
                      </a:r>
                      <a:r>
                        <a:rPr sz="2400" b="1" spc="-5" dirty="0">
                          <a:latin typeface="微软雅黑"/>
                          <a:cs typeface="微软雅黑"/>
                        </a:rPr>
                        <a:t>HANDL</a:t>
                      </a:r>
                      <a:r>
                        <a:rPr sz="2400" b="1" dirty="0">
                          <a:latin typeface="微软雅黑"/>
                          <a:cs typeface="微软雅黑"/>
                        </a:rPr>
                        <a:t>E</a:t>
                      </a:r>
                      <a:r>
                        <a:rPr sz="2400" b="1" u="heavy" dirty="0">
                          <a:latin typeface="微软雅黑"/>
                          <a:cs typeface="微软雅黑"/>
                        </a:rPr>
                        <a:t> 	</a:t>
                      </a:r>
                      <a:r>
                        <a:rPr sz="2400" b="1" dirty="0">
                          <a:latin typeface="微软雅黑"/>
                          <a:cs typeface="微软雅黑"/>
                        </a:rPr>
                        <a:t>：串口句柄的地址</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3"/>
                  </a:ext>
                </a:extLst>
              </a:tr>
              <a:tr h="501650">
                <a:tc>
                  <a:txBody>
                    <a:bodyPr/>
                    <a:lstStyle/>
                    <a:p>
                      <a:pPr marL="269240">
                        <a:lnSpc>
                          <a:spcPct val="100000"/>
                        </a:lnSpc>
                      </a:pPr>
                      <a:r>
                        <a:rPr sz="2400" b="1" dirty="0">
                          <a:latin typeface="微软雅黑"/>
                          <a:cs typeface="微软雅黑"/>
                        </a:rPr>
                        <a:t>返回值</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3975">
                        <a:lnSpc>
                          <a:spcPct val="100000"/>
                        </a:lnSpc>
                      </a:pPr>
                      <a:r>
                        <a:rPr sz="2400" b="1" dirty="0">
                          <a:latin typeface="微软雅黑"/>
                          <a:cs typeface="微软雅黑"/>
                        </a:rPr>
                        <a:t>无</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4"/>
                  </a:ext>
                </a:extLst>
              </a:tr>
              <a:tr h="1003185">
                <a:tc>
                  <a:txBody>
                    <a:bodyPr/>
                    <a:lstStyle/>
                    <a:p>
                      <a:pPr marL="116839">
                        <a:lnSpc>
                          <a:spcPct val="100000"/>
                        </a:lnSpc>
                      </a:pPr>
                      <a:r>
                        <a:rPr sz="2400" b="1" spc="-5" dirty="0">
                          <a:latin typeface="微软雅黑"/>
                          <a:cs typeface="微软雅黑"/>
                        </a:rPr>
                        <a:t>注意事项</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ct val="100000"/>
                        </a:lnSpc>
                      </a:pPr>
                      <a:r>
                        <a:rPr sz="2400" b="1" dirty="0">
                          <a:latin typeface="微软雅黑"/>
                          <a:cs typeface="微软雅黑"/>
                        </a:rPr>
                        <a:t>1. 该函数是宏函数，进行宏替换，不发生函数调用</a:t>
                      </a:r>
                      <a:endParaRPr sz="2400">
                        <a:latin typeface="微软雅黑"/>
                        <a:cs typeface="微软雅黑"/>
                      </a:endParaRPr>
                    </a:p>
                    <a:p>
                      <a:pPr marL="53975">
                        <a:lnSpc>
                          <a:spcPct val="100000"/>
                        </a:lnSpc>
                      </a:pPr>
                      <a:r>
                        <a:rPr sz="2400" b="1" dirty="0">
                          <a:latin typeface="微软雅黑"/>
                          <a:cs typeface="微软雅黑"/>
                        </a:rPr>
                        <a:t>2.</a:t>
                      </a:r>
                      <a:r>
                        <a:rPr sz="2400" b="1" spc="-5" dirty="0">
                          <a:latin typeface="微软雅黑"/>
                          <a:cs typeface="微软雅黑"/>
                        </a:rPr>
                        <a:t> 函数需要由用户调用，用于清除对应的串口空闲中断标志</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19026876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2179320"/>
            <a:ext cx="12192000" cy="1914525"/>
          </a:xfrm>
          <a:custGeom>
            <a:avLst/>
            <a:gdLst/>
            <a:ahLst/>
            <a:cxnLst/>
            <a:rect l="l" t="t" r="r" b="b"/>
            <a:pathLst>
              <a:path w="12192000" h="1914525">
                <a:moveTo>
                  <a:pt x="0" y="1914143"/>
                </a:moveTo>
                <a:lnTo>
                  <a:pt x="12192000" y="1914143"/>
                </a:lnTo>
                <a:lnTo>
                  <a:pt x="12192000" y="0"/>
                </a:lnTo>
                <a:lnTo>
                  <a:pt x="0" y="0"/>
                </a:lnTo>
                <a:lnTo>
                  <a:pt x="0" y="1914143"/>
                </a:lnTo>
                <a:close/>
              </a:path>
            </a:pathLst>
          </a:custGeom>
          <a:solidFill>
            <a:srgbClr val="E34A46"/>
          </a:solidFill>
        </p:spPr>
        <p:txBody>
          <a:bodyPr wrap="square" lIns="0" tIns="0" rIns="0" bIns="0" rtlCol="0"/>
          <a:lstStyle/>
          <a:p>
            <a:endParaRPr/>
          </a:p>
        </p:txBody>
      </p:sp>
      <p:sp>
        <p:nvSpPr>
          <p:cNvPr id="3" name="object 3"/>
          <p:cNvSpPr txBox="1">
            <a:spLocks noGrp="1"/>
          </p:cNvSpPr>
          <p:nvPr>
            <p:ph type="title"/>
          </p:nvPr>
        </p:nvSpPr>
        <p:spPr>
          <a:xfrm>
            <a:off x="4100321" y="2712106"/>
            <a:ext cx="3993515" cy="830997"/>
          </a:xfrm>
          <a:prstGeom prst="rect">
            <a:avLst/>
          </a:prstGeom>
        </p:spPr>
        <p:txBody>
          <a:bodyPr vert="horz" wrap="square" lIns="0" tIns="0" rIns="0" bIns="0" rtlCol="0">
            <a:spAutoFit/>
          </a:bodyPr>
          <a:lstStyle/>
          <a:p>
            <a:pPr marL="12700">
              <a:lnSpc>
                <a:spcPct val="100000"/>
              </a:lnSpc>
              <a:tabLst>
                <a:tab pos="843915" algn="l"/>
              </a:tabLst>
            </a:pPr>
            <a:r>
              <a:rPr lang="en-US" sz="5400" spc="-5" dirty="0">
                <a:solidFill>
                  <a:srgbClr val="FFFFFF"/>
                </a:solidFill>
              </a:rPr>
              <a:t>3</a:t>
            </a:r>
            <a:r>
              <a:rPr sz="5400" spc="-5" dirty="0">
                <a:solidFill>
                  <a:srgbClr val="FFFFFF"/>
                </a:solidFill>
                <a:latin typeface="微软雅黑"/>
                <a:cs typeface="微软雅黑"/>
              </a:rPr>
              <a:t>	DM</a:t>
            </a:r>
            <a:r>
              <a:rPr sz="5400" spc="-10" dirty="0">
                <a:solidFill>
                  <a:srgbClr val="FFFFFF"/>
                </a:solidFill>
                <a:latin typeface="微软雅黑"/>
                <a:cs typeface="微软雅黑"/>
              </a:rPr>
              <a:t>A</a:t>
            </a:r>
            <a:r>
              <a:rPr sz="5400" dirty="0">
                <a:solidFill>
                  <a:srgbClr val="FFFFFF"/>
                </a:solidFill>
              </a:rPr>
              <a:t>概述</a:t>
            </a:r>
            <a:endParaRPr sz="5400" dirty="0">
              <a:latin typeface="微软雅黑"/>
              <a:cs typeface="微软雅黑"/>
            </a:endParaRPr>
          </a:p>
        </p:txBody>
      </p:sp>
    </p:spTree>
    <p:extLst>
      <p:ext uri="{BB962C8B-B14F-4D97-AF65-F5344CB8AC3E}">
        <p14:creationId xmlns:p14="http://schemas.microsoft.com/office/powerpoint/2010/main" val="52383961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3" name="object 3"/>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4" name="object 4"/>
          <p:cNvSpPr/>
          <p:nvPr/>
        </p:nvSpPr>
        <p:spPr>
          <a:xfrm>
            <a:off x="0" y="963155"/>
            <a:ext cx="2171699" cy="769632"/>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6" name="object 6"/>
          <p:cNvSpPr/>
          <p:nvPr/>
        </p:nvSpPr>
        <p:spPr>
          <a:xfrm>
            <a:off x="0" y="995172"/>
            <a:ext cx="2087880" cy="655320"/>
          </a:xfrm>
          <a:custGeom>
            <a:avLst/>
            <a:gdLst/>
            <a:ahLst/>
            <a:cxnLst/>
            <a:rect l="l" t="t" r="r" b="b"/>
            <a:pathLst>
              <a:path w="2087880" h="655319">
                <a:moveTo>
                  <a:pt x="0" y="0"/>
                </a:moveTo>
                <a:lnTo>
                  <a:pt x="1836420" y="0"/>
                </a:lnTo>
                <a:lnTo>
                  <a:pt x="2087880" y="327660"/>
                </a:lnTo>
                <a:lnTo>
                  <a:pt x="1836420" y="655319"/>
                </a:lnTo>
                <a:lnTo>
                  <a:pt x="0" y="655319"/>
                </a:lnTo>
              </a:path>
            </a:pathLst>
          </a:custGeom>
          <a:ln w="12192">
            <a:solidFill>
              <a:srgbClr val="E34A46"/>
            </a:solidFill>
          </a:ln>
        </p:spPr>
        <p:txBody>
          <a:bodyPr wrap="square" lIns="0" tIns="0" rIns="0" bIns="0" rtlCol="0"/>
          <a:lstStyle/>
          <a:p>
            <a:endParaRPr/>
          </a:p>
        </p:txBody>
      </p:sp>
      <p:sp>
        <p:nvSpPr>
          <p:cNvPr id="7" name="object 7"/>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9" name="object 9"/>
          <p:cNvSpPr txBox="1"/>
          <p:nvPr/>
        </p:nvSpPr>
        <p:spPr>
          <a:xfrm>
            <a:off x="351231" y="1181606"/>
            <a:ext cx="1244600" cy="330835"/>
          </a:xfrm>
          <a:prstGeom prst="rect">
            <a:avLst/>
          </a:prstGeom>
        </p:spPr>
        <p:txBody>
          <a:bodyPr vert="horz" wrap="square" lIns="0" tIns="0" rIns="0" bIns="0" rtlCol="0">
            <a:spAutoFit/>
          </a:bodyPr>
          <a:lstStyle/>
          <a:p>
            <a:pPr marL="12700">
              <a:lnSpc>
                <a:spcPct val="100000"/>
              </a:lnSpc>
            </a:pPr>
            <a:r>
              <a:rPr sz="2400" b="1" spc="-5" dirty="0">
                <a:solidFill>
                  <a:srgbClr val="FFFFFF"/>
                </a:solidFill>
                <a:latin typeface="微软雅黑"/>
                <a:cs typeface="微软雅黑"/>
              </a:rPr>
              <a:t>基本概念</a:t>
            </a:r>
            <a:endParaRPr sz="2400">
              <a:latin typeface="微软雅黑"/>
              <a:cs typeface="微软雅黑"/>
            </a:endParaRPr>
          </a:p>
        </p:txBody>
      </p:sp>
      <p:sp>
        <p:nvSpPr>
          <p:cNvPr id="10" name="object 10"/>
          <p:cNvSpPr txBox="1"/>
          <p:nvPr/>
        </p:nvSpPr>
        <p:spPr>
          <a:xfrm>
            <a:off x="2385441" y="389881"/>
            <a:ext cx="668655" cy="254000"/>
          </a:xfrm>
          <a:prstGeom prst="rect">
            <a:avLst/>
          </a:prstGeom>
        </p:spPr>
        <p:txBody>
          <a:bodyPr vert="horz" wrap="square" lIns="0" tIns="0" rIns="0" bIns="0" rtlCol="0">
            <a:spAutoFit/>
          </a:bodyPr>
          <a:lstStyle/>
          <a:p>
            <a:pPr marL="12700">
              <a:lnSpc>
                <a:spcPct val="100000"/>
              </a:lnSpc>
            </a:pPr>
            <a:r>
              <a:rPr sz="1800" b="1" spc="-45" dirty="0">
                <a:solidFill>
                  <a:srgbClr val="252525"/>
                </a:solidFill>
                <a:latin typeface="微软雅黑"/>
                <a:cs typeface="微软雅黑"/>
              </a:rPr>
              <a:t>U</a:t>
            </a:r>
            <a:r>
              <a:rPr sz="1800" b="1" dirty="0">
                <a:solidFill>
                  <a:srgbClr val="252525"/>
                </a:solidFill>
                <a:latin typeface="微软雅黑"/>
                <a:cs typeface="微软雅黑"/>
              </a:rPr>
              <a:t>A</a:t>
            </a:r>
            <a:r>
              <a:rPr sz="1800" b="1" spc="-35" dirty="0">
                <a:solidFill>
                  <a:srgbClr val="252525"/>
                </a:solidFill>
                <a:latin typeface="微软雅黑"/>
                <a:cs typeface="微软雅黑"/>
              </a:rPr>
              <a:t>R</a:t>
            </a:r>
            <a:r>
              <a:rPr sz="1800" b="1" dirty="0">
                <a:solidFill>
                  <a:srgbClr val="252525"/>
                </a:solidFill>
                <a:latin typeface="微软雅黑"/>
                <a:cs typeface="微软雅黑"/>
              </a:rPr>
              <a:t>T</a:t>
            </a:r>
            <a:endParaRPr sz="1800">
              <a:latin typeface="微软雅黑"/>
              <a:cs typeface="微软雅黑"/>
            </a:endParaRPr>
          </a:p>
        </p:txBody>
      </p:sp>
      <p:sp>
        <p:nvSpPr>
          <p:cNvPr id="11" name="object 11"/>
          <p:cNvSpPr txBox="1"/>
          <p:nvPr/>
        </p:nvSpPr>
        <p:spPr>
          <a:xfrm>
            <a:off x="811530" y="1927098"/>
            <a:ext cx="10570845" cy="1772920"/>
          </a:xfrm>
          <a:prstGeom prst="rect">
            <a:avLst/>
          </a:prstGeom>
          <a:ln w="38099">
            <a:solidFill>
              <a:srgbClr val="E34A46"/>
            </a:solidFill>
          </a:ln>
        </p:spPr>
        <p:txBody>
          <a:bodyPr vert="horz" wrap="square" lIns="0" tIns="0" rIns="0" bIns="0" rtlCol="0">
            <a:spAutoFit/>
          </a:bodyPr>
          <a:lstStyle/>
          <a:p>
            <a:pPr marL="193675" marR="36195">
              <a:lnSpc>
                <a:spcPct val="150100"/>
              </a:lnSpc>
            </a:pPr>
            <a:r>
              <a:rPr sz="2400" b="1" spc="-5" dirty="0">
                <a:solidFill>
                  <a:srgbClr val="FF0000"/>
                </a:solidFill>
                <a:latin typeface="微软雅黑"/>
                <a:cs typeface="微软雅黑"/>
              </a:rPr>
              <a:t>直接存储器访</a:t>
            </a:r>
            <a:r>
              <a:rPr sz="2400" b="1" dirty="0">
                <a:solidFill>
                  <a:srgbClr val="FF0000"/>
                </a:solidFill>
                <a:latin typeface="微软雅黑"/>
                <a:cs typeface="微软雅黑"/>
              </a:rPr>
              <a:t>问</a:t>
            </a:r>
            <a:r>
              <a:rPr sz="2400" b="1" spc="-10" dirty="0">
                <a:solidFill>
                  <a:srgbClr val="FF0000"/>
                </a:solidFill>
                <a:latin typeface="微软雅黑"/>
                <a:cs typeface="微软雅黑"/>
              </a:rPr>
              <a:t> </a:t>
            </a:r>
            <a:r>
              <a:rPr sz="2400" b="1" dirty="0">
                <a:solidFill>
                  <a:srgbClr val="FF0000"/>
                </a:solidFill>
                <a:latin typeface="微软雅黑"/>
                <a:cs typeface="微软雅黑"/>
              </a:rPr>
              <a:t>(</a:t>
            </a:r>
            <a:r>
              <a:rPr sz="2400" b="1" spc="-10" dirty="0">
                <a:solidFill>
                  <a:srgbClr val="FF0000"/>
                </a:solidFill>
                <a:latin typeface="微软雅黑"/>
                <a:cs typeface="微软雅黑"/>
              </a:rPr>
              <a:t>D</a:t>
            </a:r>
            <a:r>
              <a:rPr sz="2400" b="1" spc="-5" dirty="0">
                <a:solidFill>
                  <a:srgbClr val="FF0000"/>
                </a:solidFill>
                <a:latin typeface="微软雅黑"/>
                <a:cs typeface="微软雅黑"/>
              </a:rPr>
              <a:t>MA</a:t>
            </a:r>
            <a:r>
              <a:rPr sz="2400" b="1" dirty="0">
                <a:solidFill>
                  <a:srgbClr val="FF0000"/>
                </a:solidFill>
                <a:latin typeface="微软雅黑"/>
                <a:cs typeface="微软雅黑"/>
              </a:rPr>
              <a:t>) </a:t>
            </a:r>
            <a:r>
              <a:rPr sz="2400" b="1" spc="-5" dirty="0">
                <a:latin typeface="微软雅黑"/>
                <a:cs typeface="微软雅黑"/>
              </a:rPr>
              <a:t>：用于在外设与存储器之间以及存储器与存储器之 </a:t>
            </a:r>
            <a:r>
              <a:rPr sz="2400" b="1" dirty="0">
                <a:latin typeface="微软雅黑"/>
                <a:cs typeface="微软雅黑"/>
              </a:rPr>
              <a:t>间进行高速数据传输。DM</a:t>
            </a:r>
            <a:r>
              <a:rPr sz="2400" b="1" spc="-5" dirty="0">
                <a:latin typeface="微软雅黑"/>
                <a:cs typeface="微软雅黑"/>
              </a:rPr>
              <a:t>A</a:t>
            </a:r>
            <a:r>
              <a:rPr sz="2400" b="1" dirty="0">
                <a:latin typeface="微软雅黑"/>
                <a:cs typeface="微软雅黑"/>
              </a:rPr>
              <a:t>传输过程的初始化和启动由</a:t>
            </a:r>
            <a:r>
              <a:rPr sz="2400" b="1" spc="-5" dirty="0">
                <a:latin typeface="微软雅黑"/>
                <a:cs typeface="微软雅黑"/>
              </a:rPr>
              <a:t>CPU</a:t>
            </a:r>
            <a:r>
              <a:rPr sz="2400" b="1" dirty="0">
                <a:latin typeface="微软雅黑"/>
                <a:cs typeface="微软雅黑"/>
              </a:rPr>
              <a:t>完成，传输过 程由DM</a:t>
            </a:r>
            <a:r>
              <a:rPr sz="2400" b="1" spc="-10" dirty="0">
                <a:latin typeface="微软雅黑"/>
                <a:cs typeface="微软雅黑"/>
              </a:rPr>
              <a:t>A</a:t>
            </a:r>
            <a:r>
              <a:rPr sz="2400" b="1" dirty="0">
                <a:latin typeface="微软雅黑"/>
                <a:cs typeface="微软雅黑"/>
              </a:rPr>
              <a:t>控制器来执行，无</a:t>
            </a:r>
            <a:r>
              <a:rPr sz="2400" b="1" spc="-15" dirty="0">
                <a:latin typeface="微软雅黑"/>
                <a:cs typeface="微软雅黑"/>
              </a:rPr>
              <a:t>需</a:t>
            </a:r>
            <a:r>
              <a:rPr sz="2400" b="1" spc="-5" dirty="0">
                <a:latin typeface="微软雅黑"/>
                <a:cs typeface="微软雅黑"/>
              </a:rPr>
              <a:t>C</a:t>
            </a:r>
            <a:r>
              <a:rPr sz="2400" b="1" spc="-15" dirty="0">
                <a:latin typeface="微软雅黑"/>
                <a:cs typeface="微软雅黑"/>
              </a:rPr>
              <a:t>P</a:t>
            </a:r>
            <a:r>
              <a:rPr sz="2400" b="1" spc="-5" dirty="0">
                <a:latin typeface="微软雅黑"/>
                <a:cs typeface="微软雅黑"/>
              </a:rPr>
              <a:t>U</a:t>
            </a:r>
            <a:r>
              <a:rPr sz="2400" b="1" dirty="0">
                <a:latin typeface="微软雅黑"/>
                <a:cs typeface="微软雅黑"/>
              </a:rPr>
              <a:t>参与，从而节省</a:t>
            </a:r>
            <a:r>
              <a:rPr sz="2400" b="1" spc="-5" dirty="0">
                <a:latin typeface="微软雅黑"/>
                <a:cs typeface="微软雅黑"/>
              </a:rPr>
              <a:t>C</a:t>
            </a:r>
            <a:r>
              <a:rPr sz="2400" b="1" spc="-15" dirty="0">
                <a:latin typeface="微软雅黑"/>
                <a:cs typeface="微软雅黑"/>
              </a:rPr>
              <a:t>P</a:t>
            </a:r>
            <a:r>
              <a:rPr sz="2400" b="1" spc="-5" dirty="0">
                <a:latin typeface="微软雅黑"/>
                <a:cs typeface="微软雅黑"/>
              </a:rPr>
              <a:t>U</a:t>
            </a:r>
            <a:r>
              <a:rPr sz="2400" b="1" dirty="0">
                <a:latin typeface="微软雅黑"/>
                <a:cs typeface="微软雅黑"/>
              </a:rPr>
              <a:t>资源，提高利用率。</a:t>
            </a:r>
            <a:endParaRPr sz="2400">
              <a:latin typeface="微软雅黑"/>
              <a:cs typeface="微软雅黑"/>
            </a:endParaRPr>
          </a:p>
        </p:txBody>
      </p:sp>
      <p:sp>
        <p:nvSpPr>
          <p:cNvPr id="12" name="object 12"/>
          <p:cNvSpPr txBox="1">
            <a:spLocks noGrp="1"/>
          </p:cNvSpPr>
          <p:nvPr>
            <p:ph type="title"/>
          </p:nvPr>
        </p:nvSpPr>
        <p:spPr>
          <a:prstGeom prst="rect">
            <a:avLst/>
          </a:prstGeom>
        </p:spPr>
        <p:txBody>
          <a:bodyPr vert="horz" wrap="square" lIns="0" tIns="0" rIns="0" bIns="0" rtlCol="0">
            <a:spAutoFit/>
          </a:bodyPr>
          <a:lstStyle/>
          <a:p>
            <a:pPr marL="1889125">
              <a:lnSpc>
                <a:spcPct val="100000"/>
              </a:lnSpc>
            </a:pPr>
            <a:r>
              <a:rPr spc="-5" dirty="0">
                <a:latin typeface="微软雅黑"/>
                <a:cs typeface="微软雅黑"/>
              </a:rPr>
              <a:t>DM</a:t>
            </a:r>
            <a:r>
              <a:rPr spc="-20" dirty="0">
                <a:latin typeface="微软雅黑"/>
                <a:cs typeface="微软雅黑"/>
              </a:rPr>
              <a:t>A</a:t>
            </a:r>
            <a:r>
              <a:rPr spc="-10" dirty="0"/>
              <a:t>的概念</a:t>
            </a:r>
          </a:p>
        </p:txBody>
      </p:sp>
      <p:sp>
        <p:nvSpPr>
          <p:cNvPr id="13" name="object 13"/>
          <p:cNvSpPr txBox="1"/>
          <p:nvPr/>
        </p:nvSpPr>
        <p:spPr>
          <a:xfrm>
            <a:off x="3021838" y="4019158"/>
            <a:ext cx="6118225" cy="2336800"/>
          </a:xfrm>
          <a:prstGeom prst="rect">
            <a:avLst/>
          </a:prstGeom>
        </p:spPr>
        <p:txBody>
          <a:bodyPr vert="horz" wrap="square" lIns="0" tIns="0" rIns="0" bIns="0" rtlCol="0">
            <a:spAutoFit/>
          </a:bodyPr>
          <a:lstStyle/>
          <a:p>
            <a:pPr>
              <a:lnSpc>
                <a:spcPct val="100000"/>
              </a:lnSpc>
            </a:pPr>
            <a:r>
              <a:rPr sz="2400" b="1" spc="-5" dirty="0">
                <a:solidFill>
                  <a:srgbClr val="FF0000"/>
                </a:solidFill>
                <a:latin typeface="微软雅黑"/>
                <a:cs typeface="微软雅黑"/>
              </a:rPr>
              <a:t>DM</a:t>
            </a:r>
            <a:r>
              <a:rPr sz="2400" b="1" spc="-15" dirty="0">
                <a:solidFill>
                  <a:srgbClr val="FF0000"/>
                </a:solidFill>
                <a:latin typeface="微软雅黑"/>
                <a:cs typeface="微软雅黑"/>
              </a:rPr>
              <a:t>A</a:t>
            </a:r>
            <a:r>
              <a:rPr sz="2400" b="1" spc="-5" dirty="0">
                <a:solidFill>
                  <a:srgbClr val="FF0000"/>
                </a:solidFill>
                <a:latin typeface="微软雅黑"/>
                <a:cs typeface="微软雅黑"/>
              </a:rPr>
              <a:t>数据传输的四个要素：</a:t>
            </a:r>
            <a:endParaRPr sz="2400">
              <a:latin typeface="微软雅黑"/>
              <a:cs typeface="微软雅黑"/>
            </a:endParaRPr>
          </a:p>
          <a:p>
            <a:pPr>
              <a:lnSpc>
                <a:spcPct val="100000"/>
              </a:lnSpc>
              <a:spcBef>
                <a:spcPts val="1115"/>
              </a:spcBef>
              <a:tabLst>
                <a:tab pos="456565" algn="l"/>
                <a:tab pos="1642745" algn="l"/>
              </a:tabLst>
            </a:pPr>
            <a:r>
              <a:rPr sz="2400" b="1" dirty="0">
                <a:latin typeface="微软雅黑"/>
                <a:cs typeface="微软雅黑"/>
              </a:rPr>
              <a:t>①	传输源	：DM</a:t>
            </a:r>
            <a:r>
              <a:rPr sz="2400" b="1" spc="-10" dirty="0">
                <a:latin typeface="微软雅黑"/>
                <a:cs typeface="微软雅黑"/>
              </a:rPr>
              <a:t>A</a:t>
            </a:r>
            <a:r>
              <a:rPr sz="2400" b="1" dirty="0">
                <a:latin typeface="微软雅黑"/>
                <a:cs typeface="微软雅黑"/>
              </a:rPr>
              <a:t>数据传输的来源</a:t>
            </a:r>
            <a:endParaRPr sz="2400">
              <a:latin typeface="微软雅黑"/>
              <a:cs typeface="微软雅黑"/>
            </a:endParaRPr>
          </a:p>
          <a:p>
            <a:pPr>
              <a:lnSpc>
                <a:spcPct val="100000"/>
              </a:lnSpc>
              <a:spcBef>
                <a:spcPts val="1130"/>
              </a:spcBef>
              <a:tabLst>
                <a:tab pos="456565" algn="l"/>
              </a:tabLst>
            </a:pPr>
            <a:r>
              <a:rPr sz="2400" b="1" dirty="0">
                <a:latin typeface="微软雅黑"/>
                <a:cs typeface="微软雅黑"/>
              </a:rPr>
              <a:t>②	传输目标：DM</a:t>
            </a:r>
            <a:r>
              <a:rPr sz="2400" b="1" spc="-10" dirty="0">
                <a:latin typeface="微软雅黑"/>
                <a:cs typeface="微软雅黑"/>
              </a:rPr>
              <a:t>A</a:t>
            </a:r>
            <a:r>
              <a:rPr sz="2400" b="1" dirty="0">
                <a:latin typeface="微软雅黑"/>
                <a:cs typeface="微软雅黑"/>
              </a:rPr>
              <a:t>数据传输的目的</a:t>
            </a:r>
            <a:endParaRPr sz="2400">
              <a:latin typeface="微软雅黑"/>
              <a:cs typeface="微软雅黑"/>
            </a:endParaRPr>
          </a:p>
          <a:p>
            <a:pPr>
              <a:lnSpc>
                <a:spcPct val="100000"/>
              </a:lnSpc>
              <a:spcBef>
                <a:spcPts val="1115"/>
              </a:spcBef>
              <a:tabLst>
                <a:tab pos="456565" algn="l"/>
              </a:tabLst>
            </a:pPr>
            <a:r>
              <a:rPr sz="2400" b="1" dirty="0">
                <a:latin typeface="微软雅黑"/>
                <a:cs typeface="微软雅黑"/>
              </a:rPr>
              <a:t>③	传输数量：DM</a:t>
            </a:r>
            <a:r>
              <a:rPr sz="2400" b="1" spc="-10" dirty="0">
                <a:latin typeface="微软雅黑"/>
                <a:cs typeface="微软雅黑"/>
              </a:rPr>
              <a:t>A</a:t>
            </a:r>
            <a:r>
              <a:rPr sz="2400" b="1" dirty="0">
                <a:latin typeface="微软雅黑"/>
                <a:cs typeface="微软雅黑"/>
              </a:rPr>
              <a:t>传输数据的数量</a:t>
            </a:r>
            <a:endParaRPr sz="2400">
              <a:latin typeface="微软雅黑"/>
              <a:cs typeface="微软雅黑"/>
            </a:endParaRPr>
          </a:p>
          <a:p>
            <a:pPr>
              <a:lnSpc>
                <a:spcPts val="2875"/>
              </a:lnSpc>
              <a:spcBef>
                <a:spcPts val="1115"/>
              </a:spcBef>
              <a:tabLst>
                <a:tab pos="456565" algn="l"/>
              </a:tabLst>
            </a:pPr>
            <a:r>
              <a:rPr sz="2400" b="1" dirty="0">
                <a:latin typeface="微软雅黑"/>
                <a:cs typeface="微软雅黑"/>
              </a:rPr>
              <a:t>④	</a:t>
            </a:r>
            <a:r>
              <a:rPr sz="2400" b="1" spc="-5" dirty="0">
                <a:latin typeface="微软雅黑"/>
                <a:cs typeface="微软雅黑"/>
              </a:rPr>
              <a:t>触发信号：启动一次</a:t>
            </a:r>
            <a:r>
              <a:rPr sz="2400" b="1" dirty="0">
                <a:latin typeface="微软雅黑"/>
                <a:cs typeface="微软雅黑"/>
              </a:rPr>
              <a:t>DM</a:t>
            </a:r>
            <a:r>
              <a:rPr sz="2400" b="1" spc="-15" dirty="0">
                <a:latin typeface="微软雅黑"/>
                <a:cs typeface="微软雅黑"/>
              </a:rPr>
              <a:t>A</a:t>
            </a:r>
            <a:r>
              <a:rPr sz="2400" b="1" spc="-5" dirty="0">
                <a:latin typeface="微软雅黑"/>
                <a:cs typeface="微软雅黑"/>
              </a:rPr>
              <a:t>数据传输的动作</a:t>
            </a:r>
            <a:endParaRPr sz="2400">
              <a:latin typeface="微软雅黑"/>
              <a:cs typeface="微软雅黑"/>
            </a:endParaRPr>
          </a:p>
        </p:txBody>
      </p:sp>
      <p:sp>
        <p:nvSpPr>
          <p:cNvPr id="14" name="object 14"/>
          <p:cNvSpPr/>
          <p:nvPr/>
        </p:nvSpPr>
        <p:spPr>
          <a:xfrm>
            <a:off x="2750057" y="3864102"/>
            <a:ext cx="6693534" cy="2700655"/>
          </a:xfrm>
          <a:custGeom>
            <a:avLst/>
            <a:gdLst/>
            <a:ahLst/>
            <a:cxnLst/>
            <a:rect l="l" t="t" r="r" b="b"/>
            <a:pathLst>
              <a:path w="6693534" h="2700654">
                <a:moveTo>
                  <a:pt x="0" y="2700528"/>
                </a:moveTo>
                <a:lnTo>
                  <a:pt x="6693408" y="2700528"/>
                </a:lnTo>
                <a:lnTo>
                  <a:pt x="6693408" y="0"/>
                </a:lnTo>
                <a:lnTo>
                  <a:pt x="0" y="0"/>
                </a:lnTo>
                <a:lnTo>
                  <a:pt x="0" y="2700528"/>
                </a:lnTo>
                <a:close/>
              </a:path>
            </a:pathLst>
          </a:custGeom>
          <a:ln w="38100">
            <a:solidFill>
              <a:srgbClr val="41709C"/>
            </a:solidFill>
            <a:prstDash val="dash"/>
          </a:ln>
        </p:spPr>
        <p:txBody>
          <a:bodyPr wrap="square" lIns="0" tIns="0" rIns="0" bIns="0" rtlCol="0"/>
          <a:lstStyle/>
          <a:p>
            <a:endParaRPr/>
          </a:p>
        </p:txBody>
      </p:sp>
    </p:spTree>
    <p:extLst>
      <p:ext uri="{BB962C8B-B14F-4D97-AF65-F5344CB8AC3E}">
        <p14:creationId xmlns:p14="http://schemas.microsoft.com/office/powerpoint/2010/main" val="311705816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3" name="object 3"/>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4" name="object 4"/>
          <p:cNvSpPr/>
          <p:nvPr/>
        </p:nvSpPr>
        <p:spPr>
          <a:xfrm>
            <a:off x="0" y="963155"/>
            <a:ext cx="2171699" cy="769632"/>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6" name="object 6"/>
          <p:cNvSpPr/>
          <p:nvPr/>
        </p:nvSpPr>
        <p:spPr>
          <a:xfrm>
            <a:off x="0" y="995172"/>
            <a:ext cx="2087880" cy="655320"/>
          </a:xfrm>
          <a:custGeom>
            <a:avLst/>
            <a:gdLst/>
            <a:ahLst/>
            <a:cxnLst/>
            <a:rect l="l" t="t" r="r" b="b"/>
            <a:pathLst>
              <a:path w="2087880" h="655319">
                <a:moveTo>
                  <a:pt x="0" y="0"/>
                </a:moveTo>
                <a:lnTo>
                  <a:pt x="1836420" y="0"/>
                </a:lnTo>
                <a:lnTo>
                  <a:pt x="2087880" y="327660"/>
                </a:lnTo>
                <a:lnTo>
                  <a:pt x="1836420" y="655319"/>
                </a:lnTo>
                <a:lnTo>
                  <a:pt x="0" y="655319"/>
                </a:lnTo>
              </a:path>
            </a:pathLst>
          </a:custGeom>
          <a:ln w="12192">
            <a:solidFill>
              <a:srgbClr val="E34A46"/>
            </a:solidFill>
          </a:ln>
        </p:spPr>
        <p:txBody>
          <a:bodyPr wrap="square" lIns="0" tIns="0" rIns="0" bIns="0" rtlCol="0"/>
          <a:lstStyle/>
          <a:p>
            <a:endParaRPr/>
          </a:p>
        </p:txBody>
      </p:sp>
      <p:sp>
        <p:nvSpPr>
          <p:cNvPr id="7" name="object 7"/>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9" name="object 9"/>
          <p:cNvSpPr txBox="1"/>
          <p:nvPr/>
        </p:nvSpPr>
        <p:spPr>
          <a:xfrm>
            <a:off x="93675" y="1181606"/>
            <a:ext cx="1854200" cy="330835"/>
          </a:xfrm>
          <a:prstGeom prst="rect">
            <a:avLst/>
          </a:prstGeom>
        </p:spPr>
        <p:txBody>
          <a:bodyPr vert="horz" wrap="square" lIns="0" tIns="0" rIns="0" bIns="0" rtlCol="0">
            <a:spAutoFit/>
          </a:bodyPr>
          <a:lstStyle/>
          <a:p>
            <a:pPr marL="12700">
              <a:lnSpc>
                <a:spcPct val="100000"/>
              </a:lnSpc>
            </a:pPr>
            <a:r>
              <a:rPr sz="2400" b="1" spc="-5" dirty="0">
                <a:solidFill>
                  <a:srgbClr val="FFFFFF"/>
                </a:solidFill>
                <a:latin typeface="微软雅黑"/>
                <a:cs typeface="微软雅黑"/>
              </a:rPr>
              <a:t>数据传输方式</a:t>
            </a:r>
            <a:endParaRPr sz="2400">
              <a:latin typeface="微软雅黑"/>
              <a:cs typeface="微软雅黑"/>
            </a:endParaRPr>
          </a:p>
        </p:txBody>
      </p:sp>
      <p:sp>
        <p:nvSpPr>
          <p:cNvPr id="10" name="object 10"/>
          <p:cNvSpPr txBox="1"/>
          <p:nvPr/>
        </p:nvSpPr>
        <p:spPr>
          <a:xfrm>
            <a:off x="2385441" y="389881"/>
            <a:ext cx="668655" cy="254000"/>
          </a:xfrm>
          <a:prstGeom prst="rect">
            <a:avLst/>
          </a:prstGeom>
        </p:spPr>
        <p:txBody>
          <a:bodyPr vert="horz" wrap="square" lIns="0" tIns="0" rIns="0" bIns="0" rtlCol="0">
            <a:spAutoFit/>
          </a:bodyPr>
          <a:lstStyle/>
          <a:p>
            <a:pPr marL="12700">
              <a:lnSpc>
                <a:spcPct val="100000"/>
              </a:lnSpc>
            </a:pPr>
            <a:r>
              <a:rPr sz="1800" b="1" spc="-45" dirty="0">
                <a:solidFill>
                  <a:srgbClr val="252525"/>
                </a:solidFill>
                <a:latin typeface="微软雅黑"/>
                <a:cs typeface="微软雅黑"/>
              </a:rPr>
              <a:t>U</a:t>
            </a:r>
            <a:r>
              <a:rPr sz="1800" b="1" dirty="0">
                <a:solidFill>
                  <a:srgbClr val="252525"/>
                </a:solidFill>
                <a:latin typeface="微软雅黑"/>
                <a:cs typeface="微软雅黑"/>
              </a:rPr>
              <a:t>A</a:t>
            </a:r>
            <a:r>
              <a:rPr sz="1800" b="1" spc="-35" dirty="0">
                <a:solidFill>
                  <a:srgbClr val="252525"/>
                </a:solidFill>
                <a:latin typeface="微软雅黑"/>
                <a:cs typeface="微软雅黑"/>
              </a:rPr>
              <a:t>R</a:t>
            </a:r>
            <a:r>
              <a:rPr sz="1800" b="1" dirty="0">
                <a:solidFill>
                  <a:srgbClr val="252525"/>
                </a:solidFill>
                <a:latin typeface="微软雅黑"/>
                <a:cs typeface="微软雅黑"/>
              </a:rPr>
              <a:t>T</a:t>
            </a:r>
            <a:endParaRPr sz="1800">
              <a:latin typeface="微软雅黑"/>
              <a:cs typeface="微软雅黑"/>
            </a:endParaRPr>
          </a:p>
        </p:txBody>
      </p:sp>
      <p:sp>
        <p:nvSpPr>
          <p:cNvPr id="11" name="object 11"/>
          <p:cNvSpPr txBox="1">
            <a:spLocks noGrp="1"/>
          </p:cNvSpPr>
          <p:nvPr>
            <p:ph type="title"/>
          </p:nvPr>
        </p:nvSpPr>
        <p:spPr>
          <a:prstGeom prst="rect">
            <a:avLst/>
          </a:prstGeom>
        </p:spPr>
        <p:txBody>
          <a:bodyPr vert="horz" wrap="square" lIns="0" tIns="0" rIns="0" bIns="0" rtlCol="0">
            <a:spAutoFit/>
          </a:bodyPr>
          <a:lstStyle/>
          <a:p>
            <a:pPr marL="1357630">
              <a:lnSpc>
                <a:spcPct val="100000"/>
              </a:lnSpc>
            </a:pPr>
            <a:r>
              <a:rPr spc="-5" dirty="0">
                <a:latin typeface="微软雅黑"/>
                <a:cs typeface="微软雅黑"/>
              </a:rPr>
              <a:t>DM</a:t>
            </a:r>
            <a:r>
              <a:rPr spc="-15" dirty="0">
                <a:latin typeface="微软雅黑"/>
                <a:cs typeface="微软雅黑"/>
              </a:rPr>
              <a:t>A</a:t>
            </a:r>
            <a:r>
              <a:rPr spc="-5" dirty="0"/>
              <a:t>数据传输方式</a:t>
            </a:r>
          </a:p>
        </p:txBody>
      </p:sp>
      <p:sp>
        <p:nvSpPr>
          <p:cNvPr id="13" name="object 13"/>
          <p:cNvSpPr/>
          <p:nvPr/>
        </p:nvSpPr>
        <p:spPr>
          <a:xfrm>
            <a:off x="764286" y="4450841"/>
            <a:ext cx="10436860" cy="2220595"/>
          </a:xfrm>
          <a:custGeom>
            <a:avLst/>
            <a:gdLst/>
            <a:ahLst/>
            <a:cxnLst/>
            <a:rect l="l" t="t" r="r" b="b"/>
            <a:pathLst>
              <a:path w="10436860" h="2220595">
                <a:moveTo>
                  <a:pt x="0" y="2220467"/>
                </a:moveTo>
                <a:lnTo>
                  <a:pt x="10436352" y="2220467"/>
                </a:lnTo>
                <a:lnTo>
                  <a:pt x="10436352" y="0"/>
                </a:lnTo>
                <a:lnTo>
                  <a:pt x="0" y="0"/>
                </a:lnTo>
                <a:lnTo>
                  <a:pt x="0" y="2220467"/>
                </a:lnTo>
                <a:close/>
              </a:path>
            </a:pathLst>
          </a:custGeom>
          <a:ln w="38099">
            <a:solidFill>
              <a:srgbClr val="E34A46"/>
            </a:solidFill>
          </a:ln>
        </p:spPr>
        <p:txBody>
          <a:bodyPr wrap="square" lIns="0" tIns="0" rIns="0" bIns="0" rtlCol="0"/>
          <a:lstStyle/>
          <a:p>
            <a:endParaRPr/>
          </a:p>
        </p:txBody>
      </p:sp>
      <p:sp>
        <p:nvSpPr>
          <p:cNvPr id="14" name="object 14"/>
          <p:cNvSpPr/>
          <p:nvPr/>
        </p:nvSpPr>
        <p:spPr>
          <a:xfrm>
            <a:off x="4888991" y="4069079"/>
            <a:ext cx="2185670" cy="638810"/>
          </a:xfrm>
          <a:custGeom>
            <a:avLst/>
            <a:gdLst/>
            <a:ahLst/>
            <a:cxnLst/>
            <a:rect l="l" t="t" r="r" b="b"/>
            <a:pathLst>
              <a:path w="2185670" h="638810">
                <a:moveTo>
                  <a:pt x="0" y="638556"/>
                </a:moveTo>
                <a:lnTo>
                  <a:pt x="2185416" y="638556"/>
                </a:lnTo>
                <a:lnTo>
                  <a:pt x="2185416" y="0"/>
                </a:lnTo>
                <a:lnTo>
                  <a:pt x="0" y="0"/>
                </a:lnTo>
                <a:lnTo>
                  <a:pt x="0" y="638556"/>
                </a:lnTo>
                <a:close/>
              </a:path>
            </a:pathLst>
          </a:custGeom>
          <a:solidFill>
            <a:srgbClr val="E34A46"/>
          </a:solidFill>
        </p:spPr>
        <p:txBody>
          <a:bodyPr wrap="square" lIns="0" tIns="0" rIns="0" bIns="0" rtlCol="0"/>
          <a:lstStyle/>
          <a:p>
            <a:endParaRPr/>
          </a:p>
        </p:txBody>
      </p:sp>
      <p:sp>
        <p:nvSpPr>
          <p:cNvPr id="15" name="object 15"/>
          <p:cNvSpPr/>
          <p:nvPr/>
        </p:nvSpPr>
        <p:spPr>
          <a:xfrm>
            <a:off x="4888991" y="4069079"/>
            <a:ext cx="2185670" cy="638810"/>
          </a:xfrm>
          <a:custGeom>
            <a:avLst/>
            <a:gdLst/>
            <a:ahLst/>
            <a:cxnLst/>
            <a:rect l="l" t="t" r="r" b="b"/>
            <a:pathLst>
              <a:path w="2185670" h="638810">
                <a:moveTo>
                  <a:pt x="0" y="638556"/>
                </a:moveTo>
                <a:lnTo>
                  <a:pt x="2185416" y="638556"/>
                </a:lnTo>
                <a:lnTo>
                  <a:pt x="2185416" y="0"/>
                </a:lnTo>
                <a:lnTo>
                  <a:pt x="0" y="0"/>
                </a:lnTo>
                <a:lnTo>
                  <a:pt x="0" y="638556"/>
                </a:lnTo>
                <a:close/>
              </a:path>
            </a:pathLst>
          </a:custGeom>
          <a:ln w="12192">
            <a:solidFill>
              <a:srgbClr val="E34A46"/>
            </a:solidFill>
          </a:ln>
        </p:spPr>
        <p:txBody>
          <a:bodyPr wrap="square" lIns="0" tIns="0" rIns="0" bIns="0" rtlCol="0"/>
          <a:lstStyle/>
          <a:p>
            <a:endParaRPr/>
          </a:p>
        </p:txBody>
      </p:sp>
      <p:sp>
        <p:nvSpPr>
          <p:cNvPr id="16" name="object 16"/>
          <p:cNvSpPr txBox="1"/>
          <p:nvPr/>
        </p:nvSpPr>
        <p:spPr>
          <a:xfrm>
            <a:off x="1180591" y="4220012"/>
            <a:ext cx="9540875" cy="2256155"/>
          </a:xfrm>
          <a:prstGeom prst="rect">
            <a:avLst/>
          </a:prstGeom>
        </p:spPr>
        <p:txBody>
          <a:bodyPr vert="horz" wrap="square" lIns="0" tIns="0" rIns="0" bIns="0" rtlCol="0">
            <a:spAutoFit/>
          </a:bodyPr>
          <a:lstStyle/>
          <a:p>
            <a:pPr marL="12700" indent="4078604">
              <a:lnSpc>
                <a:spcPct val="100000"/>
              </a:lnSpc>
            </a:pPr>
            <a:r>
              <a:rPr sz="2800" b="1" spc="-5" dirty="0">
                <a:solidFill>
                  <a:srgbClr val="FFFFFF"/>
                </a:solidFill>
                <a:latin typeface="微软雅黑"/>
                <a:cs typeface="微软雅黑"/>
              </a:rPr>
              <a:t>循环模式</a:t>
            </a:r>
            <a:endParaRPr sz="2800">
              <a:latin typeface="微软雅黑"/>
              <a:cs typeface="微软雅黑"/>
            </a:endParaRPr>
          </a:p>
          <a:p>
            <a:pPr marL="12700" marR="5080" algn="just">
              <a:lnSpc>
                <a:spcPct val="150000"/>
              </a:lnSpc>
              <a:spcBef>
                <a:spcPts val="1800"/>
              </a:spcBef>
            </a:pPr>
            <a:r>
              <a:rPr sz="2400" b="1" dirty="0">
                <a:latin typeface="微软雅黑"/>
                <a:cs typeface="微软雅黑"/>
              </a:rPr>
              <a:t>可用于处理环形缓冲区和连续数据流（例</a:t>
            </a:r>
            <a:r>
              <a:rPr sz="2400" b="1" spc="5" dirty="0">
                <a:latin typeface="微软雅黑"/>
                <a:cs typeface="微软雅黑"/>
              </a:rPr>
              <a:t>如</a:t>
            </a:r>
            <a:r>
              <a:rPr sz="2400" b="1" spc="-5" dirty="0">
                <a:latin typeface="微软雅黑"/>
                <a:cs typeface="微软雅黑"/>
              </a:rPr>
              <a:t>AD</a:t>
            </a:r>
            <a:r>
              <a:rPr sz="2400" b="1" spc="5" dirty="0">
                <a:latin typeface="微软雅黑"/>
                <a:cs typeface="微软雅黑"/>
              </a:rPr>
              <a:t>C</a:t>
            </a:r>
            <a:r>
              <a:rPr sz="2400" b="1" dirty="0">
                <a:latin typeface="微软雅黑"/>
                <a:cs typeface="微软雅黑"/>
              </a:rPr>
              <a:t>扫描模式）。当激活循 环模式后，每轮传输结束时，要传输的数据数量将自动用设置的初始值 进行加载，</a:t>
            </a:r>
            <a:r>
              <a:rPr sz="2400" b="1" spc="-10" dirty="0">
                <a:latin typeface="微软雅黑"/>
                <a:cs typeface="微软雅黑"/>
              </a:rPr>
              <a:t> </a:t>
            </a:r>
            <a:r>
              <a:rPr sz="2400" b="1" dirty="0">
                <a:latin typeface="微软雅黑"/>
                <a:cs typeface="微软雅黑"/>
              </a:rPr>
              <a:t>并继续响应DM</a:t>
            </a:r>
            <a:r>
              <a:rPr sz="2400" b="1" spc="-5" dirty="0">
                <a:latin typeface="微软雅黑"/>
                <a:cs typeface="微软雅黑"/>
              </a:rPr>
              <a:t>A</a:t>
            </a:r>
            <a:r>
              <a:rPr sz="2400" b="1" dirty="0">
                <a:latin typeface="微软雅黑"/>
                <a:cs typeface="微软雅黑"/>
              </a:rPr>
              <a:t>请求。</a:t>
            </a:r>
            <a:endParaRPr sz="2400">
              <a:latin typeface="微软雅黑"/>
              <a:cs typeface="微软雅黑"/>
            </a:endParaRPr>
          </a:p>
        </p:txBody>
      </p:sp>
      <p:graphicFrame>
        <p:nvGraphicFramePr>
          <p:cNvPr id="12" name="object 12"/>
          <p:cNvGraphicFramePr>
            <a:graphicFrameLocks noGrp="1"/>
          </p:cNvGraphicFramePr>
          <p:nvPr/>
        </p:nvGraphicFramePr>
        <p:xfrm>
          <a:off x="745236" y="1697735"/>
          <a:ext cx="10436351" cy="2367534"/>
        </p:xfrm>
        <a:graphic>
          <a:graphicData uri="http://schemas.openxmlformats.org/drawingml/2006/table">
            <a:tbl>
              <a:tblPr firstRow="1" bandRow="1">
                <a:tableStyleId>{2D5ABB26-0587-4C30-8999-92F81FD0307C}</a:tableStyleId>
              </a:tblPr>
              <a:tblGrid>
                <a:gridCol w="4124705">
                  <a:extLst>
                    <a:ext uri="{9D8B030D-6E8A-4147-A177-3AD203B41FA5}">
                      <a16:colId xmlns:a16="http://schemas.microsoft.com/office/drawing/2014/main" val="20000"/>
                    </a:ext>
                  </a:extLst>
                </a:gridCol>
                <a:gridCol w="2185416">
                  <a:extLst>
                    <a:ext uri="{9D8B030D-6E8A-4147-A177-3AD203B41FA5}">
                      <a16:colId xmlns:a16="http://schemas.microsoft.com/office/drawing/2014/main" val="20001"/>
                    </a:ext>
                  </a:extLst>
                </a:gridCol>
                <a:gridCol w="4126230">
                  <a:extLst>
                    <a:ext uri="{9D8B030D-6E8A-4147-A177-3AD203B41FA5}">
                      <a16:colId xmlns:a16="http://schemas.microsoft.com/office/drawing/2014/main" val="20002"/>
                    </a:ext>
                  </a:extLst>
                </a:gridCol>
              </a:tblGrid>
              <a:tr h="380238">
                <a:tc>
                  <a:txBody>
                    <a:bodyPr/>
                    <a:lstStyle/>
                    <a:p>
                      <a:endParaRPr/>
                    </a:p>
                  </a:txBody>
                  <a:tcPr marL="0" marR="0" marT="0" marB="0">
                    <a:lnR w="12192">
                      <a:solidFill>
                        <a:srgbClr val="E34A46"/>
                      </a:solidFill>
                      <a:prstDash val="solid"/>
                    </a:lnR>
                    <a:lnB w="38100">
                      <a:solidFill>
                        <a:srgbClr val="E34A46"/>
                      </a:solidFill>
                      <a:prstDash val="solid"/>
                    </a:lnB>
                  </a:tcPr>
                </a:tc>
                <a:tc>
                  <a:txBody>
                    <a:bodyPr/>
                    <a:lstStyle/>
                    <a:p>
                      <a:pPr marL="382905">
                        <a:lnSpc>
                          <a:spcPts val="2270"/>
                        </a:lnSpc>
                      </a:pPr>
                      <a:r>
                        <a:rPr sz="2800" b="1" dirty="0">
                          <a:solidFill>
                            <a:srgbClr val="FFFFFF"/>
                          </a:solidFill>
                          <a:latin typeface="微软雅黑"/>
                          <a:cs typeface="微软雅黑"/>
                        </a:rPr>
                        <a:t>普通模式</a:t>
                      </a:r>
                      <a:endParaRPr sz="2800">
                        <a:latin typeface="微软雅黑"/>
                        <a:cs typeface="微软雅黑"/>
                      </a:endParaRPr>
                    </a:p>
                  </a:txBody>
                  <a:tcPr marL="0" marR="0" marT="0" marB="0">
                    <a:lnL w="12192" cap="flat" cmpd="sng" algn="ctr">
                      <a:solidFill>
                        <a:srgbClr val="E34A46"/>
                      </a:solidFill>
                      <a:prstDash val="solid"/>
                      <a:round/>
                      <a:headEnd type="none" w="med" len="med"/>
                      <a:tailEnd type="none" w="med" len="med"/>
                    </a:lnL>
                    <a:solidFill>
                      <a:srgbClr val="E34A46"/>
                    </a:solidFill>
                  </a:tcPr>
                </a:tc>
                <a:tc>
                  <a:txBody>
                    <a:bodyPr/>
                    <a:lstStyle/>
                    <a:p>
                      <a:endParaRPr sz="2800">
                        <a:latin typeface="微软雅黑"/>
                        <a:cs typeface="微软雅黑"/>
                      </a:endParaRPr>
                    </a:p>
                  </a:txBody>
                  <a:tcPr marL="0" marR="0" marT="0" marB="0">
                    <a:lnB w="38100">
                      <a:solidFill>
                        <a:srgbClr val="E34A46"/>
                      </a:solidFill>
                      <a:prstDash val="solid"/>
                    </a:lnB>
                  </a:tcPr>
                </a:tc>
                <a:extLst>
                  <a:ext uri="{0D108BD9-81ED-4DB2-BD59-A6C34878D82A}">
                    <a16:rowId xmlns:a16="http://schemas.microsoft.com/office/drawing/2014/main" val="10000"/>
                  </a:ext>
                </a:extLst>
              </a:tr>
              <a:tr h="258317">
                <a:tc>
                  <a:txBody>
                    <a:bodyPr/>
                    <a:lstStyle/>
                    <a:p>
                      <a:endParaRPr sz="2800">
                        <a:latin typeface="微软雅黑"/>
                        <a:cs typeface="微软雅黑"/>
                      </a:endParaRPr>
                    </a:p>
                  </a:txBody>
                  <a:tcPr marL="0" marR="0" marT="0" marB="0">
                    <a:lnL w="38100">
                      <a:solidFill>
                        <a:srgbClr val="E34A46"/>
                      </a:solidFill>
                      <a:prstDash val="solid"/>
                    </a:lnL>
                    <a:lnR w="12192">
                      <a:solidFill>
                        <a:srgbClr val="E34A46"/>
                      </a:solidFill>
                      <a:prstDash val="solid"/>
                    </a:lnR>
                    <a:lnT w="38100">
                      <a:solidFill>
                        <a:srgbClr val="E34A46"/>
                      </a:solidFill>
                      <a:prstDash val="solid"/>
                    </a:lnT>
                  </a:tcPr>
                </a:tc>
                <a:tc>
                  <a:txBody>
                    <a:bodyPr/>
                    <a:lstStyle/>
                    <a:p>
                      <a:endParaRPr sz="2800">
                        <a:latin typeface="微软雅黑"/>
                        <a:cs typeface="微软雅黑"/>
                      </a:endParaRPr>
                    </a:p>
                  </a:txBody>
                  <a:tcPr marL="0" marR="0" marT="0" marB="0">
                    <a:lnL w="12192" cap="flat" cmpd="sng" algn="ctr">
                      <a:solidFill>
                        <a:srgbClr val="E34A46"/>
                      </a:solidFill>
                      <a:prstDash val="solid"/>
                      <a:round/>
                      <a:headEnd type="none" w="med" len="med"/>
                      <a:tailEnd type="none" w="med" len="med"/>
                    </a:lnL>
                    <a:solidFill>
                      <a:srgbClr val="E34A46"/>
                    </a:solidFill>
                  </a:tcPr>
                </a:tc>
                <a:tc>
                  <a:txBody>
                    <a:bodyPr/>
                    <a:lstStyle/>
                    <a:p>
                      <a:endParaRPr sz="2800">
                        <a:latin typeface="微软雅黑"/>
                        <a:cs typeface="微软雅黑"/>
                      </a:endParaRPr>
                    </a:p>
                  </a:txBody>
                  <a:tcPr marL="0" marR="0" marT="0" marB="0">
                    <a:lnR w="38100">
                      <a:solidFill>
                        <a:srgbClr val="E34A46"/>
                      </a:solidFill>
                      <a:prstDash val="solid"/>
                    </a:lnR>
                    <a:lnT w="38100">
                      <a:solidFill>
                        <a:srgbClr val="E34A46"/>
                      </a:solidFill>
                      <a:prstDash val="solid"/>
                    </a:lnT>
                  </a:tcPr>
                </a:tc>
                <a:extLst>
                  <a:ext uri="{0D108BD9-81ED-4DB2-BD59-A6C34878D82A}">
                    <a16:rowId xmlns:a16="http://schemas.microsoft.com/office/drawing/2014/main" val="10001"/>
                  </a:ext>
                </a:extLst>
              </a:tr>
              <a:tr h="1514094">
                <a:tc gridSpan="3">
                  <a:txBody>
                    <a:bodyPr/>
                    <a:lstStyle/>
                    <a:p>
                      <a:pPr marL="409575" marR="313690">
                        <a:lnSpc>
                          <a:spcPct val="150100"/>
                        </a:lnSpc>
                      </a:pPr>
                      <a:r>
                        <a:rPr sz="2400" b="1" dirty="0">
                          <a:latin typeface="微软雅黑"/>
                          <a:cs typeface="微软雅黑"/>
                        </a:rPr>
                        <a:t>传输结束后（即要传输数据的数量达到零），将不再产</a:t>
                      </a:r>
                      <a:r>
                        <a:rPr sz="2400" b="1" spc="5" dirty="0">
                          <a:latin typeface="微软雅黑"/>
                          <a:cs typeface="微软雅黑"/>
                        </a:rPr>
                        <a:t>生</a:t>
                      </a:r>
                      <a:r>
                        <a:rPr sz="2400" b="1" dirty="0">
                          <a:latin typeface="微软雅黑"/>
                          <a:cs typeface="微软雅黑"/>
                        </a:rPr>
                        <a:t>DM</a:t>
                      </a:r>
                      <a:r>
                        <a:rPr sz="2400" b="1" spc="-5" dirty="0">
                          <a:latin typeface="微软雅黑"/>
                          <a:cs typeface="微软雅黑"/>
                        </a:rPr>
                        <a:t>A</a:t>
                      </a:r>
                      <a:r>
                        <a:rPr sz="2400" b="1" dirty="0">
                          <a:latin typeface="微软雅黑"/>
                          <a:cs typeface="微软雅黑"/>
                        </a:rPr>
                        <a:t>操作。若 开始新的DM</a:t>
                      </a:r>
                      <a:r>
                        <a:rPr sz="2400" b="1" spc="-10" dirty="0">
                          <a:latin typeface="微软雅黑"/>
                          <a:cs typeface="微软雅黑"/>
                        </a:rPr>
                        <a:t>A</a:t>
                      </a:r>
                      <a:r>
                        <a:rPr sz="2400" b="1" dirty="0">
                          <a:latin typeface="微软雅黑"/>
                          <a:cs typeface="微软雅黑"/>
                        </a:rPr>
                        <a:t>传输，需在关闭DM</a:t>
                      </a:r>
                      <a:r>
                        <a:rPr sz="2400" b="1" spc="-10" dirty="0">
                          <a:latin typeface="微软雅黑"/>
                          <a:cs typeface="微软雅黑"/>
                        </a:rPr>
                        <a:t>A</a:t>
                      </a:r>
                      <a:r>
                        <a:rPr sz="2400" b="1" dirty="0">
                          <a:latin typeface="微软雅黑"/>
                          <a:cs typeface="微软雅黑"/>
                        </a:rPr>
                        <a:t>通道情况下，重新启</a:t>
                      </a:r>
                      <a:r>
                        <a:rPr sz="2400" b="1" spc="5" dirty="0">
                          <a:latin typeface="微软雅黑"/>
                          <a:cs typeface="微软雅黑"/>
                        </a:rPr>
                        <a:t>动</a:t>
                      </a:r>
                      <a:r>
                        <a:rPr sz="2400" b="1" dirty="0">
                          <a:latin typeface="微软雅黑"/>
                          <a:cs typeface="微软雅黑"/>
                        </a:rPr>
                        <a:t>DM</a:t>
                      </a:r>
                      <a:r>
                        <a:rPr sz="2400" b="1" spc="-10" dirty="0">
                          <a:latin typeface="微软雅黑"/>
                          <a:cs typeface="微软雅黑"/>
                        </a:rPr>
                        <a:t>A</a:t>
                      </a:r>
                      <a:r>
                        <a:rPr sz="2400" b="1" dirty="0">
                          <a:latin typeface="微软雅黑"/>
                          <a:cs typeface="微软雅黑"/>
                        </a:rPr>
                        <a:t>传输。</a:t>
                      </a:r>
                      <a:endParaRPr sz="2400">
                        <a:latin typeface="微软雅黑"/>
                        <a:cs typeface="微软雅黑"/>
                      </a:endParaRPr>
                    </a:p>
                  </a:txBody>
                  <a:tcPr marL="0" marR="0" marT="0" marB="0">
                    <a:lnL w="38100">
                      <a:solidFill>
                        <a:srgbClr val="E34A46"/>
                      </a:solidFill>
                      <a:prstDash val="solid"/>
                    </a:lnL>
                    <a:lnR w="38100">
                      <a:solidFill>
                        <a:srgbClr val="E34A46"/>
                      </a:solidFill>
                      <a:prstDash val="solid"/>
                    </a:lnR>
                    <a:lnB w="38100">
                      <a:solidFill>
                        <a:srgbClr val="E34A46"/>
                      </a:solidFill>
                      <a:prstDash val="solid"/>
                    </a:lnB>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85527111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2179320"/>
            <a:ext cx="12192000" cy="1914525"/>
          </a:xfrm>
          <a:custGeom>
            <a:avLst/>
            <a:gdLst/>
            <a:ahLst/>
            <a:cxnLst/>
            <a:rect l="l" t="t" r="r" b="b"/>
            <a:pathLst>
              <a:path w="12192000" h="1914525">
                <a:moveTo>
                  <a:pt x="0" y="1914143"/>
                </a:moveTo>
                <a:lnTo>
                  <a:pt x="12192000" y="1914143"/>
                </a:lnTo>
                <a:lnTo>
                  <a:pt x="12192000" y="0"/>
                </a:lnTo>
                <a:lnTo>
                  <a:pt x="0" y="0"/>
                </a:lnTo>
                <a:lnTo>
                  <a:pt x="0" y="1914143"/>
                </a:lnTo>
                <a:close/>
              </a:path>
            </a:pathLst>
          </a:custGeom>
          <a:solidFill>
            <a:srgbClr val="E34A46"/>
          </a:solidFill>
        </p:spPr>
        <p:txBody>
          <a:bodyPr wrap="square" lIns="0" tIns="0" rIns="0" bIns="0" rtlCol="0"/>
          <a:lstStyle/>
          <a:p>
            <a:endParaRPr/>
          </a:p>
        </p:txBody>
      </p:sp>
      <p:sp>
        <p:nvSpPr>
          <p:cNvPr id="3" name="object 3"/>
          <p:cNvSpPr txBox="1">
            <a:spLocks noGrp="1"/>
          </p:cNvSpPr>
          <p:nvPr>
            <p:ph type="title"/>
          </p:nvPr>
        </p:nvSpPr>
        <p:spPr>
          <a:xfrm>
            <a:off x="2385441" y="2712106"/>
            <a:ext cx="7424420" cy="830997"/>
          </a:xfrm>
          <a:prstGeom prst="rect">
            <a:avLst/>
          </a:prstGeom>
        </p:spPr>
        <p:txBody>
          <a:bodyPr vert="horz" wrap="square" lIns="0" tIns="0" rIns="0" bIns="0" rtlCol="0">
            <a:spAutoFit/>
          </a:bodyPr>
          <a:lstStyle/>
          <a:p>
            <a:pPr marL="12700">
              <a:lnSpc>
                <a:spcPct val="100000"/>
              </a:lnSpc>
              <a:tabLst>
                <a:tab pos="843915" algn="l"/>
              </a:tabLst>
            </a:pPr>
            <a:r>
              <a:rPr lang="en-US" sz="5400" spc="-5" dirty="0">
                <a:solidFill>
                  <a:srgbClr val="FFFFFF"/>
                </a:solidFill>
              </a:rPr>
              <a:t>4</a:t>
            </a:r>
            <a:r>
              <a:rPr sz="5400" spc="-5" dirty="0">
                <a:solidFill>
                  <a:srgbClr val="FFFFFF"/>
                </a:solidFill>
                <a:latin typeface="微软雅黑"/>
                <a:cs typeface="微软雅黑"/>
              </a:rPr>
              <a:t>	DMA</a:t>
            </a:r>
            <a:r>
              <a:rPr sz="5400" dirty="0">
                <a:solidFill>
                  <a:srgbClr val="FFFFFF"/>
                </a:solidFill>
              </a:rPr>
              <a:t>方式的接口函数</a:t>
            </a:r>
            <a:endParaRPr sz="5400" dirty="0">
              <a:latin typeface="微软雅黑"/>
              <a:cs typeface="微软雅黑"/>
            </a:endParaRPr>
          </a:p>
        </p:txBody>
      </p:sp>
    </p:spTree>
    <p:extLst>
      <p:ext uri="{BB962C8B-B14F-4D97-AF65-F5344CB8AC3E}">
        <p14:creationId xmlns:p14="http://schemas.microsoft.com/office/powerpoint/2010/main" val="329726807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200133" y="6608820"/>
            <a:ext cx="2796540" cy="177800"/>
          </a:xfrm>
          <a:prstGeom prst="rect">
            <a:avLst/>
          </a:prstGeom>
        </p:spPr>
        <p:txBody>
          <a:bodyPr vert="horz" wrap="square" lIns="0" tIns="0" rIns="0" bIns="0" rtlCol="0">
            <a:spAutoFit/>
          </a:bodyPr>
          <a:lstStyle/>
          <a:p>
            <a:pPr marL="12700">
              <a:lnSpc>
                <a:spcPct val="100000"/>
              </a:lnSpc>
            </a:pPr>
            <a:r>
              <a:rPr sz="1200" b="1" spc="-5" dirty="0">
                <a:solidFill>
                  <a:srgbClr val="FFFFFF"/>
                </a:solidFill>
                <a:latin typeface="微软雅黑"/>
                <a:cs typeface="微软雅黑"/>
              </a:rPr>
              <a:t>--</a:t>
            </a:r>
            <a:r>
              <a:rPr sz="1200" b="1" spc="5" dirty="0">
                <a:solidFill>
                  <a:srgbClr val="FFFFFF"/>
                </a:solidFill>
                <a:latin typeface="微软雅黑"/>
                <a:cs typeface="微软雅黑"/>
              </a:rPr>
              <a:t> </a:t>
            </a:r>
            <a:r>
              <a:rPr sz="1200" b="1" dirty="0">
                <a:solidFill>
                  <a:srgbClr val="FFFFFF"/>
                </a:solidFill>
                <a:latin typeface="微软雅黑"/>
                <a:cs typeface="微软雅黑"/>
              </a:rPr>
              <a:t>南昌大学“卓越”辅导员培养工程建设</a:t>
            </a:r>
            <a:endParaRPr sz="1200">
              <a:latin typeface="微软雅黑"/>
              <a:cs typeface="微软雅黑"/>
            </a:endParaRPr>
          </a:p>
        </p:txBody>
      </p:sp>
      <p:graphicFrame>
        <p:nvGraphicFramePr>
          <p:cNvPr id="3" name="object 3"/>
          <p:cNvGraphicFramePr>
            <a:graphicFrameLocks noGrp="1"/>
          </p:cNvGraphicFramePr>
          <p:nvPr/>
        </p:nvGraphicFramePr>
        <p:xfrm>
          <a:off x="216623" y="277050"/>
          <a:ext cx="11730202" cy="6353235"/>
        </p:xfrm>
        <a:graphic>
          <a:graphicData uri="http://schemas.openxmlformats.org/drawingml/2006/table">
            <a:tbl>
              <a:tblPr firstRow="1" bandRow="1">
                <a:tableStyleId>{2D5ABB26-0587-4C30-8999-92F81FD0307C}</a:tableStyleId>
              </a:tblPr>
              <a:tblGrid>
                <a:gridCol w="1902688">
                  <a:extLst>
                    <a:ext uri="{9D8B030D-6E8A-4147-A177-3AD203B41FA5}">
                      <a16:colId xmlns:a16="http://schemas.microsoft.com/office/drawing/2014/main" val="20000"/>
                    </a:ext>
                  </a:extLst>
                </a:gridCol>
                <a:gridCol w="9827514">
                  <a:extLst>
                    <a:ext uri="{9D8B030D-6E8A-4147-A177-3AD203B41FA5}">
                      <a16:colId xmlns:a16="http://schemas.microsoft.com/office/drawing/2014/main" val="20001"/>
                    </a:ext>
                  </a:extLst>
                </a:gridCol>
              </a:tblGrid>
              <a:tr h="443610">
                <a:tc gridSpan="2">
                  <a:txBody>
                    <a:bodyPr/>
                    <a:lstStyle/>
                    <a:p>
                      <a:pPr marL="1886585">
                        <a:lnSpc>
                          <a:spcPct val="100000"/>
                        </a:lnSpc>
                        <a:tabLst>
                          <a:tab pos="2255520" algn="l"/>
                        </a:tabLst>
                      </a:pPr>
                      <a:r>
                        <a:rPr sz="2400" b="1" dirty="0">
                          <a:solidFill>
                            <a:srgbClr val="FFFFFF"/>
                          </a:solidFill>
                          <a:latin typeface="微软雅黑"/>
                          <a:cs typeface="微软雅黑"/>
                        </a:rPr>
                        <a:t>1	串口DM</a:t>
                      </a:r>
                      <a:r>
                        <a:rPr sz="2400" b="1" spc="-10" dirty="0">
                          <a:solidFill>
                            <a:srgbClr val="FFFFFF"/>
                          </a:solidFill>
                          <a:latin typeface="微软雅黑"/>
                          <a:cs typeface="微软雅黑"/>
                        </a:rPr>
                        <a:t>A</a:t>
                      </a:r>
                      <a:r>
                        <a:rPr sz="2400" b="1" dirty="0">
                          <a:solidFill>
                            <a:srgbClr val="FFFFFF"/>
                          </a:solidFill>
                          <a:latin typeface="微软雅黑"/>
                          <a:cs typeface="微软雅黑"/>
                        </a:rPr>
                        <a:t>方式发送函数：</a:t>
                      </a:r>
                      <a:r>
                        <a:rPr sz="2400" b="1" spc="-5" dirty="0">
                          <a:solidFill>
                            <a:srgbClr val="FFFFFF"/>
                          </a:solidFill>
                          <a:latin typeface="微软雅黑"/>
                          <a:cs typeface="微软雅黑"/>
                        </a:rPr>
                        <a:t>H</a:t>
                      </a:r>
                      <a:r>
                        <a:rPr sz="2400" b="1" spc="-10" dirty="0">
                          <a:solidFill>
                            <a:srgbClr val="FFFFFF"/>
                          </a:solidFill>
                          <a:latin typeface="微软雅黑"/>
                          <a:cs typeface="微软雅黑"/>
                        </a:rPr>
                        <a:t>A</a:t>
                      </a:r>
                      <a:r>
                        <a:rPr sz="2400" b="1" dirty="0">
                          <a:solidFill>
                            <a:srgbClr val="FFFFFF"/>
                          </a:solidFill>
                          <a:latin typeface="微软雅黑"/>
                          <a:cs typeface="微软雅黑"/>
                        </a:rPr>
                        <a:t>L_</a:t>
                      </a:r>
                      <a:r>
                        <a:rPr sz="2400" b="1" spc="-65" dirty="0">
                          <a:solidFill>
                            <a:srgbClr val="FFFFFF"/>
                          </a:solidFill>
                          <a:latin typeface="微软雅黑"/>
                          <a:cs typeface="微软雅黑"/>
                        </a:rPr>
                        <a:t>U</a:t>
                      </a:r>
                      <a:r>
                        <a:rPr sz="2400" b="1" dirty="0">
                          <a:solidFill>
                            <a:srgbClr val="FFFFFF"/>
                          </a:solidFill>
                          <a:latin typeface="微软雅黑"/>
                          <a:cs typeface="微软雅黑"/>
                        </a:rPr>
                        <a:t>A</a:t>
                      </a:r>
                      <a:r>
                        <a:rPr sz="2400" b="1" spc="-50" dirty="0">
                          <a:solidFill>
                            <a:srgbClr val="FFFFFF"/>
                          </a:solidFill>
                          <a:latin typeface="微软雅黑"/>
                          <a:cs typeface="微软雅黑"/>
                        </a:rPr>
                        <a:t>R</a:t>
                      </a:r>
                      <a:r>
                        <a:rPr sz="2400" b="1" spc="-5" dirty="0">
                          <a:solidFill>
                            <a:srgbClr val="FFFFFF"/>
                          </a:solidFill>
                          <a:latin typeface="微软雅黑"/>
                          <a:cs typeface="微软雅黑"/>
                        </a:rPr>
                        <a:t>T_</a:t>
                      </a:r>
                      <a:r>
                        <a:rPr sz="2400" b="1" spc="-190" dirty="0">
                          <a:solidFill>
                            <a:srgbClr val="FFFFFF"/>
                          </a:solidFill>
                          <a:latin typeface="微软雅黑"/>
                          <a:cs typeface="微软雅黑"/>
                        </a:rPr>
                        <a:t>T</a:t>
                      </a:r>
                      <a:r>
                        <a:rPr sz="2400" b="1" dirty="0">
                          <a:solidFill>
                            <a:srgbClr val="FFFFFF"/>
                          </a:solidFill>
                          <a:latin typeface="微软雅黑"/>
                          <a:cs typeface="微软雅黑"/>
                        </a:rPr>
                        <a:t>r</a:t>
                      </a:r>
                      <a:r>
                        <a:rPr sz="2400" b="1" spc="5" dirty="0">
                          <a:solidFill>
                            <a:srgbClr val="FFFFFF"/>
                          </a:solidFill>
                          <a:latin typeface="微软雅黑"/>
                          <a:cs typeface="微软雅黑"/>
                        </a:rPr>
                        <a:t>a</a:t>
                      </a:r>
                      <a:r>
                        <a:rPr sz="2400" b="1" dirty="0">
                          <a:solidFill>
                            <a:srgbClr val="FFFFFF"/>
                          </a:solidFill>
                          <a:latin typeface="微软雅黑"/>
                          <a:cs typeface="微软雅黑"/>
                        </a:rPr>
                        <a:t>n</a:t>
                      </a:r>
                      <a:r>
                        <a:rPr sz="2400" b="1" spc="5" dirty="0">
                          <a:solidFill>
                            <a:srgbClr val="FFFFFF"/>
                          </a:solidFill>
                          <a:latin typeface="微软雅黑"/>
                          <a:cs typeface="微软雅黑"/>
                        </a:rPr>
                        <a:t>s</a:t>
                      </a:r>
                      <a:r>
                        <a:rPr sz="2400" b="1" dirty="0">
                          <a:solidFill>
                            <a:srgbClr val="FFFFFF"/>
                          </a:solidFill>
                          <a:latin typeface="微软雅黑"/>
                          <a:cs typeface="微软雅黑"/>
                        </a:rPr>
                        <a:t>m</a:t>
                      </a:r>
                      <a:r>
                        <a:rPr sz="2400" b="1" spc="-10" dirty="0">
                          <a:solidFill>
                            <a:srgbClr val="FFFFFF"/>
                          </a:solidFill>
                          <a:latin typeface="微软雅黑"/>
                          <a:cs typeface="微软雅黑"/>
                        </a:rPr>
                        <a:t>i</a:t>
                      </a:r>
                      <a:r>
                        <a:rPr sz="2400" b="1" spc="-5" dirty="0">
                          <a:solidFill>
                            <a:srgbClr val="FFFFFF"/>
                          </a:solidFill>
                          <a:latin typeface="微软雅黑"/>
                          <a:cs typeface="微软雅黑"/>
                        </a:rPr>
                        <a:t>t</a:t>
                      </a:r>
                      <a:r>
                        <a:rPr sz="2400" b="1" dirty="0">
                          <a:solidFill>
                            <a:srgbClr val="FFFFFF"/>
                          </a:solidFill>
                          <a:latin typeface="微软雅黑"/>
                          <a:cs typeface="微软雅黑"/>
                        </a:rPr>
                        <a:t>_DMA</a:t>
                      </a:r>
                      <a:endParaRPr sz="2400" dirty="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tc hMerge="1">
                  <a:txBody>
                    <a:bodyPr/>
                    <a:lstStyle/>
                    <a:p>
                      <a:endParaRPr/>
                    </a:p>
                  </a:txBody>
                  <a:tcPr marL="0" marR="0" marT="0" marB="0"/>
                </a:tc>
                <a:extLst>
                  <a:ext uri="{0D108BD9-81ED-4DB2-BD59-A6C34878D82A}">
                    <a16:rowId xmlns:a16="http://schemas.microsoft.com/office/drawing/2014/main" val="10000"/>
                  </a:ext>
                </a:extLst>
              </a:tr>
              <a:tr h="845185">
                <a:tc>
                  <a:txBody>
                    <a:bodyPr/>
                    <a:lstStyle/>
                    <a:p>
                      <a:pPr marL="327025">
                        <a:lnSpc>
                          <a:spcPct val="100000"/>
                        </a:lnSpc>
                      </a:pPr>
                      <a:r>
                        <a:rPr sz="2400" b="1" dirty="0">
                          <a:latin typeface="微软雅黑"/>
                          <a:cs typeface="微软雅黑"/>
                        </a:rPr>
                        <a:t>函数原型</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marR="534670">
                        <a:lnSpc>
                          <a:spcPts val="2840"/>
                        </a:lnSpc>
                        <a:tabLst>
                          <a:tab pos="3337560" algn="l"/>
                          <a:tab pos="3715385" algn="l"/>
                        </a:tabLst>
                      </a:pPr>
                      <a:r>
                        <a:rPr sz="2400" b="1" spc="-5" dirty="0">
                          <a:latin typeface="微软雅黑"/>
                          <a:cs typeface="微软雅黑"/>
                        </a:rPr>
                        <a:t>H</a:t>
                      </a:r>
                      <a:r>
                        <a:rPr sz="2400" b="1" spc="-10" dirty="0">
                          <a:latin typeface="微软雅黑"/>
                          <a:cs typeface="微软雅黑"/>
                        </a:rPr>
                        <a:t>A</a:t>
                      </a:r>
                      <a:r>
                        <a:rPr sz="2400" b="1" dirty="0">
                          <a:latin typeface="微软雅黑"/>
                          <a:cs typeface="微软雅黑"/>
                        </a:rPr>
                        <a:t>L_</a:t>
                      </a:r>
                      <a:r>
                        <a:rPr sz="2400" b="1" spc="-80" dirty="0">
                          <a:latin typeface="微软雅黑"/>
                          <a:cs typeface="微软雅黑"/>
                        </a:rPr>
                        <a:t>S</a:t>
                      </a:r>
                      <a:r>
                        <a:rPr sz="2400" b="1" spc="-5" dirty="0">
                          <a:latin typeface="微软雅黑"/>
                          <a:cs typeface="微软雅黑"/>
                        </a:rPr>
                        <a:t>t</a:t>
                      </a:r>
                      <a:r>
                        <a:rPr sz="2400" b="1" spc="5" dirty="0">
                          <a:latin typeface="微软雅黑"/>
                          <a:cs typeface="微软雅黑"/>
                        </a:rPr>
                        <a:t>a</a:t>
                      </a:r>
                      <a:r>
                        <a:rPr sz="2400" b="1" spc="-5" dirty="0">
                          <a:latin typeface="微软雅黑"/>
                          <a:cs typeface="微软雅黑"/>
                        </a:rPr>
                        <a:t>t</a:t>
                      </a:r>
                      <a:r>
                        <a:rPr sz="2400" b="1" spc="5" dirty="0">
                          <a:latin typeface="微软雅黑"/>
                          <a:cs typeface="微软雅黑"/>
                        </a:rPr>
                        <a:t>u</a:t>
                      </a:r>
                      <a:r>
                        <a:rPr sz="2400" b="1" dirty="0">
                          <a:latin typeface="微软雅黑"/>
                          <a:cs typeface="微软雅黑"/>
                        </a:rPr>
                        <a:t>s</a:t>
                      </a:r>
                      <a:r>
                        <a:rPr sz="2400" b="1" spc="-120" dirty="0">
                          <a:latin typeface="微软雅黑"/>
                          <a:cs typeface="微软雅黑"/>
                        </a:rPr>
                        <a:t>T</a:t>
                      </a:r>
                      <a:r>
                        <a:rPr sz="2400" b="1" spc="-5" dirty="0">
                          <a:latin typeface="微软雅黑"/>
                          <a:cs typeface="微软雅黑"/>
                        </a:rPr>
                        <a:t>ype</a:t>
                      </a:r>
                      <a:r>
                        <a:rPr sz="2400" b="1" spc="-10" dirty="0">
                          <a:latin typeface="微软雅黑"/>
                          <a:cs typeface="微软雅黑"/>
                        </a:rPr>
                        <a:t>D</a:t>
                      </a:r>
                      <a:r>
                        <a:rPr sz="2400" b="1" dirty="0">
                          <a:latin typeface="微软雅黑"/>
                          <a:cs typeface="微软雅黑"/>
                        </a:rPr>
                        <a:t>ef	</a:t>
                      </a:r>
                      <a:r>
                        <a:rPr sz="2400" b="1" spc="-5" dirty="0">
                          <a:latin typeface="微软雅黑"/>
                          <a:cs typeface="微软雅黑"/>
                        </a:rPr>
                        <a:t>H</a:t>
                      </a:r>
                      <a:r>
                        <a:rPr sz="2400" b="1" spc="-10" dirty="0">
                          <a:latin typeface="微软雅黑"/>
                          <a:cs typeface="微软雅黑"/>
                        </a:rPr>
                        <a:t>A</a:t>
                      </a:r>
                      <a:r>
                        <a:rPr sz="2400" b="1" dirty="0">
                          <a:latin typeface="微软雅黑"/>
                          <a:cs typeface="微软雅黑"/>
                        </a:rPr>
                        <a:t>L_</a:t>
                      </a:r>
                      <a:r>
                        <a:rPr sz="2400" b="1" spc="-65" dirty="0">
                          <a:latin typeface="微软雅黑"/>
                          <a:cs typeface="微软雅黑"/>
                        </a:rPr>
                        <a:t>U</a:t>
                      </a:r>
                      <a:r>
                        <a:rPr sz="2400" b="1" dirty="0">
                          <a:latin typeface="微软雅黑"/>
                          <a:cs typeface="微软雅黑"/>
                        </a:rPr>
                        <a:t>A</a:t>
                      </a:r>
                      <a:r>
                        <a:rPr sz="2400" b="1" spc="-50" dirty="0">
                          <a:latin typeface="微软雅黑"/>
                          <a:cs typeface="微软雅黑"/>
                        </a:rPr>
                        <a:t>R</a:t>
                      </a:r>
                      <a:r>
                        <a:rPr sz="2400" b="1" spc="-5" dirty="0">
                          <a:latin typeface="微软雅黑"/>
                          <a:cs typeface="微软雅黑"/>
                        </a:rPr>
                        <a:t>T_</a:t>
                      </a:r>
                      <a:r>
                        <a:rPr sz="2400" b="1" spc="-190" dirty="0">
                          <a:latin typeface="微软雅黑"/>
                          <a:cs typeface="微软雅黑"/>
                        </a:rPr>
                        <a:t>T</a:t>
                      </a:r>
                      <a:r>
                        <a:rPr sz="2400" b="1" dirty="0">
                          <a:latin typeface="微软雅黑"/>
                          <a:cs typeface="微软雅黑"/>
                        </a:rPr>
                        <a:t>r</a:t>
                      </a:r>
                      <a:r>
                        <a:rPr sz="2400" b="1" spc="5" dirty="0">
                          <a:latin typeface="微软雅黑"/>
                          <a:cs typeface="微软雅黑"/>
                        </a:rPr>
                        <a:t>a</a:t>
                      </a:r>
                      <a:r>
                        <a:rPr sz="2400" b="1" dirty="0">
                          <a:latin typeface="微软雅黑"/>
                          <a:cs typeface="微软雅黑"/>
                        </a:rPr>
                        <a:t>n</a:t>
                      </a:r>
                      <a:r>
                        <a:rPr sz="2400" b="1" spc="5" dirty="0">
                          <a:latin typeface="微软雅黑"/>
                          <a:cs typeface="微软雅黑"/>
                        </a:rPr>
                        <a:t>s</a:t>
                      </a:r>
                      <a:r>
                        <a:rPr sz="2400" b="1" dirty="0">
                          <a:latin typeface="微软雅黑"/>
                          <a:cs typeface="微软雅黑"/>
                        </a:rPr>
                        <a:t>m</a:t>
                      </a:r>
                      <a:r>
                        <a:rPr sz="2400" b="1" spc="-10" dirty="0">
                          <a:latin typeface="微软雅黑"/>
                          <a:cs typeface="微软雅黑"/>
                        </a:rPr>
                        <a:t>i</a:t>
                      </a:r>
                      <a:r>
                        <a:rPr sz="2400" b="1" spc="-5" dirty="0">
                          <a:latin typeface="微软雅黑"/>
                          <a:cs typeface="微软雅黑"/>
                        </a:rPr>
                        <a:t>t</a:t>
                      </a:r>
                      <a:r>
                        <a:rPr sz="2400" b="1" dirty="0">
                          <a:latin typeface="微软雅黑"/>
                          <a:cs typeface="微软雅黑"/>
                        </a:rPr>
                        <a:t>_DMA (</a:t>
                      </a:r>
                      <a:r>
                        <a:rPr sz="2400" b="1" spc="-65" dirty="0">
                          <a:latin typeface="微软雅黑"/>
                          <a:cs typeface="微软雅黑"/>
                        </a:rPr>
                        <a:t>U</a:t>
                      </a:r>
                      <a:r>
                        <a:rPr sz="2400" b="1" dirty="0">
                          <a:latin typeface="微软雅黑"/>
                          <a:cs typeface="微软雅黑"/>
                        </a:rPr>
                        <a:t>A</a:t>
                      </a:r>
                      <a:r>
                        <a:rPr sz="2400" b="1" spc="-50" dirty="0">
                          <a:latin typeface="微软雅黑"/>
                          <a:cs typeface="微软雅黑"/>
                        </a:rPr>
                        <a:t>R</a:t>
                      </a:r>
                      <a:r>
                        <a:rPr sz="2400" b="1" spc="-5" dirty="0">
                          <a:latin typeface="微软雅黑"/>
                          <a:cs typeface="微软雅黑"/>
                        </a:rPr>
                        <a:t>T_H</a:t>
                      </a:r>
                      <a:r>
                        <a:rPr sz="2400" b="1" spc="5" dirty="0">
                          <a:latin typeface="微软雅黑"/>
                          <a:cs typeface="微软雅黑"/>
                        </a:rPr>
                        <a:t>a</a:t>
                      </a:r>
                      <a:r>
                        <a:rPr sz="2400" b="1" dirty="0">
                          <a:latin typeface="微软雅黑"/>
                          <a:cs typeface="微软雅黑"/>
                        </a:rPr>
                        <a:t>ndle</a:t>
                      </a:r>
                      <a:r>
                        <a:rPr sz="2400" b="1" spc="-125" dirty="0">
                          <a:latin typeface="微软雅黑"/>
                          <a:cs typeface="微软雅黑"/>
                        </a:rPr>
                        <a:t>T</a:t>
                      </a:r>
                      <a:r>
                        <a:rPr sz="2400" b="1" spc="-5" dirty="0">
                          <a:latin typeface="微软雅黑"/>
                          <a:cs typeface="微软雅黑"/>
                        </a:rPr>
                        <a:t>ype</a:t>
                      </a:r>
                      <a:r>
                        <a:rPr sz="2400" b="1" spc="-10" dirty="0">
                          <a:latin typeface="微软雅黑"/>
                          <a:cs typeface="微软雅黑"/>
                        </a:rPr>
                        <a:t>D</a:t>
                      </a:r>
                      <a:r>
                        <a:rPr sz="2400" b="1" dirty="0">
                          <a:latin typeface="微软雅黑"/>
                          <a:cs typeface="微软雅黑"/>
                        </a:rPr>
                        <a:t>ef	</a:t>
                      </a:r>
                      <a:r>
                        <a:rPr sz="2400" b="1" spc="-5" dirty="0">
                          <a:latin typeface="微软雅黑"/>
                          <a:cs typeface="微软雅黑"/>
                        </a:rPr>
                        <a:t>*</a:t>
                      </a:r>
                      <a:r>
                        <a:rPr sz="2400" b="1" spc="-10" dirty="0">
                          <a:latin typeface="微软雅黑"/>
                          <a:cs typeface="微软雅黑"/>
                        </a:rPr>
                        <a:t>h</a:t>
                      </a:r>
                      <a:r>
                        <a:rPr sz="2400" b="1" dirty="0">
                          <a:latin typeface="微软雅黑"/>
                          <a:cs typeface="微软雅黑"/>
                        </a:rPr>
                        <a:t>u</a:t>
                      </a:r>
                      <a:r>
                        <a:rPr sz="2400" b="1" spc="5" dirty="0">
                          <a:latin typeface="微软雅黑"/>
                          <a:cs typeface="微软雅黑"/>
                        </a:rPr>
                        <a:t>a</a:t>
                      </a:r>
                      <a:r>
                        <a:rPr sz="2400" b="1" spc="70" dirty="0">
                          <a:latin typeface="微软雅黑"/>
                          <a:cs typeface="微软雅黑"/>
                        </a:rPr>
                        <a:t>r</a:t>
                      </a:r>
                      <a:r>
                        <a:rPr sz="2400" b="1" spc="-5" dirty="0">
                          <a:latin typeface="微软雅黑"/>
                          <a:cs typeface="微软雅黑"/>
                        </a:rPr>
                        <a:t>t,ui</a:t>
                      </a:r>
                      <a:r>
                        <a:rPr sz="2400" b="1" spc="5" dirty="0">
                          <a:latin typeface="微软雅黑"/>
                          <a:cs typeface="微软雅黑"/>
                        </a:rPr>
                        <a:t>nt</a:t>
                      </a:r>
                      <a:r>
                        <a:rPr sz="2400" b="1" spc="-5" dirty="0">
                          <a:latin typeface="微软雅黑"/>
                          <a:cs typeface="微软雅黑"/>
                        </a:rPr>
                        <a:t>8</a:t>
                      </a:r>
                      <a:r>
                        <a:rPr sz="2400" b="1" dirty="0">
                          <a:latin typeface="微软雅黑"/>
                          <a:cs typeface="微软雅黑"/>
                        </a:rPr>
                        <a:t>_t</a:t>
                      </a:r>
                      <a:r>
                        <a:rPr sz="2400" b="1" spc="-20" dirty="0">
                          <a:latin typeface="微软雅黑"/>
                          <a:cs typeface="微软雅黑"/>
                        </a:rPr>
                        <a:t> </a:t>
                      </a:r>
                      <a:r>
                        <a:rPr sz="2400" b="1" spc="-10" dirty="0">
                          <a:latin typeface="微软雅黑"/>
                          <a:cs typeface="微软雅黑"/>
                        </a:rPr>
                        <a:t>*</a:t>
                      </a:r>
                      <a:r>
                        <a:rPr sz="2400" b="1" dirty="0">
                          <a:latin typeface="微软雅黑"/>
                          <a:cs typeface="微软雅黑"/>
                        </a:rPr>
                        <a:t>p</a:t>
                      </a:r>
                      <a:r>
                        <a:rPr sz="2400" b="1" spc="-10" dirty="0">
                          <a:latin typeface="微软雅黑"/>
                          <a:cs typeface="微软雅黑"/>
                        </a:rPr>
                        <a:t>D</a:t>
                      </a:r>
                      <a:r>
                        <a:rPr sz="2400" b="1" dirty="0">
                          <a:latin typeface="微软雅黑"/>
                          <a:cs typeface="微软雅黑"/>
                        </a:rPr>
                        <a:t>at</a:t>
                      </a:r>
                      <a:r>
                        <a:rPr sz="2400" b="1" spc="5" dirty="0">
                          <a:latin typeface="微软雅黑"/>
                          <a:cs typeface="微软雅黑"/>
                        </a:rPr>
                        <a:t>a</a:t>
                      </a:r>
                      <a:r>
                        <a:rPr sz="2400" b="1" dirty="0">
                          <a:latin typeface="微软雅黑"/>
                          <a:cs typeface="微软雅黑"/>
                        </a:rPr>
                        <a:t>,</a:t>
                      </a:r>
                      <a:r>
                        <a:rPr sz="2400" b="1" spc="15" dirty="0">
                          <a:latin typeface="微软雅黑"/>
                          <a:cs typeface="微软雅黑"/>
                        </a:rPr>
                        <a:t> </a:t>
                      </a:r>
                      <a:r>
                        <a:rPr sz="2400" b="1" dirty="0">
                          <a:latin typeface="微软雅黑"/>
                          <a:cs typeface="微软雅黑"/>
                        </a:rPr>
                        <a:t>ui</a:t>
                      </a:r>
                      <a:r>
                        <a:rPr sz="2400" b="1" spc="5" dirty="0">
                          <a:latin typeface="微软雅黑"/>
                          <a:cs typeface="微软雅黑"/>
                        </a:rPr>
                        <a:t>nt</a:t>
                      </a:r>
                      <a:r>
                        <a:rPr sz="2400" b="1" spc="-5" dirty="0">
                          <a:latin typeface="微软雅黑"/>
                          <a:cs typeface="微软雅黑"/>
                        </a:rPr>
                        <a:t>16</a:t>
                      </a:r>
                      <a:r>
                        <a:rPr sz="2400" b="1" dirty="0">
                          <a:latin typeface="微软雅黑"/>
                          <a:cs typeface="微软雅黑"/>
                        </a:rPr>
                        <a:t>_t</a:t>
                      </a:r>
                      <a:r>
                        <a:rPr sz="2400" b="1" spc="-20" dirty="0">
                          <a:latin typeface="微软雅黑"/>
                          <a:cs typeface="微软雅黑"/>
                        </a:rPr>
                        <a:t> </a:t>
                      </a:r>
                      <a:r>
                        <a:rPr sz="2400" b="1" dirty="0">
                          <a:latin typeface="微软雅黑"/>
                          <a:cs typeface="微软雅黑"/>
                        </a:rPr>
                        <a:t>Siz</a:t>
                      </a:r>
                      <a:r>
                        <a:rPr sz="2400" b="1" spc="-15" dirty="0">
                          <a:latin typeface="微软雅黑"/>
                          <a:cs typeface="微软雅黑"/>
                        </a:rPr>
                        <a:t>e</a:t>
                      </a:r>
                      <a:r>
                        <a:rPr sz="2400" b="1" dirty="0">
                          <a:latin typeface="微软雅黑"/>
                          <a:cs typeface="微软雅黑"/>
                        </a:rPr>
                        <a:t>)</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1"/>
                  </a:ext>
                </a:extLst>
              </a:tr>
              <a:tr h="581532">
                <a:tc>
                  <a:txBody>
                    <a:bodyPr/>
                    <a:lstStyle/>
                    <a:p>
                      <a:pPr marL="327025">
                        <a:lnSpc>
                          <a:spcPct val="100000"/>
                        </a:lnSpc>
                      </a:pPr>
                      <a:r>
                        <a:rPr sz="2400" b="1" dirty="0">
                          <a:latin typeface="微软雅黑"/>
                          <a:cs typeface="微软雅黑"/>
                        </a:rPr>
                        <a:t>功能描述</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3975">
                        <a:lnSpc>
                          <a:spcPct val="100000"/>
                        </a:lnSpc>
                      </a:pPr>
                      <a:r>
                        <a:rPr sz="2400" b="1" dirty="0">
                          <a:latin typeface="微软雅黑"/>
                          <a:cs typeface="微软雅黑"/>
                        </a:rPr>
                        <a:t>在DM</a:t>
                      </a:r>
                      <a:r>
                        <a:rPr sz="2400" b="1" spc="-5" dirty="0">
                          <a:latin typeface="微软雅黑"/>
                          <a:cs typeface="微软雅黑"/>
                        </a:rPr>
                        <a:t>A</a:t>
                      </a:r>
                      <a:r>
                        <a:rPr sz="2400" b="1" dirty="0">
                          <a:latin typeface="微软雅黑"/>
                          <a:cs typeface="微软雅黑"/>
                        </a:rPr>
                        <a:t>方式下发送一定数量的数据</a:t>
                      </a:r>
                      <a:endParaRPr sz="2400" dirty="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r h="475361">
                <a:tc>
                  <a:txBody>
                    <a:bodyPr/>
                    <a:lstStyle/>
                    <a:p>
                      <a:pPr marL="232410">
                        <a:lnSpc>
                          <a:spcPct val="100000"/>
                        </a:lnSpc>
                      </a:pPr>
                      <a:r>
                        <a:rPr sz="2400" b="1" dirty="0">
                          <a:latin typeface="微软雅黑"/>
                          <a:cs typeface="微软雅黑"/>
                        </a:rPr>
                        <a:t>入口参数1</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ct val="100000"/>
                        </a:lnSpc>
                      </a:pPr>
                      <a:r>
                        <a:rPr sz="2400" b="1" dirty="0">
                          <a:latin typeface="微软雅黑"/>
                          <a:cs typeface="微软雅黑"/>
                        </a:rPr>
                        <a:t>hua</a:t>
                      </a:r>
                      <a:r>
                        <a:rPr sz="2400" b="1" spc="70" dirty="0">
                          <a:latin typeface="微软雅黑"/>
                          <a:cs typeface="微软雅黑"/>
                        </a:rPr>
                        <a:t>r</a:t>
                      </a:r>
                      <a:r>
                        <a:rPr sz="2400" b="1" spc="5" dirty="0">
                          <a:latin typeface="微软雅黑"/>
                          <a:cs typeface="微软雅黑"/>
                        </a:rPr>
                        <a:t>t</a:t>
                      </a:r>
                      <a:r>
                        <a:rPr sz="2400" b="1" dirty="0">
                          <a:latin typeface="微软雅黑"/>
                          <a:cs typeface="微软雅黑"/>
                        </a:rPr>
                        <a:t>：串口句柄的地址</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3"/>
                  </a:ext>
                </a:extLst>
              </a:tr>
              <a:tr h="488442">
                <a:tc>
                  <a:txBody>
                    <a:bodyPr/>
                    <a:lstStyle/>
                    <a:p>
                      <a:pPr marL="232410">
                        <a:lnSpc>
                          <a:spcPct val="100000"/>
                        </a:lnSpc>
                      </a:pPr>
                      <a:r>
                        <a:rPr sz="2400" b="1" dirty="0">
                          <a:latin typeface="微软雅黑"/>
                          <a:cs typeface="微软雅黑"/>
                        </a:rPr>
                        <a:t>入口参数2</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3975">
                        <a:lnSpc>
                          <a:spcPct val="100000"/>
                        </a:lnSpc>
                      </a:pPr>
                      <a:r>
                        <a:rPr sz="2400" b="1" dirty="0">
                          <a:latin typeface="微软雅黑"/>
                          <a:cs typeface="微软雅黑"/>
                        </a:rPr>
                        <a:t>p</a:t>
                      </a:r>
                      <a:r>
                        <a:rPr sz="2400" b="1" spc="-10" dirty="0">
                          <a:latin typeface="微软雅黑"/>
                          <a:cs typeface="微软雅黑"/>
                        </a:rPr>
                        <a:t>D</a:t>
                      </a:r>
                      <a:r>
                        <a:rPr sz="2400" b="1" dirty="0">
                          <a:latin typeface="微软雅黑"/>
                          <a:cs typeface="微软雅黑"/>
                        </a:rPr>
                        <a:t>at</a:t>
                      </a:r>
                      <a:r>
                        <a:rPr sz="2400" b="1" spc="5" dirty="0">
                          <a:latin typeface="微软雅黑"/>
                          <a:cs typeface="微软雅黑"/>
                        </a:rPr>
                        <a:t>a</a:t>
                      </a:r>
                      <a:r>
                        <a:rPr sz="2400" b="1" dirty="0">
                          <a:latin typeface="微软雅黑"/>
                          <a:cs typeface="微软雅黑"/>
                        </a:rPr>
                        <a:t>：待发送数据的首地址</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4"/>
                  </a:ext>
                </a:extLst>
              </a:tr>
              <a:tr h="451103">
                <a:tc>
                  <a:txBody>
                    <a:bodyPr/>
                    <a:lstStyle/>
                    <a:p>
                      <a:pPr marL="232410">
                        <a:lnSpc>
                          <a:spcPct val="100000"/>
                        </a:lnSpc>
                      </a:pPr>
                      <a:r>
                        <a:rPr sz="2400" b="1" dirty="0">
                          <a:latin typeface="微软雅黑"/>
                          <a:cs typeface="微软雅黑"/>
                        </a:rPr>
                        <a:t>入口参数3</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ct val="100000"/>
                        </a:lnSpc>
                      </a:pPr>
                      <a:r>
                        <a:rPr sz="2400" b="1" dirty="0">
                          <a:latin typeface="微软雅黑"/>
                          <a:cs typeface="微软雅黑"/>
                        </a:rPr>
                        <a:t>Siz</a:t>
                      </a:r>
                      <a:r>
                        <a:rPr sz="2400" b="1" spc="-15" dirty="0">
                          <a:latin typeface="微软雅黑"/>
                          <a:cs typeface="微软雅黑"/>
                        </a:rPr>
                        <a:t>e</a:t>
                      </a:r>
                      <a:r>
                        <a:rPr sz="2400" b="1" dirty="0">
                          <a:latin typeface="微软雅黑"/>
                          <a:cs typeface="微软雅黑"/>
                        </a:rPr>
                        <a:t>：待发送数据的个数</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5"/>
                  </a:ext>
                </a:extLst>
              </a:tr>
              <a:tr h="1078992">
                <a:tc>
                  <a:txBody>
                    <a:bodyPr/>
                    <a:lstStyle/>
                    <a:p>
                      <a:pPr marL="479425">
                        <a:lnSpc>
                          <a:spcPct val="100000"/>
                        </a:lnSpc>
                      </a:pPr>
                      <a:r>
                        <a:rPr sz="2400" b="1" spc="-5" dirty="0">
                          <a:latin typeface="微软雅黑"/>
                          <a:cs typeface="微软雅黑"/>
                        </a:rPr>
                        <a:t>返回值</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3975">
                        <a:lnSpc>
                          <a:spcPts val="2865"/>
                        </a:lnSpc>
                      </a:pPr>
                      <a:r>
                        <a:rPr sz="2400" b="1" spc="-5" dirty="0">
                          <a:latin typeface="微软雅黑"/>
                          <a:cs typeface="微软雅黑"/>
                        </a:rPr>
                        <a:t>H</a:t>
                      </a:r>
                      <a:r>
                        <a:rPr sz="2400" b="1" spc="-15" dirty="0">
                          <a:latin typeface="微软雅黑"/>
                          <a:cs typeface="微软雅黑"/>
                        </a:rPr>
                        <a:t>A</a:t>
                      </a:r>
                      <a:r>
                        <a:rPr sz="2400" b="1" spc="-5" dirty="0">
                          <a:latin typeface="微软雅黑"/>
                          <a:cs typeface="微软雅黑"/>
                        </a:rPr>
                        <a:t>L状态</a:t>
                      </a:r>
                      <a:r>
                        <a:rPr sz="2400" b="1" dirty="0">
                          <a:latin typeface="微软雅黑"/>
                          <a:cs typeface="微软雅黑"/>
                        </a:rPr>
                        <a:t>值</a:t>
                      </a:r>
                      <a:r>
                        <a:rPr sz="2400" b="1" spc="-5" dirty="0">
                          <a:latin typeface="微软雅黑"/>
                          <a:cs typeface="微软雅黑"/>
                        </a:rPr>
                        <a:t>：H</a:t>
                      </a:r>
                      <a:r>
                        <a:rPr sz="2400" b="1" spc="-15" dirty="0">
                          <a:latin typeface="微软雅黑"/>
                          <a:cs typeface="微软雅黑"/>
                        </a:rPr>
                        <a:t>A</a:t>
                      </a:r>
                      <a:r>
                        <a:rPr sz="2400" b="1" dirty="0">
                          <a:latin typeface="微软雅黑"/>
                          <a:cs typeface="微软雅黑"/>
                        </a:rPr>
                        <a:t>L_OK表示发送成功</a:t>
                      </a:r>
                      <a:r>
                        <a:rPr sz="2400" b="1" spc="-15" dirty="0">
                          <a:latin typeface="微软雅黑"/>
                          <a:cs typeface="微软雅黑"/>
                        </a:rPr>
                        <a:t>；</a:t>
                      </a:r>
                      <a:r>
                        <a:rPr sz="2400" b="1" spc="-5" dirty="0">
                          <a:latin typeface="微软雅黑"/>
                          <a:cs typeface="微软雅黑"/>
                        </a:rPr>
                        <a:t>HA</a:t>
                      </a:r>
                      <a:r>
                        <a:rPr sz="2400" b="1" spc="-15" dirty="0">
                          <a:latin typeface="微软雅黑"/>
                          <a:cs typeface="微软雅黑"/>
                        </a:rPr>
                        <a:t>L</a:t>
                      </a:r>
                      <a:r>
                        <a:rPr sz="2400" b="1" spc="-5" dirty="0">
                          <a:latin typeface="微软雅黑"/>
                          <a:cs typeface="微软雅黑"/>
                        </a:rPr>
                        <a:t>_ER</a:t>
                      </a:r>
                      <a:r>
                        <a:rPr sz="2400" b="1" spc="-15" dirty="0">
                          <a:latin typeface="微软雅黑"/>
                          <a:cs typeface="微软雅黑"/>
                        </a:rPr>
                        <a:t>R</a:t>
                      </a:r>
                      <a:r>
                        <a:rPr sz="2400" b="1" spc="-5" dirty="0">
                          <a:latin typeface="微软雅黑"/>
                          <a:cs typeface="微软雅黑"/>
                        </a:rPr>
                        <a:t>OR表示参数错误；</a:t>
                      </a:r>
                      <a:endParaRPr sz="2400">
                        <a:latin typeface="微软雅黑"/>
                        <a:cs typeface="微软雅黑"/>
                      </a:endParaRPr>
                    </a:p>
                    <a:p>
                      <a:pPr marL="53975">
                        <a:lnSpc>
                          <a:spcPts val="2865"/>
                        </a:lnSpc>
                      </a:pPr>
                      <a:r>
                        <a:rPr sz="2400" b="1" spc="-5" dirty="0">
                          <a:latin typeface="微软雅黑"/>
                          <a:cs typeface="微软雅黑"/>
                        </a:rPr>
                        <a:t>H</a:t>
                      </a:r>
                      <a:r>
                        <a:rPr sz="2400" b="1" spc="-10" dirty="0">
                          <a:latin typeface="微软雅黑"/>
                          <a:cs typeface="微软雅黑"/>
                        </a:rPr>
                        <a:t>A</a:t>
                      </a:r>
                      <a:r>
                        <a:rPr sz="2400" b="1" dirty="0">
                          <a:latin typeface="微软雅黑"/>
                          <a:cs typeface="微软雅黑"/>
                        </a:rPr>
                        <a:t>L_BUSY表示串口被占用</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6"/>
                  </a:ext>
                </a:extLst>
              </a:tr>
              <a:tr h="1989010">
                <a:tc>
                  <a:txBody>
                    <a:bodyPr/>
                    <a:lstStyle/>
                    <a:p>
                      <a:pPr marL="327025">
                        <a:lnSpc>
                          <a:spcPct val="100000"/>
                        </a:lnSpc>
                      </a:pPr>
                      <a:r>
                        <a:rPr sz="2400" b="1" spc="-5" dirty="0">
                          <a:latin typeface="微软雅黑"/>
                          <a:cs typeface="微软雅黑"/>
                        </a:rPr>
                        <a:t>注意事项</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ct val="100000"/>
                        </a:lnSpc>
                      </a:pPr>
                      <a:r>
                        <a:rPr sz="2400" b="1" dirty="0">
                          <a:latin typeface="微软雅黑"/>
                          <a:cs typeface="微软雅黑"/>
                        </a:rPr>
                        <a:t>1.</a:t>
                      </a:r>
                      <a:r>
                        <a:rPr sz="2400" b="1" spc="-5" dirty="0">
                          <a:latin typeface="微软雅黑"/>
                          <a:cs typeface="微软雅黑"/>
                        </a:rPr>
                        <a:t> </a:t>
                      </a:r>
                      <a:r>
                        <a:rPr sz="2400" b="1" dirty="0">
                          <a:latin typeface="微软雅黑"/>
                          <a:cs typeface="微软雅黑"/>
                        </a:rPr>
                        <a:t>该函数将启动DM</a:t>
                      </a:r>
                      <a:r>
                        <a:rPr sz="2400" b="1" spc="-10" dirty="0">
                          <a:latin typeface="微软雅黑"/>
                          <a:cs typeface="微软雅黑"/>
                        </a:rPr>
                        <a:t>A</a:t>
                      </a:r>
                      <a:r>
                        <a:rPr sz="2400" b="1" dirty="0">
                          <a:latin typeface="微软雅黑"/>
                          <a:cs typeface="微软雅黑"/>
                        </a:rPr>
                        <a:t>方式的串口数据发送</a:t>
                      </a:r>
                      <a:endParaRPr sz="2400" dirty="0">
                        <a:latin typeface="微软雅黑"/>
                        <a:cs typeface="微软雅黑"/>
                      </a:endParaRPr>
                    </a:p>
                    <a:p>
                      <a:pPr marL="53975">
                        <a:lnSpc>
                          <a:spcPct val="100000"/>
                        </a:lnSpc>
                      </a:pPr>
                      <a:r>
                        <a:rPr sz="2400" b="1" dirty="0">
                          <a:latin typeface="微软雅黑"/>
                          <a:cs typeface="微软雅黑"/>
                        </a:rPr>
                        <a:t>2.</a:t>
                      </a:r>
                      <a:r>
                        <a:rPr sz="2400" b="1" spc="-5" dirty="0">
                          <a:latin typeface="微软雅黑"/>
                          <a:cs typeface="微软雅黑"/>
                        </a:rPr>
                        <a:t> </a:t>
                      </a:r>
                      <a:r>
                        <a:rPr sz="2400" b="1" dirty="0">
                          <a:latin typeface="微软雅黑"/>
                          <a:cs typeface="微软雅黑"/>
                        </a:rPr>
                        <a:t>完成指定数量的数据发送后，可以触</a:t>
                      </a:r>
                      <a:r>
                        <a:rPr sz="2400" b="1" spc="5" dirty="0">
                          <a:latin typeface="微软雅黑"/>
                          <a:cs typeface="微软雅黑"/>
                        </a:rPr>
                        <a:t>发</a:t>
                      </a:r>
                      <a:r>
                        <a:rPr sz="2400" b="1" dirty="0">
                          <a:latin typeface="微软雅黑"/>
                          <a:cs typeface="微软雅黑"/>
                        </a:rPr>
                        <a:t>DM</a:t>
                      </a:r>
                      <a:r>
                        <a:rPr sz="2400" b="1" spc="-10" dirty="0">
                          <a:latin typeface="微软雅黑"/>
                          <a:cs typeface="微软雅黑"/>
                        </a:rPr>
                        <a:t>A</a:t>
                      </a:r>
                      <a:r>
                        <a:rPr sz="2400" b="1" dirty="0">
                          <a:latin typeface="微软雅黑"/>
                          <a:cs typeface="微软雅黑"/>
                        </a:rPr>
                        <a:t>中断，在中断中将调用发</a:t>
                      </a:r>
                      <a:endParaRPr sz="2400" dirty="0">
                        <a:latin typeface="微软雅黑"/>
                        <a:cs typeface="微软雅黑"/>
                      </a:endParaRPr>
                    </a:p>
                    <a:p>
                      <a:pPr marL="417195">
                        <a:lnSpc>
                          <a:spcPts val="2865"/>
                        </a:lnSpc>
                      </a:pPr>
                      <a:r>
                        <a:rPr sz="2400" b="1" spc="-5" dirty="0">
                          <a:latin typeface="微软雅黑"/>
                          <a:cs typeface="微软雅黑"/>
                        </a:rPr>
                        <a:t>送中断回调函</a:t>
                      </a:r>
                      <a:r>
                        <a:rPr sz="2400" b="1" dirty="0">
                          <a:latin typeface="微软雅黑"/>
                          <a:cs typeface="微软雅黑"/>
                        </a:rPr>
                        <a:t>数</a:t>
                      </a:r>
                      <a:r>
                        <a:rPr sz="2400" b="1" spc="-5" dirty="0">
                          <a:latin typeface="微软雅黑"/>
                          <a:cs typeface="微软雅黑"/>
                        </a:rPr>
                        <a:t>H</a:t>
                      </a:r>
                      <a:r>
                        <a:rPr sz="2400" b="1" spc="-15" dirty="0">
                          <a:latin typeface="微软雅黑"/>
                          <a:cs typeface="微软雅黑"/>
                        </a:rPr>
                        <a:t>A</a:t>
                      </a:r>
                      <a:r>
                        <a:rPr sz="2400" b="1" dirty="0">
                          <a:latin typeface="微软雅黑"/>
                          <a:cs typeface="微软雅黑"/>
                        </a:rPr>
                        <a:t>L_</a:t>
                      </a:r>
                      <a:r>
                        <a:rPr sz="2400" b="1" spc="-70" dirty="0">
                          <a:latin typeface="微软雅黑"/>
                          <a:cs typeface="微软雅黑"/>
                        </a:rPr>
                        <a:t>U</a:t>
                      </a:r>
                      <a:r>
                        <a:rPr sz="2400" b="1" dirty="0">
                          <a:latin typeface="微软雅黑"/>
                          <a:cs typeface="微软雅黑"/>
                        </a:rPr>
                        <a:t>A</a:t>
                      </a:r>
                      <a:r>
                        <a:rPr sz="2400" b="1" spc="-55" dirty="0">
                          <a:latin typeface="微软雅黑"/>
                          <a:cs typeface="微软雅黑"/>
                        </a:rPr>
                        <a:t>R</a:t>
                      </a:r>
                      <a:r>
                        <a:rPr sz="2400" b="1" spc="-5" dirty="0">
                          <a:latin typeface="微软雅黑"/>
                          <a:cs typeface="微软雅黑"/>
                        </a:rPr>
                        <a:t>T_</a:t>
                      </a:r>
                      <a:r>
                        <a:rPr sz="2400" b="1" spc="-195" dirty="0">
                          <a:latin typeface="微软雅黑"/>
                          <a:cs typeface="微软雅黑"/>
                        </a:rPr>
                        <a:t>T</a:t>
                      </a:r>
                      <a:r>
                        <a:rPr sz="2400" b="1" dirty="0">
                          <a:latin typeface="微软雅黑"/>
                          <a:cs typeface="微软雅黑"/>
                        </a:rPr>
                        <a:t>xCpltCall</a:t>
                      </a:r>
                      <a:r>
                        <a:rPr sz="2400" b="1" spc="-35" dirty="0">
                          <a:latin typeface="微软雅黑"/>
                          <a:cs typeface="微软雅黑"/>
                        </a:rPr>
                        <a:t>b</a:t>
                      </a:r>
                      <a:r>
                        <a:rPr sz="2400" b="1" dirty="0">
                          <a:latin typeface="微软雅黑"/>
                          <a:cs typeface="微软雅黑"/>
                        </a:rPr>
                        <a:t>ac</a:t>
                      </a:r>
                      <a:r>
                        <a:rPr sz="2400" b="1" spc="-5" dirty="0">
                          <a:latin typeface="微软雅黑"/>
                          <a:cs typeface="微软雅黑"/>
                        </a:rPr>
                        <a:t>k进行后续处理</a:t>
                      </a:r>
                      <a:endParaRPr sz="2400" dirty="0">
                        <a:latin typeface="微软雅黑"/>
                        <a:cs typeface="微软雅黑"/>
                      </a:endParaRPr>
                    </a:p>
                    <a:p>
                      <a:pPr marL="53975">
                        <a:lnSpc>
                          <a:spcPts val="2865"/>
                        </a:lnSpc>
                      </a:pPr>
                      <a:r>
                        <a:rPr sz="2400" b="1" dirty="0">
                          <a:latin typeface="微软雅黑"/>
                          <a:cs typeface="微软雅黑"/>
                        </a:rPr>
                        <a:t>3.</a:t>
                      </a:r>
                      <a:r>
                        <a:rPr sz="2400" b="1" spc="-5" dirty="0">
                          <a:latin typeface="微软雅黑"/>
                          <a:cs typeface="微软雅黑"/>
                        </a:rPr>
                        <a:t> </a:t>
                      </a:r>
                      <a:r>
                        <a:rPr sz="2400" b="1" dirty="0">
                          <a:latin typeface="微软雅黑"/>
                          <a:cs typeface="微软雅黑"/>
                        </a:rPr>
                        <a:t>该函数由用户调用</a:t>
                      </a:r>
                      <a:endParaRPr sz="2400" dirty="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90375183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200133" y="6608820"/>
            <a:ext cx="2796540" cy="177800"/>
          </a:xfrm>
          <a:prstGeom prst="rect">
            <a:avLst/>
          </a:prstGeom>
        </p:spPr>
        <p:txBody>
          <a:bodyPr vert="horz" wrap="square" lIns="0" tIns="0" rIns="0" bIns="0" rtlCol="0">
            <a:spAutoFit/>
          </a:bodyPr>
          <a:lstStyle/>
          <a:p>
            <a:pPr marL="12700">
              <a:lnSpc>
                <a:spcPct val="100000"/>
              </a:lnSpc>
            </a:pPr>
            <a:r>
              <a:rPr sz="1200" b="1" spc="-5" dirty="0">
                <a:solidFill>
                  <a:srgbClr val="FFFFFF"/>
                </a:solidFill>
                <a:latin typeface="微软雅黑"/>
                <a:cs typeface="微软雅黑"/>
              </a:rPr>
              <a:t>--</a:t>
            </a:r>
            <a:r>
              <a:rPr sz="1200" b="1" spc="5" dirty="0">
                <a:solidFill>
                  <a:srgbClr val="FFFFFF"/>
                </a:solidFill>
                <a:latin typeface="微软雅黑"/>
                <a:cs typeface="微软雅黑"/>
              </a:rPr>
              <a:t> </a:t>
            </a:r>
            <a:r>
              <a:rPr sz="1200" b="1" dirty="0">
                <a:solidFill>
                  <a:srgbClr val="FFFFFF"/>
                </a:solidFill>
                <a:latin typeface="微软雅黑"/>
                <a:cs typeface="微软雅黑"/>
              </a:rPr>
              <a:t>南昌大学“卓越”辅导员培养工程建设</a:t>
            </a:r>
            <a:endParaRPr sz="1200">
              <a:latin typeface="微软雅黑"/>
              <a:cs typeface="微软雅黑"/>
            </a:endParaRPr>
          </a:p>
        </p:txBody>
      </p:sp>
      <p:graphicFrame>
        <p:nvGraphicFramePr>
          <p:cNvPr id="3" name="object 3"/>
          <p:cNvGraphicFramePr>
            <a:graphicFrameLocks noGrp="1"/>
          </p:cNvGraphicFramePr>
          <p:nvPr/>
        </p:nvGraphicFramePr>
        <p:xfrm>
          <a:off x="216623" y="272605"/>
          <a:ext cx="11730202" cy="6336725"/>
        </p:xfrm>
        <a:graphic>
          <a:graphicData uri="http://schemas.openxmlformats.org/drawingml/2006/table">
            <a:tbl>
              <a:tblPr firstRow="1" bandRow="1">
                <a:tableStyleId>{2D5ABB26-0587-4C30-8999-92F81FD0307C}</a:tableStyleId>
              </a:tblPr>
              <a:tblGrid>
                <a:gridCol w="1902688">
                  <a:extLst>
                    <a:ext uri="{9D8B030D-6E8A-4147-A177-3AD203B41FA5}">
                      <a16:colId xmlns:a16="http://schemas.microsoft.com/office/drawing/2014/main" val="20000"/>
                    </a:ext>
                  </a:extLst>
                </a:gridCol>
                <a:gridCol w="9827514">
                  <a:extLst>
                    <a:ext uri="{9D8B030D-6E8A-4147-A177-3AD203B41FA5}">
                      <a16:colId xmlns:a16="http://schemas.microsoft.com/office/drawing/2014/main" val="20001"/>
                    </a:ext>
                  </a:extLst>
                </a:gridCol>
              </a:tblGrid>
              <a:tr h="418337">
                <a:tc gridSpan="2">
                  <a:txBody>
                    <a:bodyPr/>
                    <a:lstStyle/>
                    <a:p>
                      <a:pPr marL="1978025">
                        <a:lnSpc>
                          <a:spcPct val="100000"/>
                        </a:lnSpc>
                        <a:tabLst>
                          <a:tab pos="2346960" algn="l"/>
                        </a:tabLst>
                      </a:pPr>
                      <a:r>
                        <a:rPr sz="2400" b="1" dirty="0">
                          <a:solidFill>
                            <a:srgbClr val="FFFFFF"/>
                          </a:solidFill>
                          <a:latin typeface="微软雅黑"/>
                          <a:cs typeface="微软雅黑"/>
                        </a:rPr>
                        <a:t>2	串口DM</a:t>
                      </a:r>
                      <a:r>
                        <a:rPr sz="2400" b="1" spc="-10" dirty="0">
                          <a:solidFill>
                            <a:srgbClr val="FFFFFF"/>
                          </a:solidFill>
                          <a:latin typeface="微软雅黑"/>
                          <a:cs typeface="微软雅黑"/>
                        </a:rPr>
                        <a:t>A</a:t>
                      </a:r>
                      <a:r>
                        <a:rPr sz="2400" b="1" dirty="0">
                          <a:solidFill>
                            <a:srgbClr val="FFFFFF"/>
                          </a:solidFill>
                          <a:latin typeface="微软雅黑"/>
                          <a:cs typeface="微软雅黑"/>
                        </a:rPr>
                        <a:t>方式接收函数：</a:t>
                      </a:r>
                      <a:r>
                        <a:rPr sz="2400" b="1" spc="-5" dirty="0">
                          <a:solidFill>
                            <a:srgbClr val="FFFFFF"/>
                          </a:solidFill>
                          <a:latin typeface="微软雅黑"/>
                          <a:cs typeface="微软雅黑"/>
                        </a:rPr>
                        <a:t>H</a:t>
                      </a:r>
                      <a:r>
                        <a:rPr sz="2400" b="1" spc="-10" dirty="0">
                          <a:solidFill>
                            <a:srgbClr val="FFFFFF"/>
                          </a:solidFill>
                          <a:latin typeface="微软雅黑"/>
                          <a:cs typeface="微软雅黑"/>
                        </a:rPr>
                        <a:t>A</a:t>
                      </a:r>
                      <a:r>
                        <a:rPr sz="2400" b="1" dirty="0">
                          <a:solidFill>
                            <a:srgbClr val="FFFFFF"/>
                          </a:solidFill>
                          <a:latin typeface="微软雅黑"/>
                          <a:cs typeface="微软雅黑"/>
                        </a:rPr>
                        <a:t>L_</a:t>
                      </a:r>
                      <a:r>
                        <a:rPr sz="2400" b="1" spc="-65" dirty="0">
                          <a:solidFill>
                            <a:srgbClr val="FFFFFF"/>
                          </a:solidFill>
                          <a:latin typeface="微软雅黑"/>
                          <a:cs typeface="微软雅黑"/>
                        </a:rPr>
                        <a:t>U</a:t>
                      </a:r>
                      <a:r>
                        <a:rPr sz="2400" b="1" dirty="0">
                          <a:solidFill>
                            <a:srgbClr val="FFFFFF"/>
                          </a:solidFill>
                          <a:latin typeface="微软雅黑"/>
                          <a:cs typeface="微软雅黑"/>
                        </a:rPr>
                        <a:t>A</a:t>
                      </a:r>
                      <a:r>
                        <a:rPr sz="2400" b="1" spc="-50" dirty="0">
                          <a:solidFill>
                            <a:srgbClr val="FFFFFF"/>
                          </a:solidFill>
                          <a:latin typeface="微软雅黑"/>
                          <a:cs typeface="微软雅黑"/>
                        </a:rPr>
                        <a:t>R</a:t>
                      </a:r>
                      <a:r>
                        <a:rPr sz="2400" b="1" spc="-5" dirty="0">
                          <a:solidFill>
                            <a:srgbClr val="FFFFFF"/>
                          </a:solidFill>
                          <a:latin typeface="微软雅黑"/>
                          <a:cs typeface="微软雅黑"/>
                        </a:rPr>
                        <a:t>T_</a:t>
                      </a:r>
                      <a:r>
                        <a:rPr sz="2400" b="1" spc="-55" dirty="0">
                          <a:solidFill>
                            <a:srgbClr val="FFFFFF"/>
                          </a:solidFill>
                          <a:latin typeface="微软雅黑"/>
                          <a:cs typeface="微软雅黑"/>
                        </a:rPr>
                        <a:t>R</a:t>
                      </a:r>
                      <a:r>
                        <a:rPr sz="2400" b="1" dirty="0">
                          <a:solidFill>
                            <a:srgbClr val="FFFFFF"/>
                          </a:solidFill>
                          <a:latin typeface="微软雅黑"/>
                          <a:cs typeface="微软雅黑"/>
                        </a:rPr>
                        <a:t>e</a:t>
                      </a:r>
                      <a:r>
                        <a:rPr sz="2400" b="1" spc="-10" dirty="0">
                          <a:solidFill>
                            <a:srgbClr val="FFFFFF"/>
                          </a:solidFill>
                          <a:latin typeface="微软雅黑"/>
                          <a:cs typeface="微软雅黑"/>
                        </a:rPr>
                        <a:t>c</a:t>
                      </a:r>
                      <a:r>
                        <a:rPr sz="2400" b="1" dirty="0">
                          <a:solidFill>
                            <a:srgbClr val="FFFFFF"/>
                          </a:solidFill>
                          <a:latin typeface="微软雅黑"/>
                          <a:cs typeface="微软雅黑"/>
                        </a:rPr>
                        <a:t>e</a:t>
                      </a:r>
                      <a:r>
                        <a:rPr sz="2400" b="1" spc="-10" dirty="0">
                          <a:solidFill>
                            <a:srgbClr val="FFFFFF"/>
                          </a:solidFill>
                          <a:latin typeface="微软雅黑"/>
                          <a:cs typeface="微软雅黑"/>
                        </a:rPr>
                        <a:t>i</a:t>
                      </a:r>
                      <a:r>
                        <a:rPr sz="2400" b="1" spc="-30" dirty="0">
                          <a:solidFill>
                            <a:srgbClr val="FFFFFF"/>
                          </a:solidFill>
                          <a:latin typeface="微软雅黑"/>
                          <a:cs typeface="微软雅黑"/>
                        </a:rPr>
                        <a:t>v</a:t>
                      </a:r>
                      <a:r>
                        <a:rPr sz="2400" b="1" dirty="0">
                          <a:solidFill>
                            <a:srgbClr val="FFFFFF"/>
                          </a:solidFill>
                          <a:latin typeface="微软雅黑"/>
                          <a:cs typeface="微软雅黑"/>
                        </a:rPr>
                        <a:t>e_DMA</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tc hMerge="1">
                  <a:txBody>
                    <a:bodyPr/>
                    <a:lstStyle/>
                    <a:p>
                      <a:endParaRPr/>
                    </a:p>
                  </a:txBody>
                  <a:tcPr marL="0" marR="0" marT="0" marB="0"/>
                </a:tc>
                <a:extLst>
                  <a:ext uri="{0D108BD9-81ED-4DB2-BD59-A6C34878D82A}">
                    <a16:rowId xmlns:a16="http://schemas.microsoft.com/office/drawing/2014/main" val="10000"/>
                  </a:ext>
                </a:extLst>
              </a:tr>
              <a:tr h="874522">
                <a:tc>
                  <a:txBody>
                    <a:bodyPr/>
                    <a:lstStyle/>
                    <a:p>
                      <a:pPr marL="327025">
                        <a:lnSpc>
                          <a:spcPct val="100000"/>
                        </a:lnSpc>
                      </a:pPr>
                      <a:r>
                        <a:rPr sz="2400" b="1" spc="-5" dirty="0">
                          <a:latin typeface="微软雅黑"/>
                          <a:cs typeface="微软雅黑"/>
                        </a:rPr>
                        <a:t>函数原型</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ts val="2865"/>
                        </a:lnSpc>
                        <a:tabLst>
                          <a:tab pos="3337560" algn="l"/>
                        </a:tabLst>
                      </a:pPr>
                      <a:r>
                        <a:rPr sz="2400" b="1" spc="-5" dirty="0">
                          <a:latin typeface="微软雅黑"/>
                          <a:cs typeface="微软雅黑"/>
                        </a:rPr>
                        <a:t>H</a:t>
                      </a:r>
                      <a:r>
                        <a:rPr sz="2400" b="1" spc="-15" dirty="0">
                          <a:latin typeface="微软雅黑"/>
                          <a:cs typeface="微软雅黑"/>
                        </a:rPr>
                        <a:t>A</a:t>
                      </a:r>
                      <a:r>
                        <a:rPr sz="2400" b="1" dirty="0">
                          <a:latin typeface="微软雅黑"/>
                          <a:cs typeface="微软雅黑"/>
                        </a:rPr>
                        <a:t>L_</a:t>
                      </a:r>
                      <a:r>
                        <a:rPr sz="2400" b="1" spc="-85" dirty="0">
                          <a:latin typeface="微软雅黑"/>
                          <a:cs typeface="微软雅黑"/>
                        </a:rPr>
                        <a:t>S</a:t>
                      </a:r>
                      <a:r>
                        <a:rPr sz="2400" b="1" spc="-5" dirty="0">
                          <a:latin typeface="微软雅黑"/>
                          <a:cs typeface="微软雅黑"/>
                        </a:rPr>
                        <a:t>tat</a:t>
                      </a:r>
                      <a:r>
                        <a:rPr sz="2400" b="1" spc="5" dirty="0">
                          <a:latin typeface="微软雅黑"/>
                          <a:cs typeface="微软雅黑"/>
                        </a:rPr>
                        <a:t>u</a:t>
                      </a:r>
                      <a:r>
                        <a:rPr sz="2400" b="1" dirty="0">
                          <a:latin typeface="微软雅黑"/>
                          <a:cs typeface="微软雅黑"/>
                        </a:rPr>
                        <a:t>s</a:t>
                      </a:r>
                      <a:r>
                        <a:rPr sz="2400" b="1" spc="-125" dirty="0">
                          <a:latin typeface="微软雅黑"/>
                          <a:cs typeface="微软雅黑"/>
                        </a:rPr>
                        <a:t>T</a:t>
                      </a:r>
                      <a:r>
                        <a:rPr sz="2400" b="1" spc="-5" dirty="0">
                          <a:latin typeface="微软雅黑"/>
                          <a:cs typeface="微软雅黑"/>
                        </a:rPr>
                        <a:t>yp</a:t>
                      </a:r>
                      <a:r>
                        <a:rPr sz="2400" b="1" spc="-10" dirty="0">
                          <a:latin typeface="微软雅黑"/>
                          <a:cs typeface="微软雅黑"/>
                        </a:rPr>
                        <a:t>e</a:t>
                      </a:r>
                      <a:r>
                        <a:rPr sz="2400" b="1" dirty="0">
                          <a:latin typeface="微软雅黑"/>
                          <a:cs typeface="微软雅黑"/>
                        </a:rPr>
                        <a:t>D</a:t>
                      </a:r>
                      <a:r>
                        <a:rPr sz="2400" b="1" spc="-15" dirty="0">
                          <a:latin typeface="微软雅黑"/>
                          <a:cs typeface="微软雅黑"/>
                        </a:rPr>
                        <a:t>e</a:t>
                      </a:r>
                      <a:r>
                        <a:rPr sz="2400" b="1" dirty="0">
                          <a:latin typeface="微软雅黑"/>
                          <a:cs typeface="微软雅黑"/>
                        </a:rPr>
                        <a:t>f	</a:t>
                      </a:r>
                      <a:r>
                        <a:rPr sz="2400" b="1" spc="-5" dirty="0">
                          <a:latin typeface="微软雅黑"/>
                          <a:cs typeface="微软雅黑"/>
                        </a:rPr>
                        <a:t>H</a:t>
                      </a:r>
                      <a:r>
                        <a:rPr sz="2400" b="1" spc="-15" dirty="0">
                          <a:latin typeface="微软雅黑"/>
                          <a:cs typeface="微软雅黑"/>
                        </a:rPr>
                        <a:t>A</a:t>
                      </a:r>
                      <a:r>
                        <a:rPr sz="2400" b="1" dirty="0">
                          <a:latin typeface="微软雅黑"/>
                          <a:cs typeface="微软雅黑"/>
                        </a:rPr>
                        <a:t>L_</a:t>
                      </a:r>
                      <a:r>
                        <a:rPr sz="2400" b="1" spc="-70" dirty="0">
                          <a:latin typeface="微软雅黑"/>
                          <a:cs typeface="微软雅黑"/>
                        </a:rPr>
                        <a:t>U</a:t>
                      </a:r>
                      <a:r>
                        <a:rPr sz="2400" b="1" dirty="0">
                          <a:latin typeface="微软雅黑"/>
                          <a:cs typeface="微软雅黑"/>
                        </a:rPr>
                        <a:t>A</a:t>
                      </a:r>
                      <a:r>
                        <a:rPr sz="2400" b="1" spc="-55" dirty="0">
                          <a:latin typeface="微软雅黑"/>
                          <a:cs typeface="微软雅黑"/>
                        </a:rPr>
                        <a:t>R</a:t>
                      </a:r>
                      <a:r>
                        <a:rPr sz="2400" b="1" spc="-5" dirty="0">
                          <a:latin typeface="微软雅黑"/>
                          <a:cs typeface="微软雅黑"/>
                        </a:rPr>
                        <a:t>T_</a:t>
                      </a:r>
                      <a:r>
                        <a:rPr sz="2400" b="1" spc="-60" dirty="0">
                          <a:latin typeface="微软雅黑"/>
                          <a:cs typeface="微软雅黑"/>
                        </a:rPr>
                        <a:t>R</a:t>
                      </a:r>
                      <a:r>
                        <a:rPr sz="2400" b="1" dirty="0">
                          <a:latin typeface="微软雅黑"/>
                          <a:cs typeface="微软雅黑"/>
                        </a:rPr>
                        <a:t>e</a:t>
                      </a:r>
                      <a:r>
                        <a:rPr sz="2400" b="1" spc="-15" dirty="0">
                          <a:latin typeface="微软雅黑"/>
                          <a:cs typeface="微软雅黑"/>
                        </a:rPr>
                        <a:t>c</a:t>
                      </a:r>
                      <a:r>
                        <a:rPr sz="2400" b="1" dirty="0">
                          <a:latin typeface="微软雅黑"/>
                          <a:cs typeface="微软雅黑"/>
                        </a:rPr>
                        <a:t>e</a:t>
                      </a:r>
                      <a:r>
                        <a:rPr sz="2400" b="1" spc="-10" dirty="0">
                          <a:latin typeface="微软雅黑"/>
                          <a:cs typeface="微软雅黑"/>
                        </a:rPr>
                        <a:t>i</a:t>
                      </a:r>
                      <a:r>
                        <a:rPr sz="2400" b="1" spc="-35" dirty="0">
                          <a:latin typeface="微软雅黑"/>
                          <a:cs typeface="微软雅黑"/>
                        </a:rPr>
                        <a:t>v</a:t>
                      </a:r>
                      <a:r>
                        <a:rPr sz="2400" b="1" dirty="0">
                          <a:latin typeface="微软雅黑"/>
                          <a:cs typeface="微软雅黑"/>
                        </a:rPr>
                        <a:t>e_</a:t>
                      </a:r>
                      <a:r>
                        <a:rPr sz="2400" b="1" spc="-10" dirty="0">
                          <a:latin typeface="微软雅黑"/>
                          <a:cs typeface="微软雅黑"/>
                        </a:rPr>
                        <a:t>D</a:t>
                      </a:r>
                      <a:r>
                        <a:rPr sz="2400" b="1" spc="-5" dirty="0">
                          <a:latin typeface="微软雅黑"/>
                          <a:cs typeface="微软雅黑"/>
                        </a:rPr>
                        <a:t>MA</a:t>
                      </a:r>
                      <a:endParaRPr sz="2400">
                        <a:latin typeface="微软雅黑"/>
                        <a:cs typeface="微软雅黑"/>
                      </a:endParaRPr>
                    </a:p>
                    <a:p>
                      <a:pPr marL="53975">
                        <a:lnSpc>
                          <a:spcPts val="2865"/>
                        </a:lnSpc>
                        <a:tabLst>
                          <a:tab pos="3715385" algn="l"/>
                        </a:tabLst>
                      </a:pPr>
                      <a:r>
                        <a:rPr sz="2400" b="1" dirty="0">
                          <a:latin typeface="微软雅黑"/>
                          <a:cs typeface="微软雅黑"/>
                        </a:rPr>
                        <a:t>(</a:t>
                      </a:r>
                      <a:r>
                        <a:rPr sz="2400" b="1" spc="-65" dirty="0">
                          <a:latin typeface="微软雅黑"/>
                          <a:cs typeface="微软雅黑"/>
                        </a:rPr>
                        <a:t>U</a:t>
                      </a:r>
                      <a:r>
                        <a:rPr sz="2400" b="1" dirty="0">
                          <a:latin typeface="微软雅黑"/>
                          <a:cs typeface="微软雅黑"/>
                        </a:rPr>
                        <a:t>A</a:t>
                      </a:r>
                      <a:r>
                        <a:rPr sz="2400" b="1" spc="-50" dirty="0">
                          <a:latin typeface="微软雅黑"/>
                          <a:cs typeface="微软雅黑"/>
                        </a:rPr>
                        <a:t>R</a:t>
                      </a:r>
                      <a:r>
                        <a:rPr sz="2400" b="1" spc="-5" dirty="0">
                          <a:latin typeface="微软雅黑"/>
                          <a:cs typeface="微软雅黑"/>
                        </a:rPr>
                        <a:t>T_H</a:t>
                      </a:r>
                      <a:r>
                        <a:rPr sz="2400" b="1" spc="5" dirty="0">
                          <a:latin typeface="微软雅黑"/>
                          <a:cs typeface="微软雅黑"/>
                        </a:rPr>
                        <a:t>a</a:t>
                      </a:r>
                      <a:r>
                        <a:rPr sz="2400" b="1" dirty="0">
                          <a:latin typeface="微软雅黑"/>
                          <a:cs typeface="微软雅黑"/>
                        </a:rPr>
                        <a:t>ndle</a:t>
                      </a:r>
                      <a:r>
                        <a:rPr sz="2400" b="1" spc="-125" dirty="0">
                          <a:latin typeface="微软雅黑"/>
                          <a:cs typeface="微软雅黑"/>
                        </a:rPr>
                        <a:t>T</a:t>
                      </a:r>
                      <a:r>
                        <a:rPr sz="2400" b="1" spc="-5" dirty="0">
                          <a:latin typeface="微软雅黑"/>
                          <a:cs typeface="微软雅黑"/>
                        </a:rPr>
                        <a:t>ype</a:t>
                      </a:r>
                      <a:r>
                        <a:rPr sz="2400" b="1" spc="-10" dirty="0">
                          <a:latin typeface="微软雅黑"/>
                          <a:cs typeface="微软雅黑"/>
                        </a:rPr>
                        <a:t>D</a:t>
                      </a:r>
                      <a:r>
                        <a:rPr sz="2400" b="1" dirty="0">
                          <a:latin typeface="微软雅黑"/>
                          <a:cs typeface="微软雅黑"/>
                        </a:rPr>
                        <a:t>ef	</a:t>
                      </a:r>
                      <a:r>
                        <a:rPr sz="2400" b="1" spc="-5" dirty="0">
                          <a:latin typeface="微软雅黑"/>
                          <a:cs typeface="微软雅黑"/>
                        </a:rPr>
                        <a:t>*</a:t>
                      </a:r>
                      <a:r>
                        <a:rPr sz="2400" b="1" spc="-10" dirty="0">
                          <a:latin typeface="微软雅黑"/>
                          <a:cs typeface="微软雅黑"/>
                        </a:rPr>
                        <a:t>h</a:t>
                      </a:r>
                      <a:r>
                        <a:rPr sz="2400" b="1" dirty="0">
                          <a:latin typeface="微软雅黑"/>
                          <a:cs typeface="微软雅黑"/>
                        </a:rPr>
                        <a:t>u</a:t>
                      </a:r>
                      <a:r>
                        <a:rPr sz="2400" b="1" spc="5" dirty="0">
                          <a:latin typeface="微软雅黑"/>
                          <a:cs typeface="微软雅黑"/>
                        </a:rPr>
                        <a:t>a</a:t>
                      </a:r>
                      <a:r>
                        <a:rPr sz="2400" b="1" spc="70" dirty="0">
                          <a:latin typeface="微软雅黑"/>
                          <a:cs typeface="微软雅黑"/>
                        </a:rPr>
                        <a:t>r</a:t>
                      </a:r>
                      <a:r>
                        <a:rPr sz="2400" b="1" spc="-5" dirty="0">
                          <a:latin typeface="微软雅黑"/>
                          <a:cs typeface="微软雅黑"/>
                        </a:rPr>
                        <a:t>t,ui</a:t>
                      </a:r>
                      <a:r>
                        <a:rPr sz="2400" b="1" spc="5" dirty="0">
                          <a:latin typeface="微软雅黑"/>
                          <a:cs typeface="微软雅黑"/>
                        </a:rPr>
                        <a:t>nt</a:t>
                      </a:r>
                      <a:r>
                        <a:rPr sz="2400" b="1" spc="-5" dirty="0">
                          <a:latin typeface="微软雅黑"/>
                          <a:cs typeface="微软雅黑"/>
                        </a:rPr>
                        <a:t>8</a:t>
                      </a:r>
                      <a:r>
                        <a:rPr sz="2400" b="1" dirty="0">
                          <a:latin typeface="微软雅黑"/>
                          <a:cs typeface="微软雅黑"/>
                        </a:rPr>
                        <a:t>_t</a:t>
                      </a:r>
                      <a:r>
                        <a:rPr sz="2400" b="1" spc="-20" dirty="0">
                          <a:latin typeface="微软雅黑"/>
                          <a:cs typeface="微软雅黑"/>
                        </a:rPr>
                        <a:t> </a:t>
                      </a:r>
                      <a:r>
                        <a:rPr sz="2400" b="1" spc="-10" dirty="0">
                          <a:latin typeface="微软雅黑"/>
                          <a:cs typeface="微软雅黑"/>
                        </a:rPr>
                        <a:t>*</a:t>
                      </a:r>
                      <a:r>
                        <a:rPr sz="2400" b="1" dirty="0">
                          <a:latin typeface="微软雅黑"/>
                          <a:cs typeface="微软雅黑"/>
                        </a:rPr>
                        <a:t>p</a:t>
                      </a:r>
                      <a:r>
                        <a:rPr sz="2400" b="1" spc="-10" dirty="0">
                          <a:latin typeface="微软雅黑"/>
                          <a:cs typeface="微软雅黑"/>
                        </a:rPr>
                        <a:t>D</a:t>
                      </a:r>
                      <a:r>
                        <a:rPr sz="2400" b="1" dirty="0">
                          <a:latin typeface="微软雅黑"/>
                          <a:cs typeface="微软雅黑"/>
                        </a:rPr>
                        <a:t>at</a:t>
                      </a:r>
                      <a:r>
                        <a:rPr sz="2400" b="1" spc="5" dirty="0">
                          <a:latin typeface="微软雅黑"/>
                          <a:cs typeface="微软雅黑"/>
                        </a:rPr>
                        <a:t>a</a:t>
                      </a:r>
                      <a:r>
                        <a:rPr sz="2400" b="1" dirty="0">
                          <a:latin typeface="微软雅黑"/>
                          <a:cs typeface="微软雅黑"/>
                        </a:rPr>
                        <a:t>,</a:t>
                      </a:r>
                      <a:r>
                        <a:rPr sz="2400" b="1" spc="15" dirty="0">
                          <a:latin typeface="微软雅黑"/>
                          <a:cs typeface="微软雅黑"/>
                        </a:rPr>
                        <a:t> </a:t>
                      </a:r>
                      <a:r>
                        <a:rPr sz="2400" b="1" dirty="0">
                          <a:latin typeface="微软雅黑"/>
                          <a:cs typeface="微软雅黑"/>
                        </a:rPr>
                        <a:t>ui</a:t>
                      </a:r>
                      <a:r>
                        <a:rPr sz="2400" b="1" spc="5" dirty="0">
                          <a:latin typeface="微软雅黑"/>
                          <a:cs typeface="微软雅黑"/>
                        </a:rPr>
                        <a:t>nt</a:t>
                      </a:r>
                      <a:r>
                        <a:rPr sz="2400" b="1" spc="-5" dirty="0">
                          <a:latin typeface="微软雅黑"/>
                          <a:cs typeface="微软雅黑"/>
                        </a:rPr>
                        <a:t>16</a:t>
                      </a:r>
                      <a:r>
                        <a:rPr sz="2400" b="1" dirty="0">
                          <a:latin typeface="微软雅黑"/>
                          <a:cs typeface="微软雅黑"/>
                        </a:rPr>
                        <a:t>_t</a:t>
                      </a:r>
                      <a:r>
                        <a:rPr sz="2400" b="1" spc="-20" dirty="0">
                          <a:latin typeface="微软雅黑"/>
                          <a:cs typeface="微软雅黑"/>
                        </a:rPr>
                        <a:t> </a:t>
                      </a:r>
                      <a:r>
                        <a:rPr sz="2400" b="1" dirty="0">
                          <a:latin typeface="微软雅黑"/>
                          <a:cs typeface="微软雅黑"/>
                        </a:rPr>
                        <a:t>Siz</a:t>
                      </a:r>
                      <a:r>
                        <a:rPr sz="2400" b="1" spc="-15" dirty="0">
                          <a:latin typeface="微软雅黑"/>
                          <a:cs typeface="微软雅黑"/>
                        </a:rPr>
                        <a:t>e</a:t>
                      </a:r>
                      <a:r>
                        <a:rPr sz="2400" b="1" dirty="0">
                          <a:latin typeface="微软雅黑"/>
                          <a:cs typeface="微软雅黑"/>
                        </a:rPr>
                        <a:t>)</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1"/>
                  </a:ext>
                </a:extLst>
              </a:tr>
              <a:tr h="601852">
                <a:tc>
                  <a:txBody>
                    <a:bodyPr/>
                    <a:lstStyle/>
                    <a:p>
                      <a:pPr marL="327025">
                        <a:lnSpc>
                          <a:spcPct val="100000"/>
                        </a:lnSpc>
                      </a:pPr>
                      <a:r>
                        <a:rPr sz="2400" b="1" dirty="0">
                          <a:latin typeface="微软雅黑"/>
                          <a:cs typeface="微软雅黑"/>
                        </a:rPr>
                        <a:t>功能描述</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3975">
                        <a:lnSpc>
                          <a:spcPct val="100000"/>
                        </a:lnSpc>
                      </a:pPr>
                      <a:r>
                        <a:rPr sz="2400" b="1" dirty="0">
                          <a:latin typeface="微软雅黑"/>
                          <a:cs typeface="微软雅黑"/>
                        </a:rPr>
                        <a:t>在DM</a:t>
                      </a:r>
                      <a:r>
                        <a:rPr sz="2400" b="1" spc="-5" dirty="0">
                          <a:latin typeface="微软雅黑"/>
                          <a:cs typeface="微软雅黑"/>
                        </a:rPr>
                        <a:t>A</a:t>
                      </a:r>
                      <a:r>
                        <a:rPr sz="2400" b="1" dirty="0">
                          <a:latin typeface="微软雅黑"/>
                          <a:cs typeface="微软雅黑"/>
                        </a:rPr>
                        <a:t>方式下接收一定数量的数据</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r h="491871">
                <a:tc>
                  <a:txBody>
                    <a:bodyPr/>
                    <a:lstStyle/>
                    <a:p>
                      <a:pPr marL="232410">
                        <a:lnSpc>
                          <a:spcPct val="100000"/>
                        </a:lnSpc>
                      </a:pPr>
                      <a:r>
                        <a:rPr sz="2400" b="1" spc="-5" dirty="0">
                          <a:latin typeface="微软雅黑"/>
                          <a:cs typeface="微软雅黑"/>
                        </a:rPr>
                        <a:t>入口参</a:t>
                      </a:r>
                      <a:r>
                        <a:rPr sz="2400" b="1" dirty="0">
                          <a:latin typeface="微软雅黑"/>
                          <a:cs typeface="微软雅黑"/>
                        </a:rPr>
                        <a:t>数1</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ct val="100000"/>
                        </a:lnSpc>
                      </a:pPr>
                      <a:r>
                        <a:rPr sz="2400" b="1" dirty="0">
                          <a:latin typeface="微软雅黑"/>
                          <a:cs typeface="微软雅黑"/>
                        </a:rPr>
                        <a:t>hua</a:t>
                      </a:r>
                      <a:r>
                        <a:rPr sz="2400" b="1" spc="70" dirty="0">
                          <a:latin typeface="微软雅黑"/>
                          <a:cs typeface="微软雅黑"/>
                        </a:rPr>
                        <a:t>r</a:t>
                      </a:r>
                      <a:r>
                        <a:rPr sz="2400" b="1" dirty="0">
                          <a:latin typeface="微软雅黑"/>
                          <a:cs typeface="微软雅黑"/>
                        </a:rPr>
                        <a:t>t：串口句柄的地址</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3"/>
                  </a:ext>
                </a:extLst>
              </a:tr>
              <a:tr h="505333">
                <a:tc>
                  <a:txBody>
                    <a:bodyPr/>
                    <a:lstStyle/>
                    <a:p>
                      <a:pPr marL="232410">
                        <a:lnSpc>
                          <a:spcPct val="100000"/>
                        </a:lnSpc>
                      </a:pPr>
                      <a:r>
                        <a:rPr sz="2400" b="1" dirty="0">
                          <a:latin typeface="微软雅黑"/>
                          <a:cs typeface="微软雅黑"/>
                        </a:rPr>
                        <a:t>入口参数2</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3975">
                        <a:lnSpc>
                          <a:spcPct val="100000"/>
                        </a:lnSpc>
                      </a:pPr>
                      <a:r>
                        <a:rPr sz="2400" b="1" dirty="0">
                          <a:latin typeface="微软雅黑"/>
                          <a:cs typeface="微软雅黑"/>
                        </a:rPr>
                        <a:t>p</a:t>
                      </a:r>
                      <a:r>
                        <a:rPr sz="2400" b="1" spc="-10" dirty="0">
                          <a:latin typeface="微软雅黑"/>
                          <a:cs typeface="微软雅黑"/>
                        </a:rPr>
                        <a:t>D</a:t>
                      </a:r>
                      <a:r>
                        <a:rPr sz="2400" b="1" dirty="0">
                          <a:latin typeface="微软雅黑"/>
                          <a:cs typeface="微软雅黑"/>
                        </a:rPr>
                        <a:t>at</a:t>
                      </a:r>
                      <a:r>
                        <a:rPr sz="2400" b="1" spc="5" dirty="0">
                          <a:latin typeface="微软雅黑"/>
                          <a:cs typeface="微软雅黑"/>
                        </a:rPr>
                        <a:t>a</a:t>
                      </a:r>
                      <a:r>
                        <a:rPr sz="2400" b="1" dirty="0">
                          <a:latin typeface="微软雅黑"/>
                          <a:cs typeface="微软雅黑"/>
                        </a:rPr>
                        <a:t>：待接收数据的首地址</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4"/>
                  </a:ext>
                </a:extLst>
              </a:tr>
              <a:tr h="466978">
                <a:tc>
                  <a:txBody>
                    <a:bodyPr/>
                    <a:lstStyle/>
                    <a:p>
                      <a:pPr marL="232410">
                        <a:lnSpc>
                          <a:spcPct val="100000"/>
                        </a:lnSpc>
                      </a:pPr>
                      <a:r>
                        <a:rPr sz="2400" b="1" dirty="0">
                          <a:latin typeface="微软雅黑"/>
                          <a:cs typeface="微软雅黑"/>
                        </a:rPr>
                        <a:t>入口参数3</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ct val="100000"/>
                        </a:lnSpc>
                      </a:pPr>
                      <a:r>
                        <a:rPr sz="2400" b="1" dirty="0">
                          <a:latin typeface="微软雅黑"/>
                          <a:cs typeface="微软雅黑"/>
                        </a:rPr>
                        <a:t>Siz</a:t>
                      </a:r>
                      <a:r>
                        <a:rPr sz="2400" b="1" spc="-15" dirty="0">
                          <a:latin typeface="微软雅黑"/>
                          <a:cs typeface="微软雅黑"/>
                        </a:rPr>
                        <a:t>e</a:t>
                      </a:r>
                      <a:r>
                        <a:rPr sz="2400" b="1" dirty="0">
                          <a:latin typeface="微软雅黑"/>
                          <a:cs typeface="微软雅黑"/>
                        </a:rPr>
                        <a:t>：待接收数据的个数</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5"/>
                  </a:ext>
                </a:extLst>
              </a:tr>
              <a:tr h="919734">
                <a:tc>
                  <a:txBody>
                    <a:bodyPr/>
                    <a:lstStyle/>
                    <a:p>
                      <a:pPr marL="479425">
                        <a:lnSpc>
                          <a:spcPct val="100000"/>
                        </a:lnSpc>
                      </a:pPr>
                      <a:r>
                        <a:rPr sz="2400" b="1" dirty="0">
                          <a:latin typeface="微软雅黑"/>
                          <a:cs typeface="微软雅黑"/>
                        </a:rPr>
                        <a:t>返回值</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3975" marR="518159">
                        <a:lnSpc>
                          <a:spcPts val="2840"/>
                        </a:lnSpc>
                      </a:pPr>
                      <a:r>
                        <a:rPr sz="2400" b="1" spc="-5" dirty="0">
                          <a:latin typeface="微软雅黑"/>
                          <a:cs typeface="微软雅黑"/>
                        </a:rPr>
                        <a:t>H</a:t>
                      </a:r>
                      <a:r>
                        <a:rPr sz="2400" b="1" spc="-10" dirty="0">
                          <a:latin typeface="微软雅黑"/>
                          <a:cs typeface="微软雅黑"/>
                        </a:rPr>
                        <a:t>A</a:t>
                      </a:r>
                      <a:r>
                        <a:rPr sz="2400" b="1" spc="-5" dirty="0">
                          <a:latin typeface="微软雅黑"/>
                          <a:cs typeface="微软雅黑"/>
                        </a:rPr>
                        <a:t>L</a:t>
                      </a:r>
                      <a:r>
                        <a:rPr sz="2400" b="1" dirty="0">
                          <a:latin typeface="微软雅黑"/>
                          <a:cs typeface="微软雅黑"/>
                        </a:rPr>
                        <a:t>状态值：</a:t>
                      </a:r>
                      <a:r>
                        <a:rPr sz="2400" b="1" spc="-5" dirty="0">
                          <a:latin typeface="微软雅黑"/>
                          <a:cs typeface="微软雅黑"/>
                        </a:rPr>
                        <a:t>H</a:t>
                      </a:r>
                      <a:r>
                        <a:rPr sz="2400" b="1" spc="-10" dirty="0">
                          <a:latin typeface="微软雅黑"/>
                          <a:cs typeface="微软雅黑"/>
                        </a:rPr>
                        <a:t>A</a:t>
                      </a:r>
                      <a:r>
                        <a:rPr sz="2400" b="1" dirty="0">
                          <a:latin typeface="微软雅黑"/>
                          <a:cs typeface="微软雅黑"/>
                        </a:rPr>
                        <a:t>L_O</a:t>
                      </a:r>
                      <a:r>
                        <a:rPr sz="2400" b="1" spc="5" dirty="0">
                          <a:latin typeface="微软雅黑"/>
                          <a:cs typeface="微软雅黑"/>
                        </a:rPr>
                        <a:t>K</a:t>
                      </a:r>
                      <a:r>
                        <a:rPr sz="2400" b="1" dirty="0">
                          <a:latin typeface="微软雅黑"/>
                          <a:cs typeface="微软雅黑"/>
                        </a:rPr>
                        <a:t>表</a:t>
                      </a:r>
                      <a:r>
                        <a:rPr sz="2400" b="1" spc="-5" dirty="0">
                          <a:latin typeface="微软雅黑"/>
                          <a:cs typeface="微软雅黑"/>
                        </a:rPr>
                        <a:t>示</a:t>
                      </a:r>
                      <a:r>
                        <a:rPr sz="2400" b="1" dirty="0">
                          <a:latin typeface="微软雅黑"/>
                          <a:cs typeface="微软雅黑"/>
                        </a:rPr>
                        <a:t>接收成功；</a:t>
                      </a:r>
                      <a:r>
                        <a:rPr sz="2400" b="1" spc="-5" dirty="0">
                          <a:latin typeface="微软雅黑"/>
                          <a:cs typeface="微软雅黑"/>
                        </a:rPr>
                        <a:t>HAL_ER</a:t>
                      </a:r>
                      <a:r>
                        <a:rPr sz="2400" b="1" spc="-15" dirty="0">
                          <a:latin typeface="微软雅黑"/>
                          <a:cs typeface="微软雅黑"/>
                        </a:rPr>
                        <a:t>R</a:t>
                      </a:r>
                      <a:r>
                        <a:rPr sz="2400" b="1" dirty="0">
                          <a:latin typeface="微软雅黑"/>
                          <a:cs typeface="微软雅黑"/>
                        </a:rPr>
                        <a:t>O</a:t>
                      </a:r>
                      <a:r>
                        <a:rPr sz="2400" b="1" spc="-5" dirty="0">
                          <a:latin typeface="微软雅黑"/>
                          <a:cs typeface="微软雅黑"/>
                        </a:rPr>
                        <a:t>R</a:t>
                      </a:r>
                      <a:r>
                        <a:rPr sz="2400" b="1" dirty="0">
                          <a:latin typeface="微软雅黑"/>
                          <a:cs typeface="微软雅黑"/>
                        </a:rPr>
                        <a:t>表示参数错误； </a:t>
                      </a:r>
                      <a:r>
                        <a:rPr sz="2400" b="1" spc="-5" dirty="0">
                          <a:latin typeface="微软雅黑"/>
                          <a:cs typeface="微软雅黑"/>
                        </a:rPr>
                        <a:t>H</a:t>
                      </a:r>
                      <a:r>
                        <a:rPr sz="2400" b="1" spc="-10" dirty="0">
                          <a:latin typeface="微软雅黑"/>
                          <a:cs typeface="微软雅黑"/>
                        </a:rPr>
                        <a:t>A</a:t>
                      </a:r>
                      <a:r>
                        <a:rPr sz="2400" b="1" dirty="0">
                          <a:latin typeface="微软雅黑"/>
                          <a:cs typeface="微软雅黑"/>
                        </a:rPr>
                        <a:t>L_BUSY表示串口被占用</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6"/>
                  </a:ext>
                </a:extLst>
              </a:tr>
              <a:tr h="2058098">
                <a:tc>
                  <a:txBody>
                    <a:bodyPr/>
                    <a:lstStyle/>
                    <a:p>
                      <a:pPr marL="327025">
                        <a:lnSpc>
                          <a:spcPct val="100000"/>
                        </a:lnSpc>
                      </a:pPr>
                      <a:r>
                        <a:rPr sz="2400" b="1" dirty="0">
                          <a:latin typeface="微软雅黑"/>
                          <a:cs typeface="微软雅黑"/>
                        </a:rPr>
                        <a:t>注意事项</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ct val="100000"/>
                        </a:lnSpc>
                      </a:pPr>
                      <a:r>
                        <a:rPr sz="2400" b="1" dirty="0">
                          <a:latin typeface="微软雅黑"/>
                          <a:cs typeface="微软雅黑"/>
                        </a:rPr>
                        <a:t>1.</a:t>
                      </a:r>
                      <a:r>
                        <a:rPr sz="2400" b="1" spc="-5" dirty="0">
                          <a:latin typeface="微软雅黑"/>
                          <a:cs typeface="微软雅黑"/>
                        </a:rPr>
                        <a:t> </a:t>
                      </a:r>
                      <a:r>
                        <a:rPr sz="2400" b="1" dirty="0">
                          <a:latin typeface="微软雅黑"/>
                          <a:cs typeface="微软雅黑"/>
                        </a:rPr>
                        <a:t>该函数将启动DM</a:t>
                      </a:r>
                      <a:r>
                        <a:rPr sz="2400" b="1" spc="-10" dirty="0">
                          <a:latin typeface="微软雅黑"/>
                          <a:cs typeface="微软雅黑"/>
                        </a:rPr>
                        <a:t>A</a:t>
                      </a:r>
                      <a:r>
                        <a:rPr sz="2400" b="1" dirty="0">
                          <a:latin typeface="微软雅黑"/>
                          <a:cs typeface="微软雅黑"/>
                        </a:rPr>
                        <a:t>方式的串口数据接收</a:t>
                      </a:r>
                      <a:endParaRPr sz="2400">
                        <a:latin typeface="微软雅黑"/>
                        <a:cs typeface="微软雅黑"/>
                      </a:endParaRPr>
                    </a:p>
                    <a:p>
                      <a:pPr marL="53975">
                        <a:lnSpc>
                          <a:spcPct val="100000"/>
                        </a:lnSpc>
                      </a:pPr>
                      <a:r>
                        <a:rPr sz="2400" b="1" dirty="0">
                          <a:latin typeface="微软雅黑"/>
                          <a:cs typeface="微软雅黑"/>
                        </a:rPr>
                        <a:t>2.</a:t>
                      </a:r>
                      <a:r>
                        <a:rPr sz="2400" b="1" spc="-5" dirty="0">
                          <a:latin typeface="微软雅黑"/>
                          <a:cs typeface="微软雅黑"/>
                        </a:rPr>
                        <a:t> </a:t>
                      </a:r>
                      <a:r>
                        <a:rPr sz="2400" b="1" dirty="0">
                          <a:latin typeface="微软雅黑"/>
                          <a:cs typeface="微软雅黑"/>
                        </a:rPr>
                        <a:t>完成指定数量的数据接收后，可以触</a:t>
                      </a:r>
                      <a:r>
                        <a:rPr sz="2400" b="1" spc="5" dirty="0">
                          <a:latin typeface="微软雅黑"/>
                          <a:cs typeface="微软雅黑"/>
                        </a:rPr>
                        <a:t>发</a:t>
                      </a:r>
                      <a:r>
                        <a:rPr sz="2400" b="1" dirty="0">
                          <a:latin typeface="微软雅黑"/>
                          <a:cs typeface="微软雅黑"/>
                        </a:rPr>
                        <a:t>DM</a:t>
                      </a:r>
                      <a:r>
                        <a:rPr sz="2400" b="1" spc="-10" dirty="0">
                          <a:latin typeface="微软雅黑"/>
                          <a:cs typeface="微软雅黑"/>
                        </a:rPr>
                        <a:t>A</a:t>
                      </a:r>
                      <a:r>
                        <a:rPr sz="2400" b="1" dirty="0">
                          <a:latin typeface="微软雅黑"/>
                          <a:cs typeface="微软雅黑"/>
                        </a:rPr>
                        <a:t>中断，在中断中将调用接</a:t>
                      </a:r>
                      <a:endParaRPr sz="2400">
                        <a:latin typeface="微软雅黑"/>
                        <a:cs typeface="微软雅黑"/>
                      </a:endParaRPr>
                    </a:p>
                    <a:p>
                      <a:pPr marL="417195">
                        <a:lnSpc>
                          <a:spcPts val="2865"/>
                        </a:lnSpc>
                      </a:pPr>
                      <a:r>
                        <a:rPr sz="2400" b="1" spc="-5" dirty="0">
                          <a:latin typeface="微软雅黑"/>
                          <a:cs typeface="微软雅黑"/>
                        </a:rPr>
                        <a:t>收中断回调函</a:t>
                      </a:r>
                      <a:r>
                        <a:rPr sz="2400" b="1" dirty="0">
                          <a:latin typeface="微软雅黑"/>
                          <a:cs typeface="微软雅黑"/>
                        </a:rPr>
                        <a:t>数</a:t>
                      </a:r>
                      <a:r>
                        <a:rPr sz="2400" b="1" spc="-5" dirty="0">
                          <a:latin typeface="微软雅黑"/>
                          <a:cs typeface="微软雅黑"/>
                        </a:rPr>
                        <a:t>H</a:t>
                      </a:r>
                      <a:r>
                        <a:rPr sz="2400" b="1" spc="-15" dirty="0">
                          <a:latin typeface="微软雅黑"/>
                          <a:cs typeface="微软雅黑"/>
                        </a:rPr>
                        <a:t>A</a:t>
                      </a:r>
                      <a:r>
                        <a:rPr sz="2400" b="1" dirty="0">
                          <a:latin typeface="微软雅黑"/>
                          <a:cs typeface="微软雅黑"/>
                        </a:rPr>
                        <a:t>L_</a:t>
                      </a:r>
                      <a:r>
                        <a:rPr sz="2400" b="1" spc="-70" dirty="0">
                          <a:latin typeface="微软雅黑"/>
                          <a:cs typeface="微软雅黑"/>
                        </a:rPr>
                        <a:t>U</a:t>
                      </a:r>
                      <a:r>
                        <a:rPr sz="2400" b="1" dirty="0">
                          <a:latin typeface="微软雅黑"/>
                          <a:cs typeface="微软雅黑"/>
                        </a:rPr>
                        <a:t>A</a:t>
                      </a:r>
                      <a:r>
                        <a:rPr sz="2400" b="1" spc="-55" dirty="0">
                          <a:latin typeface="微软雅黑"/>
                          <a:cs typeface="微软雅黑"/>
                        </a:rPr>
                        <a:t>R</a:t>
                      </a:r>
                      <a:r>
                        <a:rPr sz="2400" b="1" spc="-5" dirty="0">
                          <a:latin typeface="微软雅黑"/>
                          <a:cs typeface="微软雅黑"/>
                        </a:rPr>
                        <a:t>T_RxCpltC</a:t>
                      </a:r>
                      <a:r>
                        <a:rPr sz="2400" b="1" spc="10" dirty="0">
                          <a:latin typeface="微软雅黑"/>
                          <a:cs typeface="微软雅黑"/>
                        </a:rPr>
                        <a:t>a</a:t>
                      </a:r>
                      <a:r>
                        <a:rPr sz="2400" b="1" dirty="0">
                          <a:latin typeface="微软雅黑"/>
                          <a:cs typeface="微软雅黑"/>
                        </a:rPr>
                        <a:t>ll</a:t>
                      </a:r>
                      <a:r>
                        <a:rPr sz="2400" b="1" spc="-35" dirty="0">
                          <a:latin typeface="微软雅黑"/>
                          <a:cs typeface="微软雅黑"/>
                        </a:rPr>
                        <a:t>b</a:t>
                      </a:r>
                      <a:r>
                        <a:rPr sz="2400" b="1" dirty="0">
                          <a:latin typeface="微软雅黑"/>
                          <a:cs typeface="微软雅黑"/>
                        </a:rPr>
                        <a:t>ack</a:t>
                      </a:r>
                      <a:r>
                        <a:rPr sz="2400" b="1" spc="-5" dirty="0">
                          <a:latin typeface="微软雅黑"/>
                          <a:cs typeface="微软雅黑"/>
                        </a:rPr>
                        <a:t>进行后续处理</a:t>
                      </a:r>
                      <a:endParaRPr sz="2400">
                        <a:latin typeface="微软雅黑"/>
                        <a:cs typeface="微软雅黑"/>
                      </a:endParaRPr>
                    </a:p>
                    <a:p>
                      <a:pPr marL="53975">
                        <a:lnSpc>
                          <a:spcPts val="2865"/>
                        </a:lnSpc>
                      </a:pPr>
                      <a:r>
                        <a:rPr sz="2400" b="1" dirty="0">
                          <a:latin typeface="微软雅黑"/>
                          <a:cs typeface="微软雅黑"/>
                        </a:rPr>
                        <a:t>3.</a:t>
                      </a:r>
                      <a:r>
                        <a:rPr sz="2400" b="1" spc="-5" dirty="0">
                          <a:latin typeface="微软雅黑"/>
                          <a:cs typeface="微软雅黑"/>
                        </a:rPr>
                        <a:t> </a:t>
                      </a:r>
                      <a:r>
                        <a:rPr sz="2400" b="1" dirty="0">
                          <a:latin typeface="微软雅黑"/>
                          <a:cs typeface="微软雅黑"/>
                        </a:rPr>
                        <a:t>该函数由用户调用</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6960379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3" name="object 3"/>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4" name="object 4"/>
          <p:cNvSpPr/>
          <p:nvPr/>
        </p:nvSpPr>
        <p:spPr>
          <a:xfrm>
            <a:off x="1523" y="6470903"/>
            <a:ext cx="12190730" cy="45720"/>
          </a:xfrm>
          <a:custGeom>
            <a:avLst/>
            <a:gdLst/>
            <a:ahLst/>
            <a:cxnLst/>
            <a:rect l="l" t="t" r="r" b="b"/>
            <a:pathLst>
              <a:path w="12190730" h="45720">
                <a:moveTo>
                  <a:pt x="0" y="45719"/>
                </a:moveTo>
                <a:lnTo>
                  <a:pt x="12190476" y="45719"/>
                </a:lnTo>
                <a:lnTo>
                  <a:pt x="12190476" y="0"/>
                </a:lnTo>
                <a:lnTo>
                  <a:pt x="0" y="0"/>
                </a:lnTo>
                <a:lnTo>
                  <a:pt x="0" y="45719"/>
                </a:lnTo>
              </a:path>
            </a:pathLst>
          </a:custGeom>
          <a:solidFill>
            <a:srgbClr val="FFE699"/>
          </a:solidFill>
        </p:spPr>
        <p:txBody>
          <a:bodyPr wrap="square" lIns="0" tIns="0" rIns="0" bIns="0" rtlCol="0"/>
          <a:lstStyle/>
          <a:p>
            <a:endParaRPr/>
          </a:p>
        </p:txBody>
      </p:sp>
      <p:sp>
        <p:nvSpPr>
          <p:cNvPr id="5" name="object 5"/>
          <p:cNvSpPr/>
          <p:nvPr/>
        </p:nvSpPr>
        <p:spPr>
          <a:xfrm>
            <a:off x="1523" y="6516623"/>
            <a:ext cx="12190730" cy="341630"/>
          </a:xfrm>
          <a:custGeom>
            <a:avLst/>
            <a:gdLst/>
            <a:ahLst/>
            <a:cxnLst/>
            <a:rect l="l" t="t" r="r" b="b"/>
            <a:pathLst>
              <a:path w="12190730" h="341629">
                <a:moveTo>
                  <a:pt x="0" y="341376"/>
                </a:moveTo>
                <a:lnTo>
                  <a:pt x="12190476" y="341376"/>
                </a:lnTo>
                <a:lnTo>
                  <a:pt x="12190476" y="0"/>
                </a:lnTo>
                <a:lnTo>
                  <a:pt x="0" y="0"/>
                </a:lnTo>
                <a:lnTo>
                  <a:pt x="0" y="341376"/>
                </a:lnTo>
              </a:path>
            </a:pathLst>
          </a:custGeom>
          <a:solidFill>
            <a:srgbClr val="E34A46"/>
          </a:solidFill>
        </p:spPr>
        <p:txBody>
          <a:bodyPr wrap="square" lIns="0" tIns="0" rIns="0" bIns="0" rtlCol="0"/>
          <a:lstStyle/>
          <a:p>
            <a:endParaRPr/>
          </a:p>
        </p:txBody>
      </p:sp>
      <p:sp>
        <p:nvSpPr>
          <p:cNvPr id="6" name="object 6"/>
          <p:cNvSpPr txBox="1">
            <a:spLocks noGrp="1"/>
          </p:cNvSpPr>
          <p:nvPr>
            <p:ph type="title"/>
          </p:nvPr>
        </p:nvSpPr>
        <p:spPr>
          <a:xfrm>
            <a:off x="2385441" y="389881"/>
            <a:ext cx="668655" cy="254000"/>
          </a:xfrm>
          <a:prstGeom prst="rect">
            <a:avLst/>
          </a:prstGeom>
        </p:spPr>
        <p:txBody>
          <a:bodyPr vert="horz" wrap="square" lIns="0" tIns="0" rIns="0" bIns="0" rtlCol="0">
            <a:spAutoFit/>
          </a:bodyPr>
          <a:lstStyle/>
          <a:p>
            <a:pPr marL="12700">
              <a:lnSpc>
                <a:spcPct val="100000"/>
              </a:lnSpc>
            </a:pPr>
            <a:r>
              <a:rPr sz="1800" spc="-45" dirty="0">
                <a:latin typeface="微软雅黑"/>
                <a:cs typeface="微软雅黑"/>
              </a:rPr>
              <a:t>U</a:t>
            </a:r>
            <a:r>
              <a:rPr sz="1800" dirty="0">
                <a:latin typeface="微软雅黑"/>
                <a:cs typeface="微软雅黑"/>
              </a:rPr>
              <a:t>A</a:t>
            </a:r>
            <a:r>
              <a:rPr sz="1800" spc="-35" dirty="0">
                <a:latin typeface="微软雅黑"/>
                <a:cs typeface="微软雅黑"/>
              </a:rPr>
              <a:t>R</a:t>
            </a:r>
            <a:r>
              <a:rPr sz="1800" dirty="0">
                <a:latin typeface="微软雅黑"/>
                <a:cs typeface="微软雅黑"/>
              </a:rPr>
              <a:t>T</a:t>
            </a:r>
            <a:endParaRPr sz="1800">
              <a:latin typeface="微软雅黑"/>
              <a:cs typeface="微软雅黑"/>
            </a:endParaRPr>
          </a:p>
        </p:txBody>
      </p:sp>
      <p:sp>
        <p:nvSpPr>
          <p:cNvPr id="8" name="object 8"/>
          <p:cNvSpPr txBox="1"/>
          <p:nvPr/>
        </p:nvSpPr>
        <p:spPr>
          <a:xfrm>
            <a:off x="1260094" y="1120196"/>
            <a:ext cx="9652635" cy="381000"/>
          </a:xfrm>
          <a:prstGeom prst="rect">
            <a:avLst/>
          </a:prstGeom>
        </p:spPr>
        <p:txBody>
          <a:bodyPr vert="horz" wrap="square" lIns="0" tIns="0" rIns="0" bIns="0" rtlCol="0">
            <a:spAutoFit/>
          </a:bodyPr>
          <a:lstStyle/>
          <a:p>
            <a:pPr marL="12700">
              <a:lnSpc>
                <a:spcPct val="100000"/>
              </a:lnSpc>
              <a:tabLst>
                <a:tab pos="443865" algn="l"/>
                <a:tab pos="5022215" algn="l"/>
              </a:tabLst>
            </a:pPr>
            <a:r>
              <a:rPr sz="2800" b="1" spc="-5" dirty="0">
                <a:latin typeface="微软雅黑"/>
                <a:cs typeface="微软雅黑"/>
              </a:rPr>
              <a:t>3	获取未传输数据个数函数</a:t>
            </a:r>
            <a:r>
              <a:rPr sz="2800" b="1" spc="-30" dirty="0">
                <a:latin typeface="微软雅黑"/>
                <a:cs typeface="微软雅黑"/>
              </a:rPr>
              <a:t>：</a:t>
            </a:r>
            <a:r>
              <a:rPr sz="2800" b="1" u="heavy" spc="-5" dirty="0">
                <a:latin typeface="微软雅黑"/>
                <a:cs typeface="微软雅黑"/>
              </a:rPr>
              <a:t> </a:t>
            </a:r>
            <a:r>
              <a:rPr sz="2800" b="1" u="heavy" dirty="0">
                <a:latin typeface="微软雅黑"/>
                <a:cs typeface="微软雅黑"/>
              </a:rPr>
              <a:t>	</a:t>
            </a:r>
            <a:r>
              <a:rPr sz="2800" b="1" spc="-10" dirty="0">
                <a:latin typeface="微软雅黑"/>
                <a:cs typeface="微软雅黑"/>
              </a:rPr>
              <a:t>HA</a:t>
            </a:r>
            <a:r>
              <a:rPr sz="2800" b="1" dirty="0">
                <a:latin typeface="微软雅黑"/>
                <a:cs typeface="微软雅黑"/>
              </a:rPr>
              <a:t>L</a:t>
            </a:r>
            <a:r>
              <a:rPr sz="2800" b="1" spc="-10" dirty="0">
                <a:latin typeface="微软雅黑"/>
                <a:cs typeface="微软雅黑"/>
              </a:rPr>
              <a:t>_</a:t>
            </a:r>
            <a:r>
              <a:rPr sz="2800" b="1" spc="-15" dirty="0">
                <a:latin typeface="微软雅黑"/>
                <a:cs typeface="微软雅黑"/>
              </a:rPr>
              <a:t>D</a:t>
            </a:r>
            <a:r>
              <a:rPr sz="2800" b="1" spc="-10" dirty="0">
                <a:latin typeface="微软雅黑"/>
                <a:cs typeface="微软雅黑"/>
              </a:rPr>
              <a:t>MA_G</a:t>
            </a:r>
            <a:r>
              <a:rPr sz="2800" b="1" spc="5" dirty="0">
                <a:latin typeface="微软雅黑"/>
                <a:cs typeface="微软雅黑"/>
              </a:rPr>
              <a:t>E</a:t>
            </a:r>
            <a:r>
              <a:rPr sz="2800" b="1" spc="-10" dirty="0">
                <a:latin typeface="微软雅黑"/>
                <a:cs typeface="微软雅黑"/>
              </a:rPr>
              <a:t>T_</a:t>
            </a:r>
            <a:r>
              <a:rPr sz="2800" b="1" spc="-40" dirty="0">
                <a:latin typeface="微软雅黑"/>
                <a:cs typeface="微软雅黑"/>
              </a:rPr>
              <a:t>C</a:t>
            </a:r>
            <a:r>
              <a:rPr sz="2800" b="1" spc="-10" dirty="0">
                <a:latin typeface="微软雅黑"/>
                <a:cs typeface="微软雅黑"/>
              </a:rPr>
              <a:t>OU</a:t>
            </a:r>
            <a:r>
              <a:rPr sz="2800" b="1" dirty="0">
                <a:latin typeface="微软雅黑"/>
                <a:cs typeface="微软雅黑"/>
              </a:rPr>
              <a:t>N</a:t>
            </a:r>
            <a:r>
              <a:rPr sz="2800" b="1" spc="-10" dirty="0">
                <a:latin typeface="微软雅黑"/>
                <a:cs typeface="微软雅黑"/>
              </a:rPr>
              <a:t>TER</a:t>
            </a:r>
            <a:endParaRPr sz="2800">
              <a:latin typeface="微软雅黑"/>
              <a:cs typeface="微软雅黑"/>
            </a:endParaRPr>
          </a:p>
        </p:txBody>
      </p:sp>
      <p:graphicFrame>
        <p:nvGraphicFramePr>
          <p:cNvPr id="7" name="object 7"/>
          <p:cNvGraphicFramePr>
            <a:graphicFrameLocks noGrp="1"/>
          </p:cNvGraphicFramePr>
          <p:nvPr/>
        </p:nvGraphicFramePr>
        <p:xfrm>
          <a:off x="597725" y="2038032"/>
          <a:ext cx="10967973" cy="4016766"/>
        </p:xfrm>
        <a:graphic>
          <a:graphicData uri="http://schemas.openxmlformats.org/drawingml/2006/table">
            <a:tbl>
              <a:tblPr firstRow="1" bandRow="1">
                <a:tableStyleId>{2D5ABB26-0587-4C30-8999-92F81FD0307C}</a:tableStyleId>
              </a:tblPr>
              <a:tblGrid>
                <a:gridCol w="1482725">
                  <a:extLst>
                    <a:ext uri="{9D8B030D-6E8A-4147-A177-3AD203B41FA5}">
                      <a16:colId xmlns:a16="http://schemas.microsoft.com/office/drawing/2014/main" val="20000"/>
                    </a:ext>
                  </a:extLst>
                </a:gridCol>
                <a:gridCol w="9485248">
                  <a:extLst>
                    <a:ext uri="{9D8B030D-6E8A-4147-A177-3AD203B41FA5}">
                      <a16:colId xmlns:a16="http://schemas.microsoft.com/office/drawing/2014/main" val="20001"/>
                    </a:ext>
                  </a:extLst>
                </a:gridCol>
              </a:tblGrid>
              <a:tr h="501650">
                <a:tc gridSpan="2">
                  <a:txBody>
                    <a:bodyPr/>
                    <a:lstStyle/>
                    <a:p>
                      <a:pPr marL="2587625">
                        <a:lnSpc>
                          <a:spcPct val="100000"/>
                        </a:lnSpc>
                        <a:tabLst>
                          <a:tab pos="4385945" algn="l"/>
                        </a:tabLst>
                      </a:pPr>
                      <a:r>
                        <a:rPr sz="2400" b="1" dirty="0">
                          <a:solidFill>
                            <a:srgbClr val="FFFFFF"/>
                          </a:solidFill>
                          <a:latin typeface="微软雅黑"/>
                          <a:cs typeface="微软雅黑"/>
                        </a:rPr>
                        <a:t>接口函数：</a:t>
                      </a:r>
                      <a:r>
                        <a:rPr sz="2400" u="heavy" dirty="0">
                          <a:solidFill>
                            <a:srgbClr val="FFFFFF"/>
                          </a:solidFill>
                          <a:latin typeface="Times New Roman"/>
                          <a:cs typeface="Times New Roman"/>
                        </a:rPr>
                        <a:t> 	</a:t>
                      </a:r>
                      <a:r>
                        <a:rPr sz="2400" b="1" spc="-5" dirty="0">
                          <a:solidFill>
                            <a:srgbClr val="FFFFFF"/>
                          </a:solidFill>
                          <a:latin typeface="微软雅黑"/>
                          <a:cs typeface="微软雅黑"/>
                        </a:rPr>
                        <a:t>H</a:t>
                      </a:r>
                      <a:r>
                        <a:rPr sz="2400" b="1" spc="-10" dirty="0">
                          <a:solidFill>
                            <a:srgbClr val="FFFFFF"/>
                          </a:solidFill>
                          <a:latin typeface="微软雅黑"/>
                          <a:cs typeface="微软雅黑"/>
                        </a:rPr>
                        <a:t>A</a:t>
                      </a:r>
                      <a:r>
                        <a:rPr sz="2400" b="1" dirty="0">
                          <a:solidFill>
                            <a:srgbClr val="FFFFFF"/>
                          </a:solidFill>
                          <a:latin typeface="微软雅黑"/>
                          <a:cs typeface="微软雅黑"/>
                        </a:rPr>
                        <a:t>L_DMA_G</a:t>
                      </a:r>
                      <a:r>
                        <a:rPr sz="2400" b="1" spc="10" dirty="0">
                          <a:solidFill>
                            <a:srgbClr val="FFFFFF"/>
                          </a:solidFill>
                          <a:latin typeface="微软雅黑"/>
                          <a:cs typeface="微软雅黑"/>
                        </a:rPr>
                        <a:t>E</a:t>
                      </a:r>
                      <a:r>
                        <a:rPr sz="2400" b="1" spc="-5" dirty="0">
                          <a:solidFill>
                            <a:srgbClr val="FFFFFF"/>
                          </a:solidFill>
                          <a:latin typeface="微软雅黑"/>
                          <a:cs typeface="微软雅黑"/>
                        </a:rPr>
                        <a:t>T_</a:t>
                      </a:r>
                      <a:r>
                        <a:rPr sz="2400" b="1" spc="-30" dirty="0">
                          <a:solidFill>
                            <a:srgbClr val="FFFFFF"/>
                          </a:solidFill>
                          <a:latin typeface="微软雅黑"/>
                          <a:cs typeface="微软雅黑"/>
                        </a:rPr>
                        <a:t>C</a:t>
                      </a:r>
                      <a:r>
                        <a:rPr sz="2400" b="1" spc="-5" dirty="0">
                          <a:solidFill>
                            <a:srgbClr val="FFFFFF"/>
                          </a:solidFill>
                          <a:latin typeface="微软雅黑"/>
                          <a:cs typeface="微软雅黑"/>
                        </a:rPr>
                        <a:t>OUNTER</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tc hMerge="1">
                  <a:txBody>
                    <a:bodyPr/>
                    <a:lstStyle/>
                    <a:p>
                      <a:endParaRPr/>
                    </a:p>
                  </a:txBody>
                  <a:tcPr marL="0" marR="0" marT="0" marB="0"/>
                </a:tc>
                <a:extLst>
                  <a:ext uri="{0D108BD9-81ED-4DB2-BD59-A6C34878D82A}">
                    <a16:rowId xmlns:a16="http://schemas.microsoft.com/office/drawing/2014/main" val="10000"/>
                  </a:ext>
                </a:extLst>
              </a:tr>
              <a:tr h="634618">
                <a:tc>
                  <a:txBody>
                    <a:bodyPr/>
                    <a:lstStyle/>
                    <a:p>
                      <a:pPr marL="116839">
                        <a:lnSpc>
                          <a:spcPct val="100000"/>
                        </a:lnSpc>
                      </a:pPr>
                      <a:r>
                        <a:rPr sz="2400" b="1" spc="-5" dirty="0">
                          <a:latin typeface="微软雅黑"/>
                          <a:cs typeface="微软雅黑"/>
                        </a:rPr>
                        <a:t>函数原型</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ct val="100000"/>
                        </a:lnSpc>
                        <a:tabLst>
                          <a:tab pos="328295" algn="l"/>
                          <a:tab pos="6280785" algn="l"/>
                        </a:tabLst>
                      </a:pPr>
                      <a:r>
                        <a:rPr sz="2400" u="heavy" dirty="0">
                          <a:latin typeface="Times New Roman"/>
                          <a:cs typeface="Times New Roman"/>
                        </a:rPr>
                        <a:t> 	</a:t>
                      </a:r>
                      <a:r>
                        <a:rPr sz="2400" b="1" spc="-5" dirty="0">
                          <a:latin typeface="微软雅黑"/>
                          <a:cs typeface="微软雅黑"/>
                        </a:rPr>
                        <a:t>HA</a:t>
                      </a:r>
                      <a:r>
                        <a:rPr sz="2400" b="1" spc="-15" dirty="0">
                          <a:latin typeface="微软雅黑"/>
                          <a:cs typeface="微软雅黑"/>
                        </a:rPr>
                        <a:t>L</a:t>
                      </a:r>
                      <a:r>
                        <a:rPr sz="2400" b="1" spc="-5" dirty="0">
                          <a:latin typeface="微软雅黑"/>
                          <a:cs typeface="微软雅黑"/>
                        </a:rPr>
                        <a:t>_DMA_G</a:t>
                      </a:r>
                      <a:r>
                        <a:rPr sz="2400" b="1" spc="20" dirty="0">
                          <a:latin typeface="微软雅黑"/>
                          <a:cs typeface="微软雅黑"/>
                        </a:rPr>
                        <a:t>E</a:t>
                      </a:r>
                      <a:r>
                        <a:rPr sz="2400" b="1" spc="-5" dirty="0">
                          <a:latin typeface="微软雅黑"/>
                          <a:cs typeface="微软雅黑"/>
                        </a:rPr>
                        <a:t>T_</a:t>
                      </a:r>
                      <a:r>
                        <a:rPr sz="2400" b="1" spc="-35" dirty="0">
                          <a:latin typeface="微软雅黑"/>
                          <a:cs typeface="微软雅黑"/>
                        </a:rPr>
                        <a:t>C</a:t>
                      </a:r>
                      <a:r>
                        <a:rPr sz="2400" b="1" spc="-5" dirty="0">
                          <a:latin typeface="微软雅黑"/>
                          <a:cs typeface="微软雅黑"/>
                        </a:rPr>
                        <a:t>OU</a:t>
                      </a:r>
                      <a:r>
                        <a:rPr sz="2400" b="1" spc="5" dirty="0">
                          <a:latin typeface="微软雅黑"/>
                          <a:cs typeface="微软雅黑"/>
                        </a:rPr>
                        <a:t>N</a:t>
                      </a:r>
                      <a:r>
                        <a:rPr sz="2400" b="1" spc="-5" dirty="0">
                          <a:latin typeface="微软雅黑"/>
                          <a:cs typeface="微软雅黑"/>
                        </a:rPr>
                        <a:t>T</a:t>
                      </a:r>
                      <a:r>
                        <a:rPr sz="2400" b="1" spc="-10" dirty="0">
                          <a:latin typeface="微软雅黑"/>
                          <a:cs typeface="微软雅黑"/>
                        </a:rPr>
                        <a:t>E</a:t>
                      </a:r>
                      <a:r>
                        <a:rPr sz="2400" b="1" spc="-5" dirty="0">
                          <a:latin typeface="微软雅黑"/>
                          <a:cs typeface="微软雅黑"/>
                        </a:rPr>
                        <a:t>R(</a:t>
                      </a:r>
                      <a:r>
                        <a:rPr sz="2400" b="1" spc="5" dirty="0">
                          <a:latin typeface="微软雅黑"/>
                          <a:cs typeface="微软雅黑"/>
                        </a:rPr>
                        <a:t>_</a:t>
                      </a:r>
                      <a:r>
                        <a:rPr sz="2400" b="1" spc="-5" dirty="0">
                          <a:latin typeface="微软雅黑"/>
                          <a:cs typeface="微软雅黑"/>
                        </a:rPr>
                        <a:t>_HANDL</a:t>
                      </a:r>
                      <a:r>
                        <a:rPr sz="2400" b="1" dirty="0">
                          <a:latin typeface="微软雅黑"/>
                          <a:cs typeface="微软雅黑"/>
                        </a:rPr>
                        <a:t>E</a:t>
                      </a:r>
                      <a:r>
                        <a:rPr sz="2400" b="1" u="heavy" dirty="0">
                          <a:latin typeface="微软雅黑"/>
                          <a:cs typeface="微软雅黑"/>
                        </a:rPr>
                        <a:t> 	</a:t>
                      </a:r>
                      <a:r>
                        <a:rPr sz="2400" b="1" dirty="0">
                          <a:latin typeface="微软雅黑"/>
                          <a:cs typeface="微软雅黑"/>
                        </a:rPr>
                        <a:t>)</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1"/>
                  </a:ext>
                </a:extLst>
              </a:tr>
              <a:tr h="828675">
                <a:tc>
                  <a:txBody>
                    <a:bodyPr/>
                    <a:lstStyle/>
                    <a:p>
                      <a:pPr marL="116839">
                        <a:lnSpc>
                          <a:spcPct val="100000"/>
                        </a:lnSpc>
                      </a:pPr>
                      <a:r>
                        <a:rPr sz="2400" b="1" spc="-5" dirty="0">
                          <a:latin typeface="微软雅黑"/>
                          <a:cs typeface="微软雅黑"/>
                        </a:rPr>
                        <a:t>功能描述</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3975">
                        <a:lnSpc>
                          <a:spcPct val="100000"/>
                        </a:lnSpc>
                      </a:pPr>
                      <a:r>
                        <a:rPr sz="2400" b="1" dirty="0">
                          <a:latin typeface="微软雅黑"/>
                          <a:cs typeface="微软雅黑"/>
                        </a:rPr>
                        <a:t>获</a:t>
                      </a:r>
                      <a:r>
                        <a:rPr sz="2400" b="1" spc="-5" dirty="0">
                          <a:latin typeface="微软雅黑"/>
                          <a:cs typeface="微软雅黑"/>
                        </a:rPr>
                        <a:t>取</a:t>
                      </a:r>
                      <a:r>
                        <a:rPr sz="2400" b="1" dirty="0">
                          <a:latin typeface="微软雅黑"/>
                          <a:cs typeface="微软雅黑"/>
                        </a:rPr>
                        <a:t>DM</a:t>
                      </a:r>
                      <a:r>
                        <a:rPr sz="2400" b="1" spc="-15" dirty="0">
                          <a:latin typeface="微软雅黑"/>
                          <a:cs typeface="微软雅黑"/>
                        </a:rPr>
                        <a:t>A</a:t>
                      </a:r>
                      <a:r>
                        <a:rPr sz="2400" b="1" spc="-5" dirty="0">
                          <a:latin typeface="微软雅黑"/>
                          <a:cs typeface="微软雅黑"/>
                        </a:rPr>
                        <a:t>数据流中未传输数据的个数</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r h="546988">
                <a:tc>
                  <a:txBody>
                    <a:bodyPr/>
                    <a:lstStyle/>
                    <a:p>
                      <a:pPr marL="421640">
                        <a:lnSpc>
                          <a:spcPct val="100000"/>
                        </a:lnSpc>
                      </a:pPr>
                      <a:r>
                        <a:rPr sz="2400" b="1" dirty="0">
                          <a:latin typeface="微软雅黑"/>
                          <a:cs typeface="微软雅黑"/>
                        </a:rPr>
                        <a:t>参数</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ct val="100000"/>
                        </a:lnSpc>
                        <a:tabLst>
                          <a:tab pos="328295" algn="l"/>
                          <a:tab pos="1921510" algn="l"/>
                        </a:tabLst>
                      </a:pPr>
                      <a:r>
                        <a:rPr sz="2400" u="heavy" dirty="0">
                          <a:latin typeface="Times New Roman"/>
                          <a:cs typeface="Times New Roman"/>
                        </a:rPr>
                        <a:t> 	</a:t>
                      </a:r>
                      <a:r>
                        <a:rPr sz="2400" b="1" spc="-5" dirty="0">
                          <a:latin typeface="微软雅黑"/>
                          <a:cs typeface="微软雅黑"/>
                        </a:rPr>
                        <a:t>HANDL</a:t>
                      </a:r>
                      <a:r>
                        <a:rPr sz="2400" b="1" dirty="0">
                          <a:latin typeface="微软雅黑"/>
                          <a:cs typeface="微软雅黑"/>
                        </a:rPr>
                        <a:t>E</a:t>
                      </a:r>
                      <a:r>
                        <a:rPr sz="2400" b="1" u="heavy" dirty="0">
                          <a:latin typeface="微软雅黑"/>
                          <a:cs typeface="微软雅黑"/>
                        </a:rPr>
                        <a:t> 	</a:t>
                      </a:r>
                      <a:r>
                        <a:rPr sz="2400" b="1" dirty="0">
                          <a:latin typeface="微软雅黑"/>
                          <a:cs typeface="微软雅黑"/>
                        </a:rPr>
                        <a:t>：串口句柄的地址</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3"/>
                  </a:ext>
                </a:extLst>
              </a:tr>
              <a:tr h="501650">
                <a:tc>
                  <a:txBody>
                    <a:bodyPr/>
                    <a:lstStyle/>
                    <a:p>
                      <a:pPr marL="269240">
                        <a:lnSpc>
                          <a:spcPct val="100000"/>
                        </a:lnSpc>
                      </a:pPr>
                      <a:r>
                        <a:rPr sz="2400" b="1" dirty="0">
                          <a:latin typeface="微软雅黑"/>
                          <a:cs typeface="微软雅黑"/>
                        </a:rPr>
                        <a:t>返回值</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3975">
                        <a:lnSpc>
                          <a:spcPct val="100000"/>
                        </a:lnSpc>
                      </a:pPr>
                      <a:r>
                        <a:rPr sz="2400" b="1" dirty="0">
                          <a:latin typeface="微软雅黑"/>
                          <a:cs typeface="微软雅黑"/>
                        </a:rPr>
                        <a:t>N</a:t>
                      </a:r>
                      <a:r>
                        <a:rPr sz="2400" b="1" spc="-100" dirty="0">
                          <a:latin typeface="微软雅黑"/>
                          <a:cs typeface="微软雅黑"/>
                        </a:rPr>
                        <a:t>D</a:t>
                      </a:r>
                      <a:r>
                        <a:rPr sz="2400" b="1" spc="-5" dirty="0">
                          <a:latin typeface="微软雅黑"/>
                          <a:cs typeface="微软雅黑"/>
                        </a:rPr>
                        <a:t>T</a:t>
                      </a:r>
                      <a:r>
                        <a:rPr sz="2400" b="1" dirty="0">
                          <a:latin typeface="微软雅黑"/>
                          <a:cs typeface="微软雅黑"/>
                        </a:rPr>
                        <a:t>R寄存器的内容，即DM</a:t>
                      </a:r>
                      <a:r>
                        <a:rPr sz="2400" b="1" spc="-10" dirty="0">
                          <a:latin typeface="微软雅黑"/>
                          <a:cs typeface="微软雅黑"/>
                        </a:rPr>
                        <a:t>A</a:t>
                      </a:r>
                      <a:r>
                        <a:rPr sz="2400" b="1" dirty="0">
                          <a:latin typeface="微软雅黑"/>
                          <a:cs typeface="微软雅黑"/>
                        </a:rPr>
                        <a:t>数据流中无传输数据的个数</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4"/>
                  </a:ext>
                </a:extLst>
              </a:tr>
              <a:tr h="1003185">
                <a:tc>
                  <a:txBody>
                    <a:bodyPr/>
                    <a:lstStyle/>
                    <a:p>
                      <a:pPr marL="116839">
                        <a:lnSpc>
                          <a:spcPct val="100000"/>
                        </a:lnSpc>
                      </a:pPr>
                      <a:r>
                        <a:rPr sz="2400" b="1" spc="-5" dirty="0">
                          <a:latin typeface="微软雅黑"/>
                          <a:cs typeface="微软雅黑"/>
                        </a:rPr>
                        <a:t>注意事项</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ct val="100000"/>
                        </a:lnSpc>
                      </a:pPr>
                      <a:r>
                        <a:rPr sz="2400" b="1" dirty="0">
                          <a:latin typeface="微软雅黑"/>
                          <a:cs typeface="微软雅黑"/>
                        </a:rPr>
                        <a:t>1. 该函数是宏函数，进行宏替换，不发生函数调用</a:t>
                      </a:r>
                      <a:endParaRPr sz="2400">
                        <a:latin typeface="微软雅黑"/>
                        <a:cs typeface="微软雅黑"/>
                      </a:endParaRPr>
                    </a:p>
                    <a:p>
                      <a:pPr marL="53975">
                        <a:lnSpc>
                          <a:spcPct val="100000"/>
                        </a:lnSpc>
                      </a:pPr>
                      <a:r>
                        <a:rPr sz="2400" b="1" dirty="0">
                          <a:latin typeface="微软雅黑"/>
                          <a:cs typeface="微软雅黑"/>
                        </a:rPr>
                        <a:t>2.</a:t>
                      </a:r>
                      <a:r>
                        <a:rPr sz="2400" b="1" spc="-5" dirty="0">
                          <a:latin typeface="微软雅黑"/>
                          <a:cs typeface="微软雅黑"/>
                        </a:rPr>
                        <a:t> 该函数需要由用户调用，用于获取未传输数据的个数</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52576197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3" name="object 3"/>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4" name="object 4"/>
          <p:cNvSpPr/>
          <p:nvPr/>
        </p:nvSpPr>
        <p:spPr>
          <a:xfrm>
            <a:off x="1523" y="6470903"/>
            <a:ext cx="12190730" cy="45720"/>
          </a:xfrm>
          <a:custGeom>
            <a:avLst/>
            <a:gdLst/>
            <a:ahLst/>
            <a:cxnLst/>
            <a:rect l="l" t="t" r="r" b="b"/>
            <a:pathLst>
              <a:path w="12190730" h="45720">
                <a:moveTo>
                  <a:pt x="0" y="45719"/>
                </a:moveTo>
                <a:lnTo>
                  <a:pt x="12190476" y="45719"/>
                </a:lnTo>
                <a:lnTo>
                  <a:pt x="12190476" y="0"/>
                </a:lnTo>
                <a:lnTo>
                  <a:pt x="0" y="0"/>
                </a:lnTo>
                <a:lnTo>
                  <a:pt x="0" y="45719"/>
                </a:lnTo>
              </a:path>
            </a:pathLst>
          </a:custGeom>
          <a:solidFill>
            <a:srgbClr val="FFE699"/>
          </a:solidFill>
        </p:spPr>
        <p:txBody>
          <a:bodyPr wrap="square" lIns="0" tIns="0" rIns="0" bIns="0" rtlCol="0"/>
          <a:lstStyle/>
          <a:p>
            <a:endParaRPr/>
          </a:p>
        </p:txBody>
      </p:sp>
      <p:sp>
        <p:nvSpPr>
          <p:cNvPr id="5" name="object 5"/>
          <p:cNvSpPr/>
          <p:nvPr/>
        </p:nvSpPr>
        <p:spPr>
          <a:xfrm>
            <a:off x="1523" y="6516623"/>
            <a:ext cx="12190730" cy="341630"/>
          </a:xfrm>
          <a:custGeom>
            <a:avLst/>
            <a:gdLst/>
            <a:ahLst/>
            <a:cxnLst/>
            <a:rect l="l" t="t" r="r" b="b"/>
            <a:pathLst>
              <a:path w="12190730" h="341629">
                <a:moveTo>
                  <a:pt x="0" y="341376"/>
                </a:moveTo>
                <a:lnTo>
                  <a:pt x="12190476" y="341376"/>
                </a:lnTo>
                <a:lnTo>
                  <a:pt x="12190476" y="0"/>
                </a:lnTo>
                <a:lnTo>
                  <a:pt x="0" y="0"/>
                </a:lnTo>
                <a:lnTo>
                  <a:pt x="0" y="341376"/>
                </a:lnTo>
              </a:path>
            </a:pathLst>
          </a:custGeom>
          <a:solidFill>
            <a:srgbClr val="E34A46"/>
          </a:solidFill>
        </p:spPr>
        <p:txBody>
          <a:bodyPr wrap="square" lIns="0" tIns="0" rIns="0" bIns="0" rtlCol="0"/>
          <a:lstStyle/>
          <a:p>
            <a:endParaRPr/>
          </a:p>
        </p:txBody>
      </p:sp>
      <p:sp>
        <p:nvSpPr>
          <p:cNvPr id="6" name="object 6"/>
          <p:cNvSpPr txBox="1">
            <a:spLocks noGrp="1"/>
          </p:cNvSpPr>
          <p:nvPr>
            <p:ph type="title"/>
          </p:nvPr>
        </p:nvSpPr>
        <p:spPr>
          <a:xfrm>
            <a:off x="2385441" y="389881"/>
            <a:ext cx="668655" cy="254000"/>
          </a:xfrm>
          <a:prstGeom prst="rect">
            <a:avLst/>
          </a:prstGeom>
        </p:spPr>
        <p:txBody>
          <a:bodyPr vert="horz" wrap="square" lIns="0" tIns="0" rIns="0" bIns="0" rtlCol="0">
            <a:spAutoFit/>
          </a:bodyPr>
          <a:lstStyle/>
          <a:p>
            <a:pPr marL="12700">
              <a:lnSpc>
                <a:spcPct val="100000"/>
              </a:lnSpc>
            </a:pPr>
            <a:r>
              <a:rPr sz="1800" spc="-45" dirty="0">
                <a:latin typeface="微软雅黑"/>
                <a:cs typeface="微软雅黑"/>
              </a:rPr>
              <a:t>U</a:t>
            </a:r>
            <a:r>
              <a:rPr sz="1800" dirty="0">
                <a:latin typeface="微软雅黑"/>
                <a:cs typeface="微软雅黑"/>
              </a:rPr>
              <a:t>A</a:t>
            </a:r>
            <a:r>
              <a:rPr sz="1800" spc="-35" dirty="0">
                <a:latin typeface="微软雅黑"/>
                <a:cs typeface="微软雅黑"/>
              </a:rPr>
              <a:t>R</a:t>
            </a:r>
            <a:r>
              <a:rPr sz="1800" dirty="0">
                <a:latin typeface="微软雅黑"/>
                <a:cs typeface="微软雅黑"/>
              </a:rPr>
              <a:t>T</a:t>
            </a:r>
            <a:endParaRPr sz="1800">
              <a:latin typeface="微软雅黑"/>
              <a:cs typeface="微软雅黑"/>
            </a:endParaRPr>
          </a:p>
        </p:txBody>
      </p:sp>
      <p:sp>
        <p:nvSpPr>
          <p:cNvPr id="8" name="object 8"/>
          <p:cNvSpPr txBox="1"/>
          <p:nvPr/>
        </p:nvSpPr>
        <p:spPr>
          <a:xfrm>
            <a:off x="2405888" y="1120196"/>
            <a:ext cx="7321550" cy="381000"/>
          </a:xfrm>
          <a:prstGeom prst="rect">
            <a:avLst/>
          </a:prstGeom>
        </p:spPr>
        <p:txBody>
          <a:bodyPr vert="horz" wrap="square" lIns="0" tIns="0" rIns="0" bIns="0" rtlCol="0">
            <a:spAutoFit/>
          </a:bodyPr>
          <a:lstStyle/>
          <a:p>
            <a:pPr marL="12700">
              <a:lnSpc>
                <a:spcPct val="100000"/>
              </a:lnSpc>
              <a:tabLst>
                <a:tab pos="443865" algn="l"/>
                <a:tab pos="3804285" algn="l"/>
              </a:tabLst>
            </a:pPr>
            <a:r>
              <a:rPr sz="2800" b="1" spc="-5" dirty="0">
                <a:latin typeface="微软雅黑"/>
                <a:cs typeface="微软雅黑"/>
              </a:rPr>
              <a:t>4	关闭DM</a:t>
            </a:r>
            <a:r>
              <a:rPr sz="2800" b="1" spc="-10" dirty="0">
                <a:latin typeface="微软雅黑"/>
                <a:cs typeface="微软雅黑"/>
              </a:rPr>
              <a:t>A</a:t>
            </a:r>
            <a:r>
              <a:rPr sz="2800" b="1" spc="-5" dirty="0">
                <a:latin typeface="微软雅黑"/>
                <a:cs typeface="微软雅黑"/>
              </a:rPr>
              <a:t>数据流：</a:t>
            </a:r>
            <a:r>
              <a:rPr sz="2800" b="1" u="heavy" spc="-5" dirty="0">
                <a:latin typeface="微软雅黑"/>
                <a:cs typeface="微软雅黑"/>
              </a:rPr>
              <a:t> </a:t>
            </a:r>
            <a:r>
              <a:rPr sz="2800" b="1" u="heavy" dirty="0">
                <a:latin typeface="微软雅黑"/>
                <a:cs typeface="微软雅黑"/>
              </a:rPr>
              <a:t>	</a:t>
            </a:r>
            <a:r>
              <a:rPr sz="2800" b="1" spc="-10" dirty="0">
                <a:latin typeface="微软雅黑"/>
                <a:cs typeface="微软雅黑"/>
              </a:rPr>
              <a:t>HA</a:t>
            </a:r>
            <a:r>
              <a:rPr sz="2800" b="1" spc="-15" dirty="0">
                <a:latin typeface="微软雅黑"/>
                <a:cs typeface="微软雅黑"/>
              </a:rPr>
              <a:t>L</a:t>
            </a:r>
            <a:r>
              <a:rPr sz="2800" b="1" spc="-10" dirty="0">
                <a:latin typeface="微软雅黑"/>
                <a:cs typeface="微软雅黑"/>
              </a:rPr>
              <a:t>_</a:t>
            </a:r>
            <a:r>
              <a:rPr sz="2800" b="1" spc="-15" dirty="0">
                <a:latin typeface="微软雅黑"/>
                <a:cs typeface="微软雅黑"/>
              </a:rPr>
              <a:t>D</a:t>
            </a:r>
            <a:r>
              <a:rPr sz="2800" b="1" spc="-10" dirty="0">
                <a:latin typeface="微软雅黑"/>
                <a:cs typeface="微软雅黑"/>
              </a:rPr>
              <a:t>MA_DISAB</a:t>
            </a:r>
            <a:r>
              <a:rPr sz="2800" b="1" spc="5" dirty="0">
                <a:latin typeface="微软雅黑"/>
                <a:cs typeface="微软雅黑"/>
              </a:rPr>
              <a:t>L</a:t>
            </a:r>
            <a:r>
              <a:rPr sz="2800" b="1" spc="-5" dirty="0">
                <a:latin typeface="微软雅黑"/>
                <a:cs typeface="微软雅黑"/>
              </a:rPr>
              <a:t>E</a:t>
            </a:r>
            <a:endParaRPr sz="2800">
              <a:latin typeface="微软雅黑"/>
              <a:cs typeface="微软雅黑"/>
            </a:endParaRPr>
          </a:p>
        </p:txBody>
      </p:sp>
      <p:graphicFrame>
        <p:nvGraphicFramePr>
          <p:cNvPr id="7" name="object 7"/>
          <p:cNvGraphicFramePr>
            <a:graphicFrameLocks noGrp="1"/>
          </p:cNvGraphicFramePr>
          <p:nvPr/>
        </p:nvGraphicFramePr>
        <p:xfrm>
          <a:off x="597725" y="1900745"/>
          <a:ext cx="10967973" cy="4235472"/>
        </p:xfrm>
        <a:graphic>
          <a:graphicData uri="http://schemas.openxmlformats.org/drawingml/2006/table">
            <a:tbl>
              <a:tblPr firstRow="1" bandRow="1">
                <a:tableStyleId>{2D5ABB26-0587-4C30-8999-92F81FD0307C}</a:tableStyleId>
              </a:tblPr>
              <a:tblGrid>
                <a:gridCol w="1482725">
                  <a:extLst>
                    <a:ext uri="{9D8B030D-6E8A-4147-A177-3AD203B41FA5}">
                      <a16:colId xmlns:a16="http://schemas.microsoft.com/office/drawing/2014/main" val="20000"/>
                    </a:ext>
                  </a:extLst>
                </a:gridCol>
                <a:gridCol w="9485248">
                  <a:extLst>
                    <a:ext uri="{9D8B030D-6E8A-4147-A177-3AD203B41FA5}">
                      <a16:colId xmlns:a16="http://schemas.microsoft.com/office/drawing/2014/main" val="20001"/>
                    </a:ext>
                  </a:extLst>
                </a:gridCol>
              </a:tblGrid>
              <a:tr h="547751">
                <a:tc gridSpan="2">
                  <a:txBody>
                    <a:bodyPr/>
                    <a:lstStyle/>
                    <a:p>
                      <a:pPr marL="3067685">
                        <a:lnSpc>
                          <a:spcPct val="100000"/>
                        </a:lnSpc>
                        <a:tabLst>
                          <a:tab pos="4866005" algn="l"/>
                        </a:tabLst>
                      </a:pPr>
                      <a:r>
                        <a:rPr sz="2400" b="1" dirty="0">
                          <a:solidFill>
                            <a:srgbClr val="FFFFFF"/>
                          </a:solidFill>
                          <a:latin typeface="微软雅黑"/>
                          <a:cs typeface="微软雅黑"/>
                        </a:rPr>
                        <a:t>接口函数：</a:t>
                      </a:r>
                      <a:r>
                        <a:rPr sz="2400" u="heavy" dirty="0">
                          <a:solidFill>
                            <a:srgbClr val="FFFFFF"/>
                          </a:solidFill>
                          <a:latin typeface="Times New Roman"/>
                          <a:cs typeface="Times New Roman"/>
                        </a:rPr>
                        <a:t> 	</a:t>
                      </a:r>
                      <a:r>
                        <a:rPr sz="2400" b="1" spc="-5" dirty="0">
                          <a:solidFill>
                            <a:srgbClr val="FFFFFF"/>
                          </a:solidFill>
                          <a:latin typeface="微软雅黑"/>
                          <a:cs typeface="微软雅黑"/>
                        </a:rPr>
                        <a:t>H</a:t>
                      </a:r>
                      <a:r>
                        <a:rPr sz="2400" b="1" spc="-10" dirty="0">
                          <a:solidFill>
                            <a:srgbClr val="FFFFFF"/>
                          </a:solidFill>
                          <a:latin typeface="微软雅黑"/>
                          <a:cs typeface="微软雅黑"/>
                        </a:rPr>
                        <a:t>A</a:t>
                      </a:r>
                      <a:r>
                        <a:rPr sz="2400" b="1" dirty="0">
                          <a:solidFill>
                            <a:srgbClr val="FFFFFF"/>
                          </a:solidFill>
                          <a:latin typeface="微软雅黑"/>
                          <a:cs typeface="微软雅黑"/>
                        </a:rPr>
                        <a:t>L_DMA_DI</a:t>
                      </a:r>
                      <a:r>
                        <a:rPr sz="2400" b="1" spc="-15" dirty="0">
                          <a:solidFill>
                            <a:srgbClr val="FFFFFF"/>
                          </a:solidFill>
                          <a:latin typeface="微软雅黑"/>
                          <a:cs typeface="微软雅黑"/>
                        </a:rPr>
                        <a:t>S</a:t>
                      </a:r>
                      <a:r>
                        <a:rPr sz="2400" b="1" dirty="0">
                          <a:solidFill>
                            <a:srgbClr val="FFFFFF"/>
                          </a:solidFill>
                          <a:latin typeface="微软雅黑"/>
                          <a:cs typeface="微软雅黑"/>
                        </a:rPr>
                        <a:t>AB</a:t>
                      </a:r>
                      <a:r>
                        <a:rPr sz="2400" b="1" spc="-10" dirty="0">
                          <a:solidFill>
                            <a:srgbClr val="FFFFFF"/>
                          </a:solidFill>
                          <a:latin typeface="微软雅黑"/>
                          <a:cs typeface="微软雅黑"/>
                        </a:rPr>
                        <a:t>L</a:t>
                      </a:r>
                      <a:r>
                        <a:rPr sz="2400" b="1" dirty="0">
                          <a:solidFill>
                            <a:srgbClr val="FFFFFF"/>
                          </a:solidFill>
                          <a:latin typeface="微软雅黑"/>
                          <a:cs typeface="微软雅黑"/>
                        </a:rPr>
                        <a:t>E</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tc hMerge="1">
                  <a:txBody>
                    <a:bodyPr/>
                    <a:lstStyle/>
                    <a:p>
                      <a:endParaRPr/>
                    </a:p>
                  </a:txBody>
                  <a:tcPr marL="0" marR="0" marT="0" marB="0"/>
                </a:tc>
                <a:extLst>
                  <a:ext uri="{0D108BD9-81ED-4DB2-BD59-A6C34878D82A}">
                    <a16:rowId xmlns:a16="http://schemas.microsoft.com/office/drawing/2014/main" val="10000"/>
                  </a:ext>
                </a:extLst>
              </a:tr>
              <a:tr h="693038">
                <a:tc>
                  <a:txBody>
                    <a:bodyPr/>
                    <a:lstStyle/>
                    <a:p>
                      <a:pPr marL="116839">
                        <a:lnSpc>
                          <a:spcPct val="100000"/>
                        </a:lnSpc>
                      </a:pPr>
                      <a:r>
                        <a:rPr sz="2400" b="1" dirty="0">
                          <a:latin typeface="微软雅黑"/>
                          <a:cs typeface="微软雅黑"/>
                        </a:rPr>
                        <a:t>函数原型</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ct val="100000"/>
                        </a:lnSpc>
                        <a:tabLst>
                          <a:tab pos="328295" algn="l"/>
                          <a:tab pos="3728720" algn="l"/>
                          <a:tab pos="5321300" algn="l"/>
                        </a:tabLst>
                      </a:pPr>
                      <a:r>
                        <a:rPr sz="2400" u="heavy" dirty="0">
                          <a:latin typeface="Times New Roman"/>
                          <a:cs typeface="Times New Roman"/>
                        </a:rPr>
                        <a:t> 	</a:t>
                      </a:r>
                      <a:r>
                        <a:rPr sz="2400" b="1" spc="-5" dirty="0">
                          <a:latin typeface="微软雅黑"/>
                          <a:cs typeface="微软雅黑"/>
                        </a:rPr>
                        <a:t>HAL_DMA_DISABL</a:t>
                      </a:r>
                      <a:r>
                        <a:rPr sz="2400" b="1" dirty="0">
                          <a:latin typeface="微软雅黑"/>
                          <a:cs typeface="微软雅黑"/>
                        </a:rPr>
                        <a:t>E(</a:t>
                      </a:r>
                      <a:r>
                        <a:rPr sz="2400" b="1" u="heavy" dirty="0">
                          <a:latin typeface="微软雅黑"/>
                          <a:cs typeface="微软雅黑"/>
                        </a:rPr>
                        <a:t> 	</a:t>
                      </a:r>
                      <a:r>
                        <a:rPr sz="2400" b="1" spc="-5" dirty="0">
                          <a:latin typeface="微软雅黑"/>
                          <a:cs typeface="微软雅黑"/>
                        </a:rPr>
                        <a:t>HANDL</a:t>
                      </a:r>
                      <a:r>
                        <a:rPr sz="2400" b="1" dirty="0">
                          <a:latin typeface="微软雅黑"/>
                          <a:cs typeface="微软雅黑"/>
                        </a:rPr>
                        <a:t>E</a:t>
                      </a:r>
                      <a:r>
                        <a:rPr sz="2400" b="1" u="heavy" dirty="0">
                          <a:latin typeface="微软雅黑"/>
                          <a:cs typeface="微软雅黑"/>
                        </a:rPr>
                        <a:t> 	</a:t>
                      </a:r>
                      <a:r>
                        <a:rPr sz="2400" b="1" spc="-5" dirty="0">
                          <a:latin typeface="微软雅黑"/>
                          <a:cs typeface="微软雅黑"/>
                        </a:rPr>
                        <a:t>)</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1"/>
                  </a:ext>
                </a:extLst>
              </a:tr>
              <a:tr h="730376">
                <a:tc>
                  <a:txBody>
                    <a:bodyPr/>
                    <a:lstStyle/>
                    <a:p>
                      <a:pPr marL="116839">
                        <a:lnSpc>
                          <a:spcPct val="100000"/>
                        </a:lnSpc>
                      </a:pPr>
                      <a:r>
                        <a:rPr sz="2400" b="1" dirty="0">
                          <a:latin typeface="微软雅黑"/>
                          <a:cs typeface="微软雅黑"/>
                        </a:rPr>
                        <a:t>功能描述</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3975">
                        <a:lnSpc>
                          <a:spcPct val="100000"/>
                        </a:lnSpc>
                      </a:pPr>
                      <a:r>
                        <a:rPr sz="2400" b="1" dirty="0">
                          <a:latin typeface="微软雅黑"/>
                          <a:cs typeface="微软雅黑"/>
                        </a:rPr>
                        <a:t>关闭指定</a:t>
                      </a:r>
                      <a:r>
                        <a:rPr sz="2400" b="1" spc="-10" dirty="0">
                          <a:latin typeface="微软雅黑"/>
                          <a:cs typeface="微软雅黑"/>
                        </a:rPr>
                        <a:t>的</a:t>
                      </a:r>
                      <a:r>
                        <a:rPr sz="2400" b="1" dirty="0">
                          <a:latin typeface="微软雅黑"/>
                          <a:cs typeface="微软雅黑"/>
                        </a:rPr>
                        <a:t>DM</a:t>
                      </a:r>
                      <a:r>
                        <a:rPr sz="2400" b="1" spc="-10" dirty="0">
                          <a:latin typeface="微软雅黑"/>
                          <a:cs typeface="微软雅黑"/>
                        </a:rPr>
                        <a:t>A</a:t>
                      </a:r>
                      <a:r>
                        <a:rPr sz="2400" b="1" dirty="0">
                          <a:latin typeface="微软雅黑"/>
                          <a:cs typeface="微软雅黑"/>
                        </a:rPr>
                        <a:t>数据流</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r h="597281">
                <a:tc>
                  <a:txBody>
                    <a:bodyPr/>
                    <a:lstStyle/>
                    <a:p>
                      <a:pPr marL="421640">
                        <a:lnSpc>
                          <a:spcPct val="100000"/>
                        </a:lnSpc>
                      </a:pPr>
                      <a:r>
                        <a:rPr sz="2400" b="1" dirty="0">
                          <a:latin typeface="微软雅黑"/>
                          <a:cs typeface="微软雅黑"/>
                        </a:rPr>
                        <a:t>参数</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ct val="100000"/>
                        </a:lnSpc>
                        <a:tabLst>
                          <a:tab pos="328295" algn="l"/>
                          <a:tab pos="1921510" algn="l"/>
                        </a:tabLst>
                      </a:pPr>
                      <a:r>
                        <a:rPr sz="2400" u="heavy" dirty="0">
                          <a:latin typeface="Times New Roman"/>
                          <a:cs typeface="Times New Roman"/>
                        </a:rPr>
                        <a:t> 	</a:t>
                      </a:r>
                      <a:r>
                        <a:rPr sz="2400" b="1" spc="-5" dirty="0">
                          <a:latin typeface="微软雅黑"/>
                          <a:cs typeface="微软雅黑"/>
                        </a:rPr>
                        <a:t>HANDL</a:t>
                      </a:r>
                      <a:r>
                        <a:rPr sz="2400" b="1" dirty="0">
                          <a:latin typeface="微软雅黑"/>
                          <a:cs typeface="微软雅黑"/>
                        </a:rPr>
                        <a:t>E</a:t>
                      </a:r>
                      <a:r>
                        <a:rPr sz="2400" b="1" u="heavy" dirty="0">
                          <a:latin typeface="微软雅黑"/>
                          <a:cs typeface="微软雅黑"/>
                        </a:rPr>
                        <a:t> 	</a:t>
                      </a:r>
                      <a:r>
                        <a:rPr sz="2400" b="1" dirty="0">
                          <a:latin typeface="微软雅黑"/>
                          <a:cs typeface="微软雅黑"/>
                        </a:rPr>
                        <a:t>：串口句柄的地址</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3"/>
                  </a:ext>
                </a:extLst>
              </a:tr>
              <a:tr h="468756">
                <a:tc>
                  <a:txBody>
                    <a:bodyPr/>
                    <a:lstStyle/>
                    <a:p>
                      <a:pPr marL="269240">
                        <a:lnSpc>
                          <a:spcPct val="100000"/>
                        </a:lnSpc>
                      </a:pPr>
                      <a:r>
                        <a:rPr sz="2400" b="1" dirty="0">
                          <a:latin typeface="微软雅黑"/>
                          <a:cs typeface="微软雅黑"/>
                        </a:rPr>
                        <a:t>返回值</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3975">
                        <a:lnSpc>
                          <a:spcPct val="100000"/>
                        </a:lnSpc>
                      </a:pPr>
                      <a:r>
                        <a:rPr sz="2400" b="1" dirty="0">
                          <a:latin typeface="微软雅黑"/>
                          <a:cs typeface="微软雅黑"/>
                        </a:rPr>
                        <a:t>无</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4"/>
                  </a:ext>
                </a:extLst>
              </a:tr>
              <a:tr h="1198270">
                <a:tc>
                  <a:txBody>
                    <a:bodyPr/>
                    <a:lstStyle/>
                    <a:p>
                      <a:pPr marL="116839">
                        <a:lnSpc>
                          <a:spcPct val="100000"/>
                        </a:lnSpc>
                      </a:pPr>
                      <a:r>
                        <a:rPr sz="2400" b="1" spc="-5" dirty="0">
                          <a:latin typeface="微软雅黑"/>
                          <a:cs typeface="微软雅黑"/>
                        </a:rPr>
                        <a:t>注意事项</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ct val="100000"/>
                        </a:lnSpc>
                      </a:pPr>
                      <a:r>
                        <a:rPr sz="2400" b="1" dirty="0">
                          <a:latin typeface="微软雅黑"/>
                          <a:cs typeface="微软雅黑"/>
                        </a:rPr>
                        <a:t>1. 该函数是宏函数，进行宏替换，不发生函数调用</a:t>
                      </a:r>
                      <a:endParaRPr sz="2400">
                        <a:latin typeface="微软雅黑"/>
                        <a:cs typeface="微软雅黑"/>
                      </a:endParaRPr>
                    </a:p>
                    <a:p>
                      <a:pPr marL="53975">
                        <a:lnSpc>
                          <a:spcPct val="100000"/>
                        </a:lnSpc>
                      </a:pPr>
                      <a:r>
                        <a:rPr sz="2400" b="1" dirty="0">
                          <a:latin typeface="微软雅黑"/>
                          <a:cs typeface="微软雅黑"/>
                        </a:rPr>
                        <a:t>2.</a:t>
                      </a:r>
                      <a:r>
                        <a:rPr sz="2400" b="1" spc="-5" dirty="0">
                          <a:latin typeface="微软雅黑"/>
                          <a:cs typeface="微软雅黑"/>
                        </a:rPr>
                        <a:t> 该函数需要由用户调用，用于关闭指定的</a:t>
                      </a:r>
                      <a:r>
                        <a:rPr sz="2400" b="1" dirty="0">
                          <a:latin typeface="微软雅黑"/>
                          <a:cs typeface="微软雅黑"/>
                        </a:rPr>
                        <a:t>DM</a:t>
                      </a:r>
                      <a:r>
                        <a:rPr sz="2400" b="1" spc="-15" dirty="0">
                          <a:latin typeface="微软雅黑"/>
                          <a:cs typeface="微软雅黑"/>
                        </a:rPr>
                        <a:t>A</a:t>
                      </a:r>
                      <a:r>
                        <a:rPr sz="2400" b="1" dirty="0">
                          <a:latin typeface="微软雅黑"/>
                          <a:cs typeface="微软雅黑"/>
                        </a:rPr>
                        <a:t>数据流</a:t>
                      </a:r>
                      <a:endParaRPr sz="2400">
                        <a:latin typeface="微软雅黑"/>
                        <a:cs typeface="微软雅黑"/>
                      </a:endParaRPr>
                    </a:p>
                    <a:p>
                      <a:pPr marL="53975">
                        <a:lnSpc>
                          <a:spcPct val="100000"/>
                        </a:lnSpc>
                      </a:pPr>
                      <a:r>
                        <a:rPr sz="2400" b="1" spc="-5" dirty="0">
                          <a:latin typeface="微软雅黑"/>
                          <a:cs typeface="微软雅黑"/>
                        </a:rPr>
                        <a:t>3</a:t>
                      </a:r>
                      <a:r>
                        <a:rPr sz="2400" b="1" dirty="0">
                          <a:latin typeface="微软雅黑"/>
                          <a:cs typeface="微软雅黑"/>
                        </a:rPr>
                        <a:t>.</a:t>
                      </a:r>
                      <a:r>
                        <a:rPr sz="2400" b="1" spc="5" dirty="0">
                          <a:latin typeface="微软雅黑"/>
                          <a:cs typeface="微软雅黑"/>
                        </a:rPr>
                        <a:t> </a:t>
                      </a:r>
                      <a:r>
                        <a:rPr sz="2400" b="1" dirty="0">
                          <a:latin typeface="微软雅黑"/>
                          <a:cs typeface="微软雅黑"/>
                        </a:rPr>
                        <a:t>关闭DM</a:t>
                      </a:r>
                      <a:r>
                        <a:rPr sz="2400" b="1" spc="-10" dirty="0">
                          <a:latin typeface="微软雅黑"/>
                          <a:cs typeface="微软雅黑"/>
                        </a:rPr>
                        <a:t>A</a:t>
                      </a:r>
                      <a:r>
                        <a:rPr sz="2400" b="1" dirty="0">
                          <a:latin typeface="微软雅黑"/>
                          <a:cs typeface="微软雅黑"/>
                        </a:rPr>
                        <a:t>数据流后触发DM</a:t>
                      </a:r>
                      <a:r>
                        <a:rPr sz="2400" b="1" spc="-10" dirty="0">
                          <a:latin typeface="微软雅黑"/>
                          <a:cs typeface="微软雅黑"/>
                        </a:rPr>
                        <a:t>A</a:t>
                      </a:r>
                      <a:r>
                        <a:rPr sz="2400" b="1" dirty="0">
                          <a:latin typeface="微软雅黑"/>
                          <a:cs typeface="微软雅黑"/>
                        </a:rPr>
                        <a:t>中断，最终调用串口收发的回调函数</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67858907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3" name="object 3"/>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4" name="object 4"/>
          <p:cNvSpPr/>
          <p:nvPr/>
        </p:nvSpPr>
        <p:spPr>
          <a:xfrm>
            <a:off x="1523" y="6470903"/>
            <a:ext cx="12190730" cy="45720"/>
          </a:xfrm>
          <a:custGeom>
            <a:avLst/>
            <a:gdLst/>
            <a:ahLst/>
            <a:cxnLst/>
            <a:rect l="l" t="t" r="r" b="b"/>
            <a:pathLst>
              <a:path w="12190730" h="45720">
                <a:moveTo>
                  <a:pt x="0" y="45719"/>
                </a:moveTo>
                <a:lnTo>
                  <a:pt x="12190476" y="45719"/>
                </a:lnTo>
                <a:lnTo>
                  <a:pt x="12190476" y="0"/>
                </a:lnTo>
                <a:lnTo>
                  <a:pt x="0" y="0"/>
                </a:lnTo>
                <a:lnTo>
                  <a:pt x="0" y="45719"/>
                </a:lnTo>
              </a:path>
            </a:pathLst>
          </a:custGeom>
          <a:solidFill>
            <a:srgbClr val="FFE699"/>
          </a:solidFill>
        </p:spPr>
        <p:txBody>
          <a:bodyPr wrap="square" lIns="0" tIns="0" rIns="0" bIns="0" rtlCol="0"/>
          <a:lstStyle/>
          <a:p>
            <a:endParaRPr/>
          </a:p>
        </p:txBody>
      </p:sp>
      <p:sp>
        <p:nvSpPr>
          <p:cNvPr id="5" name="object 5"/>
          <p:cNvSpPr/>
          <p:nvPr/>
        </p:nvSpPr>
        <p:spPr>
          <a:xfrm>
            <a:off x="1523" y="6516623"/>
            <a:ext cx="12190730" cy="341630"/>
          </a:xfrm>
          <a:custGeom>
            <a:avLst/>
            <a:gdLst/>
            <a:ahLst/>
            <a:cxnLst/>
            <a:rect l="l" t="t" r="r" b="b"/>
            <a:pathLst>
              <a:path w="12190730" h="341629">
                <a:moveTo>
                  <a:pt x="0" y="341376"/>
                </a:moveTo>
                <a:lnTo>
                  <a:pt x="12190476" y="341376"/>
                </a:lnTo>
                <a:lnTo>
                  <a:pt x="12190476" y="0"/>
                </a:lnTo>
                <a:lnTo>
                  <a:pt x="0" y="0"/>
                </a:lnTo>
                <a:lnTo>
                  <a:pt x="0" y="341376"/>
                </a:lnTo>
              </a:path>
            </a:pathLst>
          </a:custGeom>
          <a:solidFill>
            <a:srgbClr val="E34A46"/>
          </a:solidFill>
        </p:spPr>
        <p:txBody>
          <a:bodyPr wrap="square" lIns="0" tIns="0" rIns="0" bIns="0" rtlCol="0"/>
          <a:lstStyle/>
          <a:p>
            <a:endParaRPr/>
          </a:p>
        </p:txBody>
      </p:sp>
      <p:sp>
        <p:nvSpPr>
          <p:cNvPr id="6" name="object 6"/>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8" name="object 8"/>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9" name="object 9"/>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0" name="object 10"/>
          <p:cNvSpPr txBox="1">
            <a:spLocks noGrp="1"/>
          </p:cNvSpPr>
          <p:nvPr>
            <p:ph type="title"/>
          </p:nvPr>
        </p:nvSpPr>
        <p:spPr>
          <a:xfrm>
            <a:off x="327152" y="1160016"/>
            <a:ext cx="1245870" cy="330835"/>
          </a:xfrm>
          <a:prstGeom prst="rect">
            <a:avLst/>
          </a:prstGeom>
        </p:spPr>
        <p:txBody>
          <a:bodyPr vert="horz" wrap="square" lIns="0" tIns="0" rIns="0" bIns="0" rtlCol="0">
            <a:spAutoFit/>
          </a:bodyPr>
          <a:lstStyle/>
          <a:p>
            <a:pPr marL="12700">
              <a:lnSpc>
                <a:spcPct val="100000"/>
              </a:lnSpc>
            </a:pPr>
            <a:r>
              <a:rPr sz="2400" dirty="0">
                <a:solidFill>
                  <a:srgbClr val="FFFFFF"/>
                </a:solidFill>
              </a:rPr>
              <a:t>空闲中断</a:t>
            </a:r>
            <a:endParaRPr sz="2400"/>
          </a:p>
        </p:txBody>
      </p:sp>
      <p:sp>
        <p:nvSpPr>
          <p:cNvPr id="11" name="object 11"/>
          <p:cNvSpPr txBox="1"/>
          <p:nvPr/>
        </p:nvSpPr>
        <p:spPr>
          <a:xfrm>
            <a:off x="2385441" y="389881"/>
            <a:ext cx="668655" cy="254000"/>
          </a:xfrm>
          <a:prstGeom prst="rect">
            <a:avLst/>
          </a:prstGeom>
        </p:spPr>
        <p:txBody>
          <a:bodyPr vert="horz" wrap="square" lIns="0" tIns="0" rIns="0" bIns="0" rtlCol="0">
            <a:spAutoFit/>
          </a:bodyPr>
          <a:lstStyle/>
          <a:p>
            <a:pPr marL="12700">
              <a:lnSpc>
                <a:spcPct val="100000"/>
              </a:lnSpc>
            </a:pPr>
            <a:r>
              <a:rPr sz="1800" b="1" spc="-45" dirty="0">
                <a:solidFill>
                  <a:srgbClr val="252525"/>
                </a:solidFill>
                <a:latin typeface="微软雅黑"/>
                <a:cs typeface="微软雅黑"/>
              </a:rPr>
              <a:t>U</a:t>
            </a:r>
            <a:r>
              <a:rPr sz="1800" b="1" dirty="0">
                <a:solidFill>
                  <a:srgbClr val="252525"/>
                </a:solidFill>
                <a:latin typeface="微软雅黑"/>
                <a:cs typeface="微软雅黑"/>
              </a:rPr>
              <a:t>A</a:t>
            </a:r>
            <a:r>
              <a:rPr sz="1800" b="1" spc="-35" dirty="0">
                <a:solidFill>
                  <a:srgbClr val="252525"/>
                </a:solidFill>
                <a:latin typeface="微软雅黑"/>
                <a:cs typeface="微软雅黑"/>
              </a:rPr>
              <a:t>R</a:t>
            </a:r>
            <a:r>
              <a:rPr sz="1800" b="1" dirty="0">
                <a:solidFill>
                  <a:srgbClr val="252525"/>
                </a:solidFill>
                <a:latin typeface="微软雅黑"/>
                <a:cs typeface="微软雅黑"/>
              </a:rPr>
              <a:t>T</a:t>
            </a:r>
            <a:endParaRPr sz="1800">
              <a:latin typeface="微软雅黑"/>
              <a:cs typeface="微软雅黑"/>
            </a:endParaRPr>
          </a:p>
        </p:txBody>
      </p:sp>
      <p:sp>
        <p:nvSpPr>
          <p:cNvPr id="12" name="object 12"/>
          <p:cNvSpPr txBox="1"/>
          <p:nvPr/>
        </p:nvSpPr>
        <p:spPr>
          <a:xfrm>
            <a:off x="4829683" y="1180267"/>
            <a:ext cx="2511425" cy="381000"/>
          </a:xfrm>
          <a:prstGeom prst="rect">
            <a:avLst/>
          </a:prstGeom>
        </p:spPr>
        <p:txBody>
          <a:bodyPr vert="horz" wrap="square" lIns="0" tIns="0" rIns="0" bIns="0" rtlCol="0">
            <a:spAutoFit/>
          </a:bodyPr>
          <a:lstStyle/>
          <a:p>
            <a:pPr marL="12700">
              <a:lnSpc>
                <a:spcPct val="100000"/>
              </a:lnSpc>
            </a:pPr>
            <a:r>
              <a:rPr sz="2800" b="1" spc="-5" dirty="0">
                <a:latin typeface="微软雅黑"/>
                <a:cs typeface="微软雅黑"/>
              </a:rPr>
              <a:t>空闲中断的特点</a:t>
            </a:r>
            <a:endParaRPr sz="2800">
              <a:latin typeface="微软雅黑"/>
              <a:cs typeface="微软雅黑"/>
            </a:endParaRPr>
          </a:p>
        </p:txBody>
      </p:sp>
      <p:sp>
        <p:nvSpPr>
          <p:cNvPr id="13" name="object 13"/>
          <p:cNvSpPr txBox="1"/>
          <p:nvPr/>
        </p:nvSpPr>
        <p:spPr>
          <a:xfrm>
            <a:off x="1390269" y="2301483"/>
            <a:ext cx="9667240" cy="3622675"/>
          </a:xfrm>
          <a:prstGeom prst="rect">
            <a:avLst/>
          </a:prstGeom>
        </p:spPr>
        <p:txBody>
          <a:bodyPr vert="horz" wrap="square" lIns="0" tIns="0" rIns="0" bIns="0" rtlCol="0">
            <a:spAutoFit/>
          </a:bodyPr>
          <a:lstStyle/>
          <a:p>
            <a:pPr marL="12700">
              <a:lnSpc>
                <a:spcPct val="100000"/>
              </a:lnSpc>
              <a:tabLst>
                <a:tab pos="469265" algn="l"/>
              </a:tabLst>
            </a:pPr>
            <a:r>
              <a:rPr sz="2400" b="1" spc="-10" dirty="0">
                <a:latin typeface="微软雅黑"/>
                <a:cs typeface="微软雅黑"/>
              </a:rPr>
              <a:t>1</a:t>
            </a:r>
            <a:r>
              <a:rPr sz="2400" b="1" spc="-5" dirty="0">
                <a:latin typeface="微软雅黑"/>
                <a:cs typeface="微软雅黑"/>
              </a:rPr>
              <a:t>.</a:t>
            </a:r>
            <a:r>
              <a:rPr sz="2400" b="1" dirty="0">
                <a:latin typeface="微软雅黑"/>
                <a:cs typeface="微软雅黑"/>
              </a:rPr>
              <a:t>	在一帧数据传输结束后，通信线路将会维持高电平，这个状态称为空</a:t>
            </a:r>
            <a:endParaRPr sz="2400">
              <a:latin typeface="微软雅黑"/>
              <a:cs typeface="微软雅黑"/>
            </a:endParaRPr>
          </a:p>
          <a:p>
            <a:pPr marL="469900">
              <a:lnSpc>
                <a:spcPct val="100000"/>
              </a:lnSpc>
              <a:spcBef>
                <a:spcPts val="1440"/>
              </a:spcBef>
            </a:pPr>
            <a:r>
              <a:rPr sz="2400" b="1" spc="-5" dirty="0">
                <a:latin typeface="微软雅黑"/>
                <a:cs typeface="微软雅黑"/>
              </a:rPr>
              <a:t>闲状态；</a:t>
            </a:r>
            <a:endParaRPr sz="2400">
              <a:latin typeface="微软雅黑"/>
              <a:cs typeface="微软雅黑"/>
            </a:endParaRPr>
          </a:p>
          <a:p>
            <a:pPr marL="469900" marR="5080" indent="-457200" algn="just">
              <a:lnSpc>
                <a:spcPct val="150000"/>
              </a:lnSpc>
            </a:pPr>
            <a:r>
              <a:rPr sz="2400" b="1" spc="-10" dirty="0">
                <a:latin typeface="微软雅黑"/>
                <a:cs typeface="微软雅黑"/>
              </a:rPr>
              <a:t>2</a:t>
            </a:r>
            <a:r>
              <a:rPr sz="2400" b="1" spc="-5" dirty="0">
                <a:latin typeface="微软雅黑"/>
                <a:cs typeface="微软雅黑"/>
              </a:rPr>
              <a:t>.</a:t>
            </a:r>
            <a:r>
              <a:rPr sz="2400" b="1" dirty="0">
                <a:latin typeface="微软雅黑"/>
                <a:cs typeface="微软雅黑"/>
              </a:rPr>
              <a:t> </a:t>
            </a:r>
            <a:r>
              <a:rPr sz="2400" b="1" spc="5" dirty="0">
                <a:latin typeface="微软雅黑"/>
                <a:cs typeface="微软雅黑"/>
              </a:rPr>
              <a:t> </a:t>
            </a:r>
            <a:r>
              <a:rPr sz="2400" b="1" dirty="0">
                <a:latin typeface="微软雅黑"/>
                <a:cs typeface="微软雅黑"/>
              </a:rPr>
              <a:t>当</a:t>
            </a:r>
            <a:r>
              <a:rPr sz="2400" b="1" spc="-5" dirty="0">
                <a:latin typeface="微软雅黑"/>
                <a:cs typeface="微软雅黑"/>
              </a:rPr>
              <a:t>CPU</a:t>
            </a:r>
            <a:r>
              <a:rPr sz="2400" b="1" dirty="0">
                <a:latin typeface="微软雅黑"/>
                <a:cs typeface="微软雅黑"/>
              </a:rPr>
              <a:t>检测到通信线路处于空闲状态时，且空闲状态持续时间大于一 个字节传输时间时，空闲状态标</a:t>
            </a:r>
            <a:r>
              <a:rPr sz="2400" b="1" spc="5" dirty="0">
                <a:latin typeface="微软雅黑"/>
                <a:cs typeface="微软雅黑"/>
              </a:rPr>
              <a:t>志</a:t>
            </a:r>
            <a:r>
              <a:rPr sz="2400" b="1" spc="-10" dirty="0">
                <a:latin typeface="微软雅黑"/>
                <a:cs typeface="微软雅黑"/>
              </a:rPr>
              <a:t>ID</a:t>
            </a:r>
            <a:r>
              <a:rPr sz="2400" b="1" spc="-15" dirty="0">
                <a:latin typeface="微软雅黑"/>
                <a:cs typeface="微软雅黑"/>
              </a:rPr>
              <a:t>L</a:t>
            </a:r>
            <a:r>
              <a:rPr sz="2400" b="1" spc="-10" dirty="0">
                <a:latin typeface="微软雅黑"/>
                <a:cs typeface="微软雅黑"/>
              </a:rPr>
              <a:t>E</a:t>
            </a:r>
            <a:r>
              <a:rPr sz="2400" b="1" dirty="0">
                <a:latin typeface="微软雅黑"/>
                <a:cs typeface="微软雅黑"/>
              </a:rPr>
              <a:t>将由硬件置</a:t>
            </a:r>
            <a:r>
              <a:rPr sz="2400" b="1" spc="-10" dirty="0">
                <a:latin typeface="微软雅黑"/>
                <a:cs typeface="微软雅黑"/>
              </a:rPr>
              <a:t>1</a:t>
            </a:r>
            <a:r>
              <a:rPr sz="2400" b="1" dirty="0">
                <a:latin typeface="微软雅黑"/>
                <a:cs typeface="微软雅黑"/>
              </a:rPr>
              <a:t>。如果串口控制 寄存器</a:t>
            </a:r>
            <a:r>
              <a:rPr sz="2400" b="1" spc="-5" dirty="0">
                <a:latin typeface="微软雅黑"/>
                <a:cs typeface="微软雅黑"/>
              </a:rPr>
              <a:t>C</a:t>
            </a:r>
            <a:r>
              <a:rPr sz="2400" b="1" spc="5" dirty="0">
                <a:latin typeface="微软雅黑"/>
                <a:cs typeface="微软雅黑"/>
              </a:rPr>
              <a:t>R</a:t>
            </a:r>
            <a:r>
              <a:rPr sz="2400" b="1" spc="-10" dirty="0">
                <a:latin typeface="微软雅黑"/>
                <a:cs typeface="微软雅黑"/>
              </a:rPr>
              <a:t>1</a:t>
            </a:r>
            <a:r>
              <a:rPr sz="2400" b="1" dirty="0">
                <a:latin typeface="微软雅黑"/>
                <a:cs typeface="微软雅黑"/>
              </a:rPr>
              <a:t>中的</a:t>
            </a:r>
            <a:r>
              <a:rPr sz="2400" b="1" spc="-10" dirty="0">
                <a:latin typeface="微软雅黑"/>
                <a:cs typeface="微软雅黑"/>
              </a:rPr>
              <a:t>ID</a:t>
            </a:r>
            <a:r>
              <a:rPr sz="2400" b="1" spc="-15" dirty="0">
                <a:latin typeface="微软雅黑"/>
                <a:cs typeface="微软雅黑"/>
              </a:rPr>
              <a:t>L</a:t>
            </a:r>
            <a:r>
              <a:rPr sz="2400" b="1" dirty="0">
                <a:latin typeface="微软雅黑"/>
                <a:cs typeface="微软雅黑"/>
              </a:rPr>
              <a:t>EI</a:t>
            </a:r>
            <a:r>
              <a:rPr sz="2400" b="1" spc="-15" dirty="0">
                <a:latin typeface="微软雅黑"/>
                <a:cs typeface="微软雅黑"/>
              </a:rPr>
              <a:t>E</a:t>
            </a:r>
            <a:r>
              <a:rPr sz="2400" b="1" dirty="0">
                <a:latin typeface="微软雅黑"/>
                <a:cs typeface="微软雅黑"/>
              </a:rPr>
              <a:t>位为</a:t>
            </a:r>
            <a:r>
              <a:rPr sz="2400" b="1" spc="-10" dirty="0">
                <a:latin typeface="微软雅黑"/>
                <a:cs typeface="微软雅黑"/>
              </a:rPr>
              <a:t>1</a:t>
            </a:r>
            <a:r>
              <a:rPr sz="2400" b="1" dirty="0">
                <a:latin typeface="微软雅黑"/>
                <a:cs typeface="微软雅黑"/>
              </a:rPr>
              <a:t>，将会触发空闲中断（</a:t>
            </a:r>
            <a:r>
              <a:rPr sz="2400" b="1" spc="-10" dirty="0">
                <a:latin typeface="微软雅黑"/>
                <a:cs typeface="微软雅黑"/>
              </a:rPr>
              <a:t> ID</a:t>
            </a:r>
            <a:r>
              <a:rPr sz="2400" b="1" spc="-15" dirty="0">
                <a:latin typeface="微软雅黑"/>
                <a:cs typeface="微软雅黑"/>
              </a:rPr>
              <a:t>L</a:t>
            </a:r>
            <a:r>
              <a:rPr sz="2400" b="1" spc="-10" dirty="0">
                <a:latin typeface="微软雅黑"/>
                <a:cs typeface="微软雅黑"/>
              </a:rPr>
              <a:t>E</a:t>
            </a:r>
            <a:r>
              <a:rPr sz="2400" b="1" dirty="0">
                <a:latin typeface="微软雅黑"/>
                <a:cs typeface="微软雅黑"/>
              </a:rPr>
              <a:t>中断）；</a:t>
            </a:r>
            <a:endParaRPr sz="2400">
              <a:latin typeface="微软雅黑"/>
              <a:cs typeface="微软雅黑"/>
            </a:endParaRPr>
          </a:p>
          <a:p>
            <a:pPr marL="12700">
              <a:lnSpc>
                <a:spcPct val="100000"/>
              </a:lnSpc>
              <a:spcBef>
                <a:spcPts val="1440"/>
              </a:spcBef>
              <a:tabLst>
                <a:tab pos="469265" algn="l"/>
              </a:tabLst>
            </a:pPr>
            <a:r>
              <a:rPr sz="2400" b="1" spc="-10" dirty="0">
                <a:latin typeface="微软雅黑"/>
                <a:cs typeface="微软雅黑"/>
              </a:rPr>
              <a:t>3</a:t>
            </a:r>
            <a:r>
              <a:rPr sz="2400" b="1" spc="-5" dirty="0">
                <a:latin typeface="微软雅黑"/>
                <a:cs typeface="微软雅黑"/>
              </a:rPr>
              <a:t>.</a:t>
            </a:r>
            <a:r>
              <a:rPr sz="2400" b="1" dirty="0">
                <a:latin typeface="微软雅黑"/>
                <a:cs typeface="微软雅黑"/>
              </a:rPr>
              <a:t>	由于空闲标志是在一帧数据传输完成后才置位，在有效数据传输过程</a:t>
            </a:r>
            <a:endParaRPr sz="2400">
              <a:latin typeface="微软雅黑"/>
              <a:cs typeface="微软雅黑"/>
            </a:endParaRPr>
          </a:p>
          <a:p>
            <a:pPr marL="469900">
              <a:lnSpc>
                <a:spcPct val="100000"/>
              </a:lnSpc>
              <a:spcBef>
                <a:spcPts val="1440"/>
              </a:spcBef>
            </a:pPr>
            <a:r>
              <a:rPr sz="2400" b="1" spc="-5" dirty="0">
                <a:latin typeface="微软雅黑"/>
                <a:cs typeface="微软雅黑"/>
              </a:rPr>
              <a:t>中不会置位，因此借助空闲中断，可以实现不定长数据的收发。</a:t>
            </a:r>
            <a:endParaRPr sz="2400">
              <a:latin typeface="微软雅黑"/>
              <a:cs typeface="微软雅黑"/>
            </a:endParaRPr>
          </a:p>
        </p:txBody>
      </p:sp>
      <p:sp>
        <p:nvSpPr>
          <p:cNvPr id="14" name="object 14"/>
          <p:cNvSpPr/>
          <p:nvPr/>
        </p:nvSpPr>
        <p:spPr>
          <a:xfrm>
            <a:off x="1037082" y="2003298"/>
            <a:ext cx="10293350" cy="4081779"/>
          </a:xfrm>
          <a:custGeom>
            <a:avLst/>
            <a:gdLst/>
            <a:ahLst/>
            <a:cxnLst/>
            <a:rect l="l" t="t" r="r" b="b"/>
            <a:pathLst>
              <a:path w="10293350" h="4081779">
                <a:moveTo>
                  <a:pt x="0" y="4081272"/>
                </a:moveTo>
                <a:lnTo>
                  <a:pt x="10293096" y="4081272"/>
                </a:lnTo>
                <a:lnTo>
                  <a:pt x="10293096" y="0"/>
                </a:lnTo>
                <a:lnTo>
                  <a:pt x="0" y="0"/>
                </a:lnTo>
                <a:lnTo>
                  <a:pt x="0" y="4081272"/>
                </a:lnTo>
                <a:close/>
              </a:path>
            </a:pathLst>
          </a:custGeom>
          <a:ln w="38100">
            <a:solidFill>
              <a:srgbClr val="C00000"/>
            </a:solidFill>
          </a:ln>
        </p:spPr>
        <p:txBody>
          <a:bodyPr wrap="square" lIns="0" tIns="0" rIns="0" bIns="0" rtlCol="0"/>
          <a:lstStyle/>
          <a:p>
            <a:endParaRPr/>
          </a:p>
        </p:txBody>
      </p:sp>
    </p:spTree>
    <p:extLst>
      <p:ext uri="{BB962C8B-B14F-4D97-AF65-F5344CB8AC3E}">
        <p14:creationId xmlns:p14="http://schemas.microsoft.com/office/powerpoint/2010/main" val="54073823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3" name="object 3"/>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4" name="object 4"/>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6" name="object 6"/>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8" name="object 8"/>
          <p:cNvSpPr txBox="1"/>
          <p:nvPr/>
        </p:nvSpPr>
        <p:spPr>
          <a:xfrm>
            <a:off x="563067" y="1160016"/>
            <a:ext cx="939800" cy="330835"/>
          </a:xfrm>
          <a:prstGeom prst="rect">
            <a:avLst/>
          </a:prstGeom>
        </p:spPr>
        <p:txBody>
          <a:bodyPr vert="horz" wrap="square" lIns="0" tIns="0" rIns="0" bIns="0" rtlCol="0">
            <a:spAutoFit/>
          </a:bodyPr>
          <a:lstStyle/>
          <a:p>
            <a:pPr marL="12700">
              <a:lnSpc>
                <a:spcPct val="100000"/>
              </a:lnSpc>
            </a:pPr>
            <a:r>
              <a:rPr sz="2400" b="1" spc="-5" dirty="0">
                <a:solidFill>
                  <a:srgbClr val="FFFFFF"/>
                </a:solidFill>
                <a:latin typeface="微软雅黑"/>
                <a:cs typeface="微软雅黑"/>
              </a:rPr>
              <a:t>时序图</a:t>
            </a:r>
            <a:endParaRPr sz="2400">
              <a:latin typeface="微软雅黑"/>
              <a:cs typeface="微软雅黑"/>
            </a:endParaRPr>
          </a:p>
        </p:txBody>
      </p:sp>
      <p:sp>
        <p:nvSpPr>
          <p:cNvPr id="9" name="object 9"/>
          <p:cNvSpPr txBox="1"/>
          <p:nvPr/>
        </p:nvSpPr>
        <p:spPr>
          <a:xfrm>
            <a:off x="2385441" y="389881"/>
            <a:ext cx="668655" cy="254000"/>
          </a:xfrm>
          <a:prstGeom prst="rect">
            <a:avLst/>
          </a:prstGeom>
        </p:spPr>
        <p:txBody>
          <a:bodyPr vert="horz" wrap="square" lIns="0" tIns="0" rIns="0" bIns="0" rtlCol="0">
            <a:spAutoFit/>
          </a:bodyPr>
          <a:lstStyle/>
          <a:p>
            <a:pPr marL="12700">
              <a:lnSpc>
                <a:spcPct val="100000"/>
              </a:lnSpc>
            </a:pPr>
            <a:r>
              <a:rPr sz="1800" b="1" spc="-45" dirty="0">
                <a:solidFill>
                  <a:srgbClr val="252525"/>
                </a:solidFill>
                <a:latin typeface="微软雅黑"/>
                <a:cs typeface="微软雅黑"/>
              </a:rPr>
              <a:t>U</a:t>
            </a:r>
            <a:r>
              <a:rPr sz="1800" b="1" dirty="0">
                <a:solidFill>
                  <a:srgbClr val="252525"/>
                </a:solidFill>
                <a:latin typeface="微软雅黑"/>
                <a:cs typeface="微软雅黑"/>
              </a:rPr>
              <a:t>A</a:t>
            </a:r>
            <a:r>
              <a:rPr sz="1800" b="1" spc="-35" dirty="0">
                <a:solidFill>
                  <a:srgbClr val="252525"/>
                </a:solidFill>
                <a:latin typeface="微软雅黑"/>
                <a:cs typeface="微软雅黑"/>
              </a:rPr>
              <a:t>R</a:t>
            </a:r>
            <a:r>
              <a:rPr sz="1800" b="1" dirty="0">
                <a:solidFill>
                  <a:srgbClr val="252525"/>
                </a:solidFill>
                <a:latin typeface="微软雅黑"/>
                <a:cs typeface="微软雅黑"/>
              </a:rPr>
              <a:t>T</a:t>
            </a:r>
            <a:endParaRPr sz="1800">
              <a:latin typeface="微软雅黑"/>
              <a:cs typeface="微软雅黑"/>
            </a:endParaRPr>
          </a:p>
        </p:txBody>
      </p:sp>
      <p:sp>
        <p:nvSpPr>
          <p:cNvPr id="10" name="object 10"/>
          <p:cNvSpPr txBox="1"/>
          <p:nvPr/>
        </p:nvSpPr>
        <p:spPr>
          <a:xfrm>
            <a:off x="4829683" y="1180267"/>
            <a:ext cx="2511425" cy="381000"/>
          </a:xfrm>
          <a:prstGeom prst="rect">
            <a:avLst/>
          </a:prstGeom>
        </p:spPr>
        <p:txBody>
          <a:bodyPr vert="horz" wrap="square" lIns="0" tIns="0" rIns="0" bIns="0" rtlCol="0">
            <a:spAutoFit/>
          </a:bodyPr>
          <a:lstStyle/>
          <a:p>
            <a:pPr marL="12700">
              <a:lnSpc>
                <a:spcPct val="100000"/>
              </a:lnSpc>
            </a:pPr>
            <a:r>
              <a:rPr sz="2800" b="1" spc="-5" dirty="0">
                <a:latin typeface="微软雅黑"/>
                <a:cs typeface="微软雅黑"/>
              </a:rPr>
              <a:t>空闲中断时序图</a:t>
            </a:r>
            <a:endParaRPr sz="2800">
              <a:latin typeface="微软雅黑"/>
              <a:cs typeface="微软雅黑"/>
            </a:endParaRPr>
          </a:p>
        </p:txBody>
      </p:sp>
      <p:sp>
        <p:nvSpPr>
          <p:cNvPr id="11" name="object 11"/>
          <p:cNvSpPr/>
          <p:nvPr/>
        </p:nvSpPr>
        <p:spPr>
          <a:xfrm>
            <a:off x="554736" y="2660904"/>
            <a:ext cx="11082528" cy="2488692"/>
          </a:xfrm>
          <a:prstGeom prst="rect">
            <a:avLst/>
          </a:prstGeom>
          <a:blipFill>
            <a:blip r:embed="rId4" cstate="print"/>
            <a:stretch>
              <a:fillRect/>
            </a:stretch>
          </a:blipFill>
        </p:spPr>
        <p:txBody>
          <a:bodyPr wrap="square" lIns="0" tIns="0" rIns="0" bIns="0" rtlCol="0"/>
          <a:lstStyle/>
          <a:p>
            <a:endParaRPr/>
          </a:p>
        </p:txBody>
      </p:sp>
      <p:sp>
        <p:nvSpPr>
          <p:cNvPr id="12" name="object 12"/>
          <p:cNvSpPr/>
          <p:nvPr/>
        </p:nvSpPr>
        <p:spPr>
          <a:xfrm>
            <a:off x="548640" y="2654807"/>
            <a:ext cx="11094720" cy="2501265"/>
          </a:xfrm>
          <a:custGeom>
            <a:avLst/>
            <a:gdLst/>
            <a:ahLst/>
            <a:cxnLst/>
            <a:rect l="l" t="t" r="r" b="b"/>
            <a:pathLst>
              <a:path w="11094720" h="2501265">
                <a:moveTo>
                  <a:pt x="0" y="2500884"/>
                </a:moveTo>
                <a:lnTo>
                  <a:pt x="11094720" y="2500884"/>
                </a:lnTo>
                <a:lnTo>
                  <a:pt x="11094720" y="0"/>
                </a:lnTo>
                <a:lnTo>
                  <a:pt x="0" y="0"/>
                </a:lnTo>
                <a:lnTo>
                  <a:pt x="0" y="2500884"/>
                </a:lnTo>
                <a:close/>
              </a:path>
            </a:pathLst>
          </a:custGeom>
          <a:ln w="12192">
            <a:solidFill>
              <a:srgbClr val="5B9BD4"/>
            </a:solidFill>
          </a:ln>
        </p:spPr>
        <p:txBody>
          <a:bodyPr wrap="square" lIns="0" tIns="0" rIns="0" bIns="0" rtlCol="0"/>
          <a:lstStyle/>
          <a:p>
            <a:endParaRPr/>
          </a:p>
        </p:txBody>
      </p:sp>
      <p:sp>
        <p:nvSpPr>
          <p:cNvPr id="13" name="object 13"/>
          <p:cNvSpPr txBox="1"/>
          <p:nvPr/>
        </p:nvSpPr>
        <p:spPr>
          <a:xfrm>
            <a:off x="982217" y="1850898"/>
            <a:ext cx="10210800" cy="693420"/>
          </a:xfrm>
          <a:prstGeom prst="rect">
            <a:avLst/>
          </a:prstGeom>
          <a:ln w="38100">
            <a:solidFill>
              <a:srgbClr val="C00000"/>
            </a:solidFill>
          </a:ln>
        </p:spPr>
        <p:txBody>
          <a:bodyPr vert="horz" wrap="square" lIns="0" tIns="0" rIns="0" bIns="0" rtlCol="0">
            <a:spAutoFit/>
          </a:bodyPr>
          <a:lstStyle/>
          <a:p>
            <a:pPr marL="294005">
              <a:lnSpc>
                <a:spcPct val="100000"/>
              </a:lnSpc>
            </a:pPr>
            <a:r>
              <a:rPr sz="2400" b="1" dirty="0">
                <a:latin typeface="微软雅黑"/>
                <a:cs typeface="微软雅黑"/>
              </a:rPr>
              <a:t>假设一帧数据由</a:t>
            </a:r>
            <a:r>
              <a:rPr sz="2400" b="1" spc="-10" dirty="0">
                <a:latin typeface="微软雅黑"/>
                <a:cs typeface="微软雅黑"/>
              </a:rPr>
              <a:t>2</a:t>
            </a:r>
            <a:r>
              <a:rPr sz="2400" b="1" dirty="0">
                <a:latin typeface="微软雅黑"/>
                <a:cs typeface="微软雅黑"/>
              </a:rPr>
              <a:t>个字符构成，分别</a:t>
            </a:r>
            <a:r>
              <a:rPr sz="2400" b="1" spc="5" dirty="0">
                <a:latin typeface="微软雅黑"/>
                <a:cs typeface="微软雅黑"/>
              </a:rPr>
              <a:t>是</a:t>
            </a:r>
            <a:r>
              <a:rPr sz="2400" b="1" spc="-5" dirty="0">
                <a:latin typeface="微软雅黑"/>
                <a:cs typeface="微软雅黑"/>
              </a:rPr>
              <a:t>0xa</a:t>
            </a:r>
            <a:r>
              <a:rPr sz="2400" b="1" spc="-15" dirty="0">
                <a:latin typeface="微软雅黑"/>
                <a:cs typeface="微软雅黑"/>
              </a:rPr>
              <a:t>a</a:t>
            </a:r>
            <a:r>
              <a:rPr sz="2400" b="1" dirty="0">
                <a:latin typeface="微软雅黑"/>
                <a:cs typeface="微软雅黑"/>
              </a:rPr>
              <a:t>、</a:t>
            </a:r>
            <a:r>
              <a:rPr sz="2400" b="1" spc="-5" dirty="0">
                <a:latin typeface="微软雅黑"/>
                <a:cs typeface="微软雅黑"/>
              </a:rPr>
              <a:t>0x</a:t>
            </a:r>
            <a:r>
              <a:rPr sz="2400" b="1" spc="-15" dirty="0">
                <a:latin typeface="微软雅黑"/>
                <a:cs typeface="微软雅黑"/>
              </a:rPr>
              <a:t>5</a:t>
            </a:r>
            <a:r>
              <a:rPr sz="2400" b="1" spc="-10" dirty="0">
                <a:latin typeface="微软雅黑"/>
                <a:cs typeface="微软雅黑"/>
              </a:rPr>
              <a:t>5</a:t>
            </a:r>
            <a:r>
              <a:rPr sz="2400" b="1" spc="-15" dirty="0">
                <a:latin typeface="微软雅黑"/>
                <a:cs typeface="微软雅黑"/>
              </a:rPr>
              <a:t>，</a:t>
            </a:r>
            <a:r>
              <a:rPr sz="2400" b="1" dirty="0">
                <a:latin typeface="微软雅黑"/>
                <a:cs typeface="微软雅黑"/>
              </a:rPr>
              <a:t>传输的时序图如下：</a:t>
            </a:r>
            <a:endParaRPr sz="2400">
              <a:latin typeface="微软雅黑"/>
              <a:cs typeface="微软雅黑"/>
            </a:endParaRPr>
          </a:p>
        </p:txBody>
      </p:sp>
      <p:sp>
        <p:nvSpPr>
          <p:cNvPr id="14" name="object 14"/>
          <p:cNvSpPr/>
          <p:nvPr/>
        </p:nvSpPr>
        <p:spPr>
          <a:xfrm>
            <a:off x="555498" y="5325617"/>
            <a:ext cx="11082655" cy="1327785"/>
          </a:xfrm>
          <a:custGeom>
            <a:avLst/>
            <a:gdLst/>
            <a:ahLst/>
            <a:cxnLst/>
            <a:rect l="l" t="t" r="r" b="b"/>
            <a:pathLst>
              <a:path w="11082655" h="1327784">
                <a:moveTo>
                  <a:pt x="10861294" y="0"/>
                </a:moveTo>
                <a:lnTo>
                  <a:pt x="221233" y="0"/>
                </a:lnTo>
                <a:lnTo>
                  <a:pt x="203089" y="733"/>
                </a:lnTo>
                <a:lnTo>
                  <a:pt x="151305" y="11279"/>
                </a:lnTo>
                <a:lnTo>
                  <a:pt x="104696" y="33148"/>
                </a:lnTo>
                <a:lnTo>
                  <a:pt x="64796" y="64801"/>
                </a:lnTo>
                <a:lnTo>
                  <a:pt x="33145" y="104701"/>
                </a:lnTo>
                <a:lnTo>
                  <a:pt x="11278" y="151310"/>
                </a:lnTo>
                <a:lnTo>
                  <a:pt x="733" y="203090"/>
                </a:lnTo>
                <a:lnTo>
                  <a:pt x="0" y="221233"/>
                </a:lnTo>
                <a:lnTo>
                  <a:pt x="0" y="1106157"/>
                </a:lnTo>
                <a:lnTo>
                  <a:pt x="6429" y="1159328"/>
                </a:lnTo>
                <a:lnTo>
                  <a:pt x="24693" y="1207836"/>
                </a:lnTo>
                <a:lnTo>
                  <a:pt x="53254" y="1250145"/>
                </a:lnTo>
                <a:lnTo>
                  <a:pt x="90574" y="1284718"/>
                </a:lnTo>
                <a:lnTo>
                  <a:pt x="135118" y="1310018"/>
                </a:lnTo>
                <a:lnTo>
                  <a:pt x="185348" y="1324508"/>
                </a:lnTo>
                <a:lnTo>
                  <a:pt x="221233" y="1327403"/>
                </a:lnTo>
                <a:lnTo>
                  <a:pt x="10861294" y="1327403"/>
                </a:lnTo>
                <a:lnTo>
                  <a:pt x="10914455" y="1320974"/>
                </a:lnTo>
                <a:lnTo>
                  <a:pt x="10962959" y="1302710"/>
                </a:lnTo>
                <a:lnTo>
                  <a:pt x="11005266" y="1274148"/>
                </a:lnTo>
                <a:lnTo>
                  <a:pt x="11039839" y="1236826"/>
                </a:lnTo>
                <a:lnTo>
                  <a:pt x="11065140" y="1192279"/>
                </a:lnTo>
                <a:lnTo>
                  <a:pt x="11079632" y="1142046"/>
                </a:lnTo>
                <a:lnTo>
                  <a:pt x="11082528" y="1106157"/>
                </a:lnTo>
                <a:lnTo>
                  <a:pt x="11082528" y="221233"/>
                </a:lnTo>
                <a:lnTo>
                  <a:pt x="11076097" y="168072"/>
                </a:lnTo>
                <a:lnTo>
                  <a:pt x="11057832" y="119568"/>
                </a:lnTo>
                <a:lnTo>
                  <a:pt x="11029269" y="77261"/>
                </a:lnTo>
                <a:lnTo>
                  <a:pt x="10991947" y="42688"/>
                </a:lnTo>
                <a:lnTo>
                  <a:pt x="10947403" y="17387"/>
                </a:lnTo>
                <a:lnTo>
                  <a:pt x="10897176" y="2895"/>
                </a:lnTo>
                <a:lnTo>
                  <a:pt x="10861294" y="0"/>
                </a:lnTo>
                <a:close/>
              </a:path>
            </a:pathLst>
          </a:custGeom>
          <a:solidFill>
            <a:srgbClr val="FFFFC7"/>
          </a:solidFill>
        </p:spPr>
        <p:txBody>
          <a:bodyPr wrap="square" lIns="0" tIns="0" rIns="0" bIns="0" rtlCol="0"/>
          <a:lstStyle/>
          <a:p>
            <a:endParaRPr/>
          </a:p>
        </p:txBody>
      </p:sp>
      <p:sp>
        <p:nvSpPr>
          <p:cNvPr id="15" name="object 15"/>
          <p:cNvSpPr/>
          <p:nvPr/>
        </p:nvSpPr>
        <p:spPr>
          <a:xfrm>
            <a:off x="555498" y="5325617"/>
            <a:ext cx="11082655" cy="1327785"/>
          </a:xfrm>
          <a:custGeom>
            <a:avLst/>
            <a:gdLst/>
            <a:ahLst/>
            <a:cxnLst/>
            <a:rect l="l" t="t" r="r" b="b"/>
            <a:pathLst>
              <a:path w="11082655" h="1327784">
                <a:moveTo>
                  <a:pt x="0" y="221233"/>
                </a:moveTo>
                <a:lnTo>
                  <a:pt x="6429" y="168072"/>
                </a:lnTo>
                <a:lnTo>
                  <a:pt x="24693" y="119568"/>
                </a:lnTo>
                <a:lnTo>
                  <a:pt x="53254" y="77261"/>
                </a:lnTo>
                <a:lnTo>
                  <a:pt x="90574" y="42688"/>
                </a:lnTo>
                <a:lnTo>
                  <a:pt x="135118" y="17387"/>
                </a:lnTo>
                <a:lnTo>
                  <a:pt x="185348" y="2895"/>
                </a:lnTo>
                <a:lnTo>
                  <a:pt x="221233" y="0"/>
                </a:lnTo>
                <a:lnTo>
                  <a:pt x="1847088" y="0"/>
                </a:lnTo>
                <a:lnTo>
                  <a:pt x="3331210" y="0"/>
                </a:lnTo>
                <a:lnTo>
                  <a:pt x="4617720" y="0"/>
                </a:lnTo>
                <a:lnTo>
                  <a:pt x="10861294" y="0"/>
                </a:lnTo>
                <a:lnTo>
                  <a:pt x="10879437" y="733"/>
                </a:lnTo>
                <a:lnTo>
                  <a:pt x="10931217" y="11279"/>
                </a:lnTo>
                <a:lnTo>
                  <a:pt x="10977826" y="33148"/>
                </a:lnTo>
                <a:lnTo>
                  <a:pt x="11017726" y="64801"/>
                </a:lnTo>
                <a:lnTo>
                  <a:pt x="11049379" y="104701"/>
                </a:lnTo>
                <a:lnTo>
                  <a:pt x="11071248" y="151310"/>
                </a:lnTo>
                <a:lnTo>
                  <a:pt x="11081794" y="203090"/>
                </a:lnTo>
                <a:lnTo>
                  <a:pt x="11082528" y="221233"/>
                </a:lnTo>
                <a:lnTo>
                  <a:pt x="11082528" y="553084"/>
                </a:lnTo>
                <a:lnTo>
                  <a:pt x="11082528" y="1106157"/>
                </a:lnTo>
                <a:lnTo>
                  <a:pt x="11081794" y="1124304"/>
                </a:lnTo>
                <a:lnTo>
                  <a:pt x="11071248" y="1176091"/>
                </a:lnTo>
                <a:lnTo>
                  <a:pt x="11049379" y="1222704"/>
                </a:lnTo>
                <a:lnTo>
                  <a:pt x="11017726" y="1262605"/>
                </a:lnTo>
                <a:lnTo>
                  <a:pt x="10977826" y="1294258"/>
                </a:lnTo>
                <a:lnTo>
                  <a:pt x="10931217" y="1316125"/>
                </a:lnTo>
                <a:lnTo>
                  <a:pt x="10879437" y="1326670"/>
                </a:lnTo>
                <a:lnTo>
                  <a:pt x="10861294" y="1327403"/>
                </a:lnTo>
                <a:lnTo>
                  <a:pt x="4617720" y="1327403"/>
                </a:lnTo>
                <a:lnTo>
                  <a:pt x="1847088" y="1327403"/>
                </a:lnTo>
                <a:lnTo>
                  <a:pt x="221233" y="1327403"/>
                </a:lnTo>
                <a:lnTo>
                  <a:pt x="203089" y="1326670"/>
                </a:lnTo>
                <a:lnTo>
                  <a:pt x="151305" y="1316125"/>
                </a:lnTo>
                <a:lnTo>
                  <a:pt x="104696" y="1294258"/>
                </a:lnTo>
                <a:lnTo>
                  <a:pt x="64796" y="1262605"/>
                </a:lnTo>
                <a:lnTo>
                  <a:pt x="33145" y="1222704"/>
                </a:lnTo>
                <a:lnTo>
                  <a:pt x="11278" y="1176091"/>
                </a:lnTo>
                <a:lnTo>
                  <a:pt x="733" y="1124304"/>
                </a:lnTo>
                <a:lnTo>
                  <a:pt x="0" y="1106157"/>
                </a:lnTo>
                <a:lnTo>
                  <a:pt x="0" y="553084"/>
                </a:lnTo>
                <a:lnTo>
                  <a:pt x="0" y="221233"/>
                </a:lnTo>
                <a:close/>
              </a:path>
            </a:pathLst>
          </a:custGeom>
          <a:ln w="28956">
            <a:solidFill>
              <a:srgbClr val="000000"/>
            </a:solidFill>
          </a:ln>
        </p:spPr>
        <p:txBody>
          <a:bodyPr wrap="square" lIns="0" tIns="0" rIns="0" bIns="0" rtlCol="0"/>
          <a:lstStyle/>
          <a:p>
            <a:endParaRPr/>
          </a:p>
        </p:txBody>
      </p:sp>
      <p:sp>
        <p:nvSpPr>
          <p:cNvPr id="16" name="object 16"/>
          <p:cNvSpPr txBox="1"/>
          <p:nvPr/>
        </p:nvSpPr>
        <p:spPr>
          <a:xfrm>
            <a:off x="698398" y="5459260"/>
            <a:ext cx="10617200" cy="1097915"/>
          </a:xfrm>
          <a:prstGeom prst="rect">
            <a:avLst/>
          </a:prstGeom>
        </p:spPr>
        <p:txBody>
          <a:bodyPr vert="horz" wrap="square" lIns="0" tIns="0" rIns="0" bIns="0" rtlCol="0">
            <a:spAutoFit/>
          </a:bodyPr>
          <a:lstStyle/>
          <a:p>
            <a:pPr marL="12700" marR="5080">
              <a:lnSpc>
                <a:spcPct val="100000"/>
              </a:lnSpc>
            </a:pPr>
            <a:r>
              <a:rPr sz="2400" b="1" spc="10" dirty="0">
                <a:latin typeface="Microsoft JhengHei"/>
                <a:cs typeface="Microsoft JhengHei"/>
              </a:rPr>
              <a:t>从图中可以看到，在发送该帧数据之前和之后，数据线为高电平，处</a:t>
            </a:r>
            <a:r>
              <a:rPr sz="2400" b="1" spc="20" dirty="0">
                <a:latin typeface="Microsoft JhengHei"/>
                <a:cs typeface="Microsoft JhengHei"/>
              </a:rPr>
              <a:t>于</a:t>
            </a:r>
            <a:r>
              <a:rPr sz="2400" b="1" spc="-5" dirty="0">
                <a:latin typeface="Consolas"/>
                <a:cs typeface="Consolas"/>
              </a:rPr>
              <a:t>IDLE</a:t>
            </a:r>
            <a:r>
              <a:rPr sz="2400" b="1" dirty="0">
                <a:latin typeface="Microsoft JhengHei"/>
                <a:cs typeface="Microsoft JhengHei"/>
              </a:rPr>
              <a:t>状 </a:t>
            </a:r>
            <a:r>
              <a:rPr sz="2400" b="1" spc="10" dirty="0">
                <a:latin typeface="Microsoft JhengHei"/>
                <a:cs typeface="Microsoft JhengHei"/>
              </a:rPr>
              <a:t>态。在该帧有效数据发送过程中，</a:t>
            </a:r>
            <a:r>
              <a:rPr sz="2400" b="1" spc="15" dirty="0">
                <a:latin typeface="Microsoft JhengHei"/>
                <a:cs typeface="Microsoft JhengHei"/>
              </a:rPr>
              <a:t>即</a:t>
            </a:r>
            <a:r>
              <a:rPr sz="2400" b="1" spc="-5" dirty="0">
                <a:latin typeface="Consolas"/>
                <a:cs typeface="Consolas"/>
              </a:rPr>
              <a:t>0xaa</a:t>
            </a:r>
            <a:r>
              <a:rPr sz="2400" b="1" spc="10" dirty="0">
                <a:latin typeface="Microsoft JhengHei"/>
                <a:cs typeface="Microsoft JhengHei"/>
              </a:rPr>
              <a:t>字节与</a:t>
            </a:r>
            <a:r>
              <a:rPr sz="2400" b="1" spc="-5" dirty="0">
                <a:latin typeface="Consolas"/>
                <a:cs typeface="Consolas"/>
              </a:rPr>
              <a:t>0x55</a:t>
            </a:r>
            <a:r>
              <a:rPr sz="2400" b="1" spc="10" dirty="0">
                <a:latin typeface="Microsoft JhengHei"/>
                <a:cs typeface="Microsoft JhengHei"/>
              </a:rPr>
              <a:t>字节之间，没</a:t>
            </a:r>
            <a:r>
              <a:rPr sz="2400" b="1" spc="15" dirty="0">
                <a:latin typeface="Microsoft JhengHei"/>
                <a:cs typeface="Microsoft JhengHei"/>
              </a:rPr>
              <a:t>有</a:t>
            </a:r>
            <a:r>
              <a:rPr sz="2400" b="1" spc="-5" dirty="0">
                <a:latin typeface="Consolas"/>
                <a:cs typeface="Consolas"/>
              </a:rPr>
              <a:t>I</a:t>
            </a:r>
            <a:r>
              <a:rPr sz="2400" b="1" spc="0" dirty="0">
                <a:latin typeface="Consolas"/>
                <a:cs typeface="Consolas"/>
              </a:rPr>
              <a:t>D</a:t>
            </a:r>
            <a:r>
              <a:rPr sz="2400" b="1" spc="-5" dirty="0">
                <a:latin typeface="Consolas"/>
                <a:cs typeface="Consolas"/>
              </a:rPr>
              <a:t>LE</a:t>
            </a:r>
            <a:r>
              <a:rPr sz="2400" b="1" spc="10" dirty="0">
                <a:latin typeface="Microsoft JhengHei"/>
                <a:cs typeface="Microsoft JhengHei"/>
              </a:rPr>
              <a:t>状态 </a:t>
            </a:r>
            <a:r>
              <a:rPr sz="2400" b="1" spc="5" dirty="0">
                <a:latin typeface="Microsoft JhengHei"/>
                <a:cs typeface="Microsoft JhengHei"/>
              </a:rPr>
              <a:t>出现，这样利</a:t>
            </a:r>
            <a:r>
              <a:rPr sz="2400" b="1" spc="10" dirty="0">
                <a:latin typeface="Microsoft JhengHei"/>
                <a:cs typeface="Microsoft JhengHei"/>
              </a:rPr>
              <a:t>用</a:t>
            </a:r>
            <a:r>
              <a:rPr sz="2400" b="1" spc="-5" dirty="0">
                <a:latin typeface="Consolas"/>
                <a:cs typeface="Consolas"/>
              </a:rPr>
              <a:t>IDLE</a:t>
            </a:r>
            <a:r>
              <a:rPr sz="2400" b="1" spc="5" dirty="0">
                <a:latin typeface="Microsoft JhengHei"/>
                <a:cs typeface="Microsoft JhengHei"/>
              </a:rPr>
              <a:t>状态就可以判断不定长数据的发送结束。</a:t>
            </a:r>
            <a:endParaRPr sz="2400">
              <a:latin typeface="Microsoft JhengHei"/>
              <a:cs typeface="Microsoft JhengHei"/>
            </a:endParaRPr>
          </a:p>
        </p:txBody>
      </p:sp>
    </p:spTree>
    <p:extLst>
      <p:ext uri="{BB962C8B-B14F-4D97-AF65-F5344CB8AC3E}">
        <p14:creationId xmlns:p14="http://schemas.microsoft.com/office/powerpoint/2010/main" val="385547980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OC_GUID" val="{0c78e80a-2d6b-4de1-a306-8b402359c32a}"/>
</p:tagLst>
</file>

<file path=ppt/theme/theme1.xml><?xml version="1.0" encoding="utf-8"?>
<a:theme xmlns:a="http://schemas.openxmlformats.org/drawingml/2006/main" name="Office 主题">
  <a:themeElements>
    <a:clrScheme name="碧海蓝天">
      <a:dk1>
        <a:srgbClr val="000000"/>
      </a:dk1>
      <a:lt1>
        <a:srgbClr val="FFFFFF"/>
      </a:lt1>
      <a:dk2>
        <a:srgbClr val="17406D"/>
      </a:dk2>
      <a:lt2>
        <a:srgbClr val="DBEFF9"/>
      </a:lt2>
      <a:accent1>
        <a:srgbClr val="0080CB"/>
      </a:accent1>
      <a:accent2>
        <a:srgbClr val="0080CB"/>
      </a:accent2>
      <a:accent3>
        <a:srgbClr val="0BD0D9"/>
      </a:accent3>
      <a:accent4>
        <a:srgbClr val="C9C9C9"/>
      </a:accent4>
      <a:accent5>
        <a:srgbClr val="7CCA62"/>
      </a:accent5>
      <a:accent6>
        <a:srgbClr val="F49100"/>
      </a:accent6>
      <a:hlink>
        <a:srgbClr val="F49100"/>
      </a:hlink>
      <a:folHlink>
        <a:srgbClr val="85DFD0"/>
      </a:folHlink>
    </a:clrScheme>
    <a:fontScheme name="自定义 6">
      <a:majorFont>
        <a:latin typeface="Arial"/>
        <a:ea typeface="微软雅黑 Light"/>
        <a:cs typeface=""/>
      </a:majorFont>
      <a:minorFont>
        <a:latin typeface="Arial"/>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289</TotalTime>
  <Words>3252</Words>
  <Application>Microsoft Office PowerPoint</Application>
  <PresentationFormat>宽屏</PresentationFormat>
  <Paragraphs>796</Paragraphs>
  <Slides>77</Slides>
  <Notes>21</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1</vt:i4>
      </vt:variant>
      <vt:variant>
        <vt:lpstr>幻灯片标题</vt:lpstr>
      </vt:variant>
      <vt:variant>
        <vt:i4>77</vt:i4>
      </vt:variant>
    </vt:vector>
  </HeadingPairs>
  <TitlesOfParts>
    <vt:vector size="92" baseType="lpstr">
      <vt:lpstr>Microsoft JhengHei</vt:lpstr>
      <vt:lpstr>黑体</vt:lpstr>
      <vt:lpstr>宋体</vt:lpstr>
      <vt:lpstr>微软雅黑</vt:lpstr>
      <vt:lpstr>微软雅黑 Light</vt:lpstr>
      <vt:lpstr>Arial</vt:lpstr>
      <vt:lpstr>Arial Rounded MT Bold</vt:lpstr>
      <vt:lpstr>Calibri</vt:lpstr>
      <vt:lpstr>Consolas</vt:lpstr>
      <vt:lpstr>Segoe UI Symbol</vt:lpstr>
      <vt:lpstr>Times New Roman</vt:lpstr>
      <vt:lpstr>Verdana</vt:lpstr>
      <vt:lpstr>Wingdings</vt:lpstr>
      <vt:lpstr>Office 主题</vt:lpstr>
      <vt:lpstr>Microsoft Visio 2003-2010 绘图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 计算机通信的基本概念</vt:lpstr>
      <vt:lpstr>计算机通信的概念</vt:lpstr>
      <vt:lpstr>并行通信的特点</vt:lpstr>
      <vt:lpstr>串行通信的特点</vt:lpstr>
      <vt:lpstr>同步串行通信的特点</vt:lpstr>
      <vt:lpstr>异步串行通信的特点</vt:lpstr>
      <vt:lpstr>异步串行通信的字符格式</vt:lpstr>
      <vt:lpstr>异步串行通信的通信速率</vt:lpstr>
      <vt:lpstr>异步串行通信的两个关键点</vt:lpstr>
      <vt:lpstr>异步串行通信的数据接收过程</vt:lpstr>
      <vt:lpstr>串口通信的数据传输方向</vt:lpstr>
      <vt:lpstr>三种常用的错误校验方式</vt:lpstr>
      <vt:lpstr>串口收发单元功能框图</vt:lpstr>
      <vt:lpstr>数据收发过程中，可同时写</vt:lpstr>
      <vt:lpstr>通信状态标志位</vt:lpstr>
      <vt:lpstr>USB转TTL串口模块</vt:lpstr>
      <vt:lpstr>外设句柄数据类型的组成</vt:lpstr>
      <vt:lpstr>串口实例，如UART1和UART2等</vt:lpstr>
      <vt:lpstr>PowerPoint 演示文稿</vt:lpstr>
      <vt:lpstr>串口句柄定义</vt:lpstr>
      <vt:lpstr>串口句柄定义</vt:lpstr>
      <vt:lpstr>串口句柄定义</vt:lpstr>
      <vt:lpstr>串口初始化</vt:lpstr>
      <vt:lpstr>成员变量WordLength的取值范围</vt:lpstr>
      <vt:lpstr>成员变量StopBits的取值范围</vt:lpstr>
      <vt:lpstr>成员变量Parity的取值范围</vt:lpstr>
      <vt:lpstr>成员变量Mode的取值范围</vt:lpstr>
      <vt:lpstr>成员变量HwFlowCtrl的取值范围</vt:lpstr>
      <vt:lpstr>成员变量OverSampling的取值范围</vt:lpstr>
      <vt:lpstr>从抽象到承载</vt:lpstr>
      <vt:lpstr>串口初始化过程</vt:lpstr>
      <vt:lpstr>PowerPoint 演示文稿</vt:lpstr>
      <vt:lpstr>与MCU相关的初始化函数</vt:lpstr>
      <vt:lpstr>1 轮询方式的接口函数</vt:lpstr>
      <vt:lpstr>1 串口初始化函数：HAL_UART_Init</vt:lpstr>
      <vt:lpstr>PowerPoint 演示文稿</vt:lpstr>
      <vt:lpstr>PowerPoint 演示文稿</vt:lpstr>
      <vt:lpstr>2 中断方式的接口函数</vt:lpstr>
      <vt:lpstr>串口中断方式的特点</vt:lpstr>
      <vt:lpstr>PowerPoint 演示文稿</vt:lpstr>
      <vt:lpstr>PowerPoint 演示文稿</vt:lpstr>
      <vt:lpstr>UART</vt:lpstr>
      <vt:lpstr>UART</vt:lpstr>
      <vt:lpstr>UART</vt:lpstr>
      <vt:lpstr>6 串口中断使能函数：  HAL_UART_ENABLE_IT</vt:lpstr>
      <vt:lpstr>7 串口中断标志查询函数：  HAL_UART_GET_FLAG</vt:lpstr>
      <vt:lpstr>UART</vt:lpstr>
      <vt:lpstr>3 DMA概述</vt:lpstr>
      <vt:lpstr>DMA的概念</vt:lpstr>
      <vt:lpstr>DMA数据传输方式</vt:lpstr>
      <vt:lpstr>4 DMA方式的接口函数</vt:lpstr>
      <vt:lpstr>PowerPoint 演示文稿</vt:lpstr>
      <vt:lpstr>PowerPoint 演示文稿</vt:lpstr>
      <vt:lpstr>UART</vt:lpstr>
      <vt:lpstr>UART</vt:lpstr>
      <vt:lpstr>空闲中断</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亮亮图文旗舰店</dc:subject>
  <dc:creator/>
  <cp:keywords>更多模版：亮亮图文旗舰店https:/liangliangtuwen.tmall.com</cp:keywords>
  <dc:description>更多模版：亮亮图文旗舰店https://liangliangtuwen.tmall.com</dc:description>
  <cp:lastModifiedBy>bfchen</cp:lastModifiedBy>
  <cp:revision>149</cp:revision>
  <dcterms:created xsi:type="dcterms:W3CDTF">2015-10-07T04:43:00Z</dcterms:created>
  <dcterms:modified xsi:type="dcterms:W3CDTF">2021-12-07T16:13:49Z</dcterms:modified>
  <cp:category>亮亮图文旗舰店</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2052-11.1.0.10578</vt:lpwstr>
  </property>
  <property fmtid="{D5CDD505-2E9C-101B-9397-08002B2CF9AE}" pid="3" name="ICV">
    <vt:lpwstr>3DCA964F61D84C69A65031EAF42AC796</vt:lpwstr>
  </property>
</Properties>
</file>