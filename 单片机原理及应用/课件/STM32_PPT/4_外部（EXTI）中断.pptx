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24" r:id="rId2"/>
    <p:sldId id="292" r:id="rId3"/>
    <p:sldId id="330" r:id="rId4"/>
    <p:sldId id="325" r:id="rId5"/>
    <p:sldId id="341" r:id="rId6"/>
    <p:sldId id="342" r:id="rId7"/>
    <p:sldId id="328" r:id="rId8"/>
    <p:sldId id="345" r:id="rId9"/>
    <p:sldId id="351" r:id="rId10"/>
    <p:sldId id="352" r:id="rId11"/>
    <p:sldId id="353" r:id="rId12"/>
    <p:sldId id="354" r:id="rId13"/>
    <p:sldId id="355" r:id="rId14"/>
    <p:sldId id="343" r:id="rId15"/>
    <p:sldId id="331" r:id="rId16"/>
    <p:sldId id="334" r:id="rId17"/>
    <p:sldId id="335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</p:sldIdLst>
  <p:sldSz cx="12192000" cy="6858000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CB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/>
    <p:restoredTop sz="89074"/>
  </p:normalViewPr>
  <p:slideViewPr>
    <p:cSldViewPr snapToGrid="0">
      <p:cViewPr varScale="1">
        <p:scale>
          <a:sx n="73" d="100"/>
          <a:sy n="73" d="100"/>
        </p:scale>
        <p:origin x="61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656F9-9585-4187-A8F5-014ED01509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050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927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188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3115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852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5891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088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967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822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6D8AE1-B5EA-4501-AE72-5B3F564BB4B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57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9973" y="1885625"/>
            <a:ext cx="4464050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11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6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6</a:t>
            </a:r>
            <a:r>
              <a:rPr sz="6200" noProof="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  外部（EXTI）中断</a:t>
            </a: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60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能力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目标：</a:t>
            </a:r>
            <a:endParaRPr lang="en-US" altLang="zh-CN" sz="2800" b="1" dirty="0" smtClean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sz="24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理解单片机的中断机制，掌握外部中断程序的编制方法。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</a:rPr>
              <a:t>任务要求：</a:t>
            </a:r>
            <a:endParaRPr lang="en-US" altLang="zh-CN" sz="2800" b="1" dirty="0" smtClean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仿真电路如图所示，电路常态为流水灯状态（同3.3节任务），当按下按钮BTN0时，八个LED全亮全灭闪烁三次后再恢复到常态，当按下按钮BTN1时，八个LED间隔交替闪烁三次后再恢复到常态，并且当BTN0与BTN1同时按下或者短时间内先后按下时，系统优先响应BTN1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图片 65" descr="外部中断电路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70" y="440055"/>
            <a:ext cx="8295005" cy="60140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04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.1  中断技术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中断技术是一项十分重要的计算机技术，其作用在于解决快速的CPU与慢速的外围器件之间的矛盾，实现CPU与外围器件“并行”工作。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当外围器件需要CPU执行某项操作时发出中断请求，CPU中断（暂停）当前工作，保存断点，转而执行中断服务程序以处理中断请求，中断服务程序执行完毕后返回断点继续进行原来的工作，流程如图所示。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-2147482605"/>
          <p:cNvGraphicFramePr/>
          <p:nvPr/>
        </p:nvGraphicFramePr>
        <p:xfrm>
          <a:off x="4166235" y="3312795"/>
          <a:ext cx="2519045" cy="328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r:id="rId5" imgW="607695" imgH="856615" progId="Visio.Drawing.11">
                  <p:embed/>
                </p:oleObj>
              </mc:Choice>
              <mc:Fallback>
                <p:oleObj r:id="rId5" imgW="607695" imgH="8566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6235" y="3312795"/>
                        <a:ext cx="2519045" cy="328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.1  中断技术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599168" y="1205195"/>
            <a:ext cx="9602923" cy="54255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问题的提出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fontAlgn="auto">
              <a:spcAft>
                <a:spcPts val="0"/>
              </a:spcAft>
              <a:buNone/>
            </a:pPr>
            <a:r>
              <a:rPr lang="zh-CN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希望仅在按键按下的时候单片机才处理按键事件，消除无谓等待现象，提高单片机的工作效率和实时性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“中断”的概念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fontAlgn="auto">
              <a:spcAft>
                <a:spcPts val="0"/>
              </a:spcAft>
              <a:buNone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正在工作时（如执行主程序），出现紧急情况（来自单片机外部或者内部）请求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立即去处理，于是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暂停正在进行的工作，转而去执行相应的处理程序，待处理完成后，再回到原来被中止的地方继续工作（如继续执行主程序），这称为中断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auto">
              <a:spcAft>
                <a:spcPts val="0"/>
              </a:spcAft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中断有关的几个概念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中断源：产生中断请求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中断响应：单片机对中断请求进行响应（处理）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auto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中断返回：当中断响应完成后返回被中断的地方，继续执行原来的程序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38446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3792539" y="522288"/>
            <a:ext cx="5184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NVIC</a:t>
            </a:r>
            <a:r>
              <a:rPr lang="zh-CN" altLang="en-US"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中断优先级分组</a:t>
            </a:r>
            <a:endParaRPr lang="en-US" altLang="zh-CN" sz="32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>
          <a:xfrm>
            <a:off x="1635126" y="6381751"/>
            <a:ext cx="9032875" cy="320675"/>
          </a:xfrm>
        </p:spPr>
        <p:txBody>
          <a:bodyPr/>
          <a:lstStyle/>
          <a:p>
            <a:pPr>
              <a:defRPr/>
            </a:pP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淘宝店铺：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http://eboard.taobao.com                </a:t>
            </a:r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技术论坛</a:t>
            </a:r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:www.openedv.com</a:t>
            </a:r>
          </a:p>
          <a:p>
            <a:pPr>
              <a:defRPr/>
            </a:pPr>
            <a:endParaRPr lang="en-US" altLang="zh-CN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2" name="矩形 1"/>
          <p:cNvSpPr>
            <a:spLocks noChangeArrowheads="1"/>
          </p:cNvSpPr>
          <p:nvPr/>
        </p:nvSpPr>
        <p:spPr bwMode="auto">
          <a:xfrm>
            <a:off x="1992314" y="1557338"/>
            <a:ext cx="7704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TextBox 3"/>
          <p:cNvSpPr txBox="1">
            <a:spLocks noChangeArrowheads="1"/>
          </p:cNvSpPr>
          <p:nvPr/>
        </p:nvSpPr>
        <p:spPr bwMode="auto">
          <a:xfrm>
            <a:off x="1955801" y="1484314"/>
            <a:ext cx="831691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CM3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内核支持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个中断，其中包含了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个内核中断和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个外部中断，并且具有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级的可编程中断设置。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并没有使用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CM3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内核的全部东西，而是只用了它的一部分。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84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个中断，包括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个内核中断和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68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个可屏蔽中断，具有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级可编程的中断优先级。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STM32F103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系列上面，又只有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可屏蔽中断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107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系列才有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68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个）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56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132841" y="1333500"/>
            <a:ext cx="8651239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CM3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内核支持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个中断，其中包含了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个内核中断和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个外部中断，并且具有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256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级的可编程中断设置。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并没有使用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CM3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内核的全部东西，而是只用了它的一部分。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84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个中断，包括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个内核中断和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68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个可屏蔽中断，具有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级可编程的中断优先级。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STM32F103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系列上面，又只有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可屏蔽中断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107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系列才有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68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个）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" y="1036456"/>
            <a:ext cx="5225415" cy="5983844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614" y="1036456"/>
            <a:ext cx="5375766" cy="6029604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56895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008189" y="2911475"/>
            <a:ext cx="68405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4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几十个中断，怎么管理？</a:t>
            </a:r>
            <a:endParaRPr lang="en-US" altLang="zh-CN" sz="40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Picture 4" descr="C:\Documents and Settings\Administrator\桌面\fd039245d688d43fef84c2697c1ed21b0ef43b7f_副本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276" y="2900363"/>
            <a:ext cx="1908175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0625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1992314" y="1557338"/>
            <a:ext cx="7704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135189" y="1341438"/>
            <a:ext cx="81375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中断管理方法：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2566989" y="2109789"/>
            <a:ext cx="77057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首先，对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中断进行分组，组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0~4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。同时，对每个中断设置一个抢占优先级和一个响应优先级值。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分组配置是在寄存器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SCB-&gt;AIRCR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中配置：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782889" y="3789363"/>
          <a:ext cx="6192837" cy="2228850"/>
        </p:xfrm>
        <a:graphic>
          <a:graphicData uri="http://schemas.openxmlformats.org/drawingml/2006/table">
            <a:tbl>
              <a:tblPr/>
              <a:tblGrid>
                <a:gridCol w="6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组</a:t>
                      </a:r>
                      <a:endParaRPr kumimoji="0" 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AIRCR[10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8]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IP bit[7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4]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分配情况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分配结果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B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111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位抢占优先级，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位响应优先级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110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3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位抢占优先级，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3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位响应优先级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2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101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2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2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2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位抢占优先级，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2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位响应优先级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3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100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3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3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位抢占优先级，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1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位响应优先级</a:t>
                      </a:r>
                      <a:endParaRPr kumimoji="0" 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011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</a:t>
                      </a:r>
                      <a:r>
                        <a:rPr kumimoji="0" 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：</a:t>
                      </a: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</a:t>
                      </a:r>
                      <a:endParaRPr kumimoji="0" lang="zh-CN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266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4</a:t>
                      </a:r>
                      <a:r>
                        <a:rPr kumimoji="0" 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位抢占优先级，</a:t>
                      </a: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0</a:t>
                      </a:r>
                      <a:r>
                        <a:rPr kumimoji="0" 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位响应优先级</a:t>
                      </a:r>
                      <a:endParaRPr kumimoji="0" 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3859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816657" y="1880336"/>
            <a:ext cx="7704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2135189" y="1341439"/>
            <a:ext cx="8137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抢占优先级 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&amp; </a:t>
            </a: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响应优先级区别：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1319893" y="2672499"/>
            <a:ext cx="7704138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高优先级的抢占优先级是可以打断正在进行的低抢占优先级中断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，可以中断嵌套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抢占优先级相同的中断，高响应优先级不可以打断低响应优先级的中断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抢占优先级相同的中断，当两个中断同时发生的情况下，哪个响应优先级高，哪个先执行。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如果两个中断的抢占优先级和响应优先级都是一样的话，则看哪个中断先发生就先执行；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16286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1992314" y="1557338"/>
            <a:ext cx="7704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60985" y="1227601"/>
            <a:ext cx="8137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举例：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613954" y="2357436"/>
            <a:ext cx="1011065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假定设置中断优先级组为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，然后设置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3(RTC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的抢占优先级为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lang="en-US" altLang="zh-CN" sz="2400" b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（外部中断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）的抢占优先级为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zh-CN" sz="2400" b="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（外部中断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）的抢占优先级为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那么这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个中断的优先级顺序为：中断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7&gt;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3&gt;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7580055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960349" y="1583464"/>
            <a:ext cx="77041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103224" y="1367564"/>
            <a:ext cx="813752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u"/>
              <a:defRPr/>
            </a:pPr>
            <a:r>
              <a:rPr lang="zh-CN" altLang="en-US" sz="3200" b="1">
                <a:solidFill>
                  <a:srgbClr val="FF0000"/>
                </a:solidFill>
                <a:ea typeface="宋体" pitchFamily="2" charset="-122"/>
              </a:rPr>
              <a:t>特别说明：</a:t>
            </a:r>
            <a:endParaRPr lang="en-US" altLang="zh-CN" sz="3200" b="1">
              <a:solidFill>
                <a:srgbClr val="FF0000"/>
              </a:solidFill>
              <a:ea typeface="宋体" pitchFamily="2" charset="-122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2400" b="1">
                <a:ea typeface="宋体" pitchFamily="2" charset="-122"/>
              </a:rPr>
              <a:t>一般情况下，系统代码执行过程中，只设置一次中断优先级分组，比如分组</a:t>
            </a:r>
            <a:r>
              <a:rPr lang="en-US" altLang="zh-CN" sz="2400" b="1">
                <a:ea typeface="宋体" pitchFamily="2" charset="-122"/>
              </a:rPr>
              <a:t>2</a:t>
            </a:r>
            <a:r>
              <a:rPr lang="zh-CN" altLang="en-US" sz="2400" b="1">
                <a:ea typeface="宋体" pitchFamily="2" charset="-122"/>
              </a:rPr>
              <a:t>，设置好分组之后一般不会再改变分组。随意改变分组会导致中断管理混乱，程序出现意想不到的执行结果。</a:t>
            </a:r>
            <a:endParaRPr lang="en-US" altLang="zh-CN" sz="2400" b="1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682357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57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STM32的中断系统概述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STM32可以根据实际需要设定中断优先级来解决不同中断源抢占CPU资源时的矛盾，中断的优先级可在如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下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图所示NVIC（Nested Vectored Interrupt Controller，内嵌向量中断控制器）配置界面中设定。打开该界面的顺序为，在图形化配置画面中，依次点击“System view”→“NVIC”。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2050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图片 7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285" y="276860"/>
            <a:ext cx="7795895" cy="630428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56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6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.3  STM32的外部中断（EXTI）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（1）外部中断概述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STM32所有的GPIO引脚均支持外部中断（EXTI），但值得注意的是，并非每一个GPIO引脚都独享一个外部中断（EXTI）资源，如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下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图所示为GPIO引脚与外部中断（EXTI）之间的连接关系。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图片 99"/>
          <p:cNvPicPr/>
          <p:nvPr/>
        </p:nvPicPr>
        <p:blipFill>
          <a:blip r:embed="rId4"/>
          <a:stretch>
            <a:fillRect/>
          </a:stretch>
        </p:blipFill>
        <p:spPr>
          <a:xfrm>
            <a:off x="1310005" y="2999105"/>
            <a:ext cx="2750185" cy="25984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5"/>
          <a:stretch>
            <a:fillRect/>
          </a:stretch>
        </p:blipFill>
        <p:spPr>
          <a:xfrm>
            <a:off x="4060190" y="3002915"/>
            <a:ext cx="2471420" cy="2594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文本框 101"/>
          <p:cNvSpPr txBox="1"/>
          <p:nvPr/>
        </p:nvSpPr>
        <p:spPr>
          <a:xfrm>
            <a:off x="6790055" y="4067810"/>
            <a:ext cx="8547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  <a:endParaRPr lang="en-US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7851775" y="2999105"/>
            <a:ext cx="2879090" cy="2594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44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外部中断（EXTI）从EXTI0~EXTI18，共计19条中断线，其中EXTI16~EXTI18三组为专用中断线，本课程不做讨论，本节内容仅涉及到EXTI0~EXTI15共计16条中断线。以EXTI0为例，在PA0、PB0……PG0之中，最多只能有一个GPIO引脚被连接到EXTI0，其他以此类推。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STM32的外部中断（EXTI）支持三种触发方式，分别是：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 dirty="0" smtClean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上升沿触发方式，即EXTI对应的GPIO引脚捕获到上升沿信号时触发中断；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 dirty="0" smtClean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下降沿触发方式，即EXTI对应的GPIO引脚捕获到下降沿信号时触发中断；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400" b="1" dirty="0" smtClean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● 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双边沿触发方式，即EXTI对应的GPIO引脚捕获到上升沿或者下降沿信号时触发中断。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（2）中断服务程序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中断服务程序对应的API函数在操作时具体介绍。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8175" y="1447801"/>
            <a:ext cx="7670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是不是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个中断线就可以分配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个中断服务函数呢？</a:t>
            </a: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908176" y="2133601"/>
            <a:ext cx="8677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IO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口外部中断在中断向量表中只分配了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个中断向量，也就是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只能使用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个中断服务函数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3141663"/>
            <a:ext cx="6972300" cy="2114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424114" y="5516563"/>
            <a:ext cx="77882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从表中可以看出，外部中断线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5~9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分配一个中断向量，共用一个服务函数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外部中断线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10~15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分配一个中断向量，共用一个中断服务函数。</a:t>
            </a:r>
          </a:p>
        </p:txBody>
      </p:sp>
    </p:spTree>
    <p:extLst>
      <p:ext uri="{BB962C8B-B14F-4D97-AF65-F5344CB8AC3E}">
        <p14:creationId xmlns:p14="http://schemas.microsoft.com/office/powerpoint/2010/main" val="13153176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6184" y="1150228"/>
            <a:ext cx="1854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</a:rPr>
              <a:t>数据传输方式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253995" y="2727960"/>
            <a:ext cx="7554595" cy="0"/>
          </a:xfrm>
          <a:custGeom>
            <a:avLst/>
            <a:gdLst/>
            <a:ahLst/>
            <a:cxnLst/>
            <a:rect l="l" t="t" r="r" b="b"/>
            <a:pathLst>
              <a:path w="7554595">
                <a:moveTo>
                  <a:pt x="0" y="0"/>
                </a:moveTo>
                <a:lnTo>
                  <a:pt x="7554340" y="0"/>
                </a:lnTo>
              </a:path>
            </a:pathLst>
          </a:custGeom>
          <a:ln w="5791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23847" y="2727960"/>
            <a:ext cx="260350" cy="812165"/>
          </a:xfrm>
          <a:custGeom>
            <a:avLst/>
            <a:gdLst/>
            <a:ahLst/>
            <a:cxnLst/>
            <a:rect l="l" t="t" r="r" b="b"/>
            <a:pathLst>
              <a:path w="260350" h="812164">
                <a:moveTo>
                  <a:pt x="32617" y="552937"/>
                </a:moveTo>
                <a:lnTo>
                  <a:pt x="20552" y="554651"/>
                </a:lnTo>
                <a:lnTo>
                  <a:pt x="7086" y="561299"/>
                </a:lnTo>
                <a:lnTo>
                  <a:pt x="1226" y="571629"/>
                </a:lnTo>
                <a:lnTo>
                  <a:pt x="0" y="583390"/>
                </a:lnTo>
                <a:lnTo>
                  <a:pt x="3783" y="594994"/>
                </a:lnTo>
                <a:lnTo>
                  <a:pt x="130148" y="811656"/>
                </a:lnTo>
                <a:lnTo>
                  <a:pt x="163629" y="754252"/>
                </a:lnTo>
                <a:lnTo>
                  <a:pt x="101192" y="754252"/>
                </a:lnTo>
                <a:lnTo>
                  <a:pt x="101192" y="647589"/>
                </a:lnTo>
                <a:lnTo>
                  <a:pt x="50882" y="561781"/>
                </a:lnTo>
                <a:lnTo>
                  <a:pt x="42866" y="555525"/>
                </a:lnTo>
                <a:lnTo>
                  <a:pt x="32617" y="552937"/>
                </a:lnTo>
                <a:close/>
              </a:path>
              <a:path w="260350" h="812164">
                <a:moveTo>
                  <a:pt x="101192" y="647589"/>
                </a:moveTo>
                <a:lnTo>
                  <a:pt x="101192" y="754252"/>
                </a:lnTo>
                <a:lnTo>
                  <a:pt x="159104" y="754252"/>
                </a:lnTo>
                <a:lnTo>
                  <a:pt x="159104" y="739648"/>
                </a:lnTo>
                <a:lnTo>
                  <a:pt x="105129" y="739648"/>
                </a:lnTo>
                <a:lnTo>
                  <a:pt x="130085" y="696867"/>
                </a:lnTo>
                <a:lnTo>
                  <a:pt x="101192" y="647589"/>
                </a:lnTo>
                <a:close/>
              </a:path>
              <a:path w="260350" h="812164">
                <a:moveTo>
                  <a:pt x="237340" y="552109"/>
                </a:moveTo>
                <a:lnTo>
                  <a:pt x="225518" y="552138"/>
                </a:lnTo>
                <a:lnTo>
                  <a:pt x="214729" y="556878"/>
                </a:lnTo>
                <a:lnTo>
                  <a:pt x="206475" y="565912"/>
                </a:lnTo>
                <a:lnTo>
                  <a:pt x="159104" y="647119"/>
                </a:lnTo>
                <a:lnTo>
                  <a:pt x="159104" y="754252"/>
                </a:lnTo>
                <a:lnTo>
                  <a:pt x="163629" y="754252"/>
                </a:lnTo>
                <a:lnTo>
                  <a:pt x="256513" y="594994"/>
                </a:lnTo>
                <a:lnTo>
                  <a:pt x="258263" y="591453"/>
                </a:lnTo>
                <a:lnTo>
                  <a:pt x="260164" y="581237"/>
                </a:lnTo>
                <a:lnTo>
                  <a:pt x="257572" y="570772"/>
                </a:lnTo>
                <a:lnTo>
                  <a:pt x="250095" y="560812"/>
                </a:lnTo>
                <a:lnTo>
                  <a:pt x="237340" y="552109"/>
                </a:lnTo>
                <a:close/>
              </a:path>
              <a:path w="260350" h="812164">
                <a:moveTo>
                  <a:pt x="130085" y="696867"/>
                </a:moveTo>
                <a:lnTo>
                  <a:pt x="105129" y="739648"/>
                </a:lnTo>
                <a:lnTo>
                  <a:pt x="155167" y="739648"/>
                </a:lnTo>
                <a:lnTo>
                  <a:pt x="130085" y="696867"/>
                </a:lnTo>
                <a:close/>
              </a:path>
              <a:path w="260350" h="812164">
                <a:moveTo>
                  <a:pt x="159104" y="647119"/>
                </a:moveTo>
                <a:lnTo>
                  <a:pt x="130085" y="696867"/>
                </a:lnTo>
                <a:lnTo>
                  <a:pt x="155167" y="739648"/>
                </a:lnTo>
                <a:lnTo>
                  <a:pt x="159104" y="739648"/>
                </a:lnTo>
                <a:lnTo>
                  <a:pt x="159104" y="647119"/>
                </a:lnTo>
                <a:close/>
              </a:path>
              <a:path w="260350" h="812164">
                <a:moveTo>
                  <a:pt x="159104" y="0"/>
                </a:moveTo>
                <a:lnTo>
                  <a:pt x="101192" y="0"/>
                </a:lnTo>
                <a:lnTo>
                  <a:pt x="101192" y="647589"/>
                </a:lnTo>
                <a:lnTo>
                  <a:pt x="130085" y="696867"/>
                </a:lnTo>
                <a:lnTo>
                  <a:pt x="159104" y="647119"/>
                </a:lnTo>
                <a:lnTo>
                  <a:pt x="15910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67403" y="2727960"/>
            <a:ext cx="260350" cy="812165"/>
          </a:xfrm>
          <a:custGeom>
            <a:avLst/>
            <a:gdLst/>
            <a:ahLst/>
            <a:cxnLst/>
            <a:rect l="l" t="t" r="r" b="b"/>
            <a:pathLst>
              <a:path w="260350" h="812164">
                <a:moveTo>
                  <a:pt x="32617" y="552937"/>
                </a:moveTo>
                <a:lnTo>
                  <a:pt x="20552" y="554651"/>
                </a:lnTo>
                <a:lnTo>
                  <a:pt x="7086" y="561299"/>
                </a:lnTo>
                <a:lnTo>
                  <a:pt x="1226" y="571629"/>
                </a:lnTo>
                <a:lnTo>
                  <a:pt x="0" y="583390"/>
                </a:lnTo>
                <a:lnTo>
                  <a:pt x="3783" y="594994"/>
                </a:lnTo>
                <a:lnTo>
                  <a:pt x="130148" y="811656"/>
                </a:lnTo>
                <a:lnTo>
                  <a:pt x="163629" y="754252"/>
                </a:lnTo>
                <a:lnTo>
                  <a:pt x="101192" y="754252"/>
                </a:lnTo>
                <a:lnTo>
                  <a:pt x="101192" y="647589"/>
                </a:lnTo>
                <a:lnTo>
                  <a:pt x="50882" y="561781"/>
                </a:lnTo>
                <a:lnTo>
                  <a:pt x="42866" y="555525"/>
                </a:lnTo>
                <a:lnTo>
                  <a:pt x="32617" y="552937"/>
                </a:lnTo>
                <a:close/>
              </a:path>
              <a:path w="260350" h="812164">
                <a:moveTo>
                  <a:pt x="101192" y="647589"/>
                </a:moveTo>
                <a:lnTo>
                  <a:pt x="101192" y="754252"/>
                </a:lnTo>
                <a:lnTo>
                  <a:pt x="159104" y="754252"/>
                </a:lnTo>
                <a:lnTo>
                  <a:pt x="159104" y="739648"/>
                </a:lnTo>
                <a:lnTo>
                  <a:pt x="105129" y="739648"/>
                </a:lnTo>
                <a:lnTo>
                  <a:pt x="130085" y="696867"/>
                </a:lnTo>
                <a:lnTo>
                  <a:pt x="101192" y="647589"/>
                </a:lnTo>
                <a:close/>
              </a:path>
              <a:path w="260350" h="812164">
                <a:moveTo>
                  <a:pt x="237340" y="552109"/>
                </a:moveTo>
                <a:lnTo>
                  <a:pt x="225518" y="552138"/>
                </a:lnTo>
                <a:lnTo>
                  <a:pt x="214729" y="556878"/>
                </a:lnTo>
                <a:lnTo>
                  <a:pt x="206475" y="565912"/>
                </a:lnTo>
                <a:lnTo>
                  <a:pt x="159104" y="647119"/>
                </a:lnTo>
                <a:lnTo>
                  <a:pt x="159104" y="754252"/>
                </a:lnTo>
                <a:lnTo>
                  <a:pt x="163629" y="754252"/>
                </a:lnTo>
                <a:lnTo>
                  <a:pt x="256513" y="594994"/>
                </a:lnTo>
                <a:lnTo>
                  <a:pt x="258263" y="591453"/>
                </a:lnTo>
                <a:lnTo>
                  <a:pt x="260164" y="581237"/>
                </a:lnTo>
                <a:lnTo>
                  <a:pt x="257572" y="570772"/>
                </a:lnTo>
                <a:lnTo>
                  <a:pt x="250095" y="560812"/>
                </a:lnTo>
                <a:lnTo>
                  <a:pt x="237340" y="552109"/>
                </a:lnTo>
                <a:close/>
              </a:path>
              <a:path w="260350" h="812164">
                <a:moveTo>
                  <a:pt x="130085" y="696867"/>
                </a:moveTo>
                <a:lnTo>
                  <a:pt x="105129" y="739648"/>
                </a:lnTo>
                <a:lnTo>
                  <a:pt x="155167" y="739648"/>
                </a:lnTo>
                <a:lnTo>
                  <a:pt x="130085" y="696867"/>
                </a:lnTo>
                <a:close/>
              </a:path>
              <a:path w="260350" h="812164">
                <a:moveTo>
                  <a:pt x="159104" y="647119"/>
                </a:moveTo>
                <a:lnTo>
                  <a:pt x="130085" y="696867"/>
                </a:lnTo>
                <a:lnTo>
                  <a:pt x="155167" y="739648"/>
                </a:lnTo>
                <a:lnTo>
                  <a:pt x="159104" y="739648"/>
                </a:lnTo>
                <a:lnTo>
                  <a:pt x="159104" y="647119"/>
                </a:lnTo>
                <a:close/>
              </a:path>
              <a:path w="260350" h="812164">
                <a:moveTo>
                  <a:pt x="159104" y="0"/>
                </a:moveTo>
                <a:lnTo>
                  <a:pt x="101192" y="0"/>
                </a:lnTo>
                <a:lnTo>
                  <a:pt x="101192" y="647589"/>
                </a:lnTo>
                <a:lnTo>
                  <a:pt x="130085" y="696867"/>
                </a:lnTo>
                <a:lnTo>
                  <a:pt x="159104" y="647119"/>
                </a:lnTo>
                <a:lnTo>
                  <a:pt x="15910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13066" y="2727960"/>
            <a:ext cx="260350" cy="812165"/>
          </a:xfrm>
          <a:custGeom>
            <a:avLst/>
            <a:gdLst/>
            <a:ahLst/>
            <a:cxnLst/>
            <a:rect l="l" t="t" r="r" b="b"/>
            <a:pathLst>
              <a:path w="260350" h="812164">
                <a:moveTo>
                  <a:pt x="32617" y="552937"/>
                </a:moveTo>
                <a:lnTo>
                  <a:pt x="20552" y="554651"/>
                </a:lnTo>
                <a:lnTo>
                  <a:pt x="7086" y="561299"/>
                </a:lnTo>
                <a:lnTo>
                  <a:pt x="1226" y="571629"/>
                </a:lnTo>
                <a:lnTo>
                  <a:pt x="0" y="583390"/>
                </a:lnTo>
                <a:lnTo>
                  <a:pt x="3783" y="594994"/>
                </a:lnTo>
                <a:lnTo>
                  <a:pt x="130148" y="811656"/>
                </a:lnTo>
                <a:lnTo>
                  <a:pt x="163629" y="754252"/>
                </a:lnTo>
                <a:lnTo>
                  <a:pt x="101192" y="754252"/>
                </a:lnTo>
                <a:lnTo>
                  <a:pt x="101192" y="647589"/>
                </a:lnTo>
                <a:lnTo>
                  <a:pt x="50882" y="561781"/>
                </a:lnTo>
                <a:lnTo>
                  <a:pt x="42866" y="555525"/>
                </a:lnTo>
                <a:lnTo>
                  <a:pt x="32617" y="552937"/>
                </a:lnTo>
                <a:close/>
              </a:path>
              <a:path w="260350" h="812164">
                <a:moveTo>
                  <a:pt x="101192" y="647589"/>
                </a:moveTo>
                <a:lnTo>
                  <a:pt x="101192" y="754252"/>
                </a:lnTo>
                <a:lnTo>
                  <a:pt x="159104" y="754252"/>
                </a:lnTo>
                <a:lnTo>
                  <a:pt x="159104" y="739648"/>
                </a:lnTo>
                <a:lnTo>
                  <a:pt x="105129" y="739648"/>
                </a:lnTo>
                <a:lnTo>
                  <a:pt x="130085" y="696867"/>
                </a:lnTo>
                <a:lnTo>
                  <a:pt x="101192" y="647589"/>
                </a:lnTo>
                <a:close/>
              </a:path>
              <a:path w="260350" h="812164">
                <a:moveTo>
                  <a:pt x="237327" y="552109"/>
                </a:moveTo>
                <a:lnTo>
                  <a:pt x="225474" y="552138"/>
                </a:lnTo>
                <a:lnTo>
                  <a:pt x="214674" y="556878"/>
                </a:lnTo>
                <a:lnTo>
                  <a:pt x="206475" y="565912"/>
                </a:lnTo>
                <a:lnTo>
                  <a:pt x="159104" y="647119"/>
                </a:lnTo>
                <a:lnTo>
                  <a:pt x="159104" y="754252"/>
                </a:lnTo>
                <a:lnTo>
                  <a:pt x="163629" y="754252"/>
                </a:lnTo>
                <a:lnTo>
                  <a:pt x="256513" y="594994"/>
                </a:lnTo>
                <a:lnTo>
                  <a:pt x="258265" y="591447"/>
                </a:lnTo>
                <a:lnTo>
                  <a:pt x="260163" y="581232"/>
                </a:lnTo>
                <a:lnTo>
                  <a:pt x="257569" y="570769"/>
                </a:lnTo>
                <a:lnTo>
                  <a:pt x="250088" y="560811"/>
                </a:lnTo>
                <a:lnTo>
                  <a:pt x="237327" y="552109"/>
                </a:lnTo>
                <a:close/>
              </a:path>
              <a:path w="260350" h="812164">
                <a:moveTo>
                  <a:pt x="130085" y="696867"/>
                </a:moveTo>
                <a:lnTo>
                  <a:pt x="105129" y="739648"/>
                </a:lnTo>
                <a:lnTo>
                  <a:pt x="155167" y="739648"/>
                </a:lnTo>
                <a:lnTo>
                  <a:pt x="130085" y="696867"/>
                </a:lnTo>
                <a:close/>
              </a:path>
              <a:path w="260350" h="812164">
                <a:moveTo>
                  <a:pt x="159104" y="647119"/>
                </a:moveTo>
                <a:lnTo>
                  <a:pt x="130085" y="696867"/>
                </a:lnTo>
                <a:lnTo>
                  <a:pt x="155167" y="739648"/>
                </a:lnTo>
                <a:lnTo>
                  <a:pt x="159104" y="739648"/>
                </a:lnTo>
                <a:lnTo>
                  <a:pt x="159104" y="647119"/>
                </a:lnTo>
                <a:close/>
              </a:path>
              <a:path w="260350" h="812164">
                <a:moveTo>
                  <a:pt x="159104" y="0"/>
                </a:moveTo>
                <a:lnTo>
                  <a:pt x="101192" y="0"/>
                </a:lnTo>
                <a:lnTo>
                  <a:pt x="101192" y="647589"/>
                </a:lnTo>
                <a:lnTo>
                  <a:pt x="130085" y="696867"/>
                </a:lnTo>
                <a:lnTo>
                  <a:pt x="159104" y="647119"/>
                </a:lnTo>
                <a:lnTo>
                  <a:pt x="15910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675266" y="2727960"/>
            <a:ext cx="260350" cy="812165"/>
          </a:xfrm>
          <a:custGeom>
            <a:avLst/>
            <a:gdLst/>
            <a:ahLst/>
            <a:cxnLst/>
            <a:rect l="l" t="t" r="r" b="b"/>
            <a:pathLst>
              <a:path w="260350" h="812164">
                <a:moveTo>
                  <a:pt x="32617" y="552937"/>
                </a:moveTo>
                <a:lnTo>
                  <a:pt x="20552" y="554651"/>
                </a:lnTo>
                <a:lnTo>
                  <a:pt x="7086" y="561299"/>
                </a:lnTo>
                <a:lnTo>
                  <a:pt x="1226" y="571629"/>
                </a:lnTo>
                <a:lnTo>
                  <a:pt x="0" y="583390"/>
                </a:lnTo>
                <a:lnTo>
                  <a:pt x="3783" y="594994"/>
                </a:lnTo>
                <a:lnTo>
                  <a:pt x="130148" y="811656"/>
                </a:lnTo>
                <a:lnTo>
                  <a:pt x="163629" y="754252"/>
                </a:lnTo>
                <a:lnTo>
                  <a:pt x="101192" y="754252"/>
                </a:lnTo>
                <a:lnTo>
                  <a:pt x="101192" y="647589"/>
                </a:lnTo>
                <a:lnTo>
                  <a:pt x="50882" y="561781"/>
                </a:lnTo>
                <a:lnTo>
                  <a:pt x="42866" y="555525"/>
                </a:lnTo>
                <a:lnTo>
                  <a:pt x="32617" y="552937"/>
                </a:lnTo>
                <a:close/>
              </a:path>
              <a:path w="260350" h="812164">
                <a:moveTo>
                  <a:pt x="101192" y="647589"/>
                </a:moveTo>
                <a:lnTo>
                  <a:pt x="101192" y="754252"/>
                </a:lnTo>
                <a:lnTo>
                  <a:pt x="159104" y="754252"/>
                </a:lnTo>
                <a:lnTo>
                  <a:pt x="159104" y="739648"/>
                </a:lnTo>
                <a:lnTo>
                  <a:pt x="105129" y="739648"/>
                </a:lnTo>
                <a:lnTo>
                  <a:pt x="130085" y="696867"/>
                </a:lnTo>
                <a:lnTo>
                  <a:pt x="101192" y="647589"/>
                </a:lnTo>
                <a:close/>
              </a:path>
              <a:path w="260350" h="812164">
                <a:moveTo>
                  <a:pt x="237327" y="552109"/>
                </a:moveTo>
                <a:lnTo>
                  <a:pt x="225474" y="552138"/>
                </a:lnTo>
                <a:lnTo>
                  <a:pt x="214674" y="556878"/>
                </a:lnTo>
                <a:lnTo>
                  <a:pt x="206475" y="565912"/>
                </a:lnTo>
                <a:lnTo>
                  <a:pt x="159104" y="647119"/>
                </a:lnTo>
                <a:lnTo>
                  <a:pt x="159104" y="754252"/>
                </a:lnTo>
                <a:lnTo>
                  <a:pt x="163629" y="754252"/>
                </a:lnTo>
                <a:lnTo>
                  <a:pt x="256513" y="594994"/>
                </a:lnTo>
                <a:lnTo>
                  <a:pt x="258265" y="591447"/>
                </a:lnTo>
                <a:lnTo>
                  <a:pt x="260163" y="581232"/>
                </a:lnTo>
                <a:lnTo>
                  <a:pt x="257569" y="570769"/>
                </a:lnTo>
                <a:lnTo>
                  <a:pt x="250088" y="560811"/>
                </a:lnTo>
                <a:lnTo>
                  <a:pt x="237327" y="552109"/>
                </a:lnTo>
                <a:close/>
              </a:path>
              <a:path w="260350" h="812164">
                <a:moveTo>
                  <a:pt x="130085" y="696867"/>
                </a:moveTo>
                <a:lnTo>
                  <a:pt x="105129" y="739648"/>
                </a:lnTo>
                <a:lnTo>
                  <a:pt x="155167" y="739648"/>
                </a:lnTo>
                <a:lnTo>
                  <a:pt x="130085" y="696867"/>
                </a:lnTo>
                <a:close/>
              </a:path>
              <a:path w="260350" h="812164">
                <a:moveTo>
                  <a:pt x="159104" y="647119"/>
                </a:moveTo>
                <a:lnTo>
                  <a:pt x="130085" y="696867"/>
                </a:lnTo>
                <a:lnTo>
                  <a:pt x="155167" y="739648"/>
                </a:lnTo>
                <a:lnTo>
                  <a:pt x="159104" y="739648"/>
                </a:lnTo>
                <a:lnTo>
                  <a:pt x="159104" y="647119"/>
                </a:lnTo>
                <a:close/>
              </a:path>
              <a:path w="260350" h="812164">
                <a:moveTo>
                  <a:pt x="159104" y="0"/>
                </a:moveTo>
                <a:lnTo>
                  <a:pt x="101192" y="0"/>
                </a:lnTo>
                <a:lnTo>
                  <a:pt x="101192" y="647589"/>
                </a:lnTo>
                <a:lnTo>
                  <a:pt x="130085" y="696867"/>
                </a:lnTo>
                <a:lnTo>
                  <a:pt x="159104" y="647119"/>
                </a:lnTo>
                <a:lnTo>
                  <a:pt x="15910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11240" y="2206751"/>
            <a:ext cx="0" cy="521970"/>
          </a:xfrm>
          <a:custGeom>
            <a:avLst/>
            <a:gdLst/>
            <a:ahLst/>
            <a:cxnLst/>
            <a:rect l="l" t="t" r="r" b="b"/>
            <a:pathLst>
              <a:path h="521969">
                <a:moveTo>
                  <a:pt x="0" y="0"/>
                </a:moveTo>
                <a:lnTo>
                  <a:pt x="0" y="521462"/>
                </a:lnTo>
              </a:path>
            </a:pathLst>
          </a:custGeom>
          <a:ln w="5791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4780" y="4509575"/>
            <a:ext cx="2316480" cy="165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处理器不必了解外部 设备状态，直接进行 数据传输，用于指示 灯和按键等简单设备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5105" y="4509575"/>
            <a:ext cx="2319020" cy="165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b="1" spc="5" dirty="0">
                <a:solidFill>
                  <a:srgbClr val="404040"/>
                </a:solidFill>
                <a:latin typeface="微软雅黑"/>
                <a:cs typeface="微软雅黑"/>
              </a:rPr>
              <a:t>传输前，一方先查询 </a:t>
            </a: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另一方的状态，若已 经准备好就传输，否 </a:t>
            </a:r>
            <a:r>
              <a:rPr sz="2000" b="1" spc="5" dirty="0">
                <a:solidFill>
                  <a:srgbClr val="404040"/>
                </a:solidFill>
                <a:latin typeface="微软雅黑"/>
                <a:cs typeface="微软雅黑"/>
              </a:rPr>
              <a:t>则就继续查询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30544" y="4509575"/>
            <a:ext cx="2316480" cy="165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一方通过申请中断的 方式与另一方进行数 据传输，收发双方可 以并行工作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60663" y="4509575"/>
            <a:ext cx="2316480" cy="1652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b="1" dirty="0">
                <a:solidFill>
                  <a:srgbClr val="404040"/>
                </a:solidFill>
                <a:latin typeface="微软雅黑"/>
                <a:cs typeface="微软雅黑"/>
              </a:rPr>
              <a:t>处理器内部建立片内 外设和内存之间的数 据传输通道，传输过 程不需要处理器参与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09900" y="1376172"/>
            <a:ext cx="6148070" cy="160020"/>
          </a:xfrm>
          <a:custGeom>
            <a:avLst/>
            <a:gdLst/>
            <a:ahLst/>
            <a:cxnLst/>
            <a:rect l="l" t="t" r="r" b="b"/>
            <a:pathLst>
              <a:path w="6148070" h="160019">
                <a:moveTo>
                  <a:pt x="0" y="160020"/>
                </a:moveTo>
                <a:lnTo>
                  <a:pt x="6147815" y="160020"/>
                </a:lnTo>
                <a:lnTo>
                  <a:pt x="6147815" y="0"/>
                </a:lnTo>
                <a:lnTo>
                  <a:pt x="0" y="0"/>
                </a:lnTo>
                <a:lnTo>
                  <a:pt x="0" y="160020"/>
                </a:lnTo>
                <a:close/>
              </a:path>
            </a:pathLst>
          </a:custGeom>
          <a:solidFill>
            <a:srgbClr val="0983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09900" y="2060448"/>
            <a:ext cx="6148070" cy="146685"/>
          </a:xfrm>
          <a:custGeom>
            <a:avLst/>
            <a:gdLst/>
            <a:ahLst/>
            <a:cxnLst/>
            <a:rect l="l" t="t" r="r" b="b"/>
            <a:pathLst>
              <a:path w="6148070" h="146685">
                <a:moveTo>
                  <a:pt x="0" y="146303"/>
                </a:moveTo>
                <a:lnTo>
                  <a:pt x="6147815" y="146303"/>
                </a:lnTo>
                <a:lnTo>
                  <a:pt x="6147815" y="0"/>
                </a:lnTo>
                <a:lnTo>
                  <a:pt x="0" y="0"/>
                </a:lnTo>
                <a:lnTo>
                  <a:pt x="0" y="146303"/>
                </a:lnTo>
                <a:close/>
              </a:path>
            </a:pathLst>
          </a:custGeom>
          <a:solidFill>
            <a:srgbClr val="0983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09900" y="1536191"/>
            <a:ext cx="6148070" cy="524510"/>
          </a:xfrm>
          <a:custGeom>
            <a:avLst/>
            <a:gdLst/>
            <a:ahLst/>
            <a:cxnLst/>
            <a:rect l="l" t="t" r="r" b="b"/>
            <a:pathLst>
              <a:path w="6148070" h="524510">
                <a:moveTo>
                  <a:pt x="0" y="524255"/>
                </a:moveTo>
                <a:lnTo>
                  <a:pt x="6147815" y="524255"/>
                </a:lnTo>
                <a:lnTo>
                  <a:pt x="6147815" y="0"/>
                </a:lnTo>
                <a:lnTo>
                  <a:pt x="0" y="0"/>
                </a:lnTo>
                <a:lnTo>
                  <a:pt x="0" y="524255"/>
                </a:lnTo>
                <a:close/>
              </a:path>
            </a:pathLst>
          </a:custGeom>
          <a:solidFill>
            <a:srgbClr val="0983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123057" y="1626799"/>
            <a:ext cx="592328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295" dirty="0">
                <a:solidFill>
                  <a:srgbClr val="FFFFFF"/>
                </a:solidFill>
                <a:latin typeface="微软雅黑"/>
                <a:cs typeface="微软雅黑"/>
              </a:rPr>
              <a:t>处理器和外部设备的数据传输方</a:t>
            </a:r>
            <a:r>
              <a:rPr sz="2800" b="1" spc="-5" dirty="0">
                <a:solidFill>
                  <a:srgbClr val="FFFFFF"/>
                </a:solidFill>
                <a:latin typeface="微软雅黑"/>
                <a:cs typeface="微软雅黑"/>
              </a:rPr>
              <a:t>式</a:t>
            </a:r>
            <a:r>
              <a:rPr sz="2800" b="1" spc="-53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1267" y="3540252"/>
            <a:ext cx="2385060" cy="721360"/>
          </a:xfrm>
          <a:prstGeom prst="rect">
            <a:avLst/>
          </a:prstGeom>
          <a:solidFill>
            <a:srgbClr val="179A44"/>
          </a:solidFill>
        </p:spPr>
        <p:txBody>
          <a:bodyPr vert="horz" wrap="square" lIns="0" tIns="0" rIns="0" bIns="0" rtlCol="0">
            <a:spAutoFit/>
          </a:bodyPr>
          <a:lstStyle/>
          <a:p>
            <a:pPr marL="42989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无条件传输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6828" y="3540252"/>
            <a:ext cx="2383790" cy="721360"/>
          </a:xfrm>
          <a:prstGeom prst="rect">
            <a:avLst/>
          </a:prstGeom>
          <a:solidFill>
            <a:srgbClr val="F9AE3A"/>
          </a:solidFill>
        </p:spPr>
        <p:txBody>
          <a:bodyPr vert="horz" wrap="square" lIns="0" tIns="0" rIns="0" bIns="0" rtlCol="0">
            <a:spAutoFit/>
          </a:bodyPr>
          <a:lstStyle/>
          <a:p>
            <a:pPr marL="58229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查询方式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90488" y="3540252"/>
            <a:ext cx="2385060" cy="721360"/>
          </a:xfrm>
          <a:prstGeom prst="rect">
            <a:avLst/>
          </a:prstGeom>
          <a:solidFill>
            <a:srgbClr val="EF5A23"/>
          </a:solidFill>
        </p:spPr>
        <p:txBody>
          <a:bodyPr vert="horz" wrap="square" lIns="0" tIns="0" rIns="0" bIns="0" rtlCol="0">
            <a:spAutoFit/>
          </a:bodyPr>
          <a:lstStyle/>
          <a:p>
            <a:pPr marL="62992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中断方式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05671" y="3540252"/>
            <a:ext cx="2385060" cy="721360"/>
          </a:xfrm>
          <a:prstGeom prst="rect">
            <a:avLst/>
          </a:prstGeom>
          <a:solidFill>
            <a:srgbClr val="A261C4"/>
          </a:solidFill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直接存储器访问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81872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1840" y="1150228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中断概念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8566" y="2109977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241" y="815"/>
                </a:lnTo>
                <a:lnTo>
                  <a:pt x="19746" y="20467"/>
                </a:lnTo>
                <a:lnTo>
                  <a:pt x="1381" y="59542"/>
                </a:lnTo>
                <a:lnTo>
                  <a:pt x="0" y="75311"/>
                </a:lnTo>
                <a:lnTo>
                  <a:pt x="605" y="621559"/>
                </a:lnTo>
                <a:lnTo>
                  <a:pt x="16893" y="661995"/>
                </a:lnTo>
                <a:lnTo>
                  <a:pt x="49365" y="684135"/>
                </a:lnTo>
                <a:lnTo>
                  <a:pt x="62382" y="685800"/>
                </a:lnTo>
                <a:lnTo>
                  <a:pt x="10451336" y="685081"/>
                </a:lnTo>
                <a:lnTo>
                  <a:pt x="10485295" y="665669"/>
                </a:lnTo>
                <a:lnTo>
                  <a:pt x="10503571" y="626852"/>
                </a:lnTo>
                <a:lnTo>
                  <a:pt x="10504932" y="611251"/>
                </a:lnTo>
                <a:lnTo>
                  <a:pt x="10504268" y="64183"/>
                </a:lnTo>
                <a:lnTo>
                  <a:pt x="10488147" y="23656"/>
                </a:lnTo>
                <a:lnTo>
                  <a:pt x="10455761" y="1647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8566" y="2109977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761" y="1647"/>
                </a:lnTo>
                <a:lnTo>
                  <a:pt x="10488147" y="23656"/>
                </a:lnTo>
                <a:lnTo>
                  <a:pt x="10504268" y="64183"/>
                </a:lnTo>
                <a:lnTo>
                  <a:pt x="10504932" y="611251"/>
                </a:lnTo>
                <a:lnTo>
                  <a:pt x="10503571" y="626852"/>
                </a:lnTo>
                <a:lnTo>
                  <a:pt x="10485295" y="665669"/>
                </a:lnTo>
                <a:lnTo>
                  <a:pt x="10451336" y="685081"/>
                </a:lnTo>
                <a:lnTo>
                  <a:pt x="62382" y="685800"/>
                </a:lnTo>
                <a:lnTo>
                  <a:pt x="49365" y="684135"/>
                </a:lnTo>
                <a:lnTo>
                  <a:pt x="16893" y="661995"/>
                </a:lnTo>
                <a:lnTo>
                  <a:pt x="605" y="621559"/>
                </a:lnTo>
                <a:lnTo>
                  <a:pt x="0" y="75311"/>
                </a:lnTo>
                <a:lnTo>
                  <a:pt x="1381" y="59542"/>
                </a:lnTo>
                <a:lnTo>
                  <a:pt x="19746" y="20467"/>
                </a:lnTo>
                <a:lnTo>
                  <a:pt x="53241" y="815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8566" y="3362705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782" y="720"/>
                </a:lnTo>
                <a:lnTo>
                  <a:pt x="19966" y="20136"/>
                </a:lnTo>
                <a:lnTo>
                  <a:pt x="1398" y="58950"/>
                </a:lnTo>
                <a:lnTo>
                  <a:pt x="0" y="74549"/>
                </a:lnTo>
                <a:lnTo>
                  <a:pt x="684" y="621634"/>
                </a:lnTo>
                <a:lnTo>
                  <a:pt x="17099" y="662150"/>
                </a:lnTo>
                <a:lnTo>
                  <a:pt x="49440" y="684153"/>
                </a:lnTo>
                <a:lnTo>
                  <a:pt x="62382" y="685800"/>
                </a:lnTo>
                <a:lnTo>
                  <a:pt x="10451886" y="684987"/>
                </a:lnTo>
                <a:lnTo>
                  <a:pt x="10485513" y="665339"/>
                </a:lnTo>
                <a:lnTo>
                  <a:pt x="10503587" y="626259"/>
                </a:lnTo>
                <a:lnTo>
                  <a:pt x="10504932" y="610489"/>
                </a:lnTo>
                <a:lnTo>
                  <a:pt x="10504345" y="64258"/>
                </a:lnTo>
                <a:lnTo>
                  <a:pt x="10488350" y="23811"/>
                </a:lnTo>
                <a:lnTo>
                  <a:pt x="10455837" y="1665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8566" y="3362705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837" y="1665"/>
                </a:lnTo>
                <a:lnTo>
                  <a:pt x="10488350" y="23811"/>
                </a:lnTo>
                <a:lnTo>
                  <a:pt x="10504345" y="64258"/>
                </a:lnTo>
                <a:lnTo>
                  <a:pt x="10504932" y="610489"/>
                </a:lnTo>
                <a:lnTo>
                  <a:pt x="10503587" y="626259"/>
                </a:lnTo>
                <a:lnTo>
                  <a:pt x="10485513" y="665339"/>
                </a:lnTo>
                <a:lnTo>
                  <a:pt x="10451886" y="684987"/>
                </a:lnTo>
                <a:lnTo>
                  <a:pt x="62382" y="685800"/>
                </a:lnTo>
                <a:lnTo>
                  <a:pt x="49440" y="684153"/>
                </a:lnTo>
                <a:lnTo>
                  <a:pt x="17099" y="662150"/>
                </a:lnTo>
                <a:lnTo>
                  <a:pt x="684" y="621634"/>
                </a:lnTo>
                <a:lnTo>
                  <a:pt x="0" y="74549"/>
                </a:lnTo>
                <a:lnTo>
                  <a:pt x="1398" y="58950"/>
                </a:lnTo>
                <a:lnTo>
                  <a:pt x="19966" y="20136"/>
                </a:lnTo>
                <a:lnTo>
                  <a:pt x="53782" y="720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8566" y="4584953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10442575" y="0"/>
                </a:moveTo>
                <a:lnTo>
                  <a:pt x="62382" y="0"/>
                </a:lnTo>
                <a:lnTo>
                  <a:pt x="53782" y="720"/>
                </a:lnTo>
                <a:lnTo>
                  <a:pt x="19966" y="20136"/>
                </a:lnTo>
                <a:lnTo>
                  <a:pt x="1398" y="58950"/>
                </a:lnTo>
                <a:lnTo>
                  <a:pt x="0" y="74549"/>
                </a:lnTo>
                <a:lnTo>
                  <a:pt x="684" y="621634"/>
                </a:lnTo>
                <a:lnTo>
                  <a:pt x="17099" y="662150"/>
                </a:lnTo>
                <a:lnTo>
                  <a:pt x="49440" y="684153"/>
                </a:lnTo>
                <a:lnTo>
                  <a:pt x="62382" y="685800"/>
                </a:lnTo>
                <a:lnTo>
                  <a:pt x="10451886" y="684987"/>
                </a:lnTo>
                <a:lnTo>
                  <a:pt x="10485513" y="665339"/>
                </a:lnTo>
                <a:lnTo>
                  <a:pt x="10503587" y="626259"/>
                </a:lnTo>
                <a:lnTo>
                  <a:pt x="10504932" y="610489"/>
                </a:lnTo>
                <a:lnTo>
                  <a:pt x="10504345" y="64258"/>
                </a:lnTo>
                <a:lnTo>
                  <a:pt x="10488350" y="23811"/>
                </a:lnTo>
                <a:lnTo>
                  <a:pt x="10455837" y="1665"/>
                </a:lnTo>
                <a:lnTo>
                  <a:pt x="10442575" y="0"/>
                </a:lnTo>
                <a:close/>
              </a:path>
            </a:pathLst>
          </a:custGeom>
          <a:solidFill>
            <a:srgbClr val="DADA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8566" y="4584953"/>
            <a:ext cx="10505440" cy="685800"/>
          </a:xfrm>
          <a:custGeom>
            <a:avLst/>
            <a:gdLst/>
            <a:ahLst/>
            <a:cxnLst/>
            <a:rect l="l" t="t" r="r" b="b"/>
            <a:pathLst>
              <a:path w="10505440" h="685800">
                <a:moveTo>
                  <a:pt x="62382" y="0"/>
                </a:moveTo>
                <a:lnTo>
                  <a:pt x="10442575" y="0"/>
                </a:lnTo>
                <a:lnTo>
                  <a:pt x="10455837" y="1665"/>
                </a:lnTo>
                <a:lnTo>
                  <a:pt x="10488350" y="23811"/>
                </a:lnTo>
                <a:lnTo>
                  <a:pt x="10504345" y="64258"/>
                </a:lnTo>
                <a:lnTo>
                  <a:pt x="10504932" y="610489"/>
                </a:lnTo>
                <a:lnTo>
                  <a:pt x="10503587" y="626259"/>
                </a:lnTo>
                <a:lnTo>
                  <a:pt x="10485513" y="665339"/>
                </a:lnTo>
                <a:lnTo>
                  <a:pt x="10451886" y="684987"/>
                </a:lnTo>
                <a:lnTo>
                  <a:pt x="62382" y="685800"/>
                </a:lnTo>
                <a:lnTo>
                  <a:pt x="49440" y="684153"/>
                </a:lnTo>
                <a:lnTo>
                  <a:pt x="17099" y="662150"/>
                </a:lnTo>
                <a:lnTo>
                  <a:pt x="684" y="621634"/>
                </a:lnTo>
                <a:lnTo>
                  <a:pt x="0" y="74549"/>
                </a:lnTo>
                <a:lnTo>
                  <a:pt x="1398" y="58950"/>
                </a:lnTo>
                <a:lnTo>
                  <a:pt x="19966" y="20136"/>
                </a:lnTo>
                <a:lnTo>
                  <a:pt x="53782" y="720"/>
                </a:lnTo>
                <a:lnTo>
                  <a:pt x="62382" y="0"/>
                </a:lnTo>
                <a:close/>
              </a:path>
            </a:pathLst>
          </a:custGeom>
          <a:ln w="3175">
            <a:solidFill>
              <a:srgbClr val="B5B5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27988" y="1741932"/>
            <a:ext cx="1868805" cy="1422400"/>
          </a:xfrm>
          <a:custGeom>
            <a:avLst/>
            <a:gdLst/>
            <a:ahLst/>
            <a:cxnLst/>
            <a:rect l="l" t="t" r="r" b="b"/>
            <a:pathLst>
              <a:path w="1868804" h="1422400">
                <a:moveTo>
                  <a:pt x="0" y="0"/>
                </a:moveTo>
                <a:lnTo>
                  <a:pt x="0" y="1066164"/>
                </a:lnTo>
                <a:lnTo>
                  <a:pt x="933831" y="1421891"/>
                </a:lnTo>
                <a:lnTo>
                  <a:pt x="1868424" y="1066164"/>
                </a:lnTo>
                <a:lnTo>
                  <a:pt x="1868424" y="355726"/>
                </a:lnTo>
                <a:lnTo>
                  <a:pt x="933831" y="355726"/>
                </a:lnTo>
                <a:lnTo>
                  <a:pt x="0" y="0"/>
                </a:lnTo>
                <a:close/>
              </a:path>
              <a:path w="1868804" h="1422400">
                <a:moveTo>
                  <a:pt x="1868424" y="0"/>
                </a:moveTo>
                <a:lnTo>
                  <a:pt x="933831" y="355726"/>
                </a:lnTo>
                <a:lnTo>
                  <a:pt x="1868424" y="355726"/>
                </a:lnTo>
                <a:lnTo>
                  <a:pt x="1868424" y="0"/>
                </a:lnTo>
                <a:close/>
              </a:path>
            </a:pathLst>
          </a:custGeom>
          <a:solidFill>
            <a:srgbClr val="00AA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7988" y="2983992"/>
            <a:ext cx="1868805" cy="1420495"/>
          </a:xfrm>
          <a:custGeom>
            <a:avLst/>
            <a:gdLst/>
            <a:ahLst/>
            <a:cxnLst/>
            <a:rect l="l" t="t" r="r" b="b"/>
            <a:pathLst>
              <a:path w="1868804" h="1420495">
                <a:moveTo>
                  <a:pt x="0" y="0"/>
                </a:moveTo>
                <a:lnTo>
                  <a:pt x="0" y="1065022"/>
                </a:lnTo>
                <a:lnTo>
                  <a:pt x="933831" y="1420368"/>
                </a:lnTo>
                <a:lnTo>
                  <a:pt x="1868424" y="1065022"/>
                </a:lnTo>
                <a:lnTo>
                  <a:pt x="1868424" y="355346"/>
                </a:lnTo>
                <a:lnTo>
                  <a:pt x="933831" y="355346"/>
                </a:lnTo>
                <a:lnTo>
                  <a:pt x="0" y="0"/>
                </a:lnTo>
                <a:close/>
              </a:path>
              <a:path w="1868804" h="1420495">
                <a:moveTo>
                  <a:pt x="1868424" y="0"/>
                </a:moveTo>
                <a:lnTo>
                  <a:pt x="933831" y="355346"/>
                </a:lnTo>
                <a:lnTo>
                  <a:pt x="1868424" y="355346"/>
                </a:lnTo>
                <a:lnTo>
                  <a:pt x="1868424" y="0"/>
                </a:lnTo>
                <a:close/>
              </a:path>
            </a:pathLst>
          </a:custGeom>
          <a:solidFill>
            <a:srgbClr val="99CC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27988" y="4209288"/>
            <a:ext cx="1868805" cy="1394460"/>
          </a:xfrm>
          <a:custGeom>
            <a:avLst/>
            <a:gdLst/>
            <a:ahLst/>
            <a:cxnLst/>
            <a:rect l="l" t="t" r="r" b="b"/>
            <a:pathLst>
              <a:path w="1868804" h="1394460">
                <a:moveTo>
                  <a:pt x="0" y="0"/>
                </a:moveTo>
                <a:lnTo>
                  <a:pt x="0" y="1046226"/>
                </a:lnTo>
                <a:lnTo>
                  <a:pt x="933831" y="1394460"/>
                </a:lnTo>
                <a:lnTo>
                  <a:pt x="1868424" y="1046226"/>
                </a:lnTo>
                <a:lnTo>
                  <a:pt x="1868424" y="348234"/>
                </a:lnTo>
                <a:lnTo>
                  <a:pt x="933831" y="348234"/>
                </a:lnTo>
                <a:lnTo>
                  <a:pt x="0" y="0"/>
                </a:lnTo>
                <a:close/>
              </a:path>
              <a:path w="1868804" h="1394460">
                <a:moveTo>
                  <a:pt x="1868424" y="0"/>
                </a:moveTo>
                <a:lnTo>
                  <a:pt x="933831" y="348234"/>
                </a:lnTo>
                <a:lnTo>
                  <a:pt x="1868424" y="348234"/>
                </a:lnTo>
                <a:lnTo>
                  <a:pt x="1868424" y="0"/>
                </a:lnTo>
                <a:close/>
              </a:path>
            </a:pathLst>
          </a:custGeom>
          <a:solidFill>
            <a:srgbClr val="EC5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39900" y="2303007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中断发生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9010" y="3555735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中断处理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9900" y="4778491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中断返回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00094" y="2134106"/>
            <a:ext cx="7201534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当CP</a:t>
            </a:r>
            <a:r>
              <a:rPr sz="2400" b="1" spc="-10" dirty="0">
                <a:solidFill>
                  <a:srgbClr val="474748"/>
                </a:solidFill>
                <a:latin typeface="微软雅黑"/>
                <a:cs typeface="微软雅黑"/>
              </a:rPr>
              <a:t>U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在处理某一事件</a:t>
            </a:r>
            <a:r>
              <a:rPr sz="2400" b="1" spc="-10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时，发生了另一事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件B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，请求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CPU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迅速去处理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0094" y="3575801"/>
            <a:ext cx="51435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CPU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暂停当前的工作，转去处理事</a:t>
            </a:r>
            <a:r>
              <a:rPr sz="2400" b="1" spc="5" dirty="0">
                <a:solidFill>
                  <a:srgbClr val="474748"/>
                </a:solidFill>
                <a:latin typeface="微软雅黑"/>
                <a:cs typeface="微软雅黑"/>
              </a:rPr>
              <a:t>件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B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00094" y="4591420"/>
            <a:ext cx="7201534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当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CPU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将事件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B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处理完毕后，再回到事</a:t>
            </a:r>
            <a:r>
              <a:rPr sz="2400" b="1" spc="5" dirty="0">
                <a:solidFill>
                  <a:srgbClr val="474748"/>
                </a:solidFill>
                <a:latin typeface="微软雅黑"/>
                <a:cs typeface="微软雅黑"/>
              </a:rPr>
              <a:t>件</a:t>
            </a:r>
            <a:r>
              <a:rPr sz="2400" b="1" spc="-5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中被暂停的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地方继续处理事</a:t>
            </a:r>
            <a:r>
              <a:rPr sz="2400" b="1" spc="-20" dirty="0">
                <a:solidFill>
                  <a:srgbClr val="474748"/>
                </a:solidFill>
                <a:latin typeface="微软雅黑"/>
                <a:cs typeface="微软雅黑"/>
              </a:rPr>
              <a:t>件</a:t>
            </a:r>
            <a:r>
              <a:rPr sz="2400" b="1" dirty="0">
                <a:solidFill>
                  <a:srgbClr val="474748"/>
                </a:solidFill>
                <a:latin typeface="微软雅黑"/>
                <a:cs typeface="微软雅黑"/>
              </a:rPr>
              <a:t>A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2614" y="2245664"/>
            <a:ext cx="3384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1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2614" y="3501694"/>
            <a:ext cx="33845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2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2614" y="4688900"/>
            <a:ext cx="33909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b="1" spc="-5" dirty="0">
                <a:solidFill>
                  <a:srgbClr val="474748"/>
                </a:solidFill>
                <a:latin typeface="微软雅黑"/>
                <a:cs typeface="微软雅黑"/>
              </a:rPr>
              <a:t>3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5163439" y="1161725"/>
            <a:ext cx="18008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中断全过程</a:t>
            </a:r>
          </a:p>
        </p:txBody>
      </p:sp>
      <p:sp>
        <p:nvSpPr>
          <p:cNvPr id="31" name="object 31"/>
          <p:cNvSpPr/>
          <p:nvPr/>
        </p:nvSpPr>
        <p:spPr>
          <a:xfrm>
            <a:off x="5920740" y="5340096"/>
            <a:ext cx="350520" cy="524510"/>
          </a:xfrm>
          <a:custGeom>
            <a:avLst/>
            <a:gdLst/>
            <a:ahLst/>
            <a:cxnLst/>
            <a:rect l="l" t="t" r="r" b="b"/>
            <a:pathLst>
              <a:path w="350520" h="524510">
                <a:moveTo>
                  <a:pt x="350520" y="348995"/>
                </a:moveTo>
                <a:lnTo>
                  <a:pt x="0" y="348995"/>
                </a:lnTo>
                <a:lnTo>
                  <a:pt x="175260" y="524255"/>
                </a:lnTo>
                <a:lnTo>
                  <a:pt x="350520" y="348995"/>
                </a:lnTo>
                <a:close/>
              </a:path>
              <a:path w="350520" h="524510">
                <a:moveTo>
                  <a:pt x="262889" y="0"/>
                </a:moveTo>
                <a:lnTo>
                  <a:pt x="87630" y="0"/>
                </a:lnTo>
                <a:lnTo>
                  <a:pt x="87630" y="348995"/>
                </a:lnTo>
                <a:lnTo>
                  <a:pt x="262889" y="348995"/>
                </a:lnTo>
                <a:lnTo>
                  <a:pt x="262889" y="0"/>
                </a:lnTo>
                <a:close/>
              </a:path>
            </a:pathLst>
          </a:custGeom>
          <a:solidFill>
            <a:srgbClr val="FF21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20740" y="5340096"/>
            <a:ext cx="350520" cy="524510"/>
          </a:xfrm>
          <a:custGeom>
            <a:avLst/>
            <a:gdLst/>
            <a:ahLst/>
            <a:cxnLst/>
            <a:rect l="l" t="t" r="r" b="b"/>
            <a:pathLst>
              <a:path w="350520" h="524510">
                <a:moveTo>
                  <a:pt x="0" y="348995"/>
                </a:moveTo>
                <a:lnTo>
                  <a:pt x="87630" y="348995"/>
                </a:lnTo>
                <a:lnTo>
                  <a:pt x="87630" y="0"/>
                </a:lnTo>
                <a:lnTo>
                  <a:pt x="262889" y="0"/>
                </a:lnTo>
                <a:lnTo>
                  <a:pt x="262889" y="348995"/>
                </a:lnTo>
                <a:lnTo>
                  <a:pt x="350520" y="348995"/>
                </a:lnTo>
                <a:lnTo>
                  <a:pt x="175260" y="524255"/>
                </a:lnTo>
                <a:lnTo>
                  <a:pt x="0" y="34899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83835" y="5916167"/>
            <a:ext cx="2624455" cy="46228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整个过程称为中断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79636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140" y="1159381"/>
            <a:ext cx="9398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示意图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068571" y="1161725"/>
            <a:ext cx="393509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中断程序执行过程示意图</a:t>
            </a:r>
          </a:p>
        </p:txBody>
      </p:sp>
      <p:sp>
        <p:nvSpPr>
          <p:cNvPr id="11" name="object 11"/>
          <p:cNvSpPr/>
          <p:nvPr/>
        </p:nvSpPr>
        <p:spPr>
          <a:xfrm>
            <a:off x="5999988" y="2522982"/>
            <a:ext cx="114300" cy="1740535"/>
          </a:xfrm>
          <a:custGeom>
            <a:avLst/>
            <a:gdLst/>
            <a:ahLst/>
            <a:cxnLst/>
            <a:rect l="l" t="t" r="r" b="b"/>
            <a:pathLst>
              <a:path w="114300" h="1740535">
                <a:moveTo>
                  <a:pt x="38100" y="1626107"/>
                </a:moveTo>
                <a:lnTo>
                  <a:pt x="0" y="1626107"/>
                </a:lnTo>
                <a:lnTo>
                  <a:pt x="57150" y="1740407"/>
                </a:lnTo>
                <a:lnTo>
                  <a:pt x="104775" y="1645157"/>
                </a:lnTo>
                <a:lnTo>
                  <a:pt x="38100" y="1645157"/>
                </a:lnTo>
                <a:lnTo>
                  <a:pt x="38100" y="1626107"/>
                </a:lnTo>
                <a:close/>
              </a:path>
              <a:path w="114300" h="1740535">
                <a:moveTo>
                  <a:pt x="76200" y="0"/>
                </a:moveTo>
                <a:lnTo>
                  <a:pt x="38100" y="0"/>
                </a:lnTo>
                <a:lnTo>
                  <a:pt x="38100" y="1645157"/>
                </a:lnTo>
                <a:lnTo>
                  <a:pt x="76200" y="1645157"/>
                </a:lnTo>
                <a:lnTo>
                  <a:pt x="76200" y="0"/>
                </a:lnTo>
                <a:close/>
              </a:path>
              <a:path w="114300" h="1740535">
                <a:moveTo>
                  <a:pt x="114300" y="1626107"/>
                </a:moveTo>
                <a:lnTo>
                  <a:pt x="76200" y="1626107"/>
                </a:lnTo>
                <a:lnTo>
                  <a:pt x="76200" y="1645157"/>
                </a:lnTo>
                <a:lnTo>
                  <a:pt x="104775" y="1645157"/>
                </a:lnTo>
                <a:lnTo>
                  <a:pt x="114300" y="1626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71459" y="3481578"/>
            <a:ext cx="114300" cy="1652270"/>
          </a:xfrm>
          <a:custGeom>
            <a:avLst/>
            <a:gdLst/>
            <a:ahLst/>
            <a:cxnLst/>
            <a:rect l="l" t="t" r="r" b="b"/>
            <a:pathLst>
              <a:path w="114300" h="1652270">
                <a:moveTo>
                  <a:pt x="38100" y="1537716"/>
                </a:moveTo>
                <a:lnTo>
                  <a:pt x="0" y="1537716"/>
                </a:lnTo>
                <a:lnTo>
                  <a:pt x="57150" y="1652016"/>
                </a:lnTo>
                <a:lnTo>
                  <a:pt x="104775" y="1556766"/>
                </a:lnTo>
                <a:lnTo>
                  <a:pt x="38100" y="1556766"/>
                </a:lnTo>
                <a:lnTo>
                  <a:pt x="38100" y="1537716"/>
                </a:lnTo>
                <a:close/>
              </a:path>
              <a:path w="114300" h="1652270">
                <a:moveTo>
                  <a:pt x="76200" y="0"/>
                </a:moveTo>
                <a:lnTo>
                  <a:pt x="38100" y="0"/>
                </a:lnTo>
                <a:lnTo>
                  <a:pt x="38100" y="1556766"/>
                </a:lnTo>
                <a:lnTo>
                  <a:pt x="76200" y="1556766"/>
                </a:lnTo>
                <a:lnTo>
                  <a:pt x="76200" y="0"/>
                </a:lnTo>
                <a:close/>
              </a:path>
              <a:path w="114300" h="1652270">
                <a:moveTo>
                  <a:pt x="114300" y="1537716"/>
                </a:moveTo>
                <a:lnTo>
                  <a:pt x="76200" y="1537716"/>
                </a:lnTo>
                <a:lnTo>
                  <a:pt x="76200" y="1556766"/>
                </a:lnTo>
                <a:lnTo>
                  <a:pt x="104775" y="1556766"/>
                </a:lnTo>
                <a:lnTo>
                  <a:pt x="114300" y="1537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99988" y="4525517"/>
            <a:ext cx="114300" cy="1742439"/>
          </a:xfrm>
          <a:custGeom>
            <a:avLst/>
            <a:gdLst/>
            <a:ahLst/>
            <a:cxnLst/>
            <a:rect l="l" t="t" r="r" b="b"/>
            <a:pathLst>
              <a:path w="114300" h="1742439">
                <a:moveTo>
                  <a:pt x="38100" y="1627631"/>
                </a:moveTo>
                <a:lnTo>
                  <a:pt x="0" y="1627631"/>
                </a:lnTo>
                <a:lnTo>
                  <a:pt x="57150" y="1741931"/>
                </a:lnTo>
                <a:lnTo>
                  <a:pt x="104775" y="1646681"/>
                </a:lnTo>
                <a:lnTo>
                  <a:pt x="38100" y="1646681"/>
                </a:lnTo>
                <a:lnTo>
                  <a:pt x="38100" y="1627631"/>
                </a:lnTo>
                <a:close/>
              </a:path>
              <a:path w="114300" h="1742439">
                <a:moveTo>
                  <a:pt x="76200" y="0"/>
                </a:moveTo>
                <a:lnTo>
                  <a:pt x="38100" y="0"/>
                </a:lnTo>
                <a:lnTo>
                  <a:pt x="38100" y="1646681"/>
                </a:lnTo>
                <a:lnTo>
                  <a:pt x="76200" y="1646681"/>
                </a:lnTo>
                <a:lnTo>
                  <a:pt x="76200" y="0"/>
                </a:lnTo>
                <a:close/>
              </a:path>
              <a:path w="114300" h="1742439">
                <a:moveTo>
                  <a:pt x="114300" y="1627631"/>
                </a:moveTo>
                <a:lnTo>
                  <a:pt x="76200" y="1627631"/>
                </a:lnTo>
                <a:lnTo>
                  <a:pt x="76200" y="1646681"/>
                </a:lnTo>
                <a:lnTo>
                  <a:pt x="104775" y="1646681"/>
                </a:lnTo>
                <a:lnTo>
                  <a:pt x="114300" y="1627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50534" y="3467861"/>
            <a:ext cx="1878330" cy="728345"/>
          </a:xfrm>
          <a:custGeom>
            <a:avLst/>
            <a:gdLst/>
            <a:ahLst/>
            <a:cxnLst/>
            <a:rect l="l" t="t" r="r" b="b"/>
            <a:pathLst>
              <a:path w="1878329" h="728345">
                <a:moveTo>
                  <a:pt x="1764326" y="35730"/>
                </a:moveTo>
                <a:lnTo>
                  <a:pt x="0" y="692276"/>
                </a:lnTo>
                <a:lnTo>
                  <a:pt x="13207" y="728090"/>
                </a:lnTo>
                <a:lnTo>
                  <a:pt x="1777558" y="71410"/>
                </a:lnTo>
                <a:lnTo>
                  <a:pt x="1764326" y="35730"/>
                </a:lnTo>
                <a:close/>
              </a:path>
              <a:path w="1878329" h="728345">
                <a:moveTo>
                  <a:pt x="1863732" y="29083"/>
                </a:moveTo>
                <a:lnTo>
                  <a:pt x="1782190" y="29083"/>
                </a:lnTo>
                <a:lnTo>
                  <a:pt x="1795398" y="64770"/>
                </a:lnTo>
                <a:lnTo>
                  <a:pt x="1777558" y="71410"/>
                </a:lnTo>
                <a:lnTo>
                  <a:pt x="1790826" y="107187"/>
                </a:lnTo>
                <a:lnTo>
                  <a:pt x="1863732" y="29083"/>
                </a:lnTo>
                <a:close/>
              </a:path>
              <a:path w="1878329" h="728345">
                <a:moveTo>
                  <a:pt x="1782190" y="29083"/>
                </a:moveTo>
                <a:lnTo>
                  <a:pt x="1764326" y="35730"/>
                </a:lnTo>
                <a:lnTo>
                  <a:pt x="1777558" y="71410"/>
                </a:lnTo>
                <a:lnTo>
                  <a:pt x="1795398" y="64770"/>
                </a:lnTo>
                <a:lnTo>
                  <a:pt x="1782190" y="29083"/>
                </a:lnTo>
                <a:close/>
              </a:path>
              <a:path w="1878329" h="728345">
                <a:moveTo>
                  <a:pt x="1751075" y="0"/>
                </a:moveTo>
                <a:lnTo>
                  <a:pt x="1764326" y="35730"/>
                </a:lnTo>
                <a:lnTo>
                  <a:pt x="1782190" y="29083"/>
                </a:lnTo>
                <a:lnTo>
                  <a:pt x="1863732" y="29083"/>
                </a:lnTo>
                <a:lnTo>
                  <a:pt x="1878075" y="13715"/>
                </a:lnTo>
                <a:lnTo>
                  <a:pt x="1751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57138" y="4506595"/>
            <a:ext cx="1877695" cy="647065"/>
          </a:xfrm>
          <a:custGeom>
            <a:avLst/>
            <a:gdLst/>
            <a:ahLst/>
            <a:cxnLst/>
            <a:rect l="l" t="t" r="r" b="b"/>
            <a:pathLst>
              <a:path w="1877695" h="647064">
                <a:moveTo>
                  <a:pt x="114557" y="36227"/>
                </a:moveTo>
                <a:lnTo>
                  <a:pt x="102758" y="72427"/>
                </a:lnTo>
                <a:lnTo>
                  <a:pt x="1865630" y="646683"/>
                </a:lnTo>
                <a:lnTo>
                  <a:pt x="1877314" y="610361"/>
                </a:lnTo>
                <a:lnTo>
                  <a:pt x="114557" y="36227"/>
                </a:lnTo>
                <a:close/>
              </a:path>
              <a:path w="1877695" h="647064">
                <a:moveTo>
                  <a:pt x="126364" y="0"/>
                </a:moveTo>
                <a:lnTo>
                  <a:pt x="0" y="18922"/>
                </a:lnTo>
                <a:lnTo>
                  <a:pt x="90932" y="108711"/>
                </a:lnTo>
                <a:lnTo>
                  <a:pt x="102758" y="72427"/>
                </a:lnTo>
                <a:lnTo>
                  <a:pt x="84709" y="66547"/>
                </a:lnTo>
                <a:lnTo>
                  <a:pt x="96520" y="30352"/>
                </a:lnTo>
                <a:lnTo>
                  <a:pt x="116471" y="30352"/>
                </a:lnTo>
                <a:lnTo>
                  <a:pt x="126364" y="0"/>
                </a:lnTo>
                <a:close/>
              </a:path>
              <a:path w="1877695" h="647064">
                <a:moveTo>
                  <a:pt x="96520" y="30352"/>
                </a:moveTo>
                <a:lnTo>
                  <a:pt x="84709" y="66547"/>
                </a:lnTo>
                <a:lnTo>
                  <a:pt x="102758" y="72427"/>
                </a:lnTo>
                <a:lnTo>
                  <a:pt x="114557" y="36227"/>
                </a:lnTo>
                <a:lnTo>
                  <a:pt x="96520" y="30352"/>
                </a:lnTo>
                <a:close/>
              </a:path>
              <a:path w="1877695" h="647064">
                <a:moveTo>
                  <a:pt x="116471" y="30352"/>
                </a:moveTo>
                <a:lnTo>
                  <a:pt x="96520" y="30352"/>
                </a:lnTo>
                <a:lnTo>
                  <a:pt x="114557" y="36227"/>
                </a:lnTo>
                <a:lnTo>
                  <a:pt x="116471" y="30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95825" y="2843706"/>
            <a:ext cx="12979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微软雅黑"/>
                <a:cs typeface="微软雅黑"/>
              </a:rPr>
              <a:t>执行主程序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7923" y="1953767"/>
            <a:ext cx="1150620" cy="46228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主程序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8601" y="5141390"/>
            <a:ext cx="104394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dirty="0">
                <a:latin typeface="微软雅黑"/>
                <a:cs typeface="微软雅黑"/>
              </a:rPr>
              <a:t>继续执行 主程序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0748" y="4139877"/>
            <a:ext cx="53467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微软雅黑"/>
                <a:cs typeface="微软雅黑"/>
              </a:rPr>
              <a:t>断点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00056" y="3224881"/>
            <a:ext cx="2378710" cy="927100"/>
          </a:xfrm>
          <a:custGeom>
            <a:avLst/>
            <a:gdLst/>
            <a:ahLst/>
            <a:cxnLst/>
            <a:rect l="l" t="t" r="r" b="b"/>
            <a:pathLst>
              <a:path w="2378710" h="927100">
                <a:moveTo>
                  <a:pt x="1944465" y="667541"/>
                </a:moveTo>
                <a:lnTo>
                  <a:pt x="1503311" y="667541"/>
                </a:lnTo>
                <a:lnTo>
                  <a:pt x="2378214" y="926748"/>
                </a:lnTo>
                <a:lnTo>
                  <a:pt x="1944465" y="667541"/>
                </a:lnTo>
                <a:close/>
              </a:path>
              <a:path w="2378710" h="927100">
                <a:moveTo>
                  <a:pt x="975040" y="0"/>
                </a:moveTo>
                <a:lnTo>
                  <a:pt x="896809" y="1998"/>
                </a:lnTo>
                <a:lnTo>
                  <a:pt x="818746" y="6183"/>
                </a:lnTo>
                <a:lnTo>
                  <a:pt x="741205" y="12591"/>
                </a:lnTo>
                <a:lnTo>
                  <a:pt x="664539" y="21255"/>
                </a:lnTo>
                <a:lnTo>
                  <a:pt x="589104" y="32212"/>
                </a:lnTo>
                <a:lnTo>
                  <a:pt x="515251" y="45495"/>
                </a:lnTo>
                <a:lnTo>
                  <a:pt x="444674" y="60841"/>
                </a:lnTo>
                <a:lnTo>
                  <a:pt x="378895" y="77878"/>
                </a:lnTo>
                <a:lnTo>
                  <a:pt x="318012" y="96479"/>
                </a:lnTo>
                <a:lnTo>
                  <a:pt x="262126" y="116521"/>
                </a:lnTo>
                <a:lnTo>
                  <a:pt x="211336" y="137878"/>
                </a:lnTo>
                <a:lnTo>
                  <a:pt x="165743" y="160425"/>
                </a:lnTo>
                <a:lnTo>
                  <a:pt x="125444" y="184038"/>
                </a:lnTo>
                <a:lnTo>
                  <a:pt x="90541" y="208590"/>
                </a:lnTo>
                <a:lnTo>
                  <a:pt x="61133" y="233957"/>
                </a:lnTo>
                <a:lnTo>
                  <a:pt x="19199" y="286636"/>
                </a:lnTo>
                <a:lnTo>
                  <a:pt x="440" y="341075"/>
                </a:lnTo>
                <a:lnTo>
                  <a:pt x="0" y="368641"/>
                </a:lnTo>
                <a:lnTo>
                  <a:pt x="5652" y="396271"/>
                </a:lnTo>
                <a:lnTo>
                  <a:pt x="35633" y="451226"/>
                </a:lnTo>
                <a:lnTo>
                  <a:pt x="91181" y="504939"/>
                </a:lnTo>
                <a:lnTo>
                  <a:pt x="128790" y="531016"/>
                </a:lnTo>
                <a:lnTo>
                  <a:pt x="172221" y="555955"/>
                </a:lnTo>
                <a:lnTo>
                  <a:pt x="220437" y="579197"/>
                </a:lnTo>
                <a:lnTo>
                  <a:pt x="273085" y="600707"/>
                </a:lnTo>
                <a:lnTo>
                  <a:pt x="329811" y="620452"/>
                </a:lnTo>
                <a:lnTo>
                  <a:pt x="390262" y="638395"/>
                </a:lnTo>
                <a:lnTo>
                  <a:pt x="454083" y="654502"/>
                </a:lnTo>
                <a:lnTo>
                  <a:pt x="520920" y="668737"/>
                </a:lnTo>
                <a:lnTo>
                  <a:pt x="590420" y="681065"/>
                </a:lnTo>
                <a:lnTo>
                  <a:pt x="662229" y="691453"/>
                </a:lnTo>
                <a:lnTo>
                  <a:pt x="735993" y="699863"/>
                </a:lnTo>
                <a:lnTo>
                  <a:pt x="811359" y="706262"/>
                </a:lnTo>
                <a:lnTo>
                  <a:pt x="887971" y="710614"/>
                </a:lnTo>
                <a:lnTo>
                  <a:pt x="965477" y="712884"/>
                </a:lnTo>
                <a:lnTo>
                  <a:pt x="1043523" y="713037"/>
                </a:lnTo>
                <a:lnTo>
                  <a:pt x="1121754" y="711039"/>
                </a:lnTo>
                <a:lnTo>
                  <a:pt x="1199817" y="706854"/>
                </a:lnTo>
                <a:lnTo>
                  <a:pt x="1277358" y="700446"/>
                </a:lnTo>
                <a:lnTo>
                  <a:pt x="1354024" y="691782"/>
                </a:lnTo>
                <a:lnTo>
                  <a:pt x="1429459" y="680825"/>
                </a:lnTo>
                <a:lnTo>
                  <a:pt x="1503311" y="667541"/>
                </a:lnTo>
                <a:lnTo>
                  <a:pt x="1944465" y="667541"/>
                </a:lnTo>
                <a:lnTo>
                  <a:pt x="1797189" y="579530"/>
                </a:lnTo>
                <a:lnTo>
                  <a:pt x="1834145" y="562181"/>
                </a:lnTo>
                <a:lnTo>
                  <a:pt x="1867775" y="544233"/>
                </a:lnTo>
                <a:lnTo>
                  <a:pt x="1925007" y="506758"/>
                </a:lnTo>
                <a:lnTo>
                  <a:pt x="1968782" y="467553"/>
                </a:lnTo>
                <a:lnTo>
                  <a:pt x="1998998" y="427061"/>
                </a:lnTo>
                <a:lnTo>
                  <a:pt x="2015550" y="385728"/>
                </a:lnTo>
                <a:lnTo>
                  <a:pt x="2018671" y="364886"/>
                </a:lnTo>
                <a:lnTo>
                  <a:pt x="2018337" y="343999"/>
                </a:lnTo>
                <a:lnTo>
                  <a:pt x="2007256" y="302319"/>
                </a:lnTo>
                <a:lnTo>
                  <a:pt x="1982203" y="261132"/>
                </a:lnTo>
                <a:lnTo>
                  <a:pt x="1943076" y="220885"/>
                </a:lnTo>
                <a:lnTo>
                  <a:pt x="1889772" y="182020"/>
                </a:lnTo>
                <a:lnTo>
                  <a:pt x="1846342" y="157082"/>
                </a:lnTo>
                <a:lnTo>
                  <a:pt x="1798126" y="133840"/>
                </a:lnTo>
                <a:lnTo>
                  <a:pt x="1745478" y="112329"/>
                </a:lnTo>
                <a:lnTo>
                  <a:pt x="1688752" y="92585"/>
                </a:lnTo>
                <a:lnTo>
                  <a:pt x="1628301" y="74642"/>
                </a:lnTo>
                <a:lnTo>
                  <a:pt x="1564480" y="58535"/>
                </a:lnTo>
                <a:lnTo>
                  <a:pt x="1497643" y="44300"/>
                </a:lnTo>
                <a:lnTo>
                  <a:pt x="1428143" y="31971"/>
                </a:lnTo>
                <a:lnTo>
                  <a:pt x="1356334" y="21584"/>
                </a:lnTo>
                <a:lnTo>
                  <a:pt x="1282570" y="13174"/>
                </a:lnTo>
                <a:lnTo>
                  <a:pt x="1207204" y="6775"/>
                </a:lnTo>
                <a:lnTo>
                  <a:pt x="1130592" y="2423"/>
                </a:lnTo>
                <a:lnTo>
                  <a:pt x="1053086" y="153"/>
                </a:lnTo>
                <a:lnTo>
                  <a:pt x="97504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00056" y="3224881"/>
            <a:ext cx="2378710" cy="927100"/>
          </a:xfrm>
          <a:custGeom>
            <a:avLst/>
            <a:gdLst/>
            <a:ahLst/>
            <a:cxnLst/>
            <a:rect l="l" t="t" r="r" b="b"/>
            <a:pathLst>
              <a:path w="2378710" h="927100">
                <a:moveTo>
                  <a:pt x="2378214" y="926748"/>
                </a:moveTo>
                <a:lnTo>
                  <a:pt x="1503311" y="667541"/>
                </a:lnTo>
                <a:lnTo>
                  <a:pt x="1429459" y="680825"/>
                </a:lnTo>
                <a:lnTo>
                  <a:pt x="1354024" y="691782"/>
                </a:lnTo>
                <a:lnTo>
                  <a:pt x="1277358" y="700446"/>
                </a:lnTo>
                <a:lnTo>
                  <a:pt x="1199817" y="706854"/>
                </a:lnTo>
                <a:lnTo>
                  <a:pt x="1121754" y="711039"/>
                </a:lnTo>
                <a:lnTo>
                  <a:pt x="1043523" y="713037"/>
                </a:lnTo>
                <a:lnTo>
                  <a:pt x="965477" y="712884"/>
                </a:lnTo>
                <a:lnTo>
                  <a:pt x="887971" y="710614"/>
                </a:lnTo>
                <a:lnTo>
                  <a:pt x="811359" y="706262"/>
                </a:lnTo>
                <a:lnTo>
                  <a:pt x="735993" y="699863"/>
                </a:lnTo>
                <a:lnTo>
                  <a:pt x="662229" y="691453"/>
                </a:lnTo>
                <a:lnTo>
                  <a:pt x="590420" y="681065"/>
                </a:lnTo>
                <a:lnTo>
                  <a:pt x="520920" y="668737"/>
                </a:lnTo>
                <a:lnTo>
                  <a:pt x="454083" y="654502"/>
                </a:lnTo>
                <a:lnTo>
                  <a:pt x="390262" y="638395"/>
                </a:lnTo>
                <a:lnTo>
                  <a:pt x="329811" y="620452"/>
                </a:lnTo>
                <a:lnTo>
                  <a:pt x="273085" y="600707"/>
                </a:lnTo>
                <a:lnTo>
                  <a:pt x="220437" y="579197"/>
                </a:lnTo>
                <a:lnTo>
                  <a:pt x="172221" y="555955"/>
                </a:lnTo>
                <a:lnTo>
                  <a:pt x="128790" y="531016"/>
                </a:lnTo>
                <a:lnTo>
                  <a:pt x="91181" y="504939"/>
                </a:lnTo>
                <a:lnTo>
                  <a:pt x="60161" y="478300"/>
                </a:lnTo>
                <a:lnTo>
                  <a:pt x="17497" y="423842"/>
                </a:lnTo>
                <a:lnTo>
                  <a:pt x="0" y="368641"/>
                </a:lnTo>
                <a:lnTo>
                  <a:pt x="440" y="341075"/>
                </a:lnTo>
                <a:lnTo>
                  <a:pt x="19199" y="286636"/>
                </a:lnTo>
                <a:lnTo>
                  <a:pt x="61133" y="233957"/>
                </a:lnTo>
                <a:lnTo>
                  <a:pt x="90541" y="208590"/>
                </a:lnTo>
                <a:lnTo>
                  <a:pt x="125444" y="184038"/>
                </a:lnTo>
                <a:lnTo>
                  <a:pt x="165743" y="160425"/>
                </a:lnTo>
                <a:lnTo>
                  <a:pt x="211336" y="137878"/>
                </a:lnTo>
                <a:lnTo>
                  <a:pt x="262126" y="116521"/>
                </a:lnTo>
                <a:lnTo>
                  <a:pt x="318012" y="96479"/>
                </a:lnTo>
                <a:lnTo>
                  <a:pt x="378895" y="77878"/>
                </a:lnTo>
                <a:lnTo>
                  <a:pt x="444674" y="60841"/>
                </a:lnTo>
                <a:lnTo>
                  <a:pt x="515251" y="45495"/>
                </a:lnTo>
                <a:lnTo>
                  <a:pt x="589104" y="32212"/>
                </a:lnTo>
                <a:lnTo>
                  <a:pt x="664539" y="21255"/>
                </a:lnTo>
                <a:lnTo>
                  <a:pt x="741205" y="12591"/>
                </a:lnTo>
                <a:lnTo>
                  <a:pt x="818746" y="6183"/>
                </a:lnTo>
                <a:lnTo>
                  <a:pt x="896809" y="1998"/>
                </a:lnTo>
                <a:lnTo>
                  <a:pt x="975040" y="0"/>
                </a:lnTo>
                <a:lnTo>
                  <a:pt x="1053086" y="153"/>
                </a:lnTo>
                <a:lnTo>
                  <a:pt x="1130592" y="2423"/>
                </a:lnTo>
                <a:lnTo>
                  <a:pt x="1207204" y="6775"/>
                </a:lnTo>
                <a:lnTo>
                  <a:pt x="1282570" y="13174"/>
                </a:lnTo>
                <a:lnTo>
                  <a:pt x="1356334" y="21584"/>
                </a:lnTo>
                <a:lnTo>
                  <a:pt x="1428143" y="31971"/>
                </a:lnTo>
                <a:lnTo>
                  <a:pt x="1497643" y="44300"/>
                </a:lnTo>
                <a:lnTo>
                  <a:pt x="1564480" y="58535"/>
                </a:lnTo>
                <a:lnTo>
                  <a:pt x="1628301" y="74642"/>
                </a:lnTo>
                <a:lnTo>
                  <a:pt x="1688752" y="92585"/>
                </a:lnTo>
                <a:lnTo>
                  <a:pt x="1745478" y="112329"/>
                </a:lnTo>
                <a:lnTo>
                  <a:pt x="1798126" y="133840"/>
                </a:lnTo>
                <a:lnTo>
                  <a:pt x="1846342" y="157082"/>
                </a:lnTo>
                <a:lnTo>
                  <a:pt x="1889772" y="182020"/>
                </a:lnTo>
                <a:lnTo>
                  <a:pt x="1943076" y="220885"/>
                </a:lnTo>
                <a:lnTo>
                  <a:pt x="1982203" y="261132"/>
                </a:lnTo>
                <a:lnTo>
                  <a:pt x="2007256" y="302319"/>
                </a:lnTo>
                <a:lnTo>
                  <a:pt x="2018337" y="343999"/>
                </a:lnTo>
                <a:lnTo>
                  <a:pt x="2018671" y="364886"/>
                </a:lnTo>
                <a:lnTo>
                  <a:pt x="2015550" y="385728"/>
                </a:lnTo>
                <a:lnTo>
                  <a:pt x="1998998" y="427061"/>
                </a:lnTo>
                <a:lnTo>
                  <a:pt x="1968782" y="467553"/>
                </a:lnTo>
                <a:lnTo>
                  <a:pt x="1925007" y="506758"/>
                </a:lnTo>
                <a:lnTo>
                  <a:pt x="1867775" y="544233"/>
                </a:lnTo>
                <a:lnTo>
                  <a:pt x="1834145" y="562181"/>
                </a:lnTo>
                <a:lnTo>
                  <a:pt x="1797189" y="579530"/>
                </a:lnTo>
                <a:lnTo>
                  <a:pt x="2378214" y="9267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74719" y="3411218"/>
            <a:ext cx="12446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中断请求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42950" y="2927530"/>
            <a:ext cx="2055495" cy="1028065"/>
          </a:xfrm>
          <a:custGeom>
            <a:avLst/>
            <a:gdLst/>
            <a:ahLst/>
            <a:cxnLst/>
            <a:rect l="l" t="t" r="r" b="b"/>
            <a:pathLst>
              <a:path w="2055495" h="1028064">
                <a:moveTo>
                  <a:pt x="1025495" y="0"/>
                </a:moveTo>
                <a:lnTo>
                  <a:pt x="945768" y="938"/>
                </a:lnTo>
                <a:lnTo>
                  <a:pt x="866930" y="3625"/>
                </a:lnTo>
                <a:lnTo>
                  <a:pt x="789328" y="8020"/>
                </a:lnTo>
                <a:lnTo>
                  <a:pt x="713307" y="14083"/>
                </a:lnTo>
                <a:lnTo>
                  <a:pt x="639214" y="21774"/>
                </a:lnTo>
                <a:lnTo>
                  <a:pt x="567395" y="31053"/>
                </a:lnTo>
                <a:lnTo>
                  <a:pt x="498195" y="41879"/>
                </a:lnTo>
                <a:lnTo>
                  <a:pt x="431961" y="54213"/>
                </a:lnTo>
                <a:lnTo>
                  <a:pt x="369039" y="68015"/>
                </a:lnTo>
                <a:lnTo>
                  <a:pt x="309774" y="83244"/>
                </a:lnTo>
                <a:lnTo>
                  <a:pt x="254514" y="99860"/>
                </a:lnTo>
                <a:lnTo>
                  <a:pt x="203603" y="117824"/>
                </a:lnTo>
                <a:lnTo>
                  <a:pt x="157388" y="137095"/>
                </a:lnTo>
                <a:lnTo>
                  <a:pt x="116215" y="157632"/>
                </a:lnTo>
                <a:lnTo>
                  <a:pt x="80430" y="179397"/>
                </a:lnTo>
                <a:lnTo>
                  <a:pt x="28296" y="224631"/>
                </a:lnTo>
                <a:lnTo>
                  <a:pt x="2966" y="270426"/>
                </a:lnTo>
                <a:lnTo>
                  <a:pt x="0" y="293288"/>
                </a:lnTo>
                <a:lnTo>
                  <a:pt x="3310" y="315995"/>
                </a:lnTo>
                <a:lnTo>
                  <a:pt x="28196" y="360548"/>
                </a:lnTo>
                <a:lnTo>
                  <a:pt x="76493" y="403298"/>
                </a:lnTo>
                <a:lnTo>
                  <a:pt x="109068" y="423751"/>
                </a:lnTo>
                <a:lnTo>
                  <a:pt x="147072" y="443457"/>
                </a:lnTo>
                <a:lnTo>
                  <a:pt x="190363" y="462319"/>
                </a:lnTo>
                <a:lnTo>
                  <a:pt x="238800" y="480238"/>
                </a:lnTo>
                <a:lnTo>
                  <a:pt x="292242" y="497115"/>
                </a:lnTo>
                <a:lnTo>
                  <a:pt x="350548" y="512852"/>
                </a:lnTo>
                <a:lnTo>
                  <a:pt x="413576" y="527351"/>
                </a:lnTo>
                <a:lnTo>
                  <a:pt x="481184" y="540512"/>
                </a:lnTo>
                <a:lnTo>
                  <a:pt x="553232" y="552237"/>
                </a:lnTo>
                <a:lnTo>
                  <a:pt x="629578" y="562429"/>
                </a:lnTo>
                <a:lnTo>
                  <a:pt x="488735" y="1027884"/>
                </a:lnTo>
                <a:lnTo>
                  <a:pt x="1013245" y="585289"/>
                </a:lnTo>
                <a:lnTo>
                  <a:pt x="1075742" y="584996"/>
                </a:lnTo>
                <a:lnTo>
                  <a:pt x="1137527" y="583639"/>
                </a:lnTo>
                <a:lnTo>
                  <a:pt x="1198466" y="581242"/>
                </a:lnTo>
                <a:lnTo>
                  <a:pt x="1258423" y="577831"/>
                </a:lnTo>
                <a:lnTo>
                  <a:pt x="1317265" y="573432"/>
                </a:lnTo>
                <a:lnTo>
                  <a:pt x="1374857" y="568070"/>
                </a:lnTo>
                <a:lnTo>
                  <a:pt x="1431064" y="561769"/>
                </a:lnTo>
                <a:lnTo>
                  <a:pt x="1485752" y="554555"/>
                </a:lnTo>
                <a:lnTo>
                  <a:pt x="1538786" y="546453"/>
                </a:lnTo>
                <a:lnTo>
                  <a:pt x="1590032" y="537489"/>
                </a:lnTo>
                <a:lnTo>
                  <a:pt x="1639354" y="527688"/>
                </a:lnTo>
                <a:lnTo>
                  <a:pt x="1686618" y="517075"/>
                </a:lnTo>
                <a:lnTo>
                  <a:pt x="1731691" y="505675"/>
                </a:lnTo>
                <a:lnTo>
                  <a:pt x="1774436" y="493513"/>
                </a:lnTo>
                <a:lnTo>
                  <a:pt x="1814720" y="480615"/>
                </a:lnTo>
                <a:lnTo>
                  <a:pt x="1852408" y="467006"/>
                </a:lnTo>
                <a:lnTo>
                  <a:pt x="1919458" y="437756"/>
                </a:lnTo>
                <a:lnTo>
                  <a:pt x="1974508" y="405965"/>
                </a:lnTo>
                <a:lnTo>
                  <a:pt x="2026642" y="360731"/>
                </a:lnTo>
                <a:lnTo>
                  <a:pt x="2051972" y="314935"/>
                </a:lnTo>
                <a:lnTo>
                  <a:pt x="2054939" y="292074"/>
                </a:lnTo>
                <a:lnTo>
                  <a:pt x="2051629" y="269367"/>
                </a:lnTo>
                <a:lnTo>
                  <a:pt x="2026743" y="224814"/>
                </a:lnTo>
                <a:lnTo>
                  <a:pt x="1978445" y="182064"/>
                </a:lnTo>
                <a:lnTo>
                  <a:pt x="1945870" y="161611"/>
                </a:lnTo>
                <a:lnTo>
                  <a:pt x="1907867" y="141904"/>
                </a:lnTo>
                <a:lnTo>
                  <a:pt x="1864576" y="123043"/>
                </a:lnTo>
                <a:lnTo>
                  <a:pt x="1816138" y="105124"/>
                </a:lnTo>
                <a:lnTo>
                  <a:pt x="1762696" y="88247"/>
                </a:lnTo>
                <a:lnTo>
                  <a:pt x="1704390" y="72510"/>
                </a:lnTo>
                <a:lnTo>
                  <a:pt x="1641363" y="58011"/>
                </a:lnTo>
                <a:lnTo>
                  <a:pt x="1573754" y="44850"/>
                </a:lnTo>
                <a:lnTo>
                  <a:pt x="1501706" y="33124"/>
                </a:lnTo>
                <a:lnTo>
                  <a:pt x="1425360" y="22933"/>
                </a:lnTo>
                <a:lnTo>
                  <a:pt x="1346377" y="14529"/>
                </a:lnTo>
                <a:lnTo>
                  <a:pt x="1266552" y="8074"/>
                </a:lnTo>
                <a:lnTo>
                  <a:pt x="1186233" y="3527"/>
                </a:lnTo>
                <a:lnTo>
                  <a:pt x="1105765" y="849"/>
                </a:lnTo>
                <a:lnTo>
                  <a:pt x="1025495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42950" y="2927530"/>
            <a:ext cx="2055495" cy="1028065"/>
          </a:xfrm>
          <a:custGeom>
            <a:avLst/>
            <a:gdLst/>
            <a:ahLst/>
            <a:cxnLst/>
            <a:rect l="l" t="t" r="r" b="b"/>
            <a:pathLst>
              <a:path w="2055495" h="1028064">
                <a:moveTo>
                  <a:pt x="488735" y="1027884"/>
                </a:moveTo>
                <a:lnTo>
                  <a:pt x="629578" y="562429"/>
                </a:lnTo>
                <a:lnTo>
                  <a:pt x="553232" y="552237"/>
                </a:lnTo>
                <a:lnTo>
                  <a:pt x="481184" y="540512"/>
                </a:lnTo>
                <a:lnTo>
                  <a:pt x="413576" y="527351"/>
                </a:lnTo>
                <a:lnTo>
                  <a:pt x="350548" y="512852"/>
                </a:lnTo>
                <a:lnTo>
                  <a:pt x="292242" y="497115"/>
                </a:lnTo>
                <a:lnTo>
                  <a:pt x="238800" y="480238"/>
                </a:lnTo>
                <a:lnTo>
                  <a:pt x="190363" y="462319"/>
                </a:lnTo>
                <a:lnTo>
                  <a:pt x="147072" y="443457"/>
                </a:lnTo>
                <a:lnTo>
                  <a:pt x="109068" y="423751"/>
                </a:lnTo>
                <a:lnTo>
                  <a:pt x="76493" y="403298"/>
                </a:lnTo>
                <a:lnTo>
                  <a:pt x="28196" y="360548"/>
                </a:lnTo>
                <a:lnTo>
                  <a:pt x="3310" y="315995"/>
                </a:lnTo>
                <a:lnTo>
                  <a:pt x="0" y="293288"/>
                </a:lnTo>
                <a:lnTo>
                  <a:pt x="2966" y="270426"/>
                </a:lnTo>
                <a:lnTo>
                  <a:pt x="28296" y="224631"/>
                </a:lnTo>
                <a:lnTo>
                  <a:pt x="80430" y="179397"/>
                </a:lnTo>
                <a:lnTo>
                  <a:pt x="116215" y="157632"/>
                </a:lnTo>
                <a:lnTo>
                  <a:pt x="157388" y="137095"/>
                </a:lnTo>
                <a:lnTo>
                  <a:pt x="203603" y="117824"/>
                </a:lnTo>
                <a:lnTo>
                  <a:pt x="254514" y="99860"/>
                </a:lnTo>
                <a:lnTo>
                  <a:pt x="309774" y="83244"/>
                </a:lnTo>
                <a:lnTo>
                  <a:pt x="369039" y="68015"/>
                </a:lnTo>
                <a:lnTo>
                  <a:pt x="431961" y="54213"/>
                </a:lnTo>
                <a:lnTo>
                  <a:pt x="498195" y="41879"/>
                </a:lnTo>
                <a:lnTo>
                  <a:pt x="567395" y="31053"/>
                </a:lnTo>
                <a:lnTo>
                  <a:pt x="639214" y="21774"/>
                </a:lnTo>
                <a:lnTo>
                  <a:pt x="713307" y="14083"/>
                </a:lnTo>
                <a:lnTo>
                  <a:pt x="789328" y="8020"/>
                </a:lnTo>
                <a:lnTo>
                  <a:pt x="866930" y="3625"/>
                </a:lnTo>
                <a:lnTo>
                  <a:pt x="945768" y="938"/>
                </a:lnTo>
                <a:lnTo>
                  <a:pt x="1025495" y="0"/>
                </a:lnTo>
                <a:lnTo>
                  <a:pt x="1105765" y="849"/>
                </a:lnTo>
                <a:lnTo>
                  <a:pt x="1186233" y="3527"/>
                </a:lnTo>
                <a:lnTo>
                  <a:pt x="1266552" y="8074"/>
                </a:lnTo>
                <a:lnTo>
                  <a:pt x="1346377" y="14529"/>
                </a:lnTo>
                <a:lnTo>
                  <a:pt x="1425360" y="22933"/>
                </a:lnTo>
                <a:lnTo>
                  <a:pt x="1501706" y="33124"/>
                </a:lnTo>
                <a:lnTo>
                  <a:pt x="1573754" y="44850"/>
                </a:lnTo>
                <a:lnTo>
                  <a:pt x="1641363" y="58011"/>
                </a:lnTo>
                <a:lnTo>
                  <a:pt x="1704390" y="72510"/>
                </a:lnTo>
                <a:lnTo>
                  <a:pt x="1762696" y="88247"/>
                </a:lnTo>
                <a:lnTo>
                  <a:pt x="1816138" y="105124"/>
                </a:lnTo>
                <a:lnTo>
                  <a:pt x="1864576" y="123043"/>
                </a:lnTo>
                <a:lnTo>
                  <a:pt x="1907867" y="141904"/>
                </a:lnTo>
                <a:lnTo>
                  <a:pt x="1945870" y="161611"/>
                </a:lnTo>
                <a:lnTo>
                  <a:pt x="1978445" y="182064"/>
                </a:lnTo>
                <a:lnTo>
                  <a:pt x="2026743" y="224814"/>
                </a:lnTo>
                <a:lnTo>
                  <a:pt x="2051629" y="269367"/>
                </a:lnTo>
                <a:lnTo>
                  <a:pt x="2054939" y="292074"/>
                </a:lnTo>
                <a:lnTo>
                  <a:pt x="2051972" y="314935"/>
                </a:lnTo>
                <a:lnTo>
                  <a:pt x="2026642" y="360731"/>
                </a:lnTo>
                <a:lnTo>
                  <a:pt x="1974508" y="405965"/>
                </a:lnTo>
                <a:lnTo>
                  <a:pt x="1919458" y="437756"/>
                </a:lnTo>
                <a:lnTo>
                  <a:pt x="1852408" y="467006"/>
                </a:lnTo>
                <a:lnTo>
                  <a:pt x="1814720" y="480615"/>
                </a:lnTo>
                <a:lnTo>
                  <a:pt x="1774436" y="493513"/>
                </a:lnTo>
                <a:lnTo>
                  <a:pt x="1731691" y="505675"/>
                </a:lnTo>
                <a:lnTo>
                  <a:pt x="1686618" y="517075"/>
                </a:lnTo>
                <a:lnTo>
                  <a:pt x="1639354" y="527688"/>
                </a:lnTo>
                <a:lnTo>
                  <a:pt x="1590032" y="537489"/>
                </a:lnTo>
                <a:lnTo>
                  <a:pt x="1538786" y="546453"/>
                </a:lnTo>
                <a:lnTo>
                  <a:pt x="1485752" y="554555"/>
                </a:lnTo>
                <a:lnTo>
                  <a:pt x="1431064" y="561769"/>
                </a:lnTo>
                <a:lnTo>
                  <a:pt x="1374857" y="568070"/>
                </a:lnTo>
                <a:lnTo>
                  <a:pt x="1317265" y="573432"/>
                </a:lnTo>
                <a:lnTo>
                  <a:pt x="1258423" y="577831"/>
                </a:lnTo>
                <a:lnTo>
                  <a:pt x="1198466" y="581242"/>
                </a:lnTo>
                <a:lnTo>
                  <a:pt x="1137527" y="583639"/>
                </a:lnTo>
                <a:lnTo>
                  <a:pt x="1075742" y="584996"/>
                </a:lnTo>
                <a:lnTo>
                  <a:pt x="1013245" y="585289"/>
                </a:lnTo>
                <a:lnTo>
                  <a:pt x="488735" y="10278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523481" y="3095487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44053" y="3839894"/>
            <a:ext cx="534670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b="1" dirty="0">
                <a:latin typeface="微软雅黑"/>
                <a:cs typeface="微软雅黑"/>
              </a:rPr>
              <a:t>执行 具体 任务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56146" y="4775580"/>
            <a:ext cx="2081530" cy="1207770"/>
          </a:xfrm>
          <a:custGeom>
            <a:avLst/>
            <a:gdLst/>
            <a:ahLst/>
            <a:cxnLst/>
            <a:rect l="l" t="t" r="r" b="b"/>
            <a:pathLst>
              <a:path w="2081529" h="1207770">
                <a:moveTo>
                  <a:pt x="532892" y="0"/>
                </a:moveTo>
                <a:lnTo>
                  <a:pt x="666496" y="584581"/>
                </a:lnTo>
                <a:lnTo>
                  <a:pt x="608106" y="592182"/>
                </a:lnTo>
                <a:lnTo>
                  <a:pt x="551794" y="600787"/>
                </a:lnTo>
                <a:lnTo>
                  <a:pt x="497654" y="610352"/>
                </a:lnTo>
                <a:lnTo>
                  <a:pt x="445780" y="620838"/>
                </a:lnTo>
                <a:lnTo>
                  <a:pt x="396263" y="632204"/>
                </a:lnTo>
                <a:lnTo>
                  <a:pt x="349199" y="644406"/>
                </a:lnTo>
                <a:lnTo>
                  <a:pt x="304679" y="657405"/>
                </a:lnTo>
                <a:lnTo>
                  <a:pt x="262798" y="671160"/>
                </a:lnTo>
                <a:lnTo>
                  <a:pt x="223649" y="685628"/>
                </a:lnTo>
                <a:lnTo>
                  <a:pt x="187325" y="700770"/>
                </a:lnTo>
                <a:lnTo>
                  <a:pt x="123525" y="732905"/>
                </a:lnTo>
                <a:lnTo>
                  <a:pt x="72146" y="767237"/>
                </a:lnTo>
                <a:lnTo>
                  <a:pt x="33934" y="803435"/>
                </a:lnTo>
                <a:lnTo>
                  <a:pt x="9636" y="841169"/>
                </a:lnTo>
                <a:lnTo>
                  <a:pt x="0" y="880110"/>
                </a:lnTo>
                <a:lnTo>
                  <a:pt x="2072" y="906559"/>
                </a:lnTo>
                <a:lnTo>
                  <a:pt x="26206" y="957709"/>
                </a:lnTo>
                <a:lnTo>
                  <a:pt x="75237" y="1005965"/>
                </a:lnTo>
                <a:lnTo>
                  <a:pt x="108430" y="1028797"/>
                </a:lnTo>
                <a:lnTo>
                  <a:pt x="147057" y="1050654"/>
                </a:lnTo>
                <a:lnTo>
                  <a:pt x="190855" y="1071449"/>
                </a:lnTo>
                <a:lnTo>
                  <a:pt x="239560" y="1091100"/>
                </a:lnTo>
                <a:lnTo>
                  <a:pt x="292909" y="1109522"/>
                </a:lnTo>
                <a:lnTo>
                  <a:pt x="350639" y="1126631"/>
                </a:lnTo>
                <a:lnTo>
                  <a:pt x="412485" y="1142342"/>
                </a:lnTo>
                <a:lnTo>
                  <a:pt x="478186" y="1156571"/>
                </a:lnTo>
                <a:lnTo>
                  <a:pt x="547477" y="1169234"/>
                </a:lnTo>
                <a:lnTo>
                  <a:pt x="620095" y="1180247"/>
                </a:lnTo>
                <a:lnTo>
                  <a:pt x="695777" y="1189525"/>
                </a:lnTo>
                <a:lnTo>
                  <a:pt x="774259" y="1196984"/>
                </a:lnTo>
                <a:lnTo>
                  <a:pt x="855278" y="1202540"/>
                </a:lnTo>
                <a:lnTo>
                  <a:pt x="938571" y="1206108"/>
                </a:lnTo>
                <a:lnTo>
                  <a:pt x="1023874" y="1207604"/>
                </a:lnTo>
                <a:lnTo>
                  <a:pt x="1109289" y="1206962"/>
                </a:lnTo>
                <a:lnTo>
                  <a:pt x="1192914" y="1204230"/>
                </a:lnTo>
                <a:lnTo>
                  <a:pt x="1274477" y="1199488"/>
                </a:lnTo>
                <a:lnTo>
                  <a:pt x="1353704" y="1192819"/>
                </a:lnTo>
                <a:lnTo>
                  <a:pt x="1430323" y="1184303"/>
                </a:lnTo>
                <a:lnTo>
                  <a:pt x="1504063" y="1174024"/>
                </a:lnTo>
                <a:lnTo>
                  <a:pt x="1574650" y="1162061"/>
                </a:lnTo>
                <a:lnTo>
                  <a:pt x="1641813" y="1148498"/>
                </a:lnTo>
                <a:lnTo>
                  <a:pt x="1705279" y="1133414"/>
                </a:lnTo>
                <a:lnTo>
                  <a:pt x="1764776" y="1116893"/>
                </a:lnTo>
                <a:lnTo>
                  <a:pt x="1820031" y="1099015"/>
                </a:lnTo>
                <a:lnTo>
                  <a:pt x="1870772" y="1079863"/>
                </a:lnTo>
                <a:lnTo>
                  <a:pt x="1916728" y="1059517"/>
                </a:lnTo>
                <a:lnTo>
                  <a:pt x="1957625" y="1038059"/>
                </a:lnTo>
                <a:lnTo>
                  <a:pt x="1993191" y="1015571"/>
                </a:lnTo>
                <a:lnTo>
                  <a:pt x="2047242" y="967832"/>
                </a:lnTo>
                <a:lnTo>
                  <a:pt x="2076702" y="916951"/>
                </a:lnTo>
                <a:lnTo>
                  <a:pt x="2081529" y="890536"/>
                </a:lnTo>
                <a:lnTo>
                  <a:pt x="2079457" y="864094"/>
                </a:lnTo>
                <a:lnTo>
                  <a:pt x="2055323" y="812953"/>
                </a:lnTo>
                <a:lnTo>
                  <a:pt x="2006292" y="764700"/>
                </a:lnTo>
                <a:lnTo>
                  <a:pt x="1973099" y="741867"/>
                </a:lnTo>
                <a:lnTo>
                  <a:pt x="1934472" y="720009"/>
                </a:lnTo>
                <a:lnTo>
                  <a:pt x="1890674" y="699211"/>
                </a:lnTo>
                <a:lnTo>
                  <a:pt x="1841969" y="679557"/>
                </a:lnTo>
                <a:lnTo>
                  <a:pt x="1788620" y="661131"/>
                </a:lnTo>
                <a:lnTo>
                  <a:pt x="1730890" y="644018"/>
                </a:lnTo>
                <a:lnTo>
                  <a:pt x="1669044" y="628302"/>
                </a:lnTo>
                <a:lnTo>
                  <a:pt x="1603343" y="614067"/>
                </a:lnTo>
                <a:lnTo>
                  <a:pt x="1534052" y="601398"/>
                </a:lnTo>
                <a:lnTo>
                  <a:pt x="1461434" y="590379"/>
                </a:lnTo>
                <a:lnTo>
                  <a:pt x="1385752" y="581095"/>
                </a:lnTo>
                <a:lnTo>
                  <a:pt x="1307270" y="573629"/>
                </a:lnTo>
                <a:lnTo>
                  <a:pt x="1226251" y="568067"/>
                </a:lnTo>
                <a:lnTo>
                  <a:pt x="1142958" y="564493"/>
                </a:lnTo>
                <a:lnTo>
                  <a:pt x="1057655" y="562991"/>
                </a:lnTo>
                <a:lnTo>
                  <a:pt x="53289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56146" y="4775580"/>
            <a:ext cx="2081530" cy="1207770"/>
          </a:xfrm>
          <a:custGeom>
            <a:avLst/>
            <a:gdLst/>
            <a:ahLst/>
            <a:cxnLst/>
            <a:rect l="l" t="t" r="r" b="b"/>
            <a:pathLst>
              <a:path w="2081529" h="1207770">
                <a:moveTo>
                  <a:pt x="532892" y="0"/>
                </a:moveTo>
                <a:lnTo>
                  <a:pt x="1057655" y="562991"/>
                </a:lnTo>
                <a:lnTo>
                  <a:pt x="1142958" y="564493"/>
                </a:lnTo>
                <a:lnTo>
                  <a:pt x="1226251" y="568067"/>
                </a:lnTo>
                <a:lnTo>
                  <a:pt x="1307270" y="573629"/>
                </a:lnTo>
                <a:lnTo>
                  <a:pt x="1385752" y="581095"/>
                </a:lnTo>
                <a:lnTo>
                  <a:pt x="1461434" y="590379"/>
                </a:lnTo>
                <a:lnTo>
                  <a:pt x="1534052" y="601398"/>
                </a:lnTo>
                <a:lnTo>
                  <a:pt x="1603343" y="614067"/>
                </a:lnTo>
                <a:lnTo>
                  <a:pt x="1669044" y="628302"/>
                </a:lnTo>
                <a:lnTo>
                  <a:pt x="1730890" y="644018"/>
                </a:lnTo>
                <a:lnTo>
                  <a:pt x="1788620" y="661131"/>
                </a:lnTo>
                <a:lnTo>
                  <a:pt x="1841969" y="679557"/>
                </a:lnTo>
                <a:lnTo>
                  <a:pt x="1890674" y="699211"/>
                </a:lnTo>
                <a:lnTo>
                  <a:pt x="1934472" y="720009"/>
                </a:lnTo>
                <a:lnTo>
                  <a:pt x="1973099" y="741867"/>
                </a:lnTo>
                <a:lnTo>
                  <a:pt x="2006292" y="764700"/>
                </a:lnTo>
                <a:lnTo>
                  <a:pt x="2055323" y="812953"/>
                </a:lnTo>
                <a:lnTo>
                  <a:pt x="2079457" y="864094"/>
                </a:lnTo>
                <a:lnTo>
                  <a:pt x="2081529" y="890536"/>
                </a:lnTo>
                <a:lnTo>
                  <a:pt x="2076702" y="916951"/>
                </a:lnTo>
                <a:lnTo>
                  <a:pt x="2047242" y="967832"/>
                </a:lnTo>
                <a:lnTo>
                  <a:pt x="1993191" y="1015571"/>
                </a:lnTo>
                <a:lnTo>
                  <a:pt x="1957625" y="1038059"/>
                </a:lnTo>
                <a:lnTo>
                  <a:pt x="1916728" y="1059517"/>
                </a:lnTo>
                <a:lnTo>
                  <a:pt x="1870772" y="1079863"/>
                </a:lnTo>
                <a:lnTo>
                  <a:pt x="1820031" y="1099015"/>
                </a:lnTo>
                <a:lnTo>
                  <a:pt x="1764776" y="1116893"/>
                </a:lnTo>
                <a:lnTo>
                  <a:pt x="1705279" y="1133414"/>
                </a:lnTo>
                <a:lnTo>
                  <a:pt x="1641813" y="1148498"/>
                </a:lnTo>
                <a:lnTo>
                  <a:pt x="1574650" y="1162061"/>
                </a:lnTo>
                <a:lnTo>
                  <a:pt x="1504063" y="1174024"/>
                </a:lnTo>
                <a:lnTo>
                  <a:pt x="1430323" y="1184303"/>
                </a:lnTo>
                <a:lnTo>
                  <a:pt x="1353704" y="1192819"/>
                </a:lnTo>
                <a:lnTo>
                  <a:pt x="1274477" y="1199488"/>
                </a:lnTo>
                <a:lnTo>
                  <a:pt x="1192914" y="1204230"/>
                </a:lnTo>
                <a:lnTo>
                  <a:pt x="1109289" y="1206962"/>
                </a:lnTo>
                <a:lnTo>
                  <a:pt x="1023874" y="1207604"/>
                </a:lnTo>
                <a:lnTo>
                  <a:pt x="938571" y="1206108"/>
                </a:lnTo>
                <a:lnTo>
                  <a:pt x="855278" y="1202540"/>
                </a:lnTo>
                <a:lnTo>
                  <a:pt x="774259" y="1196984"/>
                </a:lnTo>
                <a:lnTo>
                  <a:pt x="695777" y="1189525"/>
                </a:lnTo>
                <a:lnTo>
                  <a:pt x="620095" y="1180247"/>
                </a:lnTo>
                <a:lnTo>
                  <a:pt x="547477" y="1169234"/>
                </a:lnTo>
                <a:lnTo>
                  <a:pt x="478186" y="1156571"/>
                </a:lnTo>
                <a:lnTo>
                  <a:pt x="412485" y="1142342"/>
                </a:lnTo>
                <a:lnTo>
                  <a:pt x="350639" y="1126631"/>
                </a:lnTo>
                <a:lnTo>
                  <a:pt x="292909" y="1109522"/>
                </a:lnTo>
                <a:lnTo>
                  <a:pt x="239560" y="1091100"/>
                </a:lnTo>
                <a:lnTo>
                  <a:pt x="190855" y="1071449"/>
                </a:lnTo>
                <a:lnTo>
                  <a:pt x="147057" y="1050654"/>
                </a:lnTo>
                <a:lnTo>
                  <a:pt x="108430" y="1028797"/>
                </a:lnTo>
                <a:lnTo>
                  <a:pt x="75237" y="1005965"/>
                </a:lnTo>
                <a:lnTo>
                  <a:pt x="26206" y="957709"/>
                </a:lnTo>
                <a:lnTo>
                  <a:pt x="2072" y="906559"/>
                </a:lnTo>
                <a:lnTo>
                  <a:pt x="0" y="880110"/>
                </a:lnTo>
                <a:lnTo>
                  <a:pt x="2939" y="860509"/>
                </a:lnTo>
                <a:lnTo>
                  <a:pt x="19999" y="822131"/>
                </a:lnTo>
                <a:lnTo>
                  <a:pt x="51347" y="785123"/>
                </a:lnTo>
                <a:lnTo>
                  <a:pt x="96236" y="749817"/>
                </a:lnTo>
                <a:lnTo>
                  <a:pt x="153919" y="716542"/>
                </a:lnTo>
                <a:lnTo>
                  <a:pt x="223649" y="685628"/>
                </a:lnTo>
                <a:lnTo>
                  <a:pt x="262798" y="671160"/>
                </a:lnTo>
                <a:lnTo>
                  <a:pt x="304679" y="657405"/>
                </a:lnTo>
                <a:lnTo>
                  <a:pt x="349199" y="644406"/>
                </a:lnTo>
                <a:lnTo>
                  <a:pt x="396263" y="632204"/>
                </a:lnTo>
                <a:lnTo>
                  <a:pt x="445780" y="620838"/>
                </a:lnTo>
                <a:lnTo>
                  <a:pt x="497654" y="610352"/>
                </a:lnTo>
                <a:lnTo>
                  <a:pt x="551794" y="600787"/>
                </a:lnTo>
                <a:lnTo>
                  <a:pt x="608106" y="592182"/>
                </a:lnTo>
                <a:lnTo>
                  <a:pt x="666496" y="584581"/>
                </a:lnTo>
                <a:lnTo>
                  <a:pt x="532892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639814" y="5516158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中断返回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50414" y="4274058"/>
            <a:ext cx="2606675" cy="1270000"/>
          </a:xfrm>
          <a:custGeom>
            <a:avLst/>
            <a:gdLst/>
            <a:ahLst/>
            <a:cxnLst/>
            <a:rect l="l" t="t" r="r" b="b"/>
            <a:pathLst>
              <a:path w="2606675" h="1270000">
                <a:moveTo>
                  <a:pt x="1967738" y="0"/>
                </a:moveTo>
                <a:lnTo>
                  <a:pt x="211581" y="0"/>
                </a:lnTo>
                <a:lnTo>
                  <a:pt x="194230" y="701"/>
                </a:lnTo>
                <a:lnTo>
                  <a:pt x="144710" y="10787"/>
                </a:lnTo>
                <a:lnTo>
                  <a:pt x="100135" y="31703"/>
                </a:lnTo>
                <a:lnTo>
                  <a:pt x="61975" y="61976"/>
                </a:lnTo>
                <a:lnTo>
                  <a:pt x="31703" y="100135"/>
                </a:lnTo>
                <a:lnTo>
                  <a:pt x="10787" y="144710"/>
                </a:lnTo>
                <a:lnTo>
                  <a:pt x="701" y="194230"/>
                </a:lnTo>
                <a:lnTo>
                  <a:pt x="0" y="211582"/>
                </a:lnTo>
                <a:lnTo>
                  <a:pt x="0" y="1057910"/>
                </a:lnTo>
                <a:lnTo>
                  <a:pt x="6149" y="1108751"/>
                </a:lnTo>
                <a:lnTo>
                  <a:pt x="23618" y="1155138"/>
                </a:lnTo>
                <a:lnTo>
                  <a:pt x="50936" y="1195599"/>
                </a:lnTo>
                <a:lnTo>
                  <a:pt x="86630" y="1228665"/>
                </a:lnTo>
                <a:lnTo>
                  <a:pt x="129230" y="1252862"/>
                </a:lnTo>
                <a:lnTo>
                  <a:pt x="177265" y="1266722"/>
                </a:lnTo>
                <a:lnTo>
                  <a:pt x="211581" y="1269492"/>
                </a:lnTo>
                <a:lnTo>
                  <a:pt x="1967738" y="1269492"/>
                </a:lnTo>
                <a:lnTo>
                  <a:pt x="2018579" y="1263342"/>
                </a:lnTo>
                <a:lnTo>
                  <a:pt x="2064966" y="1245873"/>
                </a:lnTo>
                <a:lnTo>
                  <a:pt x="2105427" y="1218555"/>
                </a:lnTo>
                <a:lnTo>
                  <a:pt x="2138493" y="1182861"/>
                </a:lnTo>
                <a:lnTo>
                  <a:pt x="2162690" y="1140261"/>
                </a:lnTo>
                <a:lnTo>
                  <a:pt x="2176550" y="1092226"/>
                </a:lnTo>
                <a:lnTo>
                  <a:pt x="2179320" y="1057910"/>
                </a:lnTo>
                <a:lnTo>
                  <a:pt x="2179320" y="528955"/>
                </a:lnTo>
                <a:lnTo>
                  <a:pt x="2448802" y="211582"/>
                </a:lnTo>
                <a:lnTo>
                  <a:pt x="2179320" y="211582"/>
                </a:lnTo>
                <a:lnTo>
                  <a:pt x="2178618" y="194230"/>
                </a:lnTo>
                <a:lnTo>
                  <a:pt x="2176550" y="177265"/>
                </a:lnTo>
                <a:lnTo>
                  <a:pt x="2162690" y="129230"/>
                </a:lnTo>
                <a:lnTo>
                  <a:pt x="2138493" y="86630"/>
                </a:lnTo>
                <a:lnTo>
                  <a:pt x="2105427" y="50936"/>
                </a:lnTo>
                <a:lnTo>
                  <a:pt x="2064966" y="23618"/>
                </a:lnTo>
                <a:lnTo>
                  <a:pt x="2018579" y="6149"/>
                </a:lnTo>
                <a:lnTo>
                  <a:pt x="1985089" y="701"/>
                </a:lnTo>
                <a:lnTo>
                  <a:pt x="1967738" y="0"/>
                </a:lnTo>
                <a:close/>
              </a:path>
              <a:path w="2606675" h="1270000">
                <a:moveTo>
                  <a:pt x="2606675" y="25654"/>
                </a:moveTo>
                <a:lnTo>
                  <a:pt x="2179320" y="211582"/>
                </a:lnTo>
                <a:lnTo>
                  <a:pt x="2448802" y="211582"/>
                </a:lnTo>
                <a:lnTo>
                  <a:pt x="2606675" y="25654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50414" y="4274058"/>
            <a:ext cx="2606675" cy="1270000"/>
          </a:xfrm>
          <a:custGeom>
            <a:avLst/>
            <a:gdLst/>
            <a:ahLst/>
            <a:cxnLst/>
            <a:rect l="l" t="t" r="r" b="b"/>
            <a:pathLst>
              <a:path w="2606675" h="1270000">
                <a:moveTo>
                  <a:pt x="0" y="211582"/>
                </a:moveTo>
                <a:lnTo>
                  <a:pt x="6149" y="160740"/>
                </a:lnTo>
                <a:lnTo>
                  <a:pt x="23618" y="114353"/>
                </a:lnTo>
                <a:lnTo>
                  <a:pt x="50936" y="73892"/>
                </a:lnTo>
                <a:lnTo>
                  <a:pt x="86630" y="40826"/>
                </a:lnTo>
                <a:lnTo>
                  <a:pt x="129230" y="16629"/>
                </a:lnTo>
                <a:lnTo>
                  <a:pt x="177265" y="2769"/>
                </a:lnTo>
                <a:lnTo>
                  <a:pt x="211581" y="0"/>
                </a:lnTo>
                <a:lnTo>
                  <a:pt x="1271270" y="0"/>
                </a:lnTo>
                <a:lnTo>
                  <a:pt x="1816100" y="0"/>
                </a:lnTo>
                <a:lnTo>
                  <a:pt x="1967738" y="0"/>
                </a:lnTo>
                <a:lnTo>
                  <a:pt x="1985089" y="701"/>
                </a:lnTo>
                <a:lnTo>
                  <a:pt x="2034609" y="10787"/>
                </a:lnTo>
                <a:lnTo>
                  <a:pt x="2079184" y="31703"/>
                </a:lnTo>
                <a:lnTo>
                  <a:pt x="2117343" y="61976"/>
                </a:lnTo>
                <a:lnTo>
                  <a:pt x="2147616" y="100135"/>
                </a:lnTo>
                <a:lnTo>
                  <a:pt x="2168532" y="144710"/>
                </a:lnTo>
                <a:lnTo>
                  <a:pt x="2178618" y="194230"/>
                </a:lnTo>
                <a:lnTo>
                  <a:pt x="2179320" y="211582"/>
                </a:lnTo>
                <a:lnTo>
                  <a:pt x="2606675" y="25654"/>
                </a:lnTo>
                <a:lnTo>
                  <a:pt x="2179320" y="528955"/>
                </a:lnTo>
                <a:lnTo>
                  <a:pt x="2179320" y="1057910"/>
                </a:lnTo>
                <a:lnTo>
                  <a:pt x="2173170" y="1108751"/>
                </a:lnTo>
                <a:lnTo>
                  <a:pt x="2155701" y="1155138"/>
                </a:lnTo>
                <a:lnTo>
                  <a:pt x="2128383" y="1195599"/>
                </a:lnTo>
                <a:lnTo>
                  <a:pt x="2092689" y="1228665"/>
                </a:lnTo>
                <a:lnTo>
                  <a:pt x="2050089" y="1252862"/>
                </a:lnTo>
                <a:lnTo>
                  <a:pt x="2002054" y="1266722"/>
                </a:lnTo>
                <a:lnTo>
                  <a:pt x="1967738" y="1269492"/>
                </a:lnTo>
                <a:lnTo>
                  <a:pt x="1816100" y="1269492"/>
                </a:lnTo>
                <a:lnTo>
                  <a:pt x="1271270" y="1269492"/>
                </a:lnTo>
                <a:lnTo>
                  <a:pt x="211581" y="1269492"/>
                </a:lnTo>
                <a:lnTo>
                  <a:pt x="194230" y="1268790"/>
                </a:lnTo>
                <a:lnTo>
                  <a:pt x="144710" y="1258704"/>
                </a:lnTo>
                <a:lnTo>
                  <a:pt x="100135" y="1237788"/>
                </a:lnTo>
                <a:lnTo>
                  <a:pt x="61976" y="1207516"/>
                </a:lnTo>
                <a:lnTo>
                  <a:pt x="31703" y="1169356"/>
                </a:lnTo>
                <a:lnTo>
                  <a:pt x="10787" y="1124781"/>
                </a:lnTo>
                <a:lnTo>
                  <a:pt x="701" y="1075261"/>
                </a:lnTo>
                <a:lnTo>
                  <a:pt x="0" y="1057910"/>
                </a:lnTo>
                <a:lnTo>
                  <a:pt x="0" y="528955"/>
                </a:lnTo>
                <a:lnTo>
                  <a:pt x="0" y="211582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708275" y="4399462"/>
            <a:ext cx="1863725" cy="104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7100"/>
              </a:lnSpc>
            </a:pPr>
            <a:r>
              <a:rPr sz="2400" b="1" spc="-5" dirty="0">
                <a:latin typeface="宋体"/>
                <a:cs typeface="宋体"/>
              </a:rPr>
              <a:t>当前指令执行 </a:t>
            </a:r>
            <a:r>
              <a:rPr sz="2400" b="1" dirty="0">
                <a:latin typeface="宋体"/>
                <a:cs typeface="宋体"/>
              </a:rPr>
              <a:t>完后下一条指 令所在的地址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34783" y="2360676"/>
            <a:ext cx="2054860" cy="462280"/>
          </a:xfrm>
          <a:prstGeom prst="rect">
            <a:avLst/>
          </a:prstGeom>
          <a:solidFill>
            <a:srgbClr val="E34A46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中断服务程序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226814" y="1907285"/>
            <a:ext cx="1196340" cy="634365"/>
          </a:xfrm>
          <a:custGeom>
            <a:avLst/>
            <a:gdLst/>
            <a:ahLst/>
            <a:cxnLst/>
            <a:rect l="l" t="t" r="r" b="b"/>
            <a:pathLst>
              <a:path w="1196339" h="634364">
                <a:moveTo>
                  <a:pt x="752348" y="0"/>
                </a:moveTo>
                <a:lnTo>
                  <a:pt x="500507" y="0"/>
                </a:lnTo>
                <a:lnTo>
                  <a:pt x="94424" y="592"/>
                </a:lnTo>
                <a:lnTo>
                  <a:pt x="54239" y="13365"/>
                </a:lnTo>
                <a:lnTo>
                  <a:pt x="22865" y="40063"/>
                </a:lnTo>
                <a:lnTo>
                  <a:pt x="3926" y="77064"/>
                </a:lnTo>
                <a:lnTo>
                  <a:pt x="0" y="105663"/>
                </a:lnTo>
                <a:lnTo>
                  <a:pt x="0" y="264160"/>
                </a:lnTo>
                <a:lnTo>
                  <a:pt x="592" y="539559"/>
                </a:lnTo>
                <a:lnTo>
                  <a:pt x="13365" y="579744"/>
                </a:lnTo>
                <a:lnTo>
                  <a:pt x="40063" y="611118"/>
                </a:lnTo>
                <a:lnTo>
                  <a:pt x="77064" y="630057"/>
                </a:lnTo>
                <a:lnTo>
                  <a:pt x="105663" y="633984"/>
                </a:lnTo>
                <a:lnTo>
                  <a:pt x="715010" y="633984"/>
                </a:lnTo>
                <a:lnTo>
                  <a:pt x="763587" y="633391"/>
                </a:lnTo>
                <a:lnTo>
                  <a:pt x="803772" y="620618"/>
                </a:lnTo>
                <a:lnTo>
                  <a:pt x="835146" y="593920"/>
                </a:lnTo>
                <a:lnTo>
                  <a:pt x="854085" y="556919"/>
                </a:lnTo>
                <a:lnTo>
                  <a:pt x="858012" y="528319"/>
                </a:lnTo>
                <a:lnTo>
                  <a:pt x="858012" y="264160"/>
                </a:lnTo>
                <a:lnTo>
                  <a:pt x="1195959" y="182625"/>
                </a:lnTo>
                <a:lnTo>
                  <a:pt x="858012" y="105663"/>
                </a:lnTo>
                <a:lnTo>
                  <a:pt x="857419" y="94424"/>
                </a:lnTo>
                <a:lnTo>
                  <a:pt x="854932" y="80274"/>
                </a:lnTo>
                <a:lnTo>
                  <a:pt x="837115" y="42623"/>
                </a:lnTo>
                <a:lnTo>
                  <a:pt x="806580" y="14991"/>
                </a:lnTo>
                <a:lnTo>
                  <a:pt x="766951" y="1004"/>
                </a:lnTo>
                <a:lnTo>
                  <a:pt x="75234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26814" y="1907285"/>
            <a:ext cx="1196340" cy="634365"/>
          </a:xfrm>
          <a:custGeom>
            <a:avLst/>
            <a:gdLst/>
            <a:ahLst/>
            <a:cxnLst/>
            <a:rect l="l" t="t" r="r" b="b"/>
            <a:pathLst>
              <a:path w="1196339" h="634364">
                <a:moveTo>
                  <a:pt x="0" y="105663"/>
                </a:moveTo>
                <a:lnTo>
                  <a:pt x="8634" y="63809"/>
                </a:lnTo>
                <a:lnTo>
                  <a:pt x="32120" y="29840"/>
                </a:lnTo>
                <a:lnTo>
                  <a:pt x="66834" y="7381"/>
                </a:lnTo>
                <a:lnTo>
                  <a:pt x="500507" y="0"/>
                </a:lnTo>
                <a:lnTo>
                  <a:pt x="715010" y="0"/>
                </a:lnTo>
                <a:lnTo>
                  <a:pt x="752348" y="0"/>
                </a:lnTo>
                <a:lnTo>
                  <a:pt x="766951" y="1004"/>
                </a:lnTo>
                <a:lnTo>
                  <a:pt x="806580" y="14991"/>
                </a:lnTo>
                <a:lnTo>
                  <a:pt x="837115" y="42623"/>
                </a:lnTo>
                <a:lnTo>
                  <a:pt x="854932" y="80274"/>
                </a:lnTo>
                <a:lnTo>
                  <a:pt x="858012" y="105663"/>
                </a:lnTo>
                <a:lnTo>
                  <a:pt x="1195959" y="182625"/>
                </a:lnTo>
                <a:lnTo>
                  <a:pt x="858012" y="264160"/>
                </a:lnTo>
                <a:lnTo>
                  <a:pt x="858012" y="528319"/>
                </a:lnTo>
                <a:lnTo>
                  <a:pt x="857007" y="542923"/>
                </a:lnTo>
                <a:lnTo>
                  <a:pt x="843020" y="582552"/>
                </a:lnTo>
                <a:lnTo>
                  <a:pt x="815388" y="613087"/>
                </a:lnTo>
                <a:lnTo>
                  <a:pt x="777737" y="630904"/>
                </a:lnTo>
                <a:lnTo>
                  <a:pt x="715010" y="633984"/>
                </a:lnTo>
                <a:lnTo>
                  <a:pt x="500507" y="633984"/>
                </a:lnTo>
                <a:lnTo>
                  <a:pt x="105663" y="633984"/>
                </a:lnTo>
                <a:lnTo>
                  <a:pt x="91060" y="632979"/>
                </a:lnTo>
                <a:lnTo>
                  <a:pt x="51431" y="618992"/>
                </a:lnTo>
                <a:lnTo>
                  <a:pt x="20896" y="591360"/>
                </a:lnTo>
                <a:lnTo>
                  <a:pt x="3079" y="553709"/>
                </a:lnTo>
                <a:lnTo>
                  <a:pt x="0" y="264160"/>
                </a:lnTo>
                <a:lnTo>
                  <a:pt x="0" y="105663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336541" y="2058344"/>
            <a:ext cx="63817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b="1" spc="-5" dirty="0">
                <a:latin typeface="宋体"/>
                <a:cs typeface="宋体"/>
              </a:rPr>
              <a:t>后台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094343" y="1869185"/>
            <a:ext cx="1027430" cy="634365"/>
          </a:xfrm>
          <a:custGeom>
            <a:avLst/>
            <a:gdLst/>
            <a:ahLst/>
            <a:cxnLst/>
            <a:rect l="l" t="t" r="r" b="b"/>
            <a:pathLst>
              <a:path w="1027429" h="634364">
                <a:moveTo>
                  <a:pt x="1027302" y="528319"/>
                </a:moveTo>
                <a:lnTo>
                  <a:pt x="170814" y="528319"/>
                </a:lnTo>
                <a:lnTo>
                  <a:pt x="171407" y="539559"/>
                </a:lnTo>
                <a:lnTo>
                  <a:pt x="184180" y="579744"/>
                </a:lnTo>
                <a:lnTo>
                  <a:pt x="210878" y="611118"/>
                </a:lnTo>
                <a:lnTo>
                  <a:pt x="247879" y="630057"/>
                </a:lnTo>
                <a:lnTo>
                  <a:pt x="276478" y="633984"/>
                </a:lnTo>
                <a:lnTo>
                  <a:pt x="527684" y="633984"/>
                </a:lnTo>
                <a:lnTo>
                  <a:pt x="932878" y="633391"/>
                </a:lnTo>
                <a:lnTo>
                  <a:pt x="973063" y="620618"/>
                </a:lnTo>
                <a:lnTo>
                  <a:pt x="1004437" y="593920"/>
                </a:lnTo>
                <a:lnTo>
                  <a:pt x="1023376" y="556919"/>
                </a:lnTo>
                <a:lnTo>
                  <a:pt x="1027302" y="528319"/>
                </a:lnTo>
                <a:close/>
              </a:path>
              <a:path w="1027429" h="634364">
                <a:moveTo>
                  <a:pt x="921638" y="0"/>
                </a:moveTo>
                <a:lnTo>
                  <a:pt x="313562" y="0"/>
                </a:lnTo>
                <a:lnTo>
                  <a:pt x="265239" y="592"/>
                </a:lnTo>
                <a:lnTo>
                  <a:pt x="225054" y="13365"/>
                </a:lnTo>
                <a:lnTo>
                  <a:pt x="193680" y="40063"/>
                </a:lnTo>
                <a:lnTo>
                  <a:pt x="174741" y="77064"/>
                </a:lnTo>
                <a:lnTo>
                  <a:pt x="170814" y="105663"/>
                </a:lnTo>
                <a:lnTo>
                  <a:pt x="170814" y="369824"/>
                </a:lnTo>
                <a:lnTo>
                  <a:pt x="0" y="616458"/>
                </a:lnTo>
                <a:lnTo>
                  <a:pt x="170814" y="528319"/>
                </a:lnTo>
                <a:lnTo>
                  <a:pt x="1027302" y="528319"/>
                </a:lnTo>
                <a:lnTo>
                  <a:pt x="1027302" y="369824"/>
                </a:lnTo>
                <a:lnTo>
                  <a:pt x="1026710" y="94424"/>
                </a:lnTo>
                <a:lnTo>
                  <a:pt x="1013937" y="54239"/>
                </a:lnTo>
                <a:lnTo>
                  <a:pt x="987239" y="22865"/>
                </a:lnTo>
                <a:lnTo>
                  <a:pt x="950238" y="3926"/>
                </a:lnTo>
                <a:lnTo>
                  <a:pt x="936242" y="1004"/>
                </a:lnTo>
                <a:lnTo>
                  <a:pt x="921638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094343" y="1869185"/>
            <a:ext cx="1027430" cy="634365"/>
          </a:xfrm>
          <a:custGeom>
            <a:avLst/>
            <a:gdLst/>
            <a:ahLst/>
            <a:cxnLst/>
            <a:rect l="l" t="t" r="r" b="b"/>
            <a:pathLst>
              <a:path w="1027429" h="634364">
                <a:moveTo>
                  <a:pt x="170814" y="105663"/>
                </a:moveTo>
                <a:lnTo>
                  <a:pt x="179449" y="63809"/>
                </a:lnTo>
                <a:lnTo>
                  <a:pt x="202935" y="29840"/>
                </a:lnTo>
                <a:lnTo>
                  <a:pt x="237649" y="7381"/>
                </a:lnTo>
                <a:lnTo>
                  <a:pt x="313562" y="0"/>
                </a:lnTo>
                <a:lnTo>
                  <a:pt x="527684" y="0"/>
                </a:lnTo>
                <a:lnTo>
                  <a:pt x="921638" y="0"/>
                </a:lnTo>
                <a:lnTo>
                  <a:pt x="936242" y="1004"/>
                </a:lnTo>
                <a:lnTo>
                  <a:pt x="975871" y="14991"/>
                </a:lnTo>
                <a:lnTo>
                  <a:pt x="1006406" y="42623"/>
                </a:lnTo>
                <a:lnTo>
                  <a:pt x="1024223" y="80274"/>
                </a:lnTo>
                <a:lnTo>
                  <a:pt x="1027302" y="369824"/>
                </a:lnTo>
                <a:lnTo>
                  <a:pt x="1027302" y="528319"/>
                </a:lnTo>
                <a:lnTo>
                  <a:pt x="1026298" y="542923"/>
                </a:lnTo>
                <a:lnTo>
                  <a:pt x="1023376" y="556919"/>
                </a:lnTo>
                <a:lnTo>
                  <a:pt x="1004437" y="593920"/>
                </a:lnTo>
                <a:lnTo>
                  <a:pt x="973063" y="620618"/>
                </a:lnTo>
                <a:lnTo>
                  <a:pt x="932878" y="633391"/>
                </a:lnTo>
                <a:lnTo>
                  <a:pt x="527684" y="633984"/>
                </a:lnTo>
                <a:lnTo>
                  <a:pt x="313562" y="633984"/>
                </a:lnTo>
                <a:lnTo>
                  <a:pt x="276478" y="633984"/>
                </a:lnTo>
                <a:lnTo>
                  <a:pt x="261875" y="632979"/>
                </a:lnTo>
                <a:lnTo>
                  <a:pt x="222246" y="618992"/>
                </a:lnTo>
                <a:lnTo>
                  <a:pt x="191711" y="591360"/>
                </a:lnTo>
                <a:lnTo>
                  <a:pt x="173894" y="553709"/>
                </a:lnTo>
                <a:lnTo>
                  <a:pt x="170814" y="528319"/>
                </a:lnTo>
                <a:lnTo>
                  <a:pt x="0" y="616458"/>
                </a:lnTo>
                <a:lnTo>
                  <a:pt x="170814" y="369824"/>
                </a:lnTo>
                <a:lnTo>
                  <a:pt x="170814" y="10566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374885" y="2020760"/>
            <a:ext cx="6381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b="1" dirty="0">
                <a:latin typeface="宋体"/>
                <a:cs typeface="宋体"/>
              </a:rPr>
              <a:t>前台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516572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9978" y="679187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</a:rPr>
              <a:t>中断的作用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10946892" y="2084832"/>
            <a:ext cx="99060" cy="1219200"/>
          </a:xfrm>
          <a:custGeom>
            <a:avLst/>
            <a:gdLst/>
            <a:ahLst/>
            <a:cxnLst/>
            <a:rect l="l" t="t" r="r" b="b"/>
            <a:pathLst>
              <a:path w="99059" h="1219200">
                <a:moveTo>
                  <a:pt x="0" y="1219200"/>
                </a:moveTo>
                <a:lnTo>
                  <a:pt x="99059" y="1219200"/>
                </a:lnTo>
                <a:lnTo>
                  <a:pt x="99059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454131" y="2101469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3" y="0"/>
                </a:moveTo>
                <a:lnTo>
                  <a:pt x="0" y="575182"/>
                </a:lnTo>
                <a:lnTo>
                  <a:pt x="609853" y="1185164"/>
                </a:lnTo>
                <a:lnTo>
                  <a:pt x="1185164" y="609980"/>
                </a:lnTo>
                <a:lnTo>
                  <a:pt x="57518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23276" y="2084832"/>
            <a:ext cx="3023870" cy="1219200"/>
          </a:xfrm>
          <a:custGeom>
            <a:avLst/>
            <a:gdLst/>
            <a:ahLst/>
            <a:cxnLst/>
            <a:rect l="l" t="t" r="r" b="b"/>
            <a:pathLst>
              <a:path w="3023870" h="1219200">
                <a:moveTo>
                  <a:pt x="0" y="1219200"/>
                </a:moveTo>
                <a:lnTo>
                  <a:pt x="3023616" y="1219200"/>
                </a:lnTo>
                <a:lnTo>
                  <a:pt x="3023616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354436" y="2101469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3" y="0"/>
                </a:moveTo>
                <a:lnTo>
                  <a:pt x="0" y="575182"/>
                </a:lnTo>
                <a:lnTo>
                  <a:pt x="609981" y="1185164"/>
                </a:lnTo>
                <a:lnTo>
                  <a:pt x="1185164" y="609980"/>
                </a:lnTo>
                <a:lnTo>
                  <a:pt x="575183" y="0"/>
                </a:lnTo>
                <a:close/>
              </a:path>
            </a:pathLst>
          </a:custGeom>
          <a:solidFill>
            <a:srgbClr val="7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389743" y="2136775"/>
            <a:ext cx="1115060" cy="1115060"/>
          </a:xfrm>
          <a:custGeom>
            <a:avLst/>
            <a:gdLst/>
            <a:ahLst/>
            <a:cxnLst/>
            <a:rect l="l" t="t" r="r" b="b"/>
            <a:pathLst>
              <a:path w="1115059" h="1115060">
                <a:moveTo>
                  <a:pt x="542035" y="0"/>
                </a:moveTo>
                <a:lnTo>
                  <a:pt x="0" y="542036"/>
                </a:lnTo>
                <a:lnTo>
                  <a:pt x="572515" y="1114552"/>
                </a:lnTo>
                <a:lnTo>
                  <a:pt x="586866" y="1100201"/>
                </a:lnTo>
                <a:lnTo>
                  <a:pt x="572515" y="1100201"/>
                </a:lnTo>
                <a:lnTo>
                  <a:pt x="14350" y="542036"/>
                </a:lnTo>
                <a:lnTo>
                  <a:pt x="542035" y="14350"/>
                </a:lnTo>
                <a:lnTo>
                  <a:pt x="556386" y="14350"/>
                </a:lnTo>
                <a:lnTo>
                  <a:pt x="542035" y="0"/>
                </a:lnTo>
                <a:close/>
              </a:path>
              <a:path w="1115059" h="1115060">
                <a:moveTo>
                  <a:pt x="556386" y="14350"/>
                </a:moveTo>
                <a:lnTo>
                  <a:pt x="542035" y="14350"/>
                </a:lnTo>
                <a:lnTo>
                  <a:pt x="1100201" y="572515"/>
                </a:lnTo>
                <a:lnTo>
                  <a:pt x="572515" y="1100201"/>
                </a:lnTo>
                <a:lnTo>
                  <a:pt x="586866" y="1100201"/>
                </a:lnTo>
                <a:lnTo>
                  <a:pt x="1114552" y="572515"/>
                </a:lnTo>
                <a:lnTo>
                  <a:pt x="556386" y="14350"/>
                </a:lnTo>
                <a:close/>
              </a:path>
              <a:path w="1115059" h="1115060">
                <a:moveTo>
                  <a:pt x="542035" y="28701"/>
                </a:moveTo>
                <a:lnTo>
                  <a:pt x="28701" y="542036"/>
                </a:lnTo>
                <a:lnTo>
                  <a:pt x="572515" y="1085850"/>
                </a:lnTo>
                <a:lnTo>
                  <a:pt x="615695" y="1042670"/>
                </a:lnTo>
                <a:lnTo>
                  <a:pt x="572515" y="1042670"/>
                </a:lnTo>
                <a:lnTo>
                  <a:pt x="71881" y="542036"/>
                </a:lnTo>
                <a:lnTo>
                  <a:pt x="542035" y="71882"/>
                </a:lnTo>
                <a:lnTo>
                  <a:pt x="585216" y="71882"/>
                </a:lnTo>
                <a:lnTo>
                  <a:pt x="542035" y="28701"/>
                </a:lnTo>
                <a:close/>
              </a:path>
              <a:path w="1115059" h="1115060">
                <a:moveTo>
                  <a:pt x="585216" y="71882"/>
                </a:moveTo>
                <a:lnTo>
                  <a:pt x="542035" y="71882"/>
                </a:lnTo>
                <a:lnTo>
                  <a:pt x="1042670" y="572515"/>
                </a:lnTo>
                <a:lnTo>
                  <a:pt x="572515" y="1042670"/>
                </a:lnTo>
                <a:lnTo>
                  <a:pt x="615695" y="1042670"/>
                </a:lnTo>
                <a:lnTo>
                  <a:pt x="1085850" y="572515"/>
                </a:lnTo>
                <a:lnTo>
                  <a:pt x="585216" y="718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738231" y="2527344"/>
            <a:ext cx="4191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等线"/>
                <a:cs typeface="等线"/>
              </a:rPr>
              <a:t>04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22156" y="2570596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可靠性高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56092" y="2068067"/>
            <a:ext cx="100965" cy="1219200"/>
          </a:xfrm>
          <a:custGeom>
            <a:avLst/>
            <a:gdLst/>
            <a:ahLst/>
            <a:cxnLst/>
            <a:rect l="l" t="t" r="r" b="b"/>
            <a:pathLst>
              <a:path w="100965" h="1219200">
                <a:moveTo>
                  <a:pt x="0" y="1219200"/>
                </a:moveTo>
                <a:lnTo>
                  <a:pt x="100583" y="1219200"/>
                </a:lnTo>
                <a:lnTo>
                  <a:pt x="100583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63840" y="2084832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2" y="0"/>
                </a:moveTo>
                <a:lnTo>
                  <a:pt x="0" y="575182"/>
                </a:lnTo>
                <a:lnTo>
                  <a:pt x="609853" y="1185037"/>
                </a:lnTo>
                <a:lnTo>
                  <a:pt x="1185036" y="609853"/>
                </a:lnTo>
                <a:lnTo>
                  <a:pt x="5751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07023" y="2068067"/>
            <a:ext cx="2449195" cy="1219200"/>
          </a:xfrm>
          <a:custGeom>
            <a:avLst/>
            <a:gdLst/>
            <a:ahLst/>
            <a:cxnLst/>
            <a:rect l="l" t="t" r="r" b="b"/>
            <a:pathLst>
              <a:path w="2449195" h="1219200">
                <a:moveTo>
                  <a:pt x="0" y="1219200"/>
                </a:moveTo>
                <a:lnTo>
                  <a:pt x="2449068" y="1219200"/>
                </a:lnTo>
                <a:lnTo>
                  <a:pt x="2449068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64144" y="2084832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2" y="0"/>
                </a:moveTo>
                <a:lnTo>
                  <a:pt x="0" y="575182"/>
                </a:lnTo>
                <a:lnTo>
                  <a:pt x="609853" y="1185037"/>
                </a:lnTo>
                <a:lnTo>
                  <a:pt x="1185163" y="609853"/>
                </a:lnTo>
                <a:lnTo>
                  <a:pt x="575182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99451" y="2120138"/>
            <a:ext cx="1115060" cy="1114425"/>
          </a:xfrm>
          <a:custGeom>
            <a:avLst/>
            <a:gdLst/>
            <a:ahLst/>
            <a:cxnLst/>
            <a:rect l="l" t="t" r="r" b="b"/>
            <a:pathLst>
              <a:path w="1115059" h="1114425">
                <a:moveTo>
                  <a:pt x="541908" y="0"/>
                </a:moveTo>
                <a:lnTo>
                  <a:pt x="0" y="541909"/>
                </a:lnTo>
                <a:lnTo>
                  <a:pt x="572516" y="1114425"/>
                </a:lnTo>
                <a:lnTo>
                  <a:pt x="586870" y="1100074"/>
                </a:lnTo>
                <a:lnTo>
                  <a:pt x="572516" y="1100074"/>
                </a:lnTo>
                <a:lnTo>
                  <a:pt x="14350" y="541909"/>
                </a:lnTo>
                <a:lnTo>
                  <a:pt x="541908" y="14350"/>
                </a:lnTo>
                <a:lnTo>
                  <a:pt x="556263" y="14350"/>
                </a:lnTo>
                <a:lnTo>
                  <a:pt x="541908" y="0"/>
                </a:lnTo>
                <a:close/>
              </a:path>
              <a:path w="1115059" h="1114425">
                <a:moveTo>
                  <a:pt x="556263" y="14350"/>
                </a:moveTo>
                <a:lnTo>
                  <a:pt x="541908" y="14350"/>
                </a:lnTo>
                <a:lnTo>
                  <a:pt x="1100074" y="572515"/>
                </a:lnTo>
                <a:lnTo>
                  <a:pt x="572516" y="1100074"/>
                </a:lnTo>
                <a:lnTo>
                  <a:pt x="586870" y="1100074"/>
                </a:lnTo>
                <a:lnTo>
                  <a:pt x="1114552" y="572515"/>
                </a:lnTo>
                <a:lnTo>
                  <a:pt x="556263" y="14350"/>
                </a:lnTo>
                <a:close/>
              </a:path>
              <a:path w="1115059" h="1114425">
                <a:moveTo>
                  <a:pt x="541908" y="28701"/>
                </a:moveTo>
                <a:lnTo>
                  <a:pt x="28701" y="541909"/>
                </a:lnTo>
                <a:lnTo>
                  <a:pt x="572516" y="1085723"/>
                </a:lnTo>
                <a:lnTo>
                  <a:pt x="615569" y="1042670"/>
                </a:lnTo>
                <a:lnTo>
                  <a:pt x="572516" y="1042670"/>
                </a:lnTo>
                <a:lnTo>
                  <a:pt x="71754" y="541909"/>
                </a:lnTo>
                <a:lnTo>
                  <a:pt x="541908" y="71754"/>
                </a:lnTo>
                <a:lnTo>
                  <a:pt x="584961" y="71754"/>
                </a:lnTo>
                <a:lnTo>
                  <a:pt x="541908" y="28701"/>
                </a:lnTo>
                <a:close/>
              </a:path>
              <a:path w="1115059" h="1114425">
                <a:moveTo>
                  <a:pt x="584961" y="71754"/>
                </a:moveTo>
                <a:lnTo>
                  <a:pt x="541908" y="71754"/>
                </a:lnTo>
                <a:lnTo>
                  <a:pt x="1042670" y="572515"/>
                </a:lnTo>
                <a:lnTo>
                  <a:pt x="572516" y="1042670"/>
                </a:lnTo>
                <a:lnTo>
                  <a:pt x="615569" y="1042670"/>
                </a:lnTo>
                <a:lnTo>
                  <a:pt x="1085723" y="572515"/>
                </a:lnTo>
                <a:lnTo>
                  <a:pt x="584961" y="71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47431" y="2510580"/>
            <a:ext cx="4191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等线"/>
                <a:cs typeface="等线"/>
              </a:rPr>
              <a:t>03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31356" y="2553832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实时响应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07964" y="2068067"/>
            <a:ext cx="99060" cy="1219200"/>
          </a:xfrm>
          <a:custGeom>
            <a:avLst/>
            <a:gdLst/>
            <a:ahLst/>
            <a:cxnLst/>
            <a:rect l="l" t="t" r="r" b="b"/>
            <a:pathLst>
              <a:path w="99060" h="1219200">
                <a:moveTo>
                  <a:pt x="0" y="1219200"/>
                </a:moveTo>
                <a:lnTo>
                  <a:pt x="99060" y="1219200"/>
                </a:lnTo>
                <a:lnTo>
                  <a:pt x="9906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14569" y="2084704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2" y="0"/>
                </a:moveTo>
                <a:lnTo>
                  <a:pt x="0" y="575310"/>
                </a:lnTo>
                <a:lnTo>
                  <a:pt x="609853" y="1185164"/>
                </a:lnTo>
                <a:lnTo>
                  <a:pt x="1185164" y="609981"/>
                </a:lnTo>
                <a:lnTo>
                  <a:pt x="5751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57371" y="2068067"/>
            <a:ext cx="2451100" cy="1219200"/>
          </a:xfrm>
          <a:custGeom>
            <a:avLst/>
            <a:gdLst/>
            <a:ahLst/>
            <a:cxnLst/>
            <a:rect l="l" t="t" r="r" b="b"/>
            <a:pathLst>
              <a:path w="2451100" h="1219200">
                <a:moveTo>
                  <a:pt x="0" y="1219200"/>
                </a:moveTo>
                <a:lnTo>
                  <a:pt x="2450591" y="1219200"/>
                </a:lnTo>
                <a:lnTo>
                  <a:pt x="2450591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14873" y="2084704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3" y="0"/>
                </a:moveTo>
                <a:lnTo>
                  <a:pt x="0" y="575310"/>
                </a:lnTo>
                <a:lnTo>
                  <a:pt x="609853" y="1185164"/>
                </a:lnTo>
                <a:lnTo>
                  <a:pt x="1185164" y="609981"/>
                </a:lnTo>
                <a:lnTo>
                  <a:pt x="57518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50179" y="2120010"/>
            <a:ext cx="1115060" cy="1115060"/>
          </a:xfrm>
          <a:custGeom>
            <a:avLst/>
            <a:gdLst/>
            <a:ahLst/>
            <a:cxnLst/>
            <a:rect l="l" t="t" r="r" b="b"/>
            <a:pathLst>
              <a:path w="1115060" h="1115060">
                <a:moveTo>
                  <a:pt x="542036" y="0"/>
                </a:moveTo>
                <a:lnTo>
                  <a:pt x="0" y="542036"/>
                </a:lnTo>
                <a:lnTo>
                  <a:pt x="572516" y="1114552"/>
                </a:lnTo>
                <a:lnTo>
                  <a:pt x="586867" y="1100201"/>
                </a:lnTo>
                <a:lnTo>
                  <a:pt x="572516" y="1100201"/>
                </a:lnTo>
                <a:lnTo>
                  <a:pt x="14350" y="542036"/>
                </a:lnTo>
                <a:lnTo>
                  <a:pt x="542036" y="14350"/>
                </a:lnTo>
                <a:lnTo>
                  <a:pt x="556387" y="14350"/>
                </a:lnTo>
                <a:lnTo>
                  <a:pt x="542036" y="0"/>
                </a:lnTo>
                <a:close/>
              </a:path>
              <a:path w="1115060" h="1115060">
                <a:moveTo>
                  <a:pt x="556387" y="14350"/>
                </a:moveTo>
                <a:lnTo>
                  <a:pt x="542036" y="14350"/>
                </a:lnTo>
                <a:lnTo>
                  <a:pt x="1100201" y="572515"/>
                </a:lnTo>
                <a:lnTo>
                  <a:pt x="572516" y="1100201"/>
                </a:lnTo>
                <a:lnTo>
                  <a:pt x="586867" y="1100201"/>
                </a:lnTo>
                <a:lnTo>
                  <a:pt x="1114552" y="572515"/>
                </a:lnTo>
                <a:lnTo>
                  <a:pt x="556387" y="14350"/>
                </a:lnTo>
                <a:close/>
              </a:path>
              <a:path w="1115060" h="1115060">
                <a:moveTo>
                  <a:pt x="542036" y="28828"/>
                </a:moveTo>
                <a:lnTo>
                  <a:pt x="28702" y="542036"/>
                </a:lnTo>
                <a:lnTo>
                  <a:pt x="572516" y="1085850"/>
                </a:lnTo>
                <a:lnTo>
                  <a:pt x="615569" y="1042797"/>
                </a:lnTo>
                <a:lnTo>
                  <a:pt x="572516" y="1042797"/>
                </a:lnTo>
                <a:lnTo>
                  <a:pt x="71755" y="542036"/>
                </a:lnTo>
                <a:lnTo>
                  <a:pt x="542036" y="71881"/>
                </a:lnTo>
                <a:lnTo>
                  <a:pt x="585099" y="71881"/>
                </a:lnTo>
                <a:lnTo>
                  <a:pt x="542036" y="28828"/>
                </a:lnTo>
                <a:close/>
              </a:path>
              <a:path w="1115060" h="1115060">
                <a:moveTo>
                  <a:pt x="585099" y="71881"/>
                </a:moveTo>
                <a:lnTo>
                  <a:pt x="542036" y="71881"/>
                </a:lnTo>
                <a:lnTo>
                  <a:pt x="1042670" y="572515"/>
                </a:lnTo>
                <a:lnTo>
                  <a:pt x="572516" y="1042797"/>
                </a:lnTo>
                <a:lnTo>
                  <a:pt x="615569" y="1042797"/>
                </a:lnTo>
                <a:lnTo>
                  <a:pt x="1085850" y="572515"/>
                </a:lnTo>
                <a:lnTo>
                  <a:pt x="585099" y="71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597778" y="2510580"/>
            <a:ext cx="4191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等线"/>
                <a:cs typeface="等线"/>
              </a:rPr>
              <a:t>02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58844" y="2553832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分时操作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56788" y="2066544"/>
            <a:ext cx="100965" cy="1221105"/>
          </a:xfrm>
          <a:custGeom>
            <a:avLst/>
            <a:gdLst/>
            <a:ahLst/>
            <a:cxnLst/>
            <a:rect l="l" t="t" r="r" b="b"/>
            <a:pathLst>
              <a:path w="100964" h="1221104">
                <a:moveTo>
                  <a:pt x="0" y="1220724"/>
                </a:moveTo>
                <a:lnTo>
                  <a:pt x="100584" y="1220724"/>
                </a:lnTo>
                <a:lnTo>
                  <a:pt x="100584" y="0"/>
                </a:lnTo>
                <a:lnTo>
                  <a:pt x="0" y="0"/>
                </a:lnTo>
                <a:lnTo>
                  <a:pt x="0" y="122072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64535" y="2084070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3" y="0"/>
                </a:moveTo>
                <a:lnTo>
                  <a:pt x="0" y="575309"/>
                </a:lnTo>
                <a:lnTo>
                  <a:pt x="609853" y="1185164"/>
                </a:lnTo>
                <a:lnTo>
                  <a:pt x="1185037" y="609980"/>
                </a:lnTo>
                <a:lnTo>
                  <a:pt x="57518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7719" y="2066544"/>
            <a:ext cx="2449195" cy="1221105"/>
          </a:xfrm>
          <a:custGeom>
            <a:avLst/>
            <a:gdLst/>
            <a:ahLst/>
            <a:cxnLst/>
            <a:rect l="l" t="t" r="r" b="b"/>
            <a:pathLst>
              <a:path w="2449195" h="1221104">
                <a:moveTo>
                  <a:pt x="0" y="1220724"/>
                </a:moveTo>
                <a:lnTo>
                  <a:pt x="2449068" y="1220724"/>
                </a:lnTo>
                <a:lnTo>
                  <a:pt x="2449068" y="0"/>
                </a:lnTo>
                <a:lnTo>
                  <a:pt x="0" y="0"/>
                </a:lnTo>
                <a:lnTo>
                  <a:pt x="0" y="1220724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64841" y="2084070"/>
            <a:ext cx="1185545" cy="1185545"/>
          </a:xfrm>
          <a:custGeom>
            <a:avLst/>
            <a:gdLst/>
            <a:ahLst/>
            <a:cxnLst/>
            <a:rect l="l" t="t" r="r" b="b"/>
            <a:pathLst>
              <a:path w="1185545" h="1185545">
                <a:moveTo>
                  <a:pt x="575182" y="0"/>
                </a:moveTo>
                <a:lnTo>
                  <a:pt x="0" y="575309"/>
                </a:lnTo>
                <a:lnTo>
                  <a:pt x="609854" y="1185164"/>
                </a:lnTo>
                <a:lnTo>
                  <a:pt x="1185163" y="609980"/>
                </a:lnTo>
                <a:lnTo>
                  <a:pt x="575182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00147" y="2119502"/>
            <a:ext cx="1115060" cy="1114425"/>
          </a:xfrm>
          <a:custGeom>
            <a:avLst/>
            <a:gdLst/>
            <a:ahLst/>
            <a:cxnLst/>
            <a:rect l="l" t="t" r="r" b="b"/>
            <a:pathLst>
              <a:path w="1115060" h="1114425">
                <a:moveTo>
                  <a:pt x="542035" y="0"/>
                </a:moveTo>
                <a:lnTo>
                  <a:pt x="0" y="541909"/>
                </a:lnTo>
                <a:lnTo>
                  <a:pt x="572515" y="1114425"/>
                </a:lnTo>
                <a:lnTo>
                  <a:pt x="586870" y="1100074"/>
                </a:lnTo>
                <a:lnTo>
                  <a:pt x="572515" y="1100074"/>
                </a:lnTo>
                <a:lnTo>
                  <a:pt x="14350" y="541909"/>
                </a:lnTo>
                <a:lnTo>
                  <a:pt x="542035" y="14350"/>
                </a:lnTo>
                <a:lnTo>
                  <a:pt x="556386" y="14350"/>
                </a:lnTo>
                <a:lnTo>
                  <a:pt x="542035" y="0"/>
                </a:lnTo>
                <a:close/>
              </a:path>
              <a:path w="1115060" h="1114425">
                <a:moveTo>
                  <a:pt x="556386" y="14350"/>
                </a:moveTo>
                <a:lnTo>
                  <a:pt x="542035" y="14350"/>
                </a:lnTo>
                <a:lnTo>
                  <a:pt x="1100074" y="572516"/>
                </a:lnTo>
                <a:lnTo>
                  <a:pt x="572515" y="1100074"/>
                </a:lnTo>
                <a:lnTo>
                  <a:pt x="586870" y="1100074"/>
                </a:lnTo>
                <a:lnTo>
                  <a:pt x="1114552" y="572516"/>
                </a:lnTo>
                <a:lnTo>
                  <a:pt x="556386" y="14350"/>
                </a:lnTo>
                <a:close/>
              </a:path>
              <a:path w="1115060" h="1114425">
                <a:moveTo>
                  <a:pt x="542035" y="28701"/>
                </a:moveTo>
                <a:lnTo>
                  <a:pt x="28701" y="541909"/>
                </a:lnTo>
                <a:lnTo>
                  <a:pt x="572515" y="1085723"/>
                </a:lnTo>
                <a:lnTo>
                  <a:pt x="615568" y="1042670"/>
                </a:lnTo>
                <a:lnTo>
                  <a:pt x="572515" y="1042670"/>
                </a:lnTo>
                <a:lnTo>
                  <a:pt x="71754" y="541909"/>
                </a:lnTo>
                <a:lnTo>
                  <a:pt x="542035" y="71755"/>
                </a:lnTo>
                <a:lnTo>
                  <a:pt x="585078" y="71755"/>
                </a:lnTo>
                <a:lnTo>
                  <a:pt x="542035" y="28701"/>
                </a:lnTo>
                <a:close/>
              </a:path>
              <a:path w="1115060" h="1114425">
                <a:moveTo>
                  <a:pt x="585078" y="71755"/>
                </a:moveTo>
                <a:lnTo>
                  <a:pt x="542035" y="71755"/>
                </a:lnTo>
                <a:lnTo>
                  <a:pt x="1042669" y="572516"/>
                </a:lnTo>
                <a:lnTo>
                  <a:pt x="572515" y="1042670"/>
                </a:lnTo>
                <a:lnTo>
                  <a:pt x="615568" y="1042670"/>
                </a:lnTo>
                <a:lnTo>
                  <a:pt x="1085723" y="572516"/>
                </a:lnTo>
                <a:lnTo>
                  <a:pt x="585078" y="71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047492" y="2509945"/>
            <a:ext cx="4191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等线"/>
                <a:cs typeface="等线"/>
              </a:rPr>
              <a:t>01</a:t>
            </a:r>
            <a:endParaRPr sz="2800">
              <a:latin typeface="等线"/>
              <a:cs typeface="等线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6487" y="2569961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速度匹配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4577" y="3638550"/>
            <a:ext cx="2364105" cy="2243455"/>
          </a:xfrm>
          <a:prstGeom prst="rect">
            <a:avLst/>
          </a:prstGeom>
          <a:ln w="38100">
            <a:solidFill>
              <a:srgbClr val="C71F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 marR="79375" algn="just">
              <a:lnSpc>
                <a:spcPct val="150100"/>
              </a:lnSpc>
            </a:pPr>
            <a:r>
              <a:rPr sz="2400" b="1" spc="-5" dirty="0">
                <a:latin typeface="微软雅黑"/>
                <a:cs typeface="微软雅黑"/>
              </a:rPr>
              <a:t>可以解决快速的 CPU</a:t>
            </a:r>
            <a:r>
              <a:rPr sz="2400" b="1" dirty="0">
                <a:latin typeface="微软雅黑"/>
                <a:cs typeface="微软雅黑"/>
              </a:rPr>
              <a:t>与慢速的外 </a:t>
            </a:r>
            <a:r>
              <a:rPr sz="2400" b="1" spc="-5" dirty="0">
                <a:latin typeface="微软雅黑"/>
                <a:cs typeface="微软雅黑"/>
              </a:rPr>
              <a:t>部设备之间传送 </a:t>
            </a:r>
            <a:r>
              <a:rPr sz="2400" b="1" dirty="0">
                <a:latin typeface="微软雅黑"/>
                <a:cs typeface="微软雅黑"/>
              </a:rPr>
              <a:t>数据的矛盾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25190" y="3638550"/>
            <a:ext cx="2489200" cy="2243455"/>
          </a:xfrm>
          <a:prstGeom prst="rect">
            <a:avLst/>
          </a:prstGeom>
          <a:ln w="38100">
            <a:solidFill>
              <a:srgbClr val="EC7C3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 marR="205740" algn="just">
              <a:lnSpc>
                <a:spcPct val="150100"/>
              </a:lnSpc>
            </a:pPr>
            <a:r>
              <a:rPr sz="2400" b="1" spc="-5" dirty="0">
                <a:latin typeface="微软雅黑"/>
                <a:cs typeface="微软雅黑"/>
              </a:rPr>
              <a:t>CP</a:t>
            </a:r>
            <a:r>
              <a:rPr sz="2400" b="1" spc="-10" dirty="0">
                <a:latin typeface="微软雅黑"/>
                <a:cs typeface="微软雅黑"/>
              </a:rPr>
              <a:t>U</a:t>
            </a:r>
            <a:r>
              <a:rPr sz="2400" b="1" spc="-5" dirty="0">
                <a:latin typeface="微软雅黑"/>
                <a:cs typeface="微软雅黑"/>
              </a:rPr>
              <a:t>可以分时为 </a:t>
            </a:r>
            <a:r>
              <a:rPr sz="2400" b="1" dirty="0">
                <a:latin typeface="微软雅黑"/>
                <a:cs typeface="微软雅黑"/>
              </a:rPr>
              <a:t>多个外部设备服 </a:t>
            </a:r>
            <a:r>
              <a:rPr sz="2400" b="1" spc="-5" dirty="0">
                <a:latin typeface="微软雅黑"/>
                <a:cs typeface="微软雅黑"/>
              </a:rPr>
              <a:t>务，提高计算机 </a:t>
            </a:r>
            <a:r>
              <a:rPr sz="2400" b="1" dirty="0">
                <a:latin typeface="微软雅黑"/>
                <a:cs typeface="微软雅黑"/>
              </a:rPr>
              <a:t>的利用率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60770" y="3640073"/>
            <a:ext cx="2506980" cy="2243455"/>
          </a:xfrm>
          <a:prstGeom prst="rect">
            <a:avLst/>
          </a:prstGeom>
          <a:ln w="38100">
            <a:solidFill>
              <a:srgbClr val="2D75B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 marR="222885" algn="just">
              <a:lnSpc>
                <a:spcPct val="150000"/>
              </a:lnSpc>
            </a:pPr>
            <a:r>
              <a:rPr sz="2400" b="1" spc="-5" dirty="0">
                <a:latin typeface="微软雅黑"/>
                <a:cs typeface="微软雅黑"/>
              </a:rPr>
              <a:t>CP</a:t>
            </a:r>
            <a:r>
              <a:rPr sz="2400" b="1" dirty="0">
                <a:latin typeface="微软雅黑"/>
                <a:cs typeface="微软雅黑"/>
              </a:rPr>
              <a:t>U能够及时处 理应用系统的随 </a:t>
            </a:r>
            <a:r>
              <a:rPr sz="2400" b="1" spc="-5" dirty="0">
                <a:latin typeface="微软雅黑"/>
                <a:cs typeface="微软雅黑"/>
              </a:rPr>
              <a:t>机事件</a:t>
            </a:r>
            <a:r>
              <a:rPr sz="2400" b="1" dirty="0">
                <a:latin typeface="微软雅黑"/>
                <a:cs typeface="微软雅黑"/>
              </a:rPr>
              <a:t>，</a:t>
            </a:r>
            <a:r>
              <a:rPr sz="2400" b="1" spc="-5" dirty="0">
                <a:latin typeface="微软雅黑"/>
                <a:cs typeface="微软雅黑"/>
              </a:rPr>
              <a:t>增强</a:t>
            </a:r>
            <a:r>
              <a:rPr sz="2400" b="1" dirty="0">
                <a:latin typeface="微软雅黑"/>
                <a:cs typeface="微软雅黑"/>
              </a:rPr>
              <a:t>系 统的实时性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14638" y="3630929"/>
            <a:ext cx="2501265" cy="2308860"/>
          </a:xfrm>
          <a:prstGeom prst="rect">
            <a:avLst/>
          </a:prstGeom>
          <a:ln w="38100">
            <a:solidFill>
              <a:srgbClr val="7E5F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025" marR="215900" algn="just">
              <a:lnSpc>
                <a:spcPct val="150100"/>
              </a:lnSpc>
            </a:pPr>
            <a:r>
              <a:rPr sz="2400" b="1" spc="-5" dirty="0">
                <a:latin typeface="微软雅黑"/>
                <a:cs typeface="微软雅黑"/>
              </a:rPr>
              <a:t>CP</a:t>
            </a:r>
            <a:r>
              <a:rPr sz="2400" b="1" spc="-10" dirty="0">
                <a:latin typeface="微软雅黑"/>
                <a:cs typeface="微软雅黑"/>
              </a:rPr>
              <a:t>U</a:t>
            </a:r>
            <a:r>
              <a:rPr sz="2400" b="1" spc="-5" dirty="0">
                <a:latin typeface="微软雅黑"/>
                <a:cs typeface="微软雅黑"/>
              </a:rPr>
              <a:t>可以处理设 </a:t>
            </a:r>
            <a:r>
              <a:rPr sz="2400" b="1" dirty="0">
                <a:latin typeface="微软雅黑"/>
                <a:cs typeface="微软雅黑"/>
              </a:rPr>
              <a:t>备故障及掉电等 </a:t>
            </a:r>
            <a:r>
              <a:rPr sz="2400" b="1" spc="-5" dirty="0">
                <a:latin typeface="微软雅黑"/>
                <a:cs typeface="微软雅黑"/>
              </a:rPr>
              <a:t>突发事件，提高 </a:t>
            </a:r>
            <a:r>
              <a:rPr sz="2400" b="1" dirty="0">
                <a:latin typeface="微软雅黑"/>
                <a:cs typeface="微软雅黑"/>
              </a:rPr>
              <a:t>系统可靠性</a:t>
            </a:r>
            <a:endParaRPr sz="24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20411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9615" y="1159381"/>
            <a:ext cx="15494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中断优先级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88408" y="880872"/>
            <a:ext cx="7085076" cy="55321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73929" y="866394"/>
            <a:ext cx="7114540" cy="5561330"/>
          </a:xfrm>
          <a:custGeom>
            <a:avLst/>
            <a:gdLst/>
            <a:ahLst/>
            <a:cxnLst/>
            <a:rect l="l" t="t" r="r" b="b"/>
            <a:pathLst>
              <a:path w="7114540" h="5561330">
                <a:moveTo>
                  <a:pt x="0" y="5561076"/>
                </a:moveTo>
                <a:lnTo>
                  <a:pt x="7114032" y="5561076"/>
                </a:lnTo>
                <a:lnTo>
                  <a:pt x="7114032" y="0"/>
                </a:lnTo>
                <a:lnTo>
                  <a:pt x="0" y="0"/>
                </a:lnTo>
                <a:lnTo>
                  <a:pt x="0" y="5561076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94888" y="3634740"/>
            <a:ext cx="1221105" cy="455930"/>
          </a:xfrm>
          <a:custGeom>
            <a:avLst/>
            <a:gdLst/>
            <a:ahLst/>
            <a:cxnLst/>
            <a:rect l="l" t="t" r="r" b="b"/>
            <a:pathLst>
              <a:path w="1221104" h="455929">
                <a:moveTo>
                  <a:pt x="992886" y="0"/>
                </a:moveTo>
                <a:lnTo>
                  <a:pt x="992886" y="113918"/>
                </a:lnTo>
                <a:lnTo>
                  <a:pt x="0" y="113918"/>
                </a:lnTo>
                <a:lnTo>
                  <a:pt x="0" y="341757"/>
                </a:lnTo>
                <a:lnTo>
                  <a:pt x="992886" y="341757"/>
                </a:lnTo>
                <a:lnTo>
                  <a:pt x="992886" y="455676"/>
                </a:lnTo>
                <a:lnTo>
                  <a:pt x="1220724" y="227837"/>
                </a:lnTo>
                <a:lnTo>
                  <a:pt x="99288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8025" y="1812798"/>
            <a:ext cx="2839720" cy="4512945"/>
          </a:xfrm>
          <a:prstGeom prst="rect">
            <a:avLst/>
          </a:prstGeom>
          <a:ln w="38100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2245" marR="172085" algn="just">
              <a:lnSpc>
                <a:spcPct val="150000"/>
              </a:lnSpc>
            </a:pPr>
            <a:r>
              <a:rPr sz="2400" b="1" dirty="0">
                <a:latin typeface="微软雅黑"/>
                <a:cs typeface="微软雅黑"/>
              </a:rPr>
              <a:t>处理器根据不同中 断的重要程序设置 </a:t>
            </a:r>
            <a:r>
              <a:rPr sz="2400" b="1" spc="-5" dirty="0">
                <a:latin typeface="微软雅黑"/>
                <a:cs typeface="微软雅黑"/>
              </a:rPr>
              <a:t>不同的优先等级。 </a:t>
            </a:r>
            <a:r>
              <a:rPr sz="2400" b="1" dirty="0">
                <a:latin typeface="微软雅黑"/>
                <a:cs typeface="微软雅黑"/>
              </a:rPr>
              <a:t>不同优先级中断的 处理原则是：高级 中断可以打断低级 中断；低级中断不 </a:t>
            </a:r>
            <a:r>
              <a:rPr sz="2400" b="1" spc="-5" dirty="0">
                <a:latin typeface="微软雅黑"/>
                <a:cs typeface="微软雅黑"/>
              </a:rPr>
              <a:t>能打断高级中断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423" y="3231123"/>
            <a:ext cx="1244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中断嵌套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9264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2826" y="1159381"/>
            <a:ext cx="12446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微软雅黑"/>
                <a:cs typeface="微软雅黑"/>
              </a:rPr>
              <a:t>中断向量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5236" y="1438655"/>
          <a:ext cx="10436351" cy="22486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6355">
                        <a:lnSpc>
                          <a:spcPts val="228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中断服务程序</a:t>
                      </a:r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793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5222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在响应一个特定中断的时候，处理器会执行一个函数，该函数一般称为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中断处理程序或者中断服务程序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45236" y="3663696"/>
          <a:ext cx="10436351" cy="2747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4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5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12192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5790">
                        <a:lnSpc>
                          <a:spcPts val="227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中断向量和中断向量表</a:t>
                      </a:r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12192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192" cap="flat" cmpd="sng" algn="ctr">
                      <a:solidFill>
                        <a:srgbClr val="E34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4A46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R w="38100">
                      <a:solidFill>
                        <a:srgbClr val="E34A46"/>
                      </a:solidFill>
                      <a:prstDash val="solid"/>
                    </a:lnR>
                    <a:lnT w="38100">
                      <a:solidFill>
                        <a:srgbClr val="E34A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70">
                <a:tc gridSpan="3"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tabLst>
                          <a:tab pos="2243455" algn="l"/>
                        </a:tabLst>
                      </a:pPr>
                      <a:r>
                        <a:rPr sz="2400" dirty="0">
                          <a:solidFill>
                            <a:srgbClr val="C00000"/>
                          </a:solidFill>
                          <a:latin typeface="Segoe UI Emoji"/>
                          <a:cs typeface="Segoe UI Emoji"/>
                        </a:rPr>
                        <a:t>⚫</a:t>
                      </a:r>
                      <a:r>
                        <a:rPr sz="2400" spc="245" dirty="0">
                          <a:solidFill>
                            <a:srgbClr val="C00000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2400" b="1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中断向量	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：中断服务程序在内存中的入口地址称为中断向量。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4095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dirty="0">
                          <a:solidFill>
                            <a:srgbClr val="C00000"/>
                          </a:solidFill>
                          <a:latin typeface="Segoe UI Emoji"/>
                          <a:cs typeface="Segoe UI Emoji"/>
                        </a:rPr>
                        <a:t>⚫</a:t>
                      </a:r>
                      <a:r>
                        <a:rPr sz="2400" spc="245" dirty="0">
                          <a:solidFill>
                            <a:srgbClr val="C00000"/>
                          </a:solidFill>
                          <a:latin typeface="Segoe UI Emoji"/>
                          <a:cs typeface="Segoe UI Emoji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C00000"/>
                          </a:solidFill>
                          <a:latin typeface="微软雅黑"/>
                          <a:cs typeface="微软雅黑"/>
                        </a:rPr>
                        <a:t>中断向量表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：把系统中所有的中断向量集中起来放到存储器的某一区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258318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域内，这个存放中断向量的存储区就叫中断向量表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38100">
                      <a:solidFill>
                        <a:srgbClr val="E34A46"/>
                      </a:solidFill>
                      <a:prstDash val="solid"/>
                    </a:lnL>
                    <a:lnR w="38100">
                      <a:solidFill>
                        <a:srgbClr val="E34A46"/>
                      </a:solidFill>
                      <a:prstDash val="solid"/>
                    </a:lnR>
                    <a:lnB w="38100">
                      <a:solidFill>
                        <a:srgbClr val="E34A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72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1119" y="1159381"/>
            <a:ext cx="18542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</a:rPr>
              <a:t>查找中断向量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91511" y="2302764"/>
            <a:ext cx="2074545" cy="1815464"/>
          </a:xfrm>
          <a:custGeom>
            <a:avLst/>
            <a:gdLst/>
            <a:ahLst/>
            <a:cxnLst/>
            <a:rect l="l" t="t" r="r" b="b"/>
            <a:pathLst>
              <a:path w="2074545" h="1815464">
                <a:moveTo>
                  <a:pt x="1167638" y="0"/>
                </a:moveTo>
                <a:lnTo>
                  <a:pt x="1167638" y="272288"/>
                </a:lnTo>
                <a:lnTo>
                  <a:pt x="0" y="272288"/>
                </a:lnTo>
                <a:lnTo>
                  <a:pt x="0" y="1542796"/>
                </a:lnTo>
                <a:lnTo>
                  <a:pt x="1167638" y="1542796"/>
                </a:lnTo>
                <a:lnTo>
                  <a:pt x="1167638" y="1815084"/>
                </a:lnTo>
                <a:lnTo>
                  <a:pt x="2074164" y="907541"/>
                </a:lnTo>
                <a:lnTo>
                  <a:pt x="1167638" y="0"/>
                </a:lnTo>
                <a:close/>
              </a:path>
            </a:pathLst>
          </a:custGeom>
          <a:solidFill>
            <a:srgbClr val="5AA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77923" y="2694432"/>
            <a:ext cx="1027430" cy="1028700"/>
          </a:xfrm>
          <a:custGeom>
            <a:avLst/>
            <a:gdLst/>
            <a:ahLst/>
            <a:cxnLst/>
            <a:rect l="l" t="t" r="r" b="b"/>
            <a:pathLst>
              <a:path w="1027430" h="1028700">
                <a:moveTo>
                  <a:pt x="513588" y="0"/>
                </a:moveTo>
                <a:lnTo>
                  <a:pt x="471473" y="1704"/>
                </a:lnTo>
                <a:lnTo>
                  <a:pt x="430294" y="6731"/>
                </a:lnTo>
                <a:lnTo>
                  <a:pt x="390185" y="14946"/>
                </a:lnTo>
                <a:lnTo>
                  <a:pt x="351275" y="26218"/>
                </a:lnTo>
                <a:lnTo>
                  <a:pt x="313699" y="40415"/>
                </a:lnTo>
                <a:lnTo>
                  <a:pt x="277589" y="57404"/>
                </a:lnTo>
                <a:lnTo>
                  <a:pt x="243076" y="77053"/>
                </a:lnTo>
                <a:lnTo>
                  <a:pt x="210293" y="99230"/>
                </a:lnTo>
                <a:lnTo>
                  <a:pt x="179373" y="123802"/>
                </a:lnTo>
                <a:lnTo>
                  <a:pt x="150447" y="150637"/>
                </a:lnTo>
                <a:lnTo>
                  <a:pt x="123648" y="179603"/>
                </a:lnTo>
                <a:lnTo>
                  <a:pt x="99108" y="210568"/>
                </a:lnTo>
                <a:lnTo>
                  <a:pt x="76960" y="243398"/>
                </a:lnTo>
                <a:lnTo>
                  <a:pt x="57336" y="277962"/>
                </a:lnTo>
                <a:lnTo>
                  <a:pt x="40368" y="314128"/>
                </a:lnTo>
                <a:lnTo>
                  <a:pt x="26188" y="351763"/>
                </a:lnTo>
                <a:lnTo>
                  <a:pt x="14929" y="390735"/>
                </a:lnTo>
                <a:lnTo>
                  <a:pt x="6723" y="430912"/>
                </a:lnTo>
                <a:lnTo>
                  <a:pt x="1702" y="472161"/>
                </a:lnTo>
                <a:lnTo>
                  <a:pt x="0" y="514350"/>
                </a:lnTo>
                <a:lnTo>
                  <a:pt x="1702" y="556538"/>
                </a:lnTo>
                <a:lnTo>
                  <a:pt x="6723" y="597787"/>
                </a:lnTo>
                <a:lnTo>
                  <a:pt x="14929" y="637964"/>
                </a:lnTo>
                <a:lnTo>
                  <a:pt x="26188" y="676936"/>
                </a:lnTo>
                <a:lnTo>
                  <a:pt x="40368" y="714571"/>
                </a:lnTo>
                <a:lnTo>
                  <a:pt x="57336" y="750737"/>
                </a:lnTo>
                <a:lnTo>
                  <a:pt x="76960" y="785301"/>
                </a:lnTo>
                <a:lnTo>
                  <a:pt x="99108" y="818131"/>
                </a:lnTo>
                <a:lnTo>
                  <a:pt x="123648" y="849096"/>
                </a:lnTo>
                <a:lnTo>
                  <a:pt x="150447" y="878062"/>
                </a:lnTo>
                <a:lnTo>
                  <a:pt x="179373" y="904897"/>
                </a:lnTo>
                <a:lnTo>
                  <a:pt x="210293" y="929469"/>
                </a:lnTo>
                <a:lnTo>
                  <a:pt x="243076" y="951646"/>
                </a:lnTo>
                <a:lnTo>
                  <a:pt x="277589" y="971295"/>
                </a:lnTo>
                <a:lnTo>
                  <a:pt x="313699" y="988284"/>
                </a:lnTo>
                <a:lnTo>
                  <a:pt x="351275" y="1002481"/>
                </a:lnTo>
                <a:lnTo>
                  <a:pt x="390185" y="1013753"/>
                </a:lnTo>
                <a:lnTo>
                  <a:pt x="430294" y="1021968"/>
                </a:lnTo>
                <a:lnTo>
                  <a:pt x="471473" y="1026995"/>
                </a:lnTo>
                <a:lnTo>
                  <a:pt x="513588" y="1028699"/>
                </a:lnTo>
                <a:lnTo>
                  <a:pt x="555702" y="1026995"/>
                </a:lnTo>
                <a:lnTo>
                  <a:pt x="596881" y="1021968"/>
                </a:lnTo>
                <a:lnTo>
                  <a:pt x="636990" y="1013753"/>
                </a:lnTo>
                <a:lnTo>
                  <a:pt x="675900" y="1002481"/>
                </a:lnTo>
                <a:lnTo>
                  <a:pt x="713476" y="988284"/>
                </a:lnTo>
                <a:lnTo>
                  <a:pt x="749586" y="971295"/>
                </a:lnTo>
                <a:lnTo>
                  <a:pt x="784099" y="951646"/>
                </a:lnTo>
                <a:lnTo>
                  <a:pt x="816882" y="929469"/>
                </a:lnTo>
                <a:lnTo>
                  <a:pt x="847802" y="904897"/>
                </a:lnTo>
                <a:lnTo>
                  <a:pt x="876728" y="878062"/>
                </a:lnTo>
                <a:lnTo>
                  <a:pt x="903527" y="849096"/>
                </a:lnTo>
                <a:lnTo>
                  <a:pt x="928067" y="818131"/>
                </a:lnTo>
                <a:lnTo>
                  <a:pt x="950215" y="785301"/>
                </a:lnTo>
                <a:lnTo>
                  <a:pt x="969839" y="750737"/>
                </a:lnTo>
                <a:lnTo>
                  <a:pt x="986807" y="714571"/>
                </a:lnTo>
                <a:lnTo>
                  <a:pt x="1000987" y="676936"/>
                </a:lnTo>
                <a:lnTo>
                  <a:pt x="1012246" y="637964"/>
                </a:lnTo>
                <a:lnTo>
                  <a:pt x="1020452" y="597787"/>
                </a:lnTo>
                <a:lnTo>
                  <a:pt x="1025473" y="556538"/>
                </a:lnTo>
                <a:lnTo>
                  <a:pt x="1027176" y="514350"/>
                </a:lnTo>
                <a:lnTo>
                  <a:pt x="1025473" y="472161"/>
                </a:lnTo>
                <a:lnTo>
                  <a:pt x="1020452" y="430912"/>
                </a:lnTo>
                <a:lnTo>
                  <a:pt x="1012246" y="390735"/>
                </a:lnTo>
                <a:lnTo>
                  <a:pt x="1000987" y="351763"/>
                </a:lnTo>
                <a:lnTo>
                  <a:pt x="986807" y="314128"/>
                </a:lnTo>
                <a:lnTo>
                  <a:pt x="969839" y="277962"/>
                </a:lnTo>
                <a:lnTo>
                  <a:pt x="950215" y="243398"/>
                </a:lnTo>
                <a:lnTo>
                  <a:pt x="928067" y="210568"/>
                </a:lnTo>
                <a:lnTo>
                  <a:pt x="903527" y="179603"/>
                </a:lnTo>
                <a:lnTo>
                  <a:pt x="876728" y="150637"/>
                </a:lnTo>
                <a:lnTo>
                  <a:pt x="847802" y="123802"/>
                </a:lnTo>
                <a:lnTo>
                  <a:pt x="816882" y="99230"/>
                </a:lnTo>
                <a:lnTo>
                  <a:pt x="784099" y="77053"/>
                </a:lnTo>
                <a:lnTo>
                  <a:pt x="749586" y="57404"/>
                </a:lnTo>
                <a:lnTo>
                  <a:pt x="713476" y="40415"/>
                </a:lnTo>
                <a:lnTo>
                  <a:pt x="675900" y="26218"/>
                </a:lnTo>
                <a:lnTo>
                  <a:pt x="636990" y="14946"/>
                </a:lnTo>
                <a:lnTo>
                  <a:pt x="596881" y="6731"/>
                </a:lnTo>
                <a:lnTo>
                  <a:pt x="555702" y="1704"/>
                </a:lnTo>
                <a:lnTo>
                  <a:pt x="513588" y="0"/>
                </a:lnTo>
                <a:close/>
              </a:path>
            </a:pathLst>
          </a:custGeom>
          <a:solidFill>
            <a:srgbClr val="305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96795" y="2813304"/>
            <a:ext cx="789940" cy="792480"/>
          </a:xfrm>
          <a:custGeom>
            <a:avLst/>
            <a:gdLst/>
            <a:ahLst/>
            <a:cxnLst/>
            <a:rect l="l" t="t" r="r" b="b"/>
            <a:pathLst>
              <a:path w="789939" h="792479">
                <a:moveTo>
                  <a:pt x="394716" y="0"/>
                </a:moveTo>
                <a:lnTo>
                  <a:pt x="330675" y="5186"/>
                </a:lnTo>
                <a:lnTo>
                  <a:pt x="269930" y="20202"/>
                </a:lnTo>
                <a:lnTo>
                  <a:pt x="213293" y="44230"/>
                </a:lnTo>
                <a:lnTo>
                  <a:pt x="161574" y="76456"/>
                </a:lnTo>
                <a:lnTo>
                  <a:pt x="115585" y="116062"/>
                </a:lnTo>
                <a:lnTo>
                  <a:pt x="76139" y="162232"/>
                </a:lnTo>
                <a:lnTo>
                  <a:pt x="44045" y="214152"/>
                </a:lnTo>
                <a:lnTo>
                  <a:pt x="20116" y="271003"/>
                </a:lnTo>
                <a:lnTo>
                  <a:pt x="5164" y="331971"/>
                </a:lnTo>
                <a:lnTo>
                  <a:pt x="0" y="396240"/>
                </a:lnTo>
                <a:lnTo>
                  <a:pt x="1308" y="428735"/>
                </a:lnTo>
                <a:lnTo>
                  <a:pt x="11467" y="491455"/>
                </a:lnTo>
                <a:lnTo>
                  <a:pt x="31009" y="550467"/>
                </a:lnTo>
                <a:lnTo>
                  <a:pt x="59122" y="604955"/>
                </a:lnTo>
                <a:lnTo>
                  <a:pt x="94994" y="654102"/>
                </a:lnTo>
                <a:lnTo>
                  <a:pt x="137813" y="697092"/>
                </a:lnTo>
                <a:lnTo>
                  <a:pt x="186768" y="733110"/>
                </a:lnTo>
                <a:lnTo>
                  <a:pt x="241047" y="761339"/>
                </a:lnTo>
                <a:lnTo>
                  <a:pt x="299840" y="780963"/>
                </a:lnTo>
                <a:lnTo>
                  <a:pt x="362334" y="791166"/>
                </a:lnTo>
                <a:lnTo>
                  <a:pt x="394716" y="792480"/>
                </a:lnTo>
                <a:lnTo>
                  <a:pt x="427097" y="791166"/>
                </a:lnTo>
                <a:lnTo>
                  <a:pt x="489591" y="780963"/>
                </a:lnTo>
                <a:lnTo>
                  <a:pt x="548384" y="761339"/>
                </a:lnTo>
                <a:lnTo>
                  <a:pt x="602663" y="733110"/>
                </a:lnTo>
                <a:lnTo>
                  <a:pt x="651618" y="697092"/>
                </a:lnTo>
                <a:lnTo>
                  <a:pt x="694437" y="654102"/>
                </a:lnTo>
                <a:lnTo>
                  <a:pt x="730309" y="604955"/>
                </a:lnTo>
                <a:lnTo>
                  <a:pt x="758422" y="550467"/>
                </a:lnTo>
                <a:lnTo>
                  <a:pt x="777964" y="491455"/>
                </a:lnTo>
                <a:lnTo>
                  <a:pt x="788123" y="428735"/>
                </a:lnTo>
                <a:lnTo>
                  <a:pt x="789432" y="396240"/>
                </a:lnTo>
                <a:lnTo>
                  <a:pt x="788123" y="363744"/>
                </a:lnTo>
                <a:lnTo>
                  <a:pt x="777964" y="301024"/>
                </a:lnTo>
                <a:lnTo>
                  <a:pt x="758422" y="242012"/>
                </a:lnTo>
                <a:lnTo>
                  <a:pt x="730309" y="187524"/>
                </a:lnTo>
                <a:lnTo>
                  <a:pt x="694437" y="138377"/>
                </a:lnTo>
                <a:lnTo>
                  <a:pt x="651618" y="95387"/>
                </a:lnTo>
                <a:lnTo>
                  <a:pt x="602663" y="59369"/>
                </a:lnTo>
                <a:lnTo>
                  <a:pt x="548384" y="31140"/>
                </a:lnTo>
                <a:lnTo>
                  <a:pt x="489591" y="11516"/>
                </a:lnTo>
                <a:lnTo>
                  <a:pt x="427097" y="1313"/>
                </a:lnTo>
                <a:lnTo>
                  <a:pt x="3947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91614" y="3063238"/>
            <a:ext cx="40068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05B2E"/>
                </a:solidFill>
                <a:latin typeface="微软雅黑"/>
                <a:cs typeface="微软雅黑"/>
              </a:rPr>
              <a:t>01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5876" y="3078977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编号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1430" y="4447335"/>
            <a:ext cx="2314575" cy="1194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dirty="0">
                <a:solidFill>
                  <a:srgbClr val="445369"/>
                </a:solidFill>
                <a:latin typeface="微软雅黑"/>
                <a:cs typeface="微软雅黑"/>
              </a:rPr>
              <a:t>计算机系统对每一 个中</a:t>
            </a:r>
            <a:r>
              <a:rPr sz="2000" b="1" spc="5" dirty="0">
                <a:solidFill>
                  <a:srgbClr val="445369"/>
                </a:solidFill>
                <a:latin typeface="微软雅黑"/>
                <a:cs typeface="微软雅黑"/>
              </a:rPr>
              <a:t>断</a:t>
            </a:r>
            <a:r>
              <a:rPr sz="2000" b="1" spc="-10" dirty="0">
                <a:solidFill>
                  <a:srgbClr val="445369"/>
                </a:solidFill>
                <a:latin typeface="微软雅黑"/>
                <a:cs typeface="微软雅黑"/>
              </a:rPr>
              <a:t>源</a:t>
            </a:r>
            <a:r>
              <a:rPr sz="2000" b="1" dirty="0">
                <a:solidFill>
                  <a:srgbClr val="445369"/>
                </a:solidFill>
                <a:latin typeface="微软雅黑"/>
                <a:cs typeface="微软雅黑"/>
              </a:rPr>
              <a:t>进</a:t>
            </a:r>
            <a:r>
              <a:rPr sz="2000" b="1" spc="-10" dirty="0">
                <a:solidFill>
                  <a:srgbClr val="445369"/>
                </a:solidFill>
                <a:latin typeface="微软雅黑"/>
                <a:cs typeface="微软雅黑"/>
              </a:rPr>
              <a:t>行</a:t>
            </a:r>
            <a:r>
              <a:rPr sz="2000" b="1" dirty="0">
                <a:solidFill>
                  <a:srgbClr val="445369"/>
                </a:solidFill>
                <a:latin typeface="微软雅黑"/>
                <a:cs typeface="微软雅黑"/>
              </a:rPr>
              <a:t>编号， 这个号码称为中断 </a:t>
            </a:r>
            <a:r>
              <a:rPr sz="2000" b="1" spc="5" dirty="0">
                <a:solidFill>
                  <a:srgbClr val="445369"/>
                </a:solidFill>
                <a:latin typeface="微软雅黑"/>
                <a:cs typeface="微软雅黑"/>
              </a:rPr>
              <a:t>类型号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24628" y="2302764"/>
            <a:ext cx="2074545" cy="1815464"/>
          </a:xfrm>
          <a:custGeom>
            <a:avLst/>
            <a:gdLst/>
            <a:ahLst/>
            <a:cxnLst/>
            <a:rect l="l" t="t" r="r" b="b"/>
            <a:pathLst>
              <a:path w="2074545" h="1815464">
                <a:moveTo>
                  <a:pt x="1167638" y="0"/>
                </a:moveTo>
                <a:lnTo>
                  <a:pt x="1167638" y="272288"/>
                </a:lnTo>
                <a:lnTo>
                  <a:pt x="0" y="272288"/>
                </a:lnTo>
                <a:lnTo>
                  <a:pt x="0" y="1542796"/>
                </a:lnTo>
                <a:lnTo>
                  <a:pt x="1167638" y="1542796"/>
                </a:lnTo>
                <a:lnTo>
                  <a:pt x="1167638" y="1815084"/>
                </a:lnTo>
                <a:lnTo>
                  <a:pt x="2074164" y="907541"/>
                </a:lnTo>
                <a:lnTo>
                  <a:pt x="1167638" y="0"/>
                </a:lnTo>
                <a:close/>
              </a:path>
            </a:pathLst>
          </a:custGeom>
          <a:solidFill>
            <a:srgbClr val="5AA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09515" y="2694432"/>
            <a:ext cx="1027430" cy="1028700"/>
          </a:xfrm>
          <a:custGeom>
            <a:avLst/>
            <a:gdLst/>
            <a:ahLst/>
            <a:cxnLst/>
            <a:rect l="l" t="t" r="r" b="b"/>
            <a:pathLst>
              <a:path w="1027429" h="1028700">
                <a:moveTo>
                  <a:pt x="513588" y="0"/>
                </a:moveTo>
                <a:lnTo>
                  <a:pt x="471473" y="1704"/>
                </a:lnTo>
                <a:lnTo>
                  <a:pt x="430294" y="6731"/>
                </a:lnTo>
                <a:lnTo>
                  <a:pt x="390185" y="14946"/>
                </a:lnTo>
                <a:lnTo>
                  <a:pt x="351275" y="26218"/>
                </a:lnTo>
                <a:lnTo>
                  <a:pt x="313699" y="40415"/>
                </a:lnTo>
                <a:lnTo>
                  <a:pt x="277589" y="57404"/>
                </a:lnTo>
                <a:lnTo>
                  <a:pt x="243076" y="77053"/>
                </a:lnTo>
                <a:lnTo>
                  <a:pt x="210293" y="99230"/>
                </a:lnTo>
                <a:lnTo>
                  <a:pt x="179373" y="123802"/>
                </a:lnTo>
                <a:lnTo>
                  <a:pt x="150447" y="150637"/>
                </a:lnTo>
                <a:lnTo>
                  <a:pt x="123648" y="179603"/>
                </a:lnTo>
                <a:lnTo>
                  <a:pt x="99108" y="210568"/>
                </a:lnTo>
                <a:lnTo>
                  <a:pt x="76960" y="243398"/>
                </a:lnTo>
                <a:lnTo>
                  <a:pt x="57336" y="277962"/>
                </a:lnTo>
                <a:lnTo>
                  <a:pt x="40368" y="314128"/>
                </a:lnTo>
                <a:lnTo>
                  <a:pt x="26188" y="351763"/>
                </a:lnTo>
                <a:lnTo>
                  <a:pt x="14929" y="390735"/>
                </a:lnTo>
                <a:lnTo>
                  <a:pt x="6723" y="430912"/>
                </a:lnTo>
                <a:lnTo>
                  <a:pt x="1702" y="472161"/>
                </a:lnTo>
                <a:lnTo>
                  <a:pt x="0" y="514350"/>
                </a:lnTo>
                <a:lnTo>
                  <a:pt x="1702" y="556538"/>
                </a:lnTo>
                <a:lnTo>
                  <a:pt x="6723" y="597787"/>
                </a:lnTo>
                <a:lnTo>
                  <a:pt x="14929" y="637964"/>
                </a:lnTo>
                <a:lnTo>
                  <a:pt x="26188" y="676936"/>
                </a:lnTo>
                <a:lnTo>
                  <a:pt x="40368" y="714571"/>
                </a:lnTo>
                <a:lnTo>
                  <a:pt x="57336" y="750737"/>
                </a:lnTo>
                <a:lnTo>
                  <a:pt x="76960" y="785301"/>
                </a:lnTo>
                <a:lnTo>
                  <a:pt x="99108" y="818131"/>
                </a:lnTo>
                <a:lnTo>
                  <a:pt x="123648" y="849096"/>
                </a:lnTo>
                <a:lnTo>
                  <a:pt x="150447" y="878062"/>
                </a:lnTo>
                <a:lnTo>
                  <a:pt x="179373" y="904897"/>
                </a:lnTo>
                <a:lnTo>
                  <a:pt x="210293" y="929469"/>
                </a:lnTo>
                <a:lnTo>
                  <a:pt x="243076" y="951646"/>
                </a:lnTo>
                <a:lnTo>
                  <a:pt x="277589" y="971295"/>
                </a:lnTo>
                <a:lnTo>
                  <a:pt x="313699" y="988284"/>
                </a:lnTo>
                <a:lnTo>
                  <a:pt x="351275" y="1002481"/>
                </a:lnTo>
                <a:lnTo>
                  <a:pt x="390185" y="1013753"/>
                </a:lnTo>
                <a:lnTo>
                  <a:pt x="430294" y="1021968"/>
                </a:lnTo>
                <a:lnTo>
                  <a:pt x="471473" y="1026995"/>
                </a:lnTo>
                <a:lnTo>
                  <a:pt x="513588" y="1028699"/>
                </a:lnTo>
                <a:lnTo>
                  <a:pt x="555702" y="1026995"/>
                </a:lnTo>
                <a:lnTo>
                  <a:pt x="596881" y="1021968"/>
                </a:lnTo>
                <a:lnTo>
                  <a:pt x="636990" y="1013753"/>
                </a:lnTo>
                <a:lnTo>
                  <a:pt x="675900" y="1002481"/>
                </a:lnTo>
                <a:lnTo>
                  <a:pt x="713476" y="988284"/>
                </a:lnTo>
                <a:lnTo>
                  <a:pt x="749586" y="971295"/>
                </a:lnTo>
                <a:lnTo>
                  <a:pt x="784099" y="951646"/>
                </a:lnTo>
                <a:lnTo>
                  <a:pt x="816882" y="929469"/>
                </a:lnTo>
                <a:lnTo>
                  <a:pt x="847802" y="904897"/>
                </a:lnTo>
                <a:lnTo>
                  <a:pt x="876728" y="878062"/>
                </a:lnTo>
                <a:lnTo>
                  <a:pt x="903527" y="849096"/>
                </a:lnTo>
                <a:lnTo>
                  <a:pt x="928067" y="818131"/>
                </a:lnTo>
                <a:lnTo>
                  <a:pt x="950215" y="785301"/>
                </a:lnTo>
                <a:lnTo>
                  <a:pt x="969839" y="750737"/>
                </a:lnTo>
                <a:lnTo>
                  <a:pt x="986807" y="714571"/>
                </a:lnTo>
                <a:lnTo>
                  <a:pt x="1000987" y="676936"/>
                </a:lnTo>
                <a:lnTo>
                  <a:pt x="1012246" y="637964"/>
                </a:lnTo>
                <a:lnTo>
                  <a:pt x="1020452" y="597787"/>
                </a:lnTo>
                <a:lnTo>
                  <a:pt x="1025473" y="556538"/>
                </a:lnTo>
                <a:lnTo>
                  <a:pt x="1027176" y="514350"/>
                </a:lnTo>
                <a:lnTo>
                  <a:pt x="1025473" y="472161"/>
                </a:lnTo>
                <a:lnTo>
                  <a:pt x="1020452" y="430912"/>
                </a:lnTo>
                <a:lnTo>
                  <a:pt x="1012246" y="390735"/>
                </a:lnTo>
                <a:lnTo>
                  <a:pt x="1000987" y="351763"/>
                </a:lnTo>
                <a:lnTo>
                  <a:pt x="986807" y="314128"/>
                </a:lnTo>
                <a:lnTo>
                  <a:pt x="969839" y="277962"/>
                </a:lnTo>
                <a:lnTo>
                  <a:pt x="950215" y="243398"/>
                </a:lnTo>
                <a:lnTo>
                  <a:pt x="928067" y="210568"/>
                </a:lnTo>
                <a:lnTo>
                  <a:pt x="903527" y="179603"/>
                </a:lnTo>
                <a:lnTo>
                  <a:pt x="876728" y="150637"/>
                </a:lnTo>
                <a:lnTo>
                  <a:pt x="847802" y="123802"/>
                </a:lnTo>
                <a:lnTo>
                  <a:pt x="816882" y="99230"/>
                </a:lnTo>
                <a:lnTo>
                  <a:pt x="784099" y="77053"/>
                </a:lnTo>
                <a:lnTo>
                  <a:pt x="749586" y="57404"/>
                </a:lnTo>
                <a:lnTo>
                  <a:pt x="713476" y="40415"/>
                </a:lnTo>
                <a:lnTo>
                  <a:pt x="675900" y="26218"/>
                </a:lnTo>
                <a:lnTo>
                  <a:pt x="636990" y="14946"/>
                </a:lnTo>
                <a:lnTo>
                  <a:pt x="596881" y="6731"/>
                </a:lnTo>
                <a:lnTo>
                  <a:pt x="555702" y="1704"/>
                </a:lnTo>
                <a:lnTo>
                  <a:pt x="513588" y="0"/>
                </a:lnTo>
                <a:close/>
              </a:path>
            </a:pathLst>
          </a:custGeom>
          <a:solidFill>
            <a:srgbClr val="305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28388" y="2813304"/>
            <a:ext cx="791210" cy="792480"/>
          </a:xfrm>
          <a:custGeom>
            <a:avLst/>
            <a:gdLst/>
            <a:ahLst/>
            <a:cxnLst/>
            <a:rect l="l" t="t" r="r" b="b"/>
            <a:pathLst>
              <a:path w="791210" h="792479">
                <a:moveTo>
                  <a:pt x="395477" y="0"/>
                </a:moveTo>
                <a:lnTo>
                  <a:pt x="331323" y="5186"/>
                </a:lnTo>
                <a:lnTo>
                  <a:pt x="270467" y="20202"/>
                </a:lnTo>
                <a:lnTo>
                  <a:pt x="213722" y="44230"/>
                </a:lnTo>
                <a:lnTo>
                  <a:pt x="161903" y="76456"/>
                </a:lnTo>
                <a:lnTo>
                  <a:pt x="115823" y="116062"/>
                </a:lnTo>
                <a:lnTo>
                  <a:pt x="76297" y="162232"/>
                </a:lnTo>
                <a:lnTo>
                  <a:pt x="44138" y="214152"/>
                </a:lnTo>
                <a:lnTo>
                  <a:pt x="20159" y="271003"/>
                </a:lnTo>
                <a:lnTo>
                  <a:pt x="5175" y="331971"/>
                </a:lnTo>
                <a:lnTo>
                  <a:pt x="0" y="396240"/>
                </a:lnTo>
                <a:lnTo>
                  <a:pt x="1310" y="428735"/>
                </a:lnTo>
                <a:lnTo>
                  <a:pt x="11492" y="491455"/>
                </a:lnTo>
                <a:lnTo>
                  <a:pt x="31075" y="550467"/>
                </a:lnTo>
                <a:lnTo>
                  <a:pt x="59246" y="604955"/>
                </a:lnTo>
                <a:lnTo>
                  <a:pt x="95190" y="654102"/>
                </a:lnTo>
                <a:lnTo>
                  <a:pt x="138095" y="697092"/>
                </a:lnTo>
                <a:lnTo>
                  <a:pt x="187146" y="733110"/>
                </a:lnTo>
                <a:lnTo>
                  <a:pt x="241530" y="761339"/>
                </a:lnTo>
                <a:lnTo>
                  <a:pt x="300432" y="780963"/>
                </a:lnTo>
                <a:lnTo>
                  <a:pt x="363039" y="791166"/>
                </a:lnTo>
                <a:lnTo>
                  <a:pt x="395477" y="792480"/>
                </a:lnTo>
                <a:lnTo>
                  <a:pt x="427916" y="791166"/>
                </a:lnTo>
                <a:lnTo>
                  <a:pt x="490523" y="780963"/>
                </a:lnTo>
                <a:lnTo>
                  <a:pt x="549425" y="761339"/>
                </a:lnTo>
                <a:lnTo>
                  <a:pt x="603809" y="733110"/>
                </a:lnTo>
                <a:lnTo>
                  <a:pt x="652860" y="697092"/>
                </a:lnTo>
                <a:lnTo>
                  <a:pt x="695765" y="654102"/>
                </a:lnTo>
                <a:lnTo>
                  <a:pt x="731709" y="604955"/>
                </a:lnTo>
                <a:lnTo>
                  <a:pt x="759880" y="550467"/>
                </a:lnTo>
                <a:lnTo>
                  <a:pt x="779463" y="491455"/>
                </a:lnTo>
                <a:lnTo>
                  <a:pt x="789645" y="428735"/>
                </a:lnTo>
                <a:lnTo>
                  <a:pt x="790956" y="396240"/>
                </a:lnTo>
                <a:lnTo>
                  <a:pt x="789645" y="363744"/>
                </a:lnTo>
                <a:lnTo>
                  <a:pt x="779463" y="301024"/>
                </a:lnTo>
                <a:lnTo>
                  <a:pt x="759880" y="242012"/>
                </a:lnTo>
                <a:lnTo>
                  <a:pt x="731709" y="187524"/>
                </a:lnTo>
                <a:lnTo>
                  <a:pt x="695765" y="138377"/>
                </a:lnTo>
                <a:lnTo>
                  <a:pt x="652860" y="95387"/>
                </a:lnTo>
                <a:lnTo>
                  <a:pt x="603809" y="59369"/>
                </a:lnTo>
                <a:lnTo>
                  <a:pt x="549425" y="31140"/>
                </a:lnTo>
                <a:lnTo>
                  <a:pt x="490523" y="11516"/>
                </a:lnTo>
                <a:lnTo>
                  <a:pt x="427916" y="1313"/>
                </a:lnTo>
                <a:lnTo>
                  <a:pt x="3954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24729" y="3063238"/>
            <a:ext cx="40068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05B2E"/>
                </a:solidFill>
                <a:latin typeface="微软雅黑"/>
                <a:cs typeface="微软雅黑"/>
              </a:rPr>
              <a:t>02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56428" y="4447335"/>
            <a:ext cx="206438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b="1" dirty="0">
                <a:solidFill>
                  <a:srgbClr val="445369"/>
                </a:solidFill>
                <a:latin typeface="微软雅黑"/>
                <a:cs typeface="微软雅黑"/>
              </a:rPr>
              <a:t>根据中断类型号， 到中断向量表中找 到对应的表项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97982" y="3078977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查表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20228" y="2302764"/>
            <a:ext cx="2072639" cy="1815464"/>
          </a:xfrm>
          <a:custGeom>
            <a:avLst/>
            <a:gdLst/>
            <a:ahLst/>
            <a:cxnLst/>
            <a:rect l="l" t="t" r="r" b="b"/>
            <a:pathLst>
              <a:path w="2072640" h="1815464">
                <a:moveTo>
                  <a:pt x="1166749" y="0"/>
                </a:moveTo>
                <a:lnTo>
                  <a:pt x="1166749" y="272288"/>
                </a:lnTo>
                <a:lnTo>
                  <a:pt x="0" y="272288"/>
                </a:lnTo>
                <a:lnTo>
                  <a:pt x="0" y="1542796"/>
                </a:lnTo>
                <a:lnTo>
                  <a:pt x="1166749" y="1542796"/>
                </a:lnTo>
                <a:lnTo>
                  <a:pt x="1166749" y="1815084"/>
                </a:lnTo>
                <a:lnTo>
                  <a:pt x="2072640" y="907541"/>
                </a:lnTo>
                <a:lnTo>
                  <a:pt x="1166749" y="0"/>
                </a:lnTo>
                <a:close/>
              </a:path>
            </a:pathLst>
          </a:custGeom>
          <a:solidFill>
            <a:srgbClr val="5AAB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05116" y="2694432"/>
            <a:ext cx="1027430" cy="1028700"/>
          </a:xfrm>
          <a:custGeom>
            <a:avLst/>
            <a:gdLst/>
            <a:ahLst/>
            <a:cxnLst/>
            <a:rect l="l" t="t" r="r" b="b"/>
            <a:pathLst>
              <a:path w="1027429" h="1028700">
                <a:moveTo>
                  <a:pt x="513587" y="0"/>
                </a:moveTo>
                <a:lnTo>
                  <a:pt x="471473" y="1704"/>
                </a:lnTo>
                <a:lnTo>
                  <a:pt x="430294" y="6731"/>
                </a:lnTo>
                <a:lnTo>
                  <a:pt x="390185" y="14946"/>
                </a:lnTo>
                <a:lnTo>
                  <a:pt x="351275" y="26218"/>
                </a:lnTo>
                <a:lnTo>
                  <a:pt x="313699" y="40415"/>
                </a:lnTo>
                <a:lnTo>
                  <a:pt x="277589" y="57404"/>
                </a:lnTo>
                <a:lnTo>
                  <a:pt x="243076" y="77053"/>
                </a:lnTo>
                <a:lnTo>
                  <a:pt x="210293" y="99230"/>
                </a:lnTo>
                <a:lnTo>
                  <a:pt x="179373" y="123802"/>
                </a:lnTo>
                <a:lnTo>
                  <a:pt x="150447" y="150637"/>
                </a:lnTo>
                <a:lnTo>
                  <a:pt x="123648" y="179603"/>
                </a:lnTo>
                <a:lnTo>
                  <a:pt x="99108" y="210568"/>
                </a:lnTo>
                <a:lnTo>
                  <a:pt x="76960" y="243398"/>
                </a:lnTo>
                <a:lnTo>
                  <a:pt x="57336" y="277962"/>
                </a:lnTo>
                <a:lnTo>
                  <a:pt x="40368" y="314128"/>
                </a:lnTo>
                <a:lnTo>
                  <a:pt x="26188" y="351763"/>
                </a:lnTo>
                <a:lnTo>
                  <a:pt x="14929" y="390735"/>
                </a:lnTo>
                <a:lnTo>
                  <a:pt x="6723" y="430912"/>
                </a:lnTo>
                <a:lnTo>
                  <a:pt x="1702" y="472161"/>
                </a:lnTo>
                <a:lnTo>
                  <a:pt x="0" y="514350"/>
                </a:lnTo>
                <a:lnTo>
                  <a:pt x="1702" y="556538"/>
                </a:lnTo>
                <a:lnTo>
                  <a:pt x="6723" y="597787"/>
                </a:lnTo>
                <a:lnTo>
                  <a:pt x="14929" y="637964"/>
                </a:lnTo>
                <a:lnTo>
                  <a:pt x="26188" y="676936"/>
                </a:lnTo>
                <a:lnTo>
                  <a:pt x="40368" y="714571"/>
                </a:lnTo>
                <a:lnTo>
                  <a:pt x="57336" y="750737"/>
                </a:lnTo>
                <a:lnTo>
                  <a:pt x="76960" y="785301"/>
                </a:lnTo>
                <a:lnTo>
                  <a:pt x="99108" y="818131"/>
                </a:lnTo>
                <a:lnTo>
                  <a:pt x="123648" y="849096"/>
                </a:lnTo>
                <a:lnTo>
                  <a:pt x="150447" y="878062"/>
                </a:lnTo>
                <a:lnTo>
                  <a:pt x="179373" y="904897"/>
                </a:lnTo>
                <a:lnTo>
                  <a:pt x="210293" y="929469"/>
                </a:lnTo>
                <a:lnTo>
                  <a:pt x="243076" y="951646"/>
                </a:lnTo>
                <a:lnTo>
                  <a:pt x="277589" y="971295"/>
                </a:lnTo>
                <a:lnTo>
                  <a:pt x="313699" y="988284"/>
                </a:lnTo>
                <a:lnTo>
                  <a:pt x="351275" y="1002481"/>
                </a:lnTo>
                <a:lnTo>
                  <a:pt x="390185" y="1013753"/>
                </a:lnTo>
                <a:lnTo>
                  <a:pt x="430294" y="1021968"/>
                </a:lnTo>
                <a:lnTo>
                  <a:pt x="471473" y="1026995"/>
                </a:lnTo>
                <a:lnTo>
                  <a:pt x="513587" y="1028699"/>
                </a:lnTo>
                <a:lnTo>
                  <a:pt x="555702" y="1026995"/>
                </a:lnTo>
                <a:lnTo>
                  <a:pt x="596881" y="1021968"/>
                </a:lnTo>
                <a:lnTo>
                  <a:pt x="636990" y="1013753"/>
                </a:lnTo>
                <a:lnTo>
                  <a:pt x="675900" y="1002481"/>
                </a:lnTo>
                <a:lnTo>
                  <a:pt x="713476" y="988284"/>
                </a:lnTo>
                <a:lnTo>
                  <a:pt x="749586" y="971295"/>
                </a:lnTo>
                <a:lnTo>
                  <a:pt x="784099" y="951646"/>
                </a:lnTo>
                <a:lnTo>
                  <a:pt x="816882" y="929469"/>
                </a:lnTo>
                <a:lnTo>
                  <a:pt x="847802" y="904897"/>
                </a:lnTo>
                <a:lnTo>
                  <a:pt x="876728" y="878062"/>
                </a:lnTo>
                <a:lnTo>
                  <a:pt x="903527" y="849096"/>
                </a:lnTo>
                <a:lnTo>
                  <a:pt x="928067" y="818131"/>
                </a:lnTo>
                <a:lnTo>
                  <a:pt x="950215" y="785301"/>
                </a:lnTo>
                <a:lnTo>
                  <a:pt x="969839" y="750737"/>
                </a:lnTo>
                <a:lnTo>
                  <a:pt x="986807" y="714571"/>
                </a:lnTo>
                <a:lnTo>
                  <a:pt x="1000987" y="676936"/>
                </a:lnTo>
                <a:lnTo>
                  <a:pt x="1012246" y="637964"/>
                </a:lnTo>
                <a:lnTo>
                  <a:pt x="1020452" y="597787"/>
                </a:lnTo>
                <a:lnTo>
                  <a:pt x="1025473" y="556538"/>
                </a:lnTo>
                <a:lnTo>
                  <a:pt x="1027176" y="514350"/>
                </a:lnTo>
                <a:lnTo>
                  <a:pt x="1025473" y="472161"/>
                </a:lnTo>
                <a:lnTo>
                  <a:pt x="1020452" y="430912"/>
                </a:lnTo>
                <a:lnTo>
                  <a:pt x="1012246" y="390735"/>
                </a:lnTo>
                <a:lnTo>
                  <a:pt x="1000987" y="351763"/>
                </a:lnTo>
                <a:lnTo>
                  <a:pt x="986807" y="314128"/>
                </a:lnTo>
                <a:lnTo>
                  <a:pt x="969839" y="277962"/>
                </a:lnTo>
                <a:lnTo>
                  <a:pt x="950215" y="243398"/>
                </a:lnTo>
                <a:lnTo>
                  <a:pt x="928067" y="210568"/>
                </a:lnTo>
                <a:lnTo>
                  <a:pt x="903527" y="179603"/>
                </a:lnTo>
                <a:lnTo>
                  <a:pt x="876728" y="150637"/>
                </a:lnTo>
                <a:lnTo>
                  <a:pt x="847802" y="123802"/>
                </a:lnTo>
                <a:lnTo>
                  <a:pt x="816882" y="99230"/>
                </a:lnTo>
                <a:lnTo>
                  <a:pt x="784099" y="77053"/>
                </a:lnTo>
                <a:lnTo>
                  <a:pt x="749586" y="57404"/>
                </a:lnTo>
                <a:lnTo>
                  <a:pt x="713476" y="40415"/>
                </a:lnTo>
                <a:lnTo>
                  <a:pt x="675900" y="26218"/>
                </a:lnTo>
                <a:lnTo>
                  <a:pt x="636990" y="14946"/>
                </a:lnTo>
                <a:lnTo>
                  <a:pt x="596881" y="6731"/>
                </a:lnTo>
                <a:lnTo>
                  <a:pt x="555702" y="1704"/>
                </a:lnTo>
                <a:lnTo>
                  <a:pt x="513587" y="0"/>
                </a:lnTo>
                <a:close/>
              </a:path>
            </a:pathLst>
          </a:custGeom>
          <a:solidFill>
            <a:srgbClr val="305B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23988" y="2813304"/>
            <a:ext cx="789940" cy="792480"/>
          </a:xfrm>
          <a:custGeom>
            <a:avLst/>
            <a:gdLst/>
            <a:ahLst/>
            <a:cxnLst/>
            <a:rect l="l" t="t" r="r" b="b"/>
            <a:pathLst>
              <a:path w="789940" h="792479">
                <a:moveTo>
                  <a:pt x="394715" y="0"/>
                </a:moveTo>
                <a:lnTo>
                  <a:pt x="330675" y="5186"/>
                </a:lnTo>
                <a:lnTo>
                  <a:pt x="269930" y="20202"/>
                </a:lnTo>
                <a:lnTo>
                  <a:pt x="213293" y="44230"/>
                </a:lnTo>
                <a:lnTo>
                  <a:pt x="161574" y="76456"/>
                </a:lnTo>
                <a:lnTo>
                  <a:pt x="115585" y="116062"/>
                </a:lnTo>
                <a:lnTo>
                  <a:pt x="76139" y="162232"/>
                </a:lnTo>
                <a:lnTo>
                  <a:pt x="44045" y="214152"/>
                </a:lnTo>
                <a:lnTo>
                  <a:pt x="20116" y="271003"/>
                </a:lnTo>
                <a:lnTo>
                  <a:pt x="5164" y="331971"/>
                </a:lnTo>
                <a:lnTo>
                  <a:pt x="0" y="396240"/>
                </a:lnTo>
                <a:lnTo>
                  <a:pt x="1308" y="428735"/>
                </a:lnTo>
                <a:lnTo>
                  <a:pt x="11467" y="491455"/>
                </a:lnTo>
                <a:lnTo>
                  <a:pt x="31009" y="550467"/>
                </a:lnTo>
                <a:lnTo>
                  <a:pt x="59122" y="604955"/>
                </a:lnTo>
                <a:lnTo>
                  <a:pt x="94994" y="654102"/>
                </a:lnTo>
                <a:lnTo>
                  <a:pt x="137813" y="697092"/>
                </a:lnTo>
                <a:lnTo>
                  <a:pt x="186768" y="733110"/>
                </a:lnTo>
                <a:lnTo>
                  <a:pt x="241047" y="761339"/>
                </a:lnTo>
                <a:lnTo>
                  <a:pt x="299840" y="780963"/>
                </a:lnTo>
                <a:lnTo>
                  <a:pt x="362334" y="791166"/>
                </a:lnTo>
                <a:lnTo>
                  <a:pt x="394715" y="792480"/>
                </a:lnTo>
                <a:lnTo>
                  <a:pt x="427080" y="791166"/>
                </a:lnTo>
                <a:lnTo>
                  <a:pt x="489550" y="780963"/>
                </a:lnTo>
                <a:lnTo>
                  <a:pt x="548330" y="761339"/>
                </a:lnTo>
                <a:lnTo>
                  <a:pt x="602607" y="733110"/>
                </a:lnTo>
                <a:lnTo>
                  <a:pt x="651566" y="697092"/>
                </a:lnTo>
                <a:lnTo>
                  <a:pt x="694395" y="654102"/>
                </a:lnTo>
                <a:lnTo>
                  <a:pt x="730279" y="604955"/>
                </a:lnTo>
                <a:lnTo>
                  <a:pt x="758404" y="550467"/>
                </a:lnTo>
                <a:lnTo>
                  <a:pt x="777956" y="491455"/>
                </a:lnTo>
                <a:lnTo>
                  <a:pt x="788123" y="428735"/>
                </a:lnTo>
                <a:lnTo>
                  <a:pt x="789431" y="396240"/>
                </a:lnTo>
                <a:lnTo>
                  <a:pt x="788123" y="363744"/>
                </a:lnTo>
                <a:lnTo>
                  <a:pt x="777956" y="301024"/>
                </a:lnTo>
                <a:lnTo>
                  <a:pt x="758404" y="242012"/>
                </a:lnTo>
                <a:lnTo>
                  <a:pt x="730279" y="187524"/>
                </a:lnTo>
                <a:lnTo>
                  <a:pt x="694395" y="138377"/>
                </a:lnTo>
                <a:lnTo>
                  <a:pt x="651566" y="95387"/>
                </a:lnTo>
                <a:lnTo>
                  <a:pt x="602607" y="59369"/>
                </a:lnTo>
                <a:lnTo>
                  <a:pt x="548330" y="31140"/>
                </a:lnTo>
                <a:lnTo>
                  <a:pt x="489550" y="11516"/>
                </a:lnTo>
                <a:lnTo>
                  <a:pt x="427080" y="1313"/>
                </a:lnTo>
                <a:lnTo>
                  <a:pt x="3947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720076" y="3063238"/>
            <a:ext cx="40068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05B2E"/>
                </a:solidFill>
                <a:latin typeface="微软雅黑"/>
                <a:cs typeface="微软雅黑"/>
              </a:rPr>
              <a:t>03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08163" y="4447335"/>
            <a:ext cx="2316480" cy="1194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b="1" dirty="0">
                <a:solidFill>
                  <a:srgbClr val="445369"/>
                </a:solidFill>
                <a:latin typeface="微软雅黑"/>
                <a:cs typeface="微软雅黑"/>
              </a:rPr>
              <a:t>取出表项内容，即该 中断源对应的中断服 务程序地址，进入该 程序执行相应操作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54339" y="3078977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执行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89882" y="1161725"/>
            <a:ext cx="322135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微软雅黑"/>
                <a:cs typeface="微软雅黑"/>
              </a:rPr>
              <a:t>查找中断向量的过程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01224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119" y="1159381"/>
            <a:ext cx="18542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</a:rPr>
              <a:t>中断响应过程</a:t>
            </a:r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9792081" y="1225677"/>
            <a:ext cx="1463040" cy="2994025"/>
          </a:xfrm>
          <a:custGeom>
            <a:avLst/>
            <a:gdLst/>
            <a:ahLst/>
            <a:cxnLst/>
            <a:rect l="l" t="t" r="r" b="b"/>
            <a:pathLst>
              <a:path w="1463040" h="2994025">
                <a:moveTo>
                  <a:pt x="2286" y="0"/>
                </a:moveTo>
                <a:lnTo>
                  <a:pt x="0" y="93090"/>
                </a:lnTo>
                <a:lnTo>
                  <a:pt x="113067" y="100366"/>
                </a:lnTo>
                <a:lnTo>
                  <a:pt x="223483" y="116358"/>
                </a:lnTo>
                <a:lnTo>
                  <a:pt x="330905" y="140717"/>
                </a:lnTo>
                <a:lnTo>
                  <a:pt x="434994" y="173095"/>
                </a:lnTo>
                <a:lnTo>
                  <a:pt x="535410" y="213143"/>
                </a:lnTo>
                <a:lnTo>
                  <a:pt x="631812" y="260511"/>
                </a:lnTo>
                <a:lnTo>
                  <a:pt x="723861" y="314851"/>
                </a:lnTo>
                <a:lnTo>
                  <a:pt x="811217" y="375813"/>
                </a:lnTo>
                <a:lnTo>
                  <a:pt x="893538" y="443048"/>
                </a:lnTo>
                <a:lnTo>
                  <a:pt x="970486" y="516207"/>
                </a:lnTo>
                <a:lnTo>
                  <a:pt x="1041720" y="594941"/>
                </a:lnTo>
                <a:lnTo>
                  <a:pt x="1106899" y="678901"/>
                </a:lnTo>
                <a:lnTo>
                  <a:pt x="1165684" y="767738"/>
                </a:lnTo>
                <a:lnTo>
                  <a:pt x="1217735" y="861102"/>
                </a:lnTo>
                <a:lnTo>
                  <a:pt x="1262711" y="958645"/>
                </a:lnTo>
                <a:lnTo>
                  <a:pt x="1300272" y="1060018"/>
                </a:lnTo>
                <a:lnTo>
                  <a:pt x="1330079" y="1164871"/>
                </a:lnTo>
                <a:lnTo>
                  <a:pt x="1351790" y="1272855"/>
                </a:lnTo>
                <a:lnTo>
                  <a:pt x="1365066" y="1383622"/>
                </a:lnTo>
                <a:lnTo>
                  <a:pt x="1369562" y="1496949"/>
                </a:lnTo>
                <a:lnTo>
                  <a:pt x="1365101" y="1610039"/>
                </a:lnTo>
                <a:lnTo>
                  <a:pt x="1351852" y="1720822"/>
                </a:lnTo>
                <a:lnTo>
                  <a:pt x="1330161" y="1828821"/>
                </a:lnTo>
                <a:lnTo>
                  <a:pt x="1300370" y="1933687"/>
                </a:lnTo>
                <a:lnTo>
                  <a:pt x="1262818" y="2035071"/>
                </a:lnTo>
                <a:lnTo>
                  <a:pt x="1217847" y="2132624"/>
                </a:lnTo>
                <a:lnTo>
                  <a:pt x="1165797" y="2225998"/>
                </a:lnTo>
                <a:lnTo>
                  <a:pt x="1107009" y="2314842"/>
                </a:lnTo>
                <a:lnTo>
                  <a:pt x="1041823" y="2398808"/>
                </a:lnTo>
                <a:lnTo>
                  <a:pt x="970581" y="2477547"/>
                </a:lnTo>
                <a:lnTo>
                  <a:pt x="893623" y="2550711"/>
                </a:lnTo>
                <a:lnTo>
                  <a:pt x="811290" y="2617949"/>
                </a:lnTo>
                <a:lnTo>
                  <a:pt x="723922" y="2678914"/>
                </a:lnTo>
                <a:lnTo>
                  <a:pt x="631860" y="2733255"/>
                </a:lnTo>
                <a:lnTo>
                  <a:pt x="535445" y="2780625"/>
                </a:lnTo>
                <a:lnTo>
                  <a:pt x="435018" y="2820674"/>
                </a:lnTo>
                <a:lnTo>
                  <a:pt x="330919" y="2853052"/>
                </a:lnTo>
                <a:lnTo>
                  <a:pt x="223489" y="2877412"/>
                </a:lnTo>
                <a:lnTo>
                  <a:pt x="113069" y="2893404"/>
                </a:lnTo>
                <a:lnTo>
                  <a:pt x="0" y="2900680"/>
                </a:lnTo>
                <a:lnTo>
                  <a:pt x="2286" y="2993771"/>
                </a:lnTo>
                <a:lnTo>
                  <a:pt x="122854" y="2985991"/>
                </a:lnTo>
                <a:lnTo>
                  <a:pt x="240594" y="2968919"/>
                </a:lnTo>
                <a:lnTo>
                  <a:pt x="355141" y="2942927"/>
                </a:lnTo>
                <a:lnTo>
                  <a:pt x="466133" y="2908388"/>
                </a:lnTo>
                <a:lnTo>
                  <a:pt x="573208" y="2865673"/>
                </a:lnTo>
                <a:lnTo>
                  <a:pt x="676003" y="2815155"/>
                </a:lnTo>
                <a:lnTo>
                  <a:pt x="774155" y="2757206"/>
                </a:lnTo>
                <a:lnTo>
                  <a:pt x="867302" y="2692197"/>
                </a:lnTo>
                <a:lnTo>
                  <a:pt x="955081" y="2620502"/>
                </a:lnTo>
                <a:lnTo>
                  <a:pt x="1037129" y="2542492"/>
                </a:lnTo>
                <a:lnTo>
                  <a:pt x="1113084" y="2458539"/>
                </a:lnTo>
                <a:lnTo>
                  <a:pt x="1182584" y="2369016"/>
                </a:lnTo>
                <a:lnTo>
                  <a:pt x="1245265" y="2274294"/>
                </a:lnTo>
                <a:lnTo>
                  <a:pt x="1300765" y="2174746"/>
                </a:lnTo>
                <a:lnTo>
                  <a:pt x="1348722" y="2070744"/>
                </a:lnTo>
                <a:lnTo>
                  <a:pt x="1388772" y="1962661"/>
                </a:lnTo>
                <a:lnTo>
                  <a:pt x="1420553" y="1850867"/>
                </a:lnTo>
                <a:lnTo>
                  <a:pt x="1443703" y="1735736"/>
                </a:lnTo>
                <a:lnTo>
                  <a:pt x="1457859" y="1617639"/>
                </a:lnTo>
                <a:lnTo>
                  <a:pt x="1462653" y="1496822"/>
                </a:lnTo>
                <a:lnTo>
                  <a:pt x="1457876" y="1376239"/>
                </a:lnTo>
                <a:lnTo>
                  <a:pt x="1443734" y="1258124"/>
                </a:lnTo>
                <a:lnTo>
                  <a:pt x="1420595" y="1142974"/>
                </a:lnTo>
                <a:lnTo>
                  <a:pt x="1388821" y="1031162"/>
                </a:lnTo>
                <a:lnTo>
                  <a:pt x="1348775" y="923061"/>
                </a:lnTo>
                <a:lnTo>
                  <a:pt x="1300821" y="819043"/>
                </a:lnTo>
                <a:lnTo>
                  <a:pt x="1245321" y="719480"/>
                </a:lnTo>
                <a:lnTo>
                  <a:pt x="1182639" y="624745"/>
                </a:lnTo>
                <a:lnTo>
                  <a:pt x="1113136" y="535210"/>
                </a:lnTo>
                <a:lnTo>
                  <a:pt x="1037177" y="451246"/>
                </a:lnTo>
                <a:lnTo>
                  <a:pt x="955123" y="373228"/>
                </a:lnTo>
                <a:lnTo>
                  <a:pt x="867338" y="301526"/>
                </a:lnTo>
                <a:lnTo>
                  <a:pt x="774185" y="236513"/>
                </a:lnTo>
                <a:lnTo>
                  <a:pt x="676027" y="178562"/>
                </a:lnTo>
                <a:lnTo>
                  <a:pt x="573226" y="128045"/>
                </a:lnTo>
                <a:lnTo>
                  <a:pt x="466145" y="85334"/>
                </a:lnTo>
                <a:lnTo>
                  <a:pt x="355148" y="50802"/>
                </a:lnTo>
                <a:lnTo>
                  <a:pt x="240597" y="24821"/>
                </a:lnTo>
                <a:lnTo>
                  <a:pt x="122855" y="7762"/>
                </a:lnTo>
                <a:lnTo>
                  <a:pt x="2286" y="0"/>
                </a:lnTo>
                <a:close/>
              </a:path>
            </a:pathLst>
          </a:custGeom>
          <a:solidFill>
            <a:srgbClr val="414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98207" y="4055364"/>
            <a:ext cx="1884045" cy="147955"/>
          </a:xfrm>
          <a:custGeom>
            <a:avLst/>
            <a:gdLst/>
            <a:ahLst/>
            <a:cxnLst/>
            <a:rect l="l" t="t" r="r" b="b"/>
            <a:pathLst>
              <a:path w="1884045" h="147954">
                <a:moveTo>
                  <a:pt x="106807" y="0"/>
                </a:moveTo>
                <a:lnTo>
                  <a:pt x="0" y="73913"/>
                </a:lnTo>
                <a:lnTo>
                  <a:pt x="106807" y="147828"/>
                </a:lnTo>
                <a:lnTo>
                  <a:pt x="106807" y="110871"/>
                </a:lnTo>
                <a:lnTo>
                  <a:pt x="1883664" y="110871"/>
                </a:lnTo>
                <a:lnTo>
                  <a:pt x="1883664" y="36956"/>
                </a:lnTo>
                <a:lnTo>
                  <a:pt x="106807" y="36956"/>
                </a:lnTo>
                <a:lnTo>
                  <a:pt x="106807" y="0"/>
                </a:lnTo>
                <a:close/>
              </a:path>
            </a:pathLst>
          </a:custGeom>
          <a:solidFill>
            <a:srgbClr val="414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2864" y="1274063"/>
            <a:ext cx="1884045" cy="147955"/>
          </a:xfrm>
          <a:custGeom>
            <a:avLst/>
            <a:gdLst/>
            <a:ahLst/>
            <a:cxnLst/>
            <a:rect l="l" t="t" r="r" b="b"/>
            <a:pathLst>
              <a:path w="1884045" h="147955">
                <a:moveTo>
                  <a:pt x="1776856" y="0"/>
                </a:moveTo>
                <a:lnTo>
                  <a:pt x="1776856" y="36957"/>
                </a:lnTo>
                <a:lnTo>
                  <a:pt x="0" y="36957"/>
                </a:lnTo>
                <a:lnTo>
                  <a:pt x="0" y="110871"/>
                </a:lnTo>
                <a:lnTo>
                  <a:pt x="1776856" y="110871"/>
                </a:lnTo>
                <a:lnTo>
                  <a:pt x="1776856" y="147827"/>
                </a:lnTo>
                <a:lnTo>
                  <a:pt x="1883663" y="73913"/>
                </a:lnTo>
                <a:lnTo>
                  <a:pt x="1776856" y="0"/>
                </a:lnTo>
                <a:close/>
              </a:path>
            </a:pathLst>
          </a:custGeom>
          <a:solidFill>
            <a:srgbClr val="414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38600" y="4064508"/>
            <a:ext cx="1884045" cy="149860"/>
          </a:xfrm>
          <a:custGeom>
            <a:avLst/>
            <a:gdLst/>
            <a:ahLst/>
            <a:cxnLst/>
            <a:rect l="l" t="t" r="r" b="b"/>
            <a:pathLst>
              <a:path w="1884045" h="149860">
                <a:moveTo>
                  <a:pt x="107823" y="0"/>
                </a:moveTo>
                <a:lnTo>
                  <a:pt x="0" y="74676"/>
                </a:lnTo>
                <a:lnTo>
                  <a:pt x="107823" y="149352"/>
                </a:lnTo>
                <a:lnTo>
                  <a:pt x="107823" y="112014"/>
                </a:lnTo>
                <a:lnTo>
                  <a:pt x="1883664" y="112014"/>
                </a:lnTo>
                <a:lnTo>
                  <a:pt x="1883664" y="37338"/>
                </a:lnTo>
                <a:lnTo>
                  <a:pt x="107823" y="37338"/>
                </a:lnTo>
                <a:lnTo>
                  <a:pt x="107823" y="0"/>
                </a:lnTo>
                <a:close/>
              </a:path>
            </a:pathLst>
          </a:custGeom>
          <a:solidFill>
            <a:srgbClr val="414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12108" y="1263396"/>
            <a:ext cx="1884045" cy="147955"/>
          </a:xfrm>
          <a:custGeom>
            <a:avLst/>
            <a:gdLst/>
            <a:ahLst/>
            <a:cxnLst/>
            <a:rect l="l" t="t" r="r" b="b"/>
            <a:pathLst>
              <a:path w="1884045" h="147955">
                <a:moveTo>
                  <a:pt x="1776856" y="0"/>
                </a:moveTo>
                <a:lnTo>
                  <a:pt x="1776856" y="36956"/>
                </a:lnTo>
                <a:lnTo>
                  <a:pt x="0" y="36956"/>
                </a:lnTo>
                <a:lnTo>
                  <a:pt x="0" y="110870"/>
                </a:lnTo>
                <a:lnTo>
                  <a:pt x="1776856" y="110870"/>
                </a:lnTo>
                <a:lnTo>
                  <a:pt x="1776856" y="147827"/>
                </a:lnTo>
                <a:lnTo>
                  <a:pt x="1883664" y="73913"/>
                </a:lnTo>
                <a:lnTo>
                  <a:pt x="1776856" y="0"/>
                </a:lnTo>
                <a:close/>
              </a:path>
            </a:pathLst>
          </a:custGeom>
          <a:solidFill>
            <a:srgbClr val="414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34639" y="809244"/>
            <a:ext cx="1120140" cy="1120140"/>
          </a:xfrm>
          <a:custGeom>
            <a:avLst/>
            <a:gdLst/>
            <a:ahLst/>
            <a:cxnLst/>
            <a:rect l="l" t="t" r="r" b="b"/>
            <a:pathLst>
              <a:path w="1120139" h="1120139">
                <a:moveTo>
                  <a:pt x="560070" y="0"/>
                </a:moveTo>
                <a:lnTo>
                  <a:pt x="514128" y="1856"/>
                </a:lnTo>
                <a:lnTo>
                  <a:pt x="469210" y="7328"/>
                </a:lnTo>
                <a:lnTo>
                  <a:pt x="425461" y="16274"/>
                </a:lnTo>
                <a:lnTo>
                  <a:pt x="383023" y="28547"/>
                </a:lnTo>
                <a:lnTo>
                  <a:pt x="342042" y="44005"/>
                </a:lnTo>
                <a:lnTo>
                  <a:pt x="302661" y="62503"/>
                </a:lnTo>
                <a:lnTo>
                  <a:pt x="265025" y="83898"/>
                </a:lnTo>
                <a:lnTo>
                  <a:pt x="229276" y="108045"/>
                </a:lnTo>
                <a:lnTo>
                  <a:pt x="195560" y="134800"/>
                </a:lnTo>
                <a:lnTo>
                  <a:pt x="164020" y="164020"/>
                </a:lnTo>
                <a:lnTo>
                  <a:pt x="134800" y="195560"/>
                </a:lnTo>
                <a:lnTo>
                  <a:pt x="108045" y="229276"/>
                </a:lnTo>
                <a:lnTo>
                  <a:pt x="83898" y="265025"/>
                </a:lnTo>
                <a:lnTo>
                  <a:pt x="62503" y="302661"/>
                </a:lnTo>
                <a:lnTo>
                  <a:pt x="44005" y="342042"/>
                </a:lnTo>
                <a:lnTo>
                  <a:pt x="28547" y="383023"/>
                </a:lnTo>
                <a:lnTo>
                  <a:pt x="16274" y="425461"/>
                </a:lnTo>
                <a:lnTo>
                  <a:pt x="7328" y="469210"/>
                </a:lnTo>
                <a:lnTo>
                  <a:pt x="1856" y="514128"/>
                </a:lnTo>
                <a:lnTo>
                  <a:pt x="0" y="560069"/>
                </a:lnTo>
                <a:lnTo>
                  <a:pt x="1856" y="606011"/>
                </a:lnTo>
                <a:lnTo>
                  <a:pt x="7328" y="650929"/>
                </a:lnTo>
                <a:lnTo>
                  <a:pt x="16274" y="694678"/>
                </a:lnTo>
                <a:lnTo>
                  <a:pt x="28547" y="737116"/>
                </a:lnTo>
                <a:lnTo>
                  <a:pt x="44005" y="778097"/>
                </a:lnTo>
                <a:lnTo>
                  <a:pt x="62503" y="817478"/>
                </a:lnTo>
                <a:lnTo>
                  <a:pt x="83898" y="855114"/>
                </a:lnTo>
                <a:lnTo>
                  <a:pt x="108045" y="890863"/>
                </a:lnTo>
                <a:lnTo>
                  <a:pt x="134800" y="924579"/>
                </a:lnTo>
                <a:lnTo>
                  <a:pt x="164020" y="956119"/>
                </a:lnTo>
                <a:lnTo>
                  <a:pt x="195560" y="985339"/>
                </a:lnTo>
                <a:lnTo>
                  <a:pt x="229276" y="1012094"/>
                </a:lnTo>
                <a:lnTo>
                  <a:pt x="265025" y="1036241"/>
                </a:lnTo>
                <a:lnTo>
                  <a:pt x="302661" y="1057636"/>
                </a:lnTo>
                <a:lnTo>
                  <a:pt x="342042" y="1076134"/>
                </a:lnTo>
                <a:lnTo>
                  <a:pt x="383023" y="1091592"/>
                </a:lnTo>
                <a:lnTo>
                  <a:pt x="425461" y="1103865"/>
                </a:lnTo>
                <a:lnTo>
                  <a:pt x="469210" y="1112811"/>
                </a:lnTo>
                <a:lnTo>
                  <a:pt x="514128" y="1118283"/>
                </a:lnTo>
                <a:lnTo>
                  <a:pt x="560070" y="1120139"/>
                </a:lnTo>
                <a:lnTo>
                  <a:pt x="606011" y="1118283"/>
                </a:lnTo>
                <a:lnTo>
                  <a:pt x="650929" y="1112811"/>
                </a:lnTo>
                <a:lnTo>
                  <a:pt x="694678" y="1103865"/>
                </a:lnTo>
                <a:lnTo>
                  <a:pt x="737116" y="1091592"/>
                </a:lnTo>
                <a:lnTo>
                  <a:pt x="778097" y="1076134"/>
                </a:lnTo>
                <a:lnTo>
                  <a:pt x="817478" y="1057636"/>
                </a:lnTo>
                <a:lnTo>
                  <a:pt x="855114" y="1036241"/>
                </a:lnTo>
                <a:lnTo>
                  <a:pt x="890863" y="1012094"/>
                </a:lnTo>
                <a:lnTo>
                  <a:pt x="924579" y="985339"/>
                </a:lnTo>
                <a:lnTo>
                  <a:pt x="956119" y="956119"/>
                </a:lnTo>
                <a:lnTo>
                  <a:pt x="985339" y="924579"/>
                </a:lnTo>
                <a:lnTo>
                  <a:pt x="1012094" y="890863"/>
                </a:lnTo>
                <a:lnTo>
                  <a:pt x="1036241" y="855114"/>
                </a:lnTo>
                <a:lnTo>
                  <a:pt x="1057636" y="817478"/>
                </a:lnTo>
                <a:lnTo>
                  <a:pt x="1076134" y="778097"/>
                </a:lnTo>
                <a:lnTo>
                  <a:pt x="1091592" y="737116"/>
                </a:lnTo>
                <a:lnTo>
                  <a:pt x="1103865" y="694678"/>
                </a:lnTo>
                <a:lnTo>
                  <a:pt x="1112811" y="650929"/>
                </a:lnTo>
                <a:lnTo>
                  <a:pt x="1118283" y="606011"/>
                </a:lnTo>
                <a:lnTo>
                  <a:pt x="1120139" y="560069"/>
                </a:lnTo>
                <a:lnTo>
                  <a:pt x="1118283" y="514128"/>
                </a:lnTo>
                <a:lnTo>
                  <a:pt x="1112811" y="469210"/>
                </a:lnTo>
                <a:lnTo>
                  <a:pt x="1103865" y="425461"/>
                </a:lnTo>
                <a:lnTo>
                  <a:pt x="1091592" y="383023"/>
                </a:lnTo>
                <a:lnTo>
                  <a:pt x="1076134" y="342042"/>
                </a:lnTo>
                <a:lnTo>
                  <a:pt x="1057636" y="302661"/>
                </a:lnTo>
                <a:lnTo>
                  <a:pt x="1036241" y="265025"/>
                </a:lnTo>
                <a:lnTo>
                  <a:pt x="1012094" y="229276"/>
                </a:lnTo>
                <a:lnTo>
                  <a:pt x="985339" y="195560"/>
                </a:lnTo>
                <a:lnTo>
                  <a:pt x="956119" y="164020"/>
                </a:lnTo>
                <a:lnTo>
                  <a:pt x="924579" y="134800"/>
                </a:lnTo>
                <a:lnTo>
                  <a:pt x="890863" y="108045"/>
                </a:lnTo>
                <a:lnTo>
                  <a:pt x="855114" y="83898"/>
                </a:lnTo>
                <a:lnTo>
                  <a:pt x="817478" y="62503"/>
                </a:lnTo>
                <a:lnTo>
                  <a:pt x="778097" y="44005"/>
                </a:lnTo>
                <a:lnTo>
                  <a:pt x="737116" y="28547"/>
                </a:lnTo>
                <a:lnTo>
                  <a:pt x="694678" y="16274"/>
                </a:lnTo>
                <a:lnTo>
                  <a:pt x="650929" y="7328"/>
                </a:lnTo>
                <a:lnTo>
                  <a:pt x="606011" y="1856"/>
                </a:lnTo>
                <a:lnTo>
                  <a:pt x="56007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76955" y="984503"/>
            <a:ext cx="634365" cy="728980"/>
          </a:xfrm>
          <a:custGeom>
            <a:avLst/>
            <a:gdLst/>
            <a:ahLst/>
            <a:cxnLst/>
            <a:rect l="l" t="t" r="r" b="b"/>
            <a:pathLst>
              <a:path w="634364" h="728980">
                <a:moveTo>
                  <a:pt x="472058" y="26924"/>
                </a:moveTo>
                <a:lnTo>
                  <a:pt x="161925" y="26924"/>
                </a:lnTo>
                <a:lnTo>
                  <a:pt x="155067" y="33782"/>
                </a:lnTo>
                <a:lnTo>
                  <a:pt x="141605" y="40512"/>
                </a:lnTo>
                <a:lnTo>
                  <a:pt x="134874" y="47244"/>
                </a:lnTo>
                <a:lnTo>
                  <a:pt x="121412" y="53975"/>
                </a:lnTo>
                <a:lnTo>
                  <a:pt x="114681" y="60706"/>
                </a:lnTo>
                <a:lnTo>
                  <a:pt x="101218" y="67437"/>
                </a:lnTo>
                <a:lnTo>
                  <a:pt x="94361" y="74168"/>
                </a:lnTo>
                <a:lnTo>
                  <a:pt x="80899" y="87630"/>
                </a:lnTo>
                <a:lnTo>
                  <a:pt x="67437" y="94487"/>
                </a:lnTo>
                <a:lnTo>
                  <a:pt x="60706" y="101219"/>
                </a:lnTo>
                <a:lnTo>
                  <a:pt x="53975" y="114681"/>
                </a:lnTo>
                <a:lnTo>
                  <a:pt x="40512" y="128143"/>
                </a:lnTo>
                <a:lnTo>
                  <a:pt x="33781" y="141605"/>
                </a:lnTo>
                <a:lnTo>
                  <a:pt x="33781" y="148336"/>
                </a:lnTo>
                <a:lnTo>
                  <a:pt x="26924" y="161925"/>
                </a:lnTo>
                <a:lnTo>
                  <a:pt x="20193" y="168656"/>
                </a:lnTo>
                <a:lnTo>
                  <a:pt x="20193" y="182118"/>
                </a:lnTo>
                <a:lnTo>
                  <a:pt x="13462" y="188849"/>
                </a:lnTo>
                <a:lnTo>
                  <a:pt x="13462" y="202311"/>
                </a:lnTo>
                <a:lnTo>
                  <a:pt x="6731" y="209042"/>
                </a:lnTo>
                <a:lnTo>
                  <a:pt x="6705" y="222708"/>
                </a:lnTo>
                <a:lnTo>
                  <a:pt x="0" y="242824"/>
                </a:lnTo>
                <a:lnTo>
                  <a:pt x="14" y="290111"/>
                </a:lnTo>
                <a:lnTo>
                  <a:pt x="6632" y="309966"/>
                </a:lnTo>
                <a:lnTo>
                  <a:pt x="6731" y="330454"/>
                </a:lnTo>
                <a:lnTo>
                  <a:pt x="13462" y="350774"/>
                </a:lnTo>
                <a:lnTo>
                  <a:pt x="20198" y="377698"/>
                </a:lnTo>
                <a:lnTo>
                  <a:pt x="74168" y="465455"/>
                </a:lnTo>
                <a:lnTo>
                  <a:pt x="103683" y="498860"/>
                </a:lnTo>
                <a:lnTo>
                  <a:pt x="125744" y="531331"/>
                </a:lnTo>
                <a:lnTo>
                  <a:pt x="147215" y="576215"/>
                </a:lnTo>
                <a:lnTo>
                  <a:pt x="158002" y="613791"/>
                </a:lnTo>
                <a:lnTo>
                  <a:pt x="161977" y="646560"/>
                </a:lnTo>
                <a:lnTo>
                  <a:pt x="161925" y="728461"/>
                </a:lnTo>
                <a:lnTo>
                  <a:pt x="478877" y="728471"/>
                </a:lnTo>
                <a:lnTo>
                  <a:pt x="478917" y="687959"/>
                </a:lnTo>
                <a:lnTo>
                  <a:pt x="485645" y="647586"/>
                </a:lnTo>
                <a:lnTo>
                  <a:pt x="485647" y="613791"/>
                </a:lnTo>
                <a:lnTo>
                  <a:pt x="492379" y="613791"/>
                </a:lnTo>
                <a:lnTo>
                  <a:pt x="492379" y="607060"/>
                </a:lnTo>
                <a:lnTo>
                  <a:pt x="505841" y="607060"/>
                </a:lnTo>
                <a:lnTo>
                  <a:pt x="512571" y="600329"/>
                </a:lnTo>
                <a:lnTo>
                  <a:pt x="593470" y="600329"/>
                </a:lnTo>
                <a:lnTo>
                  <a:pt x="593470" y="593598"/>
                </a:lnTo>
                <a:lnTo>
                  <a:pt x="600202" y="593598"/>
                </a:lnTo>
                <a:lnTo>
                  <a:pt x="600202" y="546354"/>
                </a:lnTo>
                <a:lnTo>
                  <a:pt x="607059" y="546354"/>
                </a:lnTo>
                <a:lnTo>
                  <a:pt x="607059" y="532892"/>
                </a:lnTo>
                <a:lnTo>
                  <a:pt x="613791" y="532892"/>
                </a:lnTo>
                <a:lnTo>
                  <a:pt x="613791" y="519430"/>
                </a:lnTo>
                <a:lnTo>
                  <a:pt x="607059" y="519430"/>
                </a:lnTo>
                <a:lnTo>
                  <a:pt x="607059" y="512572"/>
                </a:lnTo>
                <a:lnTo>
                  <a:pt x="600202" y="505841"/>
                </a:lnTo>
                <a:lnTo>
                  <a:pt x="593470" y="505841"/>
                </a:lnTo>
                <a:lnTo>
                  <a:pt x="600202" y="499110"/>
                </a:lnTo>
                <a:lnTo>
                  <a:pt x="607059" y="492379"/>
                </a:lnTo>
                <a:lnTo>
                  <a:pt x="613791" y="485648"/>
                </a:lnTo>
                <a:lnTo>
                  <a:pt x="613791" y="478917"/>
                </a:lnTo>
                <a:lnTo>
                  <a:pt x="607059" y="465455"/>
                </a:lnTo>
                <a:lnTo>
                  <a:pt x="607059" y="431673"/>
                </a:lnTo>
                <a:lnTo>
                  <a:pt x="613791" y="431673"/>
                </a:lnTo>
                <a:lnTo>
                  <a:pt x="620521" y="424942"/>
                </a:lnTo>
                <a:lnTo>
                  <a:pt x="627253" y="424942"/>
                </a:lnTo>
                <a:lnTo>
                  <a:pt x="627253" y="418211"/>
                </a:lnTo>
                <a:lnTo>
                  <a:pt x="633983" y="418211"/>
                </a:lnTo>
                <a:lnTo>
                  <a:pt x="633983" y="411480"/>
                </a:lnTo>
                <a:lnTo>
                  <a:pt x="627253" y="391160"/>
                </a:lnTo>
                <a:lnTo>
                  <a:pt x="620521" y="377698"/>
                </a:lnTo>
                <a:lnTo>
                  <a:pt x="620521" y="364236"/>
                </a:lnTo>
                <a:lnTo>
                  <a:pt x="607059" y="337312"/>
                </a:lnTo>
                <a:lnTo>
                  <a:pt x="168656" y="337312"/>
                </a:lnTo>
                <a:lnTo>
                  <a:pt x="166384" y="330454"/>
                </a:lnTo>
                <a:lnTo>
                  <a:pt x="134874" y="330454"/>
                </a:lnTo>
                <a:lnTo>
                  <a:pt x="121412" y="323723"/>
                </a:lnTo>
                <a:lnTo>
                  <a:pt x="128143" y="303530"/>
                </a:lnTo>
                <a:lnTo>
                  <a:pt x="121412" y="296799"/>
                </a:lnTo>
                <a:lnTo>
                  <a:pt x="101218" y="290068"/>
                </a:lnTo>
                <a:lnTo>
                  <a:pt x="94361" y="276606"/>
                </a:lnTo>
                <a:lnTo>
                  <a:pt x="114681" y="263017"/>
                </a:lnTo>
                <a:lnTo>
                  <a:pt x="114681" y="256286"/>
                </a:lnTo>
                <a:lnTo>
                  <a:pt x="101218" y="242824"/>
                </a:lnTo>
                <a:lnTo>
                  <a:pt x="107950" y="229362"/>
                </a:lnTo>
                <a:lnTo>
                  <a:pt x="128143" y="229362"/>
                </a:lnTo>
                <a:lnTo>
                  <a:pt x="134874" y="222631"/>
                </a:lnTo>
                <a:lnTo>
                  <a:pt x="141605" y="209042"/>
                </a:lnTo>
                <a:lnTo>
                  <a:pt x="155067" y="202311"/>
                </a:lnTo>
                <a:lnTo>
                  <a:pt x="210333" y="202311"/>
                </a:lnTo>
                <a:lnTo>
                  <a:pt x="209047" y="188904"/>
                </a:lnTo>
                <a:lnTo>
                  <a:pt x="216814" y="182057"/>
                </a:lnTo>
                <a:lnTo>
                  <a:pt x="232979" y="174737"/>
                </a:lnTo>
                <a:lnTo>
                  <a:pt x="246818" y="169592"/>
                </a:lnTo>
                <a:lnTo>
                  <a:pt x="256285" y="155194"/>
                </a:lnTo>
                <a:lnTo>
                  <a:pt x="243257" y="115985"/>
                </a:lnTo>
                <a:lnTo>
                  <a:pt x="262973" y="94535"/>
                </a:lnTo>
                <a:lnTo>
                  <a:pt x="320987" y="94535"/>
                </a:lnTo>
                <a:lnTo>
                  <a:pt x="337124" y="67538"/>
                </a:lnTo>
                <a:lnTo>
                  <a:pt x="512573" y="67438"/>
                </a:lnTo>
                <a:lnTo>
                  <a:pt x="532765" y="60706"/>
                </a:lnTo>
                <a:lnTo>
                  <a:pt x="526033" y="53975"/>
                </a:lnTo>
                <a:lnTo>
                  <a:pt x="512571" y="47244"/>
                </a:lnTo>
                <a:lnTo>
                  <a:pt x="505841" y="47244"/>
                </a:lnTo>
                <a:lnTo>
                  <a:pt x="492379" y="33782"/>
                </a:lnTo>
                <a:lnTo>
                  <a:pt x="485647" y="33782"/>
                </a:lnTo>
                <a:lnTo>
                  <a:pt x="472058" y="26924"/>
                </a:lnTo>
                <a:close/>
              </a:path>
              <a:path w="634364" h="728980">
                <a:moveTo>
                  <a:pt x="586740" y="600329"/>
                </a:moveTo>
                <a:lnTo>
                  <a:pt x="539622" y="600329"/>
                </a:lnTo>
                <a:lnTo>
                  <a:pt x="546354" y="607060"/>
                </a:lnTo>
                <a:lnTo>
                  <a:pt x="580008" y="607060"/>
                </a:lnTo>
                <a:lnTo>
                  <a:pt x="586740" y="600329"/>
                </a:lnTo>
                <a:close/>
              </a:path>
              <a:path w="634364" h="728980">
                <a:moveTo>
                  <a:pt x="210978" y="209042"/>
                </a:moveTo>
                <a:lnTo>
                  <a:pt x="188848" y="209042"/>
                </a:lnTo>
                <a:lnTo>
                  <a:pt x="202310" y="215900"/>
                </a:lnTo>
                <a:lnTo>
                  <a:pt x="202310" y="242824"/>
                </a:lnTo>
                <a:lnTo>
                  <a:pt x="222631" y="242824"/>
                </a:lnTo>
                <a:lnTo>
                  <a:pt x="222631" y="249555"/>
                </a:lnTo>
                <a:lnTo>
                  <a:pt x="229361" y="263017"/>
                </a:lnTo>
                <a:lnTo>
                  <a:pt x="215772" y="269748"/>
                </a:lnTo>
                <a:lnTo>
                  <a:pt x="209042" y="283337"/>
                </a:lnTo>
                <a:lnTo>
                  <a:pt x="222631" y="296799"/>
                </a:lnTo>
                <a:lnTo>
                  <a:pt x="215772" y="310261"/>
                </a:lnTo>
                <a:lnTo>
                  <a:pt x="188848" y="310261"/>
                </a:lnTo>
                <a:lnTo>
                  <a:pt x="188848" y="330454"/>
                </a:lnTo>
                <a:lnTo>
                  <a:pt x="168656" y="337312"/>
                </a:lnTo>
                <a:lnTo>
                  <a:pt x="607059" y="337312"/>
                </a:lnTo>
                <a:lnTo>
                  <a:pt x="337201" y="337311"/>
                </a:lnTo>
                <a:lnTo>
                  <a:pt x="329251" y="329032"/>
                </a:lnTo>
                <a:lnTo>
                  <a:pt x="321173" y="313268"/>
                </a:lnTo>
                <a:lnTo>
                  <a:pt x="319695" y="309827"/>
                </a:lnTo>
                <a:lnTo>
                  <a:pt x="264321" y="309827"/>
                </a:lnTo>
                <a:lnTo>
                  <a:pt x="242871" y="290111"/>
                </a:lnTo>
                <a:lnTo>
                  <a:pt x="245699" y="281480"/>
                </a:lnTo>
                <a:lnTo>
                  <a:pt x="255843" y="250887"/>
                </a:lnTo>
                <a:lnTo>
                  <a:pt x="249555" y="236093"/>
                </a:lnTo>
                <a:lnTo>
                  <a:pt x="211766" y="217258"/>
                </a:lnTo>
                <a:lnTo>
                  <a:pt x="210978" y="209042"/>
                </a:lnTo>
                <a:close/>
              </a:path>
              <a:path w="634364" h="728980">
                <a:moveTo>
                  <a:pt x="399360" y="297286"/>
                </a:moveTo>
                <a:lnTo>
                  <a:pt x="384429" y="303530"/>
                </a:lnTo>
                <a:lnTo>
                  <a:pt x="380902" y="311812"/>
                </a:lnTo>
                <a:lnTo>
                  <a:pt x="373035" y="327579"/>
                </a:lnTo>
                <a:lnTo>
                  <a:pt x="364900" y="337210"/>
                </a:lnTo>
                <a:lnTo>
                  <a:pt x="337201" y="337311"/>
                </a:lnTo>
                <a:lnTo>
                  <a:pt x="607059" y="337311"/>
                </a:lnTo>
                <a:lnTo>
                  <a:pt x="600202" y="323723"/>
                </a:lnTo>
                <a:lnTo>
                  <a:pt x="600202" y="310261"/>
                </a:lnTo>
                <a:lnTo>
                  <a:pt x="600054" y="309966"/>
                </a:lnTo>
                <a:lnTo>
                  <a:pt x="438653" y="309966"/>
                </a:lnTo>
                <a:lnTo>
                  <a:pt x="429984" y="307331"/>
                </a:lnTo>
                <a:lnTo>
                  <a:pt x="399360" y="297286"/>
                </a:lnTo>
                <a:close/>
              </a:path>
              <a:path w="634364" h="728980">
                <a:moveTo>
                  <a:pt x="161925" y="316992"/>
                </a:moveTo>
                <a:lnTo>
                  <a:pt x="148336" y="316992"/>
                </a:lnTo>
                <a:lnTo>
                  <a:pt x="134874" y="330454"/>
                </a:lnTo>
                <a:lnTo>
                  <a:pt x="166384" y="330454"/>
                </a:lnTo>
                <a:lnTo>
                  <a:pt x="161925" y="316992"/>
                </a:lnTo>
                <a:close/>
              </a:path>
              <a:path w="634364" h="728980">
                <a:moveTo>
                  <a:pt x="540056" y="94921"/>
                </a:moveTo>
                <a:lnTo>
                  <a:pt x="437099" y="94921"/>
                </a:lnTo>
                <a:lnTo>
                  <a:pt x="464815" y="114322"/>
                </a:lnTo>
                <a:lnTo>
                  <a:pt x="461340" y="125082"/>
                </a:lnTo>
                <a:lnTo>
                  <a:pt x="453545" y="140420"/>
                </a:lnTo>
                <a:lnTo>
                  <a:pt x="446658" y="152607"/>
                </a:lnTo>
                <a:lnTo>
                  <a:pt x="451866" y="168656"/>
                </a:lnTo>
                <a:lnTo>
                  <a:pt x="489654" y="187490"/>
                </a:lnTo>
                <a:lnTo>
                  <a:pt x="492379" y="215900"/>
                </a:lnTo>
                <a:lnTo>
                  <a:pt x="484601" y="222708"/>
                </a:lnTo>
                <a:lnTo>
                  <a:pt x="468426" y="230021"/>
                </a:lnTo>
                <a:lnTo>
                  <a:pt x="454590" y="235160"/>
                </a:lnTo>
                <a:lnTo>
                  <a:pt x="445134" y="249555"/>
                </a:lnTo>
                <a:lnTo>
                  <a:pt x="448425" y="256397"/>
                </a:lnTo>
                <a:lnTo>
                  <a:pt x="454944" y="271157"/>
                </a:lnTo>
                <a:lnTo>
                  <a:pt x="459658" y="285183"/>
                </a:lnTo>
                <a:lnTo>
                  <a:pt x="438653" y="309966"/>
                </a:lnTo>
                <a:lnTo>
                  <a:pt x="600054" y="309966"/>
                </a:lnTo>
                <a:lnTo>
                  <a:pt x="593470" y="296799"/>
                </a:lnTo>
                <a:lnTo>
                  <a:pt x="593470" y="290068"/>
                </a:lnTo>
                <a:lnTo>
                  <a:pt x="600202" y="290068"/>
                </a:lnTo>
                <a:lnTo>
                  <a:pt x="600166" y="249519"/>
                </a:lnTo>
                <a:lnTo>
                  <a:pt x="593470" y="242824"/>
                </a:lnTo>
                <a:lnTo>
                  <a:pt x="586740" y="229362"/>
                </a:lnTo>
                <a:lnTo>
                  <a:pt x="586740" y="215900"/>
                </a:lnTo>
                <a:lnTo>
                  <a:pt x="580008" y="202311"/>
                </a:lnTo>
                <a:lnTo>
                  <a:pt x="580008" y="195580"/>
                </a:lnTo>
                <a:lnTo>
                  <a:pt x="566546" y="168656"/>
                </a:lnTo>
                <a:lnTo>
                  <a:pt x="559870" y="161979"/>
                </a:lnTo>
                <a:lnTo>
                  <a:pt x="559816" y="148336"/>
                </a:lnTo>
                <a:lnTo>
                  <a:pt x="573278" y="141605"/>
                </a:lnTo>
                <a:lnTo>
                  <a:pt x="566546" y="128143"/>
                </a:lnTo>
                <a:lnTo>
                  <a:pt x="559816" y="121412"/>
                </a:lnTo>
                <a:lnTo>
                  <a:pt x="553084" y="107950"/>
                </a:lnTo>
                <a:lnTo>
                  <a:pt x="540056" y="94921"/>
                </a:lnTo>
                <a:close/>
              </a:path>
              <a:path w="634364" h="728980">
                <a:moveTo>
                  <a:pt x="303530" y="296799"/>
                </a:moveTo>
                <a:lnTo>
                  <a:pt x="264321" y="309827"/>
                </a:lnTo>
                <a:lnTo>
                  <a:pt x="319695" y="309827"/>
                </a:lnTo>
                <a:lnTo>
                  <a:pt x="317033" y="303632"/>
                </a:lnTo>
                <a:lnTo>
                  <a:pt x="303530" y="296799"/>
                </a:lnTo>
                <a:close/>
              </a:path>
              <a:path w="634364" h="728980">
                <a:moveTo>
                  <a:pt x="164704" y="247876"/>
                </a:moveTo>
                <a:lnTo>
                  <a:pt x="149904" y="252199"/>
                </a:lnTo>
                <a:lnTo>
                  <a:pt x="144878" y="263017"/>
                </a:lnTo>
                <a:lnTo>
                  <a:pt x="144851" y="279796"/>
                </a:lnTo>
                <a:lnTo>
                  <a:pt x="154646" y="287000"/>
                </a:lnTo>
                <a:lnTo>
                  <a:pt x="168656" y="290068"/>
                </a:lnTo>
                <a:lnTo>
                  <a:pt x="172352" y="289700"/>
                </a:lnTo>
                <a:lnTo>
                  <a:pt x="181056" y="284218"/>
                </a:lnTo>
                <a:lnTo>
                  <a:pt x="184497" y="273245"/>
                </a:lnTo>
                <a:lnTo>
                  <a:pt x="181466" y="258174"/>
                </a:lnTo>
                <a:lnTo>
                  <a:pt x="175625" y="250327"/>
                </a:lnTo>
                <a:lnTo>
                  <a:pt x="164704" y="247876"/>
                </a:lnTo>
                <a:close/>
              </a:path>
              <a:path w="634364" h="728980">
                <a:moveTo>
                  <a:pt x="350773" y="161925"/>
                </a:moveTo>
                <a:lnTo>
                  <a:pt x="335164" y="163611"/>
                </a:lnTo>
                <a:lnTo>
                  <a:pt x="321955" y="168669"/>
                </a:lnTo>
                <a:lnTo>
                  <a:pt x="311829" y="177100"/>
                </a:lnTo>
                <a:lnTo>
                  <a:pt x="305499" y="188849"/>
                </a:lnTo>
                <a:lnTo>
                  <a:pt x="305560" y="191102"/>
                </a:lnTo>
                <a:lnTo>
                  <a:pt x="316663" y="233659"/>
                </a:lnTo>
                <a:lnTo>
                  <a:pt x="348825" y="249519"/>
                </a:lnTo>
                <a:lnTo>
                  <a:pt x="363990" y="247517"/>
                </a:lnTo>
                <a:lnTo>
                  <a:pt x="376899" y="241819"/>
                </a:lnTo>
                <a:lnTo>
                  <a:pt x="387104" y="232942"/>
                </a:lnTo>
                <a:lnTo>
                  <a:pt x="394158" y="221408"/>
                </a:lnTo>
                <a:lnTo>
                  <a:pt x="397613" y="207735"/>
                </a:lnTo>
                <a:lnTo>
                  <a:pt x="395592" y="191102"/>
                </a:lnTo>
                <a:lnTo>
                  <a:pt x="368068" y="164114"/>
                </a:lnTo>
                <a:lnTo>
                  <a:pt x="350773" y="161925"/>
                </a:lnTo>
                <a:close/>
              </a:path>
              <a:path w="634364" h="728980">
                <a:moveTo>
                  <a:pt x="210333" y="202311"/>
                </a:moveTo>
                <a:lnTo>
                  <a:pt x="155067" y="202311"/>
                </a:lnTo>
                <a:lnTo>
                  <a:pt x="175386" y="222631"/>
                </a:lnTo>
                <a:lnTo>
                  <a:pt x="188848" y="209042"/>
                </a:lnTo>
                <a:lnTo>
                  <a:pt x="210978" y="209042"/>
                </a:lnTo>
                <a:lnTo>
                  <a:pt x="210333" y="202311"/>
                </a:lnTo>
                <a:close/>
              </a:path>
              <a:path w="634364" h="728980">
                <a:moveTo>
                  <a:pt x="512573" y="67438"/>
                </a:moveTo>
                <a:lnTo>
                  <a:pt x="370441" y="67438"/>
                </a:lnTo>
                <a:lnTo>
                  <a:pt x="374564" y="76832"/>
                </a:lnTo>
                <a:lnTo>
                  <a:pt x="381415" y="93693"/>
                </a:lnTo>
                <a:lnTo>
                  <a:pt x="397891" y="107950"/>
                </a:lnTo>
                <a:lnTo>
                  <a:pt x="437099" y="94921"/>
                </a:lnTo>
                <a:lnTo>
                  <a:pt x="540056" y="94921"/>
                </a:lnTo>
                <a:lnTo>
                  <a:pt x="512573" y="67438"/>
                </a:lnTo>
                <a:close/>
              </a:path>
              <a:path w="634364" h="728980">
                <a:moveTo>
                  <a:pt x="320987" y="94535"/>
                </a:moveTo>
                <a:lnTo>
                  <a:pt x="262973" y="94535"/>
                </a:lnTo>
                <a:lnTo>
                  <a:pt x="302197" y="107507"/>
                </a:lnTo>
                <a:lnTo>
                  <a:pt x="316992" y="101219"/>
                </a:lnTo>
                <a:lnTo>
                  <a:pt x="320987" y="94535"/>
                </a:lnTo>
                <a:close/>
              </a:path>
              <a:path w="634364" h="728980">
                <a:moveTo>
                  <a:pt x="458596" y="20193"/>
                </a:moveTo>
                <a:lnTo>
                  <a:pt x="188848" y="20193"/>
                </a:lnTo>
                <a:lnTo>
                  <a:pt x="175386" y="26924"/>
                </a:lnTo>
                <a:lnTo>
                  <a:pt x="465328" y="26924"/>
                </a:lnTo>
                <a:lnTo>
                  <a:pt x="458596" y="20193"/>
                </a:lnTo>
                <a:close/>
              </a:path>
              <a:path w="634364" h="728980">
                <a:moveTo>
                  <a:pt x="438404" y="13462"/>
                </a:moveTo>
                <a:lnTo>
                  <a:pt x="209042" y="13462"/>
                </a:lnTo>
                <a:lnTo>
                  <a:pt x="195580" y="20193"/>
                </a:lnTo>
                <a:lnTo>
                  <a:pt x="445134" y="20193"/>
                </a:lnTo>
                <a:lnTo>
                  <a:pt x="438404" y="13462"/>
                </a:lnTo>
                <a:close/>
              </a:path>
              <a:path w="634364" h="728980">
                <a:moveTo>
                  <a:pt x="411353" y="6731"/>
                </a:moveTo>
                <a:lnTo>
                  <a:pt x="236093" y="6731"/>
                </a:lnTo>
                <a:lnTo>
                  <a:pt x="222631" y="13462"/>
                </a:lnTo>
                <a:lnTo>
                  <a:pt x="424942" y="13462"/>
                </a:lnTo>
                <a:lnTo>
                  <a:pt x="411353" y="6731"/>
                </a:lnTo>
                <a:close/>
              </a:path>
              <a:path w="634364" h="728980">
                <a:moveTo>
                  <a:pt x="377697" y="0"/>
                </a:moveTo>
                <a:lnTo>
                  <a:pt x="269747" y="0"/>
                </a:lnTo>
                <a:lnTo>
                  <a:pt x="256285" y="6731"/>
                </a:lnTo>
                <a:lnTo>
                  <a:pt x="391159" y="6731"/>
                </a:lnTo>
                <a:lnTo>
                  <a:pt x="3776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52927" y="3503676"/>
            <a:ext cx="1120139" cy="1120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56732" y="807719"/>
            <a:ext cx="1120140" cy="1120140"/>
          </a:xfrm>
          <a:custGeom>
            <a:avLst/>
            <a:gdLst/>
            <a:ahLst/>
            <a:cxnLst/>
            <a:rect l="l" t="t" r="r" b="b"/>
            <a:pathLst>
              <a:path w="1120140" h="1120139">
                <a:moveTo>
                  <a:pt x="560069" y="0"/>
                </a:moveTo>
                <a:lnTo>
                  <a:pt x="514128" y="1856"/>
                </a:lnTo>
                <a:lnTo>
                  <a:pt x="469210" y="7328"/>
                </a:lnTo>
                <a:lnTo>
                  <a:pt x="425461" y="16274"/>
                </a:lnTo>
                <a:lnTo>
                  <a:pt x="383023" y="28547"/>
                </a:lnTo>
                <a:lnTo>
                  <a:pt x="342042" y="44005"/>
                </a:lnTo>
                <a:lnTo>
                  <a:pt x="302661" y="62503"/>
                </a:lnTo>
                <a:lnTo>
                  <a:pt x="265025" y="83898"/>
                </a:lnTo>
                <a:lnTo>
                  <a:pt x="229276" y="108045"/>
                </a:lnTo>
                <a:lnTo>
                  <a:pt x="195560" y="134800"/>
                </a:lnTo>
                <a:lnTo>
                  <a:pt x="164020" y="164020"/>
                </a:lnTo>
                <a:lnTo>
                  <a:pt x="134800" y="195560"/>
                </a:lnTo>
                <a:lnTo>
                  <a:pt x="108045" y="229276"/>
                </a:lnTo>
                <a:lnTo>
                  <a:pt x="83898" y="265025"/>
                </a:lnTo>
                <a:lnTo>
                  <a:pt x="62503" y="302661"/>
                </a:lnTo>
                <a:lnTo>
                  <a:pt x="44005" y="342042"/>
                </a:lnTo>
                <a:lnTo>
                  <a:pt x="28547" y="383023"/>
                </a:lnTo>
                <a:lnTo>
                  <a:pt x="16274" y="425461"/>
                </a:lnTo>
                <a:lnTo>
                  <a:pt x="7328" y="469210"/>
                </a:lnTo>
                <a:lnTo>
                  <a:pt x="1856" y="514128"/>
                </a:lnTo>
                <a:lnTo>
                  <a:pt x="0" y="560069"/>
                </a:lnTo>
                <a:lnTo>
                  <a:pt x="1856" y="606011"/>
                </a:lnTo>
                <a:lnTo>
                  <a:pt x="7328" y="650929"/>
                </a:lnTo>
                <a:lnTo>
                  <a:pt x="16274" y="694678"/>
                </a:lnTo>
                <a:lnTo>
                  <a:pt x="28547" y="737116"/>
                </a:lnTo>
                <a:lnTo>
                  <a:pt x="44005" y="778097"/>
                </a:lnTo>
                <a:lnTo>
                  <a:pt x="62503" y="817478"/>
                </a:lnTo>
                <a:lnTo>
                  <a:pt x="83898" y="855114"/>
                </a:lnTo>
                <a:lnTo>
                  <a:pt x="108045" y="890863"/>
                </a:lnTo>
                <a:lnTo>
                  <a:pt x="134800" y="924579"/>
                </a:lnTo>
                <a:lnTo>
                  <a:pt x="164020" y="956119"/>
                </a:lnTo>
                <a:lnTo>
                  <a:pt x="195560" y="985339"/>
                </a:lnTo>
                <a:lnTo>
                  <a:pt x="229276" y="1012094"/>
                </a:lnTo>
                <a:lnTo>
                  <a:pt x="265025" y="1036241"/>
                </a:lnTo>
                <a:lnTo>
                  <a:pt x="302661" y="1057636"/>
                </a:lnTo>
                <a:lnTo>
                  <a:pt x="342042" y="1076134"/>
                </a:lnTo>
                <a:lnTo>
                  <a:pt x="383023" y="1091592"/>
                </a:lnTo>
                <a:lnTo>
                  <a:pt x="425461" y="1103865"/>
                </a:lnTo>
                <a:lnTo>
                  <a:pt x="469210" y="1112811"/>
                </a:lnTo>
                <a:lnTo>
                  <a:pt x="514128" y="1118283"/>
                </a:lnTo>
                <a:lnTo>
                  <a:pt x="560069" y="1120139"/>
                </a:lnTo>
                <a:lnTo>
                  <a:pt x="606011" y="1118283"/>
                </a:lnTo>
                <a:lnTo>
                  <a:pt x="650929" y="1112811"/>
                </a:lnTo>
                <a:lnTo>
                  <a:pt x="694678" y="1103865"/>
                </a:lnTo>
                <a:lnTo>
                  <a:pt x="737116" y="1091592"/>
                </a:lnTo>
                <a:lnTo>
                  <a:pt x="778097" y="1076134"/>
                </a:lnTo>
                <a:lnTo>
                  <a:pt x="817478" y="1057636"/>
                </a:lnTo>
                <a:lnTo>
                  <a:pt x="855114" y="1036241"/>
                </a:lnTo>
                <a:lnTo>
                  <a:pt x="890863" y="1012094"/>
                </a:lnTo>
                <a:lnTo>
                  <a:pt x="924579" y="985339"/>
                </a:lnTo>
                <a:lnTo>
                  <a:pt x="956119" y="956119"/>
                </a:lnTo>
                <a:lnTo>
                  <a:pt x="985339" y="924579"/>
                </a:lnTo>
                <a:lnTo>
                  <a:pt x="1012094" y="890863"/>
                </a:lnTo>
                <a:lnTo>
                  <a:pt x="1036241" y="855114"/>
                </a:lnTo>
                <a:lnTo>
                  <a:pt x="1057636" y="817478"/>
                </a:lnTo>
                <a:lnTo>
                  <a:pt x="1076134" y="778097"/>
                </a:lnTo>
                <a:lnTo>
                  <a:pt x="1091592" y="737116"/>
                </a:lnTo>
                <a:lnTo>
                  <a:pt x="1103865" y="694678"/>
                </a:lnTo>
                <a:lnTo>
                  <a:pt x="1112811" y="650929"/>
                </a:lnTo>
                <a:lnTo>
                  <a:pt x="1118283" y="606011"/>
                </a:lnTo>
                <a:lnTo>
                  <a:pt x="1120139" y="560069"/>
                </a:lnTo>
                <a:lnTo>
                  <a:pt x="1118283" y="514128"/>
                </a:lnTo>
                <a:lnTo>
                  <a:pt x="1112811" y="469210"/>
                </a:lnTo>
                <a:lnTo>
                  <a:pt x="1103865" y="425461"/>
                </a:lnTo>
                <a:lnTo>
                  <a:pt x="1091592" y="383023"/>
                </a:lnTo>
                <a:lnTo>
                  <a:pt x="1076134" y="342042"/>
                </a:lnTo>
                <a:lnTo>
                  <a:pt x="1057636" y="302661"/>
                </a:lnTo>
                <a:lnTo>
                  <a:pt x="1036241" y="265025"/>
                </a:lnTo>
                <a:lnTo>
                  <a:pt x="1012094" y="229276"/>
                </a:lnTo>
                <a:lnTo>
                  <a:pt x="985339" y="195560"/>
                </a:lnTo>
                <a:lnTo>
                  <a:pt x="956119" y="164020"/>
                </a:lnTo>
                <a:lnTo>
                  <a:pt x="924579" y="134800"/>
                </a:lnTo>
                <a:lnTo>
                  <a:pt x="890863" y="108045"/>
                </a:lnTo>
                <a:lnTo>
                  <a:pt x="855114" y="83898"/>
                </a:lnTo>
                <a:lnTo>
                  <a:pt x="817478" y="62503"/>
                </a:lnTo>
                <a:lnTo>
                  <a:pt x="778097" y="44005"/>
                </a:lnTo>
                <a:lnTo>
                  <a:pt x="737116" y="28547"/>
                </a:lnTo>
                <a:lnTo>
                  <a:pt x="694678" y="16274"/>
                </a:lnTo>
                <a:lnTo>
                  <a:pt x="650929" y="7328"/>
                </a:lnTo>
                <a:lnTo>
                  <a:pt x="606011" y="1856"/>
                </a:lnTo>
                <a:lnTo>
                  <a:pt x="560069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17335" y="1107948"/>
            <a:ext cx="641985" cy="410209"/>
          </a:xfrm>
          <a:custGeom>
            <a:avLst/>
            <a:gdLst/>
            <a:ahLst/>
            <a:cxnLst/>
            <a:rect l="l" t="t" r="r" b="b"/>
            <a:pathLst>
              <a:path w="641984" h="410209">
                <a:moveTo>
                  <a:pt x="46426" y="0"/>
                </a:moveTo>
                <a:lnTo>
                  <a:pt x="7459" y="15883"/>
                </a:lnTo>
                <a:lnTo>
                  <a:pt x="0" y="378923"/>
                </a:lnTo>
                <a:lnTo>
                  <a:pt x="3190" y="392897"/>
                </a:lnTo>
                <a:lnTo>
                  <a:pt x="11794" y="403496"/>
                </a:lnTo>
                <a:lnTo>
                  <a:pt x="24360" y="409293"/>
                </a:lnTo>
                <a:lnTo>
                  <a:pt x="30860" y="409955"/>
                </a:lnTo>
                <a:lnTo>
                  <a:pt x="610670" y="409955"/>
                </a:lnTo>
                <a:lnTo>
                  <a:pt x="624575" y="406764"/>
                </a:lnTo>
                <a:lnTo>
                  <a:pt x="635144" y="398145"/>
                </a:lnTo>
                <a:lnTo>
                  <a:pt x="640938" y="385531"/>
                </a:lnTo>
                <a:lnTo>
                  <a:pt x="640972" y="367410"/>
                </a:lnTo>
                <a:lnTo>
                  <a:pt x="42614" y="367410"/>
                </a:lnTo>
                <a:lnTo>
                  <a:pt x="42544" y="44449"/>
                </a:lnTo>
                <a:lnTo>
                  <a:pt x="44449" y="42544"/>
                </a:lnTo>
                <a:lnTo>
                  <a:pt x="641582" y="42544"/>
                </a:lnTo>
                <a:lnTo>
                  <a:pt x="641603" y="31032"/>
                </a:lnTo>
                <a:lnTo>
                  <a:pt x="638413" y="17058"/>
                </a:lnTo>
                <a:lnTo>
                  <a:pt x="629808" y="6459"/>
                </a:lnTo>
                <a:lnTo>
                  <a:pt x="617243" y="661"/>
                </a:lnTo>
                <a:lnTo>
                  <a:pt x="46426" y="0"/>
                </a:lnTo>
                <a:close/>
              </a:path>
              <a:path w="641984" h="410209">
                <a:moveTo>
                  <a:pt x="641582" y="42544"/>
                </a:moveTo>
                <a:lnTo>
                  <a:pt x="598989" y="42544"/>
                </a:lnTo>
                <a:lnTo>
                  <a:pt x="599058" y="367370"/>
                </a:lnTo>
                <a:lnTo>
                  <a:pt x="42614" y="367410"/>
                </a:lnTo>
                <a:lnTo>
                  <a:pt x="640972" y="367410"/>
                </a:lnTo>
                <a:lnTo>
                  <a:pt x="641582" y="425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48081" y="1232916"/>
            <a:ext cx="426084" cy="172720"/>
          </a:xfrm>
          <a:custGeom>
            <a:avLst/>
            <a:gdLst/>
            <a:ahLst/>
            <a:cxnLst/>
            <a:rect l="l" t="t" r="r" b="b"/>
            <a:pathLst>
              <a:path w="426084" h="172719">
                <a:moveTo>
                  <a:pt x="144590" y="56134"/>
                </a:moveTo>
                <a:lnTo>
                  <a:pt x="125159" y="56134"/>
                </a:lnTo>
                <a:lnTo>
                  <a:pt x="125159" y="58038"/>
                </a:lnTo>
                <a:lnTo>
                  <a:pt x="123254" y="58038"/>
                </a:lnTo>
                <a:lnTo>
                  <a:pt x="8986" y="131551"/>
                </a:lnTo>
                <a:lnTo>
                  <a:pt x="1502" y="141632"/>
                </a:lnTo>
                <a:lnTo>
                  <a:pt x="0" y="153500"/>
                </a:lnTo>
                <a:lnTo>
                  <a:pt x="9756" y="167684"/>
                </a:lnTo>
                <a:lnTo>
                  <a:pt x="18979" y="172124"/>
                </a:lnTo>
                <a:lnTo>
                  <a:pt x="26353" y="172212"/>
                </a:lnTo>
                <a:lnTo>
                  <a:pt x="30163" y="170307"/>
                </a:lnTo>
                <a:lnTo>
                  <a:pt x="32195" y="168401"/>
                </a:lnTo>
                <a:lnTo>
                  <a:pt x="134775" y="100608"/>
                </a:lnTo>
                <a:lnTo>
                  <a:pt x="205438" y="100608"/>
                </a:lnTo>
                <a:lnTo>
                  <a:pt x="146495" y="58038"/>
                </a:lnTo>
                <a:lnTo>
                  <a:pt x="144590" y="56134"/>
                </a:lnTo>
                <a:close/>
              </a:path>
              <a:path w="426084" h="172719">
                <a:moveTo>
                  <a:pt x="241364" y="170307"/>
                </a:moveTo>
                <a:lnTo>
                  <a:pt x="235649" y="170307"/>
                </a:lnTo>
                <a:lnTo>
                  <a:pt x="237554" y="172212"/>
                </a:lnTo>
                <a:lnTo>
                  <a:pt x="239459" y="172212"/>
                </a:lnTo>
                <a:lnTo>
                  <a:pt x="241364" y="170307"/>
                </a:lnTo>
                <a:close/>
              </a:path>
              <a:path w="426084" h="172719">
                <a:moveTo>
                  <a:pt x="205438" y="100608"/>
                </a:moveTo>
                <a:lnTo>
                  <a:pt x="134775" y="100608"/>
                </a:lnTo>
                <a:lnTo>
                  <a:pt x="225764" y="168322"/>
                </a:lnTo>
                <a:lnTo>
                  <a:pt x="229807" y="168401"/>
                </a:lnTo>
                <a:lnTo>
                  <a:pt x="229807" y="170307"/>
                </a:lnTo>
                <a:lnTo>
                  <a:pt x="247206" y="170307"/>
                </a:lnTo>
                <a:lnTo>
                  <a:pt x="247206" y="168401"/>
                </a:lnTo>
                <a:lnTo>
                  <a:pt x="251143" y="168401"/>
                </a:lnTo>
                <a:lnTo>
                  <a:pt x="251143" y="166370"/>
                </a:lnTo>
                <a:lnTo>
                  <a:pt x="306479" y="123813"/>
                </a:lnTo>
                <a:lnTo>
                  <a:pt x="237570" y="123813"/>
                </a:lnTo>
                <a:lnTo>
                  <a:pt x="205438" y="100608"/>
                </a:lnTo>
                <a:close/>
              </a:path>
              <a:path w="426084" h="172719">
                <a:moveTo>
                  <a:pt x="423609" y="9651"/>
                </a:moveTo>
                <a:lnTo>
                  <a:pt x="348044" y="9651"/>
                </a:lnTo>
                <a:lnTo>
                  <a:pt x="348044" y="11557"/>
                </a:lnTo>
                <a:lnTo>
                  <a:pt x="346012" y="11557"/>
                </a:lnTo>
                <a:lnTo>
                  <a:pt x="344107" y="13588"/>
                </a:lnTo>
                <a:lnTo>
                  <a:pt x="342202" y="15494"/>
                </a:lnTo>
                <a:lnTo>
                  <a:pt x="342202" y="17399"/>
                </a:lnTo>
                <a:lnTo>
                  <a:pt x="340297" y="17399"/>
                </a:lnTo>
                <a:lnTo>
                  <a:pt x="340297" y="21336"/>
                </a:lnTo>
                <a:lnTo>
                  <a:pt x="338265" y="23241"/>
                </a:lnTo>
                <a:lnTo>
                  <a:pt x="338265" y="32893"/>
                </a:lnTo>
                <a:lnTo>
                  <a:pt x="340297" y="34798"/>
                </a:lnTo>
                <a:lnTo>
                  <a:pt x="340297" y="38735"/>
                </a:lnTo>
                <a:lnTo>
                  <a:pt x="342202" y="38735"/>
                </a:lnTo>
                <a:lnTo>
                  <a:pt x="342202" y="40639"/>
                </a:lnTo>
                <a:lnTo>
                  <a:pt x="344107" y="42545"/>
                </a:lnTo>
                <a:lnTo>
                  <a:pt x="237570" y="123813"/>
                </a:lnTo>
                <a:lnTo>
                  <a:pt x="306479" y="123813"/>
                </a:lnTo>
                <a:lnTo>
                  <a:pt x="369350" y="75461"/>
                </a:lnTo>
                <a:lnTo>
                  <a:pt x="400368" y="75461"/>
                </a:lnTo>
                <a:lnTo>
                  <a:pt x="402273" y="75437"/>
                </a:lnTo>
                <a:lnTo>
                  <a:pt x="404178" y="73533"/>
                </a:lnTo>
                <a:lnTo>
                  <a:pt x="404178" y="71628"/>
                </a:lnTo>
                <a:lnTo>
                  <a:pt x="423538" y="31137"/>
                </a:lnTo>
                <a:lnTo>
                  <a:pt x="423609" y="29083"/>
                </a:lnTo>
                <a:lnTo>
                  <a:pt x="425514" y="27050"/>
                </a:lnTo>
                <a:lnTo>
                  <a:pt x="425514" y="15494"/>
                </a:lnTo>
                <a:lnTo>
                  <a:pt x="423609" y="13588"/>
                </a:lnTo>
                <a:lnTo>
                  <a:pt x="423609" y="9651"/>
                </a:lnTo>
                <a:close/>
              </a:path>
              <a:path w="426084" h="172719">
                <a:moveTo>
                  <a:pt x="392621" y="81280"/>
                </a:moveTo>
                <a:lnTo>
                  <a:pt x="379032" y="81280"/>
                </a:lnTo>
                <a:lnTo>
                  <a:pt x="379032" y="83185"/>
                </a:lnTo>
                <a:lnTo>
                  <a:pt x="390589" y="83185"/>
                </a:lnTo>
                <a:lnTo>
                  <a:pt x="392621" y="81280"/>
                </a:lnTo>
                <a:close/>
              </a:path>
              <a:path w="426084" h="172719">
                <a:moveTo>
                  <a:pt x="396431" y="79375"/>
                </a:moveTo>
                <a:lnTo>
                  <a:pt x="373190" y="79375"/>
                </a:lnTo>
                <a:lnTo>
                  <a:pt x="375095" y="81280"/>
                </a:lnTo>
                <a:lnTo>
                  <a:pt x="396431" y="81280"/>
                </a:lnTo>
                <a:lnTo>
                  <a:pt x="396431" y="79375"/>
                </a:lnTo>
                <a:close/>
              </a:path>
              <a:path w="426084" h="172719">
                <a:moveTo>
                  <a:pt x="400368" y="75461"/>
                </a:moveTo>
                <a:lnTo>
                  <a:pt x="369350" y="75461"/>
                </a:lnTo>
                <a:lnTo>
                  <a:pt x="369380" y="77343"/>
                </a:lnTo>
                <a:lnTo>
                  <a:pt x="371285" y="77343"/>
                </a:lnTo>
                <a:lnTo>
                  <a:pt x="371285" y="79375"/>
                </a:lnTo>
                <a:lnTo>
                  <a:pt x="398336" y="79375"/>
                </a:lnTo>
                <a:lnTo>
                  <a:pt x="400368" y="77343"/>
                </a:lnTo>
                <a:lnTo>
                  <a:pt x="400368" y="75461"/>
                </a:lnTo>
                <a:close/>
              </a:path>
              <a:path w="426084" h="172719">
                <a:moveTo>
                  <a:pt x="140653" y="54229"/>
                </a:moveTo>
                <a:lnTo>
                  <a:pt x="129096" y="54229"/>
                </a:lnTo>
                <a:lnTo>
                  <a:pt x="129096" y="56134"/>
                </a:lnTo>
                <a:lnTo>
                  <a:pt x="140653" y="56134"/>
                </a:lnTo>
                <a:lnTo>
                  <a:pt x="140653" y="54229"/>
                </a:lnTo>
                <a:close/>
              </a:path>
              <a:path w="426084" h="172719">
                <a:moveTo>
                  <a:pt x="410020" y="0"/>
                </a:moveTo>
                <a:lnTo>
                  <a:pt x="400368" y="0"/>
                </a:lnTo>
                <a:lnTo>
                  <a:pt x="355967" y="7716"/>
                </a:lnTo>
                <a:lnTo>
                  <a:pt x="351854" y="7747"/>
                </a:lnTo>
                <a:lnTo>
                  <a:pt x="349949" y="9651"/>
                </a:lnTo>
                <a:lnTo>
                  <a:pt x="421577" y="9651"/>
                </a:lnTo>
                <a:lnTo>
                  <a:pt x="421547" y="7716"/>
                </a:lnTo>
                <a:lnTo>
                  <a:pt x="419672" y="5842"/>
                </a:lnTo>
                <a:lnTo>
                  <a:pt x="417767" y="5842"/>
                </a:lnTo>
                <a:lnTo>
                  <a:pt x="417767" y="3810"/>
                </a:lnTo>
                <a:lnTo>
                  <a:pt x="413830" y="1905"/>
                </a:lnTo>
                <a:lnTo>
                  <a:pt x="411925" y="1905"/>
                </a:lnTo>
                <a:lnTo>
                  <a:pt x="4100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08754" y="1548383"/>
            <a:ext cx="690880" cy="41275"/>
          </a:xfrm>
          <a:custGeom>
            <a:avLst/>
            <a:gdLst/>
            <a:ahLst/>
            <a:cxnLst/>
            <a:rect l="l" t="t" r="r" b="b"/>
            <a:pathLst>
              <a:path w="690879" h="41275">
                <a:moveTo>
                  <a:pt x="670124" y="0"/>
                </a:moveTo>
                <a:lnTo>
                  <a:pt x="20727" y="0"/>
                </a:lnTo>
                <a:lnTo>
                  <a:pt x="7452" y="4586"/>
                </a:lnTo>
                <a:lnTo>
                  <a:pt x="0" y="15939"/>
                </a:lnTo>
                <a:lnTo>
                  <a:pt x="3350" y="31062"/>
                </a:lnTo>
                <a:lnTo>
                  <a:pt x="12847" y="39598"/>
                </a:lnTo>
                <a:lnTo>
                  <a:pt x="670042" y="41147"/>
                </a:lnTo>
                <a:lnTo>
                  <a:pt x="683318" y="36561"/>
                </a:lnTo>
                <a:lnTo>
                  <a:pt x="690770" y="25209"/>
                </a:lnTo>
                <a:lnTo>
                  <a:pt x="687420" y="10086"/>
                </a:lnTo>
                <a:lnTo>
                  <a:pt x="677923" y="1549"/>
                </a:lnTo>
                <a:lnTo>
                  <a:pt x="6701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56732" y="3503676"/>
            <a:ext cx="1120140" cy="1120140"/>
          </a:xfrm>
          <a:custGeom>
            <a:avLst/>
            <a:gdLst/>
            <a:ahLst/>
            <a:cxnLst/>
            <a:rect l="l" t="t" r="r" b="b"/>
            <a:pathLst>
              <a:path w="1120140" h="1120139">
                <a:moveTo>
                  <a:pt x="560069" y="0"/>
                </a:moveTo>
                <a:lnTo>
                  <a:pt x="514128" y="1856"/>
                </a:lnTo>
                <a:lnTo>
                  <a:pt x="469210" y="7328"/>
                </a:lnTo>
                <a:lnTo>
                  <a:pt x="425461" y="16274"/>
                </a:lnTo>
                <a:lnTo>
                  <a:pt x="383023" y="28547"/>
                </a:lnTo>
                <a:lnTo>
                  <a:pt x="342042" y="44005"/>
                </a:lnTo>
                <a:lnTo>
                  <a:pt x="302661" y="62503"/>
                </a:lnTo>
                <a:lnTo>
                  <a:pt x="265025" y="83898"/>
                </a:lnTo>
                <a:lnTo>
                  <a:pt x="229276" y="108045"/>
                </a:lnTo>
                <a:lnTo>
                  <a:pt x="195560" y="134800"/>
                </a:lnTo>
                <a:lnTo>
                  <a:pt x="164020" y="164020"/>
                </a:lnTo>
                <a:lnTo>
                  <a:pt x="134800" y="195560"/>
                </a:lnTo>
                <a:lnTo>
                  <a:pt x="108045" y="229276"/>
                </a:lnTo>
                <a:lnTo>
                  <a:pt x="83898" y="265025"/>
                </a:lnTo>
                <a:lnTo>
                  <a:pt x="62503" y="302661"/>
                </a:lnTo>
                <a:lnTo>
                  <a:pt x="44005" y="342042"/>
                </a:lnTo>
                <a:lnTo>
                  <a:pt x="28547" y="383023"/>
                </a:lnTo>
                <a:lnTo>
                  <a:pt x="16274" y="425461"/>
                </a:lnTo>
                <a:lnTo>
                  <a:pt x="7328" y="469210"/>
                </a:lnTo>
                <a:lnTo>
                  <a:pt x="1856" y="514128"/>
                </a:lnTo>
                <a:lnTo>
                  <a:pt x="0" y="560069"/>
                </a:lnTo>
                <a:lnTo>
                  <a:pt x="1856" y="606011"/>
                </a:lnTo>
                <a:lnTo>
                  <a:pt x="7328" y="650929"/>
                </a:lnTo>
                <a:lnTo>
                  <a:pt x="16274" y="694678"/>
                </a:lnTo>
                <a:lnTo>
                  <a:pt x="28547" y="737116"/>
                </a:lnTo>
                <a:lnTo>
                  <a:pt x="44005" y="778097"/>
                </a:lnTo>
                <a:lnTo>
                  <a:pt x="62503" y="817478"/>
                </a:lnTo>
                <a:lnTo>
                  <a:pt x="83898" y="855114"/>
                </a:lnTo>
                <a:lnTo>
                  <a:pt x="108045" y="890863"/>
                </a:lnTo>
                <a:lnTo>
                  <a:pt x="134800" y="924579"/>
                </a:lnTo>
                <a:lnTo>
                  <a:pt x="164020" y="956119"/>
                </a:lnTo>
                <a:lnTo>
                  <a:pt x="195560" y="985339"/>
                </a:lnTo>
                <a:lnTo>
                  <a:pt x="229276" y="1012094"/>
                </a:lnTo>
                <a:lnTo>
                  <a:pt x="265025" y="1036241"/>
                </a:lnTo>
                <a:lnTo>
                  <a:pt x="302661" y="1057636"/>
                </a:lnTo>
                <a:lnTo>
                  <a:pt x="342042" y="1076134"/>
                </a:lnTo>
                <a:lnTo>
                  <a:pt x="383023" y="1091592"/>
                </a:lnTo>
                <a:lnTo>
                  <a:pt x="425461" y="1103865"/>
                </a:lnTo>
                <a:lnTo>
                  <a:pt x="469210" y="1112811"/>
                </a:lnTo>
                <a:lnTo>
                  <a:pt x="514128" y="1118283"/>
                </a:lnTo>
                <a:lnTo>
                  <a:pt x="560069" y="1120140"/>
                </a:lnTo>
                <a:lnTo>
                  <a:pt x="606011" y="1118283"/>
                </a:lnTo>
                <a:lnTo>
                  <a:pt x="650929" y="1112811"/>
                </a:lnTo>
                <a:lnTo>
                  <a:pt x="694678" y="1103865"/>
                </a:lnTo>
                <a:lnTo>
                  <a:pt x="737116" y="1091592"/>
                </a:lnTo>
                <a:lnTo>
                  <a:pt x="778097" y="1076134"/>
                </a:lnTo>
                <a:lnTo>
                  <a:pt x="817478" y="1057636"/>
                </a:lnTo>
                <a:lnTo>
                  <a:pt x="855114" y="1036241"/>
                </a:lnTo>
                <a:lnTo>
                  <a:pt x="890863" y="1012094"/>
                </a:lnTo>
                <a:lnTo>
                  <a:pt x="924579" y="985339"/>
                </a:lnTo>
                <a:lnTo>
                  <a:pt x="956119" y="956119"/>
                </a:lnTo>
                <a:lnTo>
                  <a:pt x="985339" y="924579"/>
                </a:lnTo>
                <a:lnTo>
                  <a:pt x="1012094" y="890863"/>
                </a:lnTo>
                <a:lnTo>
                  <a:pt x="1036241" y="855114"/>
                </a:lnTo>
                <a:lnTo>
                  <a:pt x="1057636" y="817478"/>
                </a:lnTo>
                <a:lnTo>
                  <a:pt x="1076134" y="778097"/>
                </a:lnTo>
                <a:lnTo>
                  <a:pt x="1091592" y="737116"/>
                </a:lnTo>
                <a:lnTo>
                  <a:pt x="1103865" y="694678"/>
                </a:lnTo>
                <a:lnTo>
                  <a:pt x="1112811" y="650929"/>
                </a:lnTo>
                <a:lnTo>
                  <a:pt x="1118283" y="606011"/>
                </a:lnTo>
                <a:lnTo>
                  <a:pt x="1120139" y="560069"/>
                </a:lnTo>
                <a:lnTo>
                  <a:pt x="1118283" y="514128"/>
                </a:lnTo>
                <a:lnTo>
                  <a:pt x="1112811" y="469210"/>
                </a:lnTo>
                <a:lnTo>
                  <a:pt x="1103865" y="425461"/>
                </a:lnTo>
                <a:lnTo>
                  <a:pt x="1091592" y="383023"/>
                </a:lnTo>
                <a:lnTo>
                  <a:pt x="1076134" y="342042"/>
                </a:lnTo>
                <a:lnTo>
                  <a:pt x="1057636" y="302661"/>
                </a:lnTo>
                <a:lnTo>
                  <a:pt x="1036241" y="265025"/>
                </a:lnTo>
                <a:lnTo>
                  <a:pt x="1012094" y="229276"/>
                </a:lnTo>
                <a:lnTo>
                  <a:pt x="985339" y="195560"/>
                </a:lnTo>
                <a:lnTo>
                  <a:pt x="956119" y="164020"/>
                </a:lnTo>
                <a:lnTo>
                  <a:pt x="924579" y="134800"/>
                </a:lnTo>
                <a:lnTo>
                  <a:pt x="890863" y="108045"/>
                </a:lnTo>
                <a:lnTo>
                  <a:pt x="855114" y="83898"/>
                </a:lnTo>
                <a:lnTo>
                  <a:pt x="817478" y="62503"/>
                </a:lnTo>
                <a:lnTo>
                  <a:pt x="778097" y="44005"/>
                </a:lnTo>
                <a:lnTo>
                  <a:pt x="737116" y="28547"/>
                </a:lnTo>
                <a:lnTo>
                  <a:pt x="694678" y="16274"/>
                </a:lnTo>
                <a:lnTo>
                  <a:pt x="650929" y="7328"/>
                </a:lnTo>
                <a:lnTo>
                  <a:pt x="606011" y="1856"/>
                </a:lnTo>
                <a:lnTo>
                  <a:pt x="560069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18798" y="3771900"/>
            <a:ext cx="802640" cy="502920"/>
          </a:xfrm>
          <a:custGeom>
            <a:avLst/>
            <a:gdLst/>
            <a:ahLst/>
            <a:cxnLst/>
            <a:rect l="l" t="t" r="r" b="b"/>
            <a:pathLst>
              <a:path w="802640" h="502920">
                <a:moveTo>
                  <a:pt x="450454" y="0"/>
                </a:moveTo>
                <a:lnTo>
                  <a:pt x="409448" y="4223"/>
                </a:lnTo>
                <a:lnTo>
                  <a:pt x="371337" y="16386"/>
                </a:lnTo>
                <a:lnTo>
                  <a:pt x="336994" y="35726"/>
                </a:lnTo>
                <a:lnTo>
                  <a:pt x="307289" y="61481"/>
                </a:lnTo>
                <a:lnTo>
                  <a:pt x="283093" y="92888"/>
                </a:lnTo>
                <a:lnTo>
                  <a:pt x="269116" y="98995"/>
                </a:lnTo>
                <a:lnTo>
                  <a:pt x="257875" y="99726"/>
                </a:lnTo>
                <a:lnTo>
                  <a:pt x="242549" y="100291"/>
                </a:lnTo>
                <a:lnTo>
                  <a:pt x="227830" y="102114"/>
                </a:lnTo>
                <a:lnTo>
                  <a:pt x="187635" y="114528"/>
                </a:lnTo>
                <a:lnTo>
                  <a:pt x="154050" y="136092"/>
                </a:lnTo>
                <a:lnTo>
                  <a:pt x="127932" y="165172"/>
                </a:lnTo>
                <a:lnTo>
                  <a:pt x="110139" y="200135"/>
                </a:lnTo>
                <a:lnTo>
                  <a:pt x="97432" y="205897"/>
                </a:lnTo>
                <a:lnTo>
                  <a:pt x="62836" y="227979"/>
                </a:lnTo>
                <a:lnTo>
                  <a:pt x="34415" y="256470"/>
                </a:lnTo>
                <a:lnTo>
                  <a:pt x="13581" y="290217"/>
                </a:lnTo>
                <a:lnTo>
                  <a:pt x="1720" y="328080"/>
                </a:lnTo>
                <a:lnTo>
                  <a:pt x="0" y="341420"/>
                </a:lnTo>
                <a:lnTo>
                  <a:pt x="574" y="357178"/>
                </a:lnTo>
                <a:lnTo>
                  <a:pt x="9786" y="401028"/>
                </a:lnTo>
                <a:lnTo>
                  <a:pt x="28979" y="438711"/>
                </a:lnTo>
                <a:lnTo>
                  <a:pt x="56540" y="468902"/>
                </a:lnTo>
                <a:lnTo>
                  <a:pt x="90855" y="490278"/>
                </a:lnTo>
                <a:lnTo>
                  <a:pt x="130313" y="501515"/>
                </a:lnTo>
                <a:lnTo>
                  <a:pt x="651178" y="502919"/>
                </a:lnTo>
                <a:lnTo>
                  <a:pt x="665976" y="502199"/>
                </a:lnTo>
                <a:lnTo>
                  <a:pt x="707697" y="491964"/>
                </a:lnTo>
                <a:lnTo>
                  <a:pt x="743998" y="471127"/>
                </a:lnTo>
                <a:lnTo>
                  <a:pt x="763346" y="453263"/>
                </a:lnTo>
                <a:lnTo>
                  <a:pt x="401051" y="453263"/>
                </a:lnTo>
                <a:lnTo>
                  <a:pt x="249680" y="251476"/>
                </a:lnTo>
                <a:lnTo>
                  <a:pt x="351648" y="251460"/>
                </a:lnTo>
                <a:lnTo>
                  <a:pt x="351648" y="99397"/>
                </a:lnTo>
                <a:lnTo>
                  <a:pt x="623473" y="99314"/>
                </a:lnTo>
                <a:lnTo>
                  <a:pt x="592567" y="58991"/>
                </a:lnTo>
                <a:lnTo>
                  <a:pt x="556380" y="30161"/>
                </a:lnTo>
                <a:lnTo>
                  <a:pt x="514057" y="10258"/>
                </a:lnTo>
                <a:lnTo>
                  <a:pt x="466971" y="666"/>
                </a:lnTo>
                <a:lnTo>
                  <a:pt x="450454" y="0"/>
                </a:lnTo>
                <a:close/>
              </a:path>
              <a:path w="802640" h="502920">
                <a:moveTo>
                  <a:pt x="623473" y="99314"/>
                </a:moveTo>
                <a:lnTo>
                  <a:pt x="450355" y="99314"/>
                </a:lnTo>
                <a:lnTo>
                  <a:pt x="450454" y="251376"/>
                </a:lnTo>
                <a:lnTo>
                  <a:pt x="552435" y="251459"/>
                </a:lnTo>
                <a:lnTo>
                  <a:pt x="401051" y="453263"/>
                </a:lnTo>
                <a:lnTo>
                  <a:pt x="763346" y="453263"/>
                </a:lnTo>
                <a:lnTo>
                  <a:pt x="764291" y="452303"/>
                </a:lnTo>
                <a:lnTo>
                  <a:pt x="787528" y="418105"/>
                </a:lnTo>
                <a:lnTo>
                  <a:pt x="800510" y="378474"/>
                </a:lnTo>
                <a:lnTo>
                  <a:pt x="802244" y="364392"/>
                </a:lnTo>
                <a:lnTo>
                  <a:pt x="801651" y="348506"/>
                </a:lnTo>
                <a:lnTo>
                  <a:pt x="792442" y="304366"/>
                </a:lnTo>
                <a:lnTo>
                  <a:pt x="773327" y="266497"/>
                </a:lnTo>
                <a:lnTo>
                  <a:pt x="745900" y="236179"/>
                </a:lnTo>
                <a:lnTo>
                  <a:pt x="711755" y="214688"/>
                </a:lnTo>
                <a:lnTo>
                  <a:pt x="672484" y="203305"/>
                </a:lnTo>
                <a:lnTo>
                  <a:pt x="651241" y="201802"/>
                </a:lnTo>
                <a:lnTo>
                  <a:pt x="650578" y="185210"/>
                </a:lnTo>
                <a:lnTo>
                  <a:pt x="641040" y="137899"/>
                </a:lnTo>
                <a:lnTo>
                  <a:pt x="628898" y="108927"/>
                </a:lnTo>
                <a:lnTo>
                  <a:pt x="623473" y="99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60535" y="787908"/>
            <a:ext cx="1120140" cy="1120140"/>
          </a:xfrm>
          <a:custGeom>
            <a:avLst/>
            <a:gdLst/>
            <a:ahLst/>
            <a:cxnLst/>
            <a:rect l="l" t="t" r="r" b="b"/>
            <a:pathLst>
              <a:path w="1120140" h="1120139">
                <a:moveTo>
                  <a:pt x="560070" y="0"/>
                </a:moveTo>
                <a:lnTo>
                  <a:pt x="514128" y="1856"/>
                </a:lnTo>
                <a:lnTo>
                  <a:pt x="469210" y="7328"/>
                </a:lnTo>
                <a:lnTo>
                  <a:pt x="425461" y="16274"/>
                </a:lnTo>
                <a:lnTo>
                  <a:pt x="383023" y="28547"/>
                </a:lnTo>
                <a:lnTo>
                  <a:pt x="342042" y="44005"/>
                </a:lnTo>
                <a:lnTo>
                  <a:pt x="302661" y="62503"/>
                </a:lnTo>
                <a:lnTo>
                  <a:pt x="265025" y="83898"/>
                </a:lnTo>
                <a:lnTo>
                  <a:pt x="229276" y="108045"/>
                </a:lnTo>
                <a:lnTo>
                  <a:pt x="195560" y="134800"/>
                </a:lnTo>
                <a:lnTo>
                  <a:pt x="164020" y="164020"/>
                </a:lnTo>
                <a:lnTo>
                  <a:pt x="134800" y="195560"/>
                </a:lnTo>
                <a:lnTo>
                  <a:pt x="108045" y="229276"/>
                </a:lnTo>
                <a:lnTo>
                  <a:pt x="83898" y="265025"/>
                </a:lnTo>
                <a:lnTo>
                  <a:pt x="62503" y="302661"/>
                </a:lnTo>
                <a:lnTo>
                  <a:pt x="44005" y="342042"/>
                </a:lnTo>
                <a:lnTo>
                  <a:pt x="28547" y="383023"/>
                </a:lnTo>
                <a:lnTo>
                  <a:pt x="16274" y="425461"/>
                </a:lnTo>
                <a:lnTo>
                  <a:pt x="7328" y="469210"/>
                </a:lnTo>
                <a:lnTo>
                  <a:pt x="1856" y="514128"/>
                </a:lnTo>
                <a:lnTo>
                  <a:pt x="0" y="560069"/>
                </a:lnTo>
                <a:lnTo>
                  <a:pt x="1856" y="606011"/>
                </a:lnTo>
                <a:lnTo>
                  <a:pt x="7328" y="650929"/>
                </a:lnTo>
                <a:lnTo>
                  <a:pt x="16274" y="694678"/>
                </a:lnTo>
                <a:lnTo>
                  <a:pt x="28547" y="737116"/>
                </a:lnTo>
                <a:lnTo>
                  <a:pt x="44005" y="778097"/>
                </a:lnTo>
                <a:lnTo>
                  <a:pt x="62503" y="817478"/>
                </a:lnTo>
                <a:lnTo>
                  <a:pt x="83898" y="855114"/>
                </a:lnTo>
                <a:lnTo>
                  <a:pt x="108045" y="890863"/>
                </a:lnTo>
                <a:lnTo>
                  <a:pt x="134800" y="924579"/>
                </a:lnTo>
                <a:lnTo>
                  <a:pt x="164020" y="956119"/>
                </a:lnTo>
                <a:lnTo>
                  <a:pt x="195560" y="985339"/>
                </a:lnTo>
                <a:lnTo>
                  <a:pt x="229276" y="1012094"/>
                </a:lnTo>
                <a:lnTo>
                  <a:pt x="265025" y="1036241"/>
                </a:lnTo>
                <a:lnTo>
                  <a:pt x="302661" y="1057636"/>
                </a:lnTo>
                <a:lnTo>
                  <a:pt x="342042" y="1076134"/>
                </a:lnTo>
                <a:lnTo>
                  <a:pt x="383023" y="1091592"/>
                </a:lnTo>
                <a:lnTo>
                  <a:pt x="425461" y="1103865"/>
                </a:lnTo>
                <a:lnTo>
                  <a:pt x="469210" y="1112811"/>
                </a:lnTo>
                <a:lnTo>
                  <a:pt x="514128" y="1118283"/>
                </a:lnTo>
                <a:lnTo>
                  <a:pt x="560070" y="1120139"/>
                </a:lnTo>
                <a:lnTo>
                  <a:pt x="606011" y="1118283"/>
                </a:lnTo>
                <a:lnTo>
                  <a:pt x="650929" y="1112811"/>
                </a:lnTo>
                <a:lnTo>
                  <a:pt x="694678" y="1103865"/>
                </a:lnTo>
                <a:lnTo>
                  <a:pt x="737116" y="1091592"/>
                </a:lnTo>
                <a:lnTo>
                  <a:pt x="778097" y="1076134"/>
                </a:lnTo>
                <a:lnTo>
                  <a:pt x="817478" y="1057636"/>
                </a:lnTo>
                <a:lnTo>
                  <a:pt x="855114" y="1036241"/>
                </a:lnTo>
                <a:lnTo>
                  <a:pt x="890863" y="1012094"/>
                </a:lnTo>
                <a:lnTo>
                  <a:pt x="924579" y="985339"/>
                </a:lnTo>
                <a:lnTo>
                  <a:pt x="956119" y="956119"/>
                </a:lnTo>
                <a:lnTo>
                  <a:pt x="985339" y="924579"/>
                </a:lnTo>
                <a:lnTo>
                  <a:pt x="1012094" y="890863"/>
                </a:lnTo>
                <a:lnTo>
                  <a:pt x="1036241" y="855114"/>
                </a:lnTo>
                <a:lnTo>
                  <a:pt x="1057636" y="817478"/>
                </a:lnTo>
                <a:lnTo>
                  <a:pt x="1076134" y="778097"/>
                </a:lnTo>
                <a:lnTo>
                  <a:pt x="1091592" y="737116"/>
                </a:lnTo>
                <a:lnTo>
                  <a:pt x="1103865" y="694678"/>
                </a:lnTo>
                <a:lnTo>
                  <a:pt x="1112811" y="650929"/>
                </a:lnTo>
                <a:lnTo>
                  <a:pt x="1118283" y="606011"/>
                </a:lnTo>
                <a:lnTo>
                  <a:pt x="1120140" y="560069"/>
                </a:lnTo>
                <a:lnTo>
                  <a:pt x="1118283" y="514128"/>
                </a:lnTo>
                <a:lnTo>
                  <a:pt x="1112811" y="469210"/>
                </a:lnTo>
                <a:lnTo>
                  <a:pt x="1103865" y="425461"/>
                </a:lnTo>
                <a:lnTo>
                  <a:pt x="1091592" y="383023"/>
                </a:lnTo>
                <a:lnTo>
                  <a:pt x="1076134" y="342042"/>
                </a:lnTo>
                <a:lnTo>
                  <a:pt x="1057636" y="302661"/>
                </a:lnTo>
                <a:lnTo>
                  <a:pt x="1036241" y="265025"/>
                </a:lnTo>
                <a:lnTo>
                  <a:pt x="1012094" y="229276"/>
                </a:lnTo>
                <a:lnTo>
                  <a:pt x="985339" y="195560"/>
                </a:lnTo>
                <a:lnTo>
                  <a:pt x="956119" y="164020"/>
                </a:lnTo>
                <a:lnTo>
                  <a:pt x="924579" y="134800"/>
                </a:lnTo>
                <a:lnTo>
                  <a:pt x="890863" y="108045"/>
                </a:lnTo>
                <a:lnTo>
                  <a:pt x="855114" y="83898"/>
                </a:lnTo>
                <a:lnTo>
                  <a:pt x="817478" y="62503"/>
                </a:lnTo>
                <a:lnTo>
                  <a:pt x="778097" y="44005"/>
                </a:lnTo>
                <a:lnTo>
                  <a:pt x="737116" y="28547"/>
                </a:lnTo>
                <a:lnTo>
                  <a:pt x="694678" y="16274"/>
                </a:lnTo>
                <a:lnTo>
                  <a:pt x="650929" y="7328"/>
                </a:lnTo>
                <a:lnTo>
                  <a:pt x="606011" y="1856"/>
                </a:lnTo>
                <a:lnTo>
                  <a:pt x="56007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80780" y="1418925"/>
            <a:ext cx="175895" cy="184785"/>
          </a:xfrm>
          <a:custGeom>
            <a:avLst/>
            <a:gdLst/>
            <a:ahLst/>
            <a:cxnLst/>
            <a:rect l="l" t="t" r="r" b="b"/>
            <a:pathLst>
              <a:path w="175895" h="184784">
                <a:moveTo>
                  <a:pt x="53448" y="0"/>
                </a:moveTo>
                <a:lnTo>
                  <a:pt x="29739" y="30028"/>
                </a:lnTo>
                <a:lnTo>
                  <a:pt x="0" y="54479"/>
                </a:lnTo>
                <a:lnTo>
                  <a:pt x="99397" y="170907"/>
                </a:lnTo>
                <a:lnTo>
                  <a:pt x="109532" y="178625"/>
                </a:lnTo>
                <a:lnTo>
                  <a:pt x="120865" y="183118"/>
                </a:lnTo>
                <a:lnTo>
                  <a:pt x="132758" y="184389"/>
                </a:lnTo>
                <a:lnTo>
                  <a:pt x="144577" y="182441"/>
                </a:lnTo>
                <a:lnTo>
                  <a:pt x="172337" y="154241"/>
                </a:lnTo>
                <a:lnTo>
                  <a:pt x="175741" y="131484"/>
                </a:lnTo>
                <a:lnTo>
                  <a:pt x="172902" y="120984"/>
                </a:lnTo>
                <a:lnTo>
                  <a:pt x="167261" y="111483"/>
                </a:lnTo>
                <a:lnTo>
                  <a:pt x="163473" y="107233"/>
                </a:lnTo>
                <a:lnTo>
                  <a:pt x="5344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79052" y="1126645"/>
            <a:ext cx="356870" cy="357505"/>
          </a:xfrm>
          <a:custGeom>
            <a:avLst/>
            <a:gdLst/>
            <a:ahLst/>
            <a:cxnLst/>
            <a:rect l="l" t="t" r="r" b="b"/>
            <a:pathLst>
              <a:path w="356870" h="357505">
                <a:moveTo>
                  <a:pt x="191692" y="0"/>
                </a:moveTo>
                <a:lnTo>
                  <a:pt x="143571" y="4993"/>
                </a:lnTo>
                <a:lnTo>
                  <a:pt x="100810" y="19543"/>
                </a:lnTo>
                <a:lnTo>
                  <a:pt x="64359" y="42454"/>
                </a:lnTo>
                <a:lnTo>
                  <a:pt x="35164" y="72530"/>
                </a:lnTo>
                <a:lnTo>
                  <a:pt x="14175" y="108574"/>
                </a:lnTo>
                <a:lnTo>
                  <a:pt x="2338" y="149389"/>
                </a:lnTo>
                <a:lnTo>
                  <a:pt x="0" y="178660"/>
                </a:lnTo>
                <a:lnTo>
                  <a:pt x="590" y="193133"/>
                </a:lnTo>
                <a:lnTo>
                  <a:pt x="9096" y="234673"/>
                </a:lnTo>
                <a:lnTo>
                  <a:pt x="26770" y="272342"/>
                </a:lnTo>
                <a:lnTo>
                  <a:pt x="52412" y="304781"/>
                </a:lnTo>
                <a:lnTo>
                  <a:pt x="84825" y="330635"/>
                </a:lnTo>
                <a:lnTo>
                  <a:pt x="122809" y="348546"/>
                </a:lnTo>
                <a:lnTo>
                  <a:pt x="165165" y="357159"/>
                </a:lnTo>
                <a:lnTo>
                  <a:pt x="181708" y="356634"/>
                </a:lnTo>
                <a:lnTo>
                  <a:pt x="228064" y="348141"/>
                </a:lnTo>
                <a:lnTo>
                  <a:pt x="268769" y="330328"/>
                </a:lnTo>
                <a:lnTo>
                  <a:pt x="294907" y="311629"/>
                </a:lnTo>
                <a:lnTo>
                  <a:pt x="179577" y="311629"/>
                </a:lnTo>
                <a:lnTo>
                  <a:pt x="164857" y="310855"/>
                </a:lnTo>
                <a:lnTo>
                  <a:pt x="123624" y="299874"/>
                </a:lnTo>
                <a:lnTo>
                  <a:pt x="88614" y="277530"/>
                </a:lnTo>
                <a:lnTo>
                  <a:pt x="62179" y="245919"/>
                </a:lnTo>
                <a:lnTo>
                  <a:pt x="46669" y="207133"/>
                </a:lnTo>
                <a:lnTo>
                  <a:pt x="44334" y="192973"/>
                </a:lnTo>
                <a:lnTo>
                  <a:pt x="44909" y="176689"/>
                </a:lnTo>
                <a:lnTo>
                  <a:pt x="54697" y="132153"/>
                </a:lnTo>
                <a:lnTo>
                  <a:pt x="75050" y="95151"/>
                </a:lnTo>
                <a:lnTo>
                  <a:pt x="104000" y="67050"/>
                </a:lnTo>
                <a:lnTo>
                  <a:pt x="139583" y="49219"/>
                </a:lnTo>
                <a:lnTo>
                  <a:pt x="166019" y="43712"/>
                </a:lnTo>
                <a:lnTo>
                  <a:pt x="296068" y="43712"/>
                </a:lnTo>
                <a:lnTo>
                  <a:pt x="293703" y="41537"/>
                </a:lnTo>
                <a:lnTo>
                  <a:pt x="259345" y="18637"/>
                </a:lnTo>
                <a:lnTo>
                  <a:pt x="220028" y="4254"/>
                </a:lnTo>
                <a:lnTo>
                  <a:pt x="206041" y="1564"/>
                </a:lnTo>
                <a:lnTo>
                  <a:pt x="191692" y="0"/>
                </a:lnTo>
                <a:close/>
              </a:path>
              <a:path w="356870" h="357505">
                <a:moveTo>
                  <a:pt x="296068" y="43712"/>
                </a:moveTo>
                <a:lnTo>
                  <a:pt x="166019" y="43712"/>
                </a:lnTo>
                <a:lnTo>
                  <a:pt x="181957" y="44316"/>
                </a:lnTo>
                <a:lnTo>
                  <a:pt x="197264" y="46342"/>
                </a:lnTo>
                <a:lnTo>
                  <a:pt x="238821" y="60189"/>
                </a:lnTo>
                <a:lnTo>
                  <a:pt x="272621" y="84108"/>
                </a:lnTo>
                <a:lnTo>
                  <a:pt x="297112" y="116064"/>
                </a:lnTo>
                <a:lnTo>
                  <a:pt x="310739" y="154020"/>
                </a:lnTo>
                <a:lnTo>
                  <a:pt x="312599" y="167654"/>
                </a:lnTo>
                <a:lnTo>
                  <a:pt x="311925" y="183818"/>
                </a:lnTo>
                <a:lnTo>
                  <a:pt x="301421" y="227826"/>
                </a:lnTo>
                <a:lnTo>
                  <a:pt x="279952" y="264007"/>
                </a:lnTo>
                <a:lnTo>
                  <a:pt x="249778" y="290945"/>
                </a:lnTo>
                <a:lnTo>
                  <a:pt x="213157" y="307225"/>
                </a:lnTo>
                <a:lnTo>
                  <a:pt x="179577" y="311629"/>
                </a:lnTo>
                <a:lnTo>
                  <a:pt x="294907" y="311629"/>
                </a:lnTo>
                <a:lnTo>
                  <a:pt x="321466" y="283627"/>
                </a:lnTo>
                <a:lnTo>
                  <a:pt x="342444" y="247618"/>
                </a:lnTo>
                <a:lnTo>
                  <a:pt x="354296" y="207133"/>
                </a:lnTo>
                <a:lnTo>
                  <a:pt x="356616" y="178660"/>
                </a:lnTo>
                <a:lnTo>
                  <a:pt x="356017" y="163721"/>
                </a:lnTo>
                <a:lnTo>
                  <a:pt x="347413" y="121239"/>
                </a:lnTo>
                <a:lnTo>
                  <a:pt x="329593" y="83210"/>
                </a:lnTo>
                <a:lnTo>
                  <a:pt x="303833" y="50852"/>
                </a:lnTo>
                <a:lnTo>
                  <a:pt x="296068" y="4371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53728" y="1201124"/>
            <a:ext cx="106680" cy="105410"/>
          </a:xfrm>
          <a:custGeom>
            <a:avLst/>
            <a:gdLst/>
            <a:ahLst/>
            <a:cxnLst/>
            <a:rect l="l" t="t" r="r" b="b"/>
            <a:pathLst>
              <a:path w="106679" h="105409">
                <a:moveTo>
                  <a:pt x="106643" y="0"/>
                </a:moveTo>
                <a:lnTo>
                  <a:pt x="64126" y="8282"/>
                </a:lnTo>
                <a:lnTo>
                  <a:pt x="29957" y="31238"/>
                </a:lnTo>
                <a:lnTo>
                  <a:pt x="7480" y="65546"/>
                </a:lnTo>
                <a:lnTo>
                  <a:pt x="0" y="104943"/>
                </a:lnTo>
                <a:lnTo>
                  <a:pt x="31037" y="104943"/>
                </a:lnTo>
                <a:lnTo>
                  <a:pt x="32509" y="90587"/>
                </a:lnTo>
                <a:lnTo>
                  <a:pt x="36603" y="77150"/>
                </a:lnTo>
                <a:lnTo>
                  <a:pt x="61968" y="45012"/>
                </a:lnTo>
                <a:lnTo>
                  <a:pt x="101407" y="30701"/>
                </a:lnTo>
                <a:lnTo>
                  <a:pt x="1066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860535" y="3503676"/>
            <a:ext cx="1120140" cy="1120140"/>
          </a:xfrm>
          <a:custGeom>
            <a:avLst/>
            <a:gdLst/>
            <a:ahLst/>
            <a:cxnLst/>
            <a:rect l="l" t="t" r="r" b="b"/>
            <a:pathLst>
              <a:path w="1120140" h="1120139">
                <a:moveTo>
                  <a:pt x="560070" y="0"/>
                </a:moveTo>
                <a:lnTo>
                  <a:pt x="514128" y="1856"/>
                </a:lnTo>
                <a:lnTo>
                  <a:pt x="469210" y="7328"/>
                </a:lnTo>
                <a:lnTo>
                  <a:pt x="425461" y="16274"/>
                </a:lnTo>
                <a:lnTo>
                  <a:pt x="383023" y="28547"/>
                </a:lnTo>
                <a:lnTo>
                  <a:pt x="342042" y="44005"/>
                </a:lnTo>
                <a:lnTo>
                  <a:pt x="302661" y="62503"/>
                </a:lnTo>
                <a:lnTo>
                  <a:pt x="265025" y="83898"/>
                </a:lnTo>
                <a:lnTo>
                  <a:pt x="229276" y="108045"/>
                </a:lnTo>
                <a:lnTo>
                  <a:pt x="195560" y="134800"/>
                </a:lnTo>
                <a:lnTo>
                  <a:pt x="164020" y="164020"/>
                </a:lnTo>
                <a:lnTo>
                  <a:pt x="134800" y="195560"/>
                </a:lnTo>
                <a:lnTo>
                  <a:pt x="108045" y="229276"/>
                </a:lnTo>
                <a:lnTo>
                  <a:pt x="83898" y="265025"/>
                </a:lnTo>
                <a:lnTo>
                  <a:pt x="62503" y="302661"/>
                </a:lnTo>
                <a:lnTo>
                  <a:pt x="44005" y="342042"/>
                </a:lnTo>
                <a:lnTo>
                  <a:pt x="28547" y="383023"/>
                </a:lnTo>
                <a:lnTo>
                  <a:pt x="16274" y="425461"/>
                </a:lnTo>
                <a:lnTo>
                  <a:pt x="7328" y="469210"/>
                </a:lnTo>
                <a:lnTo>
                  <a:pt x="1856" y="514128"/>
                </a:lnTo>
                <a:lnTo>
                  <a:pt x="0" y="560069"/>
                </a:lnTo>
                <a:lnTo>
                  <a:pt x="1856" y="606011"/>
                </a:lnTo>
                <a:lnTo>
                  <a:pt x="7328" y="650929"/>
                </a:lnTo>
                <a:lnTo>
                  <a:pt x="16274" y="694678"/>
                </a:lnTo>
                <a:lnTo>
                  <a:pt x="28547" y="737116"/>
                </a:lnTo>
                <a:lnTo>
                  <a:pt x="44005" y="778097"/>
                </a:lnTo>
                <a:lnTo>
                  <a:pt x="62503" y="817478"/>
                </a:lnTo>
                <a:lnTo>
                  <a:pt x="83898" y="855114"/>
                </a:lnTo>
                <a:lnTo>
                  <a:pt x="108045" y="890863"/>
                </a:lnTo>
                <a:lnTo>
                  <a:pt x="134800" y="924579"/>
                </a:lnTo>
                <a:lnTo>
                  <a:pt x="164020" y="956119"/>
                </a:lnTo>
                <a:lnTo>
                  <a:pt x="195560" y="985339"/>
                </a:lnTo>
                <a:lnTo>
                  <a:pt x="229276" y="1012094"/>
                </a:lnTo>
                <a:lnTo>
                  <a:pt x="265025" y="1036241"/>
                </a:lnTo>
                <a:lnTo>
                  <a:pt x="302661" y="1057636"/>
                </a:lnTo>
                <a:lnTo>
                  <a:pt x="342042" y="1076134"/>
                </a:lnTo>
                <a:lnTo>
                  <a:pt x="383023" y="1091592"/>
                </a:lnTo>
                <a:lnTo>
                  <a:pt x="425461" y="1103865"/>
                </a:lnTo>
                <a:lnTo>
                  <a:pt x="469210" y="1112811"/>
                </a:lnTo>
                <a:lnTo>
                  <a:pt x="514128" y="1118283"/>
                </a:lnTo>
                <a:lnTo>
                  <a:pt x="560070" y="1120140"/>
                </a:lnTo>
                <a:lnTo>
                  <a:pt x="606011" y="1118283"/>
                </a:lnTo>
                <a:lnTo>
                  <a:pt x="650929" y="1112811"/>
                </a:lnTo>
                <a:lnTo>
                  <a:pt x="694678" y="1103865"/>
                </a:lnTo>
                <a:lnTo>
                  <a:pt x="737116" y="1091592"/>
                </a:lnTo>
                <a:lnTo>
                  <a:pt x="778097" y="1076134"/>
                </a:lnTo>
                <a:lnTo>
                  <a:pt x="817478" y="1057636"/>
                </a:lnTo>
                <a:lnTo>
                  <a:pt x="855114" y="1036241"/>
                </a:lnTo>
                <a:lnTo>
                  <a:pt x="890863" y="1012094"/>
                </a:lnTo>
                <a:lnTo>
                  <a:pt x="924579" y="985339"/>
                </a:lnTo>
                <a:lnTo>
                  <a:pt x="956119" y="956119"/>
                </a:lnTo>
                <a:lnTo>
                  <a:pt x="985339" y="924579"/>
                </a:lnTo>
                <a:lnTo>
                  <a:pt x="1012094" y="890863"/>
                </a:lnTo>
                <a:lnTo>
                  <a:pt x="1036241" y="855114"/>
                </a:lnTo>
                <a:lnTo>
                  <a:pt x="1057636" y="817478"/>
                </a:lnTo>
                <a:lnTo>
                  <a:pt x="1076134" y="778097"/>
                </a:lnTo>
                <a:lnTo>
                  <a:pt x="1091592" y="737116"/>
                </a:lnTo>
                <a:lnTo>
                  <a:pt x="1103865" y="694678"/>
                </a:lnTo>
                <a:lnTo>
                  <a:pt x="1112811" y="650929"/>
                </a:lnTo>
                <a:lnTo>
                  <a:pt x="1118283" y="606011"/>
                </a:lnTo>
                <a:lnTo>
                  <a:pt x="1120140" y="560069"/>
                </a:lnTo>
                <a:lnTo>
                  <a:pt x="1118283" y="514128"/>
                </a:lnTo>
                <a:lnTo>
                  <a:pt x="1112811" y="469210"/>
                </a:lnTo>
                <a:lnTo>
                  <a:pt x="1103865" y="425461"/>
                </a:lnTo>
                <a:lnTo>
                  <a:pt x="1091592" y="383023"/>
                </a:lnTo>
                <a:lnTo>
                  <a:pt x="1076134" y="342042"/>
                </a:lnTo>
                <a:lnTo>
                  <a:pt x="1057636" y="302661"/>
                </a:lnTo>
                <a:lnTo>
                  <a:pt x="1036241" y="265025"/>
                </a:lnTo>
                <a:lnTo>
                  <a:pt x="1012094" y="229276"/>
                </a:lnTo>
                <a:lnTo>
                  <a:pt x="985339" y="195560"/>
                </a:lnTo>
                <a:lnTo>
                  <a:pt x="956119" y="164020"/>
                </a:lnTo>
                <a:lnTo>
                  <a:pt x="924579" y="134800"/>
                </a:lnTo>
                <a:lnTo>
                  <a:pt x="890863" y="108045"/>
                </a:lnTo>
                <a:lnTo>
                  <a:pt x="855114" y="83898"/>
                </a:lnTo>
                <a:lnTo>
                  <a:pt x="817478" y="62503"/>
                </a:lnTo>
                <a:lnTo>
                  <a:pt x="778097" y="44005"/>
                </a:lnTo>
                <a:lnTo>
                  <a:pt x="737116" y="28547"/>
                </a:lnTo>
                <a:lnTo>
                  <a:pt x="694678" y="16274"/>
                </a:lnTo>
                <a:lnTo>
                  <a:pt x="650929" y="7328"/>
                </a:lnTo>
                <a:lnTo>
                  <a:pt x="606011" y="1856"/>
                </a:lnTo>
                <a:lnTo>
                  <a:pt x="56007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72956" y="3739896"/>
            <a:ext cx="544195" cy="593090"/>
          </a:xfrm>
          <a:custGeom>
            <a:avLst/>
            <a:gdLst/>
            <a:ahLst/>
            <a:cxnLst/>
            <a:rect l="l" t="t" r="r" b="b"/>
            <a:pathLst>
              <a:path w="544195" h="593089">
                <a:moveTo>
                  <a:pt x="272033" y="0"/>
                </a:moveTo>
                <a:lnTo>
                  <a:pt x="224741" y="4671"/>
                </a:lnTo>
                <a:lnTo>
                  <a:pt x="181708" y="17962"/>
                </a:lnTo>
                <a:lnTo>
                  <a:pt x="144253" y="38790"/>
                </a:lnTo>
                <a:lnTo>
                  <a:pt x="113707" y="66069"/>
                </a:lnTo>
                <a:lnTo>
                  <a:pt x="91474" y="98567"/>
                </a:lnTo>
                <a:lnTo>
                  <a:pt x="78735" y="135374"/>
                </a:lnTo>
                <a:lnTo>
                  <a:pt x="76202" y="224187"/>
                </a:lnTo>
                <a:lnTo>
                  <a:pt x="62160" y="229414"/>
                </a:lnTo>
                <a:lnTo>
                  <a:pt x="26626" y="252188"/>
                </a:lnTo>
                <a:lnTo>
                  <a:pt x="4699" y="284095"/>
                </a:lnTo>
                <a:lnTo>
                  <a:pt x="0" y="502942"/>
                </a:lnTo>
                <a:lnTo>
                  <a:pt x="1162" y="516060"/>
                </a:lnTo>
                <a:lnTo>
                  <a:pt x="17264" y="551390"/>
                </a:lnTo>
                <a:lnTo>
                  <a:pt x="48780" y="577815"/>
                </a:lnTo>
                <a:lnTo>
                  <a:pt x="91199" y="591648"/>
                </a:lnTo>
                <a:lnTo>
                  <a:pt x="435187" y="592835"/>
                </a:lnTo>
                <a:lnTo>
                  <a:pt x="451056" y="591877"/>
                </a:lnTo>
                <a:lnTo>
                  <a:pt x="493834" y="578600"/>
                </a:lnTo>
                <a:lnTo>
                  <a:pt x="525862" y="552600"/>
                </a:lnTo>
                <a:lnTo>
                  <a:pt x="542632" y="517580"/>
                </a:lnTo>
                <a:lnTo>
                  <a:pt x="542749" y="516508"/>
                </a:lnTo>
                <a:lnTo>
                  <a:pt x="272033" y="516508"/>
                </a:lnTo>
                <a:lnTo>
                  <a:pt x="255843" y="515753"/>
                </a:lnTo>
                <a:lnTo>
                  <a:pt x="211304" y="505071"/>
                </a:lnTo>
                <a:lnTo>
                  <a:pt x="174855" y="483454"/>
                </a:lnTo>
                <a:lnTo>
                  <a:pt x="149123" y="453077"/>
                </a:lnTo>
                <a:lnTo>
                  <a:pt x="136737" y="416113"/>
                </a:lnTo>
                <a:lnTo>
                  <a:pt x="137408" y="402693"/>
                </a:lnTo>
                <a:lnTo>
                  <a:pt x="149360" y="362684"/>
                </a:lnTo>
                <a:lnTo>
                  <a:pt x="173973" y="331288"/>
                </a:lnTo>
                <a:lnTo>
                  <a:pt x="208855" y="309080"/>
                </a:lnTo>
                <a:lnTo>
                  <a:pt x="251565" y="297636"/>
                </a:lnTo>
                <a:lnTo>
                  <a:pt x="267119" y="296486"/>
                </a:lnTo>
                <a:lnTo>
                  <a:pt x="542787" y="296486"/>
                </a:lnTo>
                <a:lnTo>
                  <a:pt x="539487" y="284476"/>
                </a:lnTo>
                <a:lnTo>
                  <a:pt x="517659" y="252463"/>
                </a:lnTo>
                <a:lnTo>
                  <a:pt x="482150" y="229762"/>
                </a:lnTo>
                <a:lnTo>
                  <a:pt x="467867" y="224535"/>
                </a:lnTo>
                <a:lnTo>
                  <a:pt x="467867" y="220091"/>
                </a:lnTo>
                <a:lnTo>
                  <a:pt x="130591" y="220091"/>
                </a:lnTo>
                <a:lnTo>
                  <a:pt x="130556" y="161800"/>
                </a:lnTo>
                <a:lnTo>
                  <a:pt x="138753" y="124100"/>
                </a:lnTo>
                <a:lnTo>
                  <a:pt x="161307" y="92040"/>
                </a:lnTo>
                <a:lnTo>
                  <a:pt x="195159" y="67635"/>
                </a:lnTo>
                <a:lnTo>
                  <a:pt x="237253" y="52898"/>
                </a:lnTo>
                <a:lnTo>
                  <a:pt x="268384" y="49440"/>
                </a:lnTo>
                <a:lnTo>
                  <a:pt x="413250" y="49440"/>
                </a:lnTo>
                <a:lnTo>
                  <a:pt x="410717" y="47183"/>
                </a:lnTo>
                <a:lnTo>
                  <a:pt x="375474" y="24112"/>
                </a:lnTo>
                <a:lnTo>
                  <a:pt x="334194" y="8197"/>
                </a:lnTo>
                <a:lnTo>
                  <a:pt x="288187" y="532"/>
                </a:lnTo>
                <a:lnTo>
                  <a:pt x="272033" y="0"/>
                </a:lnTo>
                <a:close/>
              </a:path>
              <a:path w="544195" h="593089">
                <a:moveTo>
                  <a:pt x="542787" y="296486"/>
                </a:moveTo>
                <a:lnTo>
                  <a:pt x="267119" y="296486"/>
                </a:lnTo>
                <a:lnTo>
                  <a:pt x="284190" y="297217"/>
                </a:lnTo>
                <a:lnTo>
                  <a:pt x="300522" y="299378"/>
                </a:lnTo>
                <a:lnTo>
                  <a:pt x="344237" y="313557"/>
                </a:lnTo>
                <a:lnTo>
                  <a:pt x="378255" y="337412"/>
                </a:lnTo>
                <a:lnTo>
                  <a:pt x="400288" y="368543"/>
                </a:lnTo>
                <a:lnTo>
                  <a:pt x="407189" y="392152"/>
                </a:lnTo>
                <a:lnTo>
                  <a:pt x="406523" y="407225"/>
                </a:lnTo>
                <a:lnTo>
                  <a:pt x="395081" y="447642"/>
                </a:lnTo>
                <a:lnTo>
                  <a:pt x="371286" y="479883"/>
                </a:lnTo>
                <a:lnTo>
                  <a:pt x="337461" y="502697"/>
                </a:lnTo>
                <a:lnTo>
                  <a:pt x="295929" y="514833"/>
                </a:lnTo>
                <a:lnTo>
                  <a:pt x="272033" y="516508"/>
                </a:lnTo>
                <a:lnTo>
                  <a:pt x="542749" y="516508"/>
                </a:lnTo>
                <a:lnTo>
                  <a:pt x="543995" y="505071"/>
                </a:lnTo>
                <a:lnTo>
                  <a:pt x="543985" y="309080"/>
                </a:lnTo>
                <a:lnTo>
                  <a:pt x="542893" y="296871"/>
                </a:lnTo>
                <a:lnTo>
                  <a:pt x="542787" y="296486"/>
                </a:lnTo>
                <a:close/>
              </a:path>
              <a:path w="544195" h="593089">
                <a:moveTo>
                  <a:pt x="272033" y="314324"/>
                </a:moveTo>
                <a:lnTo>
                  <a:pt x="226714" y="322555"/>
                </a:lnTo>
                <a:lnTo>
                  <a:pt x="190621" y="344760"/>
                </a:lnTo>
                <a:lnTo>
                  <a:pt x="168261" y="377210"/>
                </a:lnTo>
                <a:lnTo>
                  <a:pt x="163211" y="402693"/>
                </a:lnTo>
                <a:lnTo>
                  <a:pt x="164309" y="416887"/>
                </a:lnTo>
                <a:lnTo>
                  <a:pt x="179607" y="454299"/>
                </a:lnTo>
                <a:lnTo>
                  <a:pt x="209670" y="481810"/>
                </a:lnTo>
                <a:lnTo>
                  <a:pt x="250335" y="496657"/>
                </a:lnTo>
                <a:lnTo>
                  <a:pt x="265526" y="498314"/>
                </a:lnTo>
                <a:lnTo>
                  <a:pt x="282083" y="497489"/>
                </a:lnTo>
                <a:lnTo>
                  <a:pt x="326056" y="485420"/>
                </a:lnTo>
                <a:lnTo>
                  <a:pt x="347870" y="471550"/>
                </a:lnTo>
                <a:lnTo>
                  <a:pt x="261111" y="471550"/>
                </a:lnTo>
                <a:lnTo>
                  <a:pt x="255650" y="467105"/>
                </a:lnTo>
                <a:lnTo>
                  <a:pt x="255639" y="417702"/>
                </a:lnTo>
                <a:lnTo>
                  <a:pt x="243943" y="410293"/>
                </a:lnTo>
                <a:lnTo>
                  <a:pt x="233639" y="401283"/>
                </a:lnTo>
                <a:lnTo>
                  <a:pt x="226186" y="390679"/>
                </a:lnTo>
                <a:lnTo>
                  <a:pt x="223035" y="378481"/>
                </a:lnTo>
                <a:lnTo>
                  <a:pt x="225672" y="366899"/>
                </a:lnTo>
                <a:lnTo>
                  <a:pt x="233031" y="356525"/>
                </a:lnTo>
                <a:lnTo>
                  <a:pt x="244238" y="348238"/>
                </a:lnTo>
                <a:lnTo>
                  <a:pt x="258419" y="342914"/>
                </a:lnTo>
                <a:lnTo>
                  <a:pt x="349558" y="342914"/>
                </a:lnTo>
                <a:lnTo>
                  <a:pt x="347100" y="340508"/>
                </a:lnTo>
                <a:lnTo>
                  <a:pt x="310877" y="320410"/>
                </a:lnTo>
                <a:lnTo>
                  <a:pt x="282150" y="314715"/>
                </a:lnTo>
                <a:lnTo>
                  <a:pt x="272033" y="314324"/>
                </a:lnTo>
                <a:close/>
              </a:path>
              <a:path w="544195" h="593089">
                <a:moveTo>
                  <a:pt x="349558" y="342914"/>
                </a:moveTo>
                <a:lnTo>
                  <a:pt x="258419" y="342914"/>
                </a:lnTo>
                <a:lnTo>
                  <a:pt x="277975" y="343775"/>
                </a:lnTo>
                <a:lnTo>
                  <a:pt x="293998" y="347558"/>
                </a:lnTo>
                <a:lnTo>
                  <a:pt x="306397" y="353651"/>
                </a:lnTo>
                <a:lnTo>
                  <a:pt x="315079" y="361445"/>
                </a:lnTo>
                <a:lnTo>
                  <a:pt x="319953" y="370329"/>
                </a:lnTo>
                <a:lnTo>
                  <a:pt x="318358" y="385074"/>
                </a:lnTo>
                <a:lnTo>
                  <a:pt x="312860" y="396985"/>
                </a:lnTo>
                <a:lnTo>
                  <a:pt x="304560" y="406499"/>
                </a:lnTo>
                <a:lnTo>
                  <a:pt x="294559" y="414051"/>
                </a:lnTo>
                <a:lnTo>
                  <a:pt x="288416" y="417702"/>
                </a:lnTo>
                <a:lnTo>
                  <a:pt x="288416" y="467105"/>
                </a:lnTo>
                <a:lnTo>
                  <a:pt x="282955" y="471550"/>
                </a:lnTo>
                <a:lnTo>
                  <a:pt x="347870" y="471550"/>
                </a:lnTo>
                <a:lnTo>
                  <a:pt x="373281" y="439363"/>
                </a:lnTo>
                <a:lnTo>
                  <a:pt x="380302" y="414206"/>
                </a:lnTo>
                <a:lnTo>
                  <a:pt x="379380" y="399367"/>
                </a:lnTo>
                <a:lnTo>
                  <a:pt x="376417" y="385441"/>
                </a:lnTo>
                <a:lnTo>
                  <a:pt x="371562" y="372511"/>
                </a:lnTo>
                <a:lnTo>
                  <a:pt x="364959" y="360657"/>
                </a:lnTo>
                <a:lnTo>
                  <a:pt x="356756" y="349962"/>
                </a:lnTo>
                <a:lnTo>
                  <a:pt x="349558" y="342914"/>
                </a:lnTo>
                <a:close/>
              </a:path>
              <a:path w="544195" h="593089">
                <a:moveTo>
                  <a:pt x="413250" y="49440"/>
                </a:moveTo>
                <a:lnTo>
                  <a:pt x="268384" y="49440"/>
                </a:lnTo>
                <a:lnTo>
                  <a:pt x="284737" y="50131"/>
                </a:lnTo>
                <a:lnTo>
                  <a:pt x="300569" y="52171"/>
                </a:lnTo>
                <a:lnTo>
                  <a:pt x="343941" y="65671"/>
                </a:lnTo>
                <a:lnTo>
                  <a:pt x="379006" y="88738"/>
                </a:lnTo>
                <a:lnTo>
                  <a:pt x="403042" y="119441"/>
                </a:lnTo>
                <a:lnTo>
                  <a:pt x="413511" y="220090"/>
                </a:lnTo>
                <a:lnTo>
                  <a:pt x="467867" y="220091"/>
                </a:lnTo>
                <a:lnTo>
                  <a:pt x="467852" y="161800"/>
                </a:lnTo>
                <a:lnTo>
                  <a:pt x="462215" y="122929"/>
                </a:lnTo>
                <a:lnTo>
                  <a:pt x="446056" y="87186"/>
                </a:lnTo>
                <a:lnTo>
                  <a:pt x="420897" y="56274"/>
                </a:lnTo>
                <a:lnTo>
                  <a:pt x="413250" y="494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14066" y="2017638"/>
            <a:ext cx="1297940" cy="1025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" algn="ctr">
              <a:lnSpc>
                <a:spcPct val="100000"/>
              </a:lnSpc>
            </a:pP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步骤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微软雅黑"/>
                <a:cs typeface="微软雅黑"/>
              </a:rPr>
              <a:t>1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中断源发出</a:t>
            </a:r>
            <a:endParaRPr sz="2000">
              <a:latin typeface="微软雅黑"/>
              <a:cs typeface="微软雅黑"/>
            </a:endParaRPr>
          </a:p>
          <a:p>
            <a:pPr marL="2540" algn="ctr">
              <a:lnSpc>
                <a:spcPct val="100000"/>
              </a:lnSpc>
            </a:pP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中断请求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98134" y="2017638"/>
            <a:ext cx="2061845" cy="1325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601980">
              <a:lnSpc>
                <a:spcPct val="100000"/>
              </a:lnSpc>
            </a:pP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步骤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微软雅黑"/>
                <a:cs typeface="微软雅黑"/>
              </a:rPr>
              <a:t>2</a:t>
            </a:r>
            <a:endParaRPr sz="2400">
              <a:latin typeface="微软雅黑"/>
              <a:cs typeface="微软雅黑"/>
            </a:endParaRPr>
          </a:p>
          <a:p>
            <a:pPr marL="12700" marR="5080" algn="just">
              <a:lnSpc>
                <a:spcPct val="100000"/>
              </a:lnSpc>
              <a:spcBef>
                <a:spcPts val="635"/>
              </a:spcBef>
            </a:pP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判断处理器是否允 许中断，以及该中 断源是否被屏蔽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81313" y="2038475"/>
            <a:ext cx="1043940" cy="1004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90170" algn="just">
              <a:lnSpc>
                <a:spcPct val="108800"/>
              </a:lnSpc>
            </a:pP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步骤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3 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中断优先 级排队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22067" y="4727691"/>
            <a:ext cx="2313305" cy="1264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73735">
              <a:lnSpc>
                <a:spcPct val="101800"/>
              </a:lnSpc>
            </a:pP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步骤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微软雅黑"/>
                <a:cs typeface="微软雅黑"/>
              </a:rPr>
              <a:t>6 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恢复被</a:t>
            </a:r>
            <a:r>
              <a:rPr sz="2000" b="1" spc="-15" dirty="0">
                <a:solidFill>
                  <a:srgbClr val="0C0C0C"/>
                </a:solidFill>
                <a:latin typeface="微软雅黑"/>
                <a:cs typeface="微软雅黑"/>
              </a:rPr>
              <a:t>保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护</a:t>
            </a:r>
            <a:r>
              <a:rPr sz="2000" b="1" spc="-15" dirty="0">
                <a:solidFill>
                  <a:srgbClr val="0C0C0C"/>
                </a:solidFill>
                <a:latin typeface="微软雅黑"/>
                <a:cs typeface="微软雅黑"/>
              </a:rPr>
              <a:t>的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状态， 执行中</a:t>
            </a:r>
            <a:r>
              <a:rPr sz="2000" b="1" spc="-15" dirty="0">
                <a:solidFill>
                  <a:srgbClr val="0C0C0C"/>
                </a:solidFill>
                <a:latin typeface="微软雅黑"/>
                <a:cs typeface="微软雅黑"/>
              </a:rPr>
              <a:t>断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返</a:t>
            </a:r>
            <a:r>
              <a:rPr sz="2000" b="1" spc="-15" dirty="0">
                <a:solidFill>
                  <a:srgbClr val="0C0C0C"/>
                </a:solidFill>
                <a:latin typeface="微软雅黑"/>
                <a:cs typeface="微软雅黑"/>
              </a:rPr>
              <a:t>回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指令， 回到被中断的程序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22519" y="4706110"/>
            <a:ext cx="2061845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sz="2400" b="1" spc="-5" dirty="0">
                <a:solidFill>
                  <a:srgbClr val="252525"/>
                </a:solidFill>
                <a:latin typeface="微软雅黑"/>
                <a:cs typeface="微软雅黑"/>
              </a:rPr>
              <a:t>步</a:t>
            </a: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5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执行中断服务程序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97139" y="4706110"/>
            <a:ext cx="3075940" cy="194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974725">
              <a:lnSpc>
                <a:spcPct val="100000"/>
              </a:lnSpc>
            </a:pP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步骤</a:t>
            </a: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252525"/>
                </a:solidFill>
                <a:latin typeface="微软雅黑"/>
                <a:cs typeface="微软雅黑"/>
              </a:rPr>
              <a:t>4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670"/>
              </a:spcBef>
            </a:pP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处理器暂停当前程序，保 护断点地址和处理器的当 </a:t>
            </a:r>
            <a:r>
              <a:rPr sz="2000" b="1" spc="5" dirty="0">
                <a:solidFill>
                  <a:srgbClr val="0C0C0C"/>
                </a:solidFill>
                <a:latin typeface="微软雅黑"/>
                <a:cs typeface="微软雅黑"/>
              </a:rPr>
              <a:t>前状</a:t>
            </a:r>
            <a:r>
              <a:rPr sz="2000" b="1" spc="-5" dirty="0">
                <a:solidFill>
                  <a:srgbClr val="0C0C0C"/>
                </a:solidFill>
                <a:latin typeface="微软雅黑"/>
                <a:cs typeface="微软雅黑"/>
              </a:rPr>
              <a:t>态</a:t>
            </a:r>
            <a:r>
              <a:rPr sz="2000" b="1" spc="-10" dirty="0">
                <a:solidFill>
                  <a:srgbClr val="0C0C0C"/>
                </a:solidFill>
                <a:latin typeface="微软雅黑"/>
                <a:cs typeface="微软雅黑"/>
              </a:rPr>
              <a:t>，</a:t>
            </a:r>
            <a:r>
              <a:rPr sz="2000" b="1" spc="5" dirty="0">
                <a:solidFill>
                  <a:srgbClr val="0C0C0C"/>
                </a:solidFill>
                <a:latin typeface="微软雅黑"/>
                <a:cs typeface="微软雅黑"/>
              </a:rPr>
              <a:t>根</a:t>
            </a:r>
            <a:r>
              <a:rPr sz="2000" b="1" spc="-15" dirty="0">
                <a:solidFill>
                  <a:srgbClr val="0C0C0C"/>
                </a:solidFill>
                <a:latin typeface="微软雅黑"/>
                <a:cs typeface="微软雅黑"/>
              </a:rPr>
              <a:t>据</a:t>
            </a:r>
            <a:r>
              <a:rPr sz="2000" b="1" spc="5" dirty="0">
                <a:solidFill>
                  <a:srgbClr val="0C0C0C"/>
                </a:solidFill>
                <a:latin typeface="微软雅黑"/>
                <a:cs typeface="微软雅黑"/>
              </a:rPr>
              <a:t>中断</a:t>
            </a:r>
            <a:r>
              <a:rPr sz="2000" b="1" spc="-5" dirty="0">
                <a:solidFill>
                  <a:srgbClr val="0C0C0C"/>
                </a:solidFill>
                <a:latin typeface="微软雅黑"/>
                <a:cs typeface="微软雅黑"/>
              </a:rPr>
              <a:t>类</a:t>
            </a:r>
            <a:r>
              <a:rPr sz="2000" b="1" spc="-10" dirty="0">
                <a:solidFill>
                  <a:srgbClr val="0C0C0C"/>
                </a:solidFill>
                <a:latin typeface="微软雅黑"/>
                <a:cs typeface="微软雅黑"/>
              </a:rPr>
              <a:t>型</a:t>
            </a:r>
            <a:r>
              <a:rPr sz="2000" b="1" spc="5" dirty="0">
                <a:solidFill>
                  <a:srgbClr val="0C0C0C"/>
                </a:solidFill>
                <a:latin typeface="微软雅黑"/>
                <a:cs typeface="微软雅黑"/>
              </a:rPr>
              <a:t>号，</a:t>
            </a:r>
            <a:r>
              <a:rPr sz="2000" b="1" dirty="0">
                <a:solidFill>
                  <a:srgbClr val="0C0C0C"/>
                </a:solidFill>
                <a:latin typeface="微软雅黑"/>
                <a:cs typeface="微软雅黑"/>
              </a:rPr>
              <a:t> 查找中断向量表，转到对 应的中断服务程序</a:t>
            </a:r>
            <a:endParaRPr sz="20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630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0554" y="665571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17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</a:rPr>
              <a:t>基本概念</a:t>
            </a:r>
            <a:endParaRPr sz="2400" dirty="0"/>
          </a:p>
        </p:txBody>
      </p:sp>
      <p:sp>
        <p:nvSpPr>
          <p:cNvPr id="12" name="object 12"/>
          <p:cNvSpPr/>
          <p:nvPr/>
        </p:nvSpPr>
        <p:spPr>
          <a:xfrm>
            <a:off x="707898" y="2346198"/>
            <a:ext cx="10866120" cy="1004569"/>
          </a:xfrm>
          <a:custGeom>
            <a:avLst/>
            <a:gdLst/>
            <a:ahLst/>
            <a:cxnLst/>
            <a:rect l="l" t="t" r="r" b="b"/>
            <a:pathLst>
              <a:path w="10866120" h="1004570">
                <a:moveTo>
                  <a:pt x="0" y="1004315"/>
                </a:moveTo>
                <a:lnTo>
                  <a:pt x="10866120" y="1004315"/>
                </a:lnTo>
                <a:lnTo>
                  <a:pt x="10866120" y="0"/>
                </a:lnTo>
                <a:lnTo>
                  <a:pt x="0" y="0"/>
                </a:lnTo>
                <a:lnTo>
                  <a:pt x="0" y="1004315"/>
                </a:lnTo>
                <a:close/>
              </a:path>
            </a:pathLst>
          </a:custGeom>
          <a:ln w="38100">
            <a:solidFill>
              <a:srgbClr val="E34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423" y="2020823"/>
            <a:ext cx="4533900" cy="638810"/>
          </a:xfrm>
          <a:custGeom>
            <a:avLst/>
            <a:gdLst/>
            <a:ahLst/>
            <a:cxnLst/>
            <a:rect l="l" t="t" r="r" b="b"/>
            <a:pathLst>
              <a:path w="4533900" h="638810">
                <a:moveTo>
                  <a:pt x="0" y="638555"/>
                </a:moveTo>
                <a:lnTo>
                  <a:pt x="4533900" y="638555"/>
                </a:lnTo>
                <a:lnTo>
                  <a:pt x="4533900" y="0"/>
                </a:lnTo>
                <a:lnTo>
                  <a:pt x="0" y="0"/>
                </a:lnTo>
                <a:lnTo>
                  <a:pt x="0" y="638555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73423" y="2020823"/>
            <a:ext cx="4533900" cy="638810"/>
          </a:xfrm>
          <a:custGeom>
            <a:avLst/>
            <a:gdLst/>
            <a:ahLst/>
            <a:cxnLst/>
            <a:rect l="l" t="t" r="r" b="b"/>
            <a:pathLst>
              <a:path w="4533900" h="638810">
                <a:moveTo>
                  <a:pt x="0" y="638555"/>
                </a:moveTo>
                <a:lnTo>
                  <a:pt x="4533900" y="638555"/>
                </a:lnTo>
                <a:lnTo>
                  <a:pt x="4533900" y="0"/>
                </a:lnTo>
                <a:lnTo>
                  <a:pt x="0" y="0"/>
                </a:lnTo>
                <a:lnTo>
                  <a:pt x="0" y="638555"/>
                </a:lnTo>
                <a:close/>
              </a:path>
            </a:pathLst>
          </a:custGeom>
          <a:ln w="12192">
            <a:solidFill>
              <a:srgbClr val="E34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5118" y="2171248"/>
            <a:ext cx="9779000" cy="984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0035" algn="ctr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微软雅黑"/>
                <a:cs typeface="微软雅黑"/>
              </a:rPr>
              <a:t>中断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2400" b="1" dirty="0">
                <a:latin typeface="微软雅黑"/>
                <a:cs typeface="微软雅黑"/>
              </a:rPr>
              <a:t>中断是由内核外部产生的，一般由硬件引起，比如外设中断和外部中断等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7898" y="4371594"/>
            <a:ext cx="10866120" cy="1618615"/>
          </a:xfrm>
          <a:custGeom>
            <a:avLst/>
            <a:gdLst/>
            <a:ahLst/>
            <a:cxnLst/>
            <a:rect l="l" t="t" r="r" b="b"/>
            <a:pathLst>
              <a:path w="10866120" h="1618614">
                <a:moveTo>
                  <a:pt x="0" y="1618487"/>
                </a:moveTo>
                <a:lnTo>
                  <a:pt x="10866120" y="1618487"/>
                </a:lnTo>
                <a:lnTo>
                  <a:pt x="10866120" y="0"/>
                </a:lnTo>
                <a:lnTo>
                  <a:pt x="0" y="0"/>
                </a:lnTo>
                <a:lnTo>
                  <a:pt x="0" y="1618487"/>
                </a:lnTo>
                <a:close/>
              </a:path>
            </a:pathLst>
          </a:custGeom>
          <a:ln w="38099">
            <a:solidFill>
              <a:srgbClr val="E34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73423" y="4044696"/>
            <a:ext cx="4533900" cy="640080"/>
          </a:xfrm>
          <a:custGeom>
            <a:avLst/>
            <a:gdLst/>
            <a:ahLst/>
            <a:cxnLst/>
            <a:rect l="l" t="t" r="r" b="b"/>
            <a:pathLst>
              <a:path w="4533900" h="640079">
                <a:moveTo>
                  <a:pt x="0" y="640079"/>
                </a:moveTo>
                <a:lnTo>
                  <a:pt x="4533900" y="640079"/>
                </a:lnTo>
                <a:lnTo>
                  <a:pt x="4533900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73423" y="4044696"/>
            <a:ext cx="4533900" cy="640080"/>
          </a:xfrm>
          <a:custGeom>
            <a:avLst/>
            <a:gdLst/>
            <a:ahLst/>
            <a:cxnLst/>
            <a:rect l="l" t="t" r="r" b="b"/>
            <a:pathLst>
              <a:path w="4533900" h="640079">
                <a:moveTo>
                  <a:pt x="0" y="640079"/>
                </a:moveTo>
                <a:lnTo>
                  <a:pt x="4533900" y="640079"/>
                </a:lnTo>
                <a:lnTo>
                  <a:pt x="4533900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ln w="12192">
            <a:solidFill>
              <a:srgbClr val="E34A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5118" y="4196644"/>
            <a:ext cx="10083800" cy="165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6510" algn="ctr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微软雅黑"/>
                <a:cs typeface="微软雅黑"/>
              </a:rPr>
              <a:t>异常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异常通常是内核自身产生的，大多是软件引起的，比如除法出错异常、预取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" dirty="0">
                <a:latin typeface="微软雅黑"/>
                <a:cs typeface="微软雅黑"/>
              </a:rPr>
              <a:t>值失败等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39054" y="1161725"/>
            <a:ext cx="180086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微软雅黑"/>
                <a:cs typeface="微软雅黑"/>
              </a:rPr>
              <a:t>中断和异常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93249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7752" y="665573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354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NVIC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34083" y="1802892"/>
            <a:ext cx="9323832" cy="45156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19605" y="1788414"/>
            <a:ext cx="9352915" cy="4544695"/>
          </a:xfrm>
          <a:custGeom>
            <a:avLst/>
            <a:gdLst/>
            <a:ahLst/>
            <a:cxnLst/>
            <a:rect l="l" t="t" r="r" b="b"/>
            <a:pathLst>
              <a:path w="9352915" h="4544695">
                <a:moveTo>
                  <a:pt x="0" y="4544567"/>
                </a:moveTo>
                <a:lnTo>
                  <a:pt x="9352788" y="4544567"/>
                </a:lnTo>
                <a:lnTo>
                  <a:pt x="9352788" y="0"/>
                </a:lnTo>
                <a:lnTo>
                  <a:pt x="0" y="0"/>
                </a:lnTo>
                <a:lnTo>
                  <a:pt x="0" y="4544567"/>
                </a:lnTo>
                <a:close/>
              </a:path>
            </a:pathLst>
          </a:custGeom>
          <a:ln w="28955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96761" y="1562861"/>
            <a:ext cx="5809615" cy="1521460"/>
          </a:xfrm>
          <a:custGeom>
            <a:avLst/>
            <a:gdLst/>
            <a:ahLst/>
            <a:cxnLst/>
            <a:rect l="l" t="t" r="r" b="b"/>
            <a:pathLst>
              <a:path w="5809615" h="1521460">
                <a:moveTo>
                  <a:pt x="5666232" y="0"/>
                </a:moveTo>
                <a:lnTo>
                  <a:pt x="968247" y="0"/>
                </a:lnTo>
                <a:lnTo>
                  <a:pt x="129256" y="675"/>
                </a:lnTo>
                <a:lnTo>
                  <a:pt x="87954" y="11063"/>
                </a:lnTo>
                <a:lnTo>
                  <a:pt x="52416" y="32476"/>
                </a:lnTo>
                <a:lnTo>
                  <a:pt x="24603" y="62954"/>
                </a:lnTo>
                <a:lnTo>
                  <a:pt x="6477" y="100534"/>
                </a:lnTo>
                <a:lnTo>
                  <a:pt x="0" y="143255"/>
                </a:lnTo>
                <a:lnTo>
                  <a:pt x="0" y="716279"/>
                </a:lnTo>
                <a:lnTo>
                  <a:pt x="6278" y="758357"/>
                </a:lnTo>
                <a:lnTo>
                  <a:pt x="24234" y="796035"/>
                </a:lnTo>
                <a:lnTo>
                  <a:pt x="51908" y="826640"/>
                </a:lnTo>
                <a:lnTo>
                  <a:pt x="87339" y="848213"/>
                </a:lnTo>
                <a:lnTo>
                  <a:pt x="128565" y="858792"/>
                </a:lnTo>
                <a:lnTo>
                  <a:pt x="143255" y="859536"/>
                </a:lnTo>
                <a:lnTo>
                  <a:pt x="968247" y="859536"/>
                </a:lnTo>
                <a:lnTo>
                  <a:pt x="392175" y="1521460"/>
                </a:lnTo>
                <a:lnTo>
                  <a:pt x="2420619" y="859536"/>
                </a:lnTo>
                <a:lnTo>
                  <a:pt x="5680231" y="858860"/>
                </a:lnTo>
                <a:lnTo>
                  <a:pt x="5694518" y="856744"/>
                </a:lnTo>
                <a:lnTo>
                  <a:pt x="5734116" y="842463"/>
                </a:lnTo>
                <a:lnTo>
                  <a:pt x="5767297" y="817810"/>
                </a:lnTo>
                <a:lnTo>
                  <a:pt x="5792099" y="784747"/>
                </a:lnTo>
                <a:lnTo>
                  <a:pt x="5806560" y="745235"/>
                </a:lnTo>
                <a:lnTo>
                  <a:pt x="5809488" y="716279"/>
                </a:lnTo>
                <a:lnTo>
                  <a:pt x="5809488" y="501396"/>
                </a:lnTo>
                <a:lnTo>
                  <a:pt x="5808812" y="129256"/>
                </a:lnTo>
                <a:lnTo>
                  <a:pt x="5798424" y="87954"/>
                </a:lnTo>
                <a:lnTo>
                  <a:pt x="5777011" y="52416"/>
                </a:lnTo>
                <a:lnTo>
                  <a:pt x="5746533" y="24603"/>
                </a:lnTo>
                <a:lnTo>
                  <a:pt x="5708953" y="6477"/>
                </a:lnTo>
                <a:lnTo>
                  <a:pt x="5680922" y="743"/>
                </a:lnTo>
                <a:lnTo>
                  <a:pt x="5666232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96761" y="1562861"/>
            <a:ext cx="5809615" cy="1521460"/>
          </a:xfrm>
          <a:custGeom>
            <a:avLst/>
            <a:gdLst/>
            <a:ahLst/>
            <a:cxnLst/>
            <a:rect l="l" t="t" r="r" b="b"/>
            <a:pathLst>
              <a:path w="5809615" h="1521460">
                <a:moveTo>
                  <a:pt x="0" y="143255"/>
                </a:moveTo>
                <a:lnTo>
                  <a:pt x="6477" y="100534"/>
                </a:lnTo>
                <a:lnTo>
                  <a:pt x="24603" y="62954"/>
                </a:lnTo>
                <a:lnTo>
                  <a:pt x="52416" y="32476"/>
                </a:lnTo>
                <a:lnTo>
                  <a:pt x="87954" y="11063"/>
                </a:lnTo>
                <a:lnTo>
                  <a:pt x="129256" y="675"/>
                </a:lnTo>
                <a:lnTo>
                  <a:pt x="968247" y="0"/>
                </a:lnTo>
                <a:lnTo>
                  <a:pt x="2420619" y="0"/>
                </a:lnTo>
                <a:lnTo>
                  <a:pt x="5666232" y="0"/>
                </a:lnTo>
                <a:lnTo>
                  <a:pt x="5680922" y="743"/>
                </a:lnTo>
                <a:lnTo>
                  <a:pt x="5722148" y="11322"/>
                </a:lnTo>
                <a:lnTo>
                  <a:pt x="5757579" y="32895"/>
                </a:lnTo>
                <a:lnTo>
                  <a:pt x="5785253" y="63500"/>
                </a:lnTo>
                <a:lnTo>
                  <a:pt x="5803209" y="101178"/>
                </a:lnTo>
                <a:lnTo>
                  <a:pt x="5809488" y="501396"/>
                </a:lnTo>
                <a:lnTo>
                  <a:pt x="5809488" y="716279"/>
                </a:lnTo>
                <a:lnTo>
                  <a:pt x="5808744" y="730970"/>
                </a:lnTo>
                <a:lnTo>
                  <a:pt x="5806560" y="745235"/>
                </a:lnTo>
                <a:lnTo>
                  <a:pt x="5792099" y="784747"/>
                </a:lnTo>
                <a:lnTo>
                  <a:pt x="5767297" y="817810"/>
                </a:lnTo>
                <a:lnTo>
                  <a:pt x="5734116" y="842463"/>
                </a:lnTo>
                <a:lnTo>
                  <a:pt x="5694518" y="856744"/>
                </a:lnTo>
                <a:lnTo>
                  <a:pt x="2420619" y="859536"/>
                </a:lnTo>
                <a:lnTo>
                  <a:pt x="392175" y="1521460"/>
                </a:lnTo>
                <a:lnTo>
                  <a:pt x="968247" y="859536"/>
                </a:lnTo>
                <a:lnTo>
                  <a:pt x="143255" y="859536"/>
                </a:lnTo>
                <a:lnTo>
                  <a:pt x="128565" y="858792"/>
                </a:lnTo>
                <a:lnTo>
                  <a:pt x="87339" y="848213"/>
                </a:lnTo>
                <a:lnTo>
                  <a:pt x="51908" y="826640"/>
                </a:lnTo>
                <a:lnTo>
                  <a:pt x="24234" y="796035"/>
                </a:lnTo>
                <a:lnTo>
                  <a:pt x="6278" y="758357"/>
                </a:lnTo>
                <a:lnTo>
                  <a:pt x="0" y="716279"/>
                </a:lnTo>
                <a:lnTo>
                  <a:pt x="0" y="501396"/>
                </a:lnTo>
                <a:lnTo>
                  <a:pt x="0" y="143255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69689" y="1161725"/>
            <a:ext cx="7334884" cy="848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微软雅黑"/>
                <a:cs typeface="微软雅黑"/>
              </a:rPr>
              <a:t>嵌套向量中断控制器</a:t>
            </a:r>
            <a:endParaRPr sz="2800">
              <a:latin typeface="微软雅黑"/>
              <a:cs typeface="微软雅黑"/>
            </a:endParaRPr>
          </a:p>
          <a:p>
            <a:pPr marL="1939925">
              <a:lnSpc>
                <a:spcPct val="100000"/>
              </a:lnSpc>
              <a:spcBef>
                <a:spcPts val="660"/>
              </a:spcBef>
            </a:pPr>
            <a:r>
              <a:rPr sz="2400" b="1" spc="-5" dirty="0">
                <a:latin typeface="Consolas"/>
                <a:cs typeface="Consolas"/>
              </a:rPr>
              <a:t>NVIC</a:t>
            </a:r>
            <a:r>
              <a:rPr sz="2400" b="1" dirty="0">
                <a:latin typeface="宋体"/>
                <a:cs typeface="宋体"/>
              </a:rPr>
              <a:t>属</a:t>
            </a:r>
            <a:r>
              <a:rPr sz="2400" b="1" spc="-5" dirty="0">
                <a:latin typeface="宋体"/>
                <a:cs typeface="宋体"/>
              </a:rPr>
              <a:t>于</a:t>
            </a:r>
            <a:r>
              <a:rPr sz="2400" b="1" spc="-5" dirty="0">
                <a:latin typeface="Consolas"/>
                <a:cs typeface="Consolas"/>
              </a:rPr>
              <a:t>Cortex-M</a:t>
            </a:r>
            <a:r>
              <a:rPr sz="2400" b="1" spc="-5" dirty="0">
                <a:latin typeface="宋体"/>
                <a:cs typeface="宋体"/>
              </a:rPr>
              <a:t>内核的组件，管理所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1763" y="2010727"/>
            <a:ext cx="553974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dirty="0">
                <a:latin typeface="宋体"/>
                <a:cs typeface="宋体"/>
              </a:rPr>
              <a:t>有的中断和异常，为中断源分配中断通道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15990" y="3131057"/>
            <a:ext cx="760730" cy="558165"/>
          </a:xfrm>
          <a:custGeom>
            <a:avLst/>
            <a:gdLst/>
            <a:ahLst/>
            <a:cxnLst/>
            <a:rect l="l" t="t" r="r" b="b"/>
            <a:pathLst>
              <a:path w="760729" h="558164">
                <a:moveTo>
                  <a:pt x="0" y="557783"/>
                </a:moveTo>
                <a:lnTo>
                  <a:pt x="760476" y="557783"/>
                </a:lnTo>
                <a:lnTo>
                  <a:pt x="760476" y="0"/>
                </a:lnTo>
                <a:lnTo>
                  <a:pt x="0" y="0"/>
                </a:lnTo>
                <a:lnTo>
                  <a:pt x="0" y="557783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20902" y="2143505"/>
            <a:ext cx="4159250" cy="3500754"/>
          </a:xfrm>
          <a:custGeom>
            <a:avLst/>
            <a:gdLst/>
            <a:ahLst/>
            <a:cxnLst/>
            <a:rect l="l" t="t" r="r" b="b"/>
            <a:pathLst>
              <a:path w="4159250" h="3500754">
                <a:moveTo>
                  <a:pt x="0" y="3500628"/>
                </a:moveTo>
                <a:lnTo>
                  <a:pt x="4158996" y="3500628"/>
                </a:lnTo>
                <a:lnTo>
                  <a:pt x="4158996" y="0"/>
                </a:lnTo>
                <a:lnTo>
                  <a:pt x="0" y="0"/>
                </a:lnTo>
                <a:lnTo>
                  <a:pt x="0" y="3500628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9822" y="3409950"/>
            <a:ext cx="930910" cy="731520"/>
          </a:xfrm>
          <a:custGeom>
            <a:avLst/>
            <a:gdLst/>
            <a:ahLst/>
            <a:cxnLst/>
            <a:rect l="l" t="t" r="r" b="b"/>
            <a:pathLst>
              <a:path w="930910" h="731520">
                <a:moveTo>
                  <a:pt x="774446" y="0"/>
                </a:moveTo>
                <a:lnTo>
                  <a:pt x="497840" y="0"/>
                </a:lnTo>
                <a:lnTo>
                  <a:pt x="67368" y="848"/>
                </a:lnTo>
                <a:lnTo>
                  <a:pt x="29303" y="17564"/>
                </a:lnTo>
                <a:lnTo>
                  <a:pt x="5166" y="50810"/>
                </a:lnTo>
                <a:lnTo>
                  <a:pt x="0" y="78994"/>
                </a:lnTo>
                <a:lnTo>
                  <a:pt x="0" y="394969"/>
                </a:lnTo>
                <a:lnTo>
                  <a:pt x="9852" y="433229"/>
                </a:lnTo>
                <a:lnTo>
                  <a:pt x="38315" y="462712"/>
                </a:lnTo>
                <a:lnTo>
                  <a:pt x="78994" y="473963"/>
                </a:lnTo>
                <a:lnTo>
                  <a:pt x="497840" y="473963"/>
                </a:lnTo>
                <a:lnTo>
                  <a:pt x="930452" y="731393"/>
                </a:lnTo>
                <a:lnTo>
                  <a:pt x="711200" y="473963"/>
                </a:lnTo>
                <a:lnTo>
                  <a:pt x="786071" y="473115"/>
                </a:lnTo>
                <a:lnTo>
                  <a:pt x="799909" y="469775"/>
                </a:lnTo>
                <a:lnTo>
                  <a:pt x="834048" y="446837"/>
                </a:lnTo>
                <a:lnTo>
                  <a:pt x="852108" y="409505"/>
                </a:lnTo>
                <a:lnTo>
                  <a:pt x="853440" y="394969"/>
                </a:lnTo>
                <a:lnTo>
                  <a:pt x="853440" y="276479"/>
                </a:lnTo>
                <a:lnTo>
                  <a:pt x="852590" y="67353"/>
                </a:lnTo>
                <a:lnTo>
                  <a:pt x="835855" y="29276"/>
                </a:lnTo>
                <a:lnTo>
                  <a:pt x="802603" y="5158"/>
                </a:lnTo>
                <a:lnTo>
                  <a:pt x="788964" y="1329"/>
                </a:lnTo>
                <a:lnTo>
                  <a:pt x="774446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9822" y="3409950"/>
            <a:ext cx="930910" cy="731520"/>
          </a:xfrm>
          <a:custGeom>
            <a:avLst/>
            <a:gdLst/>
            <a:ahLst/>
            <a:cxnLst/>
            <a:rect l="l" t="t" r="r" b="b"/>
            <a:pathLst>
              <a:path w="930910" h="731520">
                <a:moveTo>
                  <a:pt x="0" y="78994"/>
                </a:moveTo>
                <a:lnTo>
                  <a:pt x="11266" y="38287"/>
                </a:lnTo>
                <a:lnTo>
                  <a:pt x="40762" y="9839"/>
                </a:lnTo>
                <a:lnTo>
                  <a:pt x="497840" y="0"/>
                </a:lnTo>
                <a:lnTo>
                  <a:pt x="711200" y="0"/>
                </a:lnTo>
                <a:lnTo>
                  <a:pt x="774446" y="0"/>
                </a:lnTo>
                <a:lnTo>
                  <a:pt x="788964" y="1329"/>
                </a:lnTo>
                <a:lnTo>
                  <a:pt x="826287" y="19370"/>
                </a:lnTo>
                <a:lnTo>
                  <a:pt x="849245" y="53506"/>
                </a:lnTo>
                <a:lnTo>
                  <a:pt x="853440" y="276479"/>
                </a:lnTo>
                <a:lnTo>
                  <a:pt x="853440" y="394969"/>
                </a:lnTo>
                <a:lnTo>
                  <a:pt x="852108" y="409505"/>
                </a:lnTo>
                <a:lnTo>
                  <a:pt x="848273" y="423153"/>
                </a:lnTo>
                <a:lnTo>
                  <a:pt x="824136" y="456399"/>
                </a:lnTo>
                <a:lnTo>
                  <a:pt x="786071" y="473115"/>
                </a:lnTo>
                <a:lnTo>
                  <a:pt x="711200" y="473963"/>
                </a:lnTo>
                <a:lnTo>
                  <a:pt x="930452" y="731393"/>
                </a:lnTo>
                <a:lnTo>
                  <a:pt x="497840" y="473963"/>
                </a:lnTo>
                <a:lnTo>
                  <a:pt x="78994" y="473963"/>
                </a:lnTo>
                <a:lnTo>
                  <a:pt x="64475" y="472634"/>
                </a:lnTo>
                <a:lnTo>
                  <a:pt x="27152" y="454593"/>
                </a:lnTo>
                <a:lnTo>
                  <a:pt x="4194" y="420457"/>
                </a:lnTo>
                <a:lnTo>
                  <a:pt x="0" y="394969"/>
                </a:lnTo>
                <a:lnTo>
                  <a:pt x="0" y="276479"/>
                </a:lnTo>
                <a:lnTo>
                  <a:pt x="0" y="7899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5841" y="3482022"/>
            <a:ext cx="6381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dirty="0">
                <a:latin typeface="宋体"/>
                <a:cs typeface="宋体"/>
              </a:rPr>
              <a:t>中断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67221" y="4546853"/>
            <a:ext cx="1958339" cy="806450"/>
          </a:xfrm>
          <a:custGeom>
            <a:avLst/>
            <a:gdLst/>
            <a:ahLst/>
            <a:cxnLst/>
            <a:rect l="l" t="t" r="r" b="b"/>
            <a:pathLst>
              <a:path w="1958340" h="806450">
                <a:moveTo>
                  <a:pt x="0" y="806196"/>
                </a:moveTo>
                <a:lnTo>
                  <a:pt x="1958339" y="806196"/>
                </a:lnTo>
                <a:lnTo>
                  <a:pt x="1958339" y="0"/>
                </a:lnTo>
                <a:lnTo>
                  <a:pt x="0" y="0"/>
                </a:lnTo>
                <a:lnTo>
                  <a:pt x="0" y="80619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53221" y="3597402"/>
            <a:ext cx="1196340" cy="558165"/>
          </a:xfrm>
          <a:custGeom>
            <a:avLst/>
            <a:gdLst/>
            <a:ahLst/>
            <a:cxnLst/>
            <a:rect l="l" t="t" r="r" b="b"/>
            <a:pathLst>
              <a:path w="1196340" h="558164">
                <a:moveTo>
                  <a:pt x="0" y="557784"/>
                </a:moveTo>
                <a:lnTo>
                  <a:pt x="1196340" y="557784"/>
                </a:lnTo>
                <a:lnTo>
                  <a:pt x="1196340" y="0"/>
                </a:lnTo>
                <a:lnTo>
                  <a:pt x="0" y="0"/>
                </a:lnTo>
                <a:lnTo>
                  <a:pt x="0" y="557784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19793" y="3422141"/>
            <a:ext cx="1238885" cy="476250"/>
          </a:xfrm>
          <a:custGeom>
            <a:avLst/>
            <a:gdLst/>
            <a:ahLst/>
            <a:cxnLst/>
            <a:rect l="l" t="t" r="r" b="b"/>
            <a:pathLst>
              <a:path w="1238884" h="476250">
                <a:moveTo>
                  <a:pt x="1159890" y="0"/>
                </a:moveTo>
                <a:lnTo>
                  <a:pt x="527684" y="0"/>
                </a:lnTo>
                <a:lnTo>
                  <a:pt x="452798" y="848"/>
                </a:lnTo>
                <a:lnTo>
                  <a:pt x="414721" y="17564"/>
                </a:lnTo>
                <a:lnTo>
                  <a:pt x="390603" y="50810"/>
                </a:lnTo>
                <a:lnTo>
                  <a:pt x="385445" y="78994"/>
                </a:lnTo>
                <a:lnTo>
                  <a:pt x="385445" y="276479"/>
                </a:lnTo>
                <a:lnTo>
                  <a:pt x="0" y="475742"/>
                </a:lnTo>
                <a:lnTo>
                  <a:pt x="385445" y="394970"/>
                </a:lnTo>
                <a:lnTo>
                  <a:pt x="1238884" y="394970"/>
                </a:lnTo>
                <a:lnTo>
                  <a:pt x="1238884" y="276479"/>
                </a:lnTo>
                <a:lnTo>
                  <a:pt x="1238036" y="67353"/>
                </a:lnTo>
                <a:lnTo>
                  <a:pt x="1221320" y="29276"/>
                </a:lnTo>
                <a:lnTo>
                  <a:pt x="1188074" y="5158"/>
                </a:lnTo>
                <a:lnTo>
                  <a:pt x="1174426" y="1329"/>
                </a:lnTo>
                <a:lnTo>
                  <a:pt x="1159890" y="0"/>
                </a:lnTo>
                <a:close/>
              </a:path>
              <a:path w="1238884" h="476250">
                <a:moveTo>
                  <a:pt x="1238884" y="394970"/>
                </a:moveTo>
                <a:lnTo>
                  <a:pt x="385445" y="394970"/>
                </a:lnTo>
                <a:lnTo>
                  <a:pt x="386293" y="406610"/>
                </a:lnTo>
                <a:lnTo>
                  <a:pt x="403009" y="444687"/>
                </a:lnTo>
                <a:lnTo>
                  <a:pt x="436255" y="468805"/>
                </a:lnTo>
                <a:lnTo>
                  <a:pt x="464438" y="473964"/>
                </a:lnTo>
                <a:lnTo>
                  <a:pt x="741045" y="473964"/>
                </a:lnTo>
                <a:lnTo>
                  <a:pt x="1171531" y="473115"/>
                </a:lnTo>
                <a:lnTo>
                  <a:pt x="1209608" y="456399"/>
                </a:lnTo>
                <a:lnTo>
                  <a:pt x="1233726" y="423153"/>
                </a:lnTo>
                <a:lnTo>
                  <a:pt x="1238884" y="39497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519793" y="3422141"/>
            <a:ext cx="1238885" cy="476250"/>
          </a:xfrm>
          <a:custGeom>
            <a:avLst/>
            <a:gdLst/>
            <a:ahLst/>
            <a:cxnLst/>
            <a:rect l="l" t="t" r="r" b="b"/>
            <a:pathLst>
              <a:path w="1238884" h="476250">
                <a:moveTo>
                  <a:pt x="385445" y="78994"/>
                </a:moveTo>
                <a:lnTo>
                  <a:pt x="396696" y="38287"/>
                </a:lnTo>
                <a:lnTo>
                  <a:pt x="426179" y="9839"/>
                </a:lnTo>
                <a:lnTo>
                  <a:pt x="527684" y="0"/>
                </a:lnTo>
                <a:lnTo>
                  <a:pt x="741045" y="0"/>
                </a:lnTo>
                <a:lnTo>
                  <a:pt x="1159890" y="0"/>
                </a:lnTo>
                <a:lnTo>
                  <a:pt x="1174426" y="1329"/>
                </a:lnTo>
                <a:lnTo>
                  <a:pt x="1211758" y="19370"/>
                </a:lnTo>
                <a:lnTo>
                  <a:pt x="1234696" y="53506"/>
                </a:lnTo>
                <a:lnTo>
                  <a:pt x="1238884" y="276479"/>
                </a:lnTo>
                <a:lnTo>
                  <a:pt x="1238884" y="394970"/>
                </a:lnTo>
                <a:lnTo>
                  <a:pt x="1237555" y="409505"/>
                </a:lnTo>
                <a:lnTo>
                  <a:pt x="1233726" y="423153"/>
                </a:lnTo>
                <a:lnTo>
                  <a:pt x="1209608" y="456399"/>
                </a:lnTo>
                <a:lnTo>
                  <a:pt x="1171531" y="473115"/>
                </a:lnTo>
                <a:lnTo>
                  <a:pt x="741045" y="473964"/>
                </a:lnTo>
                <a:lnTo>
                  <a:pt x="527684" y="473964"/>
                </a:lnTo>
                <a:lnTo>
                  <a:pt x="464438" y="473964"/>
                </a:lnTo>
                <a:lnTo>
                  <a:pt x="449903" y="472634"/>
                </a:lnTo>
                <a:lnTo>
                  <a:pt x="412571" y="454593"/>
                </a:lnTo>
                <a:lnTo>
                  <a:pt x="389633" y="420457"/>
                </a:lnTo>
                <a:lnTo>
                  <a:pt x="385445" y="394970"/>
                </a:lnTo>
                <a:lnTo>
                  <a:pt x="0" y="475742"/>
                </a:lnTo>
                <a:lnTo>
                  <a:pt x="385445" y="276479"/>
                </a:lnTo>
                <a:lnTo>
                  <a:pt x="385445" y="78994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0012426" y="3494214"/>
            <a:ext cx="6388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b="1" dirty="0">
                <a:latin typeface="宋体"/>
                <a:cs typeface="宋体"/>
              </a:rPr>
              <a:t>异常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37830" y="4481321"/>
            <a:ext cx="1241425" cy="476250"/>
          </a:xfrm>
          <a:custGeom>
            <a:avLst/>
            <a:gdLst/>
            <a:ahLst/>
            <a:cxnLst/>
            <a:rect l="l" t="t" r="r" b="b"/>
            <a:pathLst>
              <a:path w="1241425" h="476250">
                <a:moveTo>
                  <a:pt x="1162050" y="0"/>
                </a:moveTo>
                <a:lnTo>
                  <a:pt x="528574" y="0"/>
                </a:lnTo>
                <a:lnTo>
                  <a:pt x="453433" y="848"/>
                </a:lnTo>
                <a:lnTo>
                  <a:pt x="415356" y="17564"/>
                </a:lnTo>
                <a:lnTo>
                  <a:pt x="391238" y="50810"/>
                </a:lnTo>
                <a:lnTo>
                  <a:pt x="386079" y="78993"/>
                </a:lnTo>
                <a:lnTo>
                  <a:pt x="386079" y="276478"/>
                </a:lnTo>
                <a:lnTo>
                  <a:pt x="0" y="475741"/>
                </a:lnTo>
                <a:lnTo>
                  <a:pt x="386079" y="394969"/>
                </a:lnTo>
                <a:lnTo>
                  <a:pt x="1241044" y="394969"/>
                </a:lnTo>
                <a:lnTo>
                  <a:pt x="1241044" y="276478"/>
                </a:lnTo>
                <a:lnTo>
                  <a:pt x="1240195" y="67353"/>
                </a:lnTo>
                <a:lnTo>
                  <a:pt x="1223479" y="29276"/>
                </a:lnTo>
                <a:lnTo>
                  <a:pt x="1190233" y="5158"/>
                </a:lnTo>
                <a:lnTo>
                  <a:pt x="1176585" y="1329"/>
                </a:lnTo>
                <a:lnTo>
                  <a:pt x="1162050" y="0"/>
                </a:lnTo>
                <a:close/>
              </a:path>
              <a:path w="1241425" h="476250">
                <a:moveTo>
                  <a:pt x="1241044" y="394969"/>
                </a:moveTo>
                <a:lnTo>
                  <a:pt x="386079" y="394969"/>
                </a:lnTo>
                <a:lnTo>
                  <a:pt x="386928" y="406610"/>
                </a:lnTo>
                <a:lnTo>
                  <a:pt x="403644" y="444687"/>
                </a:lnTo>
                <a:lnTo>
                  <a:pt x="436890" y="468805"/>
                </a:lnTo>
                <a:lnTo>
                  <a:pt x="465074" y="473963"/>
                </a:lnTo>
                <a:lnTo>
                  <a:pt x="742315" y="473963"/>
                </a:lnTo>
                <a:lnTo>
                  <a:pt x="1173690" y="473115"/>
                </a:lnTo>
                <a:lnTo>
                  <a:pt x="1211767" y="456399"/>
                </a:lnTo>
                <a:lnTo>
                  <a:pt x="1235885" y="423153"/>
                </a:lnTo>
                <a:lnTo>
                  <a:pt x="1241044" y="394969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037830" y="4481321"/>
            <a:ext cx="1241425" cy="476250"/>
          </a:xfrm>
          <a:custGeom>
            <a:avLst/>
            <a:gdLst/>
            <a:ahLst/>
            <a:cxnLst/>
            <a:rect l="l" t="t" r="r" b="b"/>
            <a:pathLst>
              <a:path w="1241425" h="476250">
                <a:moveTo>
                  <a:pt x="386079" y="78993"/>
                </a:moveTo>
                <a:lnTo>
                  <a:pt x="397331" y="38287"/>
                </a:lnTo>
                <a:lnTo>
                  <a:pt x="426814" y="9839"/>
                </a:lnTo>
                <a:lnTo>
                  <a:pt x="528574" y="0"/>
                </a:lnTo>
                <a:lnTo>
                  <a:pt x="742315" y="0"/>
                </a:lnTo>
                <a:lnTo>
                  <a:pt x="1162050" y="0"/>
                </a:lnTo>
                <a:lnTo>
                  <a:pt x="1176585" y="1329"/>
                </a:lnTo>
                <a:lnTo>
                  <a:pt x="1213917" y="19370"/>
                </a:lnTo>
                <a:lnTo>
                  <a:pt x="1236855" y="53506"/>
                </a:lnTo>
                <a:lnTo>
                  <a:pt x="1241044" y="276478"/>
                </a:lnTo>
                <a:lnTo>
                  <a:pt x="1241044" y="394969"/>
                </a:lnTo>
                <a:lnTo>
                  <a:pt x="1239714" y="409505"/>
                </a:lnTo>
                <a:lnTo>
                  <a:pt x="1235885" y="423153"/>
                </a:lnTo>
                <a:lnTo>
                  <a:pt x="1211767" y="456399"/>
                </a:lnTo>
                <a:lnTo>
                  <a:pt x="1173690" y="473115"/>
                </a:lnTo>
                <a:lnTo>
                  <a:pt x="742315" y="473963"/>
                </a:lnTo>
                <a:lnTo>
                  <a:pt x="528574" y="473963"/>
                </a:lnTo>
                <a:lnTo>
                  <a:pt x="465074" y="473963"/>
                </a:lnTo>
                <a:lnTo>
                  <a:pt x="450538" y="472634"/>
                </a:lnTo>
                <a:lnTo>
                  <a:pt x="413206" y="454593"/>
                </a:lnTo>
                <a:lnTo>
                  <a:pt x="390268" y="420457"/>
                </a:lnTo>
                <a:lnTo>
                  <a:pt x="386079" y="394969"/>
                </a:lnTo>
                <a:lnTo>
                  <a:pt x="0" y="475741"/>
                </a:lnTo>
                <a:lnTo>
                  <a:pt x="386079" y="276478"/>
                </a:lnTo>
                <a:lnTo>
                  <a:pt x="386079" y="7899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532114" y="4553648"/>
            <a:ext cx="6381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b="1" dirty="0">
                <a:latin typeface="宋体"/>
                <a:cs typeface="宋体"/>
              </a:rPr>
              <a:t>异常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74735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0554" y="626385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94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</a:rPr>
              <a:t>引脚分组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6886956" y="473963"/>
            <a:ext cx="5212080" cy="6230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72478" y="459486"/>
            <a:ext cx="5241290" cy="6259195"/>
          </a:xfrm>
          <a:custGeom>
            <a:avLst/>
            <a:gdLst/>
            <a:ahLst/>
            <a:cxnLst/>
            <a:rect l="l" t="t" r="r" b="b"/>
            <a:pathLst>
              <a:path w="5241290" h="6259195">
                <a:moveTo>
                  <a:pt x="0" y="6259068"/>
                </a:moveTo>
                <a:lnTo>
                  <a:pt x="5241035" y="6259068"/>
                </a:lnTo>
                <a:lnTo>
                  <a:pt x="5241035" y="0"/>
                </a:lnTo>
                <a:lnTo>
                  <a:pt x="0" y="0"/>
                </a:lnTo>
                <a:lnTo>
                  <a:pt x="0" y="6259068"/>
                </a:lnTo>
                <a:close/>
              </a:path>
            </a:pathLst>
          </a:custGeom>
          <a:ln w="2895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250" y="2285238"/>
            <a:ext cx="6670675" cy="1289685"/>
          </a:xfrm>
          <a:prstGeom prst="rect">
            <a:avLst/>
          </a:prstGeom>
          <a:ln w="38099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675">
              <a:lnSpc>
                <a:spcPct val="100000"/>
              </a:lnSpc>
              <a:tabLst>
                <a:tab pos="650875" algn="l"/>
              </a:tabLst>
            </a:pPr>
            <a:r>
              <a:rPr sz="2400" b="1" dirty="0">
                <a:latin typeface="微软雅黑"/>
                <a:cs typeface="微软雅黑"/>
              </a:rPr>
              <a:t>①	尾号相同的引脚一组，接</a:t>
            </a:r>
            <a:r>
              <a:rPr sz="2400" b="1" spc="-25" dirty="0">
                <a:latin typeface="微软雅黑"/>
                <a:cs typeface="微软雅黑"/>
              </a:rPr>
              <a:t>入</a:t>
            </a:r>
            <a:r>
              <a:rPr sz="2400" b="1" spc="-10" dirty="0">
                <a:latin typeface="微软雅黑"/>
                <a:cs typeface="微软雅黑"/>
              </a:rPr>
              <a:t>1</a:t>
            </a:r>
            <a:r>
              <a:rPr sz="2400" b="1" dirty="0">
                <a:latin typeface="微软雅黑"/>
                <a:cs typeface="微软雅黑"/>
              </a:rPr>
              <a:t>个外部中断线</a:t>
            </a:r>
            <a:endParaRPr sz="2400">
              <a:latin typeface="微软雅黑"/>
              <a:cs typeface="微软雅黑"/>
            </a:endParaRPr>
          </a:p>
          <a:p>
            <a:pPr marL="193675">
              <a:lnSpc>
                <a:spcPct val="100000"/>
              </a:lnSpc>
              <a:spcBef>
                <a:spcPts val="1440"/>
              </a:spcBef>
              <a:tabLst>
                <a:tab pos="650875" algn="l"/>
              </a:tabLst>
            </a:pPr>
            <a:r>
              <a:rPr sz="2400" b="1" dirty="0">
                <a:latin typeface="微软雅黑"/>
                <a:cs typeface="微软雅黑"/>
              </a:rPr>
              <a:t>②	同组引脚只能有一个设置为外部中断功能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9944" y="1708404"/>
            <a:ext cx="1655445" cy="524510"/>
          </a:xfrm>
          <a:custGeom>
            <a:avLst/>
            <a:gdLst/>
            <a:ahLst/>
            <a:cxnLst/>
            <a:rect l="l" t="t" r="r" b="b"/>
            <a:pathLst>
              <a:path w="1655445" h="524510">
                <a:moveTo>
                  <a:pt x="0" y="524256"/>
                </a:moveTo>
                <a:lnTo>
                  <a:pt x="1655063" y="524256"/>
                </a:lnTo>
                <a:lnTo>
                  <a:pt x="1655063" y="0"/>
                </a:lnTo>
                <a:lnTo>
                  <a:pt x="0" y="0"/>
                </a:lnTo>
                <a:lnTo>
                  <a:pt x="0" y="5242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78938" y="1799011"/>
            <a:ext cx="144589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0000"/>
                </a:solidFill>
                <a:latin typeface="微软雅黑"/>
                <a:cs typeface="微软雅黑"/>
              </a:rPr>
              <a:t>引脚分组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726" y="4325873"/>
            <a:ext cx="6672580" cy="1963420"/>
          </a:xfrm>
          <a:prstGeom prst="rect">
            <a:avLst/>
          </a:prstGeom>
          <a:ln w="38100">
            <a:solidFill>
              <a:srgbClr val="E34A4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215">
              <a:lnSpc>
                <a:spcPct val="100000"/>
              </a:lnSpc>
              <a:tabLst>
                <a:tab pos="653415" algn="l"/>
              </a:tabLst>
            </a:pPr>
            <a:r>
              <a:rPr sz="2400" b="1" dirty="0">
                <a:latin typeface="微软雅黑"/>
                <a:cs typeface="微软雅黑"/>
              </a:rPr>
              <a:t>①	</a:t>
            </a:r>
            <a:r>
              <a:rPr sz="2400" b="1" spc="30" dirty="0">
                <a:latin typeface="微软雅黑"/>
                <a:cs typeface="微软雅黑"/>
              </a:rPr>
              <a:t>E</a:t>
            </a:r>
            <a:r>
              <a:rPr sz="2400" b="1" spc="45" dirty="0">
                <a:latin typeface="微软雅黑"/>
                <a:cs typeface="微软雅黑"/>
              </a:rPr>
              <a:t>X</a:t>
            </a:r>
            <a:r>
              <a:rPr sz="2400" b="1" spc="-5" dirty="0">
                <a:latin typeface="微软雅黑"/>
                <a:cs typeface="微软雅黑"/>
              </a:rPr>
              <a:t>TI0</a:t>
            </a:r>
            <a:r>
              <a:rPr sz="2400" b="1" spc="-10" dirty="0">
                <a:latin typeface="微软雅黑"/>
                <a:cs typeface="微软雅黑"/>
              </a:rPr>
              <a:t>~</a:t>
            </a:r>
            <a:r>
              <a:rPr sz="2400" b="1" spc="30" dirty="0">
                <a:latin typeface="微软雅黑"/>
                <a:cs typeface="微软雅黑"/>
              </a:rPr>
              <a:t>E</a:t>
            </a:r>
            <a:r>
              <a:rPr sz="2400" b="1" spc="-5" dirty="0">
                <a:latin typeface="微软雅黑"/>
                <a:cs typeface="微软雅黑"/>
              </a:rPr>
              <a:t>XIT</a:t>
            </a:r>
            <a:r>
              <a:rPr sz="2400" b="1" dirty="0">
                <a:latin typeface="微软雅黑"/>
                <a:cs typeface="微软雅黑"/>
              </a:rPr>
              <a:t>4分别具有独立的中断通道</a:t>
            </a:r>
            <a:endParaRPr sz="2400" dirty="0">
              <a:latin typeface="微软雅黑"/>
              <a:cs typeface="微软雅黑"/>
            </a:endParaRPr>
          </a:p>
          <a:p>
            <a:pPr marL="196215">
              <a:lnSpc>
                <a:spcPct val="100000"/>
              </a:lnSpc>
              <a:spcBef>
                <a:spcPts val="1440"/>
              </a:spcBef>
              <a:tabLst>
                <a:tab pos="653415" algn="l"/>
              </a:tabLst>
            </a:pPr>
            <a:r>
              <a:rPr sz="2400" b="1" dirty="0">
                <a:latin typeface="微软雅黑"/>
                <a:cs typeface="微软雅黑"/>
              </a:rPr>
              <a:t>②	</a:t>
            </a:r>
            <a:r>
              <a:rPr sz="2400" b="1" spc="30" dirty="0">
                <a:latin typeface="微软雅黑"/>
                <a:cs typeface="微软雅黑"/>
              </a:rPr>
              <a:t>E</a:t>
            </a:r>
            <a:r>
              <a:rPr sz="2400" b="1" spc="45" dirty="0">
                <a:latin typeface="微软雅黑"/>
                <a:cs typeface="微软雅黑"/>
              </a:rPr>
              <a:t>X</a:t>
            </a:r>
            <a:r>
              <a:rPr sz="2400" b="1" spc="-5" dirty="0">
                <a:latin typeface="微软雅黑"/>
                <a:cs typeface="微软雅黑"/>
              </a:rPr>
              <a:t>TI5</a:t>
            </a:r>
            <a:r>
              <a:rPr sz="2400" b="1" spc="-10" dirty="0">
                <a:latin typeface="微软雅黑"/>
                <a:cs typeface="微软雅黑"/>
              </a:rPr>
              <a:t>~</a:t>
            </a:r>
            <a:r>
              <a:rPr sz="2400" b="1" spc="30" dirty="0">
                <a:latin typeface="微软雅黑"/>
                <a:cs typeface="微软雅黑"/>
              </a:rPr>
              <a:t>E</a:t>
            </a:r>
            <a:r>
              <a:rPr sz="2400" b="1" spc="-5" dirty="0">
                <a:latin typeface="微软雅黑"/>
                <a:cs typeface="微软雅黑"/>
              </a:rPr>
              <a:t>XIT</a:t>
            </a:r>
            <a:r>
              <a:rPr sz="2400" b="1" dirty="0">
                <a:latin typeface="微软雅黑"/>
                <a:cs typeface="微软雅黑"/>
              </a:rPr>
              <a:t>9共享同一个中断通道</a:t>
            </a:r>
            <a:endParaRPr sz="2400" dirty="0">
              <a:latin typeface="微软雅黑"/>
              <a:cs typeface="微软雅黑"/>
            </a:endParaRPr>
          </a:p>
          <a:p>
            <a:pPr marL="196215">
              <a:lnSpc>
                <a:spcPct val="100000"/>
              </a:lnSpc>
              <a:spcBef>
                <a:spcPts val="1440"/>
              </a:spcBef>
              <a:tabLst>
                <a:tab pos="653415" algn="l"/>
              </a:tabLst>
            </a:pPr>
            <a:r>
              <a:rPr sz="2400" b="1" dirty="0">
                <a:latin typeface="微软雅黑"/>
                <a:cs typeface="微软雅黑"/>
              </a:rPr>
              <a:t>③	</a:t>
            </a:r>
            <a:r>
              <a:rPr sz="2400" b="1" spc="30" dirty="0">
                <a:latin typeface="微软雅黑"/>
                <a:cs typeface="微软雅黑"/>
              </a:rPr>
              <a:t>E</a:t>
            </a:r>
            <a:r>
              <a:rPr sz="2400" b="1" spc="45" dirty="0">
                <a:latin typeface="微软雅黑"/>
                <a:cs typeface="微软雅黑"/>
              </a:rPr>
              <a:t>X</a:t>
            </a:r>
            <a:r>
              <a:rPr sz="2400" b="1" spc="-5" dirty="0">
                <a:latin typeface="微软雅黑"/>
                <a:cs typeface="微软雅黑"/>
              </a:rPr>
              <a:t>TI1</a:t>
            </a:r>
            <a:r>
              <a:rPr sz="2400" b="1" spc="-10" dirty="0">
                <a:latin typeface="微软雅黑"/>
                <a:cs typeface="微软雅黑"/>
              </a:rPr>
              <a:t>0</a:t>
            </a:r>
            <a:r>
              <a:rPr sz="2400" b="1" spc="-5" dirty="0">
                <a:latin typeface="微软雅黑"/>
                <a:cs typeface="微软雅黑"/>
              </a:rPr>
              <a:t>~</a:t>
            </a:r>
            <a:r>
              <a:rPr sz="2400" b="1" spc="35" dirty="0">
                <a:latin typeface="微软雅黑"/>
                <a:cs typeface="微软雅黑"/>
              </a:rPr>
              <a:t>E</a:t>
            </a:r>
            <a:r>
              <a:rPr sz="2400" b="1" spc="-5" dirty="0">
                <a:latin typeface="微软雅黑"/>
                <a:cs typeface="微软雅黑"/>
              </a:rPr>
              <a:t>XIT1</a:t>
            </a:r>
            <a:r>
              <a:rPr sz="2400" b="1" dirty="0">
                <a:latin typeface="微软雅黑"/>
                <a:cs typeface="微软雅黑"/>
              </a:rPr>
              <a:t>5共享同一个中断通道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1030" y="3832026"/>
            <a:ext cx="144716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0000"/>
                </a:solidFill>
                <a:latin typeface="微软雅黑"/>
                <a:cs typeface="微软雅黑"/>
              </a:rPr>
              <a:t>中断通道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1018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4611"/>
            <a:ext cx="1310640" cy="304800"/>
          </a:xfrm>
          <a:custGeom>
            <a:avLst/>
            <a:gdLst/>
            <a:ahLst/>
            <a:cxnLst/>
            <a:rect l="l" t="t" r="r" b="b"/>
            <a:pathLst>
              <a:path w="1310640" h="304800">
                <a:moveTo>
                  <a:pt x="0" y="304800"/>
                </a:moveTo>
                <a:lnTo>
                  <a:pt x="1310640" y="304800"/>
                </a:lnTo>
                <a:lnTo>
                  <a:pt x="131064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8515" y="324611"/>
            <a:ext cx="8063865" cy="304800"/>
          </a:xfrm>
          <a:custGeom>
            <a:avLst/>
            <a:gdLst/>
            <a:ahLst/>
            <a:cxnLst/>
            <a:rect l="l" t="t" r="r" b="b"/>
            <a:pathLst>
              <a:path w="8063865" h="304800">
                <a:moveTo>
                  <a:pt x="0" y="304800"/>
                </a:moveTo>
                <a:lnTo>
                  <a:pt x="8063484" y="304800"/>
                </a:lnTo>
                <a:lnTo>
                  <a:pt x="806348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3" y="6470903"/>
            <a:ext cx="12190730" cy="45720"/>
          </a:xfrm>
          <a:custGeom>
            <a:avLst/>
            <a:gdLst/>
            <a:ahLst/>
            <a:cxnLst/>
            <a:rect l="l" t="t" r="r" b="b"/>
            <a:pathLst>
              <a:path w="12190730" h="45720">
                <a:moveTo>
                  <a:pt x="0" y="45719"/>
                </a:moveTo>
                <a:lnTo>
                  <a:pt x="12190476" y="45719"/>
                </a:lnTo>
                <a:lnTo>
                  <a:pt x="12190476" y="0"/>
                </a:lnTo>
                <a:lnTo>
                  <a:pt x="0" y="0"/>
                </a:lnTo>
                <a:lnTo>
                  <a:pt x="0" y="45719"/>
                </a:lnTo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3" y="6516623"/>
            <a:ext cx="12190730" cy="341630"/>
          </a:xfrm>
          <a:custGeom>
            <a:avLst/>
            <a:gdLst/>
            <a:ahLst/>
            <a:cxnLst/>
            <a:rect l="l" t="t" r="r" b="b"/>
            <a:pathLst>
              <a:path w="12190730" h="341629">
                <a:moveTo>
                  <a:pt x="0" y="341376"/>
                </a:moveTo>
                <a:lnTo>
                  <a:pt x="12190476" y="341376"/>
                </a:lnTo>
                <a:lnTo>
                  <a:pt x="12190476" y="0"/>
                </a:lnTo>
                <a:lnTo>
                  <a:pt x="0" y="0"/>
                </a:lnTo>
                <a:lnTo>
                  <a:pt x="0" y="341376"/>
                </a:lnTo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969276"/>
            <a:ext cx="2164079" cy="757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95172"/>
            <a:ext cx="2087880" cy="655320"/>
          </a:xfrm>
          <a:custGeom>
            <a:avLst/>
            <a:gdLst/>
            <a:ahLst/>
            <a:cxnLst/>
            <a:rect l="l" t="t" r="r" b="b"/>
            <a:pathLst>
              <a:path w="2087880" h="655319">
                <a:moveTo>
                  <a:pt x="1836420" y="0"/>
                </a:moveTo>
                <a:lnTo>
                  <a:pt x="0" y="0"/>
                </a:lnTo>
                <a:lnTo>
                  <a:pt x="0" y="655319"/>
                </a:lnTo>
                <a:lnTo>
                  <a:pt x="1836420" y="655319"/>
                </a:lnTo>
                <a:lnTo>
                  <a:pt x="2087880" y="327660"/>
                </a:lnTo>
                <a:lnTo>
                  <a:pt x="1836420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37588" y="969276"/>
            <a:ext cx="611098" cy="757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3495" y="995172"/>
            <a:ext cx="509270" cy="655320"/>
          </a:xfrm>
          <a:custGeom>
            <a:avLst/>
            <a:gdLst/>
            <a:ahLst/>
            <a:cxnLst/>
            <a:rect l="l" t="t" r="r" b="b"/>
            <a:pathLst>
              <a:path w="509269" h="655319">
                <a:moveTo>
                  <a:pt x="254508" y="0"/>
                </a:moveTo>
                <a:lnTo>
                  <a:pt x="0" y="0"/>
                </a:lnTo>
                <a:lnTo>
                  <a:pt x="254508" y="327660"/>
                </a:lnTo>
                <a:lnTo>
                  <a:pt x="0" y="655319"/>
                </a:lnTo>
                <a:lnTo>
                  <a:pt x="254508" y="655319"/>
                </a:lnTo>
                <a:lnTo>
                  <a:pt x="509016" y="327660"/>
                </a:lnTo>
                <a:lnTo>
                  <a:pt x="254508" y="0"/>
                </a:lnTo>
                <a:close/>
              </a:path>
            </a:pathLst>
          </a:custGeom>
          <a:solidFill>
            <a:srgbClr val="E34A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8931" y="652511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M</a:t>
            </a:r>
            <a:r>
              <a:rPr sz="2400" spc="-10" dirty="0">
                <a:solidFill>
                  <a:srgbClr val="FFFFFF"/>
                </a:solidFill>
                <a:latin typeface="微软雅黑"/>
                <a:cs typeface="微软雅黑"/>
              </a:rPr>
              <a:t>ode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2454" y="2450604"/>
            <a:ext cx="5267960" cy="883919"/>
          </a:xfrm>
          <a:custGeom>
            <a:avLst/>
            <a:gdLst/>
            <a:ahLst/>
            <a:cxnLst/>
            <a:rect l="l" t="t" r="r" b="b"/>
            <a:pathLst>
              <a:path w="5267960" h="883920">
                <a:moveTo>
                  <a:pt x="0" y="883526"/>
                </a:moveTo>
                <a:lnTo>
                  <a:pt x="5267833" y="883526"/>
                </a:lnTo>
                <a:lnTo>
                  <a:pt x="5267833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60261" y="2450604"/>
            <a:ext cx="5041900" cy="883919"/>
          </a:xfrm>
          <a:custGeom>
            <a:avLst/>
            <a:gdLst/>
            <a:ahLst/>
            <a:cxnLst/>
            <a:rect l="l" t="t" r="r" b="b"/>
            <a:pathLst>
              <a:path w="5041900" h="883920">
                <a:moveTo>
                  <a:pt x="0" y="883526"/>
                </a:moveTo>
                <a:lnTo>
                  <a:pt x="5041899" y="883526"/>
                </a:lnTo>
                <a:lnTo>
                  <a:pt x="5041899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2454" y="3334143"/>
            <a:ext cx="5267960" cy="883919"/>
          </a:xfrm>
          <a:custGeom>
            <a:avLst/>
            <a:gdLst/>
            <a:ahLst/>
            <a:cxnLst/>
            <a:rect l="l" t="t" r="r" b="b"/>
            <a:pathLst>
              <a:path w="5267960" h="883920">
                <a:moveTo>
                  <a:pt x="0" y="883526"/>
                </a:moveTo>
                <a:lnTo>
                  <a:pt x="5267833" y="883526"/>
                </a:lnTo>
                <a:lnTo>
                  <a:pt x="5267833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0261" y="3334143"/>
            <a:ext cx="5041900" cy="883919"/>
          </a:xfrm>
          <a:custGeom>
            <a:avLst/>
            <a:gdLst/>
            <a:ahLst/>
            <a:cxnLst/>
            <a:rect l="l" t="t" r="r" b="b"/>
            <a:pathLst>
              <a:path w="5041900" h="883920">
                <a:moveTo>
                  <a:pt x="0" y="883526"/>
                </a:moveTo>
                <a:lnTo>
                  <a:pt x="5041899" y="883526"/>
                </a:lnTo>
                <a:lnTo>
                  <a:pt x="5041899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92454" y="5101196"/>
            <a:ext cx="5267960" cy="883919"/>
          </a:xfrm>
          <a:custGeom>
            <a:avLst/>
            <a:gdLst/>
            <a:ahLst/>
            <a:cxnLst/>
            <a:rect l="l" t="t" r="r" b="b"/>
            <a:pathLst>
              <a:path w="5267960" h="883920">
                <a:moveTo>
                  <a:pt x="0" y="883526"/>
                </a:moveTo>
                <a:lnTo>
                  <a:pt x="5267833" y="883526"/>
                </a:lnTo>
                <a:lnTo>
                  <a:pt x="5267833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60261" y="5101196"/>
            <a:ext cx="5041900" cy="883919"/>
          </a:xfrm>
          <a:custGeom>
            <a:avLst/>
            <a:gdLst/>
            <a:ahLst/>
            <a:cxnLst/>
            <a:rect l="l" t="t" r="r" b="b"/>
            <a:pathLst>
              <a:path w="5041900" h="883920">
                <a:moveTo>
                  <a:pt x="0" y="883526"/>
                </a:moveTo>
                <a:lnTo>
                  <a:pt x="5041899" y="883526"/>
                </a:lnTo>
                <a:lnTo>
                  <a:pt x="5041899" y="0"/>
                </a:lnTo>
                <a:lnTo>
                  <a:pt x="0" y="0"/>
                </a:lnTo>
                <a:lnTo>
                  <a:pt x="0" y="883526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60261" y="2436367"/>
            <a:ext cx="0" cy="3562985"/>
          </a:xfrm>
          <a:custGeom>
            <a:avLst/>
            <a:gdLst/>
            <a:ahLst/>
            <a:cxnLst/>
            <a:rect l="l" t="t" r="r" b="b"/>
            <a:pathLst>
              <a:path h="3562985">
                <a:moveTo>
                  <a:pt x="0" y="0"/>
                </a:moveTo>
                <a:lnTo>
                  <a:pt x="0" y="356264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8166" y="3334130"/>
            <a:ext cx="10338435" cy="0"/>
          </a:xfrm>
          <a:custGeom>
            <a:avLst/>
            <a:gdLst/>
            <a:ahLst/>
            <a:cxnLst/>
            <a:rect l="l" t="t" r="r" b="b"/>
            <a:pathLst>
              <a:path w="10338435">
                <a:moveTo>
                  <a:pt x="0" y="0"/>
                </a:moveTo>
                <a:lnTo>
                  <a:pt x="103382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8166" y="4217670"/>
            <a:ext cx="10338435" cy="0"/>
          </a:xfrm>
          <a:custGeom>
            <a:avLst/>
            <a:gdLst/>
            <a:ahLst/>
            <a:cxnLst/>
            <a:rect l="l" t="t" r="r" b="b"/>
            <a:pathLst>
              <a:path w="10338435">
                <a:moveTo>
                  <a:pt x="0" y="0"/>
                </a:moveTo>
                <a:lnTo>
                  <a:pt x="103382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8166" y="5101209"/>
            <a:ext cx="10338435" cy="0"/>
          </a:xfrm>
          <a:custGeom>
            <a:avLst/>
            <a:gdLst/>
            <a:ahLst/>
            <a:cxnLst/>
            <a:rect l="l" t="t" r="r" b="b"/>
            <a:pathLst>
              <a:path w="10338435">
                <a:moveTo>
                  <a:pt x="0" y="0"/>
                </a:moveTo>
                <a:lnTo>
                  <a:pt x="103382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2454" y="2436367"/>
            <a:ext cx="0" cy="3562985"/>
          </a:xfrm>
          <a:custGeom>
            <a:avLst/>
            <a:gdLst/>
            <a:ahLst/>
            <a:cxnLst/>
            <a:rect l="l" t="t" r="r" b="b"/>
            <a:pathLst>
              <a:path h="3562985">
                <a:moveTo>
                  <a:pt x="0" y="0"/>
                </a:moveTo>
                <a:lnTo>
                  <a:pt x="0" y="356264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02034" y="2436367"/>
            <a:ext cx="0" cy="3562985"/>
          </a:xfrm>
          <a:custGeom>
            <a:avLst/>
            <a:gdLst/>
            <a:ahLst/>
            <a:cxnLst/>
            <a:rect l="l" t="t" r="r" b="b"/>
            <a:pathLst>
              <a:path h="3562985">
                <a:moveTo>
                  <a:pt x="0" y="0"/>
                </a:moveTo>
                <a:lnTo>
                  <a:pt x="0" y="356264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8166" y="2450592"/>
            <a:ext cx="10338435" cy="0"/>
          </a:xfrm>
          <a:custGeom>
            <a:avLst/>
            <a:gdLst/>
            <a:ahLst/>
            <a:cxnLst/>
            <a:rect l="l" t="t" r="r" b="b"/>
            <a:pathLst>
              <a:path w="10338435">
                <a:moveTo>
                  <a:pt x="0" y="0"/>
                </a:moveTo>
                <a:lnTo>
                  <a:pt x="103382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8166" y="5984722"/>
            <a:ext cx="10338435" cy="0"/>
          </a:xfrm>
          <a:custGeom>
            <a:avLst/>
            <a:gdLst/>
            <a:ahLst/>
            <a:cxnLst/>
            <a:rect l="l" t="t" r="r" b="b"/>
            <a:pathLst>
              <a:path w="10338435">
                <a:moveTo>
                  <a:pt x="0" y="0"/>
                </a:moveTo>
                <a:lnTo>
                  <a:pt x="1033821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52470" y="2745856"/>
            <a:ext cx="15494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宏常量定义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64981" y="2745856"/>
            <a:ext cx="6350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含义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34057" y="3629395"/>
            <a:ext cx="35845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GPIO_</a:t>
            </a:r>
            <a:r>
              <a:rPr sz="2400" b="1" dirty="0">
                <a:latin typeface="微软雅黑"/>
                <a:cs typeface="微软雅黑"/>
              </a:rPr>
              <a:t>M</a:t>
            </a:r>
            <a:r>
              <a:rPr sz="2400" b="1" spc="-5" dirty="0">
                <a:latin typeface="微软雅黑"/>
                <a:cs typeface="微软雅黑"/>
              </a:rPr>
              <a:t>ODE_IT_</a:t>
            </a:r>
            <a:r>
              <a:rPr sz="2400" b="1" spc="10" dirty="0">
                <a:latin typeface="微软雅黑"/>
                <a:cs typeface="微软雅黑"/>
              </a:rPr>
              <a:t>R</a:t>
            </a:r>
            <a:r>
              <a:rPr sz="2400" b="1" spc="-5" dirty="0">
                <a:latin typeface="微软雅黑"/>
                <a:cs typeface="微软雅黑"/>
              </a:rPr>
              <a:t>ISING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07781" y="3629395"/>
            <a:ext cx="15494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上升沿触发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25854" y="4512816"/>
            <a:ext cx="380174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G</a:t>
            </a:r>
            <a:r>
              <a:rPr sz="2400" b="1" spc="-10" dirty="0">
                <a:latin typeface="微软雅黑"/>
                <a:cs typeface="微软雅黑"/>
              </a:rPr>
              <a:t>P</a:t>
            </a:r>
            <a:r>
              <a:rPr sz="2400" b="1" spc="-5" dirty="0">
                <a:latin typeface="微软雅黑"/>
                <a:cs typeface="微软雅黑"/>
              </a:rPr>
              <a:t>IO_</a:t>
            </a:r>
            <a:r>
              <a:rPr sz="2400" b="1" dirty="0">
                <a:latin typeface="微软雅黑"/>
                <a:cs typeface="微软雅黑"/>
              </a:rPr>
              <a:t>M</a:t>
            </a:r>
            <a:r>
              <a:rPr sz="2400" b="1" spc="-5" dirty="0">
                <a:latin typeface="微软雅黑"/>
                <a:cs typeface="微软雅黑"/>
              </a:rPr>
              <a:t>OD</a:t>
            </a:r>
            <a:r>
              <a:rPr sz="2400" b="1" spc="-10" dirty="0">
                <a:latin typeface="微软雅黑"/>
                <a:cs typeface="微软雅黑"/>
              </a:rPr>
              <a:t>E</a:t>
            </a:r>
            <a:r>
              <a:rPr sz="2400" b="1" spc="-5" dirty="0">
                <a:latin typeface="微软雅黑"/>
                <a:cs typeface="微软雅黑"/>
              </a:rPr>
              <a:t>_IT_</a:t>
            </a:r>
            <a:r>
              <a:rPr sz="2400" b="1" spc="-135" dirty="0">
                <a:latin typeface="微软雅黑"/>
                <a:cs typeface="微软雅黑"/>
              </a:rPr>
              <a:t>F</a:t>
            </a:r>
            <a:r>
              <a:rPr sz="2400" b="1" dirty="0">
                <a:latin typeface="微软雅黑"/>
                <a:cs typeface="微软雅黑"/>
              </a:rPr>
              <a:t>A</a:t>
            </a:r>
            <a:r>
              <a:rPr sz="2400" b="1" spc="-15" dirty="0">
                <a:latin typeface="微软雅黑"/>
                <a:cs typeface="微软雅黑"/>
              </a:rPr>
              <a:t>L</a:t>
            </a:r>
            <a:r>
              <a:rPr sz="2400" b="1" dirty="0">
                <a:latin typeface="微软雅黑"/>
                <a:cs typeface="微软雅黑"/>
              </a:rPr>
              <a:t>LING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07781" y="4512816"/>
            <a:ext cx="15494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下降沿触发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1732" y="5396981"/>
            <a:ext cx="50285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微软雅黑"/>
                <a:cs typeface="微软雅黑"/>
              </a:rPr>
              <a:t>GPIO_</a:t>
            </a:r>
            <a:r>
              <a:rPr sz="2400" b="1" dirty="0">
                <a:latin typeface="微软雅黑"/>
                <a:cs typeface="微软雅黑"/>
              </a:rPr>
              <a:t>M</a:t>
            </a:r>
            <a:r>
              <a:rPr sz="2400" b="1" spc="-5" dirty="0">
                <a:latin typeface="微软雅黑"/>
                <a:cs typeface="微软雅黑"/>
              </a:rPr>
              <a:t>ODE_IT_</a:t>
            </a:r>
            <a:r>
              <a:rPr sz="2400" b="1" spc="10" dirty="0">
                <a:latin typeface="微软雅黑"/>
                <a:cs typeface="微软雅黑"/>
              </a:rPr>
              <a:t>R</a:t>
            </a:r>
            <a:r>
              <a:rPr sz="2400" b="1" spc="-5" dirty="0">
                <a:latin typeface="微软雅黑"/>
                <a:cs typeface="微软雅黑"/>
              </a:rPr>
              <a:t>ISING_</a:t>
            </a:r>
            <a:r>
              <a:rPr sz="2400" b="1" spc="-145" dirty="0">
                <a:latin typeface="微软雅黑"/>
                <a:cs typeface="微软雅黑"/>
              </a:rPr>
              <a:t>F</a:t>
            </a:r>
            <a:r>
              <a:rPr sz="2400" b="1" spc="-5" dirty="0">
                <a:latin typeface="微软雅黑"/>
                <a:cs typeface="微软雅黑"/>
              </a:rPr>
              <a:t>A</a:t>
            </a:r>
            <a:r>
              <a:rPr sz="2400" b="1" spc="-15" dirty="0">
                <a:latin typeface="微软雅黑"/>
                <a:cs typeface="微软雅黑"/>
              </a:rPr>
              <a:t>L</a:t>
            </a:r>
            <a:r>
              <a:rPr sz="2400" b="1" dirty="0">
                <a:latin typeface="微软雅黑"/>
                <a:cs typeface="微软雅黑"/>
              </a:rPr>
              <a:t>LING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07781" y="5396981"/>
            <a:ext cx="15494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微软雅黑"/>
                <a:cs typeface="微软雅黑"/>
              </a:rPr>
              <a:t>双边沿触发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47925" y="389881"/>
            <a:ext cx="544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solidFill>
                  <a:srgbClr val="252525"/>
                </a:solidFill>
                <a:latin typeface="微软雅黑"/>
                <a:cs typeface="微软雅黑"/>
              </a:rPr>
              <a:t>E</a:t>
            </a:r>
            <a:r>
              <a:rPr sz="1800" b="1" spc="30" dirty="0">
                <a:solidFill>
                  <a:srgbClr val="252525"/>
                </a:solidFill>
                <a:latin typeface="微软雅黑"/>
                <a:cs typeface="微软雅黑"/>
              </a:rPr>
              <a:t>X</a:t>
            </a:r>
            <a:r>
              <a:rPr sz="1800" b="1" spc="-5" dirty="0">
                <a:solidFill>
                  <a:srgbClr val="252525"/>
                </a:solidFill>
                <a:latin typeface="微软雅黑"/>
                <a:cs typeface="微软雅黑"/>
              </a:rPr>
              <a:t>TI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63670" y="1180267"/>
            <a:ext cx="426593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微软雅黑"/>
                <a:cs typeface="微软雅黑"/>
              </a:rPr>
              <a:t>成员变量</a:t>
            </a:r>
            <a:r>
              <a:rPr sz="2800" b="1" spc="-10" dirty="0">
                <a:latin typeface="微软雅黑"/>
                <a:cs typeface="微软雅黑"/>
              </a:rPr>
              <a:t>Mod</a:t>
            </a:r>
            <a:r>
              <a:rPr sz="2800" b="1" spc="0" dirty="0">
                <a:latin typeface="微软雅黑"/>
                <a:cs typeface="微软雅黑"/>
              </a:rPr>
              <a:t>e</a:t>
            </a:r>
            <a:r>
              <a:rPr sz="2800" b="1" spc="-5" dirty="0">
                <a:latin typeface="微软雅黑"/>
                <a:cs typeface="微软雅黑"/>
              </a:rPr>
              <a:t>的取值范围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1426" y="3502914"/>
            <a:ext cx="5355590" cy="2360930"/>
          </a:xfrm>
          <a:custGeom>
            <a:avLst/>
            <a:gdLst/>
            <a:ahLst/>
            <a:cxnLst/>
            <a:rect l="l" t="t" r="r" b="b"/>
            <a:pathLst>
              <a:path w="5355590" h="2360929">
                <a:moveTo>
                  <a:pt x="0" y="2360676"/>
                </a:moveTo>
                <a:lnTo>
                  <a:pt x="5355336" y="2360676"/>
                </a:lnTo>
                <a:lnTo>
                  <a:pt x="5355336" y="0"/>
                </a:lnTo>
                <a:lnTo>
                  <a:pt x="0" y="0"/>
                </a:lnTo>
                <a:lnTo>
                  <a:pt x="0" y="2360676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85564" y="2222754"/>
            <a:ext cx="2967355" cy="1237615"/>
          </a:xfrm>
          <a:custGeom>
            <a:avLst/>
            <a:gdLst/>
            <a:ahLst/>
            <a:cxnLst/>
            <a:rect l="l" t="t" r="r" b="b"/>
            <a:pathLst>
              <a:path w="2967354" h="1237614">
                <a:moveTo>
                  <a:pt x="2804160" y="0"/>
                </a:moveTo>
                <a:lnTo>
                  <a:pt x="373985" y="11"/>
                </a:lnTo>
                <a:lnTo>
                  <a:pt x="331156" y="6231"/>
                </a:lnTo>
                <a:lnTo>
                  <a:pt x="292709" y="22842"/>
                </a:lnTo>
                <a:lnTo>
                  <a:pt x="260161" y="48325"/>
                </a:lnTo>
                <a:lnTo>
                  <a:pt x="235032" y="81160"/>
                </a:lnTo>
                <a:lnTo>
                  <a:pt x="218840" y="119829"/>
                </a:lnTo>
                <a:lnTo>
                  <a:pt x="213192" y="160879"/>
                </a:lnTo>
                <a:lnTo>
                  <a:pt x="213117" y="816004"/>
                </a:lnTo>
                <a:lnTo>
                  <a:pt x="213942" y="830673"/>
                </a:lnTo>
                <a:lnTo>
                  <a:pt x="223794" y="872210"/>
                </a:lnTo>
                <a:lnTo>
                  <a:pt x="243531" y="908860"/>
                </a:lnTo>
                <a:lnTo>
                  <a:pt x="271634" y="939104"/>
                </a:lnTo>
                <a:lnTo>
                  <a:pt x="306583" y="961423"/>
                </a:lnTo>
                <a:lnTo>
                  <a:pt x="346859" y="974297"/>
                </a:lnTo>
                <a:lnTo>
                  <a:pt x="375920" y="976884"/>
                </a:lnTo>
                <a:lnTo>
                  <a:pt x="672084" y="976884"/>
                </a:lnTo>
                <a:lnTo>
                  <a:pt x="0" y="1237361"/>
                </a:lnTo>
                <a:lnTo>
                  <a:pt x="1360551" y="976884"/>
                </a:lnTo>
                <a:lnTo>
                  <a:pt x="2806094" y="976872"/>
                </a:lnTo>
                <a:lnTo>
                  <a:pt x="2820763" y="976047"/>
                </a:lnTo>
                <a:lnTo>
                  <a:pt x="2862300" y="966195"/>
                </a:lnTo>
                <a:lnTo>
                  <a:pt x="2898950" y="946458"/>
                </a:lnTo>
                <a:lnTo>
                  <a:pt x="2929194" y="918355"/>
                </a:lnTo>
                <a:lnTo>
                  <a:pt x="2951513" y="883406"/>
                </a:lnTo>
                <a:lnTo>
                  <a:pt x="2964387" y="843130"/>
                </a:lnTo>
                <a:lnTo>
                  <a:pt x="2966962" y="160879"/>
                </a:lnTo>
                <a:lnTo>
                  <a:pt x="2966137" y="146210"/>
                </a:lnTo>
                <a:lnTo>
                  <a:pt x="2956285" y="104673"/>
                </a:lnTo>
                <a:lnTo>
                  <a:pt x="2936548" y="68023"/>
                </a:lnTo>
                <a:lnTo>
                  <a:pt x="2908445" y="37779"/>
                </a:lnTo>
                <a:lnTo>
                  <a:pt x="2873496" y="15460"/>
                </a:lnTo>
                <a:lnTo>
                  <a:pt x="2833220" y="2586"/>
                </a:lnTo>
                <a:lnTo>
                  <a:pt x="2818873" y="655"/>
                </a:lnTo>
                <a:lnTo>
                  <a:pt x="2804160" y="0"/>
                </a:lnTo>
                <a:close/>
              </a:path>
            </a:pathLst>
          </a:custGeom>
          <a:solidFill>
            <a:srgbClr val="FF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85564" y="2222754"/>
            <a:ext cx="2967355" cy="1237615"/>
          </a:xfrm>
          <a:custGeom>
            <a:avLst/>
            <a:gdLst/>
            <a:ahLst/>
            <a:cxnLst/>
            <a:rect l="l" t="t" r="r" b="b"/>
            <a:pathLst>
              <a:path w="2967354" h="1237614">
                <a:moveTo>
                  <a:pt x="213106" y="162813"/>
                </a:moveTo>
                <a:lnTo>
                  <a:pt x="218840" y="119829"/>
                </a:lnTo>
                <a:lnTo>
                  <a:pt x="235032" y="81160"/>
                </a:lnTo>
                <a:lnTo>
                  <a:pt x="260161" y="48325"/>
                </a:lnTo>
                <a:lnTo>
                  <a:pt x="292709" y="22842"/>
                </a:lnTo>
                <a:lnTo>
                  <a:pt x="331156" y="6231"/>
                </a:lnTo>
                <a:lnTo>
                  <a:pt x="373985" y="11"/>
                </a:lnTo>
                <a:lnTo>
                  <a:pt x="672084" y="0"/>
                </a:lnTo>
                <a:lnTo>
                  <a:pt x="1360551" y="0"/>
                </a:lnTo>
                <a:lnTo>
                  <a:pt x="2804160" y="0"/>
                </a:lnTo>
                <a:lnTo>
                  <a:pt x="2818873" y="655"/>
                </a:lnTo>
                <a:lnTo>
                  <a:pt x="2860588" y="10045"/>
                </a:lnTo>
                <a:lnTo>
                  <a:pt x="2897481" y="29384"/>
                </a:lnTo>
                <a:lnTo>
                  <a:pt x="2928035" y="57155"/>
                </a:lnTo>
                <a:lnTo>
                  <a:pt x="2950729" y="91838"/>
                </a:lnTo>
                <a:lnTo>
                  <a:pt x="2964045" y="131915"/>
                </a:lnTo>
                <a:lnTo>
                  <a:pt x="2966974" y="569849"/>
                </a:lnTo>
                <a:lnTo>
                  <a:pt x="2966974" y="814070"/>
                </a:lnTo>
                <a:lnTo>
                  <a:pt x="2966318" y="828783"/>
                </a:lnTo>
                <a:lnTo>
                  <a:pt x="2964387" y="843130"/>
                </a:lnTo>
                <a:lnTo>
                  <a:pt x="2951513" y="883406"/>
                </a:lnTo>
                <a:lnTo>
                  <a:pt x="2929194" y="918355"/>
                </a:lnTo>
                <a:lnTo>
                  <a:pt x="2898950" y="946458"/>
                </a:lnTo>
                <a:lnTo>
                  <a:pt x="2862300" y="966195"/>
                </a:lnTo>
                <a:lnTo>
                  <a:pt x="2820763" y="976047"/>
                </a:lnTo>
                <a:lnTo>
                  <a:pt x="1360551" y="976884"/>
                </a:lnTo>
                <a:lnTo>
                  <a:pt x="0" y="1237361"/>
                </a:lnTo>
                <a:lnTo>
                  <a:pt x="672084" y="976884"/>
                </a:lnTo>
                <a:lnTo>
                  <a:pt x="375920" y="976884"/>
                </a:lnTo>
                <a:lnTo>
                  <a:pt x="361206" y="976228"/>
                </a:lnTo>
                <a:lnTo>
                  <a:pt x="319491" y="966838"/>
                </a:lnTo>
                <a:lnTo>
                  <a:pt x="282598" y="947499"/>
                </a:lnTo>
                <a:lnTo>
                  <a:pt x="252044" y="919728"/>
                </a:lnTo>
                <a:lnTo>
                  <a:pt x="229350" y="885045"/>
                </a:lnTo>
                <a:lnTo>
                  <a:pt x="216034" y="844968"/>
                </a:lnTo>
                <a:lnTo>
                  <a:pt x="213106" y="814070"/>
                </a:lnTo>
                <a:lnTo>
                  <a:pt x="213106" y="569849"/>
                </a:lnTo>
                <a:lnTo>
                  <a:pt x="213106" y="162813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37353" y="2383591"/>
            <a:ext cx="247650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b="1" spc="-5" dirty="0">
                <a:latin typeface="宋体"/>
                <a:cs typeface="宋体"/>
              </a:rPr>
              <a:t>对于外部中断功能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89753" y="2728531"/>
            <a:ext cx="21723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dirty="0">
                <a:latin typeface="宋体"/>
                <a:cs typeface="宋体"/>
              </a:rPr>
              <a:t>增加的取值范围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014737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6601" y="180278"/>
            <a:ext cx="400812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3865" algn="l"/>
              </a:tabLst>
            </a:pPr>
            <a:r>
              <a:rPr spc="-5" dirty="0">
                <a:latin typeface="微软雅黑"/>
                <a:cs typeface="微软雅黑"/>
              </a:rPr>
              <a:t>1	</a:t>
            </a:r>
            <a:r>
              <a:rPr spc="-10" dirty="0"/>
              <a:t>外部中断通用处理函数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59041" y="682561"/>
          <a:ext cx="11744299" cy="607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7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109">
                <a:tc gridSpan="2">
                  <a:txBody>
                    <a:bodyPr/>
                    <a:lstStyle/>
                    <a:p>
                      <a:pPr marL="293687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接口函数：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L_GPIO_</a:t>
                      </a:r>
                      <a:r>
                        <a:rPr sz="2400" b="1" spc="4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TI_I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QH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ndler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917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函数原型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400" b="1" spc="-30" dirty="0">
                          <a:latin typeface="微软雅黑"/>
                          <a:cs typeface="微软雅黑"/>
                        </a:rPr>
                        <a:t>v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L_GPIO_</a:t>
                      </a:r>
                      <a:r>
                        <a:rPr sz="2400" b="1" spc="4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5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TI_I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QH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ndle</a:t>
                      </a:r>
                      <a:r>
                        <a:rPr sz="2400" b="1" spc="1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(uin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t16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spc="-3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n)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918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功能描述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作为所有外部中断发生后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的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通用处理函数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28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入口参数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：连接到对应外部中断线的引脚，范围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是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IO_PIN_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0～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17735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PIN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_15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981"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返回值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无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42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注意事项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1.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所有外部中断服务程序均调用该函数完成中断处理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2.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函数内部根据G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的取值判断中断源，并清除对应外部中断线的中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41719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断标志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3.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函数内部调用外部中断回调函数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L_GPIO_</a:t>
                      </a:r>
                      <a:r>
                        <a:rPr sz="2400" b="1" spc="4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5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TI_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all</a:t>
                      </a:r>
                      <a:r>
                        <a:rPr sz="2400" b="1" spc="-3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ac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k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完成实际的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4171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处理任务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54610">
                        <a:lnSpc>
                          <a:spcPts val="2845"/>
                        </a:lnSpc>
                        <a:spcBef>
                          <a:spcPts val="625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4.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该函数由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u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M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自动生成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008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7211" y="180278"/>
            <a:ext cx="3297554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3865" algn="l"/>
              </a:tabLst>
            </a:pPr>
            <a:r>
              <a:rPr spc="-5" dirty="0">
                <a:latin typeface="微软雅黑"/>
                <a:cs typeface="微软雅黑"/>
              </a:rPr>
              <a:t>2	</a:t>
            </a:r>
            <a:r>
              <a:rPr spc="-10" dirty="0"/>
              <a:t>外部中断回调函数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3586" y="758761"/>
          <a:ext cx="11876265" cy="57412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3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109">
                <a:tc gridSpan="2">
                  <a:txBody>
                    <a:bodyPr/>
                    <a:lstStyle/>
                    <a:p>
                      <a:pPr marL="325691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接口函数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：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L_GPIO_</a:t>
                      </a:r>
                      <a:r>
                        <a:rPr sz="2400" b="1" spc="4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TI_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all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ack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91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函数原型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spc="-30" dirty="0">
                          <a:latin typeface="微软雅黑"/>
                          <a:cs typeface="微软雅黑"/>
                        </a:rPr>
                        <a:t>v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oi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sz="2400" b="1" spc="10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L_GPIO_</a:t>
                      </a:r>
                      <a:r>
                        <a:rPr sz="2400" b="1" spc="40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5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TI_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C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all</a:t>
                      </a:r>
                      <a:r>
                        <a:rPr sz="2400" b="1" spc="-30" dirty="0">
                          <a:latin typeface="微软雅黑"/>
                          <a:cs typeface="微软雅黑"/>
                        </a:rPr>
                        <a:t>b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ac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k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(uint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16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t</a:t>
                      </a:r>
                      <a:r>
                        <a:rPr sz="2400" b="1" spc="-4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n)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91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功能描述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外部中断回调函数，用于处理具体的中断任务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448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入口参数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：连接到对应外部中断线的引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脚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，范围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是</a:t>
                      </a:r>
                      <a:r>
                        <a:rPr sz="2400" b="1" spc="-2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IO_PIN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10" dirty="0">
                          <a:latin typeface="微软雅黑"/>
                          <a:cs typeface="微软雅黑"/>
                        </a:rPr>
                        <a:t>0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～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177355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GPIO_PIN</a:t>
                      </a:r>
                      <a:r>
                        <a:rPr sz="2400" b="1" spc="5" dirty="0">
                          <a:latin typeface="微软雅黑"/>
                          <a:cs typeface="微软雅黑"/>
                        </a:rPr>
                        <a:t>_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15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981"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微软雅黑"/>
                          <a:cs typeface="微软雅黑"/>
                        </a:rPr>
                        <a:t>返回值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无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86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注意事项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1.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该函数由外部中断通用处理函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数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H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A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L_G</a:t>
                      </a:r>
                      <a:r>
                        <a:rPr sz="2400" b="1" spc="-15" dirty="0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IO_</a:t>
                      </a:r>
                      <a:r>
                        <a:rPr sz="2400" b="1" spc="45" dirty="0">
                          <a:latin typeface="微软雅黑"/>
                          <a:cs typeface="微软雅黑"/>
                        </a:rPr>
                        <a:t>E</a:t>
                      </a:r>
                      <a:r>
                        <a:rPr sz="2400" b="1" spc="40" dirty="0">
                          <a:latin typeface="微软雅黑"/>
                          <a:cs typeface="微软雅黑"/>
                        </a:rPr>
                        <a:t>X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TI_I</a:t>
                      </a:r>
                      <a:r>
                        <a:rPr sz="2400" b="1" spc="-2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QHandle</a:t>
                      </a:r>
                      <a:r>
                        <a:rPr sz="2400" b="1" spc="10" dirty="0">
                          <a:latin typeface="微软雅黑"/>
                          <a:cs typeface="微软雅黑"/>
                        </a:rPr>
                        <a:t>r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调用，完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4171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成所有外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部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中断的任务处理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2.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函数内部先根据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GPIO_Pi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n的取值来判断中断源，然后执行对应的中断任务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00" b="1" dirty="0">
                          <a:latin typeface="微软雅黑"/>
                          <a:cs typeface="微软雅黑"/>
                        </a:rPr>
                        <a:t>3.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 该函数由用户根据实际</a:t>
                      </a:r>
                      <a:r>
                        <a:rPr sz="2400" b="1" dirty="0">
                          <a:latin typeface="微软雅黑"/>
                          <a:cs typeface="微软雅黑"/>
                        </a:rPr>
                        <a:t>需</a:t>
                      </a:r>
                      <a:r>
                        <a:rPr sz="2400" b="1" spc="-5" dirty="0">
                          <a:latin typeface="微软雅黑"/>
                          <a:cs typeface="微软雅黑"/>
                        </a:rPr>
                        <a:t>求编写</a:t>
                      </a:r>
                      <a:endParaRPr sz="2400" dirty="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414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0c78e80a-2d6b-4de1-a306-8b402359c32a}"/>
</p:tagLst>
</file>

<file path=ppt/theme/theme1.xml><?xml version="1.0" encoding="utf-8"?>
<a:theme xmlns:a="http://schemas.openxmlformats.org/drawingml/2006/main" name="Office 主题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80CB"/>
      </a:accent1>
      <a:accent2>
        <a:srgbClr val="0080CB"/>
      </a:accent2>
      <a:accent3>
        <a:srgbClr val="0BD0D9"/>
      </a:accent3>
      <a:accent4>
        <a:srgbClr val="C9C9C9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2138</TotalTime>
  <Words>1517</Words>
  <Application>Microsoft Office PowerPoint</Application>
  <PresentationFormat>宽屏</PresentationFormat>
  <Paragraphs>283</Paragraphs>
  <Slides>32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等线</vt:lpstr>
      <vt:lpstr>黑体</vt:lpstr>
      <vt:lpstr>华文新魏</vt:lpstr>
      <vt:lpstr>宋体</vt:lpstr>
      <vt:lpstr>微软雅黑</vt:lpstr>
      <vt:lpstr>微软雅黑 Light</vt:lpstr>
      <vt:lpstr>Arial</vt:lpstr>
      <vt:lpstr>Calibri</vt:lpstr>
      <vt:lpstr>Consolas</vt:lpstr>
      <vt:lpstr>Segoe UI Emoji</vt:lpstr>
      <vt:lpstr>Times New Roman</vt:lpstr>
      <vt:lpstr>Verdana</vt:lpstr>
      <vt:lpstr>Wingdings</vt:lpstr>
      <vt:lpstr>Office 主题</vt:lpstr>
      <vt:lpstr>Microsoft Visio 2003-2010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数据传输方式</vt:lpstr>
      <vt:lpstr>中断全过程</vt:lpstr>
      <vt:lpstr>中断程序执行过程示意图</vt:lpstr>
      <vt:lpstr>中断的作用</vt:lpstr>
      <vt:lpstr>EXTI</vt:lpstr>
      <vt:lpstr>EXTI</vt:lpstr>
      <vt:lpstr>查找中断向量</vt:lpstr>
      <vt:lpstr>中断响应过程</vt:lpstr>
      <vt:lpstr>基本概念</vt:lpstr>
      <vt:lpstr>NVIC</vt:lpstr>
      <vt:lpstr>引脚分组</vt:lpstr>
      <vt:lpstr>Mode</vt:lpstr>
      <vt:lpstr>1 外部中断通用处理函数</vt:lpstr>
      <vt:lpstr>2 外部中断回调函数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bfchen</cp:lastModifiedBy>
  <cp:revision>112</cp:revision>
  <dcterms:created xsi:type="dcterms:W3CDTF">2015-10-07T04:43:00Z</dcterms:created>
  <dcterms:modified xsi:type="dcterms:W3CDTF">2021-12-07T00:43:08Z</dcterms:modified>
  <cp:category>亮亮图文旗舰店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36920A491D9043ABAB242F85E8A58E32</vt:lpwstr>
  </property>
</Properties>
</file>