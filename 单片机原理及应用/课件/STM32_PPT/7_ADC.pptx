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324" r:id="rId2"/>
    <p:sldId id="353" r:id="rId3"/>
    <p:sldId id="292" r:id="rId4"/>
    <p:sldId id="325" r:id="rId5"/>
    <p:sldId id="330" r:id="rId6"/>
    <p:sldId id="354" r:id="rId7"/>
    <p:sldId id="332" r:id="rId8"/>
    <p:sldId id="333" r:id="rId9"/>
    <p:sldId id="334" r:id="rId10"/>
    <p:sldId id="338" r:id="rId11"/>
    <p:sldId id="339" r:id="rId12"/>
    <p:sldId id="340" r:id="rId13"/>
    <p:sldId id="342" r:id="rId14"/>
    <p:sldId id="343" r:id="rId15"/>
    <p:sldId id="347" r:id="rId16"/>
    <p:sldId id="351" r:id="rId17"/>
    <p:sldId id="348" r:id="rId18"/>
    <p:sldId id="349" r:id="rId19"/>
    <p:sldId id="313" r:id="rId20"/>
  </p:sldIdLst>
  <p:sldSz cx="12192000" cy="6858000"/>
  <p:notesSz cx="6858000" cy="9144000"/>
  <p:custDataLst>
    <p:tags r:id="rId22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3CB1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/>
    <p:restoredTop sz="89074"/>
  </p:normalViewPr>
  <p:slideViewPr>
    <p:cSldViewPr snapToGrid="0">
      <p:cViewPr>
        <p:scale>
          <a:sx n="50" d="100"/>
          <a:sy n="50" d="100"/>
        </p:scale>
        <p:origin x="1500" y="552"/>
      </p:cViewPr>
      <p:guideLst>
        <p:guide orient="horz" pos="2160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6656F9-9585-4187-A8F5-014ED015095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51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76970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3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4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5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7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8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9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10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11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12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13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14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15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16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17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18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19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01D03D8-F7CE-4A92-B791-1A55E7B8B12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01D03D8-F7CE-4A92-B791-1A55E7B8B12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5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5.GIF"/><Relationship Id="rId4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019175"/>
            <a:ext cx="12192000" cy="2686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12420" y="1839595"/>
            <a:ext cx="11614150" cy="1045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ctr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6200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ea"/>
              </a:rPr>
              <a:t>13</a:t>
            </a:r>
            <a:r>
              <a:rPr sz="6200" noProof="0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ea"/>
              </a:rPr>
              <a:t>  </a:t>
            </a:r>
            <a:r>
              <a:rPr sz="6200" noProof="0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ea"/>
              </a:rPr>
              <a:t>ADC</a:t>
            </a:r>
            <a:endParaRPr sz="6200" noProof="0" dirty="0" smtClean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pic>
        <p:nvPicPr>
          <p:cNvPr id="6" name="图片 5" descr="cube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2880" y="3316605"/>
            <a:ext cx="2557780" cy="3325495"/>
          </a:xfrm>
          <a:prstGeom prst="rect">
            <a:avLst/>
          </a:prstGeom>
        </p:spPr>
      </p:pic>
      <p:pic>
        <p:nvPicPr>
          <p:cNvPr id="2" name="图片 1" descr="chip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" y="75565"/>
            <a:ext cx="1724025" cy="155257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3049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13</a:t>
            </a:r>
            <a:r>
              <a:rPr lang="zh-CN" altLang="en-US" sz="28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.2  模/数转换器</a:t>
            </a:r>
          </a:p>
          <a:p>
            <a:pPr>
              <a:lnSpc>
                <a:spcPct val="130000"/>
              </a:lnSpc>
            </a:pP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  在单片机控制系统中，反馈通道需要采集控制系统的受控量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，就必须要用到适合的传感器。绝大部分传感器都是将被测量转换为电压或者电流模拟量信号，不能直接被单片机所识别，因此必须在传感器的输出端使用一个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模/数转换器</a:t>
            </a:r>
            <a:r>
              <a:rPr lang="zh-CN" altLang="en-US" sz="24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（Analog to Digital Converter，简称ADC）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，将传感器输出的模拟量转换为相应的数字量信号，然后再送给单片机作控制处理，反馈通道的信号处理过程如图所示。</a:t>
            </a: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对象 -2147482586"/>
          <p:cNvGraphicFramePr>
            <a:graphicFrameLocks noChangeAspect="1"/>
          </p:cNvGraphicFramePr>
          <p:nvPr/>
        </p:nvGraphicFramePr>
        <p:xfrm>
          <a:off x="1025525" y="3664585"/>
          <a:ext cx="1013968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r:id="rId5" imgW="2425065" imgH="306705" progId="Visio.Drawing.11">
                  <p:embed/>
                </p:oleObj>
              </mc:Choice>
              <mc:Fallback>
                <p:oleObj r:id="rId5" imgW="2425065" imgH="306705" progId="Visio.Drawing.11">
                  <p:embed/>
                  <p:pic>
                    <p:nvPicPr>
                      <p:cNvPr id="3" name="对象 -214748258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25525" y="3664585"/>
                        <a:ext cx="10139680" cy="1282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7503716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731521" y="522515"/>
            <a:ext cx="11142616" cy="3200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/>
              <a:t>一、简介</a:t>
            </a:r>
            <a:endParaRPr lang="en-US" altLang="zh-CN" sz="2000" b="1" dirty="0" smtClean="0"/>
          </a:p>
          <a:p>
            <a:endParaRPr lang="en-US" altLang="zh-CN" sz="2000" b="1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STM32f103</a:t>
            </a:r>
            <a:r>
              <a:rPr lang="zh-CN" altLang="en-US" dirty="0"/>
              <a:t>系列有</a:t>
            </a:r>
            <a:r>
              <a:rPr lang="en-US" altLang="zh-CN" dirty="0"/>
              <a:t>3</a:t>
            </a:r>
            <a:r>
              <a:rPr lang="zh-CN" altLang="en-US" dirty="0"/>
              <a:t>个</a:t>
            </a:r>
            <a:r>
              <a:rPr lang="en-US" altLang="zh-CN" dirty="0"/>
              <a:t>ADC</a:t>
            </a:r>
            <a:r>
              <a:rPr lang="zh-CN" altLang="en-US" dirty="0"/>
              <a:t>，精度为</a:t>
            </a:r>
            <a:r>
              <a:rPr lang="en-US" altLang="zh-CN" dirty="0"/>
              <a:t>12</a:t>
            </a:r>
            <a:r>
              <a:rPr lang="zh-CN" altLang="en-US" dirty="0"/>
              <a:t>位，每个</a:t>
            </a:r>
            <a:r>
              <a:rPr lang="en-US" altLang="zh-CN" dirty="0"/>
              <a:t>ADC</a:t>
            </a:r>
            <a:r>
              <a:rPr lang="zh-CN" altLang="en-US" dirty="0"/>
              <a:t>最多有</a:t>
            </a:r>
            <a:r>
              <a:rPr lang="en-US" altLang="zh-CN" dirty="0"/>
              <a:t>16</a:t>
            </a:r>
            <a:r>
              <a:rPr lang="zh-CN" altLang="en-US" dirty="0"/>
              <a:t>个外部通道。其中</a:t>
            </a:r>
            <a:r>
              <a:rPr lang="en-US" altLang="zh-CN" dirty="0"/>
              <a:t>ADC1</a:t>
            </a:r>
            <a:r>
              <a:rPr lang="zh-CN" altLang="en-US" dirty="0"/>
              <a:t>和</a:t>
            </a:r>
            <a:r>
              <a:rPr lang="en-US" altLang="zh-CN" dirty="0"/>
              <a:t>ADC2</a:t>
            </a:r>
            <a:r>
              <a:rPr lang="zh-CN" altLang="en-US" dirty="0"/>
              <a:t>都有</a:t>
            </a:r>
            <a:r>
              <a:rPr lang="en-US" altLang="zh-CN" dirty="0"/>
              <a:t>16</a:t>
            </a:r>
            <a:r>
              <a:rPr lang="zh-CN" altLang="en-US" dirty="0"/>
              <a:t>个外部通道，</a:t>
            </a:r>
            <a:r>
              <a:rPr lang="en-US" altLang="zh-CN" dirty="0"/>
              <a:t>ADC3</a:t>
            </a:r>
            <a:r>
              <a:rPr lang="zh-CN" altLang="en-US" dirty="0"/>
              <a:t>一般有</a:t>
            </a:r>
            <a:r>
              <a:rPr lang="en-US" altLang="zh-CN" dirty="0"/>
              <a:t>8</a:t>
            </a:r>
            <a:r>
              <a:rPr lang="zh-CN" altLang="en-US" dirty="0"/>
              <a:t>个外部通道，各通道的</a:t>
            </a:r>
            <a:r>
              <a:rPr lang="en-US" altLang="zh-CN" dirty="0"/>
              <a:t>A/D</a:t>
            </a:r>
            <a:r>
              <a:rPr lang="zh-CN" altLang="en-US" dirty="0"/>
              <a:t>转换可以单次、连续、扫描或间断执行，</a:t>
            </a:r>
            <a:r>
              <a:rPr lang="en-US" altLang="zh-CN" dirty="0"/>
              <a:t>ADC</a:t>
            </a:r>
            <a:r>
              <a:rPr lang="zh-CN" altLang="en-US" dirty="0"/>
              <a:t>转换的结果可以左对齐或右对齐储存在</a:t>
            </a:r>
            <a:r>
              <a:rPr lang="en-US" altLang="zh-CN" dirty="0"/>
              <a:t>16</a:t>
            </a:r>
            <a:r>
              <a:rPr lang="zh-CN" altLang="en-US" dirty="0"/>
              <a:t>位数据寄存器中。</a:t>
            </a:r>
            <a:r>
              <a:rPr lang="en-US" altLang="zh-CN" dirty="0"/>
              <a:t>ADC</a:t>
            </a:r>
            <a:r>
              <a:rPr lang="zh-CN" altLang="en-US" dirty="0"/>
              <a:t>的输入时钟不得超过</a:t>
            </a:r>
            <a:r>
              <a:rPr lang="en-US" altLang="zh-CN" dirty="0"/>
              <a:t>14MHz</a:t>
            </a:r>
            <a:r>
              <a:rPr lang="zh-CN" altLang="en-US" dirty="0"/>
              <a:t>，其时钟频率由</a:t>
            </a:r>
            <a:r>
              <a:rPr lang="en-US" altLang="zh-CN" dirty="0"/>
              <a:t>PCLK2</a:t>
            </a:r>
            <a:r>
              <a:rPr lang="zh-CN" altLang="en-US" dirty="0"/>
              <a:t>分频产生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sz="2000" b="1" dirty="0"/>
              <a:t>二、输入通道</a:t>
            </a:r>
            <a:endParaRPr lang="en-US" altLang="zh-CN" sz="2000" b="1" dirty="0"/>
          </a:p>
          <a:p>
            <a:endParaRPr lang="en-US" altLang="zh-CN" dirty="0"/>
          </a:p>
          <a:p>
            <a:r>
              <a:rPr lang="zh-CN" altLang="en-US" dirty="0"/>
              <a:t>这</a:t>
            </a:r>
            <a:r>
              <a:rPr lang="en-US" altLang="zh-CN" dirty="0"/>
              <a:t>16</a:t>
            </a:r>
            <a:r>
              <a:rPr lang="zh-CN" altLang="en-US" dirty="0"/>
              <a:t>个通道对应着不同的</a:t>
            </a:r>
            <a:r>
              <a:rPr lang="en-US" altLang="zh-CN" dirty="0"/>
              <a:t>IO</a:t>
            </a:r>
            <a:r>
              <a:rPr lang="zh-CN" altLang="en-US" dirty="0"/>
              <a:t>口，此外</a:t>
            </a:r>
            <a:r>
              <a:rPr lang="en-US" altLang="zh-CN" dirty="0"/>
              <a:t>ADC1/2/3 </a:t>
            </a:r>
            <a:r>
              <a:rPr lang="zh-CN" altLang="en-US" dirty="0"/>
              <a:t>还有内部通道： </a:t>
            </a:r>
            <a:r>
              <a:rPr lang="en-US" altLang="zh-CN" dirty="0"/>
              <a:t>ADC1 </a:t>
            </a:r>
            <a:r>
              <a:rPr lang="zh-CN" altLang="en-US" dirty="0"/>
              <a:t>的通道 </a:t>
            </a:r>
            <a:r>
              <a:rPr lang="en-US" altLang="zh-CN" dirty="0"/>
              <a:t>16 </a:t>
            </a:r>
            <a:r>
              <a:rPr lang="zh-CN" altLang="en-US" dirty="0"/>
              <a:t>连接到了芯片内部的温度传感器， </a:t>
            </a:r>
            <a:r>
              <a:rPr lang="en-US" altLang="zh-CN" dirty="0" err="1"/>
              <a:t>Vrefint</a:t>
            </a:r>
            <a:r>
              <a:rPr lang="en-US" altLang="zh-CN" dirty="0"/>
              <a:t> </a:t>
            </a:r>
            <a:r>
              <a:rPr lang="zh-CN" altLang="en-US" dirty="0"/>
              <a:t>连接到了通道 </a:t>
            </a:r>
            <a:r>
              <a:rPr lang="en-US" altLang="zh-CN" dirty="0"/>
              <a:t>17</a:t>
            </a:r>
            <a:r>
              <a:rPr lang="zh-CN" altLang="en-US" dirty="0"/>
              <a:t>。 </a:t>
            </a:r>
            <a:r>
              <a:rPr lang="en-US" altLang="zh-CN" dirty="0"/>
              <a:t>ADC2 </a:t>
            </a:r>
            <a:r>
              <a:rPr lang="zh-CN" altLang="en-US" dirty="0"/>
              <a:t>的模拟通道 </a:t>
            </a:r>
            <a:r>
              <a:rPr lang="en-US" altLang="zh-CN" dirty="0"/>
              <a:t>16 </a:t>
            </a:r>
            <a:r>
              <a:rPr lang="zh-CN" altLang="en-US" dirty="0"/>
              <a:t>和 </a:t>
            </a:r>
            <a:r>
              <a:rPr lang="en-US" altLang="zh-CN" dirty="0"/>
              <a:t>17 </a:t>
            </a:r>
            <a:r>
              <a:rPr lang="zh-CN" altLang="en-US" dirty="0"/>
              <a:t>连接到了内部的 </a:t>
            </a:r>
            <a:r>
              <a:rPr lang="en-US" altLang="zh-CN" dirty="0"/>
              <a:t>VSS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81" y="836023"/>
            <a:ext cx="9709465" cy="5315971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592183" y="694066"/>
            <a:ext cx="8773886" cy="65864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/>
              <a:t>1.</a:t>
            </a:r>
            <a:r>
              <a:rPr lang="zh-CN" altLang="en-US" sz="2000" b="1" dirty="0"/>
              <a:t>电压输入</a:t>
            </a:r>
            <a:r>
              <a:rPr lang="zh-CN" altLang="en-US" sz="2000" b="1" dirty="0" smtClean="0"/>
              <a:t>范围</a:t>
            </a:r>
            <a:endParaRPr lang="en-US" altLang="zh-CN" sz="2000" b="1" dirty="0" smtClean="0"/>
          </a:p>
          <a:p>
            <a:endParaRPr lang="en-US" altLang="zh-CN" sz="2000" b="1" dirty="0" smtClean="0"/>
          </a:p>
          <a:p>
            <a:r>
              <a:rPr lang="en-US" altLang="zh-CN" dirty="0" smtClean="0"/>
              <a:t>ADC</a:t>
            </a:r>
            <a:r>
              <a:rPr lang="zh-CN" altLang="en-US" dirty="0"/>
              <a:t>所能测量的电压范围就是</a:t>
            </a:r>
            <a:r>
              <a:rPr lang="en-US" altLang="zh-CN" dirty="0"/>
              <a:t>VREF- ≤ VIN ≤ VREF+</a:t>
            </a:r>
            <a:r>
              <a:rPr lang="zh-CN" altLang="en-US" dirty="0"/>
              <a:t>，把 </a:t>
            </a:r>
            <a:r>
              <a:rPr lang="en-US" altLang="zh-CN" dirty="0"/>
              <a:t>VSSA </a:t>
            </a:r>
            <a:r>
              <a:rPr lang="zh-CN" altLang="en-US" dirty="0"/>
              <a:t>和 </a:t>
            </a:r>
            <a:r>
              <a:rPr lang="en-US" altLang="zh-CN" dirty="0"/>
              <a:t>VREF-</a:t>
            </a:r>
            <a:r>
              <a:rPr lang="zh-CN" altLang="en-US" dirty="0"/>
              <a:t>接地，把 </a:t>
            </a:r>
            <a:r>
              <a:rPr lang="en-US" altLang="zh-CN" dirty="0"/>
              <a:t>VREF+</a:t>
            </a:r>
            <a:r>
              <a:rPr lang="zh-CN" altLang="en-US" dirty="0"/>
              <a:t>和 </a:t>
            </a:r>
            <a:r>
              <a:rPr lang="en-US" altLang="zh-CN" dirty="0"/>
              <a:t>VDDA </a:t>
            </a:r>
            <a:r>
              <a:rPr lang="zh-CN" altLang="en-US" dirty="0"/>
              <a:t>接 </a:t>
            </a:r>
            <a:r>
              <a:rPr lang="en-US" altLang="zh-CN" dirty="0"/>
              <a:t>3V3</a:t>
            </a:r>
            <a:r>
              <a:rPr lang="zh-CN" altLang="en-US" dirty="0"/>
              <a:t>，得到</a:t>
            </a:r>
            <a:r>
              <a:rPr lang="en-US" altLang="zh-CN" dirty="0"/>
              <a:t>ADC </a:t>
            </a:r>
            <a:r>
              <a:rPr lang="zh-CN" altLang="en-US" dirty="0"/>
              <a:t>的输入电压范围为： </a:t>
            </a:r>
            <a:r>
              <a:rPr lang="en-US" altLang="zh-CN" dirty="0"/>
              <a:t>0~3.3V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sz="2000" b="1" dirty="0"/>
              <a:t>2</a:t>
            </a:r>
            <a:r>
              <a:rPr lang="en-US" altLang="zh-CN" sz="2000" b="1" dirty="0"/>
              <a:t>.</a:t>
            </a:r>
            <a:r>
              <a:rPr lang="zh-CN" altLang="en-US" sz="2000" b="1" dirty="0"/>
              <a:t>输入</a:t>
            </a:r>
            <a:r>
              <a:rPr lang="zh-CN" altLang="en-US" sz="2000" b="1" dirty="0"/>
              <a:t>通道</a:t>
            </a:r>
            <a:endParaRPr lang="en-US" altLang="zh-CN" sz="2000" b="1" dirty="0"/>
          </a:p>
          <a:p>
            <a:endParaRPr lang="en-US" altLang="zh-CN" dirty="0"/>
          </a:p>
          <a:p>
            <a:r>
              <a:rPr lang="en-US" altLang="zh-CN" dirty="0" smtClean="0"/>
              <a:t>ADC</a:t>
            </a:r>
            <a:r>
              <a:rPr lang="zh-CN" altLang="en-US" dirty="0"/>
              <a:t>的信号输入就是通过通道来实现的，信号通过通道输入到单片机中，单片机经过转换后，将模拟信号输出为数字信号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sz="2000" b="1" dirty="0"/>
              <a:t>3.</a:t>
            </a:r>
            <a:r>
              <a:rPr lang="zh-CN" altLang="en-US" sz="2000" b="1" dirty="0"/>
              <a:t>转换</a:t>
            </a:r>
            <a:r>
              <a:rPr lang="zh-CN" altLang="en-US" sz="2000" b="1" dirty="0"/>
              <a:t>顺序</a:t>
            </a:r>
            <a:endParaRPr lang="en-US" altLang="zh-CN" sz="2000" b="1" dirty="0"/>
          </a:p>
          <a:p>
            <a:endParaRPr lang="en-US" altLang="zh-CN" dirty="0" smtClean="0"/>
          </a:p>
          <a:p>
            <a:r>
              <a:rPr lang="zh-CN" altLang="en-US" dirty="0" smtClean="0"/>
              <a:t>知道</a:t>
            </a:r>
            <a:r>
              <a:rPr lang="zh-CN" altLang="en-US" dirty="0"/>
              <a:t>了</a:t>
            </a:r>
            <a:r>
              <a:rPr lang="en-US" altLang="zh-CN" dirty="0"/>
              <a:t>ADC</a:t>
            </a:r>
            <a:r>
              <a:rPr lang="zh-CN" altLang="en-US" dirty="0"/>
              <a:t>的转换通道后，如果</a:t>
            </a:r>
            <a:r>
              <a:rPr lang="en-US" altLang="zh-CN" dirty="0"/>
              <a:t>ADC</a:t>
            </a:r>
            <a:r>
              <a:rPr lang="zh-CN" altLang="en-US" dirty="0"/>
              <a:t>只使用一个通道来转换，那就很简单，但如果是使用多个通道进行转换就涉及到一个先后顺序了，毕竟规则转换通道只有一个数据寄存器。多个通道的使用顺序分为俩种情况：规则通道的转换顺序和注入通道的转换顺序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b="1" dirty="0" smtClean="0"/>
              <a:t>规则</a:t>
            </a:r>
            <a:r>
              <a:rPr lang="zh-CN" altLang="en-US" b="1" dirty="0"/>
              <a:t>通道转换</a:t>
            </a:r>
            <a:r>
              <a:rPr lang="zh-CN" altLang="en-US" b="1" dirty="0" smtClean="0"/>
              <a:t>顺序</a:t>
            </a:r>
            <a:endParaRPr lang="en-US" altLang="zh-CN" b="1" dirty="0" smtClean="0"/>
          </a:p>
          <a:p>
            <a:r>
              <a:rPr lang="zh-CN" altLang="en-US" dirty="0" smtClean="0"/>
              <a:t>规则</a:t>
            </a:r>
            <a:r>
              <a:rPr lang="zh-CN" altLang="en-US" dirty="0"/>
              <a:t>通道中的转换顺序由三个寄存器控制：</a:t>
            </a:r>
            <a:r>
              <a:rPr lang="en-US" altLang="zh-CN" dirty="0"/>
              <a:t>SQR1</a:t>
            </a:r>
            <a:r>
              <a:rPr lang="zh-CN" altLang="en-US" dirty="0"/>
              <a:t>、</a:t>
            </a:r>
            <a:r>
              <a:rPr lang="en-US" altLang="zh-CN" dirty="0"/>
              <a:t>SQR2</a:t>
            </a:r>
            <a:r>
              <a:rPr lang="zh-CN" altLang="en-US" dirty="0"/>
              <a:t>、</a:t>
            </a:r>
            <a:r>
              <a:rPr lang="en-US" altLang="zh-CN" dirty="0"/>
              <a:t>SQR3</a:t>
            </a:r>
            <a:r>
              <a:rPr lang="zh-CN" altLang="en-US" dirty="0"/>
              <a:t>，它们都是</a:t>
            </a:r>
            <a:r>
              <a:rPr lang="en-US" altLang="zh-CN" dirty="0"/>
              <a:t>32</a:t>
            </a:r>
            <a:r>
              <a:rPr lang="zh-CN" altLang="en-US" dirty="0"/>
              <a:t>位寄存器。</a:t>
            </a:r>
            <a:r>
              <a:rPr lang="en-US" altLang="zh-CN" dirty="0"/>
              <a:t>SQR</a:t>
            </a:r>
            <a:r>
              <a:rPr lang="zh-CN" altLang="en-US" dirty="0"/>
              <a:t>寄存器控制着转换通道的数目和转换顺序，只要在对应的寄存器位</a:t>
            </a:r>
            <a:r>
              <a:rPr lang="en-US" altLang="zh-CN" dirty="0" err="1"/>
              <a:t>SQx</a:t>
            </a:r>
            <a:r>
              <a:rPr lang="zh-CN" altLang="en-US" dirty="0"/>
              <a:t>中写入相应的通道，这个通道就是第</a:t>
            </a:r>
            <a:r>
              <a:rPr lang="en-US" altLang="zh-CN" dirty="0"/>
              <a:t>x</a:t>
            </a:r>
            <a:r>
              <a:rPr lang="zh-CN" altLang="en-US" dirty="0"/>
              <a:t>个转换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b="1" dirty="0"/>
              <a:t>注入通道转换顺序</a:t>
            </a:r>
          </a:p>
          <a:p>
            <a:r>
              <a:rPr lang="zh-CN" altLang="en-US" dirty="0"/>
              <a:t>和规则通道转换顺序的控制一样，注入通道的转换也是通过注入寄存器来控制，只不过只有一个</a:t>
            </a:r>
            <a:r>
              <a:rPr lang="en-US" altLang="zh-CN" dirty="0"/>
              <a:t>JSQR</a:t>
            </a:r>
            <a:r>
              <a:rPr lang="zh-CN" altLang="en-US" dirty="0"/>
              <a:t>寄存器来控制，控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26390"/>
            <a:ext cx="11669395" cy="5853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ClrTx/>
              <a:buSzTx/>
              <a:buFontTx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5.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转换时间</a:t>
            </a:r>
            <a:endParaRPr lang="en-US" altLang="zh-CN" sz="2400" b="1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  <a:buClrTx/>
              <a:buSzTx/>
              <a:buFontTx/>
            </a:pPr>
            <a:r>
              <a:rPr lang="zh-CN" altLang="en-US" sz="16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就是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转换时间的问题，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ADC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的每一次信号转换都要时间，这个时间就是转换时间，转换时间由输入时钟和采样周期来决定</a:t>
            </a:r>
            <a:r>
              <a:rPr lang="zh-CN" altLang="en-US" sz="16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en-US" altLang="zh-CN" sz="1600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  <a:buClrTx/>
              <a:buSzTx/>
              <a:buFontTx/>
            </a:pPr>
            <a:r>
              <a:rPr lang="zh-CN" altLang="en-US" sz="16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输入时钟</a:t>
            </a:r>
            <a:endParaRPr lang="en-US" altLang="zh-CN" sz="1600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  <a:buClrTx/>
              <a:buSzTx/>
              <a:buFontTx/>
            </a:pPr>
            <a:r>
              <a:rPr lang="zh-CN" altLang="en-US" sz="16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由于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ADC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STM32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中是挂载在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APB2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总线上的，所以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ADC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得时钟是由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PCLK2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72MHz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）经过分频得到的，分频因子由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RCC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时钟配置寄存器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RCC_CFGR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的位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15:14 ADCPRE[1:0]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设置，可以是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2/4/6/8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分频，一般配置分频因子为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，即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分频得到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ADC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的输入时钟频率为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9MHz</a:t>
            </a:r>
            <a:r>
              <a:rPr lang="zh-CN" altLang="en-US" sz="16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en-US" altLang="zh-CN" sz="1600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  <a:buClrTx/>
              <a:buSzTx/>
              <a:buFontTx/>
            </a:pPr>
            <a:r>
              <a:rPr lang="zh-CN" altLang="en-US" sz="16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采样周期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采样周期是确立在输入时钟上的，配置采样周期可以确定使用多少个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ADC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时钟周期来对电压进行采样，采样的周期数可通过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ADC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采样时间寄存器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ADC_SMPR1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和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ADC_SMPR2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中的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SMP[2:0]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位设置，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ADC_SMPR2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控制的是通道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0~9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ADC_SMPR1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控制的是通道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10~17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。每个通道可以配置不同的采样周期，但最小的采样周期是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1.5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个周期，也就是说如果想最快时间采样就设置采样周期为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1.5.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转换时间转换时间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采样时间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+12.5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个周期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12.5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个周期是固定的，一般我们设置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PCLK2=72M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，经过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ADC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预分频器能分频到最大的时钟只能是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12M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，采样周期设置为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1.5 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个周期，算出最短的转换时间为 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1.17us</a:t>
            </a:r>
            <a:r>
              <a:rPr lang="zh-CN" altLang="en-US" sz="16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en-US" altLang="zh-CN" sz="1600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  <a:buClrTx/>
              <a:buSzTx/>
              <a:buFontTx/>
            </a:pP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  <a:buClrTx/>
              <a:buSzTx/>
              <a:buFontTx/>
            </a:pPr>
            <a:endParaRPr lang="en-US" altLang="zh-CN" sz="1600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6.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电压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转换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  <a:buClrTx/>
              <a:buSzTx/>
              <a:buFontTx/>
            </a:pPr>
            <a:r>
              <a:rPr lang="zh-CN" altLang="en-US" sz="16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要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知道，转换后的数据是一个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12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位的二进制数，我们需要把这个二进制数代表的模拟量（电压）用数字表示出来。比如测量的电压范围是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0~3.3V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，转换后的二进制数是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，因为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12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位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ADC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在转换时将电压的范围大小（也就是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3.3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）分为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4096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2^12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）份，所以转换后的二进制数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代表的真实电压的计算方法就是：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y=3.3* x / </a:t>
            </a:r>
            <a:r>
              <a:rPr lang="en-US" altLang="zh-CN" sz="16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4096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7738" y="211727"/>
            <a:ext cx="1010831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AD</a:t>
            </a:r>
            <a:r>
              <a:rPr lang="zh-CN" altLang="en-US" sz="2400" b="1" dirty="0"/>
              <a:t>转换器的</a:t>
            </a:r>
            <a:r>
              <a:rPr lang="zh-CN" altLang="en-US" sz="2400" b="1" dirty="0" smtClean="0"/>
              <a:t>分类</a:t>
            </a:r>
            <a:endParaRPr lang="en-US" altLang="zh-CN" sz="2400" b="1" dirty="0" smtClean="0"/>
          </a:p>
          <a:p>
            <a:endParaRPr lang="en-US" altLang="zh-CN" dirty="0" smtClean="0"/>
          </a:p>
          <a:p>
            <a:r>
              <a:rPr lang="zh-CN" altLang="en-US" b="1" dirty="0"/>
              <a:t>积分</a:t>
            </a:r>
            <a:r>
              <a:rPr lang="zh-CN" altLang="en-US" b="1" dirty="0" smtClean="0"/>
              <a:t>型、</a:t>
            </a:r>
            <a:r>
              <a:rPr lang="zh-CN" altLang="en-US" b="1" dirty="0"/>
              <a:t>逐次比较</a:t>
            </a:r>
            <a:r>
              <a:rPr lang="zh-CN" altLang="en-US" b="1" dirty="0" smtClean="0"/>
              <a:t>型、</a:t>
            </a:r>
            <a:r>
              <a:rPr lang="zh-CN" altLang="en-US" b="1" dirty="0"/>
              <a:t>并行比较型</a:t>
            </a:r>
            <a:r>
              <a:rPr lang="en-US" altLang="zh-CN" b="1" dirty="0"/>
              <a:t>/</a:t>
            </a:r>
            <a:r>
              <a:rPr lang="zh-CN" altLang="en-US" b="1" dirty="0"/>
              <a:t>串并行比较</a:t>
            </a:r>
            <a:r>
              <a:rPr lang="zh-CN" altLang="en-US" b="1" dirty="0" smtClean="0"/>
              <a:t>型、</a:t>
            </a:r>
            <a:r>
              <a:rPr lang="zh-CN" altLang="en-US" b="1" dirty="0"/>
              <a:t>调制</a:t>
            </a:r>
            <a:r>
              <a:rPr lang="zh-CN" altLang="en-US" b="1" dirty="0" smtClean="0"/>
              <a:t>型、</a:t>
            </a:r>
            <a:r>
              <a:rPr lang="zh-CN" altLang="en-US" b="1" dirty="0"/>
              <a:t>电容阵列逐次比较</a:t>
            </a:r>
            <a:r>
              <a:rPr lang="zh-CN" altLang="en-US" b="1" dirty="0" smtClean="0"/>
              <a:t>型、</a:t>
            </a:r>
            <a:r>
              <a:rPr lang="zh-CN" altLang="en-US" b="1" dirty="0"/>
              <a:t>压频变换型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97738" y="1613654"/>
            <a:ext cx="11441812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AD</a:t>
            </a:r>
            <a:r>
              <a:rPr lang="zh-CN" altLang="en-US" sz="2400" b="1" dirty="0"/>
              <a:t>转换器的主要技术</a:t>
            </a:r>
            <a:r>
              <a:rPr lang="zh-CN" altLang="en-US" sz="2400" b="1" dirty="0" smtClean="0"/>
              <a:t>指标</a:t>
            </a:r>
            <a:endParaRPr lang="en-US" altLang="zh-CN" sz="2400" b="1" dirty="0" smtClean="0"/>
          </a:p>
          <a:p>
            <a:r>
              <a:rPr lang="en-US" altLang="zh-CN" dirty="0"/>
              <a:t>1).</a:t>
            </a:r>
            <a:r>
              <a:rPr lang="zh-CN" altLang="en-US" dirty="0"/>
              <a:t>分辩率</a:t>
            </a:r>
            <a:r>
              <a:rPr lang="en-US" altLang="zh-CN" dirty="0"/>
              <a:t>(Resolution) </a:t>
            </a:r>
            <a:r>
              <a:rPr lang="zh-CN" altLang="en-US" dirty="0"/>
              <a:t>指数字量变化一个最小量时模拟信号的变化量，定义为满刻度与</a:t>
            </a:r>
            <a:r>
              <a:rPr lang="en-US" altLang="zh-CN" dirty="0"/>
              <a:t>2n</a:t>
            </a:r>
            <a:r>
              <a:rPr lang="zh-CN" altLang="en-US" dirty="0"/>
              <a:t>的比值。分辩率又称精度，通常以数字信号的位数来表示。</a:t>
            </a:r>
          </a:p>
          <a:p>
            <a:endParaRPr lang="zh-CN" altLang="en-US" dirty="0"/>
          </a:p>
          <a:p>
            <a:r>
              <a:rPr lang="en-US" altLang="zh-CN" dirty="0" smtClean="0"/>
              <a:t>2</a:t>
            </a:r>
            <a:r>
              <a:rPr lang="en-US" altLang="zh-CN" dirty="0"/>
              <a:t>).</a:t>
            </a:r>
            <a:r>
              <a:rPr lang="zh-CN" altLang="en-US" dirty="0"/>
              <a:t>转换速率</a:t>
            </a:r>
            <a:r>
              <a:rPr lang="en-US" altLang="zh-CN" dirty="0"/>
              <a:t>(Conversion Rate)</a:t>
            </a:r>
            <a:r>
              <a:rPr lang="zh-CN" altLang="en-US" dirty="0"/>
              <a:t>是指完成一次从模拟转换到数字的</a:t>
            </a:r>
            <a:r>
              <a:rPr lang="en-US" altLang="zh-CN" dirty="0"/>
              <a:t>AD</a:t>
            </a:r>
            <a:r>
              <a:rPr lang="zh-CN" altLang="en-US" dirty="0"/>
              <a:t>转换所需的时间的</a:t>
            </a:r>
            <a:r>
              <a:rPr lang="zh-CN" altLang="en-US" dirty="0" smtClean="0"/>
              <a:t>倒数</a:t>
            </a:r>
            <a:r>
              <a:rPr lang="en-US" altLang="zh-CN" dirty="0" smtClean="0"/>
              <a:t>.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zh-CN" dirty="0"/>
              <a:t>3).</a:t>
            </a:r>
            <a:r>
              <a:rPr lang="zh-CN" altLang="en-US" dirty="0"/>
              <a:t>量化误差</a:t>
            </a:r>
            <a:r>
              <a:rPr lang="en-US" altLang="zh-CN" dirty="0"/>
              <a:t>(Quantizing Error) </a:t>
            </a:r>
            <a:r>
              <a:rPr lang="zh-CN" altLang="en-US" dirty="0" smtClean="0"/>
              <a:t>由于</a:t>
            </a:r>
            <a:r>
              <a:rPr lang="en-US" altLang="zh-CN" dirty="0"/>
              <a:t>AD</a:t>
            </a:r>
            <a:r>
              <a:rPr lang="zh-CN" altLang="en-US" dirty="0"/>
              <a:t>的有限分辩率而引起的误差，即有限分辩率</a:t>
            </a:r>
            <a:r>
              <a:rPr lang="en-US" altLang="zh-CN" dirty="0"/>
              <a:t>AD</a:t>
            </a:r>
            <a:r>
              <a:rPr lang="zh-CN" altLang="en-US" dirty="0"/>
              <a:t>的阶梯状转移特性曲线与无限分辩率</a:t>
            </a:r>
            <a:r>
              <a:rPr lang="en-US" altLang="zh-CN" dirty="0"/>
              <a:t>AD(</a:t>
            </a:r>
            <a:r>
              <a:rPr lang="zh-CN" altLang="en-US" dirty="0"/>
              <a:t>理想</a:t>
            </a:r>
            <a:r>
              <a:rPr lang="en-US" altLang="zh-CN" dirty="0"/>
              <a:t>AD)</a:t>
            </a:r>
            <a:r>
              <a:rPr lang="zh-CN" altLang="en-US" dirty="0"/>
              <a:t>的转移特 性曲线</a:t>
            </a:r>
            <a:r>
              <a:rPr lang="en-US" altLang="zh-CN" dirty="0"/>
              <a:t>(</a:t>
            </a:r>
            <a:r>
              <a:rPr lang="zh-CN" altLang="en-US" dirty="0"/>
              <a:t>直线</a:t>
            </a:r>
            <a:r>
              <a:rPr lang="en-US" altLang="zh-CN" dirty="0"/>
              <a:t>)</a:t>
            </a:r>
            <a:r>
              <a:rPr lang="zh-CN" altLang="en-US" dirty="0"/>
              <a:t>之间的最大偏差</a:t>
            </a:r>
            <a:r>
              <a:rPr lang="zh-CN" altLang="en-US" dirty="0" smtClean="0"/>
              <a:t>。</a:t>
            </a:r>
            <a:endParaRPr lang="zh-CN" altLang="en-US" dirty="0"/>
          </a:p>
          <a:p>
            <a:endParaRPr lang="en-US" altLang="zh-CN" dirty="0" smtClean="0"/>
          </a:p>
          <a:p>
            <a:r>
              <a:rPr lang="en-US" altLang="zh-CN" dirty="0" smtClean="0"/>
              <a:t>4</a:t>
            </a:r>
            <a:r>
              <a:rPr lang="en-US" altLang="zh-CN" dirty="0"/>
              <a:t>).</a:t>
            </a:r>
            <a:r>
              <a:rPr lang="zh-CN" altLang="en-US" dirty="0"/>
              <a:t>偏移误差</a:t>
            </a:r>
            <a:r>
              <a:rPr lang="en-US" altLang="zh-CN" dirty="0"/>
              <a:t>(Offset Error) </a:t>
            </a:r>
            <a:r>
              <a:rPr lang="zh-CN" altLang="en-US" dirty="0"/>
              <a:t>输入信号为零时输出信号不为零的值，可外接电位器调至最小。</a:t>
            </a:r>
          </a:p>
          <a:p>
            <a:endParaRPr lang="zh-CN" altLang="en-US" dirty="0"/>
          </a:p>
          <a:p>
            <a:r>
              <a:rPr lang="en-US" altLang="zh-CN" dirty="0" smtClean="0"/>
              <a:t>5</a:t>
            </a:r>
            <a:r>
              <a:rPr lang="en-US" altLang="zh-CN" dirty="0"/>
              <a:t>).</a:t>
            </a:r>
            <a:r>
              <a:rPr lang="zh-CN" altLang="en-US" dirty="0"/>
              <a:t>满刻度误差</a:t>
            </a:r>
            <a:r>
              <a:rPr lang="en-US" altLang="zh-CN" dirty="0"/>
              <a:t>(Full Scale Error) </a:t>
            </a:r>
            <a:r>
              <a:rPr lang="zh-CN" altLang="en-US" dirty="0"/>
              <a:t>满度输出时对应的输入信号与理想输入信号值之差。</a:t>
            </a:r>
          </a:p>
          <a:p>
            <a:endParaRPr lang="zh-CN" altLang="en-US" dirty="0"/>
          </a:p>
          <a:p>
            <a:r>
              <a:rPr lang="en-US" altLang="zh-CN" dirty="0"/>
              <a:t>6).</a:t>
            </a:r>
            <a:r>
              <a:rPr lang="zh-CN" altLang="en-US" dirty="0"/>
              <a:t>线性度</a:t>
            </a:r>
            <a:r>
              <a:rPr lang="en-US" altLang="zh-CN" dirty="0"/>
              <a:t>(Linearity) </a:t>
            </a:r>
            <a:r>
              <a:rPr lang="zh-CN" altLang="en-US" dirty="0"/>
              <a:t>实际转换器的转移函数与理想直线的最大</a:t>
            </a:r>
            <a:r>
              <a:rPr lang="zh-CN" altLang="en-US" dirty="0" smtClean="0"/>
              <a:t>偏移。 于</a:t>
            </a:r>
            <a:r>
              <a:rPr lang="zh-CN" altLang="en-US" dirty="0"/>
              <a:t>精度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84837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6250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2400" b="1" dirty="0" smtClean="0"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STM32F103R6单片机自带</a:t>
            </a:r>
            <a:r>
              <a:rPr lang="en-US" altLang="zh-CN" sz="2400" b="1" u="sng" dirty="0" smtClean="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2个ADC（ADC1、ADC2）</a:t>
            </a:r>
            <a:r>
              <a:rPr lang="en-US" altLang="zh-CN" sz="2400" b="1" dirty="0" smtClean="0"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，作用是将输入的模拟量电压信号转换为数字量信号输出，特性如下：</a:t>
            </a: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2000" b="1" dirty="0" smtClean="0">
                <a:solidFill>
                  <a:srgbClr val="7030A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● </a:t>
            </a:r>
            <a:r>
              <a:rPr lang="en-US" altLang="zh-CN" sz="2000" b="1" dirty="0" smtClean="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12位ADC</a:t>
            </a:r>
            <a:r>
              <a:rPr lang="en-US" altLang="zh-CN" sz="2000" b="1" dirty="0" smtClean="0">
                <a:solidFill>
                  <a:srgbClr val="7030A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，每个ADC均具备16个外部通道（编号0~15），其中ADC1有一路内部通道（编号16）连</a:t>
            </a: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2000" b="1" dirty="0" smtClean="0">
                <a:solidFill>
                  <a:srgbClr val="7030A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    接到STM32内部温度传感器；</a:t>
            </a: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2000" b="1" dirty="0" smtClean="0">
                <a:solidFill>
                  <a:srgbClr val="7030A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● 转换模拟量</a:t>
            </a:r>
            <a:r>
              <a:rPr lang="en-US" altLang="zh-CN" sz="2000" b="1" dirty="0" smtClean="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电压范围：0~3.6V</a:t>
            </a:r>
            <a:r>
              <a:rPr lang="en-US" altLang="zh-CN" sz="2000" b="1" dirty="0" smtClean="0">
                <a:solidFill>
                  <a:srgbClr val="7030A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2000" b="1" dirty="0" smtClean="0">
                <a:solidFill>
                  <a:srgbClr val="7030A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● 支持单次或连续转换模式；</a:t>
            </a: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2000" b="1" dirty="0" smtClean="0">
                <a:solidFill>
                  <a:srgbClr val="7030A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● 支持多通道的自动扫描模式；</a:t>
            </a: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2000" b="1" dirty="0" smtClean="0">
                <a:solidFill>
                  <a:srgbClr val="7030A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● 支持转换结果的</a:t>
            </a:r>
            <a:r>
              <a:rPr lang="en-US" altLang="zh-CN" sz="2000" b="1" dirty="0" smtClean="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左对齐或右对齐模式</a:t>
            </a:r>
            <a:r>
              <a:rPr lang="en-US" altLang="zh-CN" sz="2000" b="1" dirty="0" smtClean="0">
                <a:solidFill>
                  <a:srgbClr val="7030A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2000" b="1" dirty="0" smtClean="0">
                <a:solidFill>
                  <a:srgbClr val="7030A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● 支持DMA；</a:t>
            </a: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2000" b="1" dirty="0" smtClean="0">
                <a:solidFill>
                  <a:srgbClr val="7030A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● 最大支持14MHz工作频率。</a:t>
            </a: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2400" b="1" dirty="0" smtClean="0"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ADC每一次转换过程需要的时间称为“</a:t>
            </a:r>
            <a:r>
              <a:rPr lang="en-US" altLang="zh-CN" sz="2400" b="1" dirty="0" smtClean="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转换时间</a:t>
            </a:r>
            <a:r>
              <a:rPr lang="en-US" altLang="zh-CN" sz="2400" b="1" dirty="0" smtClean="0"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”。转换时间的长短取决于</a:t>
            </a:r>
            <a:r>
              <a:rPr lang="en-US" altLang="zh-CN" sz="2400" b="1" u="sng" dirty="0" smtClean="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①输入时钟</a:t>
            </a:r>
            <a:r>
              <a:rPr lang="en-US" altLang="zh-CN" sz="2400" b="1" dirty="0" smtClean="0"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（即ADC工作频率）与</a:t>
            </a:r>
            <a:r>
              <a:rPr lang="en-US" altLang="zh-CN" sz="2400" b="1" u="sng" dirty="0" smtClean="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②采样周期</a:t>
            </a:r>
            <a:r>
              <a:rPr lang="en-US" altLang="zh-CN" sz="2400" b="1" dirty="0" smtClean="0"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两个因素，两个参数都可以在STM32CubeIDE中进行图形化设置，转换时间的计算公式为：</a:t>
            </a: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2800" b="1" dirty="0" smtClean="0"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</a:t>
            </a:r>
            <a:r>
              <a:rPr lang="en-US" altLang="zh-CN" sz="2800" b="1" dirty="0" smtClean="0">
                <a:solidFill>
                  <a:srgbClr val="00206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sz="2800" b="1" dirty="0" smtClean="0">
                <a:solidFill>
                  <a:srgbClr val="C0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转换时间T</a:t>
            </a:r>
            <a:r>
              <a:rPr lang="en-US" altLang="zh-CN" sz="2800" b="1" baseline="-25000" dirty="0" smtClean="0">
                <a:solidFill>
                  <a:srgbClr val="C0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COVN</a:t>
            </a:r>
            <a:r>
              <a:rPr lang="en-US" altLang="zh-CN" sz="2800" b="1" dirty="0" smtClean="0">
                <a:solidFill>
                  <a:srgbClr val="C0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=采样周期+12.5周期</a:t>
            </a: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4407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2400" b="1" dirty="0" smtClean="0"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ADC转换的12位数字量结果</a:t>
            </a:r>
            <a:r>
              <a:rPr lang="zh-CN" altLang="en-US" sz="2400" b="1" dirty="0" smtClean="0"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2400" b="1" dirty="0" smtClean="0">
                <a:solidFill>
                  <a:srgbClr val="7030A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① 左对齐（Left Alignment）</a:t>
            </a: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en-US" altLang="zh-CN" sz="2400" b="1" dirty="0" smtClean="0"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2400" b="1" dirty="0" smtClean="0"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2400" b="1" dirty="0" smtClean="0">
                <a:solidFill>
                  <a:srgbClr val="00B05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zh-CN" altLang="en-US" sz="2400" b="1" dirty="0" smtClean="0">
                <a:solidFill>
                  <a:srgbClr val="00B05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取值范围</a:t>
            </a:r>
            <a:r>
              <a:rPr lang="en-US" altLang="zh-CN" sz="2400" b="1" dirty="0" smtClean="0">
                <a:solidFill>
                  <a:srgbClr val="00B05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0x0000~0xFFF0</a:t>
            </a: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2400" b="1" dirty="0" smtClean="0">
                <a:solidFill>
                  <a:srgbClr val="7030A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② 右对齐（Right Alignment）</a:t>
            </a: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en-US" altLang="zh-CN" sz="2400" b="1" dirty="0" smtClean="0"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en-US" altLang="zh-CN" sz="2400" b="1" dirty="0" smtClean="0"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2400" b="1" dirty="0" smtClean="0">
                <a:solidFill>
                  <a:srgbClr val="00B05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2400" b="1" dirty="0" smtClean="0">
                <a:solidFill>
                  <a:srgbClr val="00B05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取值范围0x0000~0x0FFF</a:t>
            </a:r>
            <a:endParaRPr lang="en-US" altLang="zh-CN" sz="2400" b="1" dirty="0" smtClean="0">
              <a:solidFill>
                <a:srgbClr val="00B05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649605" y="1450340"/>
          <a:ext cx="10525760" cy="7620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57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7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7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7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7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78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78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78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78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786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786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5786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5786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5786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5786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D15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D14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D13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D12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D11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D10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D9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D7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D6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-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-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-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-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-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-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-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-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-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-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-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-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649605" y="3305175"/>
          <a:ext cx="10525760" cy="7620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57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7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7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7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7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78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78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78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78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786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786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5786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5786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5786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5786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D15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D14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D13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D12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D11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D10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D9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D7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D6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-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-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-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-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-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-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-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-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-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-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-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3528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13</a:t>
            </a:r>
            <a:r>
              <a:rPr lang="zh-CN" altLang="en-US" sz="28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charset="-122"/>
              </a:rPr>
              <a:t>.3  任务程序的编写</a:t>
            </a:r>
          </a:p>
          <a:p>
            <a:pPr>
              <a:lnSpc>
                <a:spcPct val="130000"/>
              </a:lnSpc>
            </a:pP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  首先确立ADC转换的数字量与温度值之间的关系，由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仿真电路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可知NTC电阻阻值R</a:t>
            </a:r>
            <a:r>
              <a:rPr lang="en-US" altLang="zh-CN" sz="2400" b="1" baseline="-250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与ADC读取数字量D之间的关系：</a:t>
            </a:r>
          </a:p>
          <a:p>
            <a:pPr>
              <a:lnSpc>
                <a:spcPct val="130000"/>
              </a:lnSpc>
            </a:pPr>
            <a:endParaRPr lang="en-US" altLang="zh-CN" sz="2400" b="1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en-US" altLang="zh-CN" sz="2400" b="1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  式中，D</a:t>
            </a:r>
            <a:r>
              <a:rPr lang="en-US" altLang="zh-CN" sz="2400" b="1" baseline="-250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max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为数字量最大值，当ADC设定为右对齐时，D</a:t>
            </a:r>
            <a:r>
              <a:rPr lang="en-US" altLang="zh-CN" sz="2400" b="1" baseline="-250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max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取0x0FFF，当ADC设定为左对齐时，D</a:t>
            </a:r>
            <a:r>
              <a:rPr lang="en-US" altLang="zh-CN" sz="2400" b="1" baseline="-250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max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取0xFFF0。    </a:t>
            </a: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对象 -2147482585"/>
          <p:cNvGraphicFramePr>
            <a:graphicFrameLocks noChangeAspect="1"/>
          </p:cNvGraphicFramePr>
          <p:nvPr/>
        </p:nvGraphicFramePr>
        <p:xfrm>
          <a:off x="3704590" y="1946910"/>
          <a:ext cx="3701415" cy="828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r:id="rId5" imgW="1930400" imgH="431800" progId="Equation.KSEE3">
                  <p:embed/>
                </p:oleObj>
              </mc:Choice>
              <mc:Fallback>
                <p:oleObj r:id="rId5" imgW="1930400" imgH="431800" progId="Equation.KSEE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04590" y="1946910"/>
                        <a:ext cx="3701415" cy="8280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7" name="图片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5565" y="3374390"/>
            <a:ext cx="5903595" cy="33204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6" name="文本框 5"/>
          <p:cNvSpPr txBox="1"/>
          <p:nvPr/>
        </p:nvSpPr>
        <p:spPr>
          <a:xfrm>
            <a:off x="260985" y="3865245"/>
            <a:ext cx="4450080" cy="1050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  电路元器件参数取值如右图所示。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1050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2400" b="1" dirty="0" smtClean="0"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然后是工程的图形化配置，如图所示打开“Analog”→“ADC1”，勾选“IN1”即通道1，其余均采用默认设定。</a:t>
            </a: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图片 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7505" y="1386840"/>
            <a:ext cx="6396355" cy="52654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6406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2400" b="1" dirty="0" smtClean="0"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在如图所示时钟树设定中，ADC输入时钟直接采用了系统默认的4MHz，结合系统默认设定的采样周期1.5周期，此时的ADC转换时间为：</a:t>
            </a:r>
          </a:p>
          <a:p>
            <a:pPr algn="ctr">
              <a:lnSpc>
                <a:spcPct val="130000"/>
              </a:lnSpc>
              <a:buClrTx/>
              <a:buSzTx/>
              <a:buFontTx/>
            </a:pPr>
            <a:r>
              <a:rPr lang="en-US" altLang="zh-CN" sz="2800" b="1" dirty="0" smtClean="0">
                <a:solidFill>
                  <a:schemeClr val="accent6">
                    <a:lumMod val="50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800" b="1" baseline="-25000" dirty="0" smtClean="0">
                <a:solidFill>
                  <a:schemeClr val="accent6">
                    <a:lumMod val="50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COVN</a:t>
            </a:r>
            <a:r>
              <a:rPr lang="en-US" altLang="zh-CN" sz="2800" b="1" dirty="0" smtClean="0">
                <a:solidFill>
                  <a:schemeClr val="accent6">
                    <a:lumMod val="50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=1.5周期+12.5周期=14周期=14</a:t>
            </a:r>
            <a:r>
              <a:rPr lang="en-US" altLang="zh-CN" sz="2800" b="1" dirty="0" smtClean="0">
                <a:solidFill>
                  <a:schemeClr val="accent6">
                    <a:lumMod val="50000"/>
                  </a:schemeClr>
                </a:solidFill>
                <a:uFillTx/>
                <a:ea typeface="宋体" panose="02010600030101010101" pitchFamily="2" charset="-122"/>
              </a:rPr>
              <a:t>÷</a:t>
            </a:r>
            <a:r>
              <a:rPr lang="en-US" altLang="zh-CN" sz="2800" b="1" dirty="0" smtClean="0">
                <a:solidFill>
                  <a:schemeClr val="accent6">
                    <a:lumMod val="50000"/>
                  </a:schemeClr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4MHz=3.5μs</a:t>
            </a: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en-US" altLang="zh-CN" sz="2400" b="1" dirty="0" smtClean="0"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en-US" altLang="zh-CN" sz="2400" b="1" dirty="0" smtClean="0"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en-US" altLang="zh-CN" sz="2400" b="1" dirty="0" smtClean="0"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en-US" altLang="zh-CN" sz="2400" b="1" dirty="0" smtClean="0"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en-US" altLang="zh-CN" sz="2400" b="1" dirty="0" smtClean="0"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en-US" altLang="zh-CN" sz="2400" b="1" dirty="0" smtClean="0"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en-US" altLang="zh-CN" sz="2400" b="1" dirty="0" smtClean="0"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en-US" altLang="zh-CN" sz="2400" b="1" dirty="0" smtClean="0"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en-US" altLang="zh-CN" sz="2400" b="1" dirty="0" smtClean="0"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2400" b="1" dirty="0" smtClean="0"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en-US" sz="2400" b="1" dirty="0" smtClean="0"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接着设定串口</a:t>
            </a:r>
            <a:r>
              <a:rPr lang="en-US" altLang="zh-CN" sz="2400" b="1" dirty="0" smtClean="0"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 smtClean="0"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参数：</a:t>
            </a:r>
            <a:r>
              <a:rPr lang="en-US" altLang="zh-CN" sz="2400" b="1" dirty="0" smtClean="0"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19200-N-1</a:t>
            </a: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图片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4395" y="1946910"/>
            <a:ext cx="7045325" cy="40335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2968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2400" b="1" dirty="0" smtClean="0"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本次任务需要用到的新的API函数有：</a:t>
            </a: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24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① </a:t>
            </a:r>
            <a:r>
              <a:rPr lang="en-US" altLang="zh-CN" sz="24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ADC</a:t>
            </a:r>
            <a:r>
              <a:rPr lang="zh-CN" altLang="en-US" sz="24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运行启动函数</a:t>
            </a:r>
            <a:r>
              <a:rPr lang="en-US" altLang="zh-CN" sz="24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HAL_ADC_Start</a:t>
            </a:r>
            <a:r>
              <a:rPr lang="en-US" altLang="zh-CN" sz="24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</a:t>
            </a:r>
            <a:endParaRPr lang="zh-CN" altLang="en-US" sz="2400" b="1" dirty="0" smtClean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zh-CN" altLang="en-US" sz="2400" b="1" dirty="0" smtClean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zh-CN" altLang="en-US" sz="2400" b="1" dirty="0" smtClean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zh-CN" altLang="en-US" sz="2400" b="1" dirty="0" smtClean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24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例程：</a:t>
            </a: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8555"/>
          <a:stretch>
            <a:fillRect/>
          </a:stretch>
        </p:blipFill>
        <p:spPr>
          <a:xfrm>
            <a:off x="260985" y="1352550"/>
            <a:ext cx="7183120" cy="141033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60985" y="3305175"/>
            <a:ext cx="11358245" cy="8915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2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//启动ADC1</a:t>
            </a:r>
          </a:p>
          <a:p>
            <a:pPr>
              <a:lnSpc>
                <a:spcPct val="130000"/>
              </a:lnSpc>
            </a:pPr>
            <a:r>
              <a:rPr sz="2000" b="1" dirty="0" smtClean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if( HAL_ADC_Start (&amp;hadc1) != HAL_OK ) { Error_Handler(); }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3928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2400" b="1" dirty="0" smtClean="0">
                <a:solidFill>
                  <a:srgbClr val="7030A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② ADC</a:t>
            </a:r>
            <a:r>
              <a:rPr lang="zh-CN" altLang="en-US" sz="2400" b="1" dirty="0" smtClean="0">
                <a:solidFill>
                  <a:srgbClr val="7030A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运行停止</a:t>
            </a:r>
            <a:r>
              <a:rPr lang="en-US" altLang="zh-CN" sz="2400" b="1" dirty="0" smtClean="0">
                <a:solidFill>
                  <a:srgbClr val="7030A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函数 </a:t>
            </a:r>
            <a:r>
              <a:rPr lang="en-US" altLang="zh-CN" sz="2400" b="1" dirty="0" smtClean="0">
                <a:solidFill>
                  <a:srgbClr val="7030A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HAL_ADC_Stop</a:t>
            </a:r>
            <a:endParaRPr lang="en-US" altLang="zh-CN" sz="2400" b="1" dirty="0" smtClean="0">
              <a:solidFill>
                <a:srgbClr val="7030A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en-US" altLang="zh-CN" sz="2400" b="1" dirty="0" smtClean="0">
              <a:solidFill>
                <a:srgbClr val="7030A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en-US" altLang="zh-CN" sz="2400" b="1" dirty="0" smtClean="0">
              <a:solidFill>
                <a:srgbClr val="7030A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en-US" altLang="zh-CN" sz="2400" b="1" dirty="0" smtClean="0">
              <a:solidFill>
                <a:srgbClr val="7030A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en-US" altLang="zh-CN" sz="2400" b="1" dirty="0" smtClean="0">
              <a:solidFill>
                <a:srgbClr val="7030A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en-US" altLang="zh-CN" sz="2400" b="1" dirty="0" smtClean="0">
              <a:solidFill>
                <a:srgbClr val="7030A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en-US" altLang="zh-CN" sz="2400" b="1" dirty="0" smtClean="0">
              <a:solidFill>
                <a:srgbClr val="7030A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2400" b="1" dirty="0" smtClean="0">
                <a:solidFill>
                  <a:srgbClr val="C0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en-US" sz="2400" b="1" dirty="0" smtClean="0">
                <a:solidFill>
                  <a:srgbClr val="C0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例程：</a:t>
            </a: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t="12797"/>
          <a:stretch>
            <a:fillRect/>
          </a:stretch>
        </p:blipFill>
        <p:spPr>
          <a:xfrm>
            <a:off x="260985" y="960755"/>
            <a:ext cx="7684770" cy="270446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60985" y="4264660"/>
            <a:ext cx="11358245" cy="8915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2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//停止ADC1</a:t>
            </a: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if( HAL_ADC_Stop (&amp;hadc1) != HAL_OK ) { Error_Handler(); }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4407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2400" b="1" dirty="0" smtClean="0">
                <a:solidFill>
                  <a:srgbClr val="7030A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③ 等待ADC转换过程结束函数 HAL_ADC_PollForConversion</a:t>
            </a: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en-US" altLang="zh-CN" sz="2400" b="1" dirty="0" smtClean="0">
              <a:solidFill>
                <a:srgbClr val="7030A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en-US" altLang="zh-CN" sz="2400" b="1" dirty="0" smtClean="0">
              <a:solidFill>
                <a:srgbClr val="7030A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en-US" altLang="zh-CN" sz="2400" b="1" dirty="0" smtClean="0">
              <a:solidFill>
                <a:srgbClr val="7030A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en-US" altLang="zh-CN" sz="2400" b="1" dirty="0" smtClean="0">
              <a:solidFill>
                <a:srgbClr val="7030A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en-US" altLang="zh-CN" sz="2400" b="1" dirty="0" smtClean="0">
              <a:solidFill>
                <a:srgbClr val="7030A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en-US" altLang="zh-CN" sz="2400" b="1" dirty="0" smtClean="0">
              <a:solidFill>
                <a:srgbClr val="7030A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en-US" altLang="zh-CN" sz="2400" b="1" dirty="0" smtClean="0">
              <a:solidFill>
                <a:srgbClr val="7030A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2400" b="1" dirty="0" smtClean="0">
                <a:solidFill>
                  <a:srgbClr val="C0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en-US" sz="2400" b="1" dirty="0" smtClean="0">
                <a:solidFill>
                  <a:srgbClr val="C0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例程：</a:t>
            </a: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985" y="907415"/>
            <a:ext cx="7269480" cy="32531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60985" y="4775835"/>
            <a:ext cx="11358245" cy="8915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2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//等待ADC1转换结束，超时设定为10ms</a:t>
            </a: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if( HAL_ADC_PollForConversion (&amp;hadc1, 10) != HAL_OK ) { Error_Handler(); }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5367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2400" b="1" dirty="0" smtClean="0">
                <a:solidFill>
                  <a:srgbClr val="7030A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④ 选择ADC通道</a:t>
            </a:r>
            <a:r>
              <a:rPr lang="zh-CN" altLang="en-US" sz="2400" b="1" dirty="0" smtClean="0">
                <a:solidFill>
                  <a:srgbClr val="7030A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函数</a:t>
            </a:r>
            <a:r>
              <a:rPr lang="en-US" altLang="zh-CN" sz="2400" b="1" dirty="0" smtClean="0">
                <a:solidFill>
                  <a:srgbClr val="7030A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HAL_ADC_ConfigChannel</a:t>
            </a: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en-US" altLang="zh-CN" sz="2400" b="1" dirty="0" smtClean="0">
              <a:solidFill>
                <a:srgbClr val="7030A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en-US" altLang="zh-CN" sz="2400" b="1" dirty="0" smtClean="0">
              <a:solidFill>
                <a:srgbClr val="7030A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en-US" altLang="zh-CN" sz="2400" b="1" dirty="0" smtClean="0">
              <a:solidFill>
                <a:srgbClr val="7030A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en-US" altLang="zh-CN" sz="2400" b="1" dirty="0" smtClean="0">
              <a:solidFill>
                <a:srgbClr val="7030A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en-US" altLang="zh-CN" sz="2400" b="1" dirty="0" smtClean="0">
              <a:solidFill>
                <a:srgbClr val="7030A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en-US" altLang="zh-CN" sz="2400" b="1" dirty="0" smtClean="0">
              <a:solidFill>
                <a:srgbClr val="7030A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en-US" altLang="zh-CN" sz="2400" b="1" dirty="0" smtClean="0">
              <a:solidFill>
                <a:srgbClr val="7030A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en-US" altLang="zh-CN" sz="2400" b="1" dirty="0" smtClean="0">
              <a:solidFill>
                <a:srgbClr val="7030A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en-US" altLang="zh-CN" sz="2400" b="1" dirty="0" smtClean="0">
              <a:solidFill>
                <a:srgbClr val="7030A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2400" b="1" dirty="0" smtClean="0">
                <a:solidFill>
                  <a:srgbClr val="C0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例程往后翻</a:t>
            </a:r>
            <a:r>
              <a:rPr lang="zh-CN" altLang="en-US" sz="2400" b="1" dirty="0" smtClean="0">
                <a:solidFill>
                  <a:srgbClr val="C0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985" y="907415"/>
            <a:ext cx="6997700" cy="427418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2400" b="1" dirty="0" smtClean="0">
                <a:solidFill>
                  <a:srgbClr val="7030A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en-US" sz="2400" b="1" dirty="0" smtClean="0">
                <a:solidFill>
                  <a:srgbClr val="C0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例如：</a:t>
            </a: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260985" y="907415"/>
            <a:ext cx="11668760" cy="24917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2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//选择ADC1的通道1</a:t>
            </a: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ADC_ChannelConfTypeDef sConfig = {0};  </a:t>
            </a:r>
            <a:r>
              <a:rPr lang="zh-CN" altLang="en-US" sz="2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//建立sConfig结构体</a:t>
            </a: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sConfig.Channel = ADC_CHANNEL_1; </a:t>
            </a:r>
            <a:r>
              <a:rPr lang="zh-CN" altLang="en-US" sz="2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//选择通道1</a:t>
            </a: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sConfig.Rank = ADC_REGULAR_RANK_1;</a:t>
            </a: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sConfig.SamplingTime = ADC_SAMPLETIME_1CYCLE_5;</a:t>
            </a: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if( HAL_ADC_ConfigChannel(&amp;hadc1, &amp;sConfig) != HAL_OK) { Error_Handler(); }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5367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2400" b="1" dirty="0" smtClean="0">
                <a:solidFill>
                  <a:srgbClr val="7030A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⑤ 读取ADC转换结果</a:t>
            </a:r>
            <a:r>
              <a:rPr lang="zh-CN" altLang="en-US" sz="2400" b="1" dirty="0" smtClean="0">
                <a:solidFill>
                  <a:srgbClr val="7030A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函数</a:t>
            </a:r>
            <a:r>
              <a:rPr lang="en-US" altLang="zh-CN" sz="2400" b="1" dirty="0" smtClean="0">
                <a:solidFill>
                  <a:srgbClr val="7030A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HAL_ADC_GetValue</a:t>
            </a: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en-US" altLang="zh-CN" sz="2400" b="1" dirty="0" smtClean="0">
              <a:solidFill>
                <a:srgbClr val="7030A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en-US" altLang="zh-CN" sz="2400" b="1" dirty="0" smtClean="0">
              <a:solidFill>
                <a:srgbClr val="7030A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en-US" altLang="zh-CN" sz="2400" b="1" dirty="0" smtClean="0">
              <a:solidFill>
                <a:srgbClr val="7030A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en-US" altLang="zh-CN" sz="2400" b="1" dirty="0" smtClean="0">
              <a:solidFill>
                <a:srgbClr val="7030A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en-US" altLang="zh-CN" sz="2400" b="1" dirty="0" smtClean="0">
              <a:solidFill>
                <a:srgbClr val="7030A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en-US" altLang="zh-CN" sz="2400" b="1" dirty="0" smtClean="0">
              <a:solidFill>
                <a:srgbClr val="7030A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en-US" altLang="zh-CN" sz="2400" b="1" dirty="0" smtClean="0">
              <a:solidFill>
                <a:srgbClr val="7030A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en-US" altLang="zh-CN" sz="2400" b="1" dirty="0" smtClean="0">
              <a:solidFill>
                <a:srgbClr val="7030A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endParaRPr lang="zh-CN" altLang="en-US" sz="2400" b="1" dirty="0" smtClean="0">
              <a:solidFill>
                <a:srgbClr val="7030A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altLang="zh-CN" sz="2400" b="1" dirty="0" smtClean="0">
                <a:solidFill>
                  <a:srgbClr val="C0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en-US" sz="2400" b="1" dirty="0" smtClean="0">
                <a:solidFill>
                  <a:srgbClr val="C0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例程：</a:t>
            </a: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985" y="907415"/>
            <a:ext cx="7792720" cy="41675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60985" y="5628640"/>
            <a:ext cx="6704965" cy="8915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2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//读取ADC1的转换结果</a:t>
            </a: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uint32_t adcv=HAL_ADC_GetValue(&amp;hadc1);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2649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（现场操作演示</a:t>
            </a:r>
            <a:r>
              <a:rPr lang="zh-CN" altLang="en-US" sz="2800" b="1" dirty="0" smtClean="0">
                <a:solidFill>
                  <a:srgbClr val="7030A0"/>
                </a:solidFill>
                <a:ea typeface="宋体" panose="02010600030101010101" pitchFamily="2" charset="-122"/>
                <a:cs typeface="Arial" panose="020B0604020202020204" pitchFamily="34" charset="0"/>
                <a:sym typeface="+mn-ea"/>
              </a:rPr>
              <a:t>…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）</a:t>
            </a:r>
          </a:p>
          <a:p>
            <a:pPr>
              <a:lnSpc>
                <a:spcPct val="130000"/>
              </a:lnSpc>
            </a:pPr>
            <a:endParaRPr lang="en-US" altLang="zh-CN" sz="2400" b="1" dirty="0" smtClean="0"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技能训练：</a:t>
            </a:r>
            <a:endParaRPr lang="en-US" altLang="zh-CN" sz="2800" b="1" dirty="0" smtClean="0">
              <a:solidFill>
                <a:srgbClr val="7030A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    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电路结构不变，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ADC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选择左对齐模式，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NTC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参数改为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R</a:t>
            </a:r>
            <a:r>
              <a:rPr lang="en-US" altLang="zh-CN" sz="2400" b="1" baseline="-25000" dirty="0" smtClean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0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=10k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Ω,B=3950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，与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NTC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串联电阻阻值同样改为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10k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Ω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，修改程序，重新实现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NTC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测温功能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。</a:t>
            </a:r>
            <a:endParaRPr lang="en-US" altLang="zh-CN" sz="2400" b="1" dirty="0" smtClean="0"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208"/>
          <p:cNvSpPr txBox="1">
            <a:spLocks noChangeArrowheads="1"/>
          </p:cNvSpPr>
          <p:nvPr/>
        </p:nvSpPr>
        <p:spPr bwMode="auto">
          <a:xfrm>
            <a:off x="1533525" y="2600960"/>
            <a:ext cx="9124950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Lao UI" panose="020B0502040204020203" pitchFamily="34" charset="0"/>
                <a:ea typeface="华康少女文字W5(P)" panose="040F0500000000000000" pitchFamily="8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 w="12700">
                  <a:noFill/>
                </a:ln>
                <a:solidFill>
                  <a:schemeClr val="accen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+mn-lt"/>
                <a:ea typeface="黑体" panose="02010609060101010101" charset="-122"/>
                <a:cs typeface="+mn-lt"/>
              </a:rPr>
              <a:t>To be continued...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OC_GUID" val="{0c78e80a-2d6b-4de1-a306-8b402359c32a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b1ff4d5-6c02-4dbc-8d0d-b6699d5fb9a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ae1b9409-ab8a-4595-a93d-a67ee9de067e}"/>
</p:tagLst>
</file>

<file path=ppt/theme/theme1.xml><?xml version="1.0" encoding="utf-8"?>
<a:theme xmlns:a="http://schemas.openxmlformats.org/drawingml/2006/main" name="Office 主题">
  <a:themeElements>
    <a:clrScheme name="碧海蓝天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080CB"/>
      </a:accent1>
      <a:accent2>
        <a:srgbClr val="0080CB"/>
      </a:accent2>
      <a:accent3>
        <a:srgbClr val="0BD0D9"/>
      </a:accent3>
      <a:accent4>
        <a:srgbClr val="C9C9C9"/>
      </a:accent4>
      <a:accent5>
        <a:srgbClr val="7CCA62"/>
      </a:accent5>
      <a:accent6>
        <a:srgbClr val="F49100"/>
      </a:accent6>
      <a:hlink>
        <a:srgbClr val="F49100"/>
      </a:hlink>
      <a:folHlink>
        <a:srgbClr val="85DFD0"/>
      </a:folHlink>
    </a:clrScheme>
    <a:fontScheme name="自定义 6">
      <a:majorFont>
        <a:latin typeface="Arial"/>
        <a:ea typeface="微软雅黑 Light"/>
        <a:cs typeface=""/>
      </a:majorFont>
      <a:minorFont>
        <a:latin typeface="Arial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1664</Words>
  <Application>Microsoft Office PowerPoint</Application>
  <PresentationFormat>宽屏</PresentationFormat>
  <Paragraphs>235</Paragraphs>
  <Slides>19</Slides>
  <Notes>18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黑体</vt:lpstr>
      <vt:lpstr>宋体</vt:lpstr>
      <vt:lpstr>微软雅黑 Light</vt:lpstr>
      <vt:lpstr>Arial</vt:lpstr>
      <vt:lpstr>Calibri</vt:lpstr>
      <vt:lpstr>Times New Roman</vt:lpstr>
      <vt:lpstr>Office 主题</vt:lpstr>
      <vt:lpstr>Equation.KSEE3</vt:lpstr>
      <vt:lpstr>Microsoft Visio 2003-2010 绘图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>亮亮图文旗舰店</dc:subject>
  <dc:creator/>
  <cp:keywords>更多模版：亮亮图文旗舰店https:/liangliangtuwen.tmall.com</cp:keywords>
  <dc:description>更多模版：亮亮图文旗舰店https://liangliangtuwen.tmall.com</dc:description>
  <cp:lastModifiedBy>bfchen</cp:lastModifiedBy>
  <cp:revision>163</cp:revision>
  <dcterms:created xsi:type="dcterms:W3CDTF">2015-10-07T04:43:00Z</dcterms:created>
  <dcterms:modified xsi:type="dcterms:W3CDTF">2021-11-23T03:56:41Z</dcterms:modified>
  <cp:category>亮亮图文旗舰店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2052-11.1.0.10578</vt:lpwstr>
  </property>
  <property fmtid="{D5CDD505-2E9C-101B-9397-08002B2CF9AE}" pid="3" name="ICV">
    <vt:lpwstr>C8BC9552412A426984A28F321C2A3745</vt:lpwstr>
  </property>
</Properties>
</file>