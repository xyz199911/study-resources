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0"/>
  </p:notesMasterIdLst>
  <p:sldIdLst>
    <p:sldId id="324" r:id="rId2"/>
    <p:sldId id="292" r:id="rId3"/>
    <p:sldId id="343" r:id="rId4"/>
    <p:sldId id="325" r:id="rId5"/>
    <p:sldId id="330" r:id="rId6"/>
    <p:sldId id="331" r:id="rId7"/>
    <p:sldId id="333" r:id="rId8"/>
    <p:sldId id="334" r:id="rId9"/>
    <p:sldId id="335" r:id="rId10"/>
    <p:sldId id="337" r:id="rId11"/>
    <p:sldId id="338" r:id="rId12"/>
    <p:sldId id="339" r:id="rId13"/>
    <p:sldId id="340" r:id="rId14"/>
    <p:sldId id="341" r:id="rId15"/>
    <p:sldId id="346" r:id="rId16"/>
    <p:sldId id="347" r:id="rId17"/>
    <p:sldId id="348" r:id="rId18"/>
    <p:sldId id="349" r:id="rId19"/>
    <p:sldId id="350" r:id="rId20"/>
    <p:sldId id="351" r:id="rId21"/>
    <p:sldId id="352" r:id="rId22"/>
    <p:sldId id="353" r:id="rId23"/>
    <p:sldId id="354" r:id="rId24"/>
    <p:sldId id="355" r:id="rId25"/>
    <p:sldId id="358" r:id="rId26"/>
    <p:sldId id="359" r:id="rId27"/>
    <p:sldId id="360" r:id="rId28"/>
    <p:sldId id="361" r:id="rId29"/>
    <p:sldId id="362" r:id="rId30"/>
    <p:sldId id="363" r:id="rId31"/>
    <p:sldId id="364" r:id="rId32"/>
    <p:sldId id="365" r:id="rId33"/>
    <p:sldId id="366" r:id="rId34"/>
    <p:sldId id="367" r:id="rId35"/>
    <p:sldId id="368"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8" r:id="rId54"/>
    <p:sldId id="389" r:id="rId55"/>
    <p:sldId id="390" r:id="rId56"/>
    <p:sldId id="391" r:id="rId57"/>
    <p:sldId id="392" r:id="rId58"/>
    <p:sldId id="393" r:id="rId59"/>
    <p:sldId id="394" r:id="rId60"/>
    <p:sldId id="395" r:id="rId61"/>
    <p:sldId id="396" r:id="rId62"/>
    <p:sldId id="397" r:id="rId63"/>
    <p:sldId id="398" r:id="rId64"/>
    <p:sldId id="399" r:id="rId65"/>
    <p:sldId id="409" r:id="rId66"/>
    <p:sldId id="410" r:id="rId67"/>
    <p:sldId id="437" r:id="rId68"/>
    <p:sldId id="438" r:id="rId69"/>
    <p:sldId id="439" r:id="rId70"/>
    <p:sldId id="440" r:id="rId71"/>
    <p:sldId id="441" r:id="rId72"/>
    <p:sldId id="443" r:id="rId73"/>
    <p:sldId id="444" r:id="rId74"/>
    <p:sldId id="445" r:id="rId75"/>
    <p:sldId id="446" r:id="rId76"/>
    <p:sldId id="447" r:id="rId77"/>
    <p:sldId id="448" r:id="rId78"/>
    <p:sldId id="449" r:id="rId79"/>
    <p:sldId id="450" r:id="rId80"/>
    <p:sldId id="451" r:id="rId81"/>
    <p:sldId id="452" r:id="rId82"/>
    <p:sldId id="453" r:id="rId83"/>
    <p:sldId id="454" r:id="rId84"/>
    <p:sldId id="470" r:id="rId85"/>
    <p:sldId id="471" r:id="rId86"/>
    <p:sldId id="472" r:id="rId87"/>
    <p:sldId id="473" r:id="rId88"/>
    <p:sldId id="474" r:id="rId89"/>
    <p:sldId id="475" r:id="rId90"/>
    <p:sldId id="476" r:id="rId91"/>
    <p:sldId id="477" r:id="rId92"/>
    <p:sldId id="478" r:id="rId93"/>
    <p:sldId id="479" r:id="rId94"/>
    <p:sldId id="480" r:id="rId95"/>
    <p:sldId id="481" r:id="rId96"/>
    <p:sldId id="482" r:id="rId97"/>
    <p:sldId id="483" r:id="rId98"/>
    <p:sldId id="484" r:id="rId99"/>
  </p:sldIdLst>
  <p:sldSz cx="12192000" cy="6858000"/>
  <p:notesSz cx="6858000" cy="9144000"/>
  <p:custDataLst>
    <p:tags r:id="rId101"/>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Light" panose="020B0502040204020203"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CB1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p:restoredTop sz="89074"/>
  </p:normalViewPr>
  <p:slideViewPr>
    <p:cSldViewPr snapToGrid="0">
      <p:cViewPr varScale="1">
        <p:scale>
          <a:sx n="73" d="100"/>
          <a:sy n="73" d="100"/>
        </p:scale>
        <p:origin x="618" y="54"/>
      </p:cViewPr>
      <p:guideLst>
        <p:guide orient="horz" pos="2160"/>
        <p:guide pos="3840"/>
      </p:guideLst>
    </p:cSldViewPr>
  </p:slideViewPr>
  <p:notesTextViewPr>
    <p:cViewPr>
      <p:scale>
        <a:sx n="100" d="100"/>
        <a:sy n="100" d="100"/>
      </p:scale>
      <p:origin x="0" y="0"/>
    </p:cViewPr>
  </p:notesTextViewPr>
  <p:sorterViewPr showFormatting="0">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316656F9-9585-4187-A8F5-014ED0150952}"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solidFill>
              <a:srgbClr val="000000">
                <a:alpha val="100000"/>
              </a:srgbClr>
            </a:solidFill>
            <a:miter lim="800000"/>
          </a:ln>
        </p:spPr>
      </p:sp>
      <p:sp>
        <p:nvSpPr>
          <p:cNvPr id="5123"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5124"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2</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3</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626276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4</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5</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6</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7</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8</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9</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10</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11</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12</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13</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7171" name="备注占位符 2"/>
          <p:cNvSpPr>
            <a:spLocks noGrp="1"/>
          </p:cNvSpPr>
          <p:nvPr>
            <p:ph type="body" idx="1"/>
          </p:nvPr>
        </p:nvSpPr>
        <p:spPr>
          <a:noFill/>
          <a:ln>
            <a:noFill/>
          </a:ln>
        </p:spPr>
        <p:txBody>
          <a:bodyPr wrap="square" lIns="91440" tIns="45720" rIns="91440" bIns="45720" anchor="t"/>
          <a:lstStyle/>
          <a:p>
            <a:pPr lvl="0">
              <a:spcBef>
                <a:spcPct val="0"/>
              </a:spcBef>
            </a:pP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14</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1D03D8-F7CE-4A92-B791-1A55E7B8B12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45340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62972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微软雅黑"/>
                <a:cs typeface="微软雅黑"/>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79"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036870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01D03D8-F7CE-4A92-B791-1A55E7B8B12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9.xml"/><Relationship Id="rId7"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1.bin"/><Relationship Id="rId4" Type="http://schemas.openxmlformats.org/officeDocument/2006/relationships/image" Target="../media/image4.GIF"/></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notesSlide" Target="../notesSlides/notesSlide11.xml"/><Relationship Id="rId7"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4.GIF"/><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21.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20.png"/><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jpg"/><Relationship Id="rId17" Type="http://schemas.openxmlformats.org/officeDocument/2006/relationships/image" Target="../media/image55.png"/><Relationship Id="rId2" Type="http://schemas.openxmlformats.org/officeDocument/2006/relationships/image" Target="../media/image40.jpg"/><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21.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3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3" Type="http://schemas.openxmlformats.org/officeDocument/2006/relationships/image" Target="../media/image21.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 Type="http://schemas.openxmlformats.org/officeDocument/2006/relationships/image" Target="../media/image20.png"/><Relationship Id="rId16" Type="http://schemas.openxmlformats.org/officeDocument/2006/relationships/image" Target="../media/image83.png"/><Relationship Id="rId1" Type="http://schemas.openxmlformats.org/officeDocument/2006/relationships/slideLayout" Target="../slideLayouts/slideLayout4.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s>
</file>

<file path=ppt/slides/_rels/slide40.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21.png"/><Relationship Id="rId7" Type="http://schemas.openxmlformats.org/officeDocument/2006/relationships/image" Target="../media/image87.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86.png"/><Relationship Id="rId4" Type="http://schemas.openxmlformats.org/officeDocument/2006/relationships/image" Target="../media/image71.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4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1.png"/><Relationship Id="rId7" Type="http://schemas.openxmlformats.org/officeDocument/2006/relationships/image" Target="../media/image92.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71.png"/></Relationships>
</file>

<file path=ppt/slides/_rels/slide4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1.png"/><Relationship Id="rId7" Type="http://schemas.openxmlformats.org/officeDocument/2006/relationships/image" Target="../media/image93.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86.png"/><Relationship Id="rId4" Type="http://schemas.openxmlformats.org/officeDocument/2006/relationships/image" Target="../media/image71.png"/></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95.jp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1.png"/><Relationship Id="rId7" Type="http://schemas.openxmlformats.org/officeDocument/2006/relationships/image" Target="../media/image62.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0.png"/><Relationship Id="rId10" Type="http://schemas.openxmlformats.org/officeDocument/2006/relationships/image" Target="../media/image98.png"/><Relationship Id="rId4" Type="http://schemas.openxmlformats.org/officeDocument/2006/relationships/image" Target="../media/image97.png"/><Relationship Id="rId9" Type="http://schemas.openxmlformats.org/officeDocument/2006/relationships/image" Target="../media/image63.png"/></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9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0.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106.jpg"/><Relationship Id="rId5" Type="http://schemas.openxmlformats.org/officeDocument/2006/relationships/image" Target="../media/image105.jpg"/><Relationship Id="rId4" Type="http://schemas.openxmlformats.org/officeDocument/2006/relationships/image" Target="../media/image104.jpg"/></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8.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21.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7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1.png"/><Relationship Id="rId7" Type="http://schemas.openxmlformats.org/officeDocument/2006/relationships/image" Target="../media/image117.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s>
</file>

<file path=ppt/slides/_rels/slide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1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3.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7.png"/><Relationship Id="rId1" Type="http://schemas.openxmlformats.org/officeDocument/2006/relationships/slideLayout" Target="../slideLayouts/slideLayout4.xml"/><Relationship Id="rId4" Type="http://schemas.openxmlformats.org/officeDocument/2006/relationships/image" Target="../media/image124.jpg"/></Relationships>
</file>

<file path=ppt/slides/_rels/slide87.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6.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19175"/>
            <a:ext cx="12192000" cy="26860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文本框 13"/>
          <p:cNvSpPr txBox="1"/>
          <p:nvPr/>
        </p:nvSpPr>
        <p:spPr>
          <a:xfrm>
            <a:off x="312420" y="2204085"/>
            <a:ext cx="11614150" cy="783590"/>
          </a:xfrm>
          <a:prstGeom prst="rect">
            <a:avLst/>
          </a:prstGeom>
          <a:noFill/>
        </p:spPr>
        <p:txBody>
          <a:bodyPr wrap="square">
            <a:spAutoFit/>
          </a:bodyPr>
          <a:lstStyle/>
          <a:p>
            <a:pPr marR="0" algn="ctr" defTabSz="914400" eaLnBrk="1" fontAlgn="auto" hangingPunct="1">
              <a:spcBef>
                <a:spcPts val="0"/>
              </a:spcBef>
              <a:spcAft>
                <a:spcPts val="0"/>
              </a:spcAft>
              <a:buClrTx/>
              <a:buSzTx/>
              <a:buFontTx/>
              <a:buNone/>
              <a:defRPr/>
            </a:pPr>
            <a:r>
              <a:rPr lang="en-US" sz="4500" dirty="0" smtClean="0">
                <a:solidFill>
                  <a:schemeClr val="bg1"/>
                </a:solidFill>
                <a:effectLst>
                  <a:outerShdw blurRad="50800" dist="38100" dir="2700000" algn="tl" rotWithShape="0">
                    <a:prstClr val="black">
                      <a:alpha val="40000"/>
                    </a:prstClr>
                  </a:outerShdw>
                </a:effectLst>
                <a:latin typeface="黑体" panose="02010609060101010101" charset="-122"/>
                <a:ea typeface="黑体" panose="02010609060101010101" charset="-122"/>
                <a:sym typeface="+mn-ea"/>
              </a:rPr>
              <a:t>9.1</a:t>
            </a:r>
            <a:r>
              <a:rPr lang="en-US" sz="4500" noProof="0" dirty="0" smtClean="0">
                <a:solidFill>
                  <a:schemeClr val="bg1"/>
                </a:solidFill>
                <a:effectLst>
                  <a:outerShdw blurRad="50800" dist="38100" dir="2700000" algn="tl" rotWithShape="0">
                    <a:prstClr val="black">
                      <a:alpha val="40000"/>
                    </a:prstClr>
                  </a:outerShdw>
                </a:effectLst>
                <a:latin typeface="黑体" panose="02010609060101010101" charset="-122"/>
                <a:ea typeface="黑体" panose="02010609060101010101" charset="-122"/>
                <a:sym typeface="+mn-ea"/>
              </a:rPr>
              <a:t> </a:t>
            </a:r>
            <a:r>
              <a:rPr sz="4500" noProof="0" dirty="0" err="1" smtClean="0">
                <a:solidFill>
                  <a:schemeClr val="bg1"/>
                </a:solidFill>
                <a:effectLst>
                  <a:outerShdw blurRad="50800" dist="38100" dir="2700000" algn="tl" rotWithShape="0">
                    <a:prstClr val="black">
                      <a:alpha val="40000"/>
                    </a:prstClr>
                  </a:outerShdw>
                </a:effectLst>
                <a:latin typeface="黑体" panose="02010609060101010101" charset="-122"/>
                <a:ea typeface="黑体" panose="02010609060101010101" charset="-122"/>
                <a:sym typeface="+mn-ea"/>
              </a:rPr>
              <a:t>定时器延时（阻塞方式</a:t>
            </a:r>
            <a:r>
              <a:rPr sz="4500" noProof="0" dirty="0" smtClean="0">
                <a:solidFill>
                  <a:schemeClr val="bg1"/>
                </a:solidFill>
                <a:effectLst>
                  <a:outerShdw blurRad="50800" dist="38100" dir="2700000" algn="tl" rotWithShape="0">
                    <a:prstClr val="black">
                      <a:alpha val="40000"/>
                    </a:prstClr>
                  </a:outerShdw>
                </a:effectLst>
                <a:latin typeface="黑体" panose="02010609060101010101" charset="-122"/>
                <a:ea typeface="黑体" panose="02010609060101010101" charset="-122"/>
                <a:sym typeface="+mn-ea"/>
              </a:rPr>
              <a:t>）</a:t>
            </a:r>
          </a:p>
        </p:txBody>
      </p:sp>
      <p:pic>
        <p:nvPicPr>
          <p:cNvPr id="6" name="图片 5" descr="cubeGIF"/>
          <p:cNvPicPr>
            <a:picLocks noChangeAspect="1"/>
          </p:cNvPicPr>
          <p:nvPr/>
        </p:nvPicPr>
        <p:blipFill>
          <a:blip r:embed="rId3"/>
          <a:stretch>
            <a:fillRect/>
          </a:stretch>
        </p:blipFill>
        <p:spPr>
          <a:xfrm>
            <a:off x="9072880" y="3316605"/>
            <a:ext cx="2557780" cy="3325495"/>
          </a:xfrm>
          <a:prstGeom prst="rect">
            <a:avLst/>
          </a:prstGeom>
        </p:spPr>
      </p:pic>
      <p:pic>
        <p:nvPicPr>
          <p:cNvPr id="2" name="图片 1" descr="chipGIF"/>
          <p:cNvPicPr>
            <a:picLocks noChangeAspect="1"/>
          </p:cNvPicPr>
          <p:nvPr/>
        </p:nvPicPr>
        <p:blipFill>
          <a:blip r:embed="rId4"/>
          <a:stretch>
            <a:fillRect/>
          </a:stretch>
        </p:blipFill>
        <p:spPr>
          <a:xfrm>
            <a:off x="624840" y="75565"/>
            <a:ext cx="1724025" cy="1552575"/>
          </a:xfrm>
          <a:prstGeom prst="rect">
            <a:avLst/>
          </a:prstGeom>
        </p:spPr>
      </p:pic>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3449955"/>
          </a:xfrm>
          <a:prstGeom prst="rect">
            <a:avLst/>
          </a:prstGeom>
          <a:noFill/>
        </p:spPr>
        <p:txBody>
          <a:bodyPr wrap="square" rtlCol="0">
            <a:spAutoFit/>
          </a:bodyPr>
          <a:lstStyle/>
          <a:p>
            <a:pPr>
              <a:lnSpc>
                <a:spcPct val="130000"/>
              </a:lnSpc>
            </a:pPr>
            <a:r>
              <a:rPr lang="zh-CN" altLang="en-US" sz="2800" b="1" dirty="0">
                <a:solidFill>
                  <a:srgbClr val="7030A0"/>
                </a:solidFill>
                <a:latin typeface="黑体" panose="02010609060101010101" charset="-122"/>
                <a:ea typeface="黑体" panose="02010609060101010101" charset="-122"/>
              </a:rPr>
              <a:t>能力</a:t>
            </a:r>
            <a:r>
              <a:rPr lang="zh-CN" altLang="en-US" sz="2800" b="1" dirty="0" smtClean="0">
                <a:solidFill>
                  <a:srgbClr val="7030A0"/>
                </a:solidFill>
                <a:latin typeface="黑体" panose="02010609060101010101" charset="-122"/>
                <a:ea typeface="黑体" panose="02010609060101010101" charset="-122"/>
              </a:rPr>
              <a:t>目标：</a:t>
            </a:r>
            <a:endParaRPr lang="en-US" altLang="zh-CN" sz="2800" b="1" dirty="0" smtClean="0">
              <a:solidFill>
                <a:srgbClr val="7030A0"/>
              </a:solidFill>
              <a:latin typeface="黑体" panose="02010609060101010101" charset="-122"/>
              <a:ea typeface="黑体" panose="02010609060101010101" charset="-122"/>
            </a:endParaRPr>
          </a:p>
          <a:p>
            <a:pPr>
              <a:lnSpc>
                <a:spcPct val="130000"/>
              </a:lnSpc>
            </a:pPr>
            <a:r>
              <a:rPr lang="en-US" altLang="zh-CN" sz="2800" b="1" dirty="0" smtClean="0">
                <a:solidFill>
                  <a:schemeClr val="tx1"/>
                </a:solidFill>
                <a:uFillTx/>
                <a:latin typeface="Times New Roman" panose="02020603050405020304" pitchFamily="18" charset="0"/>
                <a:ea typeface="宋体" panose="02010600030101010101" pitchFamily="2" charset="-122"/>
              </a:rPr>
              <a:t>     </a:t>
            </a:r>
            <a:r>
              <a:rPr sz="2800" b="1" dirty="0">
                <a:solidFill>
                  <a:schemeClr val="tx1"/>
                </a:solidFill>
                <a:uFillTx/>
                <a:latin typeface="Times New Roman" panose="02020603050405020304" pitchFamily="18" charset="0"/>
                <a:ea typeface="宋体" panose="02010600030101010101" pitchFamily="2" charset="-122"/>
              </a:rPr>
              <a:t>理解单片机定时器的基本工作原理，掌握通过阻塞方式实现的单片机定时器延时程序的编制方法。</a:t>
            </a:r>
            <a:endParaRPr lang="en-US" altLang="zh-CN" sz="2800" b="1" dirty="0" smtClean="0">
              <a:latin typeface="宋体" panose="02010600030101010101" pitchFamily="2" charset="-122"/>
              <a:ea typeface="宋体" panose="02010600030101010101" pitchFamily="2" charset="-122"/>
            </a:endParaRPr>
          </a:p>
          <a:p>
            <a:pPr>
              <a:lnSpc>
                <a:spcPct val="130000"/>
              </a:lnSpc>
            </a:pPr>
            <a:r>
              <a:rPr lang="zh-CN" altLang="en-US" sz="2800" b="1" dirty="0" smtClean="0">
                <a:solidFill>
                  <a:srgbClr val="7030A0"/>
                </a:solidFill>
                <a:latin typeface="黑体" panose="02010609060101010101" charset="-122"/>
                <a:ea typeface="黑体" panose="02010609060101010101" charset="-122"/>
              </a:rPr>
              <a:t>任务要求：</a:t>
            </a:r>
            <a:endParaRPr lang="en-US" altLang="zh-CN" sz="2800" b="1" dirty="0" smtClean="0">
              <a:solidFill>
                <a:srgbClr val="7030A0"/>
              </a:solidFill>
              <a:latin typeface="黑体" panose="02010609060101010101" charset="-122"/>
              <a:ea typeface="黑体" panose="02010609060101010101" charset="-122"/>
            </a:endParaRPr>
          </a:p>
          <a:p>
            <a:pPr algn="l">
              <a:lnSpc>
                <a:spcPct val="130000"/>
              </a:lnSpc>
              <a:buClrTx/>
              <a:buSzTx/>
              <a:buFontTx/>
            </a:pPr>
            <a:r>
              <a:rPr lang="en-US" altLang="zh-CN" sz="2800" b="1" dirty="0" smtClean="0">
                <a:uFillTx/>
                <a:latin typeface="Times New Roman" panose="02020603050405020304" pitchFamily="18" charset="0"/>
                <a:ea typeface="宋体" panose="02010600030101010101" pitchFamily="2" charset="-122"/>
              </a:rPr>
              <a:t>    仿真电路如图所示，任务要求同3.1，即LED0以1秒为周期闪烁，要求延时必须通过定时器的阻塞方式实现。</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71" name="图片 2"/>
          <p:cNvPicPr>
            <a:picLocks noChangeAspect="1"/>
          </p:cNvPicPr>
          <p:nvPr/>
        </p:nvPicPr>
        <p:blipFill>
          <a:blip r:embed="rId4"/>
          <a:stretch>
            <a:fillRect/>
          </a:stretch>
        </p:blipFill>
        <p:spPr>
          <a:xfrm>
            <a:off x="3577590" y="3786505"/>
            <a:ext cx="5036185" cy="2549525"/>
          </a:xfrm>
          <a:prstGeom prst="rect">
            <a:avLst/>
          </a:prstGeom>
          <a:ln w="12700" cmpd="sng">
            <a:solidFill>
              <a:schemeClr val="tx1"/>
            </a:solidFill>
            <a:prstDash val="solid"/>
          </a:ln>
        </p:spPr>
      </p:pic>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2"/>
          <p:cNvSpPr txBox="1">
            <a:spLocks noChangeArrowheads="1"/>
          </p:cNvSpPr>
          <p:nvPr/>
        </p:nvSpPr>
        <p:spPr bwMode="auto">
          <a:xfrm>
            <a:off x="284616" y="442278"/>
            <a:ext cx="43116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 typeface="Wingdings" panose="05000000000000000000" pitchFamily="2" charset="2"/>
              <a:buChar char="u"/>
            </a:pPr>
            <a:r>
              <a:rPr lang="en-US" altLang="zh-CN" sz="3200">
                <a:solidFill>
                  <a:schemeClr val="tx1"/>
                </a:solidFill>
                <a:latin typeface="Arial" panose="020B0604020202020204" pitchFamily="34" charset="0"/>
                <a:ea typeface="宋体" panose="02010600030101010101" pitchFamily="2" charset="-122"/>
              </a:rPr>
              <a:t>STM32</a:t>
            </a:r>
            <a:r>
              <a:rPr lang="zh-CN" altLang="en-US" sz="3200">
                <a:solidFill>
                  <a:schemeClr val="tx1"/>
                </a:solidFill>
                <a:latin typeface="Arial" panose="020B0604020202020204" pitchFamily="34" charset="0"/>
                <a:ea typeface="宋体" panose="02010600030101010101" pitchFamily="2" charset="-122"/>
              </a:rPr>
              <a:t>定时器</a:t>
            </a:r>
          </a:p>
        </p:txBody>
      </p:sp>
      <p:sp>
        <p:nvSpPr>
          <p:cNvPr id="6" name="TextBox 1"/>
          <p:cNvSpPr txBox="1">
            <a:spLocks noChangeArrowheads="1"/>
          </p:cNvSpPr>
          <p:nvPr/>
        </p:nvSpPr>
        <p:spPr bwMode="auto">
          <a:xfrm>
            <a:off x="644978" y="988378"/>
            <a:ext cx="89545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hlink"/>
              </a:buClr>
              <a:buFont typeface="Wingdings" panose="05000000000000000000" pitchFamily="2" charset="2"/>
              <a:buChar char="v"/>
              <a:defRPr sz="2800" b="1">
                <a:solidFill>
                  <a:schemeClr val="tx2"/>
                </a:solidFill>
                <a:latin typeface="Verdana" panose="020B0604030504040204" pitchFamily="34" charset="0"/>
              </a:defRPr>
            </a:lvl1pPr>
            <a:lvl2pPr marL="742950" indent="-285750" eaLnBrk="0" hangingPunct="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eaLnBrk="0" hangingPunct="0">
              <a:spcBef>
                <a:spcPct val="20000"/>
              </a:spcBef>
              <a:buClr>
                <a:schemeClr val="tx1"/>
              </a:buClr>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b="0">
                <a:solidFill>
                  <a:schemeClr val="tx1"/>
                </a:solidFill>
                <a:latin typeface="Arial" panose="020B0604020202020204" pitchFamily="34" charset="0"/>
                <a:ea typeface="宋体" panose="02010600030101010101" pitchFamily="2" charset="-122"/>
              </a:rPr>
              <a:t>STM32F10x</a:t>
            </a:r>
            <a:r>
              <a:rPr lang="zh-CN" altLang="en-US" b="0">
                <a:solidFill>
                  <a:schemeClr val="tx1"/>
                </a:solidFill>
                <a:latin typeface="Arial" panose="020B0604020202020204" pitchFamily="34" charset="0"/>
                <a:ea typeface="宋体" panose="02010600030101010101" pitchFamily="2" charset="-122"/>
              </a:rPr>
              <a:t>系列总共</a:t>
            </a:r>
            <a:r>
              <a:rPr lang="zh-CN" altLang="en-US">
                <a:solidFill>
                  <a:srgbClr val="FF0000"/>
                </a:solidFill>
                <a:latin typeface="Arial" panose="020B0604020202020204" pitchFamily="34" charset="0"/>
                <a:ea typeface="宋体" panose="02010600030101010101" pitchFamily="2" charset="-122"/>
              </a:rPr>
              <a:t>最多</a:t>
            </a:r>
            <a:r>
              <a:rPr lang="zh-CN" altLang="en-US" b="0">
                <a:solidFill>
                  <a:schemeClr val="tx1"/>
                </a:solidFill>
                <a:latin typeface="Arial" panose="020B0604020202020204" pitchFamily="34" charset="0"/>
                <a:ea typeface="宋体" panose="02010600030101010101" pitchFamily="2" charset="-122"/>
              </a:rPr>
              <a:t>有</a:t>
            </a:r>
            <a:r>
              <a:rPr lang="en-US" altLang="zh-CN" b="0">
                <a:solidFill>
                  <a:schemeClr val="tx1"/>
                </a:solidFill>
                <a:latin typeface="Arial" panose="020B0604020202020204" pitchFamily="34" charset="0"/>
                <a:ea typeface="宋体" panose="02010600030101010101" pitchFamily="2" charset="-122"/>
              </a:rPr>
              <a:t>8</a:t>
            </a:r>
            <a:r>
              <a:rPr lang="zh-CN" altLang="en-US" b="0">
                <a:solidFill>
                  <a:schemeClr val="tx1"/>
                </a:solidFill>
                <a:latin typeface="Arial" panose="020B0604020202020204" pitchFamily="34" charset="0"/>
                <a:ea typeface="宋体" panose="02010600030101010101" pitchFamily="2" charset="-122"/>
              </a:rPr>
              <a:t>个定时器：</a:t>
            </a:r>
            <a:endParaRPr lang="en-US" altLang="zh-CN" b="0">
              <a:solidFill>
                <a:schemeClr val="tx1"/>
              </a:solidFill>
              <a:latin typeface="Arial" panose="020B0604020202020204" pitchFamily="34" charset="0"/>
              <a:ea typeface="宋体" panose="02010600030101010101" pitchFamily="2" charset="-122"/>
            </a:endParaRPr>
          </a:p>
          <a:p>
            <a:pPr eaLnBrk="1" hangingPunct="1">
              <a:spcBef>
                <a:spcPct val="0"/>
              </a:spcBef>
              <a:buClrTx/>
              <a:buFontTx/>
              <a:buNone/>
            </a:pPr>
            <a:endParaRPr lang="zh-CN" altLang="en-US" b="0">
              <a:solidFill>
                <a:schemeClr val="tx1"/>
              </a:solidFill>
              <a:latin typeface="Arial" panose="020B0604020202020204" pitchFamily="34" charset="0"/>
              <a:ea typeface="宋体" panose="02010600030101010101" pitchFamily="2" charset="-122"/>
            </a:endParaRPr>
          </a:p>
        </p:txBody>
      </p:sp>
      <p:pic>
        <p:nvPicPr>
          <p:cNvPr id="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153" y="1526540"/>
            <a:ext cx="8773796" cy="5401786"/>
          </a:xfrm>
          <a:prstGeom prst="rect">
            <a:avLst/>
          </a:prstGeom>
          <a:noFill/>
          <a:ln>
            <a:noFill/>
          </a:ln>
          <a:effectLst>
            <a:prstShdw prst="shdw13" dist="53882" dir="13500000">
              <a:schemeClr val="bg2">
                <a:alpha val="50000"/>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nvSpPr>
        <p:spPr>
          <a:xfrm>
            <a:off x="1149802" y="2893378"/>
            <a:ext cx="6394877" cy="296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a typeface="宋体" pitchFamily="2" charset="-122"/>
            </a:endParaRPr>
          </a:p>
        </p:txBody>
      </p:sp>
      <p:sp>
        <p:nvSpPr>
          <p:cNvPr id="9" name="矩形 8"/>
          <p:cNvSpPr/>
          <p:nvPr/>
        </p:nvSpPr>
        <p:spPr>
          <a:xfrm>
            <a:off x="1149802" y="4909503"/>
            <a:ext cx="6394877" cy="3933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a typeface="宋体" pitchFamily="2" charset="-122"/>
            </a:endParaRPr>
          </a:p>
        </p:txBody>
      </p:sp>
      <p:sp>
        <p:nvSpPr>
          <p:cNvPr id="10" name="矩形 9"/>
          <p:cNvSpPr/>
          <p:nvPr/>
        </p:nvSpPr>
        <p:spPr>
          <a:xfrm>
            <a:off x="3813628" y="1526540"/>
            <a:ext cx="2809644" cy="5331460"/>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a typeface="宋体" pitchFamily="2" charset="-122"/>
            </a:endParaRPr>
          </a:p>
        </p:txBody>
      </p:sp>
    </p:spTree>
    <p:extLst>
      <p:ext uri="{BB962C8B-B14F-4D97-AF65-F5344CB8AC3E}">
        <p14:creationId xmlns:p14="http://schemas.microsoft.com/office/powerpoint/2010/main" val="951527357"/>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2089785"/>
          </a:xfrm>
          <a:prstGeom prst="rect">
            <a:avLst/>
          </a:prstGeom>
          <a:noFill/>
        </p:spPr>
        <p:txBody>
          <a:bodyPr wrap="square" rtlCol="0">
            <a:spAutoFit/>
          </a:bodyPr>
          <a:lstStyle/>
          <a:p>
            <a:pPr>
              <a:lnSpc>
                <a:spcPct val="130000"/>
              </a:lnSpc>
            </a:pPr>
            <a:r>
              <a:rPr lang="en-US" altLang="zh-CN" sz="2800" b="1" dirty="0" smtClean="0">
                <a:solidFill>
                  <a:srgbClr val="0000FF"/>
                </a:solidFill>
                <a:latin typeface="Times New Roman" panose="02020603050405020304" pitchFamily="18" charset="0"/>
                <a:ea typeface="黑体" panose="02010609060101010101" charset="-122"/>
              </a:rPr>
              <a:t>9.1</a:t>
            </a:r>
            <a:r>
              <a:rPr lang="zh-CN" altLang="en-US" sz="2800" b="1" dirty="0" smtClean="0">
                <a:solidFill>
                  <a:srgbClr val="0000FF"/>
                </a:solidFill>
                <a:latin typeface="Times New Roman" panose="02020603050405020304" pitchFamily="18" charset="0"/>
                <a:ea typeface="黑体" panose="02010609060101010101" charset="-122"/>
              </a:rPr>
              <a:t>.1  STM32的定时器</a:t>
            </a:r>
          </a:p>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    （1）定时器概述</a:t>
            </a:r>
          </a:p>
          <a:p>
            <a:pPr>
              <a:lnSpc>
                <a:spcPct val="130000"/>
              </a:lnSpc>
            </a:pPr>
            <a:r>
              <a:rPr lang="en-US" altLang="zh-CN" sz="2400" b="1" dirty="0" smtClean="0">
                <a:latin typeface="Times New Roman" panose="02020603050405020304" pitchFamily="18" charset="0"/>
                <a:ea typeface="宋体" panose="02010600030101010101" pitchFamily="2" charset="-122"/>
              </a:rPr>
              <a:t>    定时器是一类十分重要的单片机片内外部设备（简称“片内外设”），STM32F103系列单片机最多支持8个定时器，如表所示。</a:t>
            </a:r>
          </a:p>
        </p:txBody>
      </p:sp>
      <p:pic>
        <p:nvPicPr>
          <p:cNvPr id="1026" name="Picture 2" descr="E:\教学\课程改革\单片机2019\pic\蝴蝶GIF.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表格 2"/>
          <p:cNvGraphicFramePr/>
          <p:nvPr>
            <p:custDataLst>
              <p:tags r:id="rId1"/>
            </p:custDataLst>
          </p:nvPr>
        </p:nvGraphicFramePr>
        <p:xfrm>
          <a:off x="534352" y="2720975"/>
          <a:ext cx="10476230" cy="2507615"/>
        </p:xfrm>
        <a:graphic>
          <a:graphicData uri="http://schemas.openxmlformats.org/drawingml/2006/table">
            <a:tbl>
              <a:tblPr firstRow="1" bandRow="1">
                <a:tableStyleId>{69012ECD-51FC-41F1-AA8D-1B2483CD663E}</a:tableStyleId>
              </a:tblPr>
              <a:tblGrid>
                <a:gridCol w="879475">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431925">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gridCol w="1221740">
                  <a:extLst>
                    <a:ext uri="{9D8B030D-6E8A-4147-A177-3AD203B41FA5}">
                      <a16:colId xmlns:a16="http://schemas.microsoft.com/office/drawing/2014/main" val="20004"/>
                    </a:ext>
                  </a:extLst>
                </a:gridCol>
                <a:gridCol w="1445260">
                  <a:extLst>
                    <a:ext uri="{9D8B030D-6E8A-4147-A177-3AD203B41FA5}">
                      <a16:colId xmlns:a16="http://schemas.microsoft.com/office/drawing/2014/main" val="20005"/>
                    </a:ext>
                  </a:extLst>
                </a:gridCol>
                <a:gridCol w="1544955">
                  <a:extLst>
                    <a:ext uri="{9D8B030D-6E8A-4147-A177-3AD203B41FA5}">
                      <a16:colId xmlns:a16="http://schemas.microsoft.com/office/drawing/2014/main" val="20006"/>
                    </a:ext>
                  </a:extLst>
                </a:gridCol>
                <a:gridCol w="1270000">
                  <a:extLst>
                    <a:ext uri="{9D8B030D-6E8A-4147-A177-3AD203B41FA5}">
                      <a16:colId xmlns:a16="http://schemas.microsoft.com/office/drawing/2014/main" val="20007"/>
                    </a:ext>
                  </a:extLst>
                </a:gridCol>
              </a:tblGrid>
              <a:tr h="586740">
                <a:tc>
                  <a:txBody>
                    <a:bodyPr/>
                    <a:lstStyle/>
                    <a:p>
                      <a:pPr indent="0" algn="ctr">
                        <a:buNone/>
                      </a:pPr>
                      <a:r>
                        <a:rPr lang="en-US" sz="1600"/>
                        <a:t>类别</a:t>
                      </a:r>
                      <a:endParaRPr lang="en-US" altLang="en-US" sz="1600"/>
                    </a:p>
                  </a:txBody>
                  <a:tcPr marL="68580" marR="68580" marT="0" marB="0" anchor="ctr">
                    <a:lnL w="12700" cap="flat" cmpd="sng" algn="ctr">
                      <a:solidFill>
                        <a:schemeClr val="tx1"/>
                      </a:solidFill>
                      <a:prstDash val="solid"/>
                      <a:miter lim="800000"/>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定时器</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计数器分辨率</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计数器类型</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预分频系数</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产生DMA请求</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捕获/比较通道</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互补输出</a:t>
                      </a:r>
                      <a:endParaRPr lang="en-US" altLang="en-US" sz="1600"/>
                    </a:p>
                  </a:txBody>
                  <a:tcPr marL="68580" marR="68580" marT="0" marB="0" anchor="ctr">
                    <a:lnL w="12700">
                      <a:solidFill>
                        <a:schemeClr val="tx1"/>
                      </a:solidFill>
                      <a:prstDash val="solid"/>
                    </a:lnL>
                    <a:lnR w="12700" cap="flat" cmpd="sng" algn="ctr">
                      <a:solidFill>
                        <a:schemeClr val="tx1"/>
                      </a:solidFill>
                      <a:prstDash val="solid"/>
                      <a:miter lim="800000"/>
                    </a:lnR>
                    <a:lnT w="12700" cap="flat" cmpd="sng" algn="ctr">
                      <a:solidFill>
                        <a:schemeClr val="tx1"/>
                      </a:solidFill>
                      <a:prstDash val="solid"/>
                      <a:miter lim="800000"/>
                    </a:lnT>
                    <a:lnB w="12700" cap="flat" cmpd="sng" algn="ctr">
                      <a:solidFill>
                        <a:schemeClr val="tx1"/>
                      </a:solidFill>
                      <a:prstDash val="solid"/>
                      <a:miter lim="800000"/>
                    </a:lnB>
                  </a:tcPr>
                </a:tc>
                <a:extLst>
                  <a:ext uri="{0D108BD9-81ED-4DB2-BD59-A6C34878D82A}">
                    <a16:rowId xmlns:a16="http://schemas.microsoft.com/office/drawing/2014/main" val="10000"/>
                  </a:ext>
                </a:extLst>
              </a:tr>
              <a:tr h="631825">
                <a:tc>
                  <a:txBody>
                    <a:bodyPr/>
                    <a:lstStyle/>
                    <a:p>
                      <a:pPr indent="0" algn="ctr">
                        <a:buNone/>
                      </a:pPr>
                      <a:r>
                        <a:rPr lang="en-US" sz="1600"/>
                        <a:t>高级</a:t>
                      </a:r>
                      <a:endParaRPr lang="en-US" altLang="en-US" sz="1600"/>
                    </a:p>
                  </a:txBody>
                  <a:tcPr marL="68580" marR="68580" marT="0" marB="0" anchor="ctr">
                    <a:lnL w="12700" cap="flat" cmpd="sng" algn="ctr">
                      <a:solidFill>
                        <a:schemeClr val="tx1"/>
                      </a:solidFill>
                      <a:prstDash val="solid"/>
                      <a:miter lim="800000"/>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buNone/>
                      </a:pPr>
                      <a:r>
                        <a:rPr lang="en-US" sz="1600"/>
                        <a:t>TIM1、TIM8</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16位</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buNone/>
                      </a:pPr>
                      <a:r>
                        <a:rPr lang="en-US" sz="1600"/>
                        <a:t>向上、向下、中央对齐</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1~65536</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可以</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4</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有</a:t>
                      </a:r>
                      <a:endParaRPr lang="en-US" altLang="en-US" sz="1600"/>
                    </a:p>
                  </a:txBody>
                  <a:tcPr marL="68580" marR="68580" marT="0" marB="0" anchor="ctr">
                    <a:lnL w="12700">
                      <a:solidFill>
                        <a:schemeClr val="tx1"/>
                      </a:solidFill>
                      <a:prstDash val="solid"/>
                    </a:lnL>
                    <a:lnR w="12700" cap="flat" cmpd="sng" algn="ctr">
                      <a:solidFill>
                        <a:schemeClr val="tx1"/>
                      </a:solidFill>
                      <a:prstDash val="solid"/>
                      <a:miter lim="800000"/>
                    </a:lnR>
                    <a:lnT w="12700" cap="flat" cmpd="sng" algn="ctr">
                      <a:solidFill>
                        <a:schemeClr val="tx1"/>
                      </a:solidFill>
                      <a:prstDash val="solid"/>
                      <a:miter lim="800000"/>
                    </a:lnT>
                    <a:lnB w="12700" cap="flat" cmpd="sng" algn="ctr">
                      <a:solidFill>
                        <a:schemeClr val="tx1"/>
                      </a:solidFill>
                      <a:prstDash val="solid"/>
                      <a:miter lim="800000"/>
                    </a:lnB>
                  </a:tcPr>
                </a:tc>
                <a:extLst>
                  <a:ext uri="{0D108BD9-81ED-4DB2-BD59-A6C34878D82A}">
                    <a16:rowId xmlns:a16="http://schemas.microsoft.com/office/drawing/2014/main" val="10001"/>
                  </a:ext>
                </a:extLst>
              </a:tr>
              <a:tr h="722630">
                <a:tc>
                  <a:txBody>
                    <a:bodyPr/>
                    <a:lstStyle/>
                    <a:p>
                      <a:pPr indent="0" algn="ctr">
                        <a:buNone/>
                      </a:pPr>
                      <a:r>
                        <a:rPr lang="en-US" sz="1600"/>
                        <a:t>普通</a:t>
                      </a:r>
                      <a:endParaRPr lang="en-US" altLang="en-US" sz="1600"/>
                    </a:p>
                  </a:txBody>
                  <a:tcPr marL="68580" marR="68580" marT="0" marB="0" anchor="ctr">
                    <a:lnL w="12700" cap="flat" cmpd="sng" algn="ctr">
                      <a:solidFill>
                        <a:schemeClr val="tx1"/>
                      </a:solidFill>
                      <a:prstDash val="solid"/>
                      <a:miter lim="800000"/>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buNone/>
                      </a:pPr>
                      <a:r>
                        <a:rPr lang="en-US" sz="1600"/>
                        <a:t>TIM2、TIM3、TIM4、TIM5</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16位</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buNone/>
                      </a:pPr>
                      <a:r>
                        <a:rPr lang="en-US" sz="1600"/>
                        <a:t>向上、向下、中央对齐</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1~65536</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可以</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4</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无</a:t>
                      </a:r>
                      <a:endParaRPr lang="en-US" altLang="en-US" sz="1600"/>
                    </a:p>
                  </a:txBody>
                  <a:tcPr marL="68580" marR="68580" marT="0" marB="0" anchor="ctr">
                    <a:lnL w="12700">
                      <a:solidFill>
                        <a:schemeClr val="tx1"/>
                      </a:solidFill>
                      <a:prstDash val="solid"/>
                    </a:lnL>
                    <a:lnR w="12700" cap="flat" cmpd="sng" algn="ctr">
                      <a:solidFill>
                        <a:schemeClr val="tx1"/>
                      </a:solidFill>
                      <a:prstDash val="solid"/>
                      <a:miter lim="800000"/>
                    </a:lnR>
                    <a:lnT w="12700" cap="flat" cmpd="sng" algn="ctr">
                      <a:solidFill>
                        <a:schemeClr val="tx1"/>
                      </a:solidFill>
                      <a:prstDash val="solid"/>
                      <a:miter lim="800000"/>
                    </a:lnT>
                    <a:lnB w="12700" cap="flat" cmpd="sng" algn="ctr">
                      <a:solidFill>
                        <a:schemeClr val="tx1"/>
                      </a:solidFill>
                      <a:prstDash val="solid"/>
                      <a:miter lim="800000"/>
                    </a:lnB>
                  </a:tcPr>
                </a:tc>
                <a:extLst>
                  <a:ext uri="{0D108BD9-81ED-4DB2-BD59-A6C34878D82A}">
                    <a16:rowId xmlns:a16="http://schemas.microsoft.com/office/drawing/2014/main" val="10002"/>
                  </a:ext>
                </a:extLst>
              </a:tr>
              <a:tr h="557530">
                <a:tc>
                  <a:txBody>
                    <a:bodyPr/>
                    <a:lstStyle/>
                    <a:p>
                      <a:pPr indent="0" algn="ctr">
                        <a:buNone/>
                      </a:pPr>
                      <a:r>
                        <a:rPr lang="en-US" sz="1600"/>
                        <a:t>基本</a:t>
                      </a:r>
                      <a:endParaRPr lang="en-US" altLang="en-US" sz="1600"/>
                    </a:p>
                  </a:txBody>
                  <a:tcPr marL="68580" marR="68580" marT="0" marB="0" anchor="ctr">
                    <a:lnL w="12700" cap="flat" cmpd="sng" algn="ctr">
                      <a:solidFill>
                        <a:schemeClr val="tx1"/>
                      </a:solidFill>
                      <a:prstDash val="solid"/>
                      <a:miter lim="800000"/>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buNone/>
                      </a:pPr>
                      <a:r>
                        <a:rPr lang="en-US" sz="1600"/>
                        <a:t>TIM6、TIM7</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16位</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buNone/>
                      </a:pPr>
                      <a:r>
                        <a:rPr lang="en-US" sz="1600"/>
                        <a:t>向上</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1~65536</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可以</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0</a:t>
                      </a:r>
                      <a:endParaRPr lang="en-US" altLang="en-US" sz="1600"/>
                    </a:p>
                  </a:txBody>
                  <a:tcPr marL="68580" marR="68580" marT="0" marB="0" anchor="ctr">
                    <a:lnL w="12700">
                      <a:solidFill>
                        <a:schemeClr val="tx1"/>
                      </a:solidFill>
                      <a:prstDash val="solid"/>
                    </a:lnL>
                    <a:lnR w="12700">
                      <a:solidFill>
                        <a:schemeClr val="tx1"/>
                      </a:solidFill>
                      <a:prstDash val="solid"/>
                    </a:lnR>
                    <a:lnT w="12700" cap="flat" cmpd="sng" algn="ctr">
                      <a:solidFill>
                        <a:schemeClr val="tx1"/>
                      </a:solidFill>
                      <a:prstDash val="solid"/>
                      <a:miter lim="800000"/>
                    </a:lnT>
                    <a:lnB w="12700" cap="flat" cmpd="sng" algn="ctr">
                      <a:solidFill>
                        <a:schemeClr val="tx1"/>
                      </a:solidFill>
                      <a:prstDash val="solid"/>
                      <a:miter lim="800000"/>
                    </a:lnB>
                  </a:tcPr>
                </a:tc>
                <a:tc>
                  <a:txBody>
                    <a:bodyPr/>
                    <a:lstStyle/>
                    <a:p>
                      <a:pPr indent="0" algn="ctr">
                        <a:buNone/>
                      </a:pPr>
                      <a:r>
                        <a:rPr lang="en-US" sz="1600"/>
                        <a:t>无</a:t>
                      </a:r>
                      <a:endParaRPr lang="en-US" altLang="en-US" sz="1600"/>
                    </a:p>
                  </a:txBody>
                  <a:tcPr marL="68580" marR="68580" marT="0" marB="0" anchor="ctr">
                    <a:lnL w="12700">
                      <a:solidFill>
                        <a:schemeClr val="tx1"/>
                      </a:solidFill>
                      <a:prstDash val="solid"/>
                    </a:lnL>
                    <a:lnR w="12700" cap="flat" cmpd="sng" algn="ctr">
                      <a:solidFill>
                        <a:schemeClr val="tx1"/>
                      </a:solidFill>
                      <a:prstDash val="solid"/>
                      <a:miter lim="800000"/>
                    </a:lnR>
                    <a:lnT w="12700" cap="flat" cmpd="sng" algn="ctr">
                      <a:solidFill>
                        <a:schemeClr val="tx1"/>
                      </a:solidFill>
                      <a:prstDash val="solid"/>
                      <a:miter lim="800000"/>
                    </a:lnT>
                    <a:lnB w="12700" cap="flat" cmpd="sng" algn="ctr">
                      <a:solidFill>
                        <a:schemeClr val="tx1"/>
                      </a:solidFill>
                      <a:prstDash val="solid"/>
                      <a:miter lim="800000"/>
                    </a:lnB>
                  </a:tcPr>
                </a:tc>
                <a:extLst>
                  <a:ext uri="{0D108BD9-81ED-4DB2-BD59-A6C34878D82A}">
                    <a16:rowId xmlns:a16="http://schemas.microsoft.com/office/drawing/2014/main" val="10003"/>
                  </a:ext>
                </a:extLst>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488759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除了上述8个定时器之外，还有2个看门狗定时器</a:t>
            </a:r>
            <a:r>
              <a:rPr lang="en-US" altLang="zh-CN" sz="2400" b="1" i="1" dirty="0" smtClean="0">
                <a:solidFill>
                  <a:srgbClr val="00B050"/>
                </a:solidFill>
                <a:latin typeface="Times New Roman" panose="02020603050405020304" pitchFamily="18" charset="0"/>
                <a:ea typeface="宋体" panose="02010600030101010101" pitchFamily="2" charset="-122"/>
              </a:rPr>
              <a:t>（1个独立看门狗、1个窗口看门狗）</a:t>
            </a:r>
            <a:r>
              <a:rPr lang="en-US" altLang="zh-CN" sz="2400" b="1" dirty="0" smtClean="0">
                <a:latin typeface="Times New Roman" panose="02020603050405020304" pitchFamily="18" charset="0"/>
                <a:ea typeface="宋体" panose="02010600030101010101" pitchFamily="2" charset="-122"/>
              </a:rPr>
              <a:t>和1个系统嘀嗒定时器</a:t>
            </a:r>
            <a:r>
              <a:rPr lang="en-US" altLang="zh-CN" sz="2400" b="1" i="1" dirty="0" smtClean="0">
                <a:solidFill>
                  <a:srgbClr val="00B050"/>
                </a:solidFill>
                <a:latin typeface="Times New Roman" panose="02020603050405020304" pitchFamily="18" charset="0"/>
                <a:ea typeface="宋体" panose="02010600030101010101" pitchFamily="2" charset="-122"/>
              </a:rPr>
              <a:t>（也称“SysTick定时器”）</a:t>
            </a:r>
            <a:r>
              <a:rPr lang="en-US" altLang="zh-CN" sz="2400" b="1" dirty="0" smtClean="0">
                <a:latin typeface="Times New Roman" panose="02020603050405020304" pitchFamily="18" charset="0"/>
                <a:ea typeface="宋体" panose="02010600030101010101" pitchFamily="2" charset="-122"/>
              </a:rPr>
              <a:t>。</a:t>
            </a:r>
          </a:p>
          <a:p>
            <a:pPr>
              <a:lnSpc>
                <a:spcPct val="130000"/>
              </a:lnSpc>
            </a:pPr>
            <a:r>
              <a:rPr lang="en-US" altLang="zh-CN" sz="2400" b="1" dirty="0" smtClean="0">
                <a:latin typeface="Times New Roman" panose="02020603050405020304" pitchFamily="18" charset="0"/>
                <a:ea typeface="宋体" panose="02010600030101010101" pitchFamily="2" charset="-122"/>
              </a:rPr>
              <a:t>STM32的定时器不仅数量丰富，功能也十分强大：</a:t>
            </a:r>
          </a:p>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基本定时器</a:t>
            </a:r>
            <a:r>
              <a:rPr lang="en-US" altLang="zh-CN" sz="2400" b="1" dirty="0" smtClean="0">
                <a:solidFill>
                  <a:srgbClr val="7030A0"/>
                </a:solidFill>
                <a:latin typeface="Times New Roman" panose="02020603050405020304" pitchFamily="18" charset="0"/>
                <a:ea typeface="宋体" panose="02010600030101010101" pitchFamily="2" charset="-122"/>
              </a:rPr>
              <a:t>除了具备基本的定时功能之外，部分还为DAC</a:t>
            </a:r>
            <a:r>
              <a:rPr lang="en-US" altLang="zh-CN" sz="2400" b="1" i="1" dirty="0" smtClean="0">
                <a:solidFill>
                  <a:srgbClr val="00B050"/>
                </a:solidFill>
                <a:latin typeface="Times New Roman" panose="02020603050405020304" pitchFamily="18" charset="0"/>
                <a:ea typeface="宋体" panose="02010600030101010101" pitchFamily="2" charset="-122"/>
              </a:rPr>
              <a:t>（Digital to Analog Converter，数模转换器）</a:t>
            </a:r>
            <a:r>
              <a:rPr lang="en-US" altLang="zh-CN" sz="2400" b="1" dirty="0" smtClean="0">
                <a:solidFill>
                  <a:srgbClr val="7030A0"/>
                </a:solidFill>
                <a:latin typeface="Times New Roman" panose="02020603050405020304" pitchFamily="18" charset="0"/>
                <a:ea typeface="宋体" panose="02010600030101010101" pitchFamily="2" charset="-122"/>
              </a:rPr>
              <a:t>提供一个触发通道。</a:t>
            </a:r>
          </a:p>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普通定时器</a:t>
            </a:r>
            <a:r>
              <a:rPr lang="en-US" altLang="zh-CN" sz="2400" b="1" dirty="0" smtClean="0">
                <a:solidFill>
                  <a:srgbClr val="7030A0"/>
                </a:solidFill>
                <a:latin typeface="Times New Roman" panose="02020603050405020304" pitchFamily="18" charset="0"/>
                <a:ea typeface="宋体" panose="02010600030101010101" pitchFamily="2" charset="-122"/>
              </a:rPr>
              <a:t>在具备基本定时器的功能之外，还具备输入捕获、输出比较、单脉冲输出，PWM</a:t>
            </a:r>
            <a:r>
              <a:rPr lang="en-US" altLang="zh-CN" sz="2400" b="1" i="1" dirty="0" smtClean="0">
                <a:solidFill>
                  <a:srgbClr val="00B050"/>
                </a:solidFill>
                <a:latin typeface="Times New Roman" panose="02020603050405020304" pitchFamily="18" charset="0"/>
                <a:ea typeface="宋体" panose="02010600030101010101" pitchFamily="2" charset="-122"/>
              </a:rPr>
              <a:t>（Pulse Width Modulation，脉冲宽度调制）</a:t>
            </a:r>
            <a:r>
              <a:rPr lang="en-US" altLang="zh-CN" sz="2400" b="1" dirty="0" smtClean="0">
                <a:solidFill>
                  <a:srgbClr val="7030A0"/>
                </a:solidFill>
                <a:latin typeface="Times New Roman" panose="02020603050405020304" pitchFamily="18" charset="0"/>
                <a:ea typeface="宋体" panose="02010600030101010101" pitchFamily="2" charset="-122"/>
              </a:rPr>
              <a:t>信号输出、正交编码器等功能。</a:t>
            </a:r>
          </a:p>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高级定时器</a:t>
            </a:r>
            <a:r>
              <a:rPr lang="en-US" altLang="zh-CN" sz="2400" b="1" dirty="0" smtClean="0">
                <a:solidFill>
                  <a:srgbClr val="7030A0"/>
                </a:solidFill>
                <a:latin typeface="Times New Roman" panose="02020603050405020304" pitchFamily="18" charset="0"/>
                <a:ea typeface="宋体" panose="02010600030101010101" pitchFamily="2" charset="-122"/>
              </a:rPr>
              <a:t>在具备普通定时器的功能之外，还具备可输出带死区控制的互补PWM信号、紧急制动、定时器同步等功能，最多可以输出6路PWM信号。</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4566285" cy="488759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STM32F103R6内部仅保留TIM1、TIM2、TIM3三个定时器。</a:t>
            </a:r>
          </a:p>
          <a:p>
            <a:pPr>
              <a:lnSpc>
                <a:spcPct val="130000"/>
              </a:lnSpc>
            </a:pPr>
            <a:r>
              <a:rPr lang="en-US" altLang="zh-CN" sz="2400" b="1" dirty="0" smtClean="0">
                <a:solidFill>
                  <a:srgbClr val="FF0000"/>
                </a:solidFill>
                <a:latin typeface="Times New Roman" panose="02020603050405020304" pitchFamily="18" charset="0"/>
                <a:ea typeface="宋体" panose="02010600030101010101" pitchFamily="2" charset="-122"/>
              </a:rPr>
              <a:t>    （2）定时器基本定时功能</a:t>
            </a:r>
          </a:p>
          <a:p>
            <a:pPr>
              <a:lnSpc>
                <a:spcPct val="130000"/>
              </a:lnSpc>
            </a:pPr>
            <a:r>
              <a:rPr lang="en-US" altLang="zh-CN" sz="2400" b="1" dirty="0" smtClean="0">
                <a:latin typeface="Times New Roman" panose="02020603050405020304" pitchFamily="18" charset="0"/>
                <a:ea typeface="宋体" panose="02010600030101010101" pitchFamily="2" charset="-122"/>
              </a:rPr>
              <a:t>    定时器最基本的功能就是定时，本质上就是对周期性脉冲信号进行计数。由于STM32时钟树结构的复杂性，因此不同的定时器未必采用相同的时钟信号源，详见</a:t>
            </a:r>
            <a:r>
              <a:rPr lang="zh-CN" altLang="en-US" sz="2400" b="1" dirty="0" smtClean="0">
                <a:latin typeface="Times New Roman" panose="02020603050405020304" pitchFamily="18" charset="0"/>
                <a:ea typeface="宋体" panose="02010600030101010101" pitchFamily="2" charset="-122"/>
              </a:rPr>
              <a:t>右</a:t>
            </a:r>
            <a:r>
              <a:rPr lang="en-US" altLang="zh-CN" sz="2400" b="1" dirty="0" smtClean="0">
                <a:latin typeface="Times New Roman" panose="02020603050405020304" pitchFamily="18" charset="0"/>
                <a:ea typeface="宋体" panose="02010600030101010101" pitchFamily="2" charset="-122"/>
              </a:rPr>
              <a:t>图。</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2"/>
          <p:cNvPicPr>
            <a:picLocks noChangeAspect="1"/>
          </p:cNvPicPr>
          <p:nvPr/>
        </p:nvPicPr>
        <p:blipFill>
          <a:blip r:embed="rId4"/>
          <a:stretch>
            <a:fillRect/>
          </a:stretch>
        </p:blipFill>
        <p:spPr>
          <a:xfrm>
            <a:off x="5067300" y="173990"/>
            <a:ext cx="5996305" cy="6510020"/>
          </a:xfrm>
          <a:prstGeom prst="rect">
            <a:avLst/>
          </a:prstGeom>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496760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STM32的定时器具有三种不同的计数模式：</a:t>
            </a:r>
          </a:p>
          <a:p>
            <a:pPr>
              <a:lnSpc>
                <a:spcPct val="130000"/>
              </a:lnSpc>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向上计数模式：</a:t>
            </a:r>
            <a:r>
              <a:rPr lang="en-US" altLang="zh-CN" sz="2400" b="1" dirty="0" smtClean="0">
                <a:solidFill>
                  <a:srgbClr val="7030A0"/>
                </a:solidFill>
                <a:latin typeface="Times New Roman" panose="02020603050405020304" pitchFamily="18" charset="0"/>
                <a:ea typeface="宋体" panose="02010600030101010101" pitchFamily="2" charset="-122"/>
              </a:rPr>
              <a:t>从默认初始值0开始做加法计数，加到预设值，产生一次溢出事件，自动复位至初始值0开始新一轮的计数，这也是定时器最常用的计数模式。</a:t>
            </a: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向下计数模式：</a:t>
            </a:r>
            <a:r>
              <a:rPr lang="en-US" altLang="zh-CN" sz="2400" b="1" dirty="0" smtClean="0">
                <a:solidFill>
                  <a:srgbClr val="7030A0"/>
                </a:solidFill>
                <a:latin typeface="Times New Roman" panose="02020603050405020304" pitchFamily="18" charset="0"/>
                <a:ea typeface="宋体" panose="02010600030101010101" pitchFamily="2" charset="-122"/>
              </a:rPr>
              <a:t>从设定初始值开始做减法计数，减到0，产生一次溢出事件，自动复位至初始值ARR开始新一轮的计数。</a:t>
            </a: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en-US" altLang="zh-CN" sz="2400" b="1" dirty="0" smtClean="0">
                <a:latin typeface="Times New Roman" panose="02020603050405020304" pitchFamily="18" charset="0"/>
                <a:ea typeface="宋体" panose="02010600030101010101" pitchFamily="2" charset="-122"/>
              </a:rPr>
              <a:t>    ◆</a:t>
            </a:r>
            <a:r>
              <a:rPr lang="en-US" altLang="zh-CN" sz="2400" b="1" dirty="0" smtClean="0">
                <a:solidFill>
                  <a:srgbClr val="FF0000"/>
                </a:solidFill>
                <a:latin typeface="Times New Roman" panose="02020603050405020304" pitchFamily="18" charset="0"/>
                <a:ea typeface="宋体" panose="02010600030101010101" pitchFamily="2" charset="-122"/>
              </a:rPr>
              <a:t>中央</a:t>
            </a:r>
            <a:r>
              <a:rPr lang="zh-CN" altLang="en-US" sz="2400" b="1" dirty="0" smtClean="0">
                <a:solidFill>
                  <a:srgbClr val="FF0000"/>
                </a:solidFill>
                <a:latin typeface="Times New Roman" panose="02020603050405020304" pitchFamily="18" charset="0"/>
                <a:ea typeface="宋体" panose="02010600030101010101" pitchFamily="2" charset="-122"/>
              </a:rPr>
              <a:t>对齐</a:t>
            </a:r>
            <a:r>
              <a:rPr lang="en-US" altLang="zh-CN" sz="2400" b="1" dirty="0" smtClean="0">
                <a:solidFill>
                  <a:srgbClr val="FF0000"/>
                </a:solidFill>
                <a:latin typeface="Times New Roman" panose="02020603050405020304" pitchFamily="18" charset="0"/>
                <a:ea typeface="宋体" panose="02010600030101010101" pitchFamily="2" charset="-122"/>
              </a:rPr>
              <a:t>计数模式：</a:t>
            </a:r>
            <a:r>
              <a:rPr lang="en-US" altLang="zh-CN" sz="2400" b="1" dirty="0" smtClean="0">
                <a:solidFill>
                  <a:srgbClr val="7030A0"/>
                </a:solidFill>
                <a:latin typeface="Times New Roman" panose="02020603050405020304" pitchFamily="18" charset="0"/>
                <a:ea typeface="宋体" panose="02010600030101010101" pitchFamily="2" charset="-122"/>
              </a:rPr>
              <a:t>在默认初始值0与预设值之间，先做向上（加法）计数，再做向下（减法）计数，完成一个计数周期之后产生一次溢出事件，接着进行新一轮的计数。</a:t>
            </a:r>
          </a:p>
          <a:p>
            <a:pPr algn="l">
              <a:lnSpc>
                <a:spcPct val="130000"/>
              </a:lnSpc>
              <a:buClrTx/>
              <a:buSzTx/>
              <a:buFontTx/>
            </a:pPr>
            <a:r>
              <a:rPr lang="en-US" altLang="zh-CN" sz="2400" b="1" dirty="0" smtClean="0">
                <a:latin typeface="Times New Roman" panose="02020603050405020304" pitchFamily="18" charset="0"/>
                <a:ea typeface="宋体" panose="02010600030101010101" pitchFamily="2" charset="-122"/>
              </a:rPr>
              <a:t>    通常采用向上计数模式。</a:t>
            </a:r>
          </a:p>
          <a:p>
            <a:pPr algn="l">
              <a:lnSpc>
                <a:spcPct val="130000"/>
              </a:lnSpc>
              <a:buClrTx/>
              <a:buSzTx/>
              <a:buFontTx/>
            </a:pPr>
            <a:r>
              <a:rPr lang="en-US" altLang="zh-CN" sz="2800" b="1" dirty="0" smtClean="0">
                <a:latin typeface="Times New Roman" panose="02020603050405020304" pitchFamily="18" charset="0"/>
                <a:ea typeface="宋体" panose="02010600030101010101" pitchFamily="2" charset="-122"/>
              </a:rPr>
              <a:t>    </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152971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a:t>
            </a:r>
            <a:r>
              <a:rPr lang="zh-CN" altLang="en-US" sz="2400" b="1" dirty="0" smtClean="0">
                <a:latin typeface="Times New Roman" panose="02020603050405020304" pitchFamily="18" charset="0"/>
                <a:ea typeface="宋体" panose="02010600030101010101" pitchFamily="2" charset="-122"/>
              </a:rPr>
              <a:t>由时钟树示意图可知，</a:t>
            </a:r>
            <a:r>
              <a:rPr lang="en-US" altLang="zh-CN" sz="2400" b="1" dirty="0" smtClean="0">
                <a:latin typeface="Times New Roman" panose="02020603050405020304" pitchFamily="18" charset="0"/>
                <a:ea typeface="宋体" panose="02010600030101010101" pitchFamily="2" charset="-122"/>
              </a:rPr>
              <a:t>TIM3的时钟源来自于APB1</a:t>
            </a:r>
            <a:r>
              <a:rPr lang="en-US" altLang="zh-CN" sz="2400" b="1" i="1" dirty="0" smtClean="0">
                <a:solidFill>
                  <a:srgbClr val="00B050"/>
                </a:solidFill>
                <a:latin typeface="Times New Roman" panose="02020603050405020304" pitchFamily="18" charset="0"/>
                <a:ea typeface="宋体" panose="02010600030101010101" pitchFamily="2" charset="-122"/>
              </a:rPr>
              <a:t>（Advanced Peripheral Bus 1，高级外设总线1）</a:t>
            </a:r>
            <a:r>
              <a:rPr lang="en-US" altLang="zh-CN" sz="2400" b="1" dirty="0" smtClean="0">
                <a:latin typeface="Times New Roman" panose="02020603050405020304" pitchFamily="18" charset="0"/>
                <a:ea typeface="宋体" panose="02010600030101010101" pitchFamily="2" charset="-122"/>
              </a:rPr>
              <a:t>，其频率可以在</a:t>
            </a:r>
            <a:r>
              <a:rPr lang="zh-CN" altLang="en-US" sz="2400" b="1" dirty="0" smtClean="0">
                <a:latin typeface="Times New Roman" panose="02020603050405020304" pitchFamily="18" charset="0"/>
                <a:ea typeface="宋体" panose="02010600030101010101" pitchFamily="2" charset="-122"/>
              </a:rPr>
              <a:t>下图</a:t>
            </a:r>
            <a:r>
              <a:rPr lang="en-US" altLang="zh-CN" sz="2400" b="1" dirty="0" smtClean="0">
                <a:latin typeface="Times New Roman" panose="02020603050405020304" pitchFamily="18" charset="0"/>
                <a:ea typeface="宋体" panose="02010600030101010101" pitchFamily="2" charset="-122"/>
              </a:rPr>
              <a:t>所示STM32CubeIDE的“Clock Configuration”</a:t>
            </a:r>
            <a:r>
              <a:rPr lang="en-US" altLang="zh-CN" sz="2400" b="1" i="1" dirty="0" smtClean="0">
                <a:solidFill>
                  <a:srgbClr val="00B050"/>
                </a:solidFill>
                <a:latin typeface="Times New Roman" panose="02020603050405020304" pitchFamily="18" charset="0"/>
                <a:ea typeface="宋体" panose="02010600030101010101" pitchFamily="2" charset="-122"/>
              </a:rPr>
              <a:t>（时钟配置）</a:t>
            </a:r>
            <a:r>
              <a:rPr lang="en-US" altLang="zh-CN" sz="2400" b="1" dirty="0" smtClean="0">
                <a:latin typeface="Times New Roman" panose="02020603050405020304" pitchFamily="18" charset="0"/>
                <a:ea typeface="宋体" panose="02010600030101010101" pitchFamily="2" charset="-122"/>
              </a:rPr>
              <a:t>中直接设定，这里我们采用缺省设定8MHz。</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72" name="图片 10"/>
          <p:cNvPicPr>
            <a:picLocks noChangeAspect="1"/>
          </p:cNvPicPr>
          <p:nvPr/>
        </p:nvPicPr>
        <p:blipFill>
          <a:blip r:embed="rId4"/>
          <a:stretch>
            <a:fillRect/>
          </a:stretch>
        </p:blipFill>
        <p:spPr>
          <a:xfrm>
            <a:off x="3195955" y="1976120"/>
            <a:ext cx="5798820" cy="4417695"/>
          </a:xfrm>
          <a:prstGeom prst="rect">
            <a:avLst/>
          </a:prstGeom>
          <a:noFill/>
          <a:ln>
            <a:solidFill>
              <a:schemeClr val="tx1"/>
            </a:solidFill>
          </a:ln>
        </p:spPr>
      </p:pic>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0200"/>
            <a:ext cx="11669395" cy="552767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APB1 Timer clocks脉冲再经过一个定时器TIM3专属的预分频器再分频之后才能成为TIM3的计数脉冲，预分频参数保存在一个16位的寄存器</a:t>
            </a:r>
            <a:r>
              <a:rPr lang="en-US" altLang="zh-CN" sz="2400" b="1" dirty="0" smtClean="0">
                <a:solidFill>
                  <a:srgbClr val="FF0000"/>
                </a:solidFill>
                <a:latin typeface="Times New Roman" panose="02020603050405020304" pitchFamily="18" charset="0"/>
                <a:ea typeface="宋体" panose="02010600030101010101" pitchFamily="2" charset="-122"/>
              </a:rPr>
              <a:t>TIM3_PSC</a:t>
            </a:r>
            <a:r>
              <a:rPr lang="en-US" altLang="zh-CN" sz="2400" b="1" i="1" dirty="0" smtClean="0">
                <a:solidFill>
                  <a:srgbClr val="00B050"/>
                </a:solidFill>
                <a:latin typeface="Times New Roman" panose="02020603050405020304" pitchFamily="18" charset="0"/>
                <a:ea typeface="宋体" panose="02010600030101010101" pitchFamily="2" charset="-122"/>
              </a:rPr>
              <a:t>（后简称PSC，PreScale）</a:t>
            </a:r>
            <a:r>
              <a:rPr lang="en-US" altLang="zh-CN" sz="2400" b="1" dirty="0" smtClean="0">
                <a:latin typeface="Times New Roman" panose="02020603050405020304" pitchFamily="18" charset="0"/>
                <a:ea typeface="宋体" panose="02010600030101010101" pitchFamily="2" charset="-122"/>
              </a:rPr>
              <a:t>之中，此时TIM3的计数脉冲周期T</a:t>
            </a:r>
            <a:r>
              <a:rPr lang="en-US" altLang="zh-CN" sz="2400" b="1" baseline="-25000" dirty="0" smtClean="0">
                <a:latin typeface="Times New Roman" panose="02020603050405020304" pitchFamily="18" charset="0"/>
                <a:ea typeface="宋体" panose="02010600030101010101" pitchFamily="2" charset="-122"/>
              </a:rPr>
              <a:t>CNT</a:t>
            </a:r>
            <a:r>
              <a:rPr lang="en-US" altLang="zh-CN" sz="2400" b="1" dirty="0" smtClean="0">
                <a:latin typeface="Times New Roman" panose="02020603050405020304" pitchFamily="18" charset="0"/>
                <a:ea typeface="宋体" panose="02010600030101010101" pitchFamily="2" charset="-122"/>
              </a:rPr>
              <a:t>和APB1 Timer clocks频率f</a:t>
            </a:r>
            <a:r>
              <a:rPr lang="en-US" altLang="zh-CN" sz="2400" b="1" baseline="-25000" dirty="0" smtClean="0">
                <a:latin typeface="Times New Roman" panose="02020603050405020304" pitchFamily="18" charset="0"/>
                <a:ea typeface="宋体" panose="02010600030101010101" pitchFamily="2" charset="-122"/>
              </a:rPr>
              <a:t>CLK</a:t>
            </a:r>
            <a:r>
              <a:rPr lang="en-US" altLang="zh-CN" sz="2400" b="1" dirty="0" smtClean="0">
                <a:latin typeface="Times New Roman" panose="02020603050405020304" pitchFamily="18" charset="0"/>
                <a:ea typeface="宋体" panose="02010600030101010101" pitchFamily="2" charset="-122"/>
              </a:rPr>
              <a:t>之间的关系是：</a:t>
            </a:r>
          </a:p>
          <a:p>
            <a:pPr>
              <a:lnSpc>
                <a:spcPct val="130000"/>
              </a:lnSpc>
            </a:pPr>
            <a:endParaRPr lang="en-US" altLang="zh-CN" sz="28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sym typeface="+mn-ea"/>
            </a:endParaRPr>
          </a:p>
          <a:p>
            <a:pPr>
              <a:lnSpc>
                <a:spcPct val="130000"/>
              </a:lnSpc>
            </a:pPr>
            <a:r>
              <a:rPr lang="en-US" altLang="zh-CN" sz="2400" b="1" dirty="0" smtClean="0">
                <a:latin typeface="Times New Roman" panose="02020603050405020304" pitchFamily="18" charset="0"/>
                <a:ea typeface="宋体" panose="02010600030101010101" pitchFamily="2" charset="-122"/>
                <a:sym typeface="+mn-ea"/>
              </a:rPr>
              <a:t>    STM32所有的定时器都是16位定时器，即计数范围为0~65535，我们可以根据实际需要设定定时器的预设值，也叫自动重载寄存器</a:t>
            </a:r>
            <a:r>
              <a:rPr lang="en-US" altLang="zh-CN" sz="2400" b="1" dirty="0" smtClean="0">
                <a:solidFill>
                  <a:srgbClr val="FF0000"/>
                </a:solidFill>
                <a:latin typeface="Times New Roman" panose="02020603050405020304" pitchFamily="18" charset="0"/>
                <a:ea typeface="宋体" panose="02010600030101010101" pitchFamily="2" charset="-122"/>
                <a:sym typeface="+mn-ea"/>
              </a:rPr>
              <a:t>TIM3_ARR</a:t>
            </a:r>
            <a:r>
              <a:rPr lang="en-US" altLang="zh-CN" sz="2400" b="1" i="1" dirty="0" smtClean="0">
                <a:solidFill>
                  <a:srgbClr val="00B050"/>
                </a:solidFill>
                <a:latin typeface="Times New Roman" panose="02020603050405020304" pitchFamily="18" charset="0"/>
                <a:ea typeface="宋体" panose="02010600030101010101" pitchFamily="2" charset="-122"/>
                <a:sym typeface="+mn-ea"/>
              </a:rPr>
              <a:t>（后简称ARR，Auto Reload Register）</a:t>
            </a:r>
            <a:r>
              <a:rPr lang="en-US" altLang="zh-CN" sz="2400" b="1" dirty="0" smtClean="0">
                <a:latin typeface="Times New Roman" panose="02020603050405020304" pitchFamily="18" charset="0"/>
                <a:ea typeface="宋体" panose="02010600030101010101" pitchFamily="2" charset="-122"/>
                <a:sym typeface="+mn-ea"/>
              </a:rPr>
              <a:t>，此时TIM3采用向上计数模式的一次溢出时间或者说一个计数周期T</a:t>
            </a:r>
            <a:r>
              <a:rPr lang="en-US" altLang="zh-CN" sz="2400" b="1" baseline="-25000" dirty="0" smtClean="0">
                <a:latin typeface="Times New Roman" panose="02020603050405020304" pitchFamily="18" charset="0"/>
                <a:ea typeface="宋体" panose="02010600030101010101" pitchFamily="2" charset="-122"/>
                <a:sym typeface="+mn-ea"/>
              </a:rPr>
              <a:t>OUT</a:t>
            </a:r>
            <a:r>
              <a:rPr lang="en-US" altLang="zh-CN" sz="2400" b="1" dirty="0" smtClean="0">
                <a:latin typeface="Times New Roman" panose="02020603050405020304" pitchFamily="18" charset="0"/>
                <a:ea typeface="宋体" panose="02010600030101010101" pitchFamily="2" charset="-122"/>
                <a:sym typeface="+mn-ea"/>
              </a:rPr>
              <a:t>的计算公式是：</a:t>
            </a: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800" b="1" dirty="0" smtClean="0">
              <a:latin typeface="Times New Roman" panose="02020603050405020304" pitchFamily="18" charset="0"/>
              <a:ea typeface="宋体" panose="02010600030101010101" pitchFamily="2" charset="-122"/>
            </a:endParaRPr>
          </a:p>
        </p:txBody>
      </p:sp>
      <p:pic>
        <p:nvPicPr>
          <p:cNvPr id="1026" name="Picture 2" descr="E:\教学\课程改革\单片机2019\pic\蝴蝶GIF.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147482603"/>
          <p:cNvGraphicFramePr>
            <a:graphicFrameLocks noChangeAspect="1"/>
          </p:cNvGraphicFramePr>
          <p:nvPr/>
        </p:nvGraphicFramePr>
        <p:xfrm>
          <a:off x="4966335" y="2112645"/>
          <a:ext cx="2258060" cy="1023620"/>
        </p:xfrm>
        <a:graphic>
          <a:graphicData uri="http://schemas.openxmlformats.org/presentationml/2006/ole">
            <mc:AlternateContent xmlns:mc="http://schemas.openxmlformats.org/markup-compatibility/2006">
              <mc:Choice xmlns:v="urn:schemas-microsoft-com:vml" Requires="v">
                <p:oleObj spid="_x0000_s3090" r:id="rId5" imgW="952500" imgH="431800" progId="Equation.KSEE3">
                  <p:embed/>
                </p:oleObj>
              </mc:Choice>
              <mc:Fallback>
                <p:oleObj r:id="rId5" imgW="952500" imgH="431800" progId="Equation.KSEE3">
                  <p:embed/>
                  <p:pic>
                    <p:nvPicPr>
                      <p:cNvPr id="0" name="图片 3075"/>
                      <p:cNvPicPr/>
                      <p:nvPr/>
                    </p:nvPicPr>
                    <p:blipFill>
                      <a:blip r:embed="rId6"/>
                      <a:stretch>
                        <a:fillRect/>
                      </a:stretch>
                    </p:blipFill>
                    <p:spPr>
                      <a:xfrm>
                        <a:off x="4966335" y="2112645"/>
                        <a:ext cx="2258060" cy="1023620"/>
                      </a:xfrm>
                      <a:prstGeom prst="rect">
                        <a:avLst/>
                      </a:prstGeom>
                      <a:noFill/>
                      <a:ln w="38100">
                        <a:noFill/>
                        <a:miter/>
                      </a:ln>
                    </p:spPr>
                  </p:pic>
                </p:oleObj>
              </mc:Fallback>
            </mc:AlternateContent>
          </a:graphicData>
        </a:graphic>
      </p:graphicFrame>
      <p:graphicFrame>
        <p:nvGraphicFramePr>
          <p:cNvPr id="4" name="对象 -2147482602"/>
          <p:cNvGraphicFramePr>
            <a:graphicFrameLocks noChangeAspect="1"/>
          </p:cNvGraphicFramePr>
          <p:nvPr/>
        </p:nvGraphicFramePr>
        <p:xfrm>
          <a:off x="3056255" y="5262245"/>
          <a:ext cx="6080125" cy="993775"/>
        </p:xfrm>
        <a:graphic>
          <a:graphicData uri="http://schemas.openxmlformats.org/presentationml/2006/ole">
            <mc:AlternateContent xmlns:mc="http://schemas.openxmlformats.org/markup-compatibility/2006">
              <mc:Choice xmlns:v="urn:schemas-microsoft-com:vml" Requires="v">
                <p:oleObj spid="_x0000_s3091" r:id="rId7" imgW="2641600" imgH="431800" progId="Equation.KSEE3">
                  <p:embed/>
                </p:oleObj>
              </mc:Choice>
              <mc:Fallback>
                <p:oleObj r:id="rId7" imgW="2641600" imgH="431800" progId="Equation.KSEE3">
                  <p:embed/>
                  <p:pic>
                    <p:nvPicPr>
                      <p:cNvPr id="0" name="图片 3075"/>
                      <p:cNvPicPr/>
                      <p:nvPr/>
                    </p:nvPicPr>
                    <p:blipFill>
                      <a:blip r:embed="rId8"/>
                      <a:stretch>
                        <a:fillRect/>
                      </a:stretch>
                    </p:blipFill>
                    <p:spPr>
                      <a:xfrm>
                        <a:off x="3056255" y="5262245"/>
                        <a:ext cx="6080125" cy="9937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3691890" cy="4488180"/>
          </a:xfrm>
          <a:prstGeom prst="rect">
            <a:avLst/>
          </a:prstGeom>
          <a:noFill/>
        </p:spPr>
        <p:txBody>
          <a:bodyPr wrap="square" rtlCol="0">
            <a:spAutoFit/>
          </a:bodyPr>
          <a:lstStyle/>
          <a:p>
            <a:pPr>
              <a:lnSpc>
                <a:spcPct val="130000"/>
              </a:lnSpc>
            </a:pPr>
            <a:r>
              <a:rPr lang="en-US" altLang="zh-CN" sz="2800" b="1" dirty="0" smtClean="0">
                <a:solidFill>
                  <a:srgbClr val="0000FF"/>
                </a:solidFill>
                <a:latin typeface="Times New Roman" panose="02020603050405020304" pitchFamily="18" charset="0"/>
                <a:ea typeface="黑体" panose="02010609060101010101" charset="-122"/>
              </a:rPr>
              <a:t>9.1</a:t>
            </a:r>
            <a:r>
              <a:rPr lang="zh-CN" altLang="en-US" sz="2800" b="1" dirty="0" smtClean="0">
                <a:solidFill>
                  <a:srgbClr val="0000FF"/>
                </a:solidFill>
                <a:latin typeface="Times New Roman" panose="02020603050405020304" pitchFamily="18" charset="0"/>
                <a:ea typeface="黑体" panose="02010609060101010101" charset="-122"/>
              </a:rPr>
              <a:t>.2  任务程序的编写</a:t>
            </a:r>
          </a:p>
          <a:p>
            <a:pPr>
              <a:lnSpc>
                <a:spcPct val="130000"/>
              </a:lnSpc>
            </a:pPr>
            <a:r>
              <a:rPr lang="en-US" altLang="zh-CN" sz="2400" b="1" dirty="0" smtClean="0">
                <a:latin typeface="Times New Roman" panose="02020603050405020304" pitchFamily="18" charset="0"/>
                <a:ea typeface="宋体" panose="02010600030101010101" pitchFamily="2" charset="-122"/>
              </a:rPr>
              <a:t>    首先是工程的图形化参数配置，如图所示，将连接LED的引脚PC0设为</a:t>
            </a:r>
            <a:r>
              <a:rPr lang="en-US" altLang="zh-CN" sz="2400" b="1" dirty="0" smtClean="0">
                <a:solidFill>
                  <a:srgbClr val="FF0000"/>
                </a:solidFill>
                <a:latin typeface="Times New Roman" panose="02020603050405020304" pitchFamily="18" charset="0"/>
                <a:ea typeface="宋体" panose="02010600030101010101" pitchFamily="2" charset="-122"/>
              </a:rPr>
              <a:t>“GPIO_Output”</a:t>
            </a:r>
            <a:r>
              <a:rPr lang="en-US" altLang="zh-CN" sz="2400" b="1" dirty="0" smtClean="0">
                <a:latin typeface="Times New Roman" panose="02020603050405020304" pitchFamily="18" charset="0"/>
                <a:ea typeface="宋体" panose="02010600030101010101" pitchFamily="2" charset="-122"/>
              </a:rPr>
              <a:t>模式，定时器选用普通定时器TIM3，时钟信号源选择</a:t>
            </a:r>
            <a:r>
              <a:rPr lang="en-US" altLang="zh-CN" sz="2400" b="1" dirty="0" smtClean="0">
                <a:solidFill>
                  <a:srgbClr val="FF0000"/>
                </a:solidFill>
                <a:latin typeface="Times New Roman" panose="02020603050405020304" pitchFamily="18" charset="0"/>
                <a:ea typeface="宋体" panose="02010600030101010101" pitchFamily="2" charset="-122"/>
              </a:rPr>
              <a:t>“Internal Clock”</a:t>
            </a:r>
            <a:r>
              <a:rPr lang="en-US" altLang="zh-CN" sz="2400" b="1" dirty="0" smtClean="0">
                <a:latin typeface="Times New Roman" panose="02020603050405020304" pitchFamily="18" charset="0"/>
                <a:ea typeface="宋体" panose="02010600030101010101" pitchFamily="2" charset="-122"/>
              </a:rPr>
              <a:t>（内部时钟）。</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77" name="图片 17"/>
          <p:cNvPicPr>
            <a:picLocks noChangeAspect="1"/>
          </p:cNvPicPr>
          <p:nvPr/>
        </p:nvPicPr>
        <p:blipFill>
          <a:blip r:embed="rId4"/>
          <a:stretch>
            <a:fillRect/>
          </a:stretch>
        </p:blipFill>
        <p:spPr>
          <a:xfrm>
            <a:off x="4144645" y="521335"/>
            <a:ext cx="7662545" cy="5253990"/>
          </a:xfrm>
          <a:prstGeom prst="rect">
            <a:avLst/>
          </a:prstGeom>
          <a:noFill/>
          <a:ln>
            <a:solidFill>
              <a:schemeClr val="tx1"/>
            </a:solidFill>
          </a:ln>
        </p:spPr>
      </p:pic>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3928110"/>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这里需要填写定时器的</a:t>
            </a:r>
            <a:r>
              <a:rPr lang="en-US" altLang="zh-CN" sz="2400" b="1" dirty="0" smtClean="0">
                <a:solidFill>
                  <a:srgbClr val="FF0000"/>
                </a:solidFill>
                <a:latin typeface="Times New Roman" panose="02020603050405020304" pitchFamily="18" charset="0"/>
                <a:ea typeface="宋体" panose="02010600030101010101" pitchFamily="2" charset="-122"/>
              </a:rPr>
              <a:t>PSC</a:t>
            </a:r>
            <a:r>
              <a:rPr lang="en-US" altLang="zh-CN" sz="2400" b="1" dirty="0" smtClean="0">
                <a:latin typeface="Times New Roman" panose="02020603050405020304" pitchFamily="18" charset="0"/>
                <a:ea typeface="宋体" panose="02010600030101010101" pitchFamily="2" charset="-122"/>
              </a:rPr>
              <a:t>和</a:t>
            </a:r>
            <a:r>
              <a:rPr lang="en-US" altLang="zh-CN" sz="2400" b="1" dirty="0" smtClean="0">
                <a:solidFill>
                  <a:srgbClr val="FF0000"/>
                </a:solidFill>
                <a:latin typeface="Times New Roman" panose="02020603050405020304" pitchFamily="18" charset="0"/>
                <a:ea typeface="宋体" panose="02010600030101010101" pitchFamily="2" charset="-122"/>
              </a:rPr>
              <a:t>ARR</a:t>
            </a:r>
            <a:r>
              <a:rPr lang="en-US" altLang="zh-CN" sz="2400" b="1" dirty="0" smtClean="0">
                <a:latin typeface="Times New Roman" panose="02020603050405020304" pitchFamily="18" charset="0"/>
                <a:ea typeface="宋体" panose="02010600030101010101" pitchFamily="2" charset="-122"/>
              </a:rPr>
              <a:t>两个参数，不妨</a:t>
            </a:r>
            <a:r>
              <a:rPr lang="en-US" altLang="zh-CN" sz="2400" b="1" u="sng" dirty="0" smtClean="0">
                <a:solidFill>
                  <a:srgbClr val="7030A0"/>
                </a:solidFill>
                <a:latin typeface="Times New Roman" panose="02020603050405020304" pitchFamily="18" charset="0"/>
                <a:ea typeface="宋体" panose="02010600030101010101" pitchFamily="2" charset="-122"/>
              </a:rPr>
              <a:t>设定PSC为7999、ARR为999</a:t>
            </a:r>
            <a:r>
              <a:rPr lang="en-US" altLang="zh-CN" sz="2400" b="1" dirty="0" smtClean="0">
                <a:latin typeface="Times New Roman" panose="02020603050405020304" pitchFamily="18" charset="0"/>
                <a:ea typeface="宋体" panose="02010600030101010101" pitchFamily="2" charset="-122"/>
              </a:rPr>
              <a:t>，套用公式验证计算定时器的计数脉冲周期：</a:t>
            </a: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en-US" altLang="zh-CN" sz="2400" b="1" dirty="0" smtClean="0">
                <a:latin typeface="Times New Roman" panose="02020603050405020304" pitchFamily="18" charset="0"/>
                <a:ea typeface="宋体" panose="02010600030101010101" pitchFamily="2" charset="-122"/>
              </a:rPr>
              <a:t>定时器一次溢出时间：</a:t>
            </a:r>
          </a:p>
          <a:p>
            <a:pPr>
              <a:lnSpc>
                <a:spcPct val="130000"/>
              </a:lnSpc>
            </a:pPr>
            <a:endParaRPr lang="en-US" altLang="zh-CN" sz="2400" b="1" dirty="0" smtClean="0">
              <a:latin typeface="Times New Roman" panose="02020603050405020304" pitchFamily="18" charset="0"/>
              <a:ea typeface="宋体" panose="02010600030101010101" pitchFamily="2" charset="-122"/>
            </a:endParaRPr>
          </a:p>
          <a:p>
            <a:pPr>
              <a:lnSpc>
                <a:spcPct val="130000"/>
              </a:lnSpc>
            </a:pPr>
            <a:r>
              <a:rPr lang="en-US" altLang="zh-CN" sz="2400" b="1" dirty="0" smtClean="0">
                <a:latin typeface="Times New Roman" panose="02020603050405020304" pitchFamily="18" charset="0"/>
                <a:ea typeface="宋体" panose="02010600030101010101" pitchFamily="2" charset="-122"/>
              </a:rPr>
              <a:t>    本次任务需要用到的新的API函数有：</a:t>
            </a:r>
          </a:p>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① </a:t>
            </a:r>
            <a:r>
              <a:rPr lang="zh-CN" altLang="en-US" sz="2400" b="1" dirty="0" smtClean="0">
                <a:solidFill>
                  <a:srgbClr val="7030A0"/>
                </a:solidFill>
                <a:latin typeface="Times New Roman" panose="02020603050405020304" pitchFamily="18" charset="0"/>
                <a:ea typeface="宋体" panose="02010600030101010101" pitchFamily="2" charset="-122"/>
              </a:rPr>
              <a:t>定时器启动函数（不开中断）  </a:t>
            </a:r>
            <a:r>
              <a:rPr lang="en-US" altLang="zh-CN" sz="2400" b="1" dirty="0" smtClean="0">
                <a:solidFill>
                  <a:srgbClr val="7030A0"/>
                </a:solidFill>
                <a:latin typeface="Times New Roman" panose="02020603050405020304" pitchFamily="18" charset="0"/>
                <a:ea typeface="宋体" panose="02010600030101010101" pitchFamily="2" charset="-122"/>
              </a:rPr>
              <a:t>HAL_TIM_Base_Start</a:t>
            </a:r>
          </a:p>
        </p:txBody>
      </p:sp>
      <p:pic>
        <p:nvPicPr>
          <p:cNvPr id="1026" name="Picture 2" descr="E:\教学\课程改革\单片机2019\pic\蝴蝶GIF.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147482601"/>
          <p:cNvGraphicFramePr>
            <a:graphicFrameLocks noChangeAspect="1"/>
          </p:cNvGraphicFramePr>
          <p:nvPr/>
        </p:nvGraphicFramePr>
        <p:xfrm>
          <a:off x="390525" y="1496060"/>
          <a:ext cx="4362450" cy="741680"/>
        </p:xfrm>
        <a:graphic>
          <a:graphicData uri="http://schemas.openxmlformats.org/presentationml/2006/ole">
            <mc:AlternateContent xmlns:mc="http://schemas.openxmlformats.org/markup-compatibility/2006">
              <mc:Choice xmlns:v="urn:schemas-microsoft-com:vml" Requires="v">
                <p:oleObj spid="_x0000_s4109" r:id="rId5" imgW="2540000" imgH="431800" progId="Equation.KSEE3">
                  <p:embed/>
                </p:oleObj>
              </mc:Choice>
              <mc:Fallback>
                <p:oleObj r:id="rId5" imgW="2540000" imgH="431800" progId="Equation.KSEE3">
                  <p:embed/>
                  <p:pic>
                    <p:nvPicPr>
                      <p:cNvPr id="0" name="图片 3075"/>
                      <p:cNvPicPr/>
                      <p:nvPr/>
                    </p:nvPicPr>
                    <p:blipFill>
                      <a:blip r:embed="rId6"/>
                      <a:stretch>
                        <a:fillRect/>
                      </a:stretch>
                    </p:blipFill>
                    <p:spPr>
                      <a:xfrm>
                        <a:off x="390525" y="1496060"/>
                        <a:ext cx="4362450" cy="741680"/>
                      </a:xfrm>
                      <a:prstGeom prst="rect">
                        <a:avLst/>
                      </a:prstGeom>
                      <a:noFill/>
                      <a:ln w="38100">
                        <a:noFill/>
                        <a:miter/>
                      </a:ln>
                    </p:spPr>
                  </p:pic>
                </p:oleObj>
              </mc:Fallback>
            </mc:AlternateContent>
          </a:graphicData>
        </a:graphic>
      </p:graphicFrame>
      <p:graphicFrame>
        <p:nvGraphicFramePr>
          <p:cNvPr id="4" name="对象 -2147482600"/>
          <p:cNvGraphicFramePr>
            <a:graphicFrameLocks noChangeAspect="1"/>
          </p:cNvGraphicFramePr>
          <p:nvPr/>
        </p:nvGraphicFramePr>
        <p:xfrm>
          <a:off x="390525" y="2825750"/>
          <a:ext cx="5681345" cy="431800"/>
        </p:xfrm>
        <a:graphic>
          <a:graphicData uri="http://schemas.openxmlformats.org/presentationml/2006/ole">
            <mc:AlternateContent xmlns:mc="http://schemas.openxmlformats.org/markup-compatibility/2006">
              <mc:Choice xmlns:v="urn:schemas-microsoft-com:vml" Requires="v">
                <p:oleObj spid="_x0000_s4110" r:id="rId7" imgW="3175000" imgH="241300" progId="Equation.KSEE3">
                  <p:embed/>
                </p:oleObj>
              </mc:Choice>
              <mc:Fallback>
                <p:oleObj r:id="rId7" imgW="3175000" imgH="241300" progId="Equation.KSEE3">
                  <p:embed/>
                  <p:pic>
                    <p:nvPicPr>
                      <p:cNvPr id="0" name="图片 2"/>
                      <p:cNvPicPr/>
                      <p:nvPr/>
                    </p:nvPicPr>
                    <p:blipFill>
                      <a:blip r:embed="rId8"/>
                      <a:stretch>
                        <a:fillRect/>
                      </a:stretch>
                    </p:blipFill>
                    <p:spPr>
                      <a:xfrm>
                        <a:off x="390525" y="2825750"/>
                        <a:ext cx="5681345" cy="431800"/>
                      </a:xfrm>
                      <a:prstGeom prst="rect">
                        <a:avLst/>
                      </a:prstGeom>
                      <a:noFill/>
                      <a:ln w="38100">
                        <a:noFill/>
                        <a:miter/>
                      </a:ln>
                    </p:spPr>
                  </p:pic>
                </p:oleObj>
              </mc:Fallback>
            </mc:AlternateContent>
          </a:graphicData>
        </a:graphic>
      </p:graphicFrame>
      <p:pic>
        <p:nvPicPr>
          <p:cNvPr id="6" name="图片 5"/>
          <p:cNvPicPr>
            <a:picLocks noChangeAspect="1"/>
          </p:cNvPicPr>
          <p:nvPr/>
        </p:nvPicPr>
        <p:blipFill>
          <a:blip r:embed="rId9"/>
          <a:stretch>
            <a:fillRect/>
          </a:stretch>
        </p:blipFill>
        <p:spPr>
          <a:xfrm>
            <a:off x="643255" y="4264660"/>
            <a:ext cx="6565900" cy="1647825"/>
          </a:xfrm>
          <a:prstGeom prst="rect">
            <a:avLst/>
          </a:prstGeom>
        </p:spPr>
      </p:pic>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3928110"/>
          </a:xfrm>
          <a:prstGeom prst="rect">
            <a:avLst/>
          </a:prstGeom>
          <a:noFill/>
        </p:spPr>
        <p:txBody>
          <a:bodyPr wrap="square" rtlCol="0">
            <a:spAutoFit/>
          </a:bodyPr>
          <a:lstStyle/>
          <a:p>
            <a:pPr>
              <a:lnSpc>
                <a:spcPct val="130000"/>
              </a:lnSpc>
            </a:pPr>
            <a:r>
              <a:rPr lang="en-US" altLang="zh-CN" sz="2400" b="1" dirty="0" smtClean="0">
                <a:solidFill>
                  <a:srgbClr val="C00000"/>
                </a:solidFill>
                <a:latin typeface="Times New Roman" panose="02020603050405020304" pitchFamily="18" charset="0"/>
                <a:ea typeface="宋体" panose="02010600030101010101" pitchFamily="2" charset="-122"/>
              </a:rPr>
              <a:t>    </a:t>
            </a:r>
            <a:r>
              <a:rPr lang="zh-CN" altLang="en-US" sz="2400" b="1" dirty="0" smtClean="0">
                <a:solidFill>
                  <a:srgbClr val="C00000"/>
                </a:solidFill>
                <a:latin typeface="Times New Roman" panose="02020603050405020304" pitchFamily="18" charset="0"/>
                <a:ea typeface="宋体" panose="02010600030101010101" pitchFamily="2" charset="-122"/>
              </a:rPr>
              <a:t>例程：</a:t>
            </a:r>
          </a:p>
          <a:p>
            <a:pPr>
              <a:lnSpc>
                <a:spcPct val="130000"/>
              </a:lnSpc>
            </a:pPr>
            <a:endParaRPr lang="zh-CN" altLang="en-US" sz="2400" b="1" dirty="0" smtClean="0">
              <a:solidFill>
                <a:srgbClr val="00B050"/>
              </a:solidFill>
              <a:latin typeface="Times New Roman" panose="02020603050405020304" pitchFamily="18" charset="0"/>
              <a:ea typeface="宋体" panose="02010600030101010101" pitchFamily="2" charset="-122"/>
              <a:sym typeface="+mn-ea"/>
            </a:endParaRPr>
          </a:p>
          <a:p>
            <a:pPr>
              <a:lnSpc>
                <a:spcPct val="130000"/>
              </a:lnSpc>
            </a:pPr>
            <a:endParaRPr lang="zh-CN" altLang="en-US" sz="2400" b="1" dirty="0" smtClean="0">
              <a:solidFill>
                <a:srgbClr val="00B050"/>
              </a:solidFill>
              <a:latin typeface="Times New Roman" panose="02020603050405020304" pitchFamily="18" charset="0"/>
              <a:ea typeface="宋体" panose="02010600030101010101" pitchFamily="2" charset="-122"/>
              <a:sym typeface="+mn-ea"/>
            </a:endParaRPr>
          </a:p>
          <a:p>
            <a:pPr>
              <a:lnSpc>
                <a:spcPct val="130000"/>
              </a:lnSpc>
            </a:pPr>
            <a:r>
              <a:rPr lang="zh-CN" altLang="en-US" sz="2400" b="1" dirty="0" smtClean="0">
                <a:solidFill>
                  <a:srgbClr val="7030A0"/>
                </a:solidFill>
                <a:latin typeface="Times New Roman" panose="02020603050405020304" pitchFamily="18" charset="0"/>
                <a:ea typeface="宋体" panose="02010600030101010101" pitchFamily="2" charset="-122"/>
              </a:rPr>
              <a:t>    ② </a:t>
            </a:r>
            <a:r>
              <a:rPr lang="zh-CN" altLang="en-US" sz="2400" b="1" dirty="0" smtClean="0">
                <a:solidFill>
                  <a:srgbClr val="7030A0"/>
                </a:solidFill>
                <a:latin typeface="Times New Roman" panose="02020603050405020304" pitchFamily="18" charset="0"/>
                <a:ea typeface="宋体" panose="02010600030101010101" pitchFamily="2" charset="-122"/>
                <a:sym typeface="+mn-ea"/>
              </a:rPr>
              <a:t>定时器停止函数（不开中断）  </a:t>
            </a:r>
            <a:r>
              <a:rPr lang="zh-CN" altLang="en-US" sz="2400" b="1" dirty="0" smtClean="0">
                <a:solidFill>
                  <a:srgbClr val="7030A0"/>
                </a:solidFill>
                <a:latin typeface="Times New Roman" panose="02020603050405020304" pitchFamily="18" charset="0"/>
                <a:ea typeface="宋体" panose="02010600030101010101" pitchFamily="2" charset="-122"/>
              </a:rPr>
              <a:t>HAL_TIM_Base_Stop</a:t>
            </a:r>
          </a:p>
          <a:p>
            <a:pPr>
              <a:lnSpc>
                <a:spcPct val="130000"/>
              </a:lnSpc>
            </a:pPr>
            <a:endParaRPr lang="zh-CN" altLang="en-US"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zh-CN" altLang="en-US"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zh-CN" altLang="en-US"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例程：</a:t>
            </a:r>
            <a:endParaRPr lang="zh-CN" altLang="en-US" sz="2400" b="1" dirty="0" smtClean="0">
              <a:solidFill>
                <a:schemeClr val="tx1"/>
              </a:solidFill>
              <a:latin typeface="Times New Roman" panose="02020603050405020304" pitchFamily="18" charset="0"/>
              <a:ea typeface="宋体" panose="02010600030101010101" pitchFamily="2" charset="-122"/>
            </a:endParaRP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615950" y="2346325"/>
            <a:ext cx="5935980" cy="853440"/>
          </a:xfrm>
          <a:prstGeom prst="rect">
            <a:avLst/>
          </a:prstGeom>
        </p:spPr>
      </p:pic>
      <p:pic>
        <p:nvPicPr>
          <p:cNvPr id="4" name="图片 3"/>
          <p:cNvPicPr>
            <a:picLocks noChangeAspect="1"/>
          </p:cNvPicPr>
          <p:nvPr/>
        </p:nvPicPr>
        <p:blipFill>
          <a:blip r:embed="rId5"/>
          <a:stretch>
            <a:fillRect/>
          </a:stretch>
        </p:blipFill>
        <p:spPr>
          <a:xfrm>
            <a:off x="615950" y="3199765"/>
            <a:ext cx="4191000" cy="609600"/>
          </a:xfrm>
          <a:prstGeom prst="rect">
            <a:avLst/>
          </a:prstGeom>
        </p:spPr>
      </p:pic>
      <p:sp>
        <p:nvSpPr>
          <p:cNvPr id="5" name="文本框 4"/>
          <p:cNvSpPr txBox="1"/>
          <p:nvPr/>
        </p:nvSpPr>
        <p:spPr>
          <a:xfrm>
            <a:off x="260985" y="872490"/>
            <a:ext cx="8432800" cy="89154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nSpc>
                <a:spcPct val="130000"/>
              </a:lnSpc>
            </a:pPr>
            <a:r>
              <a:rPr lang="zh-CN" altLang="en-US" sz="2000" b="1" dirty="0" smtClean="0">
                <a:solidFill>
                  <a:srgbClr val="00B050"/>
                </a:solidFill>
                <a:latin typeface="Times New Roman" panose="02020603050405020304" pitchFamily="18" charset="0"/>
                <a:ea typeface="宋体" panose="02010600030101010101" pitchFamily="2" charset="-122"/>
                <a:sym typeface="+mn-ea"/>
              </a:rPr>
              <a:t>//运行定时器TIM3</a:t>
            </a:r>
            <a:endParaRPr lang="zh-CN" altLang="en-US" sz="2000" b="1" dirty="0" smtClean="0">
              <a:solidFill>
                <a:srgbClr val="00B050"/>
              </a:solidFill>
              <a:latin typeface="Times New Roman" panose="02020603050405020304" pitchFamily="18" charset="0"/>
              <a:ea typeface="宋体" panose="02010600030101010101" pitchFamily="2" charset="-122"/>
            </a:endParaRPr>
          </a:p>
          <a:p>
            <a:pPr>
              <a:lnSpc>
                <a:spcPct val="130000"/>
              </a:lnSpc>
            </a:pPr>
            <a:r>
              <a:rPr lang="en-US" altLang="zh-CN" sz="2000" b="1" dirty="0" smtClean="0">
                <a:latin typeface="Times New Roman" panose="02020603050405020304" pitchFamily="18" charset="0"/>
                <a:ea typeface="宋体" panose="02010600030101010101" pitchFamily="2" charset="-122"/>
                <a:sym typeface="+mn-ea"/>
              </a:rPr>
              <a:t>i</a:t>
            </a:r>
            <a:r>
              <a:rPr lang="zh-CN" altLang="en-US" sz="2000" b="1" dirty="0" smtClean="0">
                <a:latin typeface="Times New Roman" panose="02020603050405020304" pitchFamily="18" charset="0"/>
                <a:ea typeface="宋体" panose="02010600030101010101" pitchFamily="2" charset="-122"/>
                <a:sym typeface="+mn-ea"/>
              </a:rPr>
              <a:t>f( HAL_TIM_Base_Start(&amp;htim3) != HAL_OK ) { Error_Handler(); }</a:t>
            </a:r>
          </a:p>
        </p:txBody>
      </p:sp>
      <p:sp>
        <p:nvSpPr>
          <p:cNvPr id="6" name="文本框 5"/>
          <p:cNvSpPr txBox="1"/>
          <p:nvPr/>
        </p:nvSpPr>
        <p:spPr>
          <a:xfrm>
            <a:off x="260985" y="4264660"/>
            <a:ext cx="8432800" cy="89154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nSpc>
                <a:spcPct val="130000"/>
              </a:lnSpc>
            </a:pPr>
            <a:r>
              <a:rPr lang="zh-CN" altLang="en-US" sz="2000" b="1" dirty="0" smtClean="0">
                <a:solidFill>
                  <a:srgbClr val="00B050"/>
                </a:solidFill>
                <a:latin typeface="Times New Roman" panose="02020603050405020304" pitchFamily="18" charset="0"/>
                <a:ea typeface="宋体" panose="02010600030101010101" pitchFamily="2" charset="-122"/>
                <a:sym typeface="+mn-ea"/>
              </a:rPr>
              <a:t>//停止定时器TIM3</a:t>
            </a:r>
            <a:endParaRPr lang="zh-CN" altLang="en-US" sz="2000" b="1" dirty="0" smtClean="0">
              <a:solidFill>
                <a:srgbClr val="00B050"/>
              </a:solidFill>
              <a:latin typeface="Times New Roman" panose="02020603050405020304" pitchFamily="18" charset="0"/>
              <a:ea typeface="宋体" panose="02010600030101010101" pitchFamily="2" charset="-122"/>
            </a:endParaRPr>
          </a:p>
          <a:p>
            <a:pPr>
              <a:lnSpc>
                <a:spcPct val="130000"/>
              </a:lnSpc>
            </a:pPr>
            <a:r>
              <a:rPr lang="en-US" altLang="zh-CN" sz="2000" b="1" dirty="0" smtClean="0">
                <a:latin typeface="Times New Roman" panose="02020603050405020304" pitchFamily="18" charset="0"/>
                <a:ea typeface="宋体" panose="02010600030101010101" pitchFamily="2" charset="-122"/>
                <a:sym typeface="+mn-ea"/>
              </a:rPr>
              <a:t>i</a:t>
            </a:r>
            <a:r>
              <a:rPr lang="zh-CN" altLang="en-US" sz="2000" b="1" dirty="0" smtClean="0">
                <a:latin typeface="Times New Roman" panose="02020603050405020304" pitchFamily="18" charset="0"/>
                <a:ea typeface="宋体" panose="02010600030101010101" pitchFamily="2" charset="-122"/>
                <a:sym typeface="+mn-ea"/>
              </a:rPr>
              <a:t>f( HAL_TIM_Base_Stop(&amp;htim3) != HAL_OK ) { Error_Handler(); }</a:t>
            </a: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4407535"/>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需要用到的宏定义有：</a:t>
            </a:r>
          </a:p>
          <a:p>
            <a:pPr>
              <a:lnSpc>
                <a:spcPct val="130000"/>
              </a:lnSpc>
            </a:pPr>
            <a:r>
              <a:rPr lang="en-US" altLang="zh-CN" sz="2400" b="1" dirty="0" smtClean="0">
                <a:solidFill>
                  <a:srgbClr val="7030A0"/>
                </a:solidFill>
                <a:latin typeface="Times New Roman" panose="02020603050405020304" pitchFamily="18" charset="0"/>
                <a:ea typeface="宋体" panose="02010600030101010101" pitchFamily="2" charset="-122"/>
              </a:rPr>
              <a:t>    ① </a:t>
            </a:r>
            <a:r>
              <a:rPr lang="zh-CN" altLang="en-US" sz="2400" b="1" dirty="0" smtClean="0">
                <a:solidFill>
                  <a:srgbClr val="7030A0"/>
                </a:solidFill>
                <a:latin typeface="Times New Roman" panose="02020603050405020304" pitchFamily="18" charset="0"/>
                <a:ea typeface="宋体" panose="02010600030101010101" pitchFamily="2" charset="-122"/>
              </a:rPr>
              <a:t>设定定时器当前计数值宏  </a:t>
            </a:r>
            <a:r>
              <a:rPr lang="en-US" altLang="zh-CN" sz="2400" b="1" dirty="0" smtClean="0">
                <a:solidFill>
                  <a:srgbClr val="7030A0"/>
                </a:solidFill>
                <a:latin typeface="Times New Roman" panose="02020603050405020304" pitchFamily="18" charset="0"/>
                <a:ea typeface="宋体" panose="02010600030101010101" pitchFamily="2" charset="-122"/>
              </a:rPr>
              <a:t>__HAL_TIM_SET_COUNTER</a:t>
            </a: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例程：</a:t>
            </a:r>
            <a:endParaRPr lang="zh-CN" altLang="en-US" sz="2400" b="1" dirty="0" smtClean="0">
              <a:solidFill>
                <a:srgbClr val="7030A0"/>
              </a:solidFill>
              <a:latin typeface="Times New Roman" panose="02020603050405020304" pitchFamily="18" charset="0"/>
              <a:ea typeface="宋体" panose="02010600030101010101" pitchFamily="2" charset="-122"/>
            </a:endParaRP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618490" y="1386840"/>
            <a:ext cx="3832860" cy="617220"/>
          </a:xfrm>
          <a:prstGeom prst="rect">
            <a:avLst/>
          </a:prstGeom>
        </p:spPr>
      </p:pic>
      <p:pic>
        <p:nvPicPr>
          <p:cNvPr id="4" name="图片 3"/>
          <p:cNvPicPr>
            <a:picLocks noChangeAspect="1"/>
          </p:cNvPicPr>
          <p:nvPr/>
        </p:nvPicPr>
        <p:blipFill>
          <a:blip r:embed="rId5"/>
          <a:stretch>
            <a:fillRect/>
          </a:stretch>
        </p:blipFill>
        <p:spPr>
          <a:xfrm>
            <a:off x="618490" y="2004060"/>
            <a:ext cx="3802380" cy="2087880"/>
          </a:xfrm>
          <a:prstGeom prst="rect">
            <a:avLst/>
          </a:prstGeom>
        </p:spPr>
      </p:pic>
      <p:sp>
        <p:nvSpPr>
          <p:cNvPr id="6" name="文本框 5"/>
          <p:cNvSpPr txBox="1"/>
          <p:nvPr/>
        </p:nvSpPr>
        <p:spPr>
          <a:xfrm>
            <a:off x="618490" y="4807585"/>
            <a:ext cx="10866120" cy="49149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gn="l">
              <a:lnSpc>
                <a:spcPct val="130000"/>
              </a:lnSpc>
              <a:buClrTx/>
              <a:buSzTx/>
              <a:buFontTx/>
            </a:pPr>
            <a:r>
              <a:rPr lang="zh-CN" altLang="en-US" sz="2000" b="1" dirty="0" smtClean="0">
                <a:latin typeface="Times New Roman" panose="02020603050405020304" pitchFamily="18" charset="0"/>
                <a:ea typeface="宋体" panose="02010600030101010101" pitchFamily="2" charset="-122"/>
                <a:sym typeface="+mn-ea"/>
              </a:rPr>
              <a:t>__HAL_TIM_SET_COUNTER(&amp;htim3,0);</a:t>
            </a:r>
            <a:r>
              <a:rPr lang="zh-CN" altLang="en-US" sz="2000" b="1" dirty="0" smtClean="0">
                <a:solidFill>
                  <a:srgbClr val="7030A0"/>
                </a:solidFill>
                <a:latin typeface="Times New Roman" panose="02020603050405020304" pitchFamily="18" charset="0"/>
                <a:ea typeface="宋体" panose="02010600030101010101" pitchFamily="2" charset="-122"/>
                <a:sym typeface="+mn-ea"/>
              </a:rPr>
              <a:t> </a:t>
            </a:r>
            <a:r>
              <a:rPr lang="en-US" altLang="zh-CN" sz="2000" b="1" dirty="0" smtClean="0">
                <a:solidFill>
                  <a:srgbClr val="7030A0"/>
                </a:solidFill>
                <a:latin typeface="Times New Roman" panose="02020603050405020304" pitchFamily="18" charset="0"/>
                <a:ea typeface="宋体" panose="02010600030101010101" pitchFamily="2" charset="-122"/>
                <a:sym typeface="+mn-ea"/>
              </a:rPr>
              <a:t> </a:t>
            </a:r>
            <a:r>
              <a:rPr lang="zh-CN" altLang="en-US" sz="2000" b="1" dirty="0" smtClean="0">
                <a:solidFill>
                  <a:srgbClr val="00B050"/>
                </a:solidFill>
                <a:latin typeface="Times New Roman" panose="02020603050405020304" pitchFamily="18" charset="0"/>
                <a:ea typeface="宋体" panose="02010600030101010101" pitchFamily="2" charset="-122"/>
                <a:sym typeface="+mn-ea"/>
              </a:rPr>
              <a:t>//将定时器TIM3当前计数值设定为0</a:t>
            </a: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0985" y="336550"/>
            <a:ext cx="11669395" cy="6167120"/>
          </a:xfrm>
          <a:prstGeom prst="rect">
            <a:avLst/>
          </a:prstGeom>
          <a:noFill/>
        </p:spPr>
        <p:txBody>
          <a:bodyPr wrap="square" rtlCol="0">
            <a:spAutoFit/>
          </a:bodyPr>
          <a:lstStyle/>
          <a:p>
            <a:pPr>
              <a:lnSpc>
                <a:spcPct val="130000"/>
              </a:lnSpc>
            </a:pPr>
            <a:r>
              <a:rPr lang="en-US" altLang="zh-CN" sz="2400" b="1" dirty="0" smtClean="0">
                <a:latin typeface="Times New Roman" panose="02020603050405020304" pitchFamily="18" charset="0"/>
                <a:ea typeface="宋体" panose="02010600030101010101" pitchFamily="2" charset="-122"/>
              </a:rPr>
              <a:t>    ② </a:t>
            </a:r>
            <a:r>
              <a:rPr lang="zh-CN" altLang="en-US" sz="2400" b="1" dirty="0" smtClean="0">
                <a:solidFill>
                  <a:srgbClr val="7030A0"/>
                </a:solidFill>
                <a:latin typeface="Times New Roman" panose="02020603050405020304" pitchFamily="18" charset="0"/>
                <a:ea typeface="宋体" panose="02010600030101010101" pitchFamily="2" charset="-122"/>
                <a:sym typeface="+mn-ea"/>
              </a:rPr>
              <a:t>获取定时器当前计数值宏  </a:t>
            </a:r>
            <a:r>
              <a:rPr lang="en-US" altLang="zh-CN" sz="2400" b="1" dirty="0" smtClean="0">
                <a:solidFill>
                  <a:srgbClr val="7030A0"/>
                </a:solidFill>
                <a:latin typeface="Times New Roman" panose="02020603050405020304" pitchFamily="18" charset="0"/>
                <a:ea typeface="宋体" panose="02010600030101010101" pitchFamily="2" charset="-122"/>
              </a:rPr>
              <a:t>__HAL_TIM_GET_COUNTER</a:t>
            </a: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en-US" altLang="zh-CN"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zh-CN" altLang="en-US" sz="2400" b="1" dirty="0" smtClean="0">
              <a:solidFill>
                <a:srgbClr val="7030A0"/>
              </a:solidFill>
              <a:latin typeface="Times New Roman" panose="02020603050405020304" pitchFamily="18" charset="0"/>
              <a:ea typeface="宋体" panose="02010600030101010101" pitchFamily="2" charset="-122"/>
            </a:endParaRPr>
          </a:p>
          <a:p>
            <a:pPr>
              <a:lnSpc>
                <a:spcPct val="130000"/>
              </a:lnSpc>
            </a:pPr>
            <a:r>
              <a:rPr lang="zh-CN" altLang="en-US" sz="2400" b="1" dirty="0" smtClean="0">
                <a:solidFill>
                  <a:srgbClr val="C00000"/>
                </a:solidFill>
                <a:latin typeface="Times New Roman" panose="02020603050405020304" pitchFamily="18" charset="0"/>
                <a:ea typeface="宋体" panose="02010600030101010101" pitchFamily="2" charset="-122"/>
              </a:rPr>
              <a:t>    例程：</a:t>
            </a:r>
          </a:p>
          <a:p>
            <a:pPr>
              <a:lnSpc>
                <a:spcPct val="130000"/>
              </a:lnSpc>
            </a:pPr>
            <a:endParaRPr lang="zh-CN" altLang="en-US" sz="2800" b="1" dirty="0" smtClean="0">
              <a:solidFill>
                <a:srgbClr val="7030A0"/>
              </a:solidFill>
              <a:latin typeface="Times New Roman" panose="02020603050405020304" pitchFamily="18" charset="0"/>
              <a:ea typeface="宋体" panose="02010600030101010101" pitchFamily="2" charset="-122"/>
            </a:endParaRPr>
          </a:p>
          <a:p>
            <a:pPr>
              <a:lnSpc>
                <a:spcPct val="130000"/>
              </a:lnSpc>
            </a:pPr>
            <a:endParaRPr lang="zh-CN" altLang="en-US" sz="2800" b="1" dirty="0" smtClean="0">
              <a:solidFill>
                <a:srgbClr val="7030A0"/>
              </a:solidFill>
              <a:latin typeface="Times New Roman" panose="02020603050405020304" pitchFamily="18" charset="0"/>
              <a:ea typeface="宋体" panose="02010600030101010101" pitchFamily="2" charset="-122"/>
            </a:endParaRPr>
          </a:p>
          <a:p>
            <a:pPr>
              <a:lnSpc>
                <a:spcPct val="130000"/>
              </a:lnSpc>
            </a:pPr>
            <a:r>
              <a:rPr lang="zh-CN" altLang="en-US" sz="2800" b="1" dirty="0" smtClean="0">
                <a:solidFill>
                  <a:srgbClr val="7030A0"/>
                </a:solidFill>
                <a:latin typeface="Times New Roman" panose="02020603050405020304" pitchFamily="18" charset="0"/>
                <a:ea typeface="宋体" panose="02010600030101010101" pitchFamily="2" charset="-122"/>
              </a:rPr>
              <a:t> </a:t>
            </a:r>
          </a:p>
          <a:p>
            <a:pPr>
              <a:lnSpc>
                <a:spcPct val="130000"/>
              </a:lnSpc>
            </a:pPr>
            <a:r>
              <a:rPr lang="zh-CN" altLang="en-US" sz="2800" b="1" dirty="0" smtClean="0">
                <a:solidFill>
                  <a:srgbClr val="7030A0"/>
                </a:solidFill>
                <a:latin typeface="Times New Roman" panose="02020603050405020304" pitchFamily="18" charset="0"/>
                <a:ea typeface="宋体" panose="02010600030101010101" pitchFamily="2" charset="-122"/>
              </a:rPr>
              <a:t>   （现场操作演示</a:t>
            </a:r>
            <a:r>
              <a:rPr lang="zh-CN" altLang="en-US" sz="2800" b="1" dirty="0" smtClean="0">
                <a:solidFill>
                  <a:srgbClr val="7030A0"/>
                </a:solidFill>
                <a:ea typeface="宋体" panose="02010600030101010101" pitchFamily="2" charset="-122"/>
                <a:cs typeface="Arial" panose="020B0604020202020204" pitchFamily="34" charset="0"/>
              </a:rPr>
              <a:t>…</a:t>
            </a:r>
            <a:r>
              <a:rPr lang="zh-CN" altLang="en-US" sz="2800" b="1" dirty="0" smtClean="0">
                <a:solidFill>
                  <a:srgbClr val="7030A0"/>
                </a:solidFill>
                <a:latin typeface="Times New Roman" panose="02020603050405020304" pitchFamily="18" charset="0"/>
                <a:ea typeface="宋体" panose="02010600030101010101" pitchFamily="2" charset="-122"/>
              </a:rPr>
              <a:t>）</a:t>
            </a:r>
          </a:p>
        </p:txBody>
      </p:sp>
      <p:pic>
        <p:nvPicPr>
          <p:cNvPr id="1026" name="Picture 2" descr="E:\教学\课程改革\单片机2019\pic\蝴蝶GI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2092" y="5857875"/>
            <a:ext cx="916598" cy="91659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691515" y="1002665"/>
            <a:ext cx="4451350" cy="2736850"/>
          </a:xfrm>
          <a:prstGeom prst="rect">
            <a:avLst/>
          </a:prstGeom>
        </p:spPr>
      </p:pic>
      <p:sp>
        <p:nvSpPr>
          <p:cNvPr id="6" name="文本框 5"/>
          <p:cNvSpPr txBox="1"/>
          <p:nvPr/>
        </p:nvSpPr>
        <p:spPr>
          <a:xfrm>
            <a:off x="691515" y="4328160"/>
            <a:ext cx="7917180" cy="891540"/>
          </a:xfrm>
          <a:prstGeom prst="rect">
            <a:avLst/>
          </a:prstGeom>
          <a:solidFill>
            <a:schemeClr val="accent3">
              <a:lumMod val="20000"/>
              <a:lumOff val="80000"/>
            </a:schemeClr>
          </a:solidFill>
          <a:ln w="28575" cmpd="sng">
            <a:solidFill>
              <a:schemeClr val="accent1">
                <a:shade val="50000"/>
              </a:schemeClr>
            </a:solidFill>
            <a:prstDash val="solid"/>
          </a:ln>
        </p:spPr>
        <p:txBody>
          <a:bodyPr wrap="square" rtlCol="0">
            <a:spAutoFit/>
          </a:bodyPr>
          <a:lstStyle/>
          <a:p>
            <a:pPr>
              <a:lnSpc>
                <a:spcPct val="130000"/>
              </a:lnSpc>
            </a:pPr>
            <a:r>
              <a:rPr lang="zh-CN" altLang="en-US" sz="2000" b="1" dirty="0" smtClean="0">
                <a:solidFill>
                  <a:srgbClr val="00B050"/>
                </a:solidFill>
                <a:latin typeface="Times New Roman" panose="02020603050405020304" pitchFamily="18" charset="0"/>
                <a:ea typeface="宋体" panose="02010600030101010101" pitchFamily="2" charset="-122"/>
                <a:sym typeface="+mn-ea"/>
              </a:rPr>
              <a:t>//读取定时器TIM3当前计数值</a:t>
            </a:r>
            <a:endParaRPr lang="zh-CN" altLang="en-US" sz="2000" b="1" dirty="0" smtClean="0">
              <a:solidFill>
                <a:srgbClr val="00B050"/>
              </a:solidFill>
              <a:latin typeface="Times New Roman" panose="02020603050405020304" pitchFamily="18" charset="0"/>
              <a:ea typeface="宋体" panose="02010600030101010101" pitchFamily="2" charset="-122"/>
            </a:endParaRPr>
          </a:p>
          <a:p>
            <a:pPr>
              <a:lnSpc>
                <a:spcPct val="130000"/>
              </a:lnSpc>
            </a:pPr>
            <a:r>
              <a:rPr lang="zh-CN" altLang="en-US" sz="2000" b="1" dirty="0" smtClean="0">
                <a:latin typeface="Times New Roman" panose="02020603050405020304" pitchFamily="18" charset="0"/>
                <a:ea typeface="宋体" panose="02010600030101010101" pitchFamily="2" charset="-122"/>
                <a:sym typeface="+mn-ea"/>
              </a:rPr>
              <a:t>uint16_t cnt = __HAL_TIM_GET_COUNTER(&amp;htim3);</a:t>
            </a:r>
            <a:endParaRPr lang="zh-CN" altLang="en-US" sz="2000" b="1" dirty="0" smtClean="0">
              <a:solidFill>
                <a:srgbClr val="00B050"/>
              </a:solidFill>
              <a:latin typeface="Times New Roman" panose="02020603050405020304" pitchFamily="18" charset="0"/>
              <a:ea typeface="宋体" panose="02010600030101010101" pitchFamily="2" charset="-122"/>
              <a:sym typeface="+mn-ea"/>
            </a:endParaRPr>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612135"/>
            <a:ext cx="12192000" cy="1416050"/>
          </a:xfrm>
          <a:custGeom>
            <a:avLst/>
            <a:gdLst/>
            <a:ahLst/>
            <a:cxnLst/>
            <a:rect l="l" t="t" r="r" b="b"/>
            <a:pathLst>
              <a:path w="12192000" h="1416050">
                <a:moveTo>
                  <a:pt x="0" y="1415795"/>
                </a:moveTo>
                <a:lnTo>
                  <a:pt x="12191999" y="1415795"/>
                </a:lnTo>
                <a:lnTo>
                  <a:pt x="12192000" y="0"/>
                </a:lnTo>
                <a:lnTo>
                  <a:pt x="0" y="0"/>
                </a:lnTo>
                <a:lnTo>
                  <a:pt x="0" y="1415795"/>
                </a:lnTo>
                <a:close/>
              </a:path>
            </a:pathLst>
          </a:custGeom>
          <a:solidFill>
            <a:srgbClr val="E34A46"/>
          </a:solidFill>
        </p:spPr>
        <p:txBody>
          <a:bodyPr wrap="square" lIns="0" tIns="0" rIns="0" bIns="0" rtlCol="0"/>
          <a:lstStyle/>
          <a:p>
            <a:endParaRPr/>
          </a:p>
        </p:txBody>
      </p:sp>
      <p:sp>
        <p:nvSpPr>
          <p:cNvPr id="3" name="object 3"/>
          <p:cNvSpPr txBox="1"/>
          <p:nvPr/>
        </p:nvSpPr>
        <p:spPr>
          <a:xfrm>
            <a:off x="3574324" y="2858495"/>
            <a:ext cx="5447030" cy="923330"/>
          </a:xfrm>
          <a:prstGeom prst="rect">
            <a:avLst/>
          </a:prstGeom>
        </p:spPr>
        <p:txBody>
          <a:bodyPr vert="horz" wrap="square" lIns="0" tIns="0" rIns="0" bIns="0" rtlCol="0">
            <a:spAutoFit/>
          </a:bodyPr>
          <a:lstStyle/>
          <a:p>
            <a:pPr marL="12700">
              <a:lnSpc>
                <a:spcPct val="100000"/>
              </a:lnSpc>
              <a:tabLst>
                <a:tab pos="1623695" algn="l"/>
              </a:tabLst>
            </a:pPr>
            <a:r>
              <a:rPr sz="6000" b="1" spc="-5" dirty="0" err="1" smtClean="0">
                <a:solidFill>
                  <a:srgbClr val="FFFFFF"/>
                </a:solidFill>
                <a:latin typeface="微软雅黑"/>
                <a:cs typeface="微软雅黑"/>
              </a:rPr>
              <a:t>定时器概述</a:t>
            </a:r>
            <a:endParaRPr sz="6000" dirty="0">
              <a:latin typeface="微软雅黑"/>
              <a:cs typeface="微软雅黑"/>
            </a:endParaRPr>
          </a:p>
        </p:txBody>
      </p:sp>
    </p:spTree>
    <p:extLst>
      <p:ext uri="{BB962C8B-B14F-4D97-AF65-F5344CB8AC3E}">
        <p14:creationId xmlns:p14="http://schemas.microsoft.com/office/powerpoint/2010/main" val="2315988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4295394" y="2772004"/>
            <a:ext cx="3602354"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1	</a:t>
            </a:r>
            <a:r>
              <a:rPr sz="5400" spc="-5" dirty="0">
                <a:solidFill>
                  <a:srgbClr val="FFFFFF"/>
                </a:solidFill>
              </a:rPr>
              <a:t>基本概念</a:t>
            </a:r>
            <a:endParaRPr sz="5400">
              <a:latin typeface="微软雅黑"/>
              <a:cs typeface="微软雅黑"/>
            </a:endParaRPr>
          </a:p>
        </p:txBody>
      </p:sp>
    </p:spTree>
    <p:extLst>
      <p:ext uri="{BB962C8B-B14F-4D97-AF65-F5344CB8AC3E}">
        <p14:creationId xmlns:p14="http://schemas.microsoft.com/office/powerpoint/2010/main" val="3203947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352145" y="1173088"/>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基本概念</a:t>
            </a:r>
            <a:endParaRPr sz="2400">
              <a:latin typeface="微软雅黑"/>
              <a:cs typeface="微软雅黑"/>
            </a:endParaRPr>
          </a:p>
        </p:txBody>
      </p:sp>
      <p:sp>
        <p:nvSpPr>
          <p:cNvPr id="13" name="object 13"/>
          <p:cNvSpPr/>
          <p:nvPr/>
        </p:nvSpPr>
        <p:spPr>
          <a:xfrm>
            <a:off x="8558783" y="1057655"/>
            <a:ext cx="2810255" cy="2150364"/>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0676084" y="818962"/>
            <a:ext cx="1405335" cy="863255"/>
          </a:xfrm>
          <a:prstGeom prst="rect">
            <a:avLst/>
          </a:prstGeom>
          <a:blipFill>
            <a:blip r:embed="rId5" cstate="print"/>
            <a:stretch>
              <a:fillRect/>
            </a:stretch>
          </a:blipFill>
        </p:spPr>
        <p:txBody>
          <a:bodyPr wrap="square" lIns="0" tIns="0" rIns="0" bIns="0" rtlCol="0"/>
          <a:lstStyle/>
          <a:p>
            <a:endParaRPr/>
          </a:p>
        </p:txBody>
      </p:sp>
      <p:sp>
        <p:nvSpPr>
          <p:cNvPr id="15" name="object 15"/>
          <p:cNvSpPr txBox="1"/>
          <p:nvPr/>
        </p:nvSpPr>
        <p:spPr>
          <a:xfrm>
            <a:off x="11037823" y="1004882"/>
            <a:ext cx="583565" cy="304800"/>
          </a:xfrm>
          <a:prstGeom prst="rect">
            <a:avLst/>
          </a:prstGeom>
        </p:spPr>
        <p:txBody>
          <a:bodyPr vert="horz" wrap="square" lIns="0" tIns="0" rIns="0" bIns="0" rtlCol="0">
            <a:spAutoFit/>
          </a:bodyPr>
          <a:lstStyle/>
          <a:p>
            <a:pPr marL="12700">
              <a:lnSpc>
                <a:spcPct val="100000"/>
              </a:lnSpc>
            </a:pPr>
            <a:r>
              <a:rPr sz="2200" b="1" spc="-5" dirty="0">
                <a:latin typeface="微软雅黑"/>
                <a:cs typeface="微软雅黑"/>
              </a:rPr>
              <a:t>时钟</a:t>
            </a:r>
            <a:endParaRPr sz="2200">
              <a:latin typeface="微软雅黑"/>
              <a:cs typeface="微软雅黑"/>
            </a:endParaRPr>
          </a:p>
        </p:txBody>
      </p:sp>
      <p:sp>
        <p:nvSpPr>
          <p:cNvPr id="16" name="object 16"/>
          <p:cNvSpPr/>
          <p:nvPr/>
        </p:nvSpPr>
        <p:spPr>
          <a:xfrm>
            <a:off x="4257294" y="2966466"/>
            <a:ext cx="3101340" cy="735330"/>
          </a:xfrm>
          <a:custGeom>
            <a:avLst/>
            <a:gdLst/>
            <a:ahLst/>
            <a:cxnLst/>
            <a:rect l="l" t="t" r="r" b="b"/>
            <a:pathLst>
              <a:path w="3101340" h="735329">
                <a:moveTo>
                  <a:pt x="3022854" y="0"/>
                </a:moveTo>
                <a:lnTo>
                  <a:pt x="516889" y="0"/>
                </a:lnTo>
                <a:lnTo>
                  <a:pt x="67679" y="739"/>
                </a:lnTo>
                <a:lnTo>
                  <a:pt x="29476" y="17204"/>
                </a:lnTo>
                <a:lnTo>
                  <a:pt x="5202" y="50356"/>
                </a:lnTo>
                <a:lnTo>
                  <a:pt x="0" y="78486"/>
                </a:lnTo>
                <a:lnTo>
                  <a:pt x="0" y="392430"/>
                </a:lnTo>
                <a:lnTo>
                  <a:pt x="9538" y="429929"/>
                </a:lnTo>
                <a:lnTo>
                  <a:pt x="37856" y="459575"/>
                </a:lnTo>
                <a:lnTo>
                  <a:pt x="78485" y="470916"/>
                </a:lnTo>
                <a:lnTo>
                  <a:pt x="516889" y="470916"/>
                </a:lnTo>
                <a:lnTo>
                  <a:pt x="435863" y="734822"/>
                </a:lnTo>
                <a:lnTo>
                  <a:pt x="1292225" y="470916"/>
                </a:lnTo>
                <a:lnTo>
                  <a:pt x="3033660" y="470176"/>
                </a:lnTo>
                <a:lnTo>
                  <a:pt x="3047537" y="466947"/>
                </a:lnTo>
                <a:lnTo>
                  <a:pt x="3081826" y="444190"/>
                </a:lnTo>
                <a:lnTo>
                  <a:pt x="3099998" y="406935"/>
                </a:lnTo>
                <a:lnTo>
                  <a:pt x="3101339" y="392430"/>
                </a:lnTo>
                <a:lnTo>
                  <a:pt x="3101339" y="274700"/>
                </a:lnTo>
                <a:lnTo>
                  <a:pt x="3100600" y="67679"/>
                </a:lnTo>
                <a:lnTo>
                  <a:pt x="3084135" y="29476"/>
                </a:lnTo>
                <a:lnTo>
                  <a:pt x="3050983" y="5202"/>
                </a:lnTo>
                <a:lnTo>
                  <a:pt x="3037359" y="1341"/>
                </a:lnTo>
                <a:lnTo>
                  <a:pt x="3022854" y="0"/>
                </a:lnTo>
                <a:close/>
              </a:path>
            </a:pathLst>
          </a:custGeom>
          <a:solidFill>
            <a:srgbClr val="FFFFC7"/>
          </a:solidFill>
        </p:spPr>
        <p:txBody>
          <a:bodyPr wrap="square" lIns="0" tIns="0" rIns="0" bIns="0" rtlCol="0"/>
          <a:lstStyle/>
          <a:p>
            <a:endParaRPr/>
          </a:p>
        </p:txBody>
      </p:sp>
      <p:sp>
        <p:nvSpPr>
          <p:cNvPr id="17" name="object 17"/>
          <p:cNvSpPr/>
          <p:nvPr/>
        </p:nvSpPr>
        <p:spPr>
          <a:xfrm>
            <a:off x="4257294" y="2966466"/>
            <a:ext cx="3101340" cy="735330"/>
          </a:xfrm>
          <a:custGeom>
            <a:avLst/>
            <a:gdLst/>
            <a:ahLst/>
            <a:cxnLst/>
            <a:rect l="l" t="t" r="r" b="b"/>
            <a:pathLst>
              <a:path w="3101340" h="735329">
                <a:moveTo>
                  <a:pt x="0" y="78486"/>
                </a:moveTo>
                <a:lnTo>
                  <a:pt x="11340" y="37856"/>
                </a:lnTo>
                <a:lnTo>
                  <a:pt x="40986" y="9538"/>
                </a:lnTo>
                <a:lnTo>
                  <a:pt x="516889" y="0"/>
                </a:lnTo>
                <a:lnTo>
                  <a:pt x="1292225" y="0"/>
                </a:lnTo>
                <a:lnTo>
                  <a:pt x="3022854" y="0"/>
                </a:lnTo>
                <a:lnTo>
                  <a:pt x="3037359" y="1341"/>
                </a:lnTo>
                <a:lnTo>
                  <a:pt x="3074614" y="19513"/>
                </a:lnTo>
                <a:lnTo>
                  <a:pt x="3097371" y="53802"/>
                </a:lnTo>
                <a:lnTo>
                  <a:pt x="3101339" y="274700"/>
                </a:lnTo>
                <a:lnTo>
                  <a:pt x="3101339" y="392430"/>
                </a:lnTo>
                <a:lnTo>
                  <a:pt x="3099998" y="406935"/>
                </a:lnTo>
                <a:lnTo>
                  <a:pt x="3096137" y="420559"/>
                </a:lnTo>
                <a:lnTo>
                  <a:pt x="3071863" y="453711"/>
                </a:lnTo>
                <a:lnTo>
                  <a:pt x="3033660" y="470176"/>
                </a:lnTo>
                <a:lnTo>
                  <a:pt x="1292225" y="470916"/>
                </a:lnTo>
                <a:lnTo>
                  <a:pt x="435863" y="734822"/>
                </a:lnTo>
                <a:lnTo>
                  <a:pt x="516889" y="470916"/>
                </a:lnTo>
                <a:lnTo>
                  <a:pt x="78485" y="470916"/>
                </a:lnTo>
                <a:lnTo>
                  <a:pt x="63980" y="469574"/>
                </a:lnTo>
                <a:lnTo>
                  <a:pt x="26725" y="451402"/>
                </a:lnTo>
                <a:lnTo>
                  <a:pt x="3968" y="417113"/>
                </a:lnTo>
                <a:lnTo>
                  <a:pt x="0" y="392430"/>
                </a:lnTo>
                <a:lnTo>
                  <a:pt x="0" y="274700"/>
                </a:lnTo>
                <a:lnTo>
                  <a:pt x="0" y="78486"/>
                </a:lnTo>
                <a:close/>
              </a:path>
            </a:pathLst>
          </a:custGeom>
          <a:ln w="28956">
            <a:solidFill>
              <a:srgbClr val="000000"/>
            </a:solidFill>
          </a:ln>
        </p:spPr>
        <p:txBody>
          <a:bodyPr wrap="square" lIns="0" tIns="0" rIns="0" bIns="0" rtlCol="0"/>
          <a:lstStyle/>
          <a:p>
            <a:endParaRPr/>
          </a:p>
        </p:txBody>
      </p:sp>
      <p:sp>
        <p:nvSpPr>
          <p:cNvPr id="18" name="object 18"/>
          <p:cNvSpPr txBox="1"/>
          <p:nvPr/>
        </p:nvSpPr>
        <p:spPr>
          <a:xfrm>
            <a:off x="1497838" y="1200079"/>
            <a:ext cx="7303770" cy="2188210"/>
          </a:xfrm>
          <a:prstGeom prst="rect">
            <a:avLst/>
          </a:prstGeom>
        </p:spPr>
        <p:txBody>
          <a:bodyPr vert="horz" wrap="square" lIns="0" tIns="0" rIns="0" bIns="0" rtlCol="0">
            <a:spAutoFit/>
          </a:bodyPr>
          <a:lstStyle/>
          <a:p>
            <a:pPr marL="2778760">
              <a:lnSpc>
                <a:spcPct val="100000"/>
              </a:lnSpc>
            </a:pPr>
            <a:r>
              <a:rPr sz="2800" b="1" spc="-5" dirty="0">
                <a:solidFill>
                  <a:srgbClr val="252525"/>
                </a:solidFill>
                <a:latin typeface="微软雅黑"/>
                <a:cs typeface="微软雅黑"/>
              </a:rPr>
              <a:t>定时器和计数器的区别</a:t>
            </a:r>
            <a:endParaRPr sz="2800">
              <a:latin typeface="微软雅黑"/>
              <a:cs typeface="微软雅黑"/>
            </a:endParaRPr>
          </a:p>
          <a:p>
            <a:pPr marL="12700">
              <a:lnSpc>
                <a:spcPct val="100000"/>
              </a:lnSpc>
              <a:spcBef>
                <a:spcPts val="2070"/>
              </a:spcBef>
              <a:tabLst>
                <a:tab pos="542925" algn="l"/>
              </a:tabLst>
            </a:pPr>
            <a:r>
              <a:rPr sz="2800" spc="10" dirty="0">
                <a:solidFill>
                  <a:srgbClr val="0066CC"/>
                </a:solidFill>
                <a:latin typeface="Segoe UI Symbol"/>
                <a:cs typeface="Segoe UI Symbol"/>
              </a:rPr>
              <a:t>❑	</a:t>
            </a:r>
            <a:r>
              <a:rPr sz="2800" b="1" spc="-5" dirty="0">
                <a:solidFill>
                  <a:srgbClr val="FF0000"/>
                </a:solidFill>
                <a:latin typeface="微软雅黑"/>
                <a:cs typeface="微软雅黑"/>
              </a:rPr>
              <a:t>定时器</a:t>
            </a:r>
            <a:r>
              <a:rPr sz="2800" b="1" spc="-5" dirty="0">
                <a:latin typeface="微软雅黑"/>
                <a:cs typeface="微软雅黑"/>
              </a:rPr>
              <a:t>是对周期固定的脉冲信号进行</a:t>
            </a:r>
            <a:r>
              <a:rPr sz="2800" b="1" dirty="0">
                <a:latin typeface="微软雅黑"/>
                <a:cs typeface="微软雅黑"/>
              </a:rPr>
              <a:t>计</a:t>
            </a:r>
            <a:r>
              <a:rPr sz="2800" b="1" spc="-5" dirty="0">
                <a:latin typeface="微软雅黑"/>
                <a:cs typeface="微软雅黑"/>
              </a:rPr>
              <a:t>数，</a:t>
            </a:r>
            <a:endParaRPr sz="2800">
              <a:latin typeface="微软雅黑"/>
              <a:cs typeface="微软雅黑"/>
            </a:endParaRPr>
          </a:p>
          <a:p>
            <a:pPr marL="544195">
              <a:lnSpc>
                <a:spcPct val="100000"/>
              </a:lnSpc>
              <a:spcBef>
                <a:spcPts val="1680"/>
              </a:spcBef>
            </a:pPr>
            <a:r>
              <a:rPr sz="2800" b="1" spc="-10" dirty="0">
                <a:latin typeface="微软雅黑"/>
                <a:cs typeface="微软雅黑"/>
              </a:rPr>
              <a:t>如MC</a:t>
            </a:r>
            <a:r>
              <a:rPr sz="2800" b="1" spc="-5" dirty="0">
                <a:latin typeface="微软雅黑"/>
                <a:cs typeface="微软雅黑"/>
              </a:rPr>
              <a:t>U内部的外设时</a:t>
            </a:r>
            <a:r>
              <a:rPr sz="2800" b="1" spc="-20" dirty="0">
                <a:latin typeface="微软雅黑"/>
                <a:cs typeface="微软雅黑"/>
              </a:rPr>
              <a:t>钟</a:t>
            </a:r>
            <a:r>
              <a:rPr sz="2800" b="1" spc="-5" dirty="0">
                <a:latin typeface="微软雅黑"/>
                <a:cs typeface="微软雅黑"/>
              </a:rPr>
              <a:t>(APB</a:t>
            </a:r>
            <a:r>
              <a:rPr sz="2800" b="1" spc="-20" dirty="0">
                <a:latin typeface="微软雅黑"/>
                <a:cs typeface="微软雅黑"/>
              </a:rPr>
              <a:t>)</a:t>
            </a:r>
            <a:r>
              <a:rPr sz="2800" b="1" spc="-5" dirty="0">
                <a:latin typeface="微软雅黑"/>
                <a:cs typeface="微软雅黑"/>
              </a:rPr>
              <a:t>。</a:t>
            </a:r>
            <a:endParaRPr sz="2800">
              <a:latin typeface="微软雅黑"/>
              <a:cs typeface="微软雅黑"/>
            </a:endParaRPr>
          </a:p>
          <a:p>
            <a:pPr marL="2929890">
              <a:lnSpc>
                <a:spcPts val="2835"/>
              </a:lnSpc>
              <a:spcBef>
                <a:spcPts val="1020"/>
              </a:spcBef>
            </a:pPr>
            <a:r>
              <a:rPr sz="2400" b="1" dirty="0">
                <a:latin typeface="宋体"/>
                <a:cs typeface="宋体"/>
              </a:rPr>
              <a:t>周期固定或者不固定</a:t>
            </a:r>
            <a:endParaRPr sz="2400">
              <a:latin typeface="宋体"/>
              <a:cs typeface="宋体"/>
            </a:endParaRPr>
          </a:p>
        </p:txBody>
      </p:sp>
      <p:sp>
        <p:nvSpPr>
          <p:cNvPr id="19" name="object 19"/>
          <p:cNvSpPr txBox="1"/>
          <p:nvPr/>
        </p:nvSpPr>
        <p:spPr>
          <a:xfrm>
            <a:off x="1497838" y="3772465"/>
            <a:ext cx="7658734" cy="2487930"/>
          </a:xfrm>
          <a:prstGeom prst="rect">
            <a:avLst/>
          </a:prstGeom>
        </p:spPr>
        <p:txBody>
          <a:bodyPr vert="horz" wrap="square" lIns="0" tIns="0" rIns="0" bIns="0" rtlCol="0">
            <a:spAutoFit/>
          </a:bodyPr>
          <a:lstStyle/>
          <a:p>
            <a:pPr marL="12700">
              <a:lnSpc>
                <a:spcPct val="100000"/>
              </a:lnSpc>
              <a:tabLst>
                <a:tab pos="542925" algn="l"/>
              </a:tabLst>
            </a:pPr>
            <a:r>
              <a:rPr sz="2800" spc="15" dirty="0">
                <a:solidFill>
                  <a:srgbClr val="0066CC"/>
                </a:solidFill>
                <a:latin typeface="Segoe UI Symbol"/>
                <a:cs typeface="Segoe UI Symbol"/>
              </a:rPr>
              <a:t>❑	</a:t>
            </a:r>
            <a:r>
              <a:rPr sz="2800" b="1" spc="-10" dirty="0">
                <a:solidFill>
                  <a:srgbClr val="FF0000"/>
                </a:solidFill>
                <a:latin typeface="微软雅黑"/>
                <a:cs typeface="微软雅黑"/>
              </a:rPr>
              <a:t>计数器</a:t>
            </a:r>
            <a:r>
              <a:rPr sz="2800" b="1" spc="-10" dirty="0">
                <a:latin typeface="微软雅黑"/>
                <a:cs typeface="微软雅黑"/>
              </a:rPr>
              <a:t>是对周期不确定的脉冲信号进</a:t>
            </a:r>
            <a:r>
              <a:rPr sz="2800" b="1" dirty="0">
                <a:latin typeface="微软雅黑"/>
                <a:cs typeface="微软雅黑"/>
              </a:rPr>
              <a:t>行</a:t>
            </a:r>
            <a:r>
              <a:rPr sz="2800" b="1" spc="-10" dirty="0">
                <a:latin typeface="微软雅黑"/>
                <a:cs typeface="微软雅黑"/>
              </a:rPr>
              <a:t>计数，</a:t>
            </a:r>
            <a:endParaRPr sz="2800">
              <a:latin typeface="微软雅黑"/>
              <a:cs typeface="微软雅黑"/>
            </a:endParaRPr>
          </a:p>
          <a:p>
            <a:pPr marL="215265" algn="ctr">
              <a:lnSpc>
                <a:spcPct val="100000"/>
              </a:lnSpc>
              <a:spcBef>
                <a:spcPts val="1680"/>
              </a:spcBef>
            </a:pPr>
            <a:r>
              <a:rPr sz="2800" b="1" spc="-5" dirty="0">
                <a:latin typeface="微软雅黑"/>
                <a:cs typeface="微软雅黑"/>
              </a:rPr>
              <a:t>如</a:t>
            </a:r>
            <a:r>
              <a:rPr sz="2800" b="1" spc="-10" dirty="0">
                <a:latin typeface="微软雅黑"/>
                <a:cs typeface="微软雅黑"/>
              </a:rPr>
              <a:t>MC</a:t>
            </a:r>
            <a:r>
              <a:rPr sz="2800" b="1" dirty="0">
                <a:latin typeface="微软雅黑"/>
                <a:cs typeface="微软雅黑"/>
              </a:rPr>
              <a:t>U</a:t>
            </a:r>
            <a:r>
              <a:rPr sz="2800" b="1" spc="-5" dirty="0">
                <a:latin typeface="微软雅黑"/>
                <a:cs typeface="微软雅黑"/>
              </a:rPr>
              <a:t>的</a:t>
            </a:r>
            <a:r>
              <a:rPr sz="2800" b="1" spc="-10" dirty="0">
                <a:latin typeface="微软雅黑"/>
                <a:cs typeface="微软雅黑"/>
              </a:rPr>
              <a:t>I/</a:t>
            </a:r>
            <a:r>
              <a:rPr sz="2800" b="1" spc="-5" dirty="0">
                <a:latin typeface="微软雅黑"/>
                <a:cs typeface="微软雅黑"/>
              </a:rPr>
              <a:t>O引脚所引入的外部脉冲信号。</a:t>
            </a:r>
            <a:endParaRPr sz="2800">
              <a:latin typeface="微软雅黑"/>
              <a:cs typeface="微软雅黑"/>
            </a:endParaRPr>
          </a:p>
          <a:p>
            <a:pPr>
              <a:lnSpc>
                <a:spcPct val="100000"/>
              </a:lnSpc>
              <a:spcBef>
                <a:spcPts val="17"/>
              </a:spcBef>
            </a:pPr>
            <a:endParaRPr sz="2700">
              <a:latin typeface="Times New Roman"/>
              <a:cs typeface="Times New Roman"/>
            </a:endParaRPr>
          </a:p>
          <a:p>
            <a:pPr marL="12700">
              <a:lnSpc>
                <a:spcPct val="100000"/>
              </a:lnSpc>
              <a:tabLst>
                <a:tab pos="542925" algn="l"/>
              </a:tabLst>
            </a:pPr>
            <a:r>
              <a:rPr sz="2800" spc="15" dirty="0">
                <a:solidFill>
                  <a:srgbClr val="0066CC"/>
                </a:solidFill>
                <a:latin typeface="Segoe UI Symbol"/>
                <a:cs typeface="Segoe UI Symbol"/>
              </a:rPr>
              <a:t>❑	</a:t>
            </a:r>
            <a:r>
              <a:rPr sz="2800" b="1" spc="-10" dirty="0">
                <a:latin typeface="微软雅黑"/>
                <a:cs typeface="微软雅黑"/>
              </a:rPr>
              <a:t>结论：定时器和计数器本质上都</a:t>
            </a:r>
            <a:r>
              <a:rPr sz="2800" b="1" spc="-5" dirty="0">
                <a:latin typeface="微软雅黑"/>
                <a:cs typeface="微软雅黑"/>
              </a:rPr>
              <a:t>是</a:t>
            </a:r>
            <a:r>
              <a:rPr sz="2800" b="1" spc="-5" dirty="0">
                <a:solidFill>
                  <a:srgbClr val="FF0000"/>
                </a:solidFill>
                <a:latin typeface="微软雅黑"/>
                <a:cs typeface="微软雅黑"/>
              </a:rPr>
              <a:t>计数</a:t>
            </a:r>
            <a:r>
              <a:rPr sz="2800" b="1" dirty="0">
                <a:solidFill>
                  <a:srgbClr val="FF0000"/>
                </a:solidFill>
                <a:latin typeface="微软雅黑"/>
                <a:cs typeface="微软雅黑"/>
              </a:rPr>
              <a:t>器</a:t>
            </a:r>
            <a:r>
              <a:rPr sz="2800" b="1" spc="-5" dirty="0">
                <a:latin typeface="微软雅黑"/>
                <a:cs typeface="微软雅黑"/>
              </a:rPr>
              <a:t>，</a:t>
            </a:r>
            <a:endParaRPr sz="2800">
              <a:latin typeface="微软雅黑"/>
              <a:cs typeface="微软雅黑"/>
            </a:endParaRPr>
          </a:p>
          <a:p>
            <a:pPr marL="173990" algn="ctr">
              <a:lnSpc>
                <a:spcPct val="100000"/>
              </a:lnSpc>
              <a:spcBef>
                <a:spcPts val="1680"/>
              </a:spcBef>
            </a:pPr>
            <a:r>
              <a:rPr sz="2800" b="1" spc="-5" dirty="0">
                <a:latin typeface="微软雅黑"/>
                <a:cs typeface="微软雅黑"/>
              </a:rPr>
              <a:t>定时器是计数器的一种特例。</a:t>
            </a:r>
            <a:endParaRPr sz="2800">
              <a:latin typeface="微软雅黑"/>
              <a:cs typeface="微软雅黑"/>
            </a:endParaRPr>
          </a:p>
        </p:txBody>
      </p:sp>
      <p:sp>
        <p:nvSpPr>
          <p:cNvPr id="20" name="object 20"/>
          <p:cNvSpPr/>
          <p:nvPr/>
        </p:nvSpPr>
        <p:spPr>
          <a:xfrm>
            <a:off x="3798570" y="3714750"/>
            <a:ext cx="1811020" cy="471170"/>
          </a:xfrm>
          <a:custGeom>
            <a:avLst/>
            <a:gdLst/>
            <a:ahLst/>
            <a:cxnLst/>
            <a:rect l="l" t="t" r="r" b="b"/>
            <a:pathLst>
              <a:path w="1811020" h="471170">
                <a:moveTo>
                  <a:pt x="0" y="470916"/>
                </a:moveTo>
                <a:lnTo>
                  <a:pt x="1810512" y="470916"/>
                </a:lnTo>
                <a:lnTo>
                  <a:pt x="1810512" y="0"/>
                </a:lnTo>
                <a:lnTo>
                  <a:pt x="0" y="0"/>
                </a:lnTo>
                <a:lnTo>
                  <a:pt x="0" y="470916"/>
                </a:lnTo>
                <a:close/>
              </a:path>
            </a:pathLst>
          </a:custGeom>
          <a:ln w="38100">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88075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82836" y="6516466"/>
            <a:ext cx="2616200" cy="177800"/>
          </a:xfrm>
          <a:prstGeom prst="rect">
            <a:avLst/>
          </a:prstGeom>
        </p:spPr>
        <p:txBody>
          <a:bodyPr vert="horz" wrap="square" lIns="0" tIns="0" rIns="0" bIns="0" rtlCol="0">
            <a:spAutoFit/>
          </a:bodyPr>
          <a:lstStyle/>
          <a:p>
            <a:pPr marL="12700">
              <a:lnSpc>
                <a:spcPct val="100000"/>
              </a:lnSpc>
            </a:pP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223826" y="652607"/>
            <a:ext cx="10515600" cy="1325563"/>
          </a:xfrm>
          <a:prstGeom prst="rect">
            <a:avLst/>
          </a:prstGeom>
        </p:spPr>
        <p:txBody>
          <a:bodyPr vert="horz" wrap="square" lIns="0" tIns="0" rIns="0" bIns="0" rtlCol="0">
            <a:spAutoFit/>
          </a:bodyPr>
          <a:lstStyle/>
          <a:p>
            <a:pPr marL="315595">
              <a:lnSpc>
                <a:spcPct val="100000"/>
              </a:lnSpc>
            </a:pPr>
            <a:r>
              <a:rPr sz="2400" dirty="0">
                <a:solidFill>
                  <a:srgbClr val="FFFFFF"/>
                </a:solidFill>
              </a:rPr>
              <a:t>滴水实例</a:t>
            </a:r>
            <a:endParaRPr sz="2400" dirty="0"/>
          </a:p>
        </p:txBody>
      </p:sp>
      <p:sp>
        <p:nvSpPr>
          <p:cNvPr id="11" name="object 11"/>
          <p:cNvSpPr txBox="1"/>
          <p:nvPr/>
        </p:nvSpPr>
        <p:spPr>
          <a:xfrm>
            <a:off x="4264278" y="1200079"/>
            <a:ext cx="3576320" cy="381000"/>
          </a:xfrm>
          <a:prstGeom prst="rect">
            <a:avLst/>
          </a:prstGeom>
        </p:spPr>
        <p:txBody>
          <a:bodyPr vert="horz" wrap="square" lIns="0" tIns="0" rIns="0" bIns="0" rtlCol="0">
            <a:spAutoFit/>
          </a:bodyPr>
          <a:lstStyle/>
          <a:p>
            <a:pPr marL="12700">
              <a:lnSpc>
                <a:spcPct val="100000"/>
              </a:lnSpc>
            </a:pPr>
            <a:r>
              <a:rPr sz="2800" b="1" spc="-5" dirty="0">
                <a:solidFill>
                  <a:srgbClr val="252525"/>
                </a:solidFill>
                <a:latin typeface="微软雅黑"/>
                <a:cs typeface="微软雅黑"/>
              </a:rPr>
              <a:t>定时器和计数器的区别</a:t>
            </a:r>
            <a:endParaRPr sz="2800">
              <a:latin typeface="微软雅黑"/>
              <a:cs typeface="微软雅黑"/>
            </a:endParaRPr>
          </a:p>
        </p:txBody>
      </p:sp>
      <p:sp>
        <p:nvSpPr>
          <p:cNvPr id="12" name="object 12"/>
          <p:cNvSpPr/>
          <p:nvPr/>
        </p:nvSpPr>
        <p:spPr>
          <a:xfrm>
            <a:off x="2120645" y="3955541"/>
            <a:ext cx="1263650" cy="448309"/>
          </a:xfrm>
          <a:custGeom>
            <a:avLst/>
            <a:gdLst/>
            <a:ahLst/>
            <a:cxnLst/>
            <a:rect l="l" t="t" r="r" b="b"/>
            <a:pathLst>
              <a:path w="1263650" h="448310">
                <a:moveTo>
                  <a:pt x="0" y="224027"/>
                </a:moveTo>
                <a:lnTo>
                  <a:pt x="18359" y="170200"/>
                </a:lnTo>
                <a:lnTo>
                  <a:pt x="49643" y="136838"/>
                </a:lnTo>
                <a:lnTo>
                  <a:pt x="94644" y="106032"/>
                </a:lnTo>
                <a:lnTo>
                  <a:pt x="152063" y="78244"/>
                </a:lnTo>
                <a:lnTo>
                  <a:pt x="220599" y="53937"/>
                </a:lnTo>
                <a:lnTo>
                  <a:pt x="258628" y="43232"/>
                </a:lnTo>
                <a:lnTo>
                  <a:pt x="298950" y="33571"/>
                </a:lnTo>
                <a:lnTo>
                  <a:pt x="341400" y="25011"/>
                </a:lnTo>
                <a:lnTo>
                  <a:pt x="385816" y="17609"/>
                </a:lnTo>
                <a:lnTo>
                  <a:pt x="432035" y="11423"/>
                </a:lnTo>
                <a:lnTo>
                  <a:pt x="479896" y="6512"/>
                </a:lnTo>
                <a:lnTo>
                  <a:pt x="529235" y="2932"/>
                </a:lnTo>
                <a:lnTo>
                  <a:pt x="579890" y="742"/>
                </a:lnTo>
                <a:lnTo>
                  <a:pt x="631698" y="0"/>
                </a:lnTo>
                <a:lnTo>
                  <a:pt x="683505" y="742"/>
                </a:lnTo>
                <a:lnTo>
                  <a:pt x="734160" y="2932"/>
                </a:lnTo>
                <a:lnTo>
                  <a:pt x="783499" y="6512"/>
                </a:lnTo>
                <a:lnTo>
                  <a:pt x="831360" y="11423"/>
                </a:lnTo>
                <a:lnTo>
                  <a:pt x="877579" y="17609"/>
                </a:lnTo>
                <a:lnTo>
                  <a:pt x="921995" y="25011"/>
                </a:lnTo>
                <a:lnTo>
                  <a:pt x="964445" y="33571"/>
                </a:lnTo>
                <a:lnTo>
                  <a:pt x="1004767" y="43232"/>
                </a:lnTo>
                <a:lnTo>
                  <a:pt x="1042796" y="53937"/>
                </a:lnTo>
                <a:lnTo>
                  <a:pt x="1111332" y="78244"/>
                </a:lnTo>
                <a:lnTo>
                  <a:pt x="1168751" y="106032"/>
                </a:lnTo>
                <a:lnTo>
                  <a:pt x="1213752" y="136838"/>
                </a:lnTo>
                <a:lnTo>
                  <a:pt x="1245036" y="170200"/>
                </a:lnTo>
                <a:lnTo>
                  <a:pt x="1261301" y="205658"/>
                </a:lnTo>
                <a:lnTo>
                  <a:pt x="1263395" y="224027"/>
                </a:lnTo>
                <a:lnTo>
                  <a:pt x="1261301" y="242397"/>
                </a:lnTo>
                <a:lnTo>
                  <a:pt x="1245036" y="277855"/>
                </a:lnTo>
                <a:lnTo>
                  <a:pt x="1213752" y="311217"/>
                </a:lnTo>
                <a:lnTo>
                  <a:pt x="1168751" y="342023"/>
                </a:lnTo>
                <a:lnTo>
                  <a:pt x="1111332" y="369811"/>
                </a:lnTo>
                <a:lnTo>
                  <a:pt x="1042796" y="394118"/>
                </a:lnTo>
                <a:lnTo>
                  <a:pt x="1004767" y="404823"/>
                </a:lnTo>
                <a:lnTo>
                  <a:pt x="964445" y="414484"/>
                </a:lnTo>
                <a:lnTo>
                  <a:pt x="921995" y="423044"/>
                </a:lnTo>
                <a:lnTo>
                  <a:pt x="877579" y="430446"/>
                </a:lnTo>
                <a:lnTo>
                  <a:pt x="831360" y="436632"/>
                </a:lnTo>
                <a:lnTo>
                  <a:pt x="783499" y="441543"/>
                </a:lnTo>
                <a:lnTo>
                  <a:pt x="734160" y="445123"/>
                </a:lnTo>
                <a:lnTo>
                  <a:pt x="683505" y="447313"/>
                </a:lnTo>
                <a:lnTo>
                  <a:pt x="631698" y="448055"/>
                </a:lnTo>
                <a:lnTo>
                  <a:pt x="579890" y="447313"/>
                </a:lnTo>
                <a:lnTo>
                  <a:pt x="529235" y="445123"/>
                </a:lnTo>
                <a:lnTo>
                  <a:pt x="479896" y="441543"/>
                </a:lnTo>
                <a:lnTo>
                  <a:pt x="432035" y="436632"/>
                </a:lnTo>
                <a:lnTo>
                  <a:pt x="385816" y="430446"/>
                </a:lnTo>
                <a:lnTo>
                  <a:pt x="341400" y="423044"/>
                </a:lnTo>
                <a:lnTo>
                  <a:pt x="298950" y="414484"/>
                </a:lnTo>
                <a:lnTo>
                  <a:pt x="258628" y="404823"/>
                </a:lnTo>
                <a:lnTo>
                  <a:pt x="220599" y="394118"/>
                </a:lnTo>
                <a:lnTo>
                  <a:pt x="152063" y="369811"/>
                </a:lnTo>
                <a:lnTo>
                  <a:pt x="94644" y="342023"/>
                </a:lnTo>
                <a:lnTo>
                  <a:pt x="49643" y="311217"/>
                </a:lnTo>
                <a:lnTo>
                  <a:pt x="18359" y="277855"/>
                </a:lnTo>
                <a:lnTo>
                  <a:pt x="2094" y="242397"/>
                </a:lnTo>
                <a:lnTo>
                  <a:pt x="0" y="224027"/>
                </a:lnTo>
                <a:close/>
              </a:path>
            </a:pathLst>
          </a:custGeom>
          <a:ln w="28956">
            <a:solidFill>
              <a:srgbClr val="000000"/>
            </a:solidFill>
          </a:ln>
        </p:spPr>
        <p:txBody>
          <a:bodyPr wrap="square" lIns="0" tIns="0" rIns="0" bIns="0" rtlCol="0"/>
          <a:lstStyle/>
          <a:p>
            <a:endParaRPr/>
          </a:p>
        </p:txBody>
      </p:sp>
      <p:sp>
        <p:nvSpPr>
          <p:cNvPr id="13" name="object 13"/>
          <p:cNvSpPr/>
          <p:nvPr/>
        </p:nvSpPr>
        <p:spPr>
          <a:xfrm>
            <a:off x="2370582" y="5401817"/>
            <a:ext cx="797560" cy="314325"/>
          </a:xfrm>
          <a:custGeom>
            <a:avLst/>
            <a:gdLst/>
            <a:ahLst/>
            <a:cxnLst/>
            <a:rect l="l" t="t" r="r" b="b"/>
            <a:pathLst>
              <a:path w="797560" h="314325">
                <a:moveTo>
                  <a:pt x="398525" y="0"/>
                </a:moveTo>
                <a:lnTo>
                  <a:pt x="333885" y="2053"/>
                </a:lnTo>
                <a:lnTo>
                  <a:pt x="272564" y="7997"/>
                </a:lnTo>
                <a:lnTo>
                  <a:pt x="215384" y="17511"/>
                </a:lnTo>
                <a:lnTo>
                  <a:pt x="163165" y="30272"/>
                </a:lnTo>
                <a:lnTo>
                  <a:pt x="116728" y="45958"/>
                </a:lnTo>
                <a:lnTo>
                  <a:pt x="76894" y="64245"/>
                </a:lnTo>
                <a:lnTo>
                  <a:pt x="44484" y="84813"/>
                </a:lnTo>
                <a:lnTo>
                  <a:pt x="11582" y="119234"/>
                </a:lnTo>
                <a:lnTo>
                  <a:pt x="0" y="156971"/>
                </a:lnTo>
                <a:lnTo>
                  <a:pt x="1321" y="169845"/>
                </a:lnTo>
                <a:lnTo>
                  <a:pt x="20317" y="206586"/>
                </a:lnTo>
                <a:lnTo>
                  <a:pt x="59710" y="239656"/>
                </a:lnTo>
                <a:lnTo>
                  <a:pt x="95935" y="259126"/>
                </a:lnTo>
                <a:lnTo>
                  <a:pt x="139173" y="276157"/>
                </a:lnTo>
                <a:lnTo>
                  <a:pt x="188603" y="290425"/>
                </a:lnTo>
                <a:lnTo>
                  <a:pt x="243405" y="301607"/>
                </a:lnTo>
                <a:lnTo>
                  <a:pt x="302758" y="309381"/>
                </a:lnTo>
                <a:lnTo>
                  <a:pt x="365841" y="313423"/>
                </a:lnTo>
                <a:lnTo>
                  <a:pt x="398525" y="313943"/>
                </a:lnTo>
                <a:lnTo>
                  <a:pt x="431210" y="313423"/>
                </a:lnTo>
                <a:lnTo>
                  <a:pt x="494293" y="309381"/>
                </a:lnTo>
                <a:lnTo>
                  <a:pt x="553646" y="301607"/>
                </a:lnTo>
                <a:lnTo>
                  <a:pt x="608448" y="290425"/>
                </a:lnTo>
                <a:lnTo>
                  <a:pt x="657878" y="276157"/>
                </a:lnTo>
                <a:lnTo>
                  <a:pt x="701116" y="259126"/>
                </a:lnTo>
                <a:lnTo>
                  <a:pt x="737341" y="239656"/>
                </a:lnTo>
                <a:lnTo>
                  <a:pt x="776734" y="206586"/>
                </a:lnTo>
                <a:lnTo>
                  <a:pt x="795730" y="169845"/>
                </a:lnTo>
                <a:lnTo>
                  <a:pt x="797051" y="156971"/>
                </a:lnTo>
                <a:lnTo>
                  <a:pt x="795730" y="144091"/>
                </a:lnTo>
                <a:lnTo>
                  <a:pt x="776734" y="107338"/>
                </a:lnTo>
                <a:lnTo>
                  <a:pt x="737341" y="74264"/>
                </a:lnTo>
                <a:lnTo>
                  <a:pt x="701116" y="54796"/>
                </a:lnTo>
                <a:lnTo>
                  <a:pt x="657878" y="37770"/>
                </a:lnTo>
                <a:lnTo>
                  <a:pt x="608448" y="23506"/>
                </a:lnTo>
                <a:lnTo>
                  <a:pt x="553646" y="12328"/>
                </a:lnTo>
                <a:lnTo>
                  <a:pt x="494293" y="4559"/>
                </a:lnTo>
                <a:lnTo>
                  <a:pt x="431210" y="520"/>
                </a:lnTo>
                <a:lnTo>
                  <a:pt x="398525" y="0"/>
                </a:lnTo>
                <a:close/>
              </a:path>
            </a:pathLst>
          </a:custGeom>
          <a:solidFill>
            <a:srgbClr val="5B9BD4"/>
          </a:solidFill>
        </p:spPr>
        <p:txBody>
          <a:bodyPr wrap="square" lIns="0" tIns="0" rIns="0" bIns="0" rtlCol="0"/>
          <a:lstStyle/>
          <a:p>
            <a:endParaRPr/>
          </a:p>
        </p:txBody>
      </p:sp>
      <p:sp>
        <p:nvSpPr>
          <p:cNvPr id="14" name="object 14"/>
          <p:cNvSpPr/>
          <p:nvPr/>
        </p:nvSpPr>
        <p:spPr>
          <a:xfrm>
            <a:off x="2370582" y="5401817"/>
            <a:ext cx="797560" cy="314325"/>
          </a:xfrm>
          <a:custGeom>
            <a:avLst/>
            <a:gdLst/>
            <a:ahLst/>
            <a:cxnLst/>
            <a:rect l="l" t="t" r="r" b="b"/>
            <a:pathLst>
              <a:path w="797560" h="314325">
                <a:moveTo>
                  <a:pt x="0" y="156971"/>
                </a:moveTo>
                <a:lnTo>
                  <a:pt x="11582" y="119234"/>
                </a:lnTo>
                <a:lnTo>
                  <a:pt x="44484" y="84813"/>
                </a:lnTo>
                <a:lnTo>
                  <a:pt x="76894" y="64245"/>
                </a:lnTo>
                <a:lnTo>
                  <a:pt x="116728" y="45958"/>
                </a:lnTo>
                <a:lnTo>
                  <a:pt x="163165" y="30272"/>
                </a:lnTo>
                <a:lnTo>
                  <a:pt x="215384" y="17511"/>
                </a:lnTo>
                <a:lnTo>
                  <a:pt x="272564" y="7997"/>
                </a:lnTo>
                <a:lnTo>
                  <a:pt x="333885" y="2053"/>
                </a:lnTo>
                <a:lnTo>
                  <a:pt x="398525" y="0"/>
                </a:lnTo>
                <a:lnTo>
                  <a:pt x="431210" y="520"/>
                </a:lnTo>
                <a:lnTo>
                  <a:pt x="494293" y="4559"/>
                </a:lnTo>
                <a:lnTo>
                  <a:pt x="553646" y="12328"/>
                </a:lnTo>
                <a:lnTo>
                  <a:pt x="608448" y="23506"/>
                </a:lnTo>
                <a:lnTo>
                  <a:pt x="657878" y="37770"/>
                </a:lnTo>
                <a:lnTo>
                  <a:pt x="701116" y="54796"/>
                </a:lnTo>
                <a:lnTo>
                  <a:pt x="737341" y="74264"/>
                </a:lnTo>
                <a:lnTo>
                  <a:pt x="776734" y="107338"/>
                </a:lnTo>
                <a:lnTo>
                  <a:pt x="795730" y="144091"/>
                </a:lnTo>
                <a:lnTo>
                  <a:pt x="797051" y="156971"/>
                </a:lnTo>
                <a:lnTo>
                  <a:pt x="795730" y="169845"/>
                </a:lnTo>
                <a:lnTo>
                  <a:pt x="776734" y="206586"/>
                </a:lnTo>
                <a:lnTo>
                  <a:pt x="737341" y="239656"/>
                </a:lnTo>
                <a:lnTo>
                  <a:pt x="701116" y="259126"/>
                </a:lnTo>
                <a:lnTo>
                  <a:pt x="657878" y="276157"/>
                </a:lnTo>
                <a:lnTo>
                  <a:pt x="608448" y="290425"/>
                </a:lnTo>
                <a:lnTo>
                  <a:pt x="553646" y="301607"/>
                </a:lnTo>
                <a:lnTo>
                  <a:pt x="494293" y="309381"/>
                </a:lnTo>
                <a:lnTo>
                  <a:pt x="431210" y="313423"/>
                </a:lnTo>
                <a:lnTo>
                  <a:pt x="398525" y="313943"/>
                </a:lnTo>
                <a:lnTo>
                  <a:pt x="365841" y="313423"/>
                </a:lnTo>
                <a:lnTo>
                  <a:pt x="302758" y="309381"/>
                </a:lnTo>
                <a:lnTo>
                  <a:pt x="243405" y="301607"/>
                </a:lnTo>
                <a:lnTo>
                  <a:pt x="188603" y="290425"/>
                </a:lnTo>
                <a:lnTo>
                  <a:pt x="139173" y="276157"/>
                </a:lnTo>
                <a:lnTo>
                  <a:pt x="95935" y="259126"/>
                </a:lnTo>
                <a:lnTo>
                  <a:pt x="59710" y="239656"/>
                </a:lnTo>
                <a:lnTo>
                  <a:pt x="20317" y="206586"/>
                </a:lnTo>
                <a:lnTo>
                  <a:pt x="1321" y="169845"/>
                </a:lnTo>
                <a:lnTo>
                  <a:pt x="0" y="156971"/>
                </a:lnTo>
                <a:close/>
              </a:path>
            </a:pathLst>
          </a:custGeom>
          <a:ln w="28956">
            <a:solidFill>
              <a:srgbClr val="000000"/>
            </a:solidFill>
          </a:ln>
        </p:spPr>
        <p:txBody>
          <a:bodyPr wrap="square" lIns="0" tIns="0" rIns="0" bIns="0" rtlCol="0"/>
          <a:lstStyle/>
          <a:p>
            <a:endParaRPr/>
          </a:p>
        </p:txBody>
      </p:sp>
      <p:sp>
        <p:nvSpPr>
          <p:cNvPr id="15" name="object 15"/>
          <p:cNvSpPr/>
          <p:nvPr/>
        </p:nvSpPr>
        <p:spPr>
          <a:xfrm>
            <a:off x="2105405" y="4179570"/>
            <a:ext cx="250825" cy="1379855"/>
          </a:xfrm>
          <a:custGeom>
            <a:avLst/>
            <a:gdLst/>
            <a:ahLst/>
            <a:cxnLst/>
            <a:rect l="l" t="t" r="r" b="b"/>
            <a:pathLst>
              <a:path w="250825" h="1379854">
                <a:moveTo>
                  <a:pt x="0" y="0"/>
                </a:moveTo>
                <a:lnTo>
                  <a:pt x="250825" y="1379600"/>
                </a:lnTo>
              </a:path>
            </a:pathLst>
          </a:custGeom>
          <a:ln w="28956">
            <a:solidFill>
              <a:srgbClr val="000000"/>
            </a:solidFill>
          </a:ln>
        </p:spPr>
        <p:txBody>
          <a:bodyPr wrap="square" lIns="0" tIns="0" rIns="0" bIns="0" rtlCol="0"/>
          <a:lstStyle/>
          <a:p>
            <a:endParaRPr/>
          </a:p>
        </p:txBody>
      </p:sp>
      <p:sp>
        <p:nvSpPr>
          <p:cNvPr id="16" name="object 16"/>
          <p:cNvSpPr/>
          <p:nvPr/>
        </p:nvSpPr>
        <p:spPr>
          <a:xfrm>
            <a:off x="3182873" y="4179570"/>
            <a:ext cx="215900" cy="1379855"/>
          </a:xfrm>
          <a:custGeom>
            <a:avLst/>
            <a:gdLst/>
            <a:ahLst/>
            <a:cxnLst/>
            <a:rect l="l" t="t" r="r" b="b"/>
            <a:pathLst>
              <a:path w="215900" h="1379854">
                <a:moveTo>
                  <a:pt x="215900" y="0"/>
                </a:moveTo>
                <a:lnTo>
                  <a:pt x="0" y="1379600"/>
                </a:lnTo>
              </a:path>
            </a:pathLst>
          </a:custGeom>
          <a:ln w="28956">
            <a:solidFill>
              <a:srgbClr val="000000"/>
            </a:solidFill>
          </a:ln>
        </p:spPr>
        <p:txBody>
          <a:bodyPr wrap="square" lIns="0" tIns="0" rIns="0" bIns="0" rtlCol="0"/>
          <a:lstStyle/>
          <a:p>
            <a:endParaRPr/>
          </a:p>
        </p:txBody>
      </p:sp>
      <p:sp>
        <p:nvSpPr>
          <p:cNvPr id="17" name="object 17"/>
          <p:cNvSpPr txBox="1"/>
          <p:nvPr/>
        </p:nvSpPr>
        <p:spPr>
          <a:xfrm>
            <a:off x="1044651" y="2817738"/>
            <a:ext cx="330835" cy="2891155"/>
          </a:xfrm>
          <a:prstGeom prst="rect">
            <a:avLst/>
          </a:prstGeom>
        </p:spPr>
        <p:txBody>
          <a:bodyPr vert="horz" wrap="square" lIns="0" tIns="0" rIns="0" bIns="0" rtlCol="0">
            <a:spAutoFit/>
          </a:bodyPr>
          <a:lstStyle/>
          <a:p>
            <a:pPr marL="12700" marR="5080" algn="just">
              <a:lnSpc>
                <a:spcPct val="100000"/>
              </a:lnSpc>
            </a:pPr>
            <a:r>
              <a:rPr sz="2400" b="1" dirty="0">
                <a:latin typeface="微软雅黑"/>
                <a:cs typeface="微软雅黑"/>
              </a:rPr>
              <a:t>假 如 有 一 个 水 容 器</a:t>
            </a:r>
            <a:endParaRPr sz="2400">
              <a:latin typeface="微软雅黑"/>
              <a:cs typeface="微软雅黑"/>
            </a:endParaRPr>
          </a:p>
        </p:txBody>
      </p:sp>
      <p:sp>
        <p:nvSpPr>
          <p:cNvPr id="18" name="object 18"/>
          <p:cNvSpPr txBox="1"/>
          <p:nvPr/>
        </p:nvSpPr>
        <p:spPr>
          <a:xfrm>
            <a:off x="1457071" y="2135377"/>
            <a:ext cx="2604135" cy="330835"/>
          </a:xfrm>
          <a:prstGeom prst="rect">
            <a:avLst/>
          </a:prstGeom>
        </p:spPr>
        <p:txBody>
          <a:bodyPr vert="horz" wrap="square" lIns="0" tIns="0" rIns="0" bIns="0" rtlCol="0">
            <a:spAutoFit/>
          </a:bodyPr>
          <a:lstStyle/>
          <a:p>
            <a:pPr marL="12700">
              <a:lnSpc>
                <a:spcPct val="100000"/>
              </a:lnSpc>
            </a:pPr>
            <a:r>
              <a:rPr sz="2400" b="1" spc="-10" dirty="0">
                <a:latin typeface="微软雅黑"/>
                <a:cs typeface="微软雅黑"/>
              </a:rPr>
              <a:t>1000</a:t>
            </a:r>
            <a:r>
              <a:rPr sz="2400" b="1" spc="-5" dirty="0">
                <a:latin typeface="微软雅黑"/>
                <a:cs typeface="微软雅黑"/>
              </a:rPr>
              <a:t>滴水刚好装满</a:t>
            </a:r>
            <a:endParaRPr sz="2400">
              <a:latin typeface="微软雅黑"/>
              <a:cs typeface="微软雅黑"/>
            </a:endParaRPr>
          </a:p>
        </p:txBody>
      </p:sp>
      <p:sp>
        <p:nvSpPr>
          <p:cNvPr id="19" name="object 19"/>
          <p:cNvSpPr/>
          <p:nvPr/>
        </p:nvSpPr>
        <p:spPr>
          <a:xfrm>
            <a:off x="2693670" y="3218658"/>
            <a:ext cx="113030" cy="123825"/>
          </a:xfrm>
          <a:custGeom>
            <a:avLst/>
            <a:gdLst/>
            <a:ahLst/>
            <a:cxnLst/>
            <a:rect l="l" t="t" r="r" b="b"/>
            <a:pathLst>
              <a:path w="113030" h="123825">
                <a:moveTo>
                  <a:pt x="47727" y="0"/>
                </a:moveTo>
                <a:lnTo>
                  <a:pt x="13734" y="20878"/>
                </a:lnTo>
                <a:lnTo>
                  <a:pt x="0" y="61751"/>
                </a:lnTo>
                <a:lnTo>
                  <a:pt x="83" y="65169"/>
                </a:lnTo>
                <a:lnTo>
                  <a:pt x="14352" y="102160"/>
                </a:lnTo>
                <a:lnTo>
                  <a:pt x="50364" y="122047"/>
                </a:lnTo>
                <a:lnTo>
                  <a:pt x="66514" y="123227"/>
                </a:lnTo>
                <a:lnTo>
                  <a:pt x="79069" y="118937"/>
                </a:lnTo>
                <a:lnTo>
                  <a:pt x="106614" y="89446"/>
                </a:lnTo>
                <a:lnTo>
                  <a:pt x="112746" y="59695"/>
                </a:lnTo>
                <a:lnTo>
                  <a:pt x="110880" y="45774"/>
                </a:lnTo>
                <a:lnTo>
                  <a:pt x="89374" y="12617"/>
                </a:lnTo>
                <a:lnTo>
                  <a:pt x="47727" y="0"/>
                </a:lnTo>
                <a:close/>
              </a:path>
            </a:pathLst>
          </a:custGeom>
          <a:solidFill>
            <a:srgbClr val="5B9BD4"/>
          </a:solidFill>
        </p:spPr>
        <p:txBody>
          <a:bodyPr wrap="square" lIns="0" tIns="0" rIns="0" bIns="0" rtlCol="0"/>
          <a:lstStyle/>
          <a:p>
            <a:endParaRPr/>
          </a:p>
        </p:txBody>
      </p:sp>
      <p:sp>
        <p:nvSpPr>
          <p:cNvPr id="20" name="object 20"/>
          <p:cNvSpPr/>
          <p:nvPr/>
        </p:nvSpPr>
        <p:spPr>
          <a:xfrm>
            <a:off x="2693670" y="3218658"/>
            <a:ext cx="113030" cy="123825"/>
          </a:xfrm>
          <a:custGeom>
            <a:avLst/>
            <a:gdLst/>
            <a:ahLst/>
            <a:cxnLst/>
            <a:rect l="l" t="t" r="r" b="b"/>
            <a:pathLst>
              <a:path w="113030" h="123825">
                <a:moveTo>
                  <a:pt x="0" y="61751"/>
                </a:moveTo>
                <a:lnTo>
                  <a:pt x="13734" y="20878"/>
                </a:lnTo>
                <a:lnTo>
                  <a:pt x="47727" y="0"/>
                </a:lnTo>
                <a:lnTo>
                  <a:pt x="63551" y="1317"/>
                </a:lnTo>
                <a:lnTo>
                  <a:pt x="99017" y="21872"/>
                </a:lnTo>
                <a:lnTo>
                  <a:pt x="112746" y="59695"/>
                </a:lnTo>
                <a:lnTo>
                  <a:pt x="111156" y="75329"/>
                </a:lnTo>
                <a:lnTo>
                  <a:pt x="90191" y="111627"/>
                </a:lnTo>
                <a:lnTo>
                  <a:pt x="66514" y="123227"/>
                </a:lnTo>
                <a:lnTo>
                  <a:pt x="50364" y="122047"/>
                </a:lnTo>
                <a:lnTo>
                  <a:pt x="14352" y="102160"/>
                </a:lnTo>
                <a:lnTo>
                  <a:pt x="83" y="65169"/>
                </a:lnTo>
                <a:lnTo>
                  <a:pt x="0" y="61751"/>
                </a:lnTo>
                <a:close/>
              </a:path>
            </a:pathLst>
          </a:custGeom>
          <a:ln w="28956">
            <a:solidFill>
              <a:srgbClr val="000000"/>
            </a:solidFill>
          </a:ln>
        </p:spPr>
        <p:txBody>
          <a:bodyPr wrap="square" lIns="0" tIns="0" rIns="0" bIns="0" rtlCol="0"/>
          <a:lstStyle/>
          <a:p>
            <a:endParaRPr/>
          </a:p>
        </p:txBody>
      </p:sp>
      <p:sp>
        <p:nvSpPr>
          <p:cNvPr id="21" name="object 21"/>
          <p:cNvSpPr/>
          <p:nvPr/>
        </p:nvSpPr>
        <p:spPr>
          <a:xfrm>
            <a:off x="2693670" y="2903190"/>
            <a:ext cx="113030" cy="123825"/>
          </a:xfrm>
          <a:custGeom>
            <a:avLst/>
            <a:gdLst/>
            <a:ahLst/>
            <a:cxnLst/>
            <a:rect l="l" t="t" r="r" b="b"/>
            <a:pathLst>
              <a:path w="113030" h="123825">
                <a:moveTo>
                  <a:pt x="47727" y="0"/>
                </a:moveTo>
                <a:lnTo>
                  <a:pt x="13734" y="20878"/>
                </a:lnTo>
                <a:lnTo>
                  <a:pt x="0" y="61751"/>
                </a:lnTo>
                <a:lnTo>
                  <a:pt x="83" y="65169"/>
                </a:lnTo>
                <a:lnTo>
                  <a:pt x="14352" y="102160"/>
                </a:lnTo>
                <a:lnTo>
                  <a:pt x="50364" y="122047"/>
                </a:lnTo>
                <a:lnTo>
                  <a:pt x="66514" y="123227"/>
                </a:lnTo>
                <a:lnTo>
                  <a:pt x="79069" y="118937"/>
                </a:lnTo>
                <a:lnTo>
                  <a:pt x="106614" y="89446"/>
                </a:lnTo>
                <a:lnTo>
                  <a:pt x="112746" y="59695"/>
                </a:lnTo>
                <a:lnTo>
                  <a:pt x="110880" y="45774"/>
                </a:lnTo>
                <a:lnTo>
                  <a:pt x="89374" y="12617"/>
                </a:lnTo>
                <a:lnTo>
                  <a:pt x="47727" y="0"/>
                </a:lnTo>
                <a:close/>
              </a:path>
            </a:pathLst>
          </a:custGeom>
          <a:solidFill>
            <a:srgbClr val="5B9BD4"/>
          </a:solidFill>
        </p:spPr>
        <p:txBody>
          <a:bodyPr wrap="square" lIns="0" tIns="0" rIns="0" bIns="0" rtlCol="0"/>
          <a:lstStyle/>
          <a:p>
            <a:endParaRPr/>
          </a:p>
        </p:txBody>
      </p:sp>
      <p:sp>
        <p:nvSpPr>
          <p:cNvPr id="22" name="object 22"/>
          <p:cNvSpPr/>
          <p:nvPr/>
        </p:nvSpPr>
        <p:spPr>
          <a:xfrm>
            <a:off x="2693670" y="2903190"/>
            <a:ext cx="113030" cy="123825"/>
          </a:xfrm>
          <a:custGeom>
            <a:avLst/>
            <a:gdLst/>
            <a:ahLst/>
            <a:cxnLst/>
            <a:rect l="l" t="t" r="r" b="b"/>
            <a:pathLst>
              <a:path w="113030" h="123825">
                <a:moveTo>
                  <a:pt x="0" y="61751"/>
                </a:moveTo>
                <a:lnTo>
                  <a:pt x="13734" y="20878"/>
                </a:lnTo>
                <a:lnTo>
                  <a:pt x="47727" y="0"/>
                </a:lnTo>
                <a:lnTo>
                  <a:pt x="63551" y="1317"/>
                </a:lnTo>
                <a:lnTo>
                  <a:pt x="99017" y="21872"/>
                </a:lnTo>
                <a:lnTo>
                  <a:pt x="112746" y="59695"/>
                </a:lnTo>
                <a:lnTo>
                  <a:pt x="111156" y="75329"/>
                </a:lnTo>
                <a:lnTo>
                  <a:pt x="90191" y="111627"/>
                </a:lnTo>
                <a:lnTo>
                  <a:pt x="66514" y="123227"/>
                </a:lnTo>
                <a:lnTo>
                  <a:pt x="50364" y="122047"/>
                </a:lnTo>
                <a:lnTo>
                  <a:pt x="14352" y="102160"/>
                </a:lnTo>
                <a:lnTo>
                  <a:pt x="83" y="65169"/>
                </a:lnTo>
                <a:lnTo>
                  <a:pt x="0" y="61751"/>
                </a:lnTo>
                <a:close/>
              </a:path>
            </a:pathLst>
          </a:custGeom>
          <a:ln w="28956">
            <a:solidFill>
              <a:srgbClr val="000000"/>
            </a:solidFill>
          </a:ln>
        </p:spPr>
        <p:txBody>
          <a:bodyPr wrap="square" lIns="0" tIns="0" rIns="0" bIns="0" rtlCol="0"/>
          <a:lstStyle/>
          <a:p>
            <a:endParaRPr/>
          </a:p>
        </p:txBody>
      </p:sp>
      <p:sp>
        <p:nvSpPr>
          <p:cNvPr id="23" name="object 23"/>
          <p:cNvSpPr/>
          <p:nvPr/>
        </p:nvSpPr>
        <p:spPr>
          <a:xfrm>
            <a:off x="2693670" y="2602962"/>
            <a:ext cx="113030" cy="123825"/>
          </a:xfrm>
          <a:custGeom>
            <a:avLst/>
            <a:gdLst/>
            <a:ahLst/>
            <a:cxnLst/>
            <a:rect l="l" t="t" r="r" b="b"/>
            <a:pathLst>
              <a:path w="113030" h="123825">
                <a:moveTo>
                  <a:pt x="47727" y="0"/>
                </a:moveTo>
                <a:lnTo>
                  <a:pt x="13734" y="20878"/>
                </a:lnTo>
                <a:lnTo>
                  <a:pt x="0" y="61751"/>
                </a:lnTo>
                <a:lnTo>
                  <a:pt x="83" y="65169"/>
                </a:lnTo>
                <a:lnTo>
                  <a:pt x="14352" y="102160"/>
                </a:lnTo>
                <a:lnTo>
                  <a:pt x="50364" y="122047"/>
                </a:lnTo>
                <a:lnTo>
                  <a:pt x="66514" y="123227"/>
                </a:lnTo>
                <a:lnTo>
                  <a:pt x="79069" y="118937"/>
                </a:lnTo>
                <a:lnTo>
                  <a:pt x="106614" y="89446"/>
                </a:lnTo>
                <a:lnTo>
                  <a:pt x="112746" y="59695"/>
                </a:lnTo>
                <a:lnTo>
                  <a:pt x="110880" y="45774"/>
                </a:lnTo>
                <a:lnTo>
                  <a:pt x="89374" y="12617"/>
                </a:lnTo>
                <a:lnTo>
                  <a:pt x="47727" y="0"/>
                </a:lnTo>
                <a:close/>
              </a:path>
            </a:pathLst>
          </a:custGeom>
          <a:solidFill>
            <a:srgbClr val="5B9BD4"/>
          </a:solidFill>
        </p:spPr>
        <p:txBody>
          <a:bodyPr wrap="square" lIns="0" tIns="0" rIns="0" bIns="0" rtlCol="0"/>
          <a:lstStyle/>
          <a:p>
            <a:endParaRPr/>
          </a:p>
        </p:txBody>
      </p:sp>
      <p:sp>
        <p:nvSpPr>
          <p:cNvPr id="24" name="object 24"/>
          <p:cNvSpPr/>
          <p:nvPr/>
        </p:nvSpPr>
        <p:spPr>
          <a:xfrm>
            <a:off x="2693670" y="2602962"/>
            <a:ext cx="113030" cy="123825"/>
          </a:xfrm>
          <a:custGeom>
            <a:avLst/>
            <a:gdLst/>
            <a:ahLst/>
            <a:cxnLst/>
            <a:rect l="l" t="t" r="r" b="b"/>
            <a:pathLst>
              <a:path w="113030" h="123825">
                <a:moveTo>
                  <a:pt x="0" y="61751"/>
                </a:moveTo>
                <a:lnTo>
                  <a:pt x="13734" y="20878"/>
                </a:lnTo>
                <a:lnTo>
                  <a:pt x="47727" y="0"/>
                </a:lnTo>
                <a:lnTo>
                  <a:pt x="63551" y="1317"/>
                </a:lnTo>
                <a:lnTo>
                  <a:pt x="99017" y="21872"/>
                </a:lnTo>
                <a:lnTo>
                  <a:pt x="112746" y="59695"/>
                </a:lnTo>
                <a:lnTo>
                  <a:pt x="111156" y="75329"/>
                </a:lnTo>
                <a:lnTo>
                  <a:pt x="90191" y="111627"/>
                </a:lnTo>
                <a:lnTo>
                  <a:pt x="66514" y="123227"/>
                </a:lnTo>
                <a:lnTo>
                  <a:pt x="50364" y="122047"/>
                </a:lnTo>
                <a:lnTo>
                  <a:pt x="14352" y="102160"/>
                </a:lnTo>
                <a:lnTo>
                  <a:pt x="83" y="65169"/>
                </a:lnTo>
                <a:lnTo>
                  <a:pt x="0" y="61751"/>
                </a:lnTo>
                <a:close/>
              </a:path>
            </a:pathLst>
          </a:custGeom>
          <a:ln w="28956">
            <a:solidFill>
              <a:srgbClr val="000000"/>
            </a:solidFill>
          </a:ln>
        </p:spPr>
        <p:txBody>
          <a:bodyPr wrap="square" lIns="0" tIns="0" rIns="0" bIns="0" rtlCol="0"/>
          <a:lstStyle/>
          <a:p>
            <a:endParaRPr/>
          </a:p>
        </p:txBody>
      </p:sp>
      <p:sp>
        <p:nvSpPr>
          <p:cNvPr id="25" name="object 25"/>
          <p:cNvSpPr/>
          <p:nvPr/>
        </p:nvSpPr>
        <p:spPr>
          <a:xfrm>
            <a:off x="2693670" y="4104209"/>
            <a:ext cx="113030" cy="124460"/>
          </a:xfrm>
          <a:custGeom>
            <a:avLst/>
            <a:gdLst/>
            <a:ahLst/>
            <a:cxnLst/>
            <a:rect l="l" t="t" r="r" b="b"/>
            <a:pathLst>
              <a:path w="113030" h="124460">
                <a:moveTo>
                  <a:pt x="47185" y="0"/>
                </a:moveTo>
                <a:lnTo>
                  <a:pt x="13562" y="21274"/>
                </a:lnTo>
                <a:lnTo>
                  <a:pt x="0" y="62406"/>
                </a:lnTo>
                <a:lnTo>
                  <a:pt x="193" y="67653"/>
                </a:lnTo>
                <a:lnTo>
                  <a:pt x="15102" y="103987"/>
                </a:lnTo>
                <a:lnTo>
                  <a:pt x="51485" y="123297"/>
                </a:lnTo>
                <a:lnTo>
                  <a:pt x="67826" y="124342"/>
                </a:lnTo>
                <a:lnTo>
                  <a:pt x="80057" y="119756"/>
                </a:lnTo>
                <a:lnTo>
                  <a:pt x="106795" y="89582"/>
                </a:lnTo>
                <a:lnTo>
                  <a:pt x="112705" y="59225"/>
                </a:lnTo>
                <a:lnTo>
                  <a:pt x="110658" y="45370"/>
                </a:lnTo>
                <a:lnTo>
                  <a:pt x="88914" y="12437"/>
                </a:lnTo>
                <a:lnTo>
                  <a:pt x="47185" y="0"/>
                </a:lnTo>
                <a:close/>
              </a:path>
            </a:pathLst>
          </a:custGeom>
          <a:solidFill>
            <a:srgbClr val="5B9BD4"/>
          </a:solidFill>
        </p:spPr>
        <p:txBody>
          <a:bodyPr wrap="square" lIns="0" tIns="0" rIns="0" bIns="0" rtlCol="0"/>
          <a:lstStyle/>
          <a:p>
            <a:endParaRPr/>
          </a:p>
        </p:txBody>
      </p:sp>
      <p:sp>
        <p:nvSpPr>
          <p:cNvPr id="26" name="object 26"/>
          <p:cNvSpPr/>
          <p:nvPr/>
        </p:nvSpPr>
        <p:spPr>
          <a:xfrm>
            <a:off x="2693670" y="4104209"/>
            <a:ext cx="113030" cy="124460"/>
          </a:xfrm>
          <a:custGeom>
            <a:avLst/>
            <a:gdLst/>
            <a:ahLst/>
            <a:cxnLst/>
            <a:rect l="l" t="t" r="r" b="b"/>
            <a:pathLst>
              <a:path w="113030" h="124460">
                <a:moveTo>
                  <a:pt x="0" y="62406"/>
                </a:moveTo>
                <a:lnTo>
                  <a:pt x="13562" y="21274"/>
                </a:lnTo>
                <a:lnTo>
                  <a:pt x="47185" y="0"/>
                </a:lnTo>
                <a:lnTo>
                  <a:pt x="63043" y="1269"/>
                </a:lnTo>
                <a:lnTo>
                  <a:pt x="98600" y="21617"/>
                </a:lnTo>
                <a:lnTo>
                  <a:pt x="112705" y="59225"/>
                </a:lnTo>
                <a:lnTo>
                  <a:pt x="111183" y="75198"/>
                </a:lnTo>
                <a:lnTo>
                  <a:pt x="90871" y="112204"/>
                </a:lnTo>
                <a:lnTo>
                  <a:pt x="67826" y="124342"/>
                </a:lnTo>
                <a:lnTo>
                  <a:pt x="51485" y="123297"/>
                </a:lnTo>
                <a:lnTo>
                  <a:pt x="15102" y="103987"/>
                </a:lnTo>
                <a:lnTo>
                  <a:pt x="193" y="67653"/>
                </a:lnTo>
                <a:lnTo>
                  <a:pt x="0" y="62406"/>
                </a:lnTo>
                <a:close/>
              </a:path>
            </a:pathLst>
          </a:custGeom>
          <a:ln w="28956">
            <a:solidFill>
              <a:srgbClr val="000000"/>
            </a:solidFill>
          </a:ln>
        </p:spPr>
        <p:txBody>
          <a:bodyPr wrap="square" lIns="0" tIns="0" rIns="0" bIns="0" rtlCol="0"/>
          <a:lstStyle/>
          <a:p>
            <a:endParaRPr/>
          </a:p>
        </p:txBody>
      </p:sp>
      <p:sp>
        <p:nvSpPr>
          <p:cNvPr id="27" name="object 27"/>
          <p:cNvSpPr/>
          <p:nvPr/>
        </p:nvSpPr>
        <p:spPr>
          <a:xfrm>
            <a:off x="2693670" y="3788634"/>
            <a:ext cx="113030" cy="123825"/>
          </a:xfrm>
          <a:custGeom>
            <a:avLst/>
            <a:gdLst/>
            <a:ahLst/>
            <a:cxnLst/>
            <a:rect l="l" t="t" r="r" b="b"/>
            <a:pathLst>
              <a:path w="113030" h="123825">
                <a:moveTo>
                  <a:pt x="47727" y="0"/>
                </a:moveTo>
                <a:lnTo>
                  <a:pt x="13734" y="20878"/>
                </a:lnTo>
                <a:lnTo>
                  <a:pt x="0" y="61751"/>
                </a:lnTo>
                <a:lnTo>
                  <a:pt x="83" y="65169"/>
                </a:lnTo>
                <a:lnTo>
                  <a:pt x="14352" y="102160"/>
                </a:lnTo>
                <a:lnTo>
                  <a:pt x="50364" y="122047"/>
                </a:lnTo>
                <a:lnTo>
                  <a:pt x="66514" y="123227"/>
                </a:lnTo>
                <a:lnTo>
                  <a:pt x="79069" y="118937"/>
                </a:lnTo>
                <a:lnTo>
                  <a:pt x="106614" y="89446"/>
                </a:lnTo>
                <a:lnTo>
                  <a:pt x="112746" y="59695"/>
                </a:lnTo>
                <a:lnTo>
                  <a:pt x="110880" y="45774"/>
                </a:lnTo>
                <a:lnTo>
                  <a:pt x="89374" y="12617"/>
                </a:lnTo>
                <a:lnTo>
                  <a:pt x="47727" y="0"/>
                </a:lnTo>
                <a:close/>
              </a:path>
            </a:pathLst>
          </a:custGeom>
          <a:solidFill>
            <a:srgbClr val="5B9BD4"/>
          </a:solidFill>
        </p:spPr>
        <p:txBody>
          <a:bodyPr wrap="square" lIns="0" tIns="0" rIns="0" bIns="0" rtlCol="0"/>
          <a:lstStyle/>
          <a:p>
            <a:endParaRPr/>
          </a:p>
        </p:txBody>
      </p:sp>
      <p:sp>
        <p:nvSpPr>
          <p:cNvPr id="28" name="object 28"/>
          <p:cNvSpPr/>
          <p:nvPr/>
        </p:nvSpPr>
        <p:spPr>
          <a:xfrm>
            <a:off x="2693670" y="3788634"/>
            <a:ext cx="113030" cy="123825"/>
          </a:xfrm>
          <a:custGeom>
            <a:avLst/>
            <a:gdLst/>
            <a:ahLst/>
            <a:cxnLst/>
            <a:rect l="l" t="t" r="r" b="b"/>
            <a:pathLst>
              <a:path w="113030" h="123825">
                <a:moveTo>
                  <a:pt x="0" y="61751"/>
                </a:moveTo>
                <a:lnTo>
                  <a:pt x="13734" y="20878"/>
                </a:lnTo>
                <a:lnTo>
                  <a:pt x="47727" y="0"/>
                </a:lnTo>
                <a:lnTo>
                  <a:pt x="63551" y="1317"/>
                </a:lnTo>
                <a:lnTo>
                  <a:pt x="99017" y="21872"/>
                </a:lnTo>
                <a:lnTo>
                  <a:pt x="112746" y="59695"/>
                </a:lnTo>
                <a:lnTo>
                  <a:pt x="111156" y="75329"/>
                </a:lnTo>
                <a:lnTo>
                  <a:pt x="90191" y="111627"/>
                </a:lnTo>
                <a:lnTo>
                  <a:pt x="66514" y="123227"/>
                </a:lnTo>
                <a:lnTo>
                  <a:pt x="50364" y="122047"/>
                </a:lnTo>
                <a:lnTo>
                  <a:pt x="14352" y="102160"/>
                </a:lnTo>
                <a:lnTo>
                  <a:pt x="83" y="65169"/>
                </a:lnTo>
                <a:lnTo>
                  <a:pt x="0" y="61751"/>
                </a:lnTo>
                <a:close/>
              </a:path>
            </a:pathLst>
          </a:custGeom>
          <a:ln w="28956">
            <a:solidFill>
              <a:srgbClr val="000000"/>
            </a:solidFill>
          </a:ln>
        </p:spPr>
        <p:txBody>
          <a:bodyPr wrap="square" lIns="0" tIns="0" rIns="0" bIns="0" rtlCol="0"/>
          <a:lstStyle/>
          <a:p>
            <a:endParaRPr/>
          </a:p>
        </p:txBody>
      </p:sp>
      <p:sp>
        <p:nvSpPr>
          <p:cNvPr id="29" name="object 29"/>
          <p:cNvSpPr/>
          <p:nvPr/>
        </p:nvSpPr>
        <p:spPr>
          <a:xfrm>
            <a:off x="2693670" y="3488406"/>
            <a:ext cx="113030" cy="123825"/>
          </a:xfrm>
          <a:custGeom>
            <a:avLst/>
            <a:gdLst/>
            <a:ahLst/>
            <a:cxnLst/>
            <a:rect l="l" t="t" r="r" b="b"/>
            <a:pathLst>
              <a:path w="113030" h="123825">
                <a:moveTo>
                  <a:pt x="47727" y="0"/>
                </a:moveTo>
                <a:lnTo>
                  <a:pt x="13734" y="20878"/>
                </a:lnTo>
                <a:lnTo>
                  <a:pt x="0" y="61751"/>
                </a:lnTo>
                <a:lnTo>
                  <a:pt x="83" y="65169"/>
                </a:lnTo>
                <a:lnTo>
                  <a:pt x="14352" y="102160"/>
                </a:lnTo>
                <a:lnTo>
                  <a:pt x="50364" y="122047"/>
                </a:lnTo>
                <a:lnTo>
                  <a:pt x="66514" y="123227"/>
                </a:lnTo>
                <a:lnTo>
                  <a:pt x="79069" y="118937"/>
                </a:lnTo>
                <a:lnTo>
                  <a:pt x="106614" y="89446"/>
                </a:lnTo>
                <a:lnTo>
                  <a:pt x="112746" y="59695"/>
                </a:lnTo>
                <a:lnTo>
                  <a:pt x="110880" y="45774"/>
                </a:lnTo>
                <a:lnTo>
                  <a:pt x="89374" y="12617"/>
                </a:lnTo>
                <a:lnTo>
                  <a:pt x="47727" y="0"/>
                </a:lnTo>
                <a:close/>
              </a:path>
            </a:pathLst>
          </a:custGeom>
          <a:solidFill>
            <a:srgbClr val="5B9BD4"/>
          </a:solidFill>
        </p:spPr>
        <p:txBody>
          <a:bodyPr wrap="square" lIns="0" tIns="0" rIns="0" bIns="0" rtlCol="0"/>
          <a:lstStyle/>
          <a:p>
            <a:endParaRPr/>
          </a:p>
        </p:txBody>
      </p:sp>
      <p:sp>
        <p:nvSpPr>
          <p:cNvPr id="30" name="object 30"/>
          <p:cNvSpPr/>
          <p:nvPr/>
        </p:nvSpPr>
        <p:spPr>
          <a:xfrm>
            <a:off x="2693670" y="3488406"/>
            <a:ext cx="113030" cy="123825"/>
          </a:xfrm>
          <a:custGeom>
            <a:avLst/>
            <a:gdLst/>
            <a:ahLst/>
            <a:cxnLst/>
            <a:rect l="l" t="t" r="r" b="b"/>
            <a:pathLst>
              <a:path w="113030" h="123825">
                <a:moveTo>
                  <a:pt x="0" y="61751"/>
                </a:moveTo>
                <a:lnTo>
                  <a:pt x="13734" y="20878"/>
                </a:lnTo>
                <a:lnTo>
                  <a:pt x="47727" y="0"/>
                </a:lnTo>
                <a:lnTo>
                  <a:pt x="63551" y="1317"/>
                </a:lnTo>
                <a:lnTo>
                  <a:pt x="99017" y="21872"/>
                </a:lnTo>
                <a:lnTo>
                  <a:pt x="112746" y="59695"/>
                </a:lnTo>
                <a:lnTo>
                  <a:pt x="111156" y="75329"/>
                </a:lnTo>
                <a:lnTo>
                  <a:pt x="90191" y="111627"/>
                </a:lnTo>
                <a:lnTo>
                  <a:pt x="66514" y="123227"/>
                </a:lnTo>
                <a:lnTo>
                  <a:pt x="50364" y="122047"/>
                </a:lnTo>
                <a:lnTo>
                  <a:pt x="14352" y="102160"/>
                </a:lnTo>
                <a:lnTo>
                  <a:pt x="83" y="65169"/>
                </a:lnTo>
                <a:lnTo>
                  <a:pt x="0" y="61751"/>
                </a:lnTo>
                <a:close/>
              </a:path>
            </a:pathLst>
          </a:custGeom>
          <a:ln w="28956">
            <a:solidFill>
              <a:srgbClr val="000000"/>
            </a:solidFill>
          </a:ln>
        </p:spPr>
        <p:txBody>
          <a:bodyPr wrap="square" lIns="0" tIns="0" rIns="0" bIns="0" rtlCol="0"/>
          <a:lstStyle/>
          <a:p>
            <a:endParaRPr/>
          </a:p>
        </p:txBody>
      </p:sp>
      <p:sp>
        <p:nvSpPr>
          <p:cNvPr id="31" name="object 31"/>
          <p:cNvSpPr/>
          <p:nvPr/>
        </p:nvSpPr>
        <p:spPr>
          <a:xfrm>
            <a:off x="2237994" y="4694682"/>
            <a:ext cx="1030605" cy="281940"/>
          </a:xfrm>
          <a:custGeom>
            <a:avLst/>
            <a:gdLst/>
            <a:ahLst/>
            <a:cxnLst/>
            <a:rect l="l" t="t" r="r" b="b"/>
            <a:pathLst>
              <a:path w="1030604" h="281939">
                <a:moveTo>
                  <a:pt x="515112" y="0"/>
                </a:moveTo>
                <a:lnTo>
                  <a:pt x="472865" y="467"/>
                </a:lnTo>
                <a:lnTo>
                  <a:pt x="431560" y="1845"/>
                </a:lnTo>
                <a:lnTo>
                  <a:pt x="391327" y="4097"/>
                </a:lnTo>
                <a:lnTo>
                  <a:pt x="352300" y="7187"/>
                </a:lnTo>
                <a:lnTo>
                  <a:pt x="278392" y="15735"/>
                </a:lnTo>
                <a:lnTo>
                  <a:pt x="210897" y="27200"/>
                </a:lnTo>
                <a:lnTo>
                  <a:pt x="150875" y="41290"/>
                </a:lnTo>
                <a:lnTo>
                  <a:pt x="99389" y="57716"/>
                </a:lnTo>
                <a:lnTo>
                  <a:pt x="57497" y="76188"/>
                </a:lnTo>
                <a:lnTo>
                  <a:pt x="14971" y="107094"/>
                </a:lnTo>
                <a:lnTo>
                  <a:pt x="0" y="140970"/>
                </a:lnTo>
                <a:lnTo>
                  <a:pt x="1707" y="152531"/>
                </a:lnTo>
                <a:lnTo>
                  <a:pt x="26261" y="185525"/>
                </a:lnTo>
                <a:lnTo>
                  <a:pt x="77177" y="215224"/>
                </a:lnTo>
                <a:lnTo>
                  <a:pt x="123999" y="232709"/>
                </a:lnTo>
                <a:lnTo>
                  <a:pt x="179886" y="248004"/>
                </a:lnTo>
                <a:lnTo>
                  <a:pt x="243776" y="260818"/>
                </a:lnTo>
                <a:lnTo>
                  <a:pt x="314610" y="270861"/>
                </a:lnTo>
                <a:lnTo>
                  <a:pt x="391327" y="277842"/>
                </a:lnTo>
                <a:lnTo>
                  <a:pt x="431560" y="280094"/>
                </a:lnTo>
                <a:lnTo>
                  <a:pt x="472865" y="281472"/>
                </a:lnTo>
                <a:lnTo>
                  <a:pt x="515112" y="281940"/>
                </a:lnTo>
                <a:lnTo>
                  <a:pt x="557358" y="281472"/>
                </a:lnTo>
                <a:lnTo>
                  <a:pt x="598663" y="280094"/>
                </a:lnTo>
                <a:lnTo>
                  <a:pt x="638896" y="277842"/>
                </a:lnTo>
                <a:lnTo>
                  <a:pt x="677923" y="274752"/>
                </a:lnTo>
                <a:lnTo>
                  <a:pt x="751831" y="266204"/>
                </a:lnTo>
                <a:lnTo>
                  <a:pt x="819326" y="254739"/>
                </a:lnTo>
                <a:lnTo>
                  <a:pt x="879347" y="240649"/>
                </a:lnTo>
                <a:lnTo>
                  <a:pt x="930834" y="224223"/>
                </a:lnTo>
                <a:lnTo>
                  <a:pt x="972726" y="205751"/>
                </a:lnTo>
                <a:lnTo>
                  <a:pt x="1015252" y="174845"/>
                </a:lnTo>
                <a:lnTo>
                  <a:pt x="1030223" y="140970"/>
                </a:lnTo>
                <a:lnTo>
                  <a:pt x="1028516" y="129408"/>
                </a:lnTo>
                <a:lnTo>
                  <a:pt x="1003962" y="96414"/>
                </a:lnTo>
                <a:lnTo>
                  <a:pt x="953046" y="66715"/>
                </a:lnTo>
                <a:lnTo>
                  <a:pt x="906224" y="49230"/>
                </a:lnTo>
                <a:lnTo>
                  <a:pt x="850337" y="33935"/>
                </a:lnTo>
                <a:lnTo>
                  <a:pt x="786447" y="21121"/>
                </a:lnTo>
                <a:lnTo>
                  <a:pt x="715613" y="11078"/>
                </a:lnTo>
                <a:lnTo>
                  <a:pt x="638896" y="4097"/>
                </a:lnTo>
                <a:lnTo>
                  <a:pt x="598663" y="1845"/>
                </a:lnTo>
                <a:lnTo>
                  <a:pt x="557358" y="467"/>
                </a:lnTo>
                <a:lnTo>
                  <a:pt x="515112" y="0"/>
                </a:lnTo>
                <a:close/>
              </a:path>
            </a:pathLst>
          </a:custGeom>
          <a:solidFill>
            <a:srgbClr val="CCFFFF"/>
          </a:solidFill>
        </p:spPr>
        <p:txBody>
          <a:bodyPr wrap="square" lIns="0" tIns="0" rIns="0" bIns="0" rtlCol="0"/>
          <a:lstStyle/>
          <a:p>
            <a:endParaRPr/>
          </a:p>
        </p:txBody>
      </p:sp>
      <p:sp>
        <p:nvSpPr>
          <p:cNvPr id="32" name="object 32"/>
          <p:cNvSpPr/>
          <p:nvPr/>
        </p:nvSpPr>
        <p:spPr>
          <a:xfrm>
            <a:off x="2237994" y="4694682"/>
            <a:ext cx="1030605" cy="281940"/>
          </a:xfrm>
          <a:custGeom>
            <a:avLst/>
            <a:gdLst/>
            <a:ahLst/>
            <a:cxnLst/>
            <a:rect l="l" t="t" r="r" b="b"/>
            <a:pathLst>
              <a:path w="1030604" h="281939">
                <a:moveTo>
                  <a:pt x="0" y="140970"/>
                </a:moveTo>
                <a:lnTo>
                  <a:pt x="26261" y="96414"/>
                </a:lnTo>
                <a:lnTo>
                  <a:pt x="77177" y="66715"/>
                </a:lnTo>
                <a:lnTo>
                  <a:pt x="123999" y="49230"/>
                </a:lnTo>
                <a:lnTo>
                  <a:pt x="179886" y="33935"/>
                </a:lnTo>
                <a:lnTo>
                  <a:pt x="243776" y="21121"/>
                </a:lnTo>
                <a:lnTo>
                  <a:pt x="314610" y="11078"/>
                </a:lnTo>
                <a:lnTo>
                  <a:pt x="391327" y="4097"/>
                </a:lnTo>
                <a:lnTo>
                  <a:pt x="431560" y="1845"/>
                </a:lnTo>
                <a:lnTo>
                  <a:pt x="472865" y="467"/>
                </a:lnTo>
                <a:lnTo>
                  <a:pt x="515112" y="0"/>
                </a:lnTo>
                <a:lnTo>
                  <a:pt x="557358" y="467"/>
                </a:lnTo>
                <a:lnTo>
                  <a:pt x="598663" y="1845"/>
                </a:lnTo>
                <a:lnTo>
                  <a:pt x="638896" y="4097"/>
                </a:lnTo>
                <a:lnTo>
                  <a:pt x="677923" y="7187"/>
                </a:lnTo>
                <a:lnTo>
                  <a:pt x="751831" y="15735"/>
                </a:lnTo>
                <a:lnTo>
                  <a:pt x="819326" y="27200"/>
                </a:lnTo>
                <a:lnTo>
                  <a:pt x="879347" y="41290"/>
                </a:lnTo>
                <a:lnTo>
                  <a:pt x="930834" y="57716"/>
                </a:lnTo>
                <a:lnTo>
                  <a:pt x="972726" y="76188"/>
                </a:lnTo>
                <a:lnTo>
                  <a:pt x="1015252" y="107094"/>
                </a:lnTo>
                <a:lnTo>
                  <a:pt x="1030223" y="140970"/>
                </a:lnTo>
                <a:lnTo>
                  <a:pt x="1028516" y="152531"/>
                </a:lnTo>
                <a:lnTo>
                  <a:pt x="1003962" y="185525"/>
                </a:lnTo>
                <a:lnTo>
                  <a:pt x="953046" y="215224"/>
                </a:lnTo>
                <a:lnTo>
                  <a:pt x="906224" y="232709"/>
                </a:lnTo>
                <a:lnTo>
                  <a:pt x="850337" y="248004"/>
                </a:lnTo>
                <a:lnTo>
                  <a:pt x="786447" y="260818"/>
                </a:lnTo>
                <a:lnTo>
                  <a:pt x="715613" y="270861"/>
                </a:lnTo>
                <a:lnTo>
                  <a:pt x="638896" y="277842"/>
                </a:lnTo>
                <a:lnTo>
                  <a:pt x="598663" y="280094"/>
                </a:lnTo>
                <a:lnTo>
                  <a:pt x="557358" y="281472"/>
                </a:lnTo>
                <a:lnTo>
                  <a:pt x="515112" y="281940"/>
                </a:lnTo>
                <a:lnTo>
                  <a:pt x="472865" y="281472"/>
                </a:lnTo>
                <a:lnTo>
                  <a:pt x="431560" y="280094"/>
                </a:lnTo>
                <a:lnTo>
                  <a:pt x="391327" y="277842"/>
                </a:lnTo>
                <a:lnTo>
                  <a:pt x="352300" y="274752"/>
                </a:lnTo>
                <a:lnTo>
                  <a:pt x="278392" y="266204"/>
                </a:lnTo>
                <a:lnTo>
                  <a:pt x="210897" y="254739"/>
                </a:lnTo>
                <a:lnTo>
                  <a:pt x="150875" y="240649"/>
                </a:lnTo>
                <a:lnTo>
                  <a:pt x="99389" y="224223"/>
                </a:lnTo>
                <a:lnTo>
                  <a:pt x="57497" y="205751"/>
                </a:lnTo>
                <a:lnTo>
                  <a:pt x="14971" y="174845"/>
                </a:lnTo>
                <a:lnTo>
                  <a:pt x="0" y="140970"/>
                </a:lnTo>
                <a:close/>
              </a:path>
            </a:pathLst>
          </a:custGeom>
          <a:ln w="28956">
            <a:solidFill>
              <a:srgbClr val="000000"/>
            </a:solidFill>
          </a:ln>
        </p:spPr>
        <p:txBody>
          <a:bodyPr wrap="square" lIns="0" tIns="0" rIns="0" bIns="0" rtlCol="0"/>
          <a:lstStyle/>
          <a:p>
            <a:endParaRPr/>
          </a:p>
        </p:txBody>
      </p:sp>
      <p:sp>
        <p:nvSpPr>
          <p:cNvPr id="33" name="object 33"/>
          <p:cNvSpPr/>
          <p:nvPr/>
        </p:nvSpPr>
        <p:spPr>
          <a:xfrm>
            <a:off x="3911346" y="3812285"/>
            <a:ext cx="3723132" cy="460248"/>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3309746" y="3989578"/>
            <a:ext cx="573405" cy="823594"/>
          </a:xfrm>
          <a:custGeom>
            <a:avLst/>
            <a:gdLst/>
            <a:ahLst/>
            <a:cxnLst/>
            <a:rect l="l" t="t" r="r" b="b"/>
            <a:pathLst>
              <a:path w="573404" h="823595">
                <a:moveTo>
                  <a:pt x="13588" y="727075"/>
                </a:moveTo>
                <a:lnTo>
                  <a:pt x="0" y="823214"/>
                </a:lnTo>
                <a:lnTo>
                  <a:pt x="85089" y="776351"/>
                </a:lnTo>
                <a:lnTo>
                  <a:pt x="78640" y="771906"/>
                </a:lnTo>
                <a:lnTo>
                  <a:pt x="53086" y="771906"/>
                </a:lnTo>
                <a:lnTo>
                  <a:pt x="29210" y="755396"/>
                </a:lnTo>
                <a:lnTo>
                  <a:pt x="37408" y="743490"/>
                </a:lnTo>
                <a:lnTo>
                  <a:pt x="13588" y="727075"/>
                </a:lnTo>
                <a:close/>
              </a:path>
              <a:path w="573404" h="823595">
                <a:moveTo>
                  <a:pt x="37408" y="743490"/>
                </a:moveTo>
                <a:lnTo>
                  <a:pt x="29210" y="755396"/>
                </a:lnTo>
                <a:lnTo>
                  <a:pt x="53086" y="771906"/>
                </a:lnTo>
                <a:lnTo>
                  <a:pt x="61309" y="759962"/>
                </a:lnTo>
                <a:lnTo>
                  <a:pt x="37408" y="743490"/>
                </a:lnTo>
                <a:close/>
              </a:path>
              <a:path w="573404" h="823595">
                <a:moveTo>
                  <a:pt x="61309" y="759962"/>
                </a:moveTo>
                <a:lnTo>
                  <a:pt x="53086" y="771906"/>
                </a:lnTo>
                <a:lnTo>
                  <a:pt x="78640" y="771906"/>
                </a:lnTo>
                <a:lnTo>
                  <a:pt x="61309" y="759962"/>
                </a:lnTo>
                <a:close/>
              </a:path>
              <a:path w="573404" h="823595">
                <a:moveTo>
                  <a:pt x="549401" y="0"/>
                </a:moveTo>
                <a:lnTo>
                  <a:pt x="37408" y="743490"/>
                </a:lnTo>
                <a:lnTo>
                  <a:pt x="61309" y="759962"/>
                </a:lnTo>
                <a:lnTo>
                  <a:pt x="573277" y="16383"/>
                </a:lnTo>
                <a:lnTo>
                  <a:pt x="549401" y="0"/>
                </a:lnTo>
                <a:close/>
              </a:path>
            </a:pathLst>
          </a:custGeom>
          <a:solidFill>
            <a:srgbClr val="000000"/>
          </a:solidFill>
        </p:spPr>
        <p:txBody>
          <a:bodyPr wrap="square" lIns="0" tIns="0" rIns="0" bIns="0" rtlCol="0"/>
          <a:lstStyle/>
          <a:p>
            <a:endParaRPr/>
          </a:p>
        </p:txBody>
      </p:sp>
      <p:sp>
        <p:nvSpPr>
          <p:cNvPr id="35" name="object 35"/>
          <p:cNvSpPr txBox="1"/>
          <p:nvPr/>
        </p:nvSpPr>
        <p:spPr>
          <a:xfrm>
            <a:off x="3911346" y="3812285"/>
            <a:ext cx="3723640" cy="460375"/>
          </a:xfrm>
          <a:prstGeom prst="rect">
            <a:avLst/>
          </a:prstGeom>
          <a:ln w="28956">
            <a:solidFill>
              <a:srgbClr val="000000"/>
            </a:solidFill>
          </a:ln>
        </p:spPr>
        <p:txBody>
          <a:bodyPr vert="horz" wrap="square" lIns="0" tIns="0" rIns="0" bIns="0" rtlCol="0">
            <a:spAutoFit/>
          </a:bodyPr>
          <a:lstStyle/>
          <a:p>
            <a:pPr marL="165735">
              <a:lnSpc>
                <a:spcPct val="100000"/>
              </a:lnSpc>
            </a:pPr>
            <a:r>
              <a:rPr sz="2400" b="1" dirty="0">
                <a:latin typeface="微软雅黑"/>
                <a:cs typeface="微软雅黑"/>
              </a:rPr>
              <a:t>初始时已经装入</a:t>
            </a:r>
            <a:r>
              <a:rPr sz="2400" b="1" spc="-10" dirty="0">
                <a:latin typeface="微软雅黑"/>
                <a:cs typeface="微软雅黑"/>
              </a:rPr>
              <a:t>500</a:t>
            </a:r>
            <a:r>
              <a:rPr sz="2400" b="1" dirty="0">
                <a:latin typeface="微软雅黑"/>
                <a:cs typeface="微软雅黑"/>
              </a:rPr>
              <a:t>滴水</a:t>
            </a:r>
            <a:endParaRPr sz="2400">
              <a:latin typeface="微软雅黑"/>
              <a:cs typeface="微软雅黑"/>
            </a:endParaRPr>
          </a:p>
        </p:txBody>
      </p:sp>
      <p:sp>
        <p:nvSpPr>
          <p:cNvPr id="36" name="object 36"/>
          <p:cNvSpPr/>
          <p:nvPr/>
        </p:nvSpPr>
        <p:spPr>
          <a:xfrm>
            <a:off x="8879585" y="2899664"/>
            <a:ext cx="2095500" cy="915669"/>
          </a:xfrm>
          <a:custGeom>
            <a:avLst/>
            <a:gdLst/>
            <a:ahLst/>
            <a:cxnLst/>
            <a:rect l="l" t="t" r="r" b="b"/>
            <a:pathLst>
              <a:path w="2095500" h="915670">
                <a:moveTo>
                  <a:pt x="73660" y="0"/>
                </a:moveTo>
                <a:lnTo>
                  <a:pt x="349250" y="277113"/>
                </a:lnTo>
                <a:lnTo>
                  <a:pt x="93943" y="277837"/>
                </a:lnTo>
                <a:lnTo>
                  <a:pt x="79829" y="280460"/>
                </a:lnTo>
                <a:lnTo>
                  <a:pt x="42335" y="298553"/>
                </a:lnTo>
                <a:lnTo>
                  <a:pt x="14874" y="329221"/>
                </a:lnTo>
                <a:lnTo>
                  <a:pt x="995" y="368915"/>
                </a:lnTo>
                <a:lnTo>
                  <a:pt x="0" y="383539"/>
                </a:lnTo>
                <a:lnTo>
                  <a:pt x="0" y="543178"/>
                </a:lnTo>
                <a:lnTo>
                  <a:pt x="723" y="821726"/>
                </a:lnTo>
                <a:lnTo>
                  <a:pt x="13836" y="861776"/>
                </a:lnTo>
                <a:lnTo>
                  <a:pt x="40706" y="892975"/>
                </a:lnTo>
                <a:lnTo>
                  <a:pt x="77786" y="911776"/>
                </a:lnTo>
                <a:lnTo>
                  <a:pt x="106425" y="915669"/>
                </a:lnTo>
                <a:lnTo>
                  <a:pt x="873125" y="915669"/>
                </a:lnTo>
                <a:lnTo>
                  <a:pt x="2001556" y="914946"/>
                </a:lnTo>
                <a:lnTo>
                  <a:pt x="2041606" y="901833"/>
                </a:lnTo>
                <a:lnTo>
                  <a:pt x="2072805" y="874963"/>
                </a:lnTo>
                <a:lnTo>
                  <a:pt x="2091606" y="837883"/>
                </a:lnTo>
                <a:lnTo>
                  <a:pt x="2095500" y="809244"/>
                </a:lnTo>
                <a:lnTo>
                  <a:pt x="2095500" y="383539"/>
                </a:lnTo>
                <a:lnTo>
                  <a:pt x="2087738" y="343549"/>
                </a:lnTo>
                <a:lnTo>
                  <a:pt x="2065059" y="309005"/>
                </a:lnTo>
                <a:lnTo>
                  <a:pt x="2030989" y="285678"/>
                </a:lnTo>
                <a:lnTo>
                  <a:pt x="1989074" y="277113"/>
                </a:lnTo>
                <a:lnTo>
                  <a:pt x="873125" y="277113"/>
                </a:lnTo>
                <a:lnTo>
                  <a:pt x="73660" y="0"/>
                </a:lnTo>
                <a:close/>
              </a:path>
            </a:pathLst>
          </a:custGeom>
          <a:solidFill>
            <a:srgbClr val="FFFFC7"/>
          </a:solidFill>
        </p:spPr>
        <p:txBody>
          <a:bodyPr wrap="square" lIns="0" tIns="0" rIns="0" bIns="0" rtlCol="0"/>
          <a:lstStyle/>
          <a:p>
            <a:endParaRPr/>
          </a:p>
        </p:txBody>
      </p:sp>
      <p:sp>
        <p:nvSpPr>
          <p:cNvPr id="37" name="object 37"/>
          <p:cNvSpPr/>
          <p:nvPr/>
        </p:nvSpPr>
        <p:spPr>
          <a:xfrm>
            <a:off x="8879585" y="2899664"/>
            <a:ext cx="2095500" cy="915669"/>
          </a:xfrm>
          <a:custGeom>
            <a:avLst/>
            <a:gdLst/>
            <a:ahLst/>
            <a:cxnLst/>
            <a:rect l="l" t="t" r="r" b="b"/>
            <a:pathLst>
              <a:path w="2095500" h="915670">
                <a:moveTo>
                  <a:pt x="0" y="383539"/>
                </a:moveTo>
                <a:lnTo>
                  <a:pt x="8564" y="341624"/>
                </a:lnTo>
                <a:lnTo>
                  <a:pt x="31891" y="307554"/>
                </a:lnTo>
                <a:lnTo>
                  <a:pt x="66435" y="284875"/>
                </a:lnTo>
                <a:lnTo>
                  <a:pt x="349250" y="277113"/>
                </a:lnTo>
                <a:lnTo>
                  <a:pt x="73660" y="0"/>
                </a:lnTo>
                <a:lnTo>
                  <a:pt x="873125" y="277113"/>
                </a:lnTo>
                <a:lnTo>
                  <a:pt x="1989074" y="277113"/>
                </a:lnTo>
                <a:lnTo>
                  <a:pt x="2003698" y="278109"/>
                </a:lnTo>
                <a:lnTo>
                  <a:pt x="2043392" y="291988"/>
                </a:lnTo>
                <a:lnTo>
                  <a:pt x="2074060" y="319449"/>
                </a:lnTo>
                <a:lnTo>
                  <a:pt x="2092153" y="356943"/>
                </a:lnTo>
                <a:lnTo>
                  <a:pt x="2095500" y="383539"/>
                </a:lnTo>
                <a:lnTo>
                  <a:pt x="2095500" y="543178"/>
                </a:lnTo>
                <a:lnTo>
                  <a:pt x="2095500" y="809244"/>
                </a:lnTo>
                <a:lnTo>
                  <a:pt x="2094504" y="823868"/>
                </a:lnTo>
                <a:lnTo>
                  <a:pt x="2080625" y="863562"/>
                </a:lnTo>
                <a:lnTo>
                  <a:pt x="2053164" y="894230"/>
                </a:lnTo>
                <a:lnTo>
                  <a:pt x="2015670" y="912323"/>
                </a:lnTo>
                <a:lnTo>
                  <a:pt x="873125" y="915669"/>
                </a:lnTo>
                <a:lnTo>
                  <a:pt x="349250" y="915669"/>
                </a:lnTo>
                <a:lnTo>
                  <a:pt x="106425" y="915669"/>
                </a:lnTo>
                <a:lnTo>
                  <a:pt x="91801" y="914674"/>
                </a:lnTo>
                <a:lnTo>
                  <a:pt x="52107" y="900795"/>
                </a:lnTo>
                <a:lnTo>
                  <a:pt x="21439" y="873334"/>
                </a:lnTo>
                <a:lnTo>
                  <a:pt x="3346" y="835840"/>
                </a:lnTo>
                <a:lnTo>
                  <a:pt x="0" y="543178"/>
                </a:lnTo>
                <a:lnTo>
                  <a:pt x="0" y="383539"/>
                </a:lnTo>
                <a:close/>
              </a:path>
            </a:pathLst>
          </a:custGeom>
          <a:ln w="28956">
            <a:solidFill>
              <a:srgbClr val="000000"/>
            </a:solidFill>
          </a:ln>
        </p:spPr>
        <p:txBody>
          <a:bodyPr wrap="square" lIns="0" tIns="0" rIns="0" bIns="0" rtlCol="0"/>
          <a:lstStyle/>
          <a:p>
            <a:endParaRPr/>
          </a:p>
        </p:txBody>
      </p:sp>
      <p:sp>
        <p:nvSpPr>
          <p:cNvPr id="38" name="object 38"/>
          <p:cNvSpPr txBox="1"/>
          <p:nvPr/>
        </p:nvSpPr>
        <p:spPr>
          <a:xfrm>
            <a:off x="4778755" y="2114920"/>
            <a:ext cx="5929630" cy="1567815"/>
          </a:xfrm>
          <a:prstGeom prst="rect">
            <a:avLst/>
          </a:prstGeom>
        </p:spPr>
        <p:txBody>
          <a:bodyPr vert="horz" wrap="square" lIns="0" tIns="0" rIns="0" bIns="0" rtlCol="0">
            <a:spAutoFit/>
          </a:bodyPr>
          <a:lstStyle/>
          <a:p>
            <a:pPr marL="12700" marR="727075">
              <a:lnSpc>
                <a:spcPct val="126000"/>
              </a:lnSpc>
            </a:pPr>
            <a:r>
              <a:rPr sz="2400" b="1" dirty="0">
                <a:solidFill>
                  <a:srgbClr val="FF0000"/>
                </a:solidFill>
                <a:latin typeface="微软雅黑"/>
                <a:cs typeface="微软雅黑"/>
              </a:rPr>
              <a:t>问：还需滴入多少滴水才能将其装满？ </a:t>
            </a:r>
            <a:r>
              <a:rPr sz="2400" b="1" dirty="0">
                <a:latin typeface="微软雅黑"/>
                <a:cs typeface="微软雅黑"/>
              </a:rPr>
              <a:t>答：还需滴入</a:t>
            </a:r>
            <a:r>
              <a:rPr sz="2400" b="1" spc="-10" dirty="0">
                <a:latin typeface="微软雅黑"/>
                <a:cs typeface="微软雅黑"/>
              </a:rPr>
              <a:t>500</a:t>
            </a:r>
            <a:r>
              <a:rPr sz="2400" b="1" dirty="0">
                <a:latin typeface="微软雅黑"/>
                <a:cs typeface="微软雅黑"/>
              </a:rPr>
              <a:t>滴水才能将其装满，</a:t>
            </a:r>
            <a:endParaRPr sz="2400">
              <a:latin typeface="微软雅黑"/>
              <a:cs typeface="微软雅黑"/>
            </a:endParaRPr>
          </a:p>
          <a:p>
            <a:pPr marL="646430">
              <a:lnSpc>
                <a:spcPct val="100000"/>
              </a:lnSpc>
            </a:pPr>
            <a:r>
              <a:rPr sz="2400" b="1" dirty="0">
                <a:latin typeface="微软雅黑"/>
                <a:cs typeface="微软雅黑"/>
              </a:rPr>
              <a:t>第</a:t>
            </a:r>
            <a:r>
              <a:rPr sz="2400" b="1" spc="-10" dirty="0">
                <a:latin typeface="微软雅黑"/>
                <a:cs typeface="微软雅黑"/>
              </a:rPr>
              <a:t>501</a:t>
            </a:r>
            <a:r>
              <a:rPr sz="2400" b="1" dirty="0">
                <a:latin typeface="微软雅黑"/>
                <a:cs typeface="微软雅黑"/>
              </a:rPr>
              <a:t>滴水时容器溢出。</a:t>
            </a:r>
            <a:endParaRPr sz="2400">
              <a:latin typeface="微软雅黑"/>
              <a:cs typeface="微软雅黑"/>
            </a:endParaRPr>
          </a:p>
          <a:p>
            <a:pPr marR="5080" algn="r">
              <a:lnSpc>
                <a:spcPts val="2835"/>
              </a:lnSpc>
              <a:spcBef>
                <a:spcPts val="495"/>
              </a:spcBef>
            </a:pPr>
            <a:r>
              <a:rPr sz="2400" b="1" dirty="0">
                <a:latin typeface="宋体"/>
                <a:cs typeface="宋体"/>
              </a:rPr>
              <a:t>计数的概念</a:t>
            </a:r>
            <a:endParaRPr sz="2400">
              <a:latin typeface="宋体"/>
              <a:cs typeface="宋体"/>
            </a:endParaRPr>
          </a:p>
        </p:txBody>
      </p:sp>
      <p:sp>
        <p:nvSpPr>
          <p:cNvPr id="39" name="object 39"/>
          <p:cNvSpPr txBox="1"/>
          <p:nvPr/>
        </p:nvSpPr>
        <p:spPr>
          <a:xfrm>
            <a:off x="4778755" y="5726165"/>
            <a:ext cx="4855210" cy="695960"/>
          </a:xfrm>
          <a:prstGeom prst="rect">
            <a:avLst/>
          </a:prstGeom>
        </p:spPr>
        <p:txBody>
          <a:bodyPr vert="horz" wrap="square" lIns="0" tIns="0" rIns="0" bIns="0" rtlCol="0">
            <a:spAutoFit/>
          </a:bodyPr>
          <a:lstStyle/>
          <a:p>
            <a:pPr marL="646430" marR="5080" indent="-634365">
              <a:lnSpc>
                <a:spcPct val="100000"/>
              </a:lnSpc>
            </a:pPr>
            <a:r>
              <a:rPr sz="2400" b="1" dirty="0">
                <a:latin typeface="微软雅黑"/>
                <a:cs typeface="微软雅黑"/>
              </a:rPr>
              <a:t>答：还需</a:t>
            </a:r>
            <a:r>
              <a:rPr sz="2400" b="1" spc="-10" dirty="0">
                <a:latin typeface="微软雅黑"/>
                <a:cs typeface="微软雅黑"/>
              </a:rPr>
              <a:t>500</a:t>
            </a:r>
            <a:r>
              <a:rPr sz="2400" b="1" dirty="0">
                <a:latin typeface="微软雅黑"/>
                <a:cs typeface="微软雅黑"/>
              </a:rPr>
              <a:t>秒时间才能将其装满， 第</a:t>
            </a:r>
            <a:r>
              <a:rPr sz="2400" b="1" spc="-10" dirty="0">
                <a:latin typeface="微软雅黑"/>
                <a:cs typeface="微软雅黑"/>
              </a:rPr>
              <a:t>501</a:t>
            </a:r>
            <a:r>
              <a:rPr sz="2400" b="1" dirty="0">
                <a:latin typeface="微软雅黑"/>
                <a:cs typeface="微软雅黑"/>
              </a:rPr>
              <a:t>秒时容器溢出。</a:t>
            </a:r>
            <a:endParaRPr sz="2400">
              <a:latin typeface="微软雅黑"/>
              <a:cs typeface="微软雅黑"/>
            </a:endParaRPr>
          </a:p>
        </p:txBody>
      </p:sp>
      <p:sp>
        <p:nvSpPr>
          <p:cNvPr id="40" name="object 40"/>
          <p:cNvSpPr txBox="1"/>
          <p:nvPr/>
        </p:nvSpPr>
        <p:spPr>
          <a:xfrm>
            <a:off x="4778755" y="4743829"/>
            <a:ext cx="4785995" cy="696595"/>
          </a:xfrm>
          <a:prstGeom prst="rect">
            <a:avLst/>
          </a:prstGeom>
        </p:spPr>
        <p:txBody>
          <a:bodyPr vert="horz" wrap="square" lIns="0" tIns="0" rIns="0" bIns="0" rtlCol="0">
            <a:spAutoFit/>
          </a:bodyPr>
          <a:lstStyle/>
          <a:p>
            <a:pPr marL="12700">
              <a:lnSpc>
                <a:spcPct val="100000"/>
              </a:lnSpc>
            </a:pPr>
            <a:r>
              <a:rPr sz="2400" b="1" spc="-5" dirty="0">
                <a:solidFill>
                  <a:srgbClr val="FF0000"/>
                </a:solidFill>
                <a:latin typeface="微软雅黑"/>
                <a:cs typeface="微软雅黑"/>
              </a:rPr>
              <a:t>问：如果每秒滴入1滴水，还需多长</a:t>
            </a:r>
            <a:endParaRPr sz="2400">
              <a:latin typeface="微软雅黑"/>
              <a:cs typeface="微软雅黑"/>
            </a:endParaRPr>
          </a:p>
          <a:p>
            <a:pPr marL="646430">
              <a:lnSpc>
                <a:spcPct val="100000"/>
              </a:lnSpc>
            </a:pPr>
            <a:r>
              <a:rPr sz="2400" b="1" dirty="0">
                <a:solidFill>
                  <a:srgbClr val="FF0000"/>
                </a:solidFill>
                <a:latin typeface="微软雅黑"/>
                <a:cs typeface="微软雅黑"/>
              </a:rPr>
              <a:t>时间才能将其装满？</a:t>
            </a:r>
            <a:endParaRPr sz="2400">
              <a:latin typeface="微软雅黑"/>
              <a:cs typeface="微软雅黑"/>
            </a:endParaRPr>
          </a:p>
        </p:txBody>
      </p:sp>
      <p:sp>
        <p:nvSpPr>
          <p:cNvPr id="41" name="object 41"/>
          <p:cNvSpPr/>
          <p:nvPr/>
        </p:nvSpPr>
        <p:spPr>
          <a:xfrm>
            <a:off x="7666608" y="4007358"/>
            <a:ext cx="2028825" cy="638810"/>
          </a:xfrm>
          <a:custGeom>
            <a:avLst/>
            <a:gdLst/>
            <a:ahLst/>
            <a:cxnLst/>
            <a:rect l="l" t="t" r="r" b="b"/>
            <a:pathLst>
              <a:path w="2028825" h="638810">
                <a:moveTo>
                  <a:pt x="0" y="35941"/>
                </a:moveTo>
                <a:lnTo>
                  <a:pt x="399161" y="266065"/>
                </a:lnTo>
                <a:lnTo>
                  <a:pt x="399884" y="544612"/>
                </a:lnTo>
                <a:lnTo>
                  <a:pt x="402507" y="558726"/>
                </a:lnTo>
                <a:lnTo>
                  <a:pt x="420600" y="596220"/>
                </a:lnTo>
                <a:lnTo>
                  <a:pt x="451268" y="623681"/>
                </a:lnTo>
                <a:lnTo>
                  <a:pt x="490962" y="637560"/>
                </a:lnTo>
                <a:lnTo>
                  <a:pt x="505587" y="638556"/>
                </a:lnTo>
                <a:lnTo>
                  <a:pt x="1077976" y="638556"/>
                </a:lnTo>
                <a:lnTo>
                  <a:pt x="1934373" y="637832"/>
                </a:lnTo>
                <a:lnTo>
                  <a:pt x="1974423" y="624719"/>
                </a:lnTo>
                <a:lnTo>
                  <a:pt x="2005622" y="597849"/>
                </a:lnTo>
                <a:lnTo>
                  <a:pt x="2024423" y="560769"/>
                </a:lnTo>
                <a:lnTo>
                  <a:pt x="2028317" y="532130"/>
                </a:lnTo>
                <a:lnTo>
                  <a:pt x="2028317" y="106426"/>
                </a:lnTo>
                <a:lnTo>
                  <a:pt x="399161" y="106426"/>
                </a:lnTo>
                <a:lnTo>
                  <a:pt x="0" y="35941"/>
                </a:lnTo>
                <a:close/>
              </a:path>
              <a:path w="2028825" h="638810">
                <a:moveTo>
                  <a:pt x="1921891" y="0"/>
                </a:moveTo>
                <a:lnTo>
                  <a:pt x="670687" y="0"/>
                </a:lnTo>
                <a:lnTo>
                  <a:pt x="493104" y="723"/>
                </a:lnTo>
                <a:lnTo>
                  <a:pt x="453054" y="13836"/>
                </a:lnTo>
                <a:lnTo>
                  <a:pt x="421855" y="40706"/>
                </a:lnTo>
                <a:lnTo>
                  <a:pt x="403054" y="77786"/>
                </a:lnTo>
                <a:lnTo>
                  <a:pt x="399161" y="106426"/>
                </a:lnTo>
                <a:lnTo>
                  <a:pt x="2028317" y="106426"/>
                </a:lnTo>
                <a:lnTo>
                  <a:pt x="2020555" y="66435"/>
                </a:lnTo>
                <a:lnTo>
                  <a:pt x="1997876" y="31891"/>
                </a:lnTo>
                <a:lnTo>
                  <a:pt x="1963806" y="8564"/>
                </a:lnTo>
                <a:lnTo>
                  <a:pt x="1921891" y="0"/>
                </a:lnTo>
                <a:close/>
              </a:path>
            </a:pathLst>
          </a:custGeom>
          <a:solidFill>
            <a:srgbClr val="FFFFC7"/>
          </a:solidFill>
        </p:spPr>
        <p:txBody>
          <a:bodyPr wrap="square" lIns="0" tIns="0" rIns="0" bIns="0" rtlCol="0"/>
          <a:lstStyle/>
          <a:p>
            <a:endParaRPr/>
          </a:p>
        </p:txBody>
      </p:sp>
      <p:sp>
        <p:nvSpPr>
          <p:cNvPr id="42" name="object 42"/>
          <p:cNvSpPr/>
          <p:nvPr/>
        </p:nvSpPr>
        <p:spPr>
          <a:xfrm>
            <a:off x="7666608" y="4007358"/>
            <a:ext cx="2028825" cy="638810"/>
          </a:xfrm>
          <a:custGeom>
            <a:avLst/>
            <a:gdLst/>
            <a:ahLst/>
            <a:cxnLst/>
            <a:rect l="l" t="t" r="r" b="b"/>
            <a:pathLst>
              <a:path w="2028825" h="638810">
                <a:moveTo>
                  <a:pt x="399161" y="106426"/>
                </a:moveTo>
                <a:lnTo>
                  <a:pt x="407725" y="64510"/>
                </a:lnTo>
                <a:lnTo>
                  <a:pt x="431052" y="30440"/>
                </a:lnTo>
                <a:lnTo>
                  <a:pt x="465596" y="7761"/>
                </a:lnTo>
                <a:lnTo>
                  <a:pt x="670687" y="0"/>
                </a:lnTo>
                <a:lnTo>
                  <a:pt x="1077976" y="0"/>
                </a:lnTo>
                <a:lnTo>
                  <a:pt x="1921891" y="0"/>
                </a:lnTo>
                <a:lnTo>
                  <a:pt x="1936515" y="995"/>
                </a:lnTo>
                <a:lnTo>
                  <a:pt x="1976209" y="14874"/>
                </a:lnTo>
                <a:lnTo>
                  <a:pt x="2006877" y="42335"/>
                </a:lnTo>
                <a:lnTo>
                  <a:pt x="2024970" y="79829"/>
                </a:lnTo>
                <a:lnTo>
                  <a:pt x="2028317" y="106426"/>
                </a:lnTo>
                <a:lnTo>
                  <a:pt x="2028317" y="266065"/>
                </a:lnTo>
                <a:lnTo>
                  <a:pt x="2028317" y="532130"/>
                </a:lnTo>
                <a:lnTo>
                  <a:pt x="2027321" y="546754"/>
                </a:lnTo>
                <a:lnTo>
                  <a:pt x="2013442" y="586448"/>
                </a:lnTo>
                <a:lnTo>
                  <a:pt x="1985981" y="617116"/>
                </a:lnTo>
                <a:lnTo>
                  <a:pt x="1948487" y="635209"/>
                </a:lnTo>
                <a:lnTo>
                  <a:pt x="1077976" y="638556"/>
                </a:lnTo>
                <a:lnTo>
                  <a:pt x="670687" y="638556"/>
                </a:lnTo>
                <a:lnTo>
                  <a:pt x="505587" y="638556"/>
                </a:lnTo>
                <a:lnTo>
                  <a:pt x="490962" y="637560"/>
                </a:lnTo>
                <a:lnTo>
                  <a:pt x="451268" y="623681"/>
                </a:lnTo>
                <a:lnTo>
                  <a:pt x="420600" y="596220"/>
                </a:lnTo>
                <a:lnTo>
                  <a:pt x="402507" y="558726"/>
                </a:lnTo>
                <a:lnTo>
                  <a:pt x="399161" y="266065"/>
                </a:lnTo>
                <a:lnTo>
                  <a:pt x="0" y="35941"/>
                </a:lnTo>
                <a:lnTo>
                  <a:pt x="399161" y="106426"/>
                </a:lnTo>
                <a:close/>
              </a:path>
            </a:pathLst>
          </a:custGeom>
          <a:ln w="28956">
            <a:solidFill>
              <a:srgbClr val="000000"/>
            </a:solidFill>
          </a:ln>
        </p:spPr>
        <p:txBody>
          <a:bodyPr wrap="square" lIns="0" tIns="0" rIns="0" bIns="0" rtlCol="0"/>
          <a:lstStyle/>
          <a:p>
            <a:endParaRPr/>
          </a:p>
        </p:txBody>
      </p:sp>
      <p:sp>
        <p:nvSpPr>
          <p:cNvPr id="43" name="object 43"/>
          <p:cNvSpPr txBox="1"/>
          <p:nvPr/>
        </p:nvSpPr>
        <p:spPr>
          <a:xfrm>
            <a:off x="8254110" y="4182546"/>
            <a:ext cx="1250950" cy="330835"/>
          </a:xfrm>
          <a:prstGeom prst="rect">
            <a:avLst/>
          </a:prstGeom>
        </p:spPr>
        <p:txBody>
          <a:bodyPr vert="horz" wrap="square" lIns="0" tIns="0" rIns="0" bIns="0" rtlCol="0">
            <a:spAutoFit/>
          </a:bodyPr>
          <a:lstStyle/>
          <a:p>
            <a:pPr marL="12700">
              <a:lnSpc>
                <a:spcPts val="2840"/>
              </a:lnSpc>
            </a:pPr>
            <a:r>
              <a:rPr sz="2400" b="1" spc="-5" dirty="0">
                <a:latin typeface="宋体"/>
                <a:cs typeface="宋体"/>
              </a:rPr>
              <a:t>计数初值</a:t>
            </a:r>
            <a:endParaRPr sz="2400">
              <a:latin typeface="宋体"/>
              <a:cs typeface="宋体"/>
            </a:endParaRPr>
          </a:p>
        </p:txBody>
      </p:sp>
      <p:sp>
        <p:nvSpPr>
          <p:cNvPr id="44" name="object 44"/>
          <p:cNvSpPr/>
          <p:nvPr/>
        </p:nvSpPr>
        <p:spPr>
          <a:xfrm>
            <a:off x="9344406" y="5871121"/>
            <a:ext cx="2095500" cy="782320"/>
          </a:xfrm>
          <a:custGeom>
            <a:avLst/>
            <a:gdLst/>
            <a:ahLst/>
            <a:cxnLst/>
            <a:rect l="l" t="t" r="r" b="b"/>
            <a:pathLst>
              <a:path w="2095500" h="782320">
                <a:moveTo>
                  <a:pt x="64389" y="0"/>
                </a:moveTo>
                <a:lnTo>
                  <a:pt x="349250" y="198208"/>
                </a:lnTo>
                <a:lnTo>
                  <a:pt x="85086" y="198966"/>
                </a:lnTo>
                <a:lnTo>
                  <a:pt x="71048" y="201788"/>
                </a:lnTo>
                <a:lnTo>
                  <a:pt x="34414" y="221253"/>
                </a:lnTo>
                <a:lnTo>
                  <a:pt x="9313" y="253906"/>
                </a:lnTo>
                <a:lnTo>
                  <a:pt x="0" y="295490"/>
                </a:lnTo>
                <a:lnTo>
                  <a:pt x="0" y="441413"/>
                </a:lnTo>
                <a:lnTo>
                  <a:pt x="757" y="696814"/>
                </a:lnTo>
                <a:lnTo>
                  <a:pt x="14880" y="736346"/>
                </a:lnTo>
                <a:lnTo>
                  <a:pt x="43610" y="765764"/>
                </a:lnTo>
                <a:lnTo>
                  <a:pt x="82690" y="780813"/>
                </a:lnTo>
                <a:lnTo>
                  <a:pt x="97282" y="781900"/>
                </a:lnTo>
                <a:lnTo>
                  <a:pt x="873125" y="781900"/>
                </a:lnTo>
                <a:lnTo>
                  <a:pt x="2010413" y="781143"/>
                </a:lnTo>
                <a:lnTo>
                  <a:pt x="2049945" y="767020"/>
                </a:lnTo>
                <a:lnTo>
                  <a:pt x="2079363" y="738290"/>
                </a:lnTo>
                <a:lnTo>
                  <a:pt x="2094412" y="699210"/>
                </a:lnTo>
                <a:lnTo>
                  <a:pt x="2095500" y="684618"/>
                </a:lnTo>
                <a:lnTo>
                  <a:pt x="2095500" y="295490"/>
                </a:lnTo>
                <a:lnTo>
                  <a:pt x="2087160" y="256027"/>
                </a:lnTo>
                <a:lnTo>
                  <a:pt x="2062826" y="222764"/>
                </a:lnTo>
                <a:lnTo>
                  <a:pt x="2026723" y="202453"/>
                </a:lnTo>
                <a:lnTo>
                  <a:pt x="1998218" y="198208"/>
                </a:lnTo>
                <a:lnTo>
                  <a:pt x="873125" y="198208"/>
                </a:lnTo>
                <a:lnTo>
                  <a:pt x="64389" y="0"/>
                </a:lnTo>
                <a:close/>
              </a:path>
            </a:pathLst>
          </a:custGeom>
          <a:solidFill>
            <a:srgbClr val="FFFFC7"/>
          </a:solidFill>
        </p:spPr>
        <p:txBody>
          <a:bodyPr wrap="square" lIns="0" tIns="0" rIns="0" bIns="0" rtlCol="0"/>
          <a:lstStyle/>
          <a:p>
            <a:endParaRPr/>
          </a:p>
        </p:txBody>
      </p:sp>
      <p:sp>
        <p:nvSpPr>
          <p:cNvPr id="45" name="object 45"/>
          <p:cNvSpPr/>
          <p:nvPr/>
        </p:nvSpPr>
        <p:spPr>
          <a:xfrm>
            <a:off x="9344406" y="5871121"/>
            <a:ext cx="2095500" cy="782320"/>
          </a:xfrm>
          <a:custGeom>
            <a:avLst/>
            <a:gdLst/>
            <a:ahLst/>
            <a:cxnLst/>
            <a:rect l="l" t="t" r="r" b="b"/>
            <a:pathLst>
              <a:path w="2095500" h="782320">
                <a:moveTo>
                  <a:pt x="0" y="295490"/>
                </a:moveTo>
                <a:lnTo>
                  <a:pt x="9313" y="253906"/>
                </a:lnTo>
                <a:lnTo>
                  <a:pt x="34414" y="221253"/>
                </a:lnTo>
                <a:lnTo>
                  <a:pt x="71048" y="201788"/>
                </a:lnTo>
                <a:lnTo>
                  <a:pt x="349250" y="198208"/>
                </a:lnTo>
                <a:lnTo>
                  <a:pt x="64389" y="0"/>
                </a:lnTo>
                <a:lnTo>
                  <a:pt x="873125" y="198208"/>
                </a:lnTo>
                <a:lnTo>
                  <a:pt x="1998218" y="198208"/>
                </a:lnTo>
                <a:lnTo>
                  <a:pt x="2012809" y="199296"/>
                </a:lnTo>
                <a:lnTo>
                  <a:pt x="2051889" y="214345"/>
                </a:lnTo>
                <a:lnTo>
                  <a:pt x="2080619" y="243763"/>
                </a:lnTo>
                <a:lnTo>
                  <a:pt x="2094742" y="283295"/>
                </a:lnTo>
                <a:lnTo>
                  <a:pt x="2095500" y="295490"/>
                </a:lnTo>
                <a:lnTo>
                  <a:pt x="2095500" y="441413"/>
                </a:lnTo>
                <a:lnTo>
                  <a:pt x="2095500" y="684618"/>
                </a:lnTo>
                <a:lnTo>
                  <a:pt x="2094412" y="699210"/>
                </a:lnTo>
                <a:lnTo>
                  <a:pt x="2079363" y="738290"/>
                </a:lnTo>
                <a:lnTo>
                  <a:pt x="2049945" y="767020"/>
                </a:lnTo>
                <a:lnTo>
                  <a:pt x="2010413" y="781143"/>
                </a:lnTo>
                <a:lnTo>
                  <a:pt x="873125" y="781900"/>
                </a:lnTo>
                <a:lnTo>
                  <a:pt x="349250" y="781900"/>
                </a:lnTo>
                <a:lnTo>
                  <a:pt x="97282" y="781900"/>
                </a:lnTo>
                <a:lnTo>
                  <a:pt x="82690" y="780813"/>
                </a:lnTo>
                <a:lnTo>
                  <a:pt x="43610" y="765764"/>
                </a:lnTo>
                <a:lnTo>
                  <a:pt x="14880" y="736346"/>
                </a:lnTo>
                <a:lnTo>
                  <a:pt x="757" y="696814"/>
                </a:lnTo>
                <a:lnTo>
                  <a:pt x="0" y="441413"/>
                </a:lnTo>
                <a:lnTo>
                  <a:pt x="0" y="295490"/>
                </a:lnTo>
                <a:close/>
              </a:path>
            </a:pathLst>
          </a:custGeom>
          <a:ln w="28956">
            <a:solidFill>
              <a:srgbClr val="000000"/>
            </a:solidFill>
          </a:ln>
        </p:spPr>
        <p:txBody>
          <a:bodyPr wrap="square" lIns="0" tIns="0" rIns="0" bIns="0" rtlCol="0"/>
          <a:lstStyle/>
          <a:p>
            <a:endParaRPr/>
          </a:p>
        </p:txBody>
      </p:sp>
      <p:sp>
        <p:nvSpPr>
          <p:cNvPr id="46" name="object 46"/>
          <p:cNvSpPr txBox="1"/>
          <p:nvPr/>
        </p:nvSpPr>
        <p:spPr>
          <a:xfrm>
            <a:off x="9613772" y="6217340"/>
            <a:ext cx="1557020" cy="330835"/>
          </a:xfrm>
          <a:prstGeom prst="rect">
            <a:avLst/>
          </a:prstGeom>
        </p:spPr>
        <p:txBody>
          <a:bodyPr vert="horz" wrap="square" lIns="0" tIns="0" rIns="0" bIns="0" rtlCol="0">
            <a:spAutoFit/>
          </a:bodyPr>
          <a:lstStyle/>
          <a:p>
            <a:pPr marL="12700">
              <a:lnSpc>
                <a:spcPts val="2840"/>
              </a:lnSpc>
            </a:pPr>
            <a:r>
              <a:rPr sz="2400" b="1" spc="-5" dirty="0">
                <a:latin typeface="宋体"/>
                <a:cs typeface="宋体"/>
              </a:rPr>
              <a:t>定时的概念</a:t>
            </a:r>
            <a:endParaRPr sz="2400">
              <a:latin typeface="宋体"/>
              <a:cs typeface="宋体"/>
            </a:endParaRPr>
          </a:p>
        </p:txBody>
      </p:sp>
      <p:sp>
        <p:nvSpPr>
          <p:cNvPr id="47" name="object 47"/>
          <p:cNvSpPr/>
          <p:nvPr/>
        </p:nvSpPr>
        <p:spPr>
          <a:xfrm>
            <a:off x="3097529" y="2472944"/>
            <a:ext cx="1626235" cy="1002665"/>
          </a:xfrm>
          <a:custGeom>
            <a:avLst/>
            <a:gdLst/>
            <a:ahLst/>
            <a:cxnLst/>
            <a:rect l="l" t="t" r="r" b="b"/>
            <a:pathLst>
              <a:path w="1626235" h="1002664">
                <a:moveTo>
                  <a:pt x="207009" y="0"/>
                </a:moveTo>
                <a:lnTo>
                  <a:pt x="271018" y="370077"/>
                </a:lnTo>
                <a:lnTo>
                  <a:pt x="94577" y="370629"/>
                </a:lnTo>
                <a:lnTo>
                  <a:pt x="80409" y="373067"/>
                </a:lnTo>
                <a:lnTo>
                  <a:pt x="42702" y="390781"/>
                </a:lnTo>
                <a:lnTo>
                  <a:pt x="15021" y="421265"/>
                </a:lnTo>
                <a:lnTo>
                  <a:pt x="1006" y="460882"/>
                </a:lnTo>
                <a:lnTo>
                  <a:pt x="0" y="475488"/>
                </a:lnTo>
                <a:lnTo>
                  <a:pt x="0" y="633602"/>
                </a:lnTo>
                <a:lnTo>
                  <a:pt x="551" y="907960"/>
                </a:lnTo>
                <a:lnTo>
                  <a:pt x="13200" y="948201"/>
                </a:lnTo>
                <a:lnTo>
                  <a:pt x="39832" y="979628"/>
                </a:lnTo>
                <a:lnTo>
                  <a:pt x="76808" y="998602"/>
                </a:lnTo>
                <a:lnTo>
                  <a:pt x="105409" y="1002538"/>
                </a:lnTo>
                <a:lnTo>
                  <a:pt x="677544" y="1002538"/>
                </a:lnTo>
                <a:lnTo>
                  <a:pt x="1531530" y="1001986"/>
                </a:lnTo>
                <a:lnTo>
                  <a:pt x="1571771" y="989337"/>
                </a:lnTo>
                <a:lnTo>
                  <a:pt x="1603198" y="962705"/>
                </a:lnTo>
                <a:lnTo>
                  <a:pt x="1622172" y="925729"/>
                </a:lnTo>
                <a:lnTo>
                  <a:pt x="1626108" y="897127"/>
                </a:lnTo>
                <a:lnTo>
                  <a:pt x="1626108" y="475488"/>
                </a:lnTo>
                <a:lnTo>
                  <a:pt x="1618857" y="437028"/>
                </a:lnTo>
                <a:lnTo>
                  <a:pt x="1596482" y="402259"/>
                </a:lnTo>
                <a:lnTo>
                  <a:pt x="1562549" y="378729"/>
                </a:lnTo>
                <a:lnTo>
                  <a:pt x="1520697" y="370077"/>
                </a:lnTo>
                <a:lnTo>
                  <a:pt x="677544" y="370077"/>
                </a:lnTo>
                <a:lnTo>
                  <a:pt x="207009" y="0"/>
                </a:lnTo>
                <a:close/>
              </a:path>
            </a:pathLst>
          </a:custGeom>
          <a:solidFill>
            <a:srgbClr val="FFFFC7"/>
          </a:solidFill>
        </p:spPr>
        <p:txBody>
          <a:bodyPr wrap="square" lIns="0" tIns="0" rIns="0" bIns="0" rtlCol="0"/>
          <a:lstStyle/>
          <a:p>
            <a:endParaRPr/>
          </a:p>
        </p:txBody>
      </p:sp>
      <p:sp>
        <p:nvSpPr>
          <p:cNvPr id="48" name="object 48"/>
          <p:cNvSpPr/>
          <p:nvPr/>
        </p:nvSpPr>
        <p:spPr>
          <a:xfrm>
            <a:off x="3097529" y="2472944"/>
            <a:ext cx="1626235" cy="1002665"/>
          </a:xfrm>
          <a:custGeom>
            <a:avLst/>
            <a:gdLst/>
            <a:ahLst/>
            <a:cxnLst/>
            <a:rect l="l" t="t" r="r" b="b"/>
            <a:pathLst>
              <a:path w="1626235" h="1002664">
                <a:moveTo>
                  <a:pt x="0" y="475488"/>
                </a:moveTo>
                <a:lnTo>
                  <a:pt x="8651" y="433636"/>
                </a:lnTo>
                <a:lnTo>
                  <a:pt x="32181" y="399703"/>
                </a:lnTo>
                <a:lnTo>
                  <a:pt x="66950" y="377328"/>
                </a:lnTo>
                <a:lnTo>
                  <a:pt x="271018" y="370077"/>
                </a:lnTo>
                <a:lnTo>
                  <a:pt x="207009" y="0"/>
                </a:lnTo>
                <a:lnTo>
                  <a:pt x="677544" y="370077"/>
                </a:lnTo>
                <a:lnTo>
                  <a:pt x="1520697" y="370077"/>
                </a:lnTo>
                <a:lnTo>
                  <a:pt x="1535303" y="371084"/>
                </a:lnTo>
                <a:lnTo>
                  <a:pt x="1574920" y="385099"/>
                </a:lnTo>
                <a:lnTo>
                  <a:pt x="1605404" y="412780"/>
                </a:lnTo>
                <a:lnTo>
                  <a:pt x="1623118" y="450487"/>
                </a:lnTo>
                <a:lnTo>
                  <a:pt x="1626108" y="475488"/>
                </a:lnTo>
                <a:lnTo>
                  <a:pt x="1626108" y="633602"/>
                </a:lnTo>
                <a:lnTo>
                  <a:pt x="1626108" y="897127"/>
                </a:lnTo>
                <a:lnTo>
                  <a:pt x="1625101" y="911733"/>
                </a:lnTo>
                <a:lnTo>
                  <a:pt x="1611086" y="951350"/>
                </a:lnTo>
                <a:lnTo>
                  <a:pt x="1583405" y="981834"/>
                </a:lnTo>
                <a:lnTo>
                  <a:pt x="1545698" y="999548"/>
                </a:lnTo>
                <a:lnTo>
                  <a:pt x="677544" y="1002538"/>
                </a:lnTo>
                <a:lnTo>
                  <a:pt x="271018" y="1002538"/>
                </a:lnTo>
                <a:lnTo>
                  <a:pt x="105409" y="1002538"/>
                </a:lnTo>
                <a:lnTo>
                  <a:pt x="90804" y="1001531"/>
                </a:lnTo>
                <a:lnTo>
                  <a:pt x="51187" y="987516"/>
                </a:lnTo>
                <a:lnTo>
                  <a:pt x="20703" y="959835"/>
                </a:lnTo>
                <a:lnTo>
                  <a:pt x="2989" y="922128"/>
                </a:lnTo>
                <a:lnTo>
                  <a:pt x="0" y="633602"/>
                </a:lnTo>
                <a:lnTo>
                  <a:pt x="0" y="475488"/>
                </a:lnTo>
                <a:close/>
              </a:path>
            </a:pathLst>
          </a:custGeom>
          <a:ln w="28956">
            <a:solidFill>
              <a:srgbClr val="000000"/>
            </a:solidFill>
          </a:ln>
        </p:spPr>
        <p:txBody>
          <a:bodyPr wrap="square" lIns="0" tIns="0" rIns="0" bIns="0" rtlCol="0"/>
          <a:lstStyle/>
          <a:p>
            <a:endParaRPr/>
          </a:p>
        </p:txBody>
      </p:sp>
      <p:sp>
        <p:nvSpPr>
          <p:cNvPr id="49" name="object 49"/>
          <p:cNvSpPr txBox="1"/>
          <p:nvPr/>
        </p:nvSpPr>
        <p:spPr>
          <a:xfrm>
            <a:off x="3284982" y="3015932"/>
            <a:ext cx="125095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计数终值</a:t>
            </a:r>
            <a:endParaRPr sz="2400">
              <a:latin typeface="宋体"/>
              <a:cs typeface="宋体"/>
            </a:endParaRPr>
          </a:p>
        </p:txBody>
      </p:sp>
    </p:spTree>
    <p:extLst>
      <p:ext uri="{BB962C8B-B14F-4D97-AF65-F5344CB8AC3E}">
        <p14:creationId xmlns:p14="http://schemas.microsoft.com/office/powerpoint/2010/main" val="4115127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p:nvPr/>
        </p:nvSpPr>
        <p:spPr>
          <a:xfrm>
            <a:off x="1894332" y="4167958"/>
            <a:ext cx="1092835" cy="1870710"/>
          </a:xfrm>
          <a:custGeom>
            <a:avLst/>
            <a:gdLst/>
            <a:ahLst/>
            <a:cxnLst/>
            <a:rect l="l" t="t" r="r" b="b"/>
            <a:pathLst>
              <a:path w="1092835" h="1870710">
                <a:moveTo>
                  <a:pt x="58542" y="0"/>
                </a:moveTo>
                <a:lnTo>
                  <a:pt x="27340" y="30951"/>
                </a:lnTo>
                <a:lnTo>
                  <a:pt x="8758" y="87644"/>
                </a:lnTo>
                <a:lnTo>
                  <a:pt x="0" y="141786"/>
                </a:lnTo>
                <a:lnTo>
                  <a:pt x="0" y="1383338"/>
                </a:lnTo>
                <a:lnTo>
                  <a:pt x="2725" y="1448945"/>
                </a:lnTo>
                <a:lnTo>
                  <a:pt x="9812" y="1506751"/>
                </a:lnTo>
                <a:lnTo>
                  <a:pt x="21681" y="1556991"/>
                </a:lnTo>
                <a:lnTo>
                  <a:pt x="38754" y="1599901"/>
                </a:lnTo>
                <a:lnTo>
                  <a:pt x="61452" y="1635714"/>
                </a:lnTo>
                <a:lnTo>
                  <a:pt x="90196" y="1664667"/>
                </a:lnTo>
                <a:lnTo>
                  <a:pt x="125408" y="1686994"/>
                </a:lnTo>
                <a:lnTo>
                  <a:pt x="167509" y="1702931"/>
                </a:lnTo>
                <a:lnTo>
                  <a:pt x="216921" y="1712712"/>
                </a:lnTo>
                <a:lnTo>
                  <a:pt x="274066" y="1716573"/>
                </a:lnTo>
                <a:lnTo>
                  <a:pt x="836168" y="1719837"/>
                </a:lnTo>
                <a:lnTo>
                  <a:pt x="833882" y="1870129"/>
                </a:lnTo>
                <a:lnTo>
                  <a:pt x="1092708" y="1620193"/>
                </a:lnTo>
                <a:lnTo>
                  <a:pt x="1019516" y="1540145"/>
                </a:lnTo>
                <a:lnTo>
                  <a:pt x="843280" y="1540145"/>
                </a:lnTo>
                <a:lnTo>
                  <a:pt x="309244" y="1527077"/>
                </a:lnTo>
                <a:lnTo>
                  <a:pt x="268713" y="1524924"/>
                </a:lnTo>
                <a:lnTo>
                  <a:pt x="223387" y="1514963"/>
                </a:lnTo>
                <a:lnTo>
                  <a:pt x="188420" y="1487991"/>
                </a:lnTo>
                <a:lnTo>
                  <a:pt x="169253" y="1450750"/>
                </a:lnTo>
                <a:lnTo>
                  <a:pt x="156338" y="1394373"/>
                </a:lnTo>
                <a:lnTo>
                  <a:pt x="151293" y="1344131"/>
                </a:lnTo>
                <a:lnTo>
                  <a:pt x="138175" y="164646"/>
                </a:lnTo>
                <a:lnTo>
                  <a:pt x="133386" y="135168"/>
                </a:lnTo>
                <a:lnTo>
                  <a:pt x="121625" y="84703"/>
                </a:lnTo>
                <a:lnTo>
                  <a:pt x="107549" y="45738"/>
                </a:lnTo>
                <a:lnTo>
                  <a:pt x="83649" y="9326"/>
                </a:lnTo>
                <a:lnTo>
                  <a:pt x="66897" y="54"/>
                </a:lnTo>
                <a:lnTo>
                  <a:pt x="58542" y="0"/>
                </a:lnTo>
                <a:close/>
              </a:path>
              <a:path w="1092835" h="1870710">
                <a:moveTo>
                  <a:pt x="843280" y="1347397"/>
                </a:moveTo>
                <a:lnTo>
                  <a:pt x="843280" y="1540145"/>
                </a:lnTo>
                <a:lnTo>
                  <a:pt x="1019516" y="1540145"/>
                </a:lnTo>
                <a:lnTo>
                  <a:pt x="843280" y="1347397"/>
                </a:lnTo>
                <a:close/>
              </a:path>
            </a:pathLst>
          </a:custGeom>
          <a:solidFill>
            <a:srgbClr val="A6A6A6"/>
          </a:solidFill>
        </p:spPr>
        <p:txBody>
          <a:bodyPr wrap="square" lIns="0" tIns="0" rIns="0" bIns="0" rtlCol="0"/>
          <a:lstStyle/>
          <a:p>
            <a:endParaRPr/>
          </a:p>
        </p:txBody>
      </p:sp>
      <p:sp>
        <p:nvSpPr>
          <p:cNvPr id="12" name="object 12"/>
          <p:cNvSpPr/>
          <p:nvPr/>
        </p:nvSpPr>
        <p:spPr>
          <a:xfrm>
            <a:off x="1696211" y="3854196"/>
            <a:ext cx="1330960" cy="455930"/>
          </a:xfrm>
          <a:custGeom>
            <a:avLst/>
            <a:gdLst/>
            <a:ahLst/>
            <a:cxnLst/>
            <a:rect l="l" t="t" r="r" b="b"/>
            <a:pathLst>
              <a:path w="1330960" h="455929">
                <a:moveTo>
                  <a:pt x="1223077" y="311276"/>
                </a:moveTo>
                <a:lnTo>
                  <a:pt x="1039749" y="311276"/>
                </a:lnTo>
                <a:lnTo>
                  <a:pt x="1044067" y="455675"/>
                </a:lnTo>
                <a:lnTo>
                  <a:pt x="1223077" y="311276"/>
                </a:lnTo>
                <a:close/>
              </a:path>
              <a:path w="1330960" h="455929">
                <a:moveTo>
                  <a:pt x="1044067" y="0"/>
                </a:moveTo>
                <a:lnTo>
                  <a:pt x="1044067" y="134746"/>
                </a:lnTo>
                <a:lnTo>
                  <a:pt x="0" y="138048"/>
                </a:lnTo>
                <a:lnTo>
                  <a:pt x="2158" y="336930"/>
                </a:lnTo>
                <a:lnTo>
                  <a:pt x="1039749" y="311276"/>
                </a:lnTo>
                <a:lnTo>
                  <a:pt x="1223077" y="311276"/>
                </a:lnTo>
                <a:lnTo>
                  <a:pt x="1330452" y="224662"/>
                </a:lnTo>
                <a:lnTo>
                  <a:pt x="1044067" y="0"/>
                </a:lnTo>
                <a:close/>
              </a:path>
            </a:pathLst>
          </a:custGeom>
          <a:solidFill>
            <a:srgbClr val="A6A6A6"/>
          </a:solidFill>
        </p:spPr>
        <p:txBody>
          <a:bodyPr wrap="square" lIns="0" tIns="0" rIns="0" bIns="0" rtlCol="0"/>
          <a:lstStyle/>
          <a:p>
            <a:endParaRPr/>
          </a:p>
        </p:txBody>
      </p:sp>
      <p:sp>
        <p:nvSpPr>
          <p:cNvPr id="13" name="object 13"/>
          <p:cNvSpPr/>
          <p:nvPr/>
        </p:nvSpPr>
        <p:spPr>
          <a:xfrm>
            <a:off x="1933955" y="2209800"/>
            <a:ext cx="1092835" cy="1708150"/>
          </a:xfrm>
          <a:custGeom>
            <a:avLst/>
            <a:gdLst/>
            <a:ahLst/>
            <a:cxnLst/>
            <a:rect l="l" t="t" r="r" b="b"/>
            <a:pathLst>
              <a:path w="1092835" h="1708150">
                <a:moveTo>
                  <a:pt x="833882" y="0"/>
                </a:moveTo>
                <a:lnTo>
                  <a:pt x="836168" y="137287"/>
                </a:lnTo>
                <a:lnTo>
                  <a:pt x="274066" y="140208"/>
                </a:lnTo>
                <a:lnTo>
                  <a:pt x="244501" y="141317"/>
                </a:lnTo>
                <a:lnTo>
                  <a:pt x="191275" y="147530"/>
                </a:lnTo>
                <a:lnTo>
                  <a:pt x="145571" y="159250"/>
                </a:lnTo>
                <a:lnTo>
                  <a:pt x="106967" y="176692"/>
                </a:lnTo>
                <a:lnTo>
                  <a:pt x="75042" y="200073"/>
                </a:lnTo>
                <a:lnTo>
                  <a:pt x="49373" y="229609"/>
                </a:lnTo>
                <a:lnTo>
                  <a:pt x="29541" y="265518"/>
                </a:lnTo>
                <a:lnTo>
                  <a:pt x="15122" y="308014"/>
                </a:lnTo>
                <a:lnTo>
                  <a:pt x="5697" y="357315"/>
                </a:lnTo>
                <a:lnTo>
                  <a:pt x="844" y="413638"/>
                </a:lnTo>
                <a:lnTo>
                  <a:pt x="0" y="444500"/>
                </a:lnTo>
                <a:lnTo>
                  <a:pt x="0" y="1578229"/>
                </a:lnTo>
                <a:lnTo>
                  <a:pt x="8758" y="1627685"/>
                </a:lnTo>
                <a:lnTo>
                  <a:pt x="20539" y="1665162"/>
                </a:lnTo>
                <a:lnTo>
                  <a:pt x="42320" y="1699347"/>
                </a:lnTo>
                <a:lnTo>
                  <a:pt x="58542" y="1707739"/>
                </a:lnTo>
                <a:lnTo>
                  <a:pt x="66897" y="1707689"/>
                </a:lnTo>
                <a:lnTo>
                  <a:pt x="99864" y="1679762"/>
                </a:lnTo>
                <a:lnTo>
                  <a:pt x="121625" y="1630393"/>
                </a:lnTo>
                <a:lnTo>
                  <a:pt x="133386" y="1584315"/>
                </a:lnTo>
                <a:lnTo>
                  <a:pt x="149860" y="507238"/>
                </a:lnTo>
                <a:lnTo>
                  <a:pt x="151314" y="480105"/>
                </a:lnTo>
                <a:lnTo>
                  <a:pt x="156454" y="433785"/>
                </a:lnTo>
                <a:lnTo>
                  <a:pt x="169636" y="382016"/>
                </a:lnTo>
                <a:lnTo>
                  <a:pt x="189215" y="348051"/>
                </a:lnTo>
                <a:lnTo>
                  <a:pt x="224945" y="323763"/>
                </a:lnTo>
                <a:lnTo>
                  <a:pt x="271265" y="315048"/>
                </a:lnTo>
                <a:lnTo>
                  <a:pt x="843280" y="301371"/>
                </a:lnTo>
                <a:lnTo>
                  <a:pt x="1019481" y="301371"/>
                </a:lnTo>
                <a:lnTo>
                  <a:pt x="1092708" y="228219"/>
                </a:lnTo>
                <a:lnTo>
                  <a:pt x="833882" y="0"/>
                </a:lnTo>
                <a:close/>
              </a:path>
              <a:path w="1092835" h="1708150">
                <a:moveTo>
                  <a:pt x="1019481" y="301371"/>
                </a:moveTo>
                <a:lnTo>
                  <a:pt x="843280" y="301371"/>
                </a:lnTo>
                <a:lnTo>
                  <a:pt x="843280" y="477392"/>
                </a:lnTo>
                <a:lnTo>
                  <a:pt x="1019481" y="301371"/>
                </a:lnTo>
                <a:close/>
              </a:path>
            </a:pathLst>
          </a:custGeom>
          <a:solidFill>
            <a:srgbClr val="A6A6A6"/>
          </a:solidFill>
        </p:spPr>
        <p:txBody>
          <a:bodyPr wrap="square" lIns="0" tIns="0" rIns="0" bIns="0" rtlCol="0"/>
          <a:lstStyle/>
          <a:p>
            <a:endParaRPr/>
          </a:p>
        </p:txBody>
      </p:sp>
      <p:sp>
        <p:nvSpPr>
          <p:cNvPr id="14" name="object 14"/>
          <p:cNvSpPr/>
          <p:nvPr/>
        </p:nvSpPr>
        <p:spPr>
          <a:xfrm>
            <a:off x="5080253" y="1823466"/>
            <a:ext cx="6385560" cy="1202690"/>
          </a:xfrm>
          <a:custGeom>
            <a:avLst/>
            <a:gdLst/>
            <a:ahLst/>
            <a:cxnLst/>
            <a:rect l="l" t="t" r="r" b="b"/>
            <a:pathLst>
              <a:path w="6385559" h="1202689">
                <a:moveTo>
                  <a:pt x="0" y="138303"/>
                </a:moveTo>
                <a:lnTo>
                  <a:pt x="6703" y="95684"/>
                </a:lnTo>
                <a:lnTo>
                  <a:pt x="25404" y="58444"/>
                </a:lnTo>
                <a:lnTo>
                  <a:pt x="53991" y="28697"/>
                </a:lnTo>
                <a:lnTo>
                  <a:pt x="90351" y="8553"/>
                </a:lnTo>
                <a:lnTo>
                  <a:pt x="132374" y="125"/>
                </a:lnTo>
                <a:lnTo>
                  <a:pt x="6247257" y="0"/>
                </a:lnTo>
                <a:lnTo>
                  <a:pt x="6261930" y="770"/>
                </a:lnTo>
                <a:lnTo>
                  <a:pt x="6302990" y="11707"/>
                </a:lnTo>
                <a:lnTo>
                  <a:pt x="6337967" y="33938"/>
                </a:lnTo>
                <a:lnTo>
                  <a:pt x="6364748" y="65351"/>
                </a:lnTo>
                <a:lnTo>
                  <a:pt x="6381222" y="103834"/>
                </a:lnTo>
                <a:lnTo>
                  <a:pt x="6385560" y="1064133"/>
                </a:lnTo>
                <a:lnTo>
                  <a:pt x="6384789" y="1078806"/>
                </a:lnTo>
                <a:lnTo>
                  <a:pt x="6373852" y="1119866"/>
                </a:lnTo>
                <a:lnTo>
                  <a:pt x="6351621" y="1154843"/>
                </a:lnTo>
                <a:lnTo>
                  <a:pt x="6320208" y="1181624"/>
                </a:lnTo>
                <a:lnTo>
                  <a:pt x="6281725" y="1198098"/>
                </a:lnTo>
                <a:lnTo>
                  <a:pt x="138303" y="1202436"/>
                </a:lnTo>
                <a:lnTo>
                  <a:pt x="123629" y="1201665"/>
                </a:lnTo>
                <a:lnTo>
                  <a:pt x="82569" y="1190728"/>
                </a:lnTo>
                <a:lnTo>
                  <a:pt x="47592" y="1168497"/>
                </a:lnTo>
                <a:lnTo>
                  <a:pt x="20811" y="1137084"/>
                </a:lnTo>
                <a:lnTo>
                  <a:pt x="4337" y="1098601"/>
                </a:lnTo>
                <a:lnTo>
                  <a:pt x="0" y="138303"/>
                </a:lnTo>
                <a:close/>
              </a:path>
            </a:pathLst>
          </a:custGeom>
          <a:ln w="28956">
            <a:solidFill>
              <a:srgbClr val="5B9BD4"/>
            </a:solidFill>
          </a:ln>
        </p:spPr>
        <p:txBody>
          <a:bodyPr wrap="square" lIns="0" tIns="0" rIns="0" bIns="0" rtlCol="0"/>
          <a:lstStyle/>
          <a:p>
            <a:endParaRPr/>
          </a:p>
        </p:txBody>
      </p:sp>
      <p:sp>
        <p:nvSpPr>
          <p:cNvPr id="15" name="object 15"/>
          <p:cNvSpPr txBox="1"/>
          <p:nvPr/>
        </p:nvSpPr>
        <p:spPr>
          <a:xfrm>
            <a:off x="5191505" y="2076439"/>
            <a:ext cx="4690745" cy="76962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定时器（容器容量）的计数范围</a:t>
            </a:r>
            <a:endParaRPr sz="2400">
              <a:latin typeface="微软雅黑"/>
              <a:cs typeface="微软雅黑"/>
            </a:endParaRPr>
          </a:p>
          <a:p>
            <a:pPr marL="12700">
              <a:lnSpc>
                <a:spcPct val="100000"/>
              </a:lnSpc>
              <a:spcBef>
                <a:spcPts val="575"/>
              </a:spcBef>
            </a:pPr>
            <a:r>
              <a:rPr sz="2400" b="1" spc="-10" dirty="0">
                <a:latin typeface="微软雅黑"/>
                <a:cs typeface="微软雅黑"/>
              </a:rPr>
              <a:t>16</a:t>
            </a:r>
            <a:r>
              <a:rPr sz="2400" b="1" dirty="0">
                <a:latin typeface="微软雅黑"/>
                <a:cs typeface="微软雅黑"/>
              </a:rPr>
              <a:t>位定时器的最大计数值为</a:t>
            </a:r>
            <a:r>
              <a:rPr sz="2400" b="1" spc="-10" dirty="0">
                <a:latin typeface="微软雅黑"/>
                <a:cs typeface="微软雅黑"/>
              </a:rPr>
              <a:t>65535</a:t>
            </a:r>
            <a:endParaRPr sz="2400">
              <a:latin typeface="微软雅黑"/>
              <a:cs typeface="微软雅黑"/>
            </a:endParaRPr>
          </a:p>
        </p:txBody>
      </p:sp>
      <p:sp>
        <p:nvSpPr>
          <p:cNvPr id="16" name="object 16"/>
          <p:cNvSpPr/>
          <p:nvPr/>
        </p:nvSpPr>
        <p:spPr>
          <a:xfrm>
            <a:off x="3025139" y="1822704"/>
            <a:ext cx="1754505" cy="1202690"/>
          </a:xfrm>
          <a:custGeom>
            <a:avLst/>
            <a:gdLst/>
            <a:ahLst/>
            <a:cxnLst/>
            <a:rect l="l" t="t" r="r" b="b"/>
            <a:pathLst>
              <a:path w="1754504" h="1202689">
                <a:moveTo>
                  <a:pt x="1610740" y="0"/>
                </a:moveTo>
                <a:lnTo>
                  <a:pt x="129169" y="694"/>
                </a:lnTo>
                <a:lnTo>
                  <a:pt x="87871" y="11122"/>
                </a:lnTo>
                <a:lnTo>
                  <a:pt x="52354" y="32556"/>
                </a:lnTo>
                <a:lnTo>
                  <a:pt x="24569" y="63045"/>
                </a:lnTo>
                <a:lnTo>
                  <a:pt x="6467" y="100638"/>
                </a:lnTo>
                <a:lnTo>
                  <a:pt x="0" y="143383"/>
                </a:lnTo>
                <a:lnTo>
                  <a:pt x="683" y="1059053"/>
                </a:lnTo>
                <a:lnTo>
                  <a:pt x="6327" y="1101344"/>
                </a:lnTo>
                <a:lnTo>
                  <a:pt x="24309" y="1139005"/>
                </a:lnTo>
                <a:lnTo>
                  <a:pt x="51997" y="1169584"/>
                </a:lnTo>
                <a:lnTo>
                  <a:pt x="87438" y="1191130"/>
                </a:lnTo>
                <a:lnTo>
                  <a:pt x="128682" y="1201693"/>
                </a:lnTo>
                <a:lnTo>
                  <a:pt x="143383" y="1202436"/>
                </a:lnTo>
                <a:lnTo>
                  <a:pt x="1624954" y="1201741"/>
                </a:lnTo>
                <a:lnTo>
                  <a:pt x="1666252" y="1191313"/>
                </a:lnTo>
                <a:lnTo>
                  <a:pt x="1701769" y="1169879"/>
                </a:lnTo>
                <a:lnTo>
                  <a:pt x="1729554" y="1139390"/>
                </a:lnTo>
                <a:lnTo>
                  <a:pt x="1747656" y="1101797"/>
                </a:lnTo>
                <a:lnTo>
                  <a:pt x="1754124" y="1059053"/>
                </a:lnTo>
                <a:lnTo>
                  <a:pt x="1753440" y="143383"/>
                </a:lnTo>
                <a:lnTo>
                  <a:pt x="1747796" y="101091"/>
                </a:lnTo>
                <a:lnTo>
                  <a:pt x="1729814" y="63430"/>
                </a:lnTo>
                <a:lnTo>
                  <a:pt x="1702126" y="32851"/>
                </a:lnTo>
                <a:lnTo>
                  <a:pt x="1666685" y="11305"/>
                </a:lnTo>
                <a:lnTo>
                  <a:pt x="1625441" y="742"/>
                </a:lnTo>
                <a:lnTo>
                  <a:pt x="1610740" y="0"/>
                </a:lnTo>
                <a:close/>
              </a:path>
            </a:pathLst>
          </a:custGeom>
          <a:solidFill>
            <a:srgbClr val="EC7C30"/>
          </a:solidFill>
        </p:spPr>
        <p:txBody>
          <a:bodyPr wrap="square" lIns="0" tIns="0" rIns="0" bIns="0" rtlCol="0"/>
          <a:lstStyle/>
          <a:p>
            <a:endParaRPr/>
          </a:p>
        </p:txBody>
      </p:sp>
      <p:sp>
        <p:nvSpPr>
          <p:cNvPr id="17" name="object 17"/>
          <p:cNvSpPr txBox="1"/>
          <p:nvPr/>
        </p:nvSpPr>
        <p:spPr>
          <a:xfrm>
            <a:off x="3585209" y="2295895"/>
            <a:ext cx="635000" cy="330200"/>
          </a:xfrm>
          <a:prstGeom prst="rect">
            <a:avLst/>
          </a:prstGeom>
        </p:spPr>
        <p:txBody>
          <a:bodyPr vert="horz" wrap="square" lIns="0" tIns="0" rIns="0" bIns="0" rtlCol="0">
            <a:spAutoFit/>
          </a:bodyPr>
          <a:lstStyle/>
          <a:p>
            <a:pPr marL="12700">
              <a:lnSpc>
                <a:spcPct val="100000"/>
              </a:lnSpc>
            </a:pPr>
            <a:r>
              <a:rPr sz="2400" b="1" dirty="0">
                <a:solidFill>
                  <a:srgbClr val="F1F1F1"/>
                </a:solidFill>
                <a:latin typeface="微软雅黑"/>
                <a:cs typeface="微软雅黑"/>
              </a:rPr>
              <a:t>位宽</a:t>
            </a:r>
            <a:endParaRPr sz="2400">
              <a:latin typeface="微软雅黑"/>
              <a:cs typeface="微软雅黑"/>
            </a:endParaRPr>
          </a:p>
        </p:txBody>
      </p:sp>
      <p:sp>
        <p:nvSpPr>
          <p:cNvPr id="18" name="object 18"/>
          <p:cNvSpPr/>
          <p:nvPr/>
        </p:nvSpPr>
        <p:spPr>
          <a:xfrm>
            <a:off x="3026664" y="3509771"/>
            <a:ext cx="1757680" cy="1193800"/>
          </a:xfrm>
          <a:custGeom>
            <a:avLst/>
            <a:gdLst/>
            <a:ahLst/>
            <a:cxnLst/>
            <a:rect l="l" t="t" r="r" b="b"/>
            <a:pathLst>
              <a:path w="1757679" h="1193800">
                <a:moveTo>
                  <a:pt x="1614932" y="0"/>
                </a:moveTo>
                <a:lnTo>
                  <a:pt x="129878" y="528"/>
                </a:lnTo>
                <a:lnTo>
                  <a:pt x="88410" y="10521"/>
                </a:lnTo>
                <a:lnTo>
                  <a:pt x="52705" y="31672"/>
                </a:lnTo>
                <a:lnTo>
                  <a:pt x="24746" y="61997"/>
                </a:lnTo>
                <a:lnTo>
                  <a:pt x="6517" y="99514"/>
                </a:lnTo>
                <a:lnTo>
                  <a:pt x="0" y="142239"/>
                </a:lnTo>
                <a:lnTo>
                  <a:pt x="528" y="1063413"/>
                </a:lnTo>
                <a:lnTo>
                  <a:pt x="10521" y="1104881"/>
                </a:lnTo>
                <a:lnTo>
                  <a:pt x="31672" y="1140586"/>
                </a:lnTo>
                <a:lnTo>
                  <a:pt x="61997" y="1168545"/>
                </a:lnTo>
                <a:lnTo>
                  <a:pt x="99514" y="1186774"/>
                </a:lnTo>
                <a:lnTo>
                  <a:pt x="142240" y="1193291"/>
                </a:lnTo>
                <a:lnTo>
                  <a:pt x="1627293" y="1192763"/>
                </a:lnTo>
                <a:lnTo>
                  <a:pt x="1668761" y="1182770"/>
                </a:lnTo>
                <a:lnTo>
                  <a:pt x="1704466" y="1161619"/>
                </a:lnTo>
                <a:lnTo>
                  <a:pt x="1732425" y="1131294"/>
                </a:lnTo>
                <a:lnTo>
                  <a:pt x="1750654" y="1093777"/>
                </a:lnTo>
                <a:lnTo>
                  <a:pt x="1757172" y="1051052"/>
                </a:lnTo>
                <a:lnTo>
                  <a:pt x="1756643" y="129878"/>
                </a:lnTo>
                <a:lnTo>
                  <a:pt x="1746650" y="88410"/>
                </a:lnTo>
                <a:lnTo>
                  <a:pt x="1725499" y="52705"/>
                </a:lnTo>
                <a:lnTo>
                  <a:pt x="1695174" y="24746"/>
                </a:lnTo>
                <a:lnTo>
                  <a:pt x="1657657" y="6517"/>
                </a:lnTo>
                <a:lnTo>
                  <a:pt x="1614932" y="0"/>
                </a:lnTo>
                <a:close/>
              </a:path>
            </a:pathLst>
          </a:custGeom>
          <a:solidFill>
            <a:srgbClr val="00AFEF"/>
          </a:solidFill>
        </p:spPr>
        <p:txBody>
          <a:bodyPr wrap="square" lIns="0" tIns="0" rIns="0" bIns="0" rtlCol="0"/>
          <a:lstStyle/>
          <a:p>
            <a:endParaRPr/>
          </a:p>
        </p:txBody>
      </p:sp>
      <p:sp>
        <p:nvSpPr>
          <p:cNvPr id="19" name="object 19"/>
          <p:cNvSpPr txBox="1"/>
          <p:nvPr/>
        </p:nvSpPr>
        <p:spPr>
          <a:xfrm>
            <a:off x="3436111" y="3979026"/>
            <a:ext cx="939800" cy="330200"/>
          </a:xfrm>
          <a:prstGeom prst="rect">
            <a:avLst/>
          </a:prstGeom>
        </p:spPr>
        <p:txBody>
          <a:bodyPr vert="horz" wrap="square" lIns="0" tIns="0" rIns="0" bIns="0" rtlCol="0">
            <a:spAutoFit/>
          </a:bodyPr>
          <a:lstStyle/>
          <a:p>
            <a:pPr marL="12700">
              <a:lnSpc>
                <a:spcPct val="100000"/>
              </a:lnSpc>
            </a:pPr>
            <a:r>
              <a:rPr sz="2400" b="1" dirty="0">
                <a:solidFill>
                  <a:srgbClr val="F1F1F1"/>
                </a:solidFill>
                <a:latin typeface="微软雅黑"/>
                <a:cs typeface="微软雅黑"/>
              </a:rPr>
              <a:t>计数值</a:t>
            </a:r>
            <a:endParaRPr sz="2400">
              <a:latin typeface="微软雅黑"/>
              <a:cs typeface="微软雅黑"/>
            </a:endParaRPr>
          </a:p>
        </p:txBody>
      </p:sp>
      <p:sp>
        <p:nvSpPr>
          <p:cNvPr id="20" name="object 20"/>
          <p:cNvSpPr/>
          <p:nvPr/>
        </p:nvSpPr>
        <p:spPr>
          <a:xfrm>
            <a:off x="2987039" y="5189220"/>
            <a:ext cx="1797050" cy="1181100"/>
          </a:xfrm>
          <a:custGeom>
            <a:avLst/>
            <a:gdLst/>
            <a:ahLst/>
            <a:cxnLst/>
            <a:rect l="l" t="t" r="r" b="b"/>
            <a:pathLst>
              <a:path w="1797050" h="1181100">
                <a:moveTo>
                  <a:pt x="1655952" y="0"/>
                </a:moveTo>
                <a:lnTo>
                  <a:pt x="130751" y="355"/>
                </a:lnTo>
                <a:lnTo>
                  <a:pt x="89070" y="9801"/>
                </a:lnTo>
                <a:lnTo>
                  <a:pt x="53134" y="30594"/>
                </a:lnTo>
                <a:lnTo>
                  <a:pt x="24962" y="60712"/>
                </a:lnTo>
                <a:lnTo>
                  <a:pt x="6577" y="98136"/>
                </a:lnTo>
                <a:lnTo>
                  <a:pt x="0" y="140842"/>
                </a:lnTo>
                <a:lnTo>
                  <a:pt x="352" y="1050346"/>
                </a:lnTo>
                <a:lnTo>
                  <a:pt x="9792" y="1092004"/>
                </a:lnTo>
                <a:lnTo>
                  <a:pt x="30583" y="1127938"/>
                </a:lnTo>
                <a:lnTo>
                  <a:pt x="60703" y="1156119"/>
                </a:lnTo>
                <a:lnTo>
                  <a:pt x="98130" y="1174516"/>
                </a:lnTo>
                <a:lnTo>
                  <a:pt x="140843" y="1181099"/>
                </a:lnTo>
                <a:lnTo>
                  <a:pt x="1666014" y="1180746"/>
                </a:lnTo>
                <a:lnTo>
                  <a:pt x="1707703" y="1171301"/>
                </a:lnTo>
                <a:lnTo>
                  <a:pt x="1743648" y="1150503"/>
                </a:lnTo>
                <a:lnTo>
                  <a:pt x="1771826" y="1120382"/>
                </a:lnTo>
                <a:lnTo>
                  <a:pt x="1790216" y="1082970"/>
                </a:lnTo>
                <a:lnTo>
                  <a:pt x="1796796" y="1040295"/>
                </a:lnTo>
                <a:lnTo>
                  <a:pt x="1796440" y="130751"/>
                </a:lnTo>
                <a:lnTo>
                  <a:pt x="1786994" y="89070"/>
                </a:lnTo>
                <a:lnTo>
                  <a:pt x="1766201" y="53134"/>
                </a:lnTo>
                <a:lnTo>
                  <a:pt x="1736083" y="24962"/>
                </a:lnTo>
                <a:lnTo>
                  <a:pt x="1698659" y="6577"/>
                </a:lnTo>
                <a:lnTo>
                  <a:pt x="1655952" y="0"/>
                </a:lnTo>
                <a:close/>
              </a:path>
            </a:pathLst>
          </a:custGeom>
          <a:solidFill>
            <a:srgbClr val="00AF50"/>
          </a:solidFill>
        </p:spPr>
        <p:txBody>
          <a:bodyPr wrap="square" lIns="0" tIns="0" rIns="0" bIns="0" rtlCol="0"/>
          <a:lstStyle/>
          <a:p>
            <a:endParaRPr/>
          </a:p>
        </p:txBody>
      </p:sp>
      <p:sp>
        <p:nvSpPr>
          <p:cNvPr id="21" name="object 21"/>
          <p:cNvSpPr txBox="1"/>
          <p:nvPr/>
        </p:nvSpPr>
        <p:spPr>
          <a:xfrm>
            <a:off x="3568953" y="5651794"/>
            <a:ext cx="635000" cy="330200"/>
          </a:xfrm>
          <a:prstGeom prst="rect">
            <a:avLst/>
          </a:prstGeom>
        </p:spPr>
        <p:txBody>
          <a:bodyPr vert="horz" wrap="square" lIns="0" tIns="0" rIns="0" bIns="0" rtlCol="0">
            <a:spAutoFit/>
          </a:bodyPr>
          <a:lstStyle/>
          <a:p>
            <a:pPr marL="12700">
              <a:lnSpc>
                <a:spcPct val="100000"/>
              </a:lnSpc>
            </a:pPr>
            <a:r>
              <a:rPr sz="2400" b="1" dirty="0">
                <a:solidFill>
                  <a:srgbClr val="F1F1F1"/>
                </a:solidFill>
                <a:latin typeface="微软雅黑"/>
                <a:cs typeface="微软雅黑"/>
              </a:rPr>
              <a:t>处理</a:t>
            </a:r>
            <a:endParaRPr sz="2400">
              <a:latin typeface="微软雅黑"/>
              <a:cs typeface="微软雅黑"/>
            </a:endParaRPr>
          </a:p>
        </p:txBody>
      </p:sp>
      <p:sp>
        <p:nvSpPr>
          <p:cNvPr id="22" name="object 22"/>
          <p:cNvSpPr/>
          <p:nvPr/>
        </p:nvSpPr>
        <p:spPr>
          <a:xfrm>
            <a:off x="1269491" y="3407664"/>
            <a:ext cx="1339850" cy="1295400"/>
          </a:xfrm>
          <a:custGeom>
            <a:avLst/>
            <a:gdLst/>
            <a:ahLst/>
            <a:cxnLst/>
            <a:rect l="l" t="t" r="r" b="b"/>
            <a:pathLst>
              <a:path w="1339850" h="1295400">
                <a:moveTo>
                  <a:pt x="669797" y="0"/>
                </a:moveTo>
                <a:lnTo>
                  <a:pt x="614859" y="2146"/>
                </a:lnTo>
                <a:lnTo>
                  <a:pt x="561145" y="8476"/>
                </a:lnTo>
                <a:lnTo>
                  <a:pt x="508827" y="18821"/>
                </a:lnTo>
                <a:lnTo>
                  <a:pt x="458077" y="33015"/>
                </a:lnTo>
                <a:lnTo>
                  <a:pt x="409068" y="50893"/>
                </a:lnTo>
                <a:lnTo>
                  <a:pt x="361973" y="72286"/>
                </a:lnTo>
                <a:lnTo>
                  <a:pt x="316962" y="97029"/>
                </a:lnTo>
                <a:lnTo>
                  <a:pt x="274210" y="124955"/>
                </a:lnTo>
                <a:lnTo>
                  <a:pt x="233887" y="155898"/>
                </a:lnTo>
                <a:lnTo>
                  <a:pt x="196167" y="189690"/>
                </a:lnTo>
                <a:lnTo>
                  <a:pt x="161221" y="226165"/>
                </a:lnTo>
                <a:lnTo>
                  <a:pt x="129223" y="265157"/>
                </a:lnTo>
                <a:lnTo>
                  <a:pt x="100343" y="306499"/>
                </a:lnTo>
                <a:lnTo>
                  <a:pt x="74755" y="350025"/>
                </a:lnTo>
                <a:lnTo>
                  <a:pt x="52631" y="395567"/>
                </a:lnTo>
                <a:lnTo>
                  <a:pt x="34143" y="442959"/>
                </a:lnTo>
                <a:lnTo>
                  <a:pt x="19464" y="492035"/>
                </a:lnTo>
                <a:lnTo>
                  <a:pt x="8765" y="542628"/>
                </a:lnTo>
                <a:lnTo>
                  <a:pt x="2220" y="594572"/>
                </a:lnTo>
                <a:lnTo>
                  <a:pt x="0" y="647700"/>
                </a:lnTo>
                <a:lnTo>
                  <a:pt x="2220" y="700827"/>
                </a:lnTo>
                <a:lnTo>
                  <a:pt x="8765" y="752771"/>
                </a:lnTo>
                <a:lnTo>
                  <a:pt x="19464" y="803364"/>
                </a:lnTo>
                <a:lnTo>
                  <a:pt x="34143" y="852440"/>
                </a:lnTo>
                <a:lnTo>
                  <a:pt x="52631" y="899832"/>
                </a:lnTo>
                <a:lnTo>
                  <a:pt x="74755" y="945374"/>
                </a:lnTo>
                <a:lnTo>
                  <a:pt x="100343" y="988900"/>
                </a:lnTo>
                <a:lnTo>
                  <a:pt x="129223" y="1030242"/>
                </a:lnTo>
                <a:lnTo>
                  <a:pt x="161221" y="1069234"/>
                </a:lnTo>
                <a:lnTo>
                  <a:pt x="196167" y="1105709"/>
                </a:lnTo>
                <a:lnTo>
                  <a:pt x="233887" y="1139501"/>
                </a:lnTo>
                <a:lnTo>
                  <a:pt x="274210" y="1170444"/>
                </a:lnTo>
                <a:lnTo>
                  <a:pt x="316962" y="1198370"/>
                </a:lnTo>
                <a:lnTo>
                  <a:pt x="361973" y="1223113"/>
                </a:lnTo>
                <a:lnTo>
                  <a:pt x="409068" y="1244506"/>
                </a:lnTo>
                <a:lnTo>
                  <a:pt x="458077" y="1262384"/>
                </a:lnTo>
                <a:lnTo>
                  <a:pt x="508827" y="1276578"/>
                </a:lnTo>
                <a:lnTo>
                  <a:pt x="561145" y="1286923"/>
                </a:lnTo>
                <a:lnTo>
                  <a:pt x="614859" y="1293253"/>
                </a:lnTo>
                <a:lnTo>
                  <a:pt x="669797" y="1295400"/>
                </a:lnTo>
                <a:lnTo>
                  <a:pt x="724736" y="1293253"/>
                </a:lnTo>
                <a:lnTo>
                  <a:pt x="778450" y="1286923"/>
                </a:lnTo>
                <a:lnTo>
                  <a:pt x="830768" y="1276578"/>
                </a:lnTo>
                <a:lnTo>
                  <a:pt x="881518" y="1262384"/>
                </a:lnTo>
                <a:lnTo>
                  <a:pt x="930527" y="1244506"/>
                </a:lnTo>
                <a:lnTo>
                  <a:pt x="977622" y="1223113"/>
                </a:lnTo>
                <a:lnTo>
                  <a:pt x="1022633" y="1198370"/>
                </a:lnTo>
                <a:lnTo>
                  <a:pt x="1065385" y="1170444"/>
                </a:lnTo>
                <a:lnTo>
                  <a:pt x="1105708" y="1139501"/>
                </a:lnTo>
                <a:lnTo>
                  <a:pt x="1143428" y="1105709"/>
                </a:lnTo>
                <a:lnTo>
                  <a:pt x="1178374" y="1069234"/>
                </a:lnTo>
                <a:lnTo>
                  <a:pt x="1210372" y="1030242"/>
                </a:lnTo>
                <a:lnTo>
                  <a:pt x="1239252" y="988900"/>
                </a:lnTo>
                <a:lnTo>
                  <a:pt x="1264840" y="945374"/>
                </a:lnTo>
                <a:lnTo>
                  <a:pt x="1286964" y="899832"/>
                </a:lnTo>
                <a:lnTo>
                  <a:pt x="1305452" y="852440"/>
                </a:lnTo>
                <a:lnTo>
                  <a:pt x="1320131" y="803364"/>
                </a:lnTo>
                <a:lnTo>
                  <a:pt x="1330830" y="752771"/>
                </a:lnTo>
                <a:lnTo>
                  <a:pt x="1337375" y="700827"/>
                </a:lnTo>
                <a:lnTo>
                  <a:pt x="1339596" y="647700"/>
                </a:lnTo>
                <a:lnTo>
                  <a:pt x="1337375" y="594572"/>
                </a:lnTo>
                <a:lnTo>
                  <a:pt x="1330830" y="542628"/>
                </a:lnTo>
                <a:lnTo>
                  <a:pt x="1320131" y="492035"/>
                </a:lnTo>
                <a:lnTo>
                  <a:pt x="1305452" y="442959"/>
                </a:lnTo>
                <a:lnTo>
                  <a:pt x="1286964" y="395567"/>
                </a:lnTo>
                <a:lnTo>
                  <a:pt x="1264840" y="350025"/>
                </a:lnTo>
                <a:lnTo>
                  <a:pt x="1239252" y="306499"/>
                </a:lnTo>
                <a:lnTo>
                  <a:pt x="1210372" y="265157"/>
                </a:lnTo>
                <a:lnTo>
                  <a:pt x="1178374" y="226165"/>
                </a:lnTo>
                <a:lnTo>
                  <a:pt x="1143428" y="189690"/>
                </a:lnTo>
                <a:lnTo>
                  <a:pt x="1105708" y="155898"/>
                </a:lnTo>
                <a:lnTo>
                  <a:pt x="1065385" y="124955"/>
                </a:lnTo>
                <a:lnTo>
                  <a:pt x="1022633" y="97029"/>
                </a:lnTo>
                <a:lnTo>
                  <a:pt x="977622" y="72286"/>
                </a:lnTo>
                <a:lnTo>
                  <a:pt x="930527" y="50893"/>
                </a:lnTo>
                <a:lnTo>
                  <a:pt x="881518" y="33015"/>
                </a:lnTo>
                <a:lnTo>
                  <a:pt x="830768" y="18821"/>
                </a:lnTo>
                <a:lnTo>
                  <a:pt x="778450" y="8476"/>
                </a:lnTo>
                <a:lnTo>
                  <a:pt x="724736" y="2146"/>
                </a:lnTo>
                <a:lnTo>
                  <a:pt x="669797" y="0"/>
                </a:lnTo>
                <a:close/>
              </a:path>
            </a:pathLst>
          </a:custGeom>
          <a:solidFill>
            <a:srgbClr val="5B9BD4"/>
          </a:solidFill>
        </p:spPr>
        <p:txBody>
          <a:bodyPr wrap="square" lIns="0" tIns="0" rIns="0" bIns="0" rtlCol="0"/>
          <a:lstStyle/>
          <a:p>
            <a:endParaRPr/>
          </a:p>
        </p:txBody>
      </p:sp>
      <p:sp>
        <p:nvSpPr>
          <p:cNvPr id="23" name="object 23"/>
          <p:cNvSpPr txBox="1"/>
          <p:nvPr/>
        </p:nvSpPr>
        <p:spPr>
          <a:xfrm>
            <a:off x="1621916" y="3707891"/>
            <a:ext cx="635000" cy="769620"/>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关注</a:t>
            </a:r>
            <a:endParaRPr sz="2400">
              <a:latin typeface="微软雅黑"/>
              <a:cs typeface="微软雅黑"/>
            </a:endParaRPr>
          </a:p>
          <a:p>
            <a:pPr marL="12700">
              <a:lnSpc>
                <a:spcPct val="100000"/>
              </a:lnSpc>
              <a:spcBef>
                <a:spcPts val="575"/>
              </a:spcBef>
            </a:pPr>
            <a:r>
              <a:rPr sz="2400" b="1" dirty="0">
                <a:solidFill>
                  <a:srgbClr val="FFFFFF"/>
                </a:solidFill>
                <a:latin typeface="微软雅黑"/>
                <a:cs typeface="微软雅黑"/>
              </a:rPr>
              <a:t>问题</a:t>
            </a:r>
            <a:endParaRPr sz="2400">
              <a:latin typeface="微软雅黑"/>
              <a:cs typeface="微软雅黑"/>
            </a:endParaRPr>
          </a:p>
        </p:txBody>
      </p:sp>
      <p:sp>
        <p:nvSpPr>
          <p:cNvPr id="24" name="object 24"/>
          <p:cNvSpPr/>
          <p:nvPr/>
        </p:nvSpPr>
        <p:spPr>
          <a:xfrm>
            <a:off x="5080253" y="3510534"/>
            <a:ext cx="6385560" cy="1193800"/>
          </a:xfrm>
          <a:custGeom>
            <a:avLst/>
            <a:gdLst/>
            <a:ahLst/>
            <a:cxnLst/>
            <a:rect l="l" t="t" r="r" b="b"/>
            <a:pathLst>
              <a:path w="6385559" h="1193800">
                <a:moveTo>
                  <a:pt x="0" y="137286"/>
                </a:moveTo>
                <a:lnTo>
                  <a:pt x="6745" y="94665"/>
                </a:lnTo>
                <a:lnTo>
                  <a:pt x="25556" y="57496"/>
                </a:lnTo>
                <a:lnTo>
                  <a:pt x="54297" y="27915"/>
                </a:lnTo>
                <a:lnTo>
                  <a:pt x="90831" y="8059"/>
                </a:lnTo>
                <a:lnTo>
                  <a:pt x="133022" y="64"/>
                </a:lnTo>
                <a:lnTo>
                  <a:pt x="6248273" y="0"/>
                </a:lnTo>
                <a:lnTo>
                  <a:pt x="6262954" y="775"/>
                </a:lnTo>
                <a:lnTo>
                  <a:pt x="6303995" y="11780"/>
                </a:lnTo>
                <a:lnTo>
                  <a:pt x="6338872" y="34138"/>
                </a:lnTo>
                <a:lnTo>
                  <a:pt x="6365449" y="65714"/>
                </a:lnTo>
                <a:lnTo>
                  <a:pt x="6381588" y="104372"/>
                </a:lnTo>
                <a:lnTo>
                  <a:pt x="6385560" y="1056004"/>
                </a:lnTo>
                <a:lnTo>
                  <a:pt x="6384784" y="1070686"/>
                </a:lnTo>
                <a:lnTo>
                  <a:pt x="6373779" y="1111727"/>
                </a:lnTo>
                <a:lnTo>
                  <a:pt x="6351421" y="1146604"/>
                </a:lnTo>
                <a:lnTo>
                  <a:pt x="6319845" y="1173181"/>
                </a:lnTo>
                <a:lnTo>
                  <a:pt x="6281187" y="1189320"/>
                </a:lnTo>
                <a:lnTo>
                  <a:pt x="137287" y="1193291"/>
                </a:lnTo>
                <a:lnTo>
                  <a:pt x="122605" y="1192516"/>
                </a:lnTo>
                <a:lnTo>
                  <a:pt x="81564" y="1181511"/>
                </a:lnTo>
                <a:lnTo>
                  <a:pt x="46687" y="1159153"/>
                </a:lnTo>
                <a:lnTo>
                  <a:pt x="20110" y="1127577"/>
                </a:lnTo>
                <a:lnTo>
                  <a:pt x="3971" y="1088919"/>
                </a:lnTo>
                <a:lnTo>
                  <a:pt x="0" y="137286"/>
                </a:lnTo>
                <a:close/>
              </a:path>
            </a:pathLst>
          </a:custGeom>
          <a:ln w="28956">
            <a:solidFill>
              <a:srgbClr val="5B9BD4"/>
            </a:solidFill>
          </a:ln>
        </p:spPr>
        <p:txBody>
          <a:bodyPr wrap="square" lIns="0" tIns="0" rIns="0" bIns="0" rtlCol="0"/>
          <a:lstStyle/>
          <a:p>
            <a:endParaRPr/>
          </a:p>
        </p:txBody>
      </p:sp>
      <p:sp>
        <p:nvSpPr>
          <p:cNvPr id="25" name="object 25"/>
          <p:cNvSpPr/>
          <p:nvPr/>
        </p:nvSpPr>
        <p:spPr>
          <a:xfrm>
            <a:off x="5080253" y="5189982"/>
            <a:ext cx="6385560" cy="1193800"/>
          </a:xfrm>
          <a:custGeom>
            <a:avLst/>
            <a:gdLst/>
            <a:ahLst/>
            <a:cxnLst/>
            <a:rect l="l" t="t" r="r" b="b"/>
            <a:pathLst>
              <a:path w="6385559" h="1193800">
                <a:moveTo>
                  <a:pt x="0" y="137287"/>
                </a:moveTo>
                <a:lnTo>
                  <a:pt x="6745" y="94665"/>
                </a:lnTo>
                <a:lnTo>
                  <a:pt x="25556" y="57496"/>
                </a:lnTo>
                <a:lnTo>
                  <a:pt x="54297" y="27915"/>
                </a:lnTo>
                <a:lnTo>
                  <a:pt x="90831" y="8059"/>
                </a:lnTo>
                <a:lnTo>
                  <a:pt x="133022" y="64"/>
                </a:lnTo>
                <a:lnTo>
                  <a:pt x="6248273" y="0"/>
                </a:lnTo>
                <a:lnTo>
                  <a:pt x="6262954" y="775"/>
                </a:lnTo>
                <a:lnTo>
                  <a:pt x="6303995" y="11780"/>
                </a:lnTo>
                <a:lnTo>
                  <a:pt x="6338872" y="34138"/>
                </a:lnTo>
                <a:lnTo>
                  <a:pt x="6365449" y="65714"/>
                </a:lnTo>
                <a:lnTo>
                  <a:pt x="6381588" y="104372"/>
                </a:lnTo>
                <a:lnTo>
                  <a:pt x="6385560" y="1056005"/>
                </a:lnTo>
                <a:lnTo>
                  <a:pt x="6384784" y="1070686"/>
                </a:lnTo>
                <a:lnTo>
                  <a:pt x="6373779" y="1111727"/>
                </a:lnTo>
                <a:lnTo>
                  <a:pt x="6351421" y="1146604"/>
                </a:lnTo>
                <a:lnTo>
                  <a:pt x="6319845" y="1173181"/>
                </a:lnTo>
                <a:lnTo>
                  <a:pt x="6281187" y="1189320"/>
                </a:lnTo>
                <a:lnTo>
                  <a:pt x="137287" y="1193292"/>
                </a:lnTo>
                <a:lnTo>
                  <a:pt x="122605" y="1192516"/>
                </a:lnTo>
                <a:lnTo>
                  <a:pt x="81564" y="1181511"/>
                </a:lnTo>
                <a:lnTo>
                  <a:pt x="46687" y="1159153"/>
                </a:lnTo>
                <a:lnTo>
                  <a:pt x="20110" y="1127577"/>
                </a:lnTo>
                <a:lnTo>
                  <a:pt x="3971" y="1088919"/>
                </a:lnTo>
                <a:lnTo>
                  <a:pt x="0" y="137287"/>
                </a:lnTo>
                <a:close/>
              </a:path>
            </a:pathLst>
          </a:custGeom>
          <a:ln w="28956">
            <a:solidFill>
              <a:srgbClr val="5B9BD4"/>
            </a:solidFill>
          </a:ln>
        </p:spPr>
        <p:txBody>
          <a:bodyPr wrap="square" lIns="0" tIns="0" rIns="0" bIns="0" rtlCol="0"/>
          <a:lstStyle/>
          <a:p>
            <a:endParaRPr/>
          </a:p>
        </p:txBody>
      </p:sp>
      <p:sp>
        <p:nvSpPr>
          <p:cNvPr id="26" name="object 26"/>
          <p:cNvSpPr txBox="1"/>
          <p:nvPr/>
        </p:nvSpPr>
        <p:spPr>
          <a:xfrm>
            <a:off x="5191125" y="5658194"/>
            <a:ext cx="58166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定时器（容器）溢出以后的需要完成的操作</a:t>
            </a:r>
            <a:endParaRPr sz="2400">
              <a:latin typeface="微软雅黑"/>
              <a:cs typeface="微软雅黑"/>
            </a:endParaRPr>
          </a:p>
        </p:txBody>
      </p:sp>
      <p:sp>
        <p:nvSpPr>
          <p:cNvPr id="27" name="object 2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28" name="object 2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29" name="object 2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30" name="object 3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32" name="object 32"/>
          <p:cNvSpPr txBox="1"/>
          <p:nvPr/>
        </p:nvSpPr>
        <p:spPr>
          <a:xfrm>
            <a:off x="5191125" y="3759570"/>
            <a:ext cx="5816600" cy="76962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定时器初值（容器初始已有水滴数）的设置</a:t>
            </a:r>
            <a:endParaRPr sz="2400">
              <a:latin typeface="微软雅黑"/>
              <a:cs typeface="微软雅黑"/>
            </a:endParaRPr>
          </a:p>
          <a:p>
            <a:pPr marL="12700">
              <a:lnSpc>
                <a:spcPct val="100000"/>
              </a:lnSpc>
              <a:spcBef>
                <a:spcPts val="575"/>
              </a:spcBef>
            </a:pPr>
            <a:r>
              <a:rPr sz="2400" b="1" spc="-5" dirty="0">
                <a:latin typeface="微软雅黑"/>
                <a:cs typeface="微软雅黑"/>
              </a:rPr>
              <a:t>定时器终值（容器溢出时的水滴数）的设置</a:t>
            </a:r>
            <a:endParaRPr sz="2400">
              <a:latin typeface="微软雅黑"/>
              <a:cs typeface="微软雅黑"/>
            </a:endParaRPr>
          </a:p>
        </p:txBody>
      </p:sp>
      <p:sp>
        <p:nvSpPr>
          <p:cNvPr id="33" name="object 3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34" name="object 34"/>
          <p:cNvSpPr txBox="1"/>
          <p:nvPr/>
        </p:nvSpPr>
        <p:spPr>
          <a:xfrm>
            <a:off x="4174616" y="1200079"/>
            <a:ext cx="4641850" cy="381000"/>
          </a:xfrm>
          <a:prstGeom prst="rect">
            <a:avLst/>
          </a:prstGeom>
        </p:spPr>
        <p:txBody>
          <a:bodyPr vert="horz" wrap="square" lIns="0" tIns="0" rIns="0" bIns="0" rtlCol="0">
            <a:spAutoFit/>
          </a:bodyPr>
          <a:lstStyle/>
          <a:p>
            <a:pPr marL="12700">
              <a:lnSpc>
                <a:spcPct val="100000"/>
              </a:lnSpc>
            </a:pPr>
            <a:r>
              <a:rPr sz="2800" b="1" spc="-5" dirty="0">
                <a:solidFill>
                  <a:srgbClr val="252525"/>
                </a:solidFill>
                <a:latin typeface="微软雅黑"/>
                <a:cs typeface="微软雅黑"/>
              </a:rPr>
              <a:t>定时器使用所关注的三个问题</a:t>
            </a:r>
            <a:endParaRPr sz="2800">
              <a:latin typeface="微软雅黑"/>
              <a:cs typeface="微软雅黑"/>
            </a:endParaRPr>
          </a:p>
        </p:txBody>
      </p:sp>
    </p:spTree>
    <p:extLst>
      <p:ext uri="{BB962C8B-B14F-4D97-AF65-F5344CB8AC3E}">
        <p14:creationId xmlns:p14="http://schemas.microsoft.com/office/powerpoint/2010/main" val="1936676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txBox="1"/>
          <p:nvPr/>
        </p:nvSpPr>
        <p:spPr>
          <a:xfrm>
            <a:off x="366775" y="1159381"/>
            <a:ext cx="12446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两个概念</a:t>
            </a:r>
            <a:endParaRPr sz="2400">
              <a:latin typeface="微软雅黑"/>
              <a:cs typeface="微软雅黑"/>
            </a:endParaRPr>
          </a:p>
        </p:txBody>
      </p:sp>
      <p:sp>
        <p:nvSpPr>
          <p:cNvPr id="9" name="object 9"/>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0" name="object 10"/>
          <p:cNvSpPr/>
          <p:nvPr/>
        </p:nvSpPr>
        <p:spPr>
          <a:xfrm>
            <a:off x="791718" y="2084070"/>
            <a:ext cx="10610215" cy="1262380"/>
          </a:xfrm>
          <a:custGeom>
            <a:avLst/>
            <a:gdLst/>
            <a:ahLst/>
            <a:cxnLst/>
            <a:rect l="l" t="t" r="r" b="b"/>
            <a:pathLst>
              <a:path w="10610215" h="1262379">
                <a:moveTo>
                  <a:pt x="0" y="1261872"/>
                </a:moveTo>
                <a:lnTo>
                  <a:pt x="10610088" y="1261872"/>
                </a:lnTo>
                <a:lnTo>
                  <a:pt x="10610088" y="0"/>
                </a:lnTo>
                <a:lnTo>
                  <a:pt x="0" y="0"/>
                </a:lnTo>
                <a:lnTo>
                  <a:pt x="0" y="1261872"/>
                </a:lnTo>
                <a:close/>
              </a:path>
            </a:pathLst>
          </a:custGeom>
          <a:ln w="38099">
            <a:solidFill>
              <a:srgbClr val="E34A46"/>
            </a:solidFill>
          </a:ln>
        </p:spPr>
        <p:txBody>
          <a:bodyPr wrap="square" lIns="0" tIns="0" rIns="0" bIns="0" rtlCol="0"/>
          <a:lstStyle/>
          <a:p>
            <a:endParaRPr/>
          </a:p>
        </p:txBody>
      </p:sp>
      <p:sp>
        <p:nvSpPr>
          <p:cNvPr id="11" name="object 11"/>
          <p:cNvSpPr/>
          <p:nvPr/>
        </p:nvSpPr>
        <p:spPr>
          <a:xfrm>
            <a:off x="4968240" y="1702307"/>
            <a:ext cx="2255520" cy="640080"/>
          </a:xfrm>
          <a:custGeom>
            <a:avLst/>
            <a:gdLst/>
            <a:ahLst/>
            <a:cxnLst/>
            <a:rect l="l" t="t" r="r" b="b"/>
            <a:pathLst>
              <a:path w="2255520" h="640080">
                <a:moveTo>
                  <a:pt x="0" y="640079"/>
                </a:moveTo>
                <a:lnTo>
                  <a:pt x="2255519" y="640079"/>
                </a:lnTo>
                <a:lnTo>
                  <a:pt x="2255519" y="0"/>
                </a:lnTo>
                <a:lnTo>
                  <a:pt x="0" y="0"/>
                </a:lnTo>
                <a:lnTo>
                  <a:pt x="0" y="640079"/>
                </a:lnTo>
                <a:close/>
              </a:path>
            </a:pathLst>
          </a:custGeom>
          <a:solidFill>
            <a:srgbClr val="E34A46"/>
          </a:solidFill>
        </p:spPr>
        <p:txBody>
          <a:bodyPr wrap="square" lIns="0" tIns="0" rIns="0" bIns="0" rtlCol="0"/>
          <a:lstStyle/>
          <a:p>
            <a:endParaRPr/>
          </a:p>
        </p:txBody>
      </p:sp>
      <p:sp>
        <p:nvSpPr>
          <p:cNvPr id="12" name="object 12"/>
          <p:cNvSpPr/>
          <p:nvPr/>
        </p:nvSpPr>
        <p:spPr>
          <a:xfrm>
            <a:off x="4968240" y="1702307"/>
            <a:ext cx="2255520" cy="640080"/>
          </a:xfrm>
          <a:custGeom>
            <a:avLst/>
            <a:gdLst/>
            <a:ahLst/>
            <a:cxnLst/>
            <a:rect l="l" t="t" r="r" b="b"/>
            <a:pathLst>
              <a:path w="2255520" h="640080">
                <a:moveTo>
                  <a:pt x="0" y="640079"/>
                </a:moveTo>
                <a:lnTo>
                  <a:pt x="2255519" y="640079"/>
                </a:lnTo>
                <a:lnTo>
                  <a:pt x="2255519" y="0"/>
                </a:lnTo>
                <a:lnTo>
                  <a:pt x="0" y="0"/>
                </a:lnTo>
                <a:lnTo>
                  <a:pt x="0" y="640079"/>
                </a:lnTo>
                <a:close/>
              </a:path>
            </a:pathLst>
          </a:custGeom>
          <a:ln w="12192">
            <a:solidFill>
              <a:srgbClr val="E34A46"/>
            </a:solidFill>
          </a:ln>
        </p:spPr>
        <p:txBody>
          <a:bodyPr wrap="square" lIns="0" tIns="0" rIns="0" bIns="0" rtlCol="0"/>
          <a:lstStyle/>
          <a:p>
            <a:endParaRPr/>
          </a:p>
        </p:txBody>
      </p:sp>
      <p:sp>
        <p:nvSpPr>
          <p:cNvPr id="13" name="object 13"/>
          <p:cNvSpPr txBox="1"/>
          <p:nvPr/>
        </p:nvSpPr>
        <p:spPr>
          <a:xfrm>
            <a:off x="5372861" y="1853240"/>
            <a:ext cx="1445895" cy="381000"/>
          </a:xfrm>
          <a:prstGeom prst="rect">
            <a:avLst/>
          </a:prstGeom>
        </p:spPr>
        <p:txBody>
          <a:bodyPr vert="horz" wrap="square" lIns="0" tIns="0" rIns="0" bIns="0" rtlCol="0">
            <a:spAutoFit/>
          </a:bodyPr>
          <a:lstStyle/>
          <a:p>
            <a:pPr marL="12700">
              <a:lnSpc>
                <a:spcPct val="100000"/>
              </a:lnSpc>
            </a:pPr>
            <a:r>
              <a:rPr sz="2800" b="1" spc="-5" dirty="0">
                <a:solidFill>
                  <a:srgbClr val="FFFFFF"/>
                </a:solidFill>
                <a:latin typeface="微软雅黑"/>
                <a:cs typeface="微软雅黑"/>
              </a:rPr>
              <a:t>时钟频率</a:t>
            </a:r>
            <a:endParaRPr sz="2800">
              <a:latin typeface="微软雅黑"/>
              <a:cs typeface="微软雅黑"/>
            </a:endParaRPr>
          </a:p>
        </p:txBody>
      </p:sp>
      <p:sp>
        <p:nvSpPr>
          <p:cNvPr id="14" name="object 14"/>
          <p:cNvSpPr/>
          <p:nvPr/>
        </p:nvSpPr>
        <p:spPr>
          <a:xfrm>
            <a:off x="791718" y="3986021"/>
            <a:ext cx="10610215" cy="1198245"/>
          </a:xfrm>
          <a:custGeom>
            <a:avLst/>
            <a:gdLst/>
            <a:ahLst/>
            <a:cxnLst/>
            <a:rect l="l" t="t" r="r" b="b"/>
            <a:pathLst>
              <a:path w="10610215" h="1198245">
                <a:moveTo>
                  <a:pt x="0" y="1197864"/>
                </a:moveTo>
                <a:lnTo>
                  <a:pt x="10610088" y="1197864"/>
                </a:lnTo>
                <a:lnTo>
                  <a:pt x="10610088" y="0"/>
                </a:lnTo>
                <a:lnTo>
                  <a:pt x="0" y="0"/>
                </a:lnTo>
                <a:lnTo>
                  <a:pt x="0" y="1197864"/>
                </a:lnTo>
                <a:close/>
              </a:path>
            </a:pathLst>
          </a:custGeom>
          <a:ln w="38100">
            <a:solidFill>
              <a:srgbClr val="E34A46"/>
            </a:solidFill>
          </a:ln>
        </p:spPr>
        <p:txBody>
          <a:bodyPr wrap="square" lIns="0" tIns="0" rIns="0" bIns="0" rtlCol="0"/>
          <a:lstStyle/>
          <a:p>
            <a:endParaRPr/>
          </a:p>
        </p:txBody>
      </p:sp>
      <p:sp>
        <p:nvSpPr>
          <p:cNvPr id="15" name="object 15"/>
          <p:cNvSpPr/>
          <p:nvPr/>
        </p:nvSpPr>
        <p:spPr>
          <a:xfrm>
            <a:off x="4968240" y="3604259"/>
            <a:ext cx="2255520" cy="638810"/>
          </a:xfrm>
          <a:custGeom>
            <a:avLst/>
            <a:gdLst/>
            <a:ahLst/>
            <a:cxnLst/>
            <a:rect l="l" t="t" r="r" b="b"/>
            <a:pathLst>
              <a:path w="2255520" h="638810">
                <a:moveTo>
                  <a:pt x="0" y="638556"/>
                </a:moveTo>
                <a:lnTo>
                  <a:pt x="2255519" y="638556"/>
                </a:lnTo>
                <a:lnTo>
                  <a:pt x="2255519" y="0"/>
                </a:lnTo>
                <a:lnTo>
                  <a:pt x="0" y="0"/>
                </a:lnTo>
                <a:lnTo>
                  <a:pt x="0" y="638556"/>
                </a:lnTo>
                <a:close/>
              </a:path>
            </a:pathLst>
          </a:custGeom>
          <a:solidFill>
            <a:srgbClr val="E34A46"/>
          </a:solidFill>
        </p:spPr>
        <p:txBody>
          <a:bodyPr wrap="square" lIns="0" tIns="0" rIns="0" bIns="0" rtlCol="0"/>
          <a:lstStyle/>
          <a:p>
            <a:endParaRPr/>
          </a:p>
        </p:txBody>
      </p:sp>
      <p:sp>
        <p:nvSpPr>
          <p:cNvPr id="16" name="object 16"/>
          <p:cNvSpPr/>
          <p:nvPr/>
        </p:nvSpPr>
        <p:spPr>
          <a:xfrm>
            <a:off x="4968240" y="3604259"/>
            <a:ext cx="2255520" cy="638810"/>
          </a:xfrm>
          <a:custGeom>
            <a:avLst/>
            <a:gdLst/>
            <a:ahLst/>
            <a:cxnLst/>
            <a:rect l="l" t="t" r="r" b="b"/>
            <a:pathLst>
              <a:path w="2255520" h="638810">
                <a:moveTo>
                  <a:pt x="0" y="638556"/>
                </a:moveTo>
                <a:lnTo>
                  <a:pt x="2255519" y="638556"/>
                </a:lnTo>
                <a:lnTo>
                  <a:pt x="2255519" y="0"/>
                </a:lnTo>
                <a:lnTo>
                  <a:pt x="0" y="0"/>
                </a:lnTo>
                <a:lnTo>
                  <a:pt x="0" y="638556"/>
                </a:lnTo>
                <a:close/>
              </a:path>
            </a:pathLst>
          </a:custGeom>
          <a:ln w="12192">
            <a:solidFill>
              <a:srgbClr val="E34A46"/>
            </a:solidFill>
          </a:ln>
        </p:spPr>
        <p:txBody>
          <a:bodyPr wrap="square" lIns="0" tIns="0" rIns="0" bIns="0" rtlCol="0"/>
          <a:lstStyle/>
          <a:p>
            <a:endParaRPr/>
          </a:p>
        </p:txBody>
      </p:sp>
      <p:sp>
        <p:nvSpPr>
          <p:cNvPr id="17" name="object 17"/>
          <p:cNvSpPr/>
          <p:nvPr/>
        </p:nvSpPr>
        <p:spPr>
          <a:xfrm>
            <a:off x="8782050" y="2974085"/>
            <a:ext cx="3138170" cy="1540510"/>
          </a:xfrm>
          <a:custGeom>
            <a:avLst/>
            <a:gdLst/>
            <a:ahLst/>
            <a:cxnLst/>
            <a:rect l="l" t="t" r="r" b="b"/>
            <a:pathLst>
              <a:path w="3138170" h="1540510">
                <a:moveTo>
                  <a:pt x="1307465" y="1261871"/>
                </a:moveTo>
                <a:lnTo>
                  <a:pt x="522985" y="1261871"/>
                </a:lnTo>
                <a:lnTo>
                  <a:pt x="413511" y="1540383"/>
                </a:lnTo>
                <a:lnTo>
                  <a:pt x="1307465" y="1261871"/>
                </a:lnTo>
                <a:close/>
              </a:path>
              <a:path w="3138170" h="1540510">
                <a:moveTo>
                  <a:pt x="2927604" y="0"/>
                </a:moveTo>
                <a:lnTo>
                  <a:pt x="210311" y="0"/>
                </a:lnTo>
                <a:lnTo>
                  <a:pt x="193055" y="696"/>
                </a:lnTo>
                <a:lnTo>
                  <a:pt x="143816" y="10716"/>
                </a:lnTo>
                <a:lnTo>
                  <a:pt x="99505" y="31496"/>
                </a:lnTo>
                <a:lnTo>
                  <a:pt x="61579" y="61579"/>
                </a:lnTo>
                <a:lnTo>
                  <a:pt x="31496" y="99505"/>
                </a:lnTo>
                <a:lnTo>
                  <a:pt x="10716" y="143816"/>
                </a:lnTo>
                <a:lnTo>
                  <a:pt x="696" y="193055"/>
                </a:lnTo>
                <a:lnTo>
                  <a:pt x="0" y="210312"/>
                </a:lnTo>
                <a:lnTo>
                  <a:pt x="0" y="1051559"/>
                </a:lnTo>
                <a:lnTo>
                  <a:pt x="6109" y="1102117"/>
                </a:lnTo>
                <a:lnTo>
                  <a:pt x="23464" y="1148233"/>
                </a:lnTo>
                <a:lnTo>
                  <a:pt x="50608" y="1188450"/>
                </a:lnTo>
                <a:lnTo>
                  <a:pt x="86081" y="1221309"/>
                </a:lnTo>
                <a:lnTo>
                  <a:pt x="128426" y="1245352"/>
                </a:lnTo>
                <a:lnTo>
                  <a:pt x="176185" y="1259120"/>
                </a:lnTo>
                <a:lnTo>
                  <a:pt x="210311" y="1261871"/>
                </a:lnTo>
                <a:lnTo>
                  <a:pt x="2927604" y="1261871"/>
                </a:lnTo>
                <a:lnTo>
                  <a:pt x="2978161" y="1255762"/>
                </a:lnTo>
                <a:lnTo>
                  <a:pt x="3024277" y="1238407"/>
                </a:lnTo>
                <a:lnTo>
                  <a:pt x="3064494" y="1211263"/>
                </a:lnTo>
                <a:lnTo>
                  <a:pt x="3097353" y="1175790"/>
                </a:lnTo>
                <a:lnTo>
                  <a:pt x="3121396" y="1133445"/>
                </a:lnTo>
                <a:lnTo>
                  <a:pt x="3135164" y="1085686"/>
                </a:lnTo>
                <a:lnTo>
                  <a:pt x="3137916" y="1051559"/>
                </a:lnTo>
                <a:lnTo>
                  <a:pt x="3137916" y="210312"/>
                </a:lnTo>
                <a:lnTo>
                  <a:pt x="3131806" y="159754"/>
                </a:lnTo>
                <a:lnTo>
                  <a:pt x="3114451" y="113638"/>
                </a:lnTo>
                <a:lnTo>
                  <a:pt x="3087307" y="73421"/>
                </a:lnTo>
                <a:lnTo>
                  <a:pt x="3051834" y="40562"/>
                </a:lnTo>
                <a:lnTo>
                  <a:pt x="3009489" y="16519"/>
                </a:lnTo>
                <a:lnTo>
                  <a:pt x="2961730" y="2751"/>
                </a:lnTo>
                <a:lnTo>
                  <a:pt x="2927604" y="0"/>
                </a:lnTo>
                <a:close/>
              </a:path>
            </a:pathLst>
          </a:custGeom>
          <a:solidFill>
            <a:srgbClr val="FFFFC7"/>
          </a:solidFill>
        </p:spPr>
        <p:txBody>
          <a:bodyPr wrap="square" lIns="0" tIns="0" rIns="0" bIns="0" rtlCol="0"/>
          <a:lstStyle/>
          <a:p>
            <a:endParaRPr/>
          </a:p>
        </p:txBody>
      </p:sp>
      <p:sp>
        <p:nvSpPr>
          <p:cNvPr id="18" name="object 18"/>
          <p:cNvSpPr/>
          <p:nvPr/>
        </p:nvSpPr>
        <p:spPr>
          <a:xfrm>
            <a:off x="8782050" y="2974085"/>
            <a:ext cx="3138170" cy="1540510"/>
          </a:xfrm>
          <a:custGeom>
            <a:avLst/>
            <a:gdLst/>
            <a:ahLst/>
            <a:cxnLst/>
            <a:rect l="l" t="t" r="r" b="b"/>
            <a:pathLst>
              <a:path w="3138170" h="1540510">
                <a:moveTo>
                  <a:pt x="0" y="210312"/>
                </a:moveTo>
                <a:lnTo>
                  <a:pt x="6109" y="159754"/>
                </a:lnTo>
                <a:lnTo>
                  <a:pt x="23464" y="113638"/>
                </a:lnTo>
                <a:lnTo>
                  <a:pt x="50608" y="73421"/>
                </a:lnTo>
                <a:lnTo>
                  <a:pt x="86081" y="40562"/>
                </a:lnTo>
                <a:lnTo>
                  <a:pt x="128426" y="16519"/>
                </a:lnTo>
                <a:lnTo>
                  <a:pt x="176185" y="2751"/>
                </a:lnTo>
                <a:lnTo>
                  <a:pt x="210311" y="0"/>
                </a:lnTo>
                <a:lnTo>
                  <a:pt x="522985" y="0"/>
                </a:lnTo>
                <a:lnTo>
                  <a:pt x="1307465" y="0"/>
                </a:lnTo>
                <a:lnTo>
                  <a:pt x="2927604" y="0"/>
                </a:lnTo>
                <a:lnTo>
                  <a:pt x="2944860" y="696"/>
                </a:lnTo>
                <a:lnTo>
                  <a:pt x="2994099" y="10716"/>
                </a:lnTo>
                <a:lnTo>
                  <a:pt x="3038410" y="31496"/>
                </a:lnTo>
                <a:lnTo>
                  <a:pt x="3076336" y="61579"/>
                </a:lnTo>
                <a:lnTo>
                  <a:pt x="3106419" y="99505"/>
                </a:lnTo>
                <a:lnTo>
                  <a:pt x="3127199" y="143816"/>
                </a:lnTo>
                <a:lnTo>
                  <a:pt x="3137219" y="193055"/>
                </a:lnTo>
                <a:lnTo>
                  <a:pt x="3137916" y="210312"/>
                </a:lnTo>
                <a:lnTo>
                  <a:pt x="3137916" y="736091"/>
                </a:lnTo>
                <a:lnTo>
                  <a:pt x="3137916" y="1051559"/>
                </a:lnTo>
                <a:lnTo>
                  <a:pt x="3137219" y="1068816"/>
                </a:lnTo>
                <a:lnTo>
                  <a:pt x="3135164" y="1085686"/>
                </a:lnTo>
                <a:lnTo>
                  <a:pt x="3121396" y="1133445"/>
                </a:lnTo>
                <a:lnTo>
                  <a:pt x="3097353" y="1175790"/>
                </a:lnTo>
                <a:lnTo>
                  <a:pt x="3064494" y="1211263"/>
                </a:lnTo>
                <a:lnTo>
                  <a:pt x="3024277" y="1238407"/>
                </a:lnTo>
                <a:lnTo>
                  <a:pt x="2978161" y="1255762"/>
                </a:lnTo>
                <a:lnTo>
                  <a:pt x="2927604" y="1261871"/>
                </a:lnTo>
                <a:lnTo>
                  <a:pt x="1307465" y="1261871"/>
                </a:lnTo>
                <a:lnTo>
                  <a:pt x="413511" y="1540383"/>
                </a:lnTo>
                <a:lnTo>
                  <a:pt x="522985" y="1261871"/>
                </a:lnTo>
                <a:lnTo>
                  <a:pt x="210311" y="1261871"/>
                </a:lnTo>
                <a:lnTo>
                  <a:pt x="193055" y="1261175"/>
                </a:lnTo>
                <a:lnTo>
                  <a:pt x="143816" y="1251155"/>
                </a:lnTo>
                <a:lnTo>
                  <a:pt x="99505" y="1230375"/>
                </a:lnTo>
                <a:lnTo>
                  <a:pt x="61579" y="1200292"/>
                </a:lnTo>
                <a:lnTo>
                  <a:pt x="31496" y="1162366"/>
                </a:lnTo>
                <a:lnTo>
                  <a:pt x="10716" y="1118055"/>
                </a:lnTo>
                <a:lnTo>
                  <a:pt x="696" y="1068816"/>
                </a:lnTo>
                <a:lnTo>
                  <a:pt x="0" y="1051559"/>
                </a:lnTo>
                <a:lnTo>
                  <a:pt x="0" y="736091"/>
                </a:lnTo>
                <a:lnTo>
                  <a:pt x="0" y="210312"/>
                </a:lnTo>
                <a:close/>
              </a:path>
            </a:pathLst>
          </a:custGeom>
          <a:ln w="28956">
            <a:solidFill>
              <a:srgbClr val="000000"/>
            </a:solidFill>
          </a:ln>
        </p:spPr>
        <p:txBody>
          <a:bodyPr wrap="square" lIns="0" tIns="0" rIns="0" bIns="0" rtlCol="0"/>
          <a:lstStyle/>
          <a:p>
            <a:endParaRPr/>
          </a:p>
        </p:txBody>
      </p:sp>
      <p:sp>
        <p:nvSpPr>
          <p:cNvPr id="19" name="object 19"/>
          <p:cNvSpPr txBox="1"/>
          <p:nvPr/>
        </p:nvSpPr>
        <p:spPr>
          <a:xfrm>
            <a:off x="1245819" y="2681213"/>
            <a:ext cx="10487660" cy="1124585"/>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在定时器模式下，送入定时器的周期性时钟信号的频率</a:t>
            </a:r>
            <a:endParaRPr sz="2400">
              <a:latin typeface="微软雅黑"/>
              <a:cs typeface="微软雅黑"/>
            </a:endParaRPr>
          </a:p>
          <a:p>
            <a:pPr marL="7689850" marR="5080" algn="r">
              <a:lnSpc>
                <a:spcPct val="100000"/>
              </a:lnSpc>
              <a:spcBef>
                <a:spcPts val="350"/>
              </a:spcBef>
            </a:pPr>
            <a:r>
              <a:rPr sz="2400" b="1" dirty="0">
                <a:latin typeface="宋体"/>
                <a:cs typeface="宋体"/>
              </a:rPr>
              <a:t>假设计数单元在</a:t>
            </a:r>
            <a:r>
              <a:rPr sz="2400" b="1" spc="-5" dirty="0">
                <a:latin typeface="Consolas"/>
                <a:cs typeface="Consolas"/>
              </a:rPr>
              <a:t>1s</a:t>
            </a:r>
            <a:r>
              <a:rPr sz="2400" b="1" spc="-10" dirty="0">
                <a:latin typeface="宋体"/>
                <a:cs typeface="宋体"/>
              </a:rPr>
              <a:t>内 </a:t>
            </a:r>
            <a:r>
              <a:rPr sz="2400" b="1" dirty="0">
                <a:latin typeface="宋体"/>
                <a:cs typeface="宋体"/>
              </a:rPr>
              <a:t>计数</a:t>
            </a:r>
            <a:r>
              <a:rPr sz="2400" b="1" spc="-5" dirty="0">
                <a:latin typeface="Consolas"/>
                <a:cs typeface="Consolas"/>
              </a:rPr>
              <a:t>1000000</a:t>
            </a:r>
            <a:r>
              <a:rPr sz="2400" b="1" dirty="0">
                <a:latin typeface="宋体"/>
                <a:cs typeface="宋体"/>
              </a:rPr>
              <a:t>次，则</a:t>
            </a:r>
            <a:endParaRPr sz="2400">
              <a:latin typeface="宋体"/>
              <a:cs typeface="宋体"/>
            </a:endParaRPr>
          </a:p>
        </p:txBody>
      </p:sp>
      <p:sp>
        <p:nvSpPr>
          <p:cNvPr id="20" name="object 20"/>
          <p:cNvSpPr txBox="1"/>
          <p:nvPr/>
        </p:nvSpPr>
        <p:spPr>
          <a:xfrm>
            <a:off x="5372861" y="3755192"/>
            <a:ext cx="1445895" cy="381000"/>
          </a:xfrm>
          <a:prstGeom prst="rect">
            <a:avLst/>
          </a:prstGeom>
        </p:spPr>
        <p:txBody>
          <a:bodyPr vert="horz" wrap="square" lIns="0" tIns="0" rIns="0" bIns="0" rtlCol="0">
            <a:spAutoFit/>
          </a:bodyPr>
          <a:lstStyle/>
          <a:p>
            <a:pPr marL="12700">
              <a:lnSpc>
                <a:spcPct val="100000"/>
              </a:lnSpc>
            </a:pPr>
            <a:r>
              <a:rPr sz="2800" b="1" spc="-5" dirty="0">
                <a:solidFill>
                  <a:srgbClr val="FFFFFF"/>
                </a:solidFill>
                <a:latin typeface="微软雅黑"/>
                <a:cs typeface="微软雅黑"/>
              </a:rPr>
              <a:t>计数时间</a:t>
            </a:r>
            <a:endParaRPr sz="2800">
              <a:latin typeface="微软雅黑"/>
              <a:cs typeface="微软雅黑"/>
            </a:endParaRPr>
          </a:p>
        </p:txBody>
      </p:sp>
      <p:sp>
        <p:nvSpPr>
          <p:cNvPr id="21" name="object 21"/>
          <p:cNvSpPr txBox="1"/>
          <p:nvPr/>
        </p:nvSpPr>
        <p:spPr>
          <a:xfrm>
            <a:off x="1245819" y="4583165"/>
            <a:ext cx="97790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在定时器模式下，计数单元记一次数所花费的时间，它是时钟频率的倒数</a:t>
            </a:r>
            <a:endParaRPr sz="2400">
              <a:latin typeface="微软雅黑"/>
              <a:cs typeface="微软雅黑"/>
            </a:endParaRPr>
          </a:p>
        </p:txBody>
      </p:sp>
      <p:sp>
        <p:nvSpPr>
          <p:cNvPr id="22" name="object 22"/>
          <p:cNvSpPr txBox="1">
            <a:spLocks noGrp="1"/>
          </p:cNvSpPr>
          <p:nvPr>
            <p:ph type="title"/>
          </p:nvPr>
        </p:nvSpPr>
        <p:spPr>
          <a:prstGeom prst="rect">
            <a:avLst/>
          </a:prstGeom>
        </p:spPr>
        <p:txBody>
          <a:bodyPr vert="horz" wrap="square" lIns="0" tIns="0" rIns="0" bIns="0" rtlCol="0">
            <a:spAutoFit/>
          </a:bodyPr>
          <a:lstStyle/>
          <a:p>
            <a:pPr marL="4227830">
              <a:lnSpc>
                <a:spcPct val="100000"/>
              </a:lnSpc>
            </a:pPr>
            <a:r>
              <a:rPr spc="-5" dirty="0">
                <a:solidFill>
                  <a:srgbClr val="252525"/>
                </a:solidFill>
              </a:rPr>
              <a:t>定时器模式的两个概念</a:t>
            </a:r>
          </a:p>
        </p:txBody>
      </p:sp>
      <p:sp>
        <p:nvSpPr>
          <p:cNvPr id="23" name="object 23"/>
          <p:cNvSpPr txBox="1"/>
          <p:nvPr/>
        </p:nvSpPr>
        <p:spPr>
          <a:xfrm>
            <a:off x="8923146" y="3805483"/>
            <a:ext cx="2060575" cy="366395"/>
          </a:xfrm>
          <a:prstGeom prst="rect">
            <a:avLst/>
          </a:prstGeom>
        </p:spPr>
        <p:txBody>
          <a:bodyPr vert="horz" wrap="square" lIns="0" tIns="0" rIns="0" bIns="0" rtlCol="0">
            <a:spAutoFit/>
          </a:bodyPr>
          <a:lstStyle/>
          <a:p>
            <a:pPr marL="12700">
              <a:lnSpc>
                <a:spcPct val="100000"/>
              </a:lnSpc>
            </a:pPr>
            <a:r>
              <a:rPr sz="2400" b="1" spc="-5" dirty="0">
                <a:latin typeface="宋体"/>
                <a:cs typeface="宋体"/>
              </a:rPr>
              <a:t>计数时间</a:t>
            </a:r>
            <a:r>
              <a:rPr sz="2400" b="1" dirty="0">
                <a:latin typeface="宋体"/>
                <a:cs typeface="宋体"/>
              </a:rPr>
              <a:t>为</a:t>
            </a:r>
            <a:r>
              <a:rPr sz="2400" b="1" spc="-5" dirty="0">
                <a:latin typeface="Consolas"/>
                <a:cs typeface="Consolas"/>
              </a:rPr>
              <a:t>1us</a:t>
            </a:r>
            <a:endParaRPr sz="2400">
              <a:latin typeface="Consolas"/>
              <a:cs typeface="Consolas"/>
            </a:endParaRPr>
          </a:p>
        </p:txBody>
      </p:sp>
      <p:sp>
        <p:nvSpPr>
          <p:cNvPr id="24" name="object 24"/>
          <p:cNvSpPr txBox="1"/>
          <p:nvPr/>
        </p:nvSpPr>
        <p:spPr>
          <a:xfrm>
            <a:off x="5395721" y="5476494"/>
            <a:ext cx="4528185" cy="1134110"/>
          </a:xfrm>
          <a:prstGeom prst="rect">
            <a:avLst/>
          </a:prstGeom>
          <a:ln w="38099">
            <a:solidFill>
              <a:srgbClr val="C71F1F"/>
            </a:solidFill>
          </a:ln>
        </p:spPr>
        <p:txBody>
          <a:bodyPr vert="horz" wrap="square" lIns="0" tIns="0" rIns="0" bIns="0" rtlCol="0">
            <a:spAutoFit/>
          </a:bodyPr>
          <a:lstStyle/>
          <a:p>
            <a:pPr marL="196850">
              <a:lnSpc>
                <a:spcPct val="100000"/>
              </a:lnSpc>
            </a:pPr>
            <a:r>
              <a:rPr sz="2400" b="1" dirty="0">
                <a:latin typeface="微软雅黑"/>
                <a:cs typeface="微软雅黑"/>
              </a:rPr>
              <a:t>定时时间</a:t>
            </a:r>
            <a:r>
              <a:rPr sz="2400" b="1" spc="-10" dirty="0">
                <a:latin typeface="微软雅黑"/>
                <a:cs typeface="微软雅黑"/>
              </a:rPr>
              <a:t> </a:t>
            </a:r>
            <a:r>
              <a:rPr sz="2400" b="1" dirty="0">
                <a:latin typeface="微软雅黑"/>
                <a:cs typeface="微软雅黑"/>
              </a:rPr>
              <a:t>= 计数值</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计数时间</a:t>
            </a:r>
            <a:endParaRPr sz="2400">
              <a:latin typeface="微软雅黑"/>
              <a:cs typeface="微软雅黑"/>
            </a:endParaRPr>
          </a:p>
          <a:p>
            <a:pPr marL="200025">
              <a:lnSpc>
                <a:spcPct val="100000"/>
              </a:lnSpc>
              <a:spcBef>
                <a:spcPts val="1440"/>
              </a:spcBef>
            </a:pPr>
            <a:r>
              <a:rPr sz="2400" b="1" spc="-5" dirty="0">
                <a:latin typeface="微软雅黑"/>
                <a:cs typeface="微软雅黑"/>
              </a:rPr>
              <a:t>定时时</a:t>
            </a:r>
            <a:r>
              <a:rPr sz="2400" b="1" dirty="0">
                <a:latin typeface="微软雅黑"/>
                <a:cs typeface="微软雅黑"/>
              </a:rPr>
              <a:t>间</a:t>
            </a:r>
            <a:r>
              <a:rPr sz="2400" b="1" spc="-10" dirty="0">
                <a:latin typeface="微软雅黑"/>
                <a:cs typeface="微软雅黑"/>
              </a:rPr>
              <a:t> </a:t>
            </a:r>
            <a:r>
              <a:rPr sz="2400" b="1" dirty="0">
                <a:latin typeface="微软雅黑"/>
                <a:cs typeface="微软雅黑"/>
              </a:rPr>
              <a:t>= </a:t>
            </a:r>
            <a:r>
              <a:rPr sz="2400" b="1" spc="-5" dirty="0">
                <a:latin typeface="微软雅黑"/>
                <a:cs typeface="微软雅黑"/>
              </a:rPr>
              <a:t>计数</a:t>
            </a:r>
            <a:r>
              <a:rPr sz="2400" b="1" dirty="0">
                <a:latin typeface="微软雅黑"/>
                <a:cs typeface="微软雅黑"/>
              </a:rPr>
              <a:t>值</a:t>
            </a:r>
            <a:r>
              <a:rPr sz="2400" b="1" spc="-10" dirty="0">
                <a:latin typeface="微软雅黑"/>
                <a:cs typeface="微软雅黑"/>
              </a:rPr>
              <a:t> </a:t>
            </a:r>
            <a:r>
              <a:rPr sz="2400" b="1" dirty="0">
                <a:latin typeface="微软雅黑"/>
                <a:cs typeface="微软雅黑"/>
              </a:rPr>
              <a:t>/</a:t>
            </a:r>
            <a:r>
              <a:rPr sz="2400" b="1" spc="-5" dirty="0">
                <a:latin typeface="微软雅黑"/>
                <a:cs typeface="微软雅黑"/>
              </a:rPr>
              <a:t> 时钟频率</a:t>
            </a:r>
            <a:endParaRPr sz="2400">
              <a:latin typeface="微软雅黑"/>
              <a:cs typeface="微软雅黑"/>
            </a:endParaRPr>
          </a:p>
        </p:txBody>
      </p:sp>
      <p:sp>
        <p:nvSpPr>
          <p:cNvPr id="25" name="object 25"/>
          <p:cNvSpPr/>
          <p:nvPr/>
        </p:nvSpPr>
        <p:spPr>
          <a:xfrm>
            <a:off x="8782050" y="1072133"/>
            <a:ext cx="3138170" cy="1540510"/>
          </a:xfrm>
          <a:custGeom>
            <a:avLst/>
            <a:gdLst/>
            <a:ahLst/>
            <a:cxnLst/>
            <a:rect l="l" t="t" r="r" b="b"/>
            <a:pathLst>
              <a:path w="3138170" h="1540510">
                <a:moveTo>
                  <a:pt x="1307465" y="1261871"/>
                </a:moveTo>
                <a:lnTo>
                  <a:pt x="522985" y="1261871"/>
                </a:lnTo>
                <a:lnTo>
                  <a:pt x="413511" y="1540382"/>
                </a:lnTo>
                <a:lnTo>
                  <a:pt x="1307465" y="1261871"/>
                </a:lnTo>
                <a:close/>
              </a:path>
              <a:path w="3138170" h="1540510">
                <a:moveTo>
                  <a:pt x="2927604" y="0"/>
                </a:moveTo>
                <a:lnTo>
                  <a:pt x="210311" y="0"/>
                </a:lnTo>
                <a:lnTo>
                  <a:pt x="193055" y="696"/>
                </a:lnTo>
                <a:lnTo>
                  <a:pt x="143816" y="10716"/>
                </a:lnTo>
                <a:lnTo>
                  <a:pt x="99505" y="31496"/>
                </a:lnTo>
                <a:lnTo>
                  <a:pt x="61579" y="61579"/>
                </a:lnTo>
                <a:lnTo>
                  <a:pt x="31496" y="99505"/>
                </a:lnTo>
                <a:lnTo>
                  <a:pt x="10716" y="143816"/>
                </a:lnTo>
                <a:lnTo>
                  <a:pt x="696" y="193055"/>
                </a:lnTo>
                <a:lnTo>
                  <a:pt x="0" y="210312"/>
                </a:lnTo>
                <a:lnTo>
                  <a:pt x="0" y="1051560"/>
                </a:lnTo>
                <a:lnTo>
                  <a:pt x="6109" y="1102117"/>
                </a:lnTo>
                <a:lnTo>
                  <a:pt x="23464" y="1148233"/>
                </a:lnTo>
                <a:lnTo>
                  <a:pt x="50608" y="1188450"/>
                </a:lnTo>
                <a:lnTo>
                  <a:pt x="86081" y="1221309"/>
                </a:lnTo>
                <a:lnTo>
                  <a:pt x="128426" y="1245352"/>
                </a:lnTo>
                <a:lnTo>
                  <a:pt x="176185" y="1259120"/>
                </a:lnTo>
                <a:lnTo>
                  <a:pt x="210311" y="1261871"/>
                </a:lnTo>
                <a:lnTo>
                  <a:pt x="2927604" y="1261871"/>
                </a:lnTo>
                <a:lnTo>
                  <a:pt x="2978161" y="1255762"/>
                </a:lnTo>
                <a:lnTo>
                  <a:pt x="3024277" y="1238407"/>
                </a:lnTo>
                <a:lnTo>
                  <a:pt x="3064494" y="1211263"/>
                </a:lnTo>
                <a:lnTo>
                  <a:pt x="3097353" y="1175790"/>
                </a:lnTo>
                <a:lnTo>
                  <a:pt x="3121396" y="1133445"/>
                </a:lnTo>
                <a:lnTo>
                  <a:pt x="3135164" y="1085686"/>
                </a:lnTo>
                <a:lnTo>
                  <a:pt x="3137916" y="1051560"/>
                </a:lnTo>
                <a:lnTo>
                  <a:pt x="3137916" y="210312"/>
                </a:lnTo>
                <a:lnTo>
                  <a:pt x="3131806" y="159754"/>
                </a:lnTo>
                <a:lnTo>
                  <a:pt x="3114451" y="113638"/>
                </a:lnTo>
                <a:lnTo>
                  <a:pt x="3087307" y="73421"/>
                </a:lnTo>
                <a:lnTo>
                  <a:pt x="3051834" y="40562"/>
                </a:lnTo>
                <a:lnTo>
                  <a:pt x="3009489" y="16519"/>
                </a:lnTo>
                <a:lnTo>
                  <a:pt x="2961730" y="2751"/>
                </a:lnTo>
                <a:lnTo>
                  <a:pt x="2927604" y="0"/>
                </a:lnTo>
                <a:close/>
              </a:path>
            </a:pathLst>
          </a:custGeom>
          <a:solidFill>
            <a:srgbClr val="FFFFC7"/>
          </a:solidFill>
        </p:spPr>
        <p:txBody>
          <a:bodyPr wrap="square" lIns="0" tIns="0" rIns="0" bIns="0" rtlCol="0"/>
          <a:lstStyle/>
          <a:p>
            <a:endParaRPr/>
          </a:p>
        </p:txBody>
      </p:sp>
      <p:sp>
        <p:nvSpPr>
          <p:cNvPr id="26" name="object 26"/>
          <p:cNvSpPr/>
          <p:nvPr/>
        </p:nvSpPr>
        <p:spPr>
          <a:xfrm>
            <a:off x="8782050" y="1072133"/>
            <a:ext cx="3138170" cy="1540510"/>
          </a:xfrm>
          <a:custGeom>
            <a:avLst/>
            <a:gdLst/>
            <a:ahLst/>
            <a:cxnLst/>
            <a:rect l="l" t="t" r="r" b="b"/>
            <a:pathLst>
              <a:path w="3138170" h="1540510">
                <a:moveTo>
                  <a:pt x="0" y="210312"/>
                </a:moveTo>
                <a:lnTo>
                  <a:pt x="6109" y="159754"/>
                </a:lnTo>
                <a:lnTo>
                  <a:pt x="23464" y="113638"/>
                </a:lnTo>
                <a:lnTo>
                  <a:pt x="50608" y="73421"/>
                </a:lnTo>
                <a:lnTo>
                  <a:pt x="86081" y="40562"/>
                </a:lnTo>
                <a:lnTo>
                  <a:pt x="128426" y="16519"/>
                </a:lnTo>
                <a:lnTo>
                  <a:pt x="176185" y="2751"/>
                </a:lnTo>
                <a:lnTo>
                  <a:pt x="210311" y="0"/>
                </a:lnTo>
                <a:lnTo>
                  <a:pt x="522985" y="0"/>
                </a:lnTo>
                <a:lnTo>
                  <a:pt x="1307465" y="0"/>
                </a:lnTo>
                <a:lnTo>
                  <a:pt x="2927604" y="0"/>
                </a:lnTo>
                <a:lnTo>
                  <a:pt x="2944860" y="696"/>
                </a:lnTo>
                <a:lnTo>
                  <a:pt x="2994099" y="10716"/>
                </a:lnTo>
                <a:lnTo>
                  <a:pt x="3038410" y="31496"/>
                </a:lnTo>
                <a:lnTo>
                  <a:pt x="3076336" y="61579"/>
                </a:lnTo>
                <a:lnTo>
                  <a:pt x="3106419" y="99505"/>
                </a:lnTo>
                <a:lnTo>
                  <a:pt x="3127199" y="143816"/>
                </a:lnTo>
                <a:lnTo>
                  <a:pt x="3137219" y="193055"/>
                </a:lnTo>
                <a:lnTo>
                  <a:pt x="3137916" y="210312"/>
                </a:lnTo>
                <a:lnTo>
                  <a:pt x="3137916" y="736091"/>
                </a:lnTo>
                <a:lnTo>
                  <a:pt x="3137916" y="1051560"/>
                </a:lnTo>
                <a:lnTo>
                  <a:pt x="3137219" y="1068816"/>
                </a:lnTo>
                <a:lnTo>
                  <a:pt x="3135164" y="1085686"/>
                </a:lnTo>
                <a:lnTo>
                  <a:pt x="3121396" y="1133445"/>
                </a:lnTo>
                <a:lnTo>
                  <a:pt x="3097353" y="1175790"/>
                </a:lnTo>
                <a:lnTo>
                  <a:pt x="3064494" y="1211263"/>
                </a:lnTo>
                <a:lnTo>
                  <a:pt x="3024277" y="1238407"/>
                </a:lnTo>
                <a:lnTo>
                  <a:pt x="2978161" y="1255762"/>
                </a:lnTo>
                <a:lnTo>
                  <a:pt x="2927604" y="1261871"/>
                </a:lnTo>
                <a:lnTo>
                  <a:pt x="1307465" y="1261871"/>
                </a:lnTo>
                <a:lnTo>
                  <a:pt x="413511" y="1540382"/>
                </a:lnTo>
                <a:lnTo>
                  <a:pt x="522985" y="1261871"/>
                </a:lnTo>
                <a:lnTo>
                  <a:pt x="210311" y="1261871"/>
                </a:lnTo>
                <a:lnTo>
                  <a:pt x="193055" y="1261175"/>
                </a:lnTo>
                <a:lnTo>
                  <a:pt x="143816" y="1251155"/>
                </a:lnTo>
                <a:lnTo>
                  <a:pt x="99505" y="1230375"/>
                </a:lnTo>
                <a:lnTo>
                  <a:pt x="61579" y="1200292"/>
                </a:lnTo>
                <a:lnTo>
                  <a:pt x="31496" y="1162366"/>
                </a:lnTo>
                <a:lnTo>
                  <a:pt x="10716" y="1118055"/>
                </a:lnTo>
                <a:lnTo>
                  <a:pt x="696" y="1068816"/>
                </a:lnTo>
                <a:lnTo>
                  <a:pt x="0" y="1051560"/>
                </a:lnTo>
                <a:lnTo>
                  <a:pt x="0" y="736091"/>
                </a:lnTo>
                <a:lnTo>
                  <a:pt x="0" y="210312"/>
                </a:lnTo>
                <a:close/>
              </a:path>
            </a:pathLst>
          </a:custGeom>
          <a:ln w="28956">
            <a:solidFill>
              <a:srgbClr val="000000"/>
            </a:solidFill>
          </a:ln>
        </p:spPr>
        <p:txBody>
          <a:bodyPr wrap="square" lIns="0" tIns="0" rIns="0" bIns="0" rtlCol="0"/>
          <a:lstStyle/>
          <a:p>
            <a:endParaRPr/>
          </a:p>
        </p:txBody>
      </p:sp>
      <p:sp>
        <p:nvSpPr>
          <p:cNvPr id="27" name="object 27"/>
          <p:cNvSpPr txBox="1"/>
          <p:nvPr/>
        </p:nvSpPr>
        <p:spPr>
          <a:xfrm>
            <a:off x="8923146" y="1172273"/>
            <a:ext cx="2782570" cy="717550"/>
          </a:xfrm>
          <a:prstGeom prst="rect">
            <a:avLst/>
          </a:prstGeom>
        </p:spPr>
        <p:txBody>
          <a:bodyPr vert="horz" wrap="square" lIns="0" tIns="0" rIns="0" bIns="0" rtlCol="0">
            <a:spAutoFit/>
          </a:bodyPr>
          <a:lstStyle/>
          <a:p>
            <a:pPr marL="12700" marR="5080">
              <a:lnSpc>
                <a:spcPct val="105800"/>
              </a:lnSpc>
            </a:pPr>
            <a:r>
              <a:rPr sz="2400" b="1" dirty="0">
                <a:latin typeface="宋体"/>
                <a:cs typeface="宋体"/>
              </a:rPr>
              <a:t>以</a:t>
            </a:r>
            <a:r>
              <a:rPr sz="2400" b="1" spc="-5" dirty="0">
                <a:latin typeface="Consolas"/>
                <a:cs typeface="Consolas"/>
              </a:rPr>
              <a:t>STM32F411</a:t>
            </a:r>
            <a:r>
              <a:rPr sz="2400" b="1" dirty="0">
                <a:latin typeface="宋体"/>
                <a:cs typeface="宋体"/>
              </a:rPr>
              <a:t>微控制 器为例，送入定时器</a:t>
            </a:r>
            <a:endParaRPr sz="2400">
              <a:latin typeface="宋体"/>
              <a:cs typeface="宋体"/>
            </a:endParaRPr>
          </a:p>
        </p:txBody>
      </p:sp>
      <p:sp>
        <p:nvSpPr>
          <p:cNvPr id="28" name="object 28"/>
          <p:cNvSpPr txBox="1"/>
          <p:nvPr/>
        </p:nvSpPr>
        <p:spPr>
          <a:xfrm>
            <a:off x="8923146" y="1903531"/>
            <a:ext cx="2534285" cy="366395"/>
          </a:xfrm>
          <a:prstGeom prst="rect">
            <a:avLst/>
          </a:prstGeom>
        </p:spPr>
        <p:txBody>
          <a:bodyPr vert="horz" wrap="square" lIns="0" tIns="0" rIns="0" bIns="0" rtlCol="0">
            <a:spAutoFit/>
          </a:bodyPr>
          <a:lstStyle/>
          <a:p>
            <a:pPr marL="12700">
              <a:lnSpc>
                <a:spcPct val="100000"/>
              </a:lnSpc>
            </a:pPr>
            <a:r>
              <a:rPr sz="2400" b="1" spc="-5" dirty="0">
                <a:latin typeface="宋体"/>
                <a:cs typeface="宋体"/>
              </a:rPr>
              <a:t>的时钟频率</a:t>
            </a:r>
            <a:r>
              <a:rPr sz="2400" b="1" dirty="0">
                <a:latin typeface="宋体"/>
                <a:cs typeface="宋体"/>
              </a:rPr>
              <a:t>为</a:t>
            </a:r>
            <a:r>
              <a:rPr sz="2400" b="1" spc="-5" dirty="0">
                <a:latin typeface="Consolas"/>
                <a:cs typeface="Consolas"/>
              </a:rPr>
              <a:t>100M</a:t>
            </a:r>
            <a:endParaRPr sz="2400">
              <a:latin typeface="Consolas"/>
              <a:cs typeface="Consolas"/>
            </a:endParaRPr>
          </a:p>
        </p:txBody>
      </p:sp>
      <p:sp>
        <p:nvSpPr>
          <p:cNvPr id="29" name="object 29"/>
          <p:cNvSpPr txBox="1"/>
          <p:nvPr/>
        </p:nvSpPr>
        <p:spPr>
          <a:xfrm>
            <a:off x="1540002" y="5781294"/>
            <a:ext cx="2856230" cy="486409"/>
          </a:xfrm>
          <a:prstGeom prst="rect">
            <a:avLst/>
          </a:prstGeom>
          <a:ln w="38100">
            <a:solidFill>
              <a:srgbClr val="E34A46"/>
            </a:solidFill>
          </a:ln>
        </p:spPr>
        <p:txBody>
          <a:bodyPr vert="horz" wrap="square" lIns="0" tIns="0" rIns="0" bIns="0" rtlCol="0">
            <a:spAutoFit/>
          </a:bodyPr>
          <a:lstStyle/>
          <a:p>
            <a:pPr marL="190500">
              <a:lnSpc>
                <a:spcPct val="100000"/>
              </a:lnSpc>
            </a:pPr>
            <a:r>
              <a:rPr sz="2400" b="1" dirty="0">
                <a:latin typeface="微软雅黑"/>
                <a:cs typeface="微软雅黑"/>
              </a:rPr>
              <a:t>定时时间计算公式</a:t>
            </a:r>
            <a:endParaRPr sz="2400">
              <a:latin typeface="微软雅黑"/>
              <a:cs typeface="微软雅黑"/>
            </a:endParaRPr>
          </a:p>
        </p:txBody>
      </p:sp>
      <p:sp>
        <p:nvSpPr>
          <p:cNvPr id="30" name="object 30"/>
          <p:cNvSpPr/>
          <p:nvPr/>
        </p:nvSpPr>
        <p:spPr>
          <a:xfrm>
            <a:off x="4680203" y="5900928"/>
            <a:ext cx="433070" cy="245745"/>
          </a:xfrm>
          <a:custGeom>
            <a:avLst/>
            <a:gdLst/>
            <a:ahLst/>
            <a:cxnLst/>
            <a:rect l="l" t="t" r="r" b="b"/>
            <a:pathLst>
              <a:path w="433070" h="245745">
                <a:moveTo>
                  <a:pt x="310134" y="0"/>
                </a:moveTo>
                <a:lnTo>
                  <a:pt x="310134" y="61341"/>
                </a:lnTo>
                <a:lnTo>
                  <a:pt x="0" y="61341"/>
                </a:lnTo>
                <a:lnTo>
                  <a:pt x="0" y="184023"/>
                </a:lnTo>
                <a:lnTo>
                  <a:pt x="310134" y="184023"/>
                </a:lnTo>
                <a:lnTo>
                  <a:pt x="310134" y="245364"/>
                </a:lnTo>
                <a:lnTo>
                  <a:pt x="432816" y="122682"/>
                </a:lnTo>
                <a:lnTo>
                  <a:pt x="310134" y="0"/>
                </a:lnTo>
                <a:close/>
              </a:path>
            </a:pathLst>
          </a:custGeom>
          <a:solidFill>
            <a:srgbClr val="FF0000"/>
          </a:solidFill>
        </p:spPr>
        <p:txBody>
          <a:bodyPr wrap="square" lIns="0" tIns="0" rIns="0" bIns="0" rtlCol="0"/>
          <a:lstStyle/>
          <a:p>
            <a:endParaRPr/>
          </a:p>
        </p:txBody>
      </p:sp>
      <p:sp>
        <p:nvSpPr>
          <p:cNvPr id="31" name="object 31"/>
          <p:cNvSpPr/>
          <p:nvPr/>
        </p:nvSpPr>
        <p:spPr>
          <a:xfrm>
            <a:off x="4680203" y="5900928"/>
            <a:ext cx="433070" cy="245745"/>
          </a:xfrm>
          <a:custGeom>
            <a:avLst/>
            <a:gdLst/>
            <a:ahLst/>
            <a:cxnLst/>
            <a:rect l="l" t="t" r="r" b="b"/>
            <a:pathLst>
              <a:path w="433070" h="245745">
                <a:moveTo>
                  <a:pt x="0" y="61341"/>
                </a:moveTo>
                <a:lnTo>
                  <a:pt x="310134" y="61341"/>
                </a:lnTo>
                <a:lnTo>
                  <a:pt x="310134" y="0"/>
                </a:lnTo>
                <a:lnTo>
                  <a:pt x="432816" y="122682"/>
                </a:lnTo>
                <a:lnTo>
                  <a:pt x="310134" y="245364"/>
                </a:lnTo>
                <a:lnTo>
                  <a:pt x="310134" y="184023"/>
                </a:lnTo>
                <a:lnTo>
                  <a:pt x="0" y="184023"/>
                </a:lnTo>
                <a:lnTo>
                  <a:pt x="0" y="61341"/>
                </a:lnTo>
                <a:close/>
              </a:path>
            </a:pathLst>
          </a:custGeom>
          <a:ln w="12191">
            <a:solidFill>
              <a:srgbClr val="41709C"/>
            </a:solidFill>
          </a:ln>
        </p:spPr>
        <p:txBody>
          <a:bodyPr wrap="square" lIns="0" tIns="0" rIns="0" bIns="0" rtlCol="0"/>
          <a:lstStyle/>
          <a:p>
            <a:endParaRPr/>
          </a:p>
        </p:txBody>
      </p:sp>
    </p:spTree>
    <p:extLst>
      <p:ext uri="{BB962C8B-B14F-4D97-AF65-F5344CB8AC3E}">
        <p14:creationId xmlns:p14="http://schemas.microsoft.com/office/powerpoint/2010/main" val="2065706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1041298" y="2772004"/>
            <a:ext cx="10110470" cy="711200"/>
          </a:xfrm>
          <a:prstGeom prst="rect">
            <a:avLst/>
          </a:prstGeom>
        </p:spPr>
        <p:txBody>
          <a:bodyPr vert="horz" wrap="square" lIns="0" tIns="0" rIns="0" bIns="0" rtlCol="0">
            <a:spAutoFit/>
          </a:bodyPr>
          <a:lstStyle/>
          <a:p>
            <a:pPr marL="12700">
              <a:lnSpc>
                <a:spcPct val="100000"/>
              </a:lnSpc>
              <a:tabLst>
                <a:tab pos="843915" algn="l"/>
              </a:tabLst>
            </a:pPr>
            <a:r>
              <a:rPr sz="5400" spc="-5" dirty="0">
                <a:solidFill>
                  <a:srgbClr val="FFFFFF"/>
                </a:solidFill>
                <a:latin typeface="微软雅黑"/>
                <a:cs typeface="微软雅黑"/>
              </a:rPr>
              <a:t>2	STM3</a:t>
            </a:r>
            <a:r>
              <a:rPr sz="5400" spc="5" dirty="0">
                <a:solidFill>
                  <a:srgbClr val="FFFFFF"/>
                </a:solidFill>
                <a:latin typeface="微软雅黑"/>
                <a:cs typeface="微软雅黑"/>
              </a:rPr>
              <a:t>2</a:t>
            </a:r>
            <a:r>
              <a:rPr sz="5400" dirty="0">
                <a:solidFill>
                  <a:srgbClr val="FFFFFF"/>
                </a:solidFill>
              </a:rPr>
              <a:t>微控制器的定时器概述</a:t>
            </a:r>
            <a:endParaRPr sz="5400">
              <a:latin typeface="微软雅黑"/>
              <a:cs typeface="微软雅黑"/>
            </a:endParaRPr>
          </a:p>
        </p:txBody>
      </p:sp>
    </p:spTree>
    <p:extLst>
      <p:ext uri="{BB962C8B-B14F-4D97-AF65-F5344CB8AC3E}">
        <p14:creationId xmlns:p14="http://schemas.microsoft.com/office/powerpoint/2010/main" val="2536081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659993" y="1155943"/>
            <a:ext cx="6350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分类</a:t>
            </a:r>
            <a:endParaRPr sz="2400">
              <a:latin typeface="微软雅黑"/>
              <a:cs typeface="微软雅黑"/>
            </a:endParaRPr>
          </a:p>
        </p:txBody>
      </p:sp>
      <p:sp>
        <p:nvSpPr>
          <p:cNvPr id="13" name="object 13"/>
          <p:cNvSpPr/>
          <p:nvPr/>
        </p:nvSpPr>
        <p:spPr>
          <a:xfrm>
            <a:off x="688848" y="4271771"/>
            <a:ext cx="2082545" cy="1277873"/>
          </a:xfrm>
          <a:prstGeom prst="rect">
            <a:avLst/>
          </a:prstGeom>
          <a:blipFill>
            <a:blip r:embed="rId4" cstate="print"/>
            <a:stretch>
              <a:fillRect/>
            </a:stretch>
          </a:blipFill>
        </p:spPr>
        <p:txBody>
          <a:bodyPr wrap="square" lIns="0" tIns="0" rIns="0" bIns="0" rtlCol="0"/>
          <a:lstStyle/>
          <a:p>
            <a:endParaRPr/>
          </a:p>
        </p:txBody>
      </p:sp>
      <p:sp>
        <p:nvSpPr>
          <p:cNvPr id="14" name="object 14"/>
          <p:cNvSpPr txBox="1"/>
          <p:nvPr/>
        </p:nvSpPr>
        <p:spPr>
          <a:xfrm>
            <a:off x="883107" y="4583165"/>
            <a:ext cx="1697989" cy="659765"/>
          </a:xfrm>
          <a:prstGeom prst="rect">
            <a:avLst/>
          </a:prstGeom>
        </p:spPr>
        <p:txBody>
          <a:bodyPr vert="horz" wrap="square" lIns="0" tIns="0" rIns="0" bIns="0" rtlCol="0">
            <a:spAutoFit/>
          </a:bodyPr>
          <a:lstStyle/>
          <a:p>
            <a:pPr algn="ctr">
              <a:lnSpc>
                <a:spcPts val="2735"/>
              </a:lnSpc>
            </a:pPr>
            <a:r>
              <a:rPr sz="2400" b="1" spc="-5" dirty="0">
                <a:solidFill>
                  <a:srgbClr val="FFFFFF"/>
                </a:solidFill>
                <a:latin typeface="微软雅黑"/>
                <a:cs typeface="微软雅黑"/>
              </a:rPr>
              <a:t>STM3</a:t>
            </a:r>
            <a:r>
              <a:rPr sz="2400" b="1" spc="-20" dirty="0">
                <a:solidFill>
                  <a:srgbClr val="FFFFFF"/>
                </a:solidFill>
                <a:latin typeface="微软雅黑"/>
                <a:cs typeface="微软雅黑"/>
              </a:rPr>
              <a:t>2</a:t>
            </a:r>
            <a:r>
              <a:rPr sz="2400" b="1" spc="-5" dirty="0">
                <a:solidFill>
                  <a:srgbClr val="FFFFFF"/>
                </a:solidFill>
                <a:latin typeface="微软雅黑"/>
                <a:cs typeface="微软雅黑"/>
              </a:rPr>
              <a:t>定时</a:t>
            </a:r>
            <a:endParaRPr sz="2400">
              <a:latin typeface="微软雅黑"/>
              <a:cs typeface="微软雅黑"/>
            </a:endParaRPr>
          </a:p>
          <a:p>
            <a:pPr algn="ctr">
              <a:lnSpc>
                <a:spcPts val="2735"/>
              </a:lnSpc>
            </a:pPr>
            <a:r>
              <a:rPr sz="2400" b="1" dirty="0">
                <a:solidFill>
                  <a:srgbClr val="FFFFFF"/>
                </a:solidFill>
                <a:latin typeface="微软雅黑"/>
                <a:cs typeface="微软雅黑"/>
              </a:rPr>
              <a:t>器家族</a:t>
            </a:r>
            <a:endParaRPr sz="2400">
              <a:latin typeface="微软雅黑"/>
              <a:cs typeface="微软雅黑"/>
            </a:endParaRPr>
          </a:p>
        </p:txBody>
      </p:sp>
      <p:sp>
        <p:nvSpPr>
          <p:cNvPr id="15" name="object 15"/>
          <p:cNvSpPr/>
          <p:nvPr/>
        </p:nvSpPr>
        <p:spPr>
          <a:xfrm>
            <a:off x="2741676" y="3883139"/>
            <a:ext cx="618007" cy="1044714"/>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3314700" y="3579876"/>
            <a:ext cx="1914905" cy="691134"/>
          </a:xfrm>
          <a:prstGeom prst="rect">
            <a:avLst/>
          </a:prstGeom>
          <a:blipFill>
            <a:blip r:embed="rId6" cstate="print"/>
            <a:stretch>
              <a:fillRect/>
            </a:stretch>
          </a:blipFill>
        </p:spPr>
        <p:txBody>
          <a:bodyPr wrap="square" lIns="0" tIns="0" rIns="0" bIns="0" rtlCol="0"/>
          <a:lstStyle/>
          <a:p>
            <a:endParaRPr/>
          </a:p>
        </p:txBody>
      </p:sp>
      <p:sp>
        <p:nvSpPr>
          <p:cNvPr id="17" name="object 17"/>
          <p:cNvSpPr txBox="1"/>
          <p:nvPr/>
        </p:nvSpPr>
        <p:spPr>
          <a:xfrm>
            <a:off x="3498850" y="3761475"/>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外设定时器</a:t>
            </a:r>
            <a:endParaRPr sz="2400">
              <a:latin typeface="微软雅黑"/>
              <a:cs typeface="微软雅黑"/>
            </a:endParaRPr>
          </a:p>
        </p:txBody>
      </p:sp>
      <p:sp>
        <p:nvSpPr>
          <p:cNvPr id="18" name="object 18"/>
          <p:cNvSpPr/>
          <p:nvPr/>
        </p:nvSpPr>
        <p:spPr>
          <a:xfrm>
            <a:off x="5198364" y="2700515"/>
            <a:ext cx="617982" cy="1239786"/>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5772911" y="2395727"/>
            <a:ext cx="2366010" cy="691134"/>
          </a:xfrm>
          <a:prstGeom prst="rect">
            <a:avLst/>
          </a:prstGeom>
          <a:blipFill>
            <a:blip r:embed="rId8" cstate="print"/>
            <a:stretch>
              <a:fillRect/>
            </a:stretch>
          </a:blipFill>
        </p:spPr>
        <p:txBody>
          <a:bodyPr wrap="square" lIns="0" tIns="0" rIns="0" bIns="0" rtlCol="0"/>
          <a:lstStyle/>
          <a:p>
            <a:endParaRPr/>
          </a:p>
        </p:txBody>
      </p:sp>
      <p:sp>
        <p:nvSpPr>
          <p:cNvPr id="20" name="object 20"/>
          <p:cNvSpPr txBox="1"/>
          <p:nvPr/>
        </p:nvSpPr>
        <p:spPr>
          <a:xfrm>
            <a:off x="5973317" y="2486405"/>
            <a:ext cx="1903730" cy="502920"/>
          </a:xfrm>
          <a:prstGeom prst="rect">
            <a:avLst/>
          </a:prstGeom>
          <a:ln w="38100">
            <a:solidFill>
              <a:srgbClr val="FF0000"/>
            </a:solidFill>
          </a:ln>
        </p:spPr>
        <p:txBody>
          <a:bodyPr vert="horz" wrap="square" lIns="0" tIns="0" rIns="0" bIns="0" rtlCol="0">
            <a:spAutoFit/>
          </a:bodyPr>
          <a:lstStyle/>
          <a:p>
            <a:pPr marL="203200">
              <a:lnSpc>
                <a:spcPct val="100000"/>
              </a:lnSpc>
            </a:pPr>
            <a:r>
              <a:rPr sz="2400" b="1" spc="-5" dirty="0">
                <a:solidFill>
                  <a:srgbClr val="FFFFFF"/>
                </a:solidFill>
                <a:latin typeface="微软雅黑"/>
                <a:cs typeface="微软雅黑"/>
              </a:rPr>
              <a:t>常规定时器</a:t>
            </a:r>
            <a:endParaRPr sz="2400">
              <a:latin typeface="微软雅黑"/>
              <a:cs typeface="微软雅黑"/>
            </a:endParaRPr>
          </a:p>
        </p:txBody>
      </p:sp>
      <p:sp>
        <p:nvSpPr>
          <p:cNvPr id="21" name="object 21"/>
          <p:cNvSpPr/>
          <p:nvPr/>
        </p:nvSpPr>
        <p:spPr>
          <a:xfrm>
            <a:off x="8110728" y="1909559"/>
            <a:ext cx="616470" cy="851166"/>
          </a:xfrm>
          <a:prstGeom prst="rect">
            <a:avLst/>
          </a:prstGeom>
          <a:blipFill>
            <a:blip r:embed="rId9" cstate="print"/>
            <a:stretch>
              <a:fillRect/>
            </a:stretch>
          </a:blipFill>
        </p:spPr>
        <p:txBody>
          <a:bodyPr wrap="square" lIns="0" tIns="0" rIns="0" bIns="0" rtlCol="0"/>
          <a:lstStyle/>
          <a:p>
            <a:endParaRPr/>
          </a:p>
        </p:txBody>
      </p:sp>
      <p:sp>
        <p:nvSpPr>
          <p:cNvPr id="22" name="object 22"/>
          <p:cNvSpPr/>
          <p:nvPr/>
        </p:nvSpPr>
        <p:spPr>
          <a:xfrm>
            <a:off x="8682228" y="1606283"/>
            <a:ext cx="2830829" cy="692670"/>
          </a:xfrm>
          <a:prstGeom prst="rect">
            <a:avLst/>
          </a:prstGeom>
          <a:blipFill>
            <a:blip r:embed="rId10" cstate="print"/>
            <a:stretch>
              <a:fillRect/>
            </a:stretch>
          </a:blipFill>
        </p:spPr>
        <p:txBody>
          <a:bodyPr wrap="square" lIns="0" tIns="0" rIns="0" bIns="0" rtlCol="0"/>
          <a:lstStyle/>
          <a:p>
            <a:endParaRPr/>
          </a:p>
        </p:txBody>
      </p:sp>
      <p:sp>
        <p:nvSpPr>
          <p:cNvPr id="23" name="object 23"/>
          <p:cNvSpPr txBox="1"/>
          <p:nvPr/>
        </p:nvSpPr>
        <p:spPr>
          <a:xfrm>
            <a:off x="9325102" y="1788158"/>
            <a:ext cx="15494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高级定时器</a:t>
            </a:r>
            <a:endParaRPr sz="2400">
              <a:latin typeface="微软雅黑"/>
              <a:cs typeface="微软雅黑"/>
            </a:endParaRPr>
          </a:p>
        </p:txBody>
      </p:sp>
      <p:sp>
        <p:nvSpPr>
          <p:cNvPr id="24" name="object 24"/>
          <p:cNvSpPr/>
          <p:nvPr/>
        </p:nvSpPr>
        <p:spPr>
          <a:xfrm>
            <a:off x="8133588" y="2709672"/>
            <a:ext cx="584453" cy="64770"/>
          </a:xfrm>
          <a:prstGeom prst="rect">
            <a:avLst/>
          </a:prstGeom>
          <a:blipFill>
            <a:blip r:embed="rId11" cstate="print"/>
            <a:stretch>
              <a:fillRect/>
            </a:stretch>
          </a:blipFill>
        </p:spPr>
        <p:txBody>
          <a:bodyPr wrap="square" lIns="0" tIns="0" rIns="0" bIns="0" rtlCol="0"/>
          <a:lstStyle/>
          <a:p>
            <a:endParaRPr/>
          </a:p>
        </p:txBody>
      </p:sp>
      <p:sp>
        <p:nvSpPr>
          <p:cNvPr id="25" name="object 25"/>
          <p:cNvSpPr/>
          <p:nvPr/>
        </p:nvSpPr>
        <p:spPr>
          <a:xfrm>
            <a:off x="8682228" y="2395727"/>
            <a:ext cx="2830829" cy="691134"/>
          </a:xfrm>
          <a:prstGeom prst="rect">
            <a:avLst/>
          </a:prstGeom>
          <a:blipFill>
            <a:blip r:embed="rId12" cstate="print"/>
            <a:stretch>
              <a:fillRect/>
            </a:stretch>
          </a:blipFill>
        </p:spPr>
        <p:txBody>
          <a:bodyPr wrap="square" lIns="0" tIns="0" rIns="0" bIns="0" rtlCol="0"/>
          <a:lstStyle/>
          <a:p>
            <a:endParaRPr/>
          </a:p>
        </p:txBody>
      </p:sp>
      <p:sp>
        <p:nvSpPr>
          <p:cNvPr id="26" name="object 26"/>
          <p:cNvSpPr txBox="1"/>
          <p:nvPr/>
        </p:nvSpPr>
        <p:spPr>
          <a:xfrm>
            <a:off x="9325102" y="2577336"/>
            <a:ext cx="15494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通用定时器</a:t>
            </a:r>
            <a:endParaRPr sz="2400">
              <a:latin typeface="微软雅黑"/>
              <a:cs typeface="微软雅黑"/>
            </a:endParaRPr>
          </a:p>
        </p:txBody>
      </p:sp>
      <p:sp>
        <p:nvSpPr>
          <p:cNvPr id="27" name="object 27"/>
          <p:cNvSpPr/>
          <p:nvPr/>
        </p:nvSpPr>
        <p:spPr>
          <a:xfrm>
            <a:off x="8110728" y="2721864"/>
            <a:ext cx="616470" cy="851153"/>
          </a:xfrm>
          <a:prstGeom prst="rect">
            <a:avLst/>
          </a:prstGeom>
          <a:blipFill>
            <a:blip r:embed="rId13" cstate="print"/>
            <a:stretch>
              <a:fillRect/>
            </a:stretch>
          </a:blipFill>
        </p:spPr>
        <p:txBody>
          <a:bodyPr wrap="square" lIns="0" tIns="0" rIns="0" bIns="0" rtlCol="0"/>
          <a:lstStyle/>
          <a:p>
            <a:endParaRPr/>
          </a:p>
        </p:txBody>
      </p:sp>
      <p:sp>
        <p:nvSpPr>
          <p:cNvPr id="28" name="object 28"/>
          <p:cNvSpPr/>
          <p:nvPr/>
        </p:nvSpPr>
        <p:spPr>
          <a:xfrm>
            <a:off x="8682228" y="3185134"/>
            <a:ext cx="2830829" cy="691159"/>
          </a:xfrm>
          <a:prstGeom prst="rect">
            <a:avLst/>
          </a:prstGeom>
          <a:blipFill>
            <a:blip r:embed="rId10" cstate="print"/>
            <a:stretch>
              <a:fillRect/>
            </a:stretch>
          </a:blipFill>
        </p:spPr>
        <p:txBody>
          <a:bodyPr wrap="square" lIns="0" tIns="0" rIns="0" bIns="0" rtlCol="0"/>
          <a:lstStyle/>
          <a:p>
            <a:endParaRPr/>
          </a:p>
        </p:txBody>
      </p:sp>
      <p:sp>
        <p:nvSpPr>
          <p:cNvPr id="29" name="object 29"/>
          <p:cNvSpPr txBox="1"/>
          <p:nvPr/>
        </p:nvSpPr>
        <p:spPr>
          <a:xfrm>
            <a:off x="9325102" y="3366515"/>
            <a:ext cx="15494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基本定时器</a:t>
            </a:r>
            <a:endParaRPr sz="2400">
              <a:latin typeface="微软雅黑"/>
              <a:cs typeface="微软雅黑"/>
            </a:endParaRPr>
          </a:p>
        </p:txBody>
      </p:sp>
      <p:sp>
        <p:nvSpPr>
          <p:cNvPr id="30" name="object 30"/>
          <p:cNvSpPr/>
          <p:nvPr/>
        </p:nvSpPr>
        <p:spPr>
          <a:xfrm>
            <a:off x="5198364" y="3910584"/>
            <a:ext cx="617982" cy="1238250"/>
          </a:xfrm>
          <a:prstGeom prst="rect">
            <a:avLst/>
          </a:prstGeom>
          <a:blipFill>
            <a:blip r:embed="rId14" cstate="print"/>
            <a:stretch>
              <a:fillRect/>
            </a:stretch>
          </a:blipFill>
        </p:spPr>
        <p:txBody>
          <a:bodyPr wrap="square" lIns="0" tIns="0" rIns="0" bIns="0" rtlCol="0"/>
          <a:lstStyle/>
          <a:p>
            <a:endParaRPr/>
          </a:p>
        </p:txBody>
      </p:sp>
      <p:sp>
        <p:nvSpPr>
          <p:cNvPr id="31" name="object 31"/>
          <p:cNvSpPr/>
          <p:nvPr/>
        </p:nvSpPr>
        <p:spPr>
          <a:xfrm>
            <a:off x="5772911" y="4762474"/>
            <a:ext cx="2366010" cy="691159"/>
          </a:xfrm>
          <a:prstGeom prst="rect">
            <a:avLst/>
          </a:prstGeom>
          <a:blipFill>
            <a:blip r:embed="rId15" cstate="print"/>
            <a:stretch>
              <a:fillRect/>
            </a:stretch>
          </a:blipFill>
        </p:spPr>
        <p:txBody>
          <a:bodyPr wrap="square" lIns="0" tIns="0" rIns="0" bIns="0" rtlCol="0"/>
          <a:lstStyle/>
          <a:p>
            <a:endParaRPr/>
          </a:p>
        </p:txBody>
      </p:sp>
      <p:sp>
        <p:nvSpPr>
          <p:cNvPr id="32" name="object 32"/>
          <p:cNvSpPr txBox="1"/>
          <p:nvPr/>
        </p:nvSpPr>
        <p:spPr>
          <a:xfrm>
            <a:off x="6183248" y="4944988"/>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专用定时器</a:t>
            </a:r>
            <a:endParaRPr sz="2400">
              <a:latin typeface="微软雅黑"/>
              <a:cs typeface="微软雅黑"/>
            </a:endParaRPr>
          </a:p>
        </p:txBody>
      </p:sp>
      <p:sp>
        <p:nvSpPr>
          <p:cNvPr id="33" name="object 33"/>
          <p:cNvSpPr/>
          <p:nvPr/>
        </p:nvSpPr>
        <p:spPr>
          <a:xfrm>
            <a:off x="8110728" y="4276344"/>
            <a:ext cx="616470" cy="851153"/>
          </a:xfrm>
          <a:prstGeom prst="rect">
            <a:avLst/>
          </a:prstGeom>
          <a:blipFill>
            <a:blip r:embed="rId16" cstate="print"/>
            <a:stretch>
              <a:fillRect/>
            </a:stretch>
          </a:blipFill>
        </p:spPr>
        <p:txBody>
          <a:bodyPr wrap="square" lIns="0" tIns="0" rIns="0" bIns="0" rtlCol="0"/>
          <a:lstStyle/>
          <a:p>
            <a:endParaRPr/>
          </a:p>
        </p:txBody>
      </p:sp>
      <p:sp>
        <p:nvSpPr>
          <p:cNvPr id="34" name="object 34"/>
          <p:cNvSpPr/>
          <p:nvPr/>
        </p:nvSpPr>
        <p:spPr>
          <a:xfrm>
            <a:off x="8682228" y="3973067"/>
            <a:ext cx="2830829" cy="692657"/>
          </a:xfrm>
          <a:prstGeom prst="rect">
            <a:avLst/>
          </a:prstGeom>
          <a:blipFill>
            <a:blip r:embed="rId12" cstate="print"/>
            <a:stretch>
              <a:fillRect/>
            </a:stretch>
          </a:blipFill>
        </p:spPr>
        <p:txBody>
          <a:bodyPr wrap="square" lIns="0" tIns="0" rIns="0" bIns="0" rtlCol="0"/>
          <a:lstStyle/>
          <a:p>
            <a:endParaRPr/>
          </a:p>
        </p:txBody>
      </p:sp>
      <p:sp>
        <p:nvSpPr>
          <p:cNvPr id="35" name="object 35"/>
          <p:cNvSpPr txBox="1"/>
          <p:nvPr/>
        </p:nvSpPr>
        <p:spPr>
          <a:xfrm>
            <a:off x="9172702" y="4155810"/>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看门狗定时器</a:t>
            </a:r>
            <a:endParaRPr sz="2400">
              <a:latin typeface="微软雅黑"/>
              <a:cs typeface="微软雅黑"/>
            </a:endParaRPr>
          </a:p>
        </p:txBody>
      </p:sp>
      <p:sp>
        <p:nvSpPr>
          <p:cNvPr id="36" name="object 36"/>
          <p:cNvSpPr/>
          <p:nvPr/>
        </p:nvSpPr>
        <p:spPr>
          <a:xfrm>
            <a:off x="8133588" y="5076444"/>
            <a:ext cx="584453" cy="64769"/>
          </a:xfrm>
          <a:prstGeom prst="rect">
            <a:avLst/>
          </a:prstGeom>
          <a:blipFill>
            <a:blip r:embed="rId11" cstate="print"/>
            <a:stretch>
              <a:fillRect/>
            </a:stretch>
          </a:blipFill>
        </p:spPr>
        <p:txBody>
          <a:bodyPr wrap="square" lIns="0" tIns="0" rIns="0" bIns="0" rtlCol="0"/>
          <a:lstStyle/>
          <a:p>
            <a:endParaRPr/>
          </a:p>
        </p:txBody>
      </p:sp>
      <p:sp>
        <p:nvSpPr>
          <p:cNvPr id="37" name="object 37"/>
          <p:cNvSpPr/>
          <p:nvPr/>
        </p:nvSpPr>
        <p:spPr>
          <a:xfrm>
            <a:off x="8682228" y="4762474"/>
            <a:ext cx="2830829" cy="691159"/>
          </a:xfrm>
          <a:prstGeom prst="rect">
            <a:avLst/>
          </a:prstGeom>
          <a:blipFill>
            <a:blip r:embed="rId10" cstate="print"/>
            <a:stretch>
              <a:fillRect/>
            </a:stretch>
          </a:blipFill>
        </p:spPr>
        <p:txBody>
          <a:bodyPr wrap="square" lIns="0" tIns="0" rIns="0" bIns="0" rtlCol="0"/>
          <a:lstStyle/>
          <a:p>
            <a:endParaRPr/>
          </a:p>
        </p:txBody>
      </p:sp>
      <p:sp>
        <p:nvSpPr>
          <p:cNvPr id="38" name="object 38"/>
          <p:cNvSpPr txBox="1"/>
          <p:nvPr/>
        </p:nvSpPr>
        <p:spPr>
          <a:xfrm>
            <a:off x="9477502" y="4944988"/>
            <a:ext cx="124587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实时时钟</a:t>
            </a:r>
            <a:endParaRPr sz="2400">
              <a:latin typeface="微软雅黑"/>
              <a:cs typeface="微软雅黑"/>
            </a:endParaRPr>
          </a:p>
        </p:txBody>
      </p:sp>
      <p:sp>
        <p:nvSpPr>
          <p:cNvPr id="39" name="object 39"/>
          <p:cNvSpPr/>
          <p:nvPr/>
        </p:nvSpPr>
        <p:spPr>
          <a:xfrm>
            <a:off x="8110728" y="5088635"/>
            <a:ext cx="616470" cy="851154"/>
          </a:xfrm>
          <a:prstGeom prst="rect">
            <a:avLst/>
          </a:prstGeom>
          <a:blipFill>
            <a:blip r:embed="rId13" cstate="print"/>
            <a:stretch>
              <a:fillRect/>
            </a:stretch>
          </a:blipFill>
        </p:spPr>
        <p:txBody>
          <a:bodyPr wrap="square" lIns="0" tIns="0" rIns="0" bIns="0" rtlCol="0"/>
          <a:lstStyle/>
          <a:p>
            <a:endParaRPr/>
          </a:p>
        </p:txBody>
      </p:sp>
      <p:sp>
        <p:nvSpPr>
          <p:cNvPr id="40" name="object 40"/>
          <p:cNvSpPr/>
          <p:nvPr/>
        </p:nvSpPr>
        <p:spPr>
          <a:xfrm>
            <a:off x="8682228" y="5551932"/>
            <a:ext cx="2830829" cy="691134"/>
          </a:xfrm>
          <a:prstGeom prst="rect">
            <a:avLst/>
          </a:prstGeom>
          <a:blipFill>
            <a:blip r:embed="rId12" cstate="print"/>
            <a:stretch>
              <a:fillRect/>
            </a:stretch>
          </a:blipFill>
        </p:spPr>
        <p:txBody>
          <a:bodyPr wrap="square" lIns="0" tIns="0" rIns="0" bIns="0" rtlCol="0"/>
          <a:lstStyle/>
          <a:p>
            <a:endParaRPr/>
          </a:p>
        </p:txBody>
      </p:sp>
      <p:sp>
        <p:nvSpPr>
          <p:cNvPr id="41" name="object 41"/>
          <p:cNvSpPr txBox="1"/>
          <p:nvPr/>
        </p:nvSpPr>
        <p:spPr>
          <a:xfrm>
            <a:off x="9172702" y="5734089"/>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低功耗定时器</a:t>
            </a:r>
            <a:endParaRPr sz="2400">
              <a:latin typeface="微软雅黑"/>
              <a:cs typeface="微软雅黑"/>
            </a:endParaRPr>
          </a:p>
        </p:txBody>
      </p:sp>
      <p:sp>
        <p:nvSpPr>
          <p:cNvPr id="42" name="object 42"/>
          <p:cNvSpPr/>
          <p:nvPr/>
        </p:nvSpPr>
        <p:spPr>
          <a:xfrm>
            <a:off x="2741676" y="4895088"/>
            <a:ext cx="618007" cy="1043190"/>
          </a:xfrm>
          <a:prstGeom prst="rect">
            <a:avLst/>
          </a:prstGeom>
          <a:blipFill>
            <a:blip r:embed="rId17" cstate="print"/>
            <a:stretch>
              <a:fillRect/>
            </a:stretch>
          </a:blipFill>
        </p:spPr>
        <p:txBody>
          <a:bodyPr wrap="square" lIns="0" tIns="0" rIns="0" bIns="0" rtlCol="0"/>
          <a:lstStyle/>
          <a:p>
            <a:endParaRPr/>
          </a:p>
        </p:txBody>
      </p:sp>
      <p:sp>
        <p:nvSpPr>
          <p:cNvPr id="43" name="object 43"/>
          <p:cNvSpPr/>
          <p:nvPr/>
        </p:nvSpPr>
        <p:spPr>
          <a:xfrm>
            <a:off x="3314700" y="5551932"/>
            <a:ext cx="1914905" cy="691134"/>
          </a:xfrm>
          <a:prstGeom prst="rect">
            <a:avLst/>
          </a:prstGeom>
          <a:blipFill>
            <a:blip r:embed="rId6" cstate="print"/>
            <a:stretch>
              <a:fillRect/>
            </a:stretch>
          </a:blipFill>
        </p:spPr>
        <p:txBody>
          <a:bodyPr wrap="square" lIns="0" tIns="0" rIns="0" bIns="0" rtlCol="0"/>
          <a:lstStyle/>
          <a:p>
            <a:endParaRPr/>
          </a:p>
        </p:txBody>
      </p:sp>
      <p:sp>
        <p:nvSpPr>
          <p:cNvPr id="44" name="object 44"/>
          <p:cNvSpPr txBox="1"/>
          <p:nvPr/>
        </p:nvSpPr>
        <p:spPr>
          <a:xfrm>
            <a:off x="3498850" y="5734089"/>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内核定时器</a:t>
            </a:r>
            <a:endParaRPr sz="2400">
              <a:latin typeface="微软雅黑"/>
              <a:cs typeface="微软雅黑"/>
            </a:endParaRPr>
          </a:p>
        </p:txBody>
      </p:sp>
      <p:sp>
        <p:nvSpPr>
          <p:cNvPr id="45" name="object 45"/>
          <p:cNvSpPr/>
          <p:nvPr/>
        </p:nvSpPr>
        <p:spPr>
          <a:xfrm>
            <a:off x="5224271" y="5865876"/>
            <a:ext cx="584453" cy="64769"/>
          </a:xfrm>
          <a:prstGeom prst="rect">
            <a:avLst/>
          </a:prstGeom>
          <a:blipFill>
            <a:blip r:embed="rId18" cstate="print"/>
            <a:stretch>
              <a:fillRect/>
            </a:stretch>
          </a:blipFill>
        </p:spPr>
        <p:txBody>
          <a:bodyPr wrap="square" lIns="0" tIns="0" rIns="0" bIns="0" rtlCol="0"/>
          <a:lstStyle/>
          <a:p>
            <a:endParaRPr/>
          </a:p>
        </p:txBody>
      </p:sp>
      <p:sp>
        <p:nvSpPr>
          <p:cNvPr id="46" name="object 46"/>
          <p:cNvSpPr/>
          <p:nvPr/>
        </p:nvSpPr>
        <p:spPr>
          <a:xfrm>
            <a:off x="5772911" y="5551932"/>
            <a:ext cx="2366010" cy="691134"/>
          </a:xfrm>
          <a:prstGeom prst="rect">
            <a:avLst/>
          </a:prstGeom>
          <a:blipFill>
            <a:blip r:embed="rId8" cstate="print"/>
            <a:stretch>
              <a:fillRect/>
            </a:stretch>
          </a:blipFill>
        </p:spPr>
        <p:txBody>
          <a:bodyPr wrap="square" lIns="0" tIns="0" rIns="0" bIns="0" rtlCol="0"/>
          <a:lstStyle/>
          <a:p>
            <a:endParaRPr/>
          </a:p>
        </p:txBody>
      </p:sp>
      <p:sp>
        <p:nvSpPr>
          <p:cNvPr id="47" name="object 47"/>
          <p:cNvSpPr txBox="1"/>
          <p:nvPr/>
        </p:nvSpPr>
        <p:spPr>
          <a:xfrm>
            <a:off x="5878448" y="5734089"/>
            <a:ext cx="21590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系统节拍定时器</a:t>
            </a:r>
            <a:endParaRPr sz="2400">
              <a:latin typeface="微软雅黑"/>
              <a:cs typeface="微软雅黑"/>
            </a:endParaRPr>
          </a:p>
        </p:txBody>
      </p:sp>
      <p:sp>
        <p:nvSpPr>
          <p:cNvPr id="48" name="object 48"/>
          <p:cNvSpPr txBox="1">
            <a:spLocks noGrp="1"/>
          </p:cNvSpPr>
          <p:nvPr>
            <p:ph type="title"/>
          </p:nvPr>
        </p:nvSpPr>
        <p:spPr>
          <a:prstGeom prst="rect">
            <a:avLst/>
          </a:prstGeom>
        </p:spPr>
        <p:txBody>
          <a:bodyPr vert="horz" wrap="square" lIns="0" tIns="0" rIns="0" bIns="0" rtlCol="0">
            <a:spAutoFit/>
          </a:bodyPr>
          <a:lstStyle/>
          <a:p>
            <a:pPr marL="4524375">
              <a:lnSpc>
                <a:spcPct val="100000"/>
              </a:lnSpc>
            </a:pPr>
            <a:r>
              <a:rPr spc="-5" dirty="0">
                <a:solidFill>
                  <a:srgbClr val="252525"/>
                </a:solidFill>
                <a:latin typeface="微软雅黑"/>
                <a:cs typeface="微软雅黑"/>
              </a:rPr>
              <a:t>STM3</a:t>
            </a:r>
            <a:r>
              <a:rPr dirty="0">
                <a:solidFill>
                  <a:srgbClr val="252525"/>
                </a:solidFill>
                <a:latin typeface="微软雅黑"/>
                <a:cs typeface="微软雅黑"/>
              </a:rPr>
              <a:t>2</a:t>
            </a:r>
            <a:r>
              <a:rPr spc="-5" dirty="0">
                <a:solidFill>
                  <a:srgbClr val="252525"/>
                </a:solidFill>
              </a:rPr>
              <a:t>定时器家族</a:t>
            </a:r>
          </a:p>
        </p:txBody>
      </p:sp>
      <p:sp>
        <p:nvSpPr>
          <p:cNvPr id="49" name="object 49"/>
          <p:cNvSpPr/>
          <p:nvPr/>
        </p:nvSpPr>
        <p:spPr>
          <a:xfrm>
            <a:off x="3513583" y="4498085"/>
            <a:ext cx="1521460" cy="810895"/>
          </a:xfrm>
          <a:custGeom>
            <a:avLst/>
            <a:gdLst/>
            <a:ahLst/>
            <a:cxnLst/>
            <a:rect l="l" t="t" r="r" b="b"/>
            <a:pathLst>
              <a:path w="1521460" h="810895">
                <a:moveTo>
                  <a:pt x="1385822" y="0"/>
                </a:moveTo>
                <a:lnTo>
                  <a:pt x="134423" y="1"/>
                </a:lnTo>
                <a:lnTo>
                  <a:pt x="91891" y="7053"/>
                </a:lnTo>
                <a:lnTo>
                  <a:pt x="54985" y="26290"/>
                </a:lnTo>
                <a:lnTo>
                  <a:pt x="25902" y="55513"/>
                </a:lnTo>
                <a:lnTo>
                  <a:pt x="6840" y="92525"/>
                </a:lnTo>
                <a:lnTo>
                  <a:pt x="35" y="134425"/>
                </a:lnTo>
                <a:lnTo>
                  <a:pt x="0" y="676342"/>
                </a:lnTo>
                <a:lnTo>
                  <a:pt x="861" y="691009"/>
                </a:lnTo>
                <a:lnTo>
                  <a:pt x="12218" y="731909"/>
                </a:lnTo>
                <a:lnTo>
                  <a:pt x="35028" y="766452"/>
                </a:lnTo>
                <a:lnTo>
                  <a:pt x="67092" y="792439"/>
                </a:lnTo>
                <a:lnTo>
                  <a:pt x="106211" y="807672"/>
                </a:lnTo>
                <a:lnTo>
                  <a:pt x="135126" y="810767"/>
                </a:lnTo>
                <a:lnTo>
                  <a:pt x="1386525" y="810766"/>
                </a:lnTo>
                <a:lnTo>
                  <a:pt x="1429056" y="803714"/>
                </a:lnTo>
                <a:lnTo>
                  <a:pt x="1465962" y="784477"/>
                </a:lnTo>
                <a:lnTo>
                  <a:pt x="1495045" y="755254"/>
                </a:lnTo>
                <a:lnTo>
                  <a:pt x="1514107" y="718242"/>
                </a:lnTo>
                <a:lnTo>
                  <a:pt x="1520912" y="676342"/>
                </a:lnTo>
                <a:lnTo>
                  <a:pt x="1520948" y="134425"/>
                </a:lnTo>
                <a:lnTo>
                  <a:pt x="1520087" y="119758"/>
                </a:lnTo>
                <a:lnTo>
                  <a:pt x="1508729" y="78858"/>
                </a:lnTo>
                <a:lnTo>
                  <a:pt x="1485919" y="44315"/>
                </a:lnTo>
                <a:lnTo>
                  <a:pt x="1453856" y="18328"/>
                </a:lnTo>
                <a:lnTo>
                  <a:pt x="1414736" y="3095"/>
                </a:lnTo>
                <a:lnTo>
                  <a:pt x="1385822" y="0"/>
                </a:lnTo>
                <a:close/>
              </a:path>
            </a:pathLst>
          </a:custGeom>
          <a:solidFill>
            <a:srgbClr val="FFFFC7"/>
          </a:solidFill>
        </p:spPr>
        <p:txBody>
          <a:bodyPr wrap="square" lIns="0" tIns="0" rIns="0" bIns="0" rtlCol="0"/>
          <a:lstStyle/>
          <a:p>
            <a:endParaRPr/>
          </a:p>
        </p:txBody>
      </p:sp>
      <p:sp>
        <p:nvSpPr>
          <p:cNvPr id="50" name="object 50"/>
          <p:cNvSpPr/>
          <p:nvPr/>
        </p:nvSpPr>
        <p:spPr>
          <a:xfrm>
            <a:off x="3513582" y="4498085"/>
            <a:ext cx="1521460" cy="810895"/>
          </a:xfrm>
          <a:custGeom>
            <a:avLst/>
            <a:gdLst/>
            <a:ahLst/>
            <a:cxnLst/>
            <a:rect l="l" t="t" r="r" b="b"/>
            <a:pathLst>
              <a:path w="1521460" h="810895">
                <a:moveTo>
                  <a:pt x="0" y="135127"/>
                </a:moveTo>
                <a:lnTo>
                  <a:pt x="6842" y="92525"/>
                </a:lnTo>
                <a:lnTo>
                  <a:pt x="25904" y="55513"/>
                </a:lnTo>
                <a:lnTo>
                  <a:pt x="54987" y="26290"/>
                </a:lnTo>
                <a:lnTo>
                  <a:pt x="91893" y="7053"/>
                </a:lnTo>
                <a:lnTo>
                  <a:pt x="134425" y="1"/>
                </a:lnTo>
                <a:lnTo>
                  <a:pt x="253491" y="0"/>
                </a:lnTo>
                <a:lnTo>
                  <a:pt x="633729" y="0"/>
                </a:lnTo>
                <a:lnTo>
                  <a:pt x="1385823" y="0"/>
                </a:lnTo>
                <a:lnTo>
                  <a:pt x="1400510" y="787"/>
                </a:lnTo>
                <a:lnTo>
                  <a:pt x="1441493" y="11947"/>
                </a:lnTo>
                <a:lnTo>
                  <a:pt x="1476153" y="34593"/>
                </a:lnTo>
                <a:lnTo>
                  <a:pt x="1502292" y="66528"/>
                </a:lnTo>
                <a:lnTo>
                  <a:pt x="1517711" y="105554"/>
                </a:lnTo>
                <a:lnTo>
                  <a:pt x="1520952" y="472947"/>
                </a:lnTo>
                <a:lnTo>
                  <a:pt x="1520952" y="675639"/>
                </a:lnTo>
                <a:lnTo>
                  <a:pt x="1520164" y="690326"/>
                </a:lnTo>
                <a:lnTo>
                  <a:pt x="1517856" y="704554"/>
                </a:lnTo>
                <a:lnTo>
                  <a:pt x="1502623" y="743673"/>
                </a:lnTo>
                <a:lnTo>
                  <a:pt x="1476636" y="775737"/>
                </a:lnTo>
                <a:lnTo>
                  <a:pt x="1442093" y="798547"/>
                </a:lnTo>
                <a:lnTo>
                  <a:pt x="1401193" y="809905"/>
                </a:lnTo>
                <a:lnTo>
                  <a:pt x="633729" y="810767"/>
                </a:lnTo>
                <a:lnTo>
                  <a:pt x="514984" y="810767"/>
                </a:lnTo>
                <a:lnTo>
                  <a:pt x="253491" y="810767"/>
                </a:lnTo>
                <a:lnTo>
                  <a:pt x="135127" y="810767"/>
                </a:lnTo>
                <a:lnTo>
                  <a:pt x="120441" y="809980"/>
                </a:lnTo>
                <a:lnTo>
                  <a:pt x="79458" y="798820"/>
                </a:lnTo>
                <a:lnTo>
                  <a:pt x="44798" y="776174"/>
                </a:lnTo>
                <a:lnTo>
                  <a:pt x="18659" y="744239"/>
                </a:lnTo>
                <a:lnTo>
                  <a:pt x="3240" y="705213"/>
                </a:lnTo>
                <a:lnTo>
                  <a:pt x="0" y="675639"/>
                </a:lnTo>
                <a:lnTo>
                  <a:pt x="0" y="472947"/>
                </a:lnTo>
                <a:lnTo>
                  <a:pt x="0" y="135127"/>
                </a:lnTo>
                <a:close/>
              </a:path>
            </a:pathLst>
          </a:custGeom>
          <a:ln w="28956">
            <a:solidFill>
              <a:srgbClr val="000000"/>
            </a:solidFill>
          </a:ln>
        </p:spPr>
        <p:txBody>
          <a:bodyPr wrap="square" lIns="0" tIns="0" rIns="0" bIns="0" rtlCol="0"/>
          <a:lstStyle/>
          <a:p>
            <a:endParaRPr/>
          </a:p>
        </p:txBody>
      </p:sp>
      <p:sp>
        <p:nvSpPr>
          <p:cNvPr id="51" name="object 51"/>
          <p:cNvSpPr txBox="1"/>
          <p:nvPr/>
        </p:nvSpPr>
        <p:spPr>
          <a:xfrm>
            <a:off x="3647694" y="4577524"/>
            <a:ext cx="1252220" cy="675005"/>
          </a:xfrm>
          <a:prstGeom prst="rect">
            <a:avLst/>
          </a:prstGeom>
        </p:spPr>
        <p:txBody>
          <a:bodyPr vert="horz" wrap="square" lIns="0" tIns="0" rIns="0" bIns="0" rtlCol="0">
            <a:spAutoFit/>
          </a:bodyPr>
          <a:lstStyle/>
          <a:p>
            <a:pPr marL="12700" marR="5080">
              <a:lnSpc>
                <a:spcPts val="2710"/>
              </a:lnSpc>
            </a:pPr>
            <a:r>
              <a:rPr sz="2400" b="1" dirty="0">
                <a:latin typeface="宋体"/>
                <a:cs typeface="宋体"/>
              </a:rPr>
              <a:t>按照定时 器的位置</a:t>
            </a:r>
            <a:endParaRPr sz="2400">
              <a:latin typeface="宋体"/>
              <a:cs typeface="宋体"/>
            </a:endParaRPr>
          </a:p>
        </p:txBody>
      </p:sp>
      <p:sp>
        <p:nvSpPr>
          <p:cNvPr id="52" name="object 52"/>
          <p:cNvSpPr/>
          <p:nvPr/>
        </p:nvSpPr>
        <p:spPr>
          <a:xfrm>
            <a:off x="6139435" y="3510534"/>
            <a:ext cx="1519555" cy="810895"/>
          </a:xfrm>
          <a:custGeom>
            <a:avLst/>
            <a:gdLst/>
            <a:ahLst/>
            <a:cxnLst/>
            <a:rect l="l" t="t" r="r" b="b"/>
            <a:pathLst>
              <a:path w="1519554" h="810895">
                <a:moveTo>
                  <a:pt x="1384298" y="0"/>
                </a:moveTo>
                <a:lnTo>
                  <a:pt x="134423" y="1"/>
                </a:lnTo>
                <a:lnTo>
                  <a:pt x="91891" y="7053"/>
                </a:lnTo>
                <a:lnTo>
                  <a:pt x="54985" y="26290"/>
                </a:lnTo>
                <a:lnTo>
                  <a:pt x="25902" y="55513"/>
                </a:lnTo>
                <a:lnTo>
                  <a:pt x="6840" y="92525"/>
                </a:lnTo>
                <a:lnTo>
                  <a:pt x="35" y="134425"/>
                </a:lnTo>
                <a:lnTo>
                  <a:pt x="0" y="676342"/>
                </a:lnTo>
                <a:lnTo>
                  <a:pt x="861" y="691009"/>
                </a:lnTo>
                <a:lnTo>
                  <a:pt x="12218" y="731909"/>
                </a:lnTo>
                <a:lnTo>
                  <a:pt x="35028" y="766452"/>
                </a:lnTo>
                <a:lnTo>
                  <a:pt x="67092" y="792439"/>
                </a:lnTo>
                <a:lnTo>
                  <a:pt x="106211" y="807672"/>
                </a:lnTo>
                <a:lnTo>
                  <a:pt x="135126" y="810767"/>
                </a:lnTo>
                <a:lnTo>
                  <a:pt x="1385001" y="810766"/>
                </a:lnTo>
                <a:lnTo>
                  <a:pt x="1427532" y="803714"/>
                </a:lnTo>
                <a:lnTo>
                  <a:pt x="1464438" y="784477"/>
                </a:lnTo>
                <a:lnTo>
                  <a:pt x="1493521" y="755254"/>
                </a:lnTo>
                <a:lnTo>
                  <a:pt x="1512583" y="718242"/>
                </a:lnTo>
                <a:lnTo>
                  <a:pt x="1519388" y="676342"/>
                </a:lnTo>
                <a:lnTo>
                  <a:pt x="1519424" y="134425"/>
                </a:lnTo>
                <a:lnTo>
                  <a:pt x="1518563" y="119758"/>
                </a:lnTo>
                <a:lnTo>
                  <a:pt x="1507205" y="78858"/>
                </a:lnTo>
                <a:lnTo>
                  <a:pt x="1484395" y="44315"/>
                </a:lnTo>
                <a:lnTo>
                  <a:pt x="1452332" y="18328"/>
                </a:lnTo>
                <a:lnTo>
                  <a:pt x="1413212" y="3095"/>
                </a:lnTo>
                <a:lnTo>
                  <a:pt x="1384298" y="0"/>
                </a:lnTo>
                <a:close/>
              </a:path>
            </a:pathLst>
          </a:custGeom>
          <a:solidFill>
            <a:srgbClr val="FFFFC7"/>
          </a:solidFill>
        </p:spPr>
        <p:txBody>
          <a:bodyPr wrap="square" lIns="0" tIns="0" rIns="0" bIns="0" rtlCol="0"/>
          <a:lstStyle/>
          <a:p>
            <a:endParaRPr/>
          </a:p>
        </p:txBody>
      </p:sp>
      <p:sp>
        <p:nvSpPr>
          <p:cNvPr id="53" name="object 53"/>
          <p:cNvSpPr/>
          <p:nvPr/>
        </p:nvSpPr>
        <p:spPr>
          <a:xfrm>
            <a:off x="6139434" y="3510534"/>
            <a:ext cx="1519555" cy="810895"/>
          </a:xfrm>
          <a:custGeom>
            <a:avLst/>
            <a:gdLst/>
            <a:ahLst/>
            <a:cxnLst/>
            <a:rect l="l" t="t" r="r" b="b"/>
            <a:pathLst>
              <a:path w="1519554" h="810895">
                <a:moveTo>
                  <a:pt x="0" y="135127"/>
                </a:moveTo>
                <a:lnTo>
                  <a:pt x="6842" y="92525"/>
                </a:lnTo>
                <a:lnTo>
                  <a:pt x="25904" y="55513"/>
                </a:lnTo>
                <a:lnTo>
                  <a:pt x="54987" y="26290"/>
                </a:lnTo>
                <a:lnTo>
                  <a:pt x="91893" y="7053"/>
                </a:lnTo>
                <a:lnTo>
                  <a:pt x="134425" y="1"/>
                </a:lnTo>
                <a:lnTo>
                  <a:pt x="253237" y="0"/>
                </a:lnTo>
                <a:lnTo>
                  <a:pt x="633094" y="0"/>
                </a:lnTo>
                <a:lnTo>
                  <a:pt x="1384299" y="0"/>
                </a:lnTo>
                <a:lnTo>
                  <a:pt x="1398986" y="787"/>
                </a:lnTo>
                <a:lnTo>
                  <a:pt x="1439969" y="11947"/>
                </a:lnTo>
                <a:lnTo>
                  <a:pt x="1474629" y="34593"/>
                </a:lnTo>
                <a:lnTo>
                  <a:pt x="1500768" y="66528"/>
                </a:lnTo>
                <a:lnTo>
                  <a:pt x="1516187" y="105554"/>
                </a:lnTo>
                <a:lnTo>
                  <a:pt x="1519427" y="472947"/>
                </a:lnTo>
                <a:lnTo>
                  <a:pt x="1519427" y="675639"/>
                </a:lnTo>
                <a:lnTo>
                  <a:pt x="1518640" y="690326"/>
                </a:lnTo>
                <a:lnTo>
                  <a:pt x="1516332" y="704554"/>
                </a:lnTo>
                <a:lnTo>
                  <a:pt x="1501099" y="743673"/>
                </a:lnTo>
                <a:lnTo>
                  <a:pt x="1475112" y="775737"/>
                </a:lnTo>
                <a:lnTo>
                  <a:pt x="1440569" y="798547"/>
                </a:lnTo>
                <a:lnTo>
                  <a:pt x="1399669" y="809905"/>
                </a:lnTo>
                <a:lnTo>
                  <a:pt x="633094" y="810767"/>
                </a:lnTo>
                <a:lnTo>
                  <a:pt x="514476" y="810767"/>
                </a:lnTo>
                <a:lnTo>
                  <a:pt x="253237" y="810767"/>
                </a:lnTo>
                <a:lnTo>
                  <a:pt x="135127" y="810767"/>
                </a:lnTo>
                <a:lnTo>
                  <a:pt x="120441" y="809980"/>
                </a:lnTo>
                <a:lnTo>
                  <a:pt x="79458" y="798820"/>
                </a:lnTo>
                <a:lnTo>
                  <a:pt x="44798" y="776174"/>
                </a:lnTo>
                <a:lnTo>
                  <a:pt x="18659" y="744239"/>
                </a:lnTo>
                <a:lnTo>
                  <a:pt x="3240" y="705213"/>
                </a:lnTo>
                <a:lnTo>
                  <a:pt x="0" y="675639"/>
                </a:lnTo>
                <a:lnTo>
                  <a:pt x="0" y="472947"/>
                </a:lnTo>
                <a:lnTo>
                  <a:pt x="0" y="135127"/>
                </a:lnTo>
                <a:close/>
              </a:path>
            </a:pathLst>
          </a:custGeom>
          <a:ln w="28956">
            <a:solidFill>
              <a:srgbClr val="000000"/>
            </a:solidFill>
          </a:ln>
        </p:spPr>
        <p:txBody>
          <a:bodyPr wrap="square" lIns="0" tIns="0" rIns="0" bIns="0" rtlCol="0"/>
          <a:lstStyle/>
          <a:p>
            <a:endParaRPr/>
          </a:p>
        </p:txBody>
      </p:sp>
      <p:sp>
        <p:nvSpPr>
          <p:cNvPr id="54" name="object 54"/>
          <p:cNvSpPr txBox="1"/>
          <p:nvPr/>
        </p:nvSpPr>
        <p:spPr>
          <a:xfrm>
            <a:off x="6273165" y="3589591"/>
            <a:ext cx="1250950" cy="675005"/>
          </a:xfrm>
          <a:prstGeom prst="rect">
            <a:avLst/>
          </a:prstGeom>
        </p:spPr>
        <p:txBody>
          <a:bodyPr vert="horz" wrap="square" lIns="0" tIns="0" rIns="0" bIns="0" rtlCol="0">
            <a:spAutoFit/>
          </a:bodyPr>
          <a:lstStyle/>
          <a:p>
            <a:pPr marL="12700" marR="5080">
              <a:lnSpc>
                <a:spcPts val="2710"/>
              </a:lnSpc>
            </a:pPr>
            <a:r>
              <a:rPr sz="2400" b="1" dirty="0">
                <a:latin typeface="宋体"/>
                <a:cs typeface="宋体"/>
              </a:rPr>
              <a:t>按照定时 器的功能</a:t>
            </a:r>
            <a:endParaRPr sz="2400">
              <a:latin typeface="宋体"/>
              <a:cs typeface="宋体"/>
            </a:endParaRPr>
          </a:p>
        </p:txBody>
      </p:sp>
    </p:spTree>
    <p:extLst>
      <p:ext uri="{BB962C8B-B14F-4D97-AF65-F5344CB8AC3E}">
        <p14:creationId xmlns:p14="http://schemas.microsoft.com/office/powerpoint/2010/main" val="2101469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4750308" y="2226564"/>
            <a:ext cx="321945" cy="375285"/>
          </a:xfrm>
          <a:custGeom>
            <a:avLst/>
            <a:gdLst/>
            <a:ahLst/>
            <a:cxnLst/>
            <a:rect l="l" t="t" r="r" b="b"/>
            <a:pathLst>
              <a:path w="321945" h="375285">
                <a:moveTo>
                  <a:pt x="0" y="0"/>
                </a:moveTo>
                <a:lnTo>
                  <a:pt x="0" y="374903"/>
                </a:lnTo>
                <a:lnTo>
                  <a:pt x="321563" y="187451"/>
                </a:lnTo>
                <a:lnTo>
                  <a:pt x="0" y="0"/>
                </a:lnTo>
                <a:close/>
              </a:path>
            </a:pathLst>
          </a:custGeom>
          <a:solidFill>
            <a:srgbClr val="398797"/>
          </a:solidFill>
        </p:spPr>
        <p:txBody>
          <a:bodyPr wrap="square" lIns="0" tIns="0" rIns="0" bIns="0" rtlCol="0"/>
          <a:lstStyle/>
          <a:p>
            <a:endParaRPr/>
          </a:p>
        </p:txBody>
      </p:sp>
      <p:sp>
        <p:nvSpPr>
          <p:cNvPr id="9" name="object 9"/>
          <p:cNvSpPr/>
          <p:nvPr/>
        </p:nvSpPr>
        <p:spPr>
          <a:xfrm>
            <a:off x="4750308" y="3704844"/>
            <a:ext cx="321945" cy="373380"/>
          </a:xfrm>
          <a:custGeom>
            <a:avLst/>
            <a:gdLst/>
            <a:ahLst/>
            <a:cxnLst/>
            <a:rect l="l" t="t" r="r" b="b"/>
            <a:pathLst>
              <a:path w="321945" h="373379">
                <a:moveTo>
                  <a:pt x="0" y="0"/>
                </a:moveTo>
                <a:lnTo>
                  <a:pt x="0" y="373379"/>
                </a:lnTo>
                <a:lnTo>
                  <a:pt x="321563" y="186689"/>
                </a:lnTo>
                <a:lnTo>
                  <a:pt x="0" y="0"/>
                </a:lnTo>
                <a:close/>
              </a:path>
            </a:pathLst>
          </a:custGeom>
          <a:solidFill>
            <a:srgbClr val="EA5221"/>
          </a:solidFill>
        </p:spPr>
        <p:txBody>
          <a:bodyPr wrap="square" lIns="0" tIns="0" rIns="0" bIns="0" rtlCol="0"/>
          <a:lstStyle/>
          <a:p>
            <a:endParaRPr/>
          </a:p>
        </p:txBody>
      </p:sp>
      <p:sp>
        <p:nvSpPr>
          <p:cNvPr id="10" name="object 10"/>
          <p:cNvSpPr/>
          <p:nvPr/>
        </p:nvSpPr>
        <p:spPr>
          <a:xfrm>
            <a:off x="4764023" y="5338571"/>
            <a:ext cx="323215" cy="373380"/>
          </a:xfrm>
          <a:custGeom>
            <a:avLst/>
            <a:gdLst/>
            <a:ahLst/>
            <a:cxnLst/>
            <a:rect l="l" t="t" r="r" b="b"/>
            <a:pathLst>
              <a:path w="323214" h="373379">
                <a:moveTo>
                  <a:pt x="0" y="0"/>
                </a:moveTo>
                <a:lnTo>
                  <a:pt x="0" y="373379"/>
                </a:lnTo>
                <a:lnTo>
                  <a:pt x="323088" y="186689"/>
                </a:lnTo>
                <a:lnTo>
                  <a:pt x="0" y="0"/>
                </a:lnTo>
                <a:close/>
              </a:path>
            </a:pathLst>
          </a:custGeom>
          <a:solidFill>
            <a:srgbClr val="FBC717"/>
          </a:solidFill>
        </p:spPr>
        <p:txBody>
          <a:bodyPr wrap="square" lIns="0" tIns="0" rIns="0" bIns="0" rtlCol="0"/>
          <a:lstStyle/>
          <a:p>
            <a:endParaRPr/>
          </a:p>
        </p:txBody>
      </p:sp>
      <p:sp>
        <p:nvSpPr>
          <p:cNvPr id="11" name="object 11"/>
          <p:cNvSpPr txBox="1"/>
          <p:nvPr/>
        </p:nvSpPr>
        <p:spPr>
          <a:xfrm>
            <a:off x="5269738" y="2070098"/>
            <a:ext cx="6571615" cy="711835"/>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几乎没有任何输</a:t>
            </a:r>
            <a:r>
              <a:rPr sz="2400" b="1" dirty="0">
                <a:latin typeface="微软雅黑"/>
                <a:cs typeface="微软雅黑"/>
              </a:rPr>
              <a:t>入/</a:t>
            </a:r>
            <a:r>
              <a:rPr sz="2400" b="1" spc="-5" dirty="0">
                <a:latin typeface="微软雅黑"/>
                <a:cs typeface="微软雅黑"/>
              </a:rPr>
              <a:t>输出通道，常用作时基，实现</a:t>
            </a:r>
            <a:endParaRPr sz="2400">
              <a:latin typeface="微软雅黑"/>
              <a:cs typeface="微软雅黑"/>
            </a:endParaRPr>
          </a:p>
          <a:p>
            <a:pPr marL="12700">
              <a:lnSpc>
                <a:spcPct val="100000"/>
              </a:lnSpc>
              <a:spcBef>
                <a:spcPts val="120"/>
              </a:spcBef>
            </a:pPr>
            <a:r>
              <a:rPr sz="2400" b="1" dirty="0">
                <a:latin typeface="微软雅黑"/>
                <a:cs typeface="微软雅黑"/>
              </a:rPr>
              <a:t>基本的定时/计数功能</a:t>
            </a:r>
            <a:endParaRPr sz="2400">
              <a:latin typeface="微软雅黑"/>
              <a:cs typeface="微软雅黑"/>
            </a:endParaRPr>
          </a:p>
        </p:txBody>
      </p:sp>
      <p:sp>
        <p:nvSpPr>
          <p:cNvPr id="12" name="object 12"/>
          <p:cNvSpPr txBox="1"/>
          <p:nvPr/>
        </p:nvSpPr>
        <p:spPr>
          <a:xfrm>
            <a:off x="656081" y="3240785"/>
            <a:ext cx="11300460" cy="1304925"/>
          </a:xfrm>
          <a:prstGeom prst="rect">
            <a:avLst/>
          </a:prstGeom>
          <a:ln w="38100">
            <a:solidFill>
              <a:srgbClr val="FF0000"/>
            </a:solidFill>
          </a:ln>
        </p:spPr>
        <p:txBody>
          <a:bodyPr vert="horz" wrap="square" lIns="0" tIns="0" rIns="0" bIns="0" rtlCol="0">
            <a:spAutoFit/>
          </a:bodyPr>
          <a:lstStyle/>
          <a:p>
            <a:pPr marL="4606925">
              <a:lnSpc>
                <a:spcPct val="100000"/>
              </a:lnSpc>
            </a:pPr>
            <a:r>
              <a:rPr sz="2400" b="1" spc="-5" dirty="0">
                <a:latin typeface="微软雅黑"/>
                <a:cs typeface="微软雅黑"/>
              </a:rPr>
              <a:t>具备多路独立的捕获和比较通道，可以完成定</a:t>
            </a:r>
            <a:r>
              <a:rPr sz="2400" b="1" spc="5" dirty="0">
                <a:latin typeface="微软雅黑"/>
                <a:cs typeface="微软雅黑"/>
              </a:rPr>
              <a:t>时</a:t>
            </a:r>
            <a:r>
              <a:rPr sz="2400" b="1" dirty="0">
                <a:latin typeface="微软雅黑"/>
                <a:cs typeface="微软雅黑"/>
              </a:rPr>
              <a:t>/</a:t>
            </a:r>
            <a:endParaRPr sz="2400">
              <a:latin typeface="微软雅黑"/>
              <a:cs typeface="微软雅黑"/>
            </a:endParaRPr>
          </a:p>
          <a:p>
            <a:pPr marL="4606925">
              <a:lnSpc>
                <a:spcPct val="100000"/>
              </a:lnSpc>
              <a:spcBef>
                <a:spcPts val="1440"/>
              </a:spcBef>
            </a:pPr>
            <a:r>
              <a:rPr sz="2400" b="1" dirty="0">
                <a:latin typeface="微软雅黑"/>
                <a:cs typeface="微软雅黑"/>
              </a:rPr>
              <a:t>计数、输入捕获、输出比较等功能</a:t>
            </a:r>
            <a:endParaRPr sz="2400">
              <a:latin typeface="微软雅黑"/>
              <a:cs typeface="微软雅黑"/>
            </a:endParaRPr>
          </a:p>
        </p:txBody>
      </p:sp>
      <p:sp>
        <p:nvSpPr>
          <p:cNvPr id="13" name="object 13"/>
          <p:cNvSpPr txBox="1"/>
          <p:nvPr/>
        </p:nvSpPr>
        <p:spPr>
          <a:xfrm>
            <a:off x="5269738" y="4853167"/>
            <a:ext cx="6426835" cy="1428115"/>
          </a:xfrm>
          <a:prstGeom prst="rect">
            <a:avLst/>
          </a:prstGeom>
        </p:spPr>
        <p:txBody>
          <a:bodyPr vert="horz" wrap="square" lIns="0" tIns="0" rIns="0" bIns="0" rtlCol="0">
            <a:spAutoFit/>
          </a:bodyPr>
          <a:lstStyle/>
          <a:p>
            <a:pPr marL="12700" marR="5080" algn="just">
              <a:lnSpc>
                <a:spcPct val="150000"/>
              </a:lnSpc>
            </a:pPr>
            <a:r>
              <a:rPr sz="2400" b="1" dirty="0">
                <a:latin typeface="微软雅黑"/>
                <a:cs typeface="微软雅黑"/>
              </a:rPr>
              <a:t>除具备通用定时器的功能外，还具</a:t>
            </a:r>
            <a:r>
              <a:rPr sz="2400" b="1" spc="5" dirty="0">
                <a:latin typeface="微软雅黑"/>
                <a:cs typeface="微软雅黑"/>
              </a:rPr>
              <a:t>备</a:t>
            </a:r>
            <a:r>
              <a:rPr sz="2400" b="1" dirty="0">
                <a:solidFill>
                  <a:srgbClr val="333333"/>
                </a:solidFill>
                <a:latin typeface="微软雅黑"/>
                <a:cs typeface="微软雅黑"/>
              </a:rPr>
              <a:t>带死区控制 </a:t>
            </a:r>
            <a:r>
              <a:rPr sz="2400" b="1" spc="-5" dirty="0">
                <a:solidFill>
                  <a:srgbClr val="333333"/>
                </a:solidFill>
                <a:latin typeface="微软雅黑"/>
                <a:cs typeface="微软雅黑"/>
              </a:rPr>
              <a:t>的互补信号输出、紧急刹车关断输入等功能，可 </a:t>
            </a:r>
            <a:r>
              <a:rPr sz="2400" b="1" dirty="0">
                <a:solidFill>
                  <a:srgbClr val="333333"/>
                </a:solidFill>
                <a:latin typeface="微软雅黑"/>
                <a:cs typeface="微软雅黑"/>
              </a:rPr>
              <a:t>用于电机控制和数字电源设计</a:t>
            </a:r>
            <a:endParaRPr sz="2400">
              <a:latin typeface="微软雅黑"/>
              <a:cs typeface="微软雅黑"/>
            </a:endParaRPr>
          </a:p>
        </p:txBody>
      </p:sp>
      <p:sp>
        <p:nvSpPr>
          <p:cNvPr id="14" name="object 14"/>
          <p:cNvSpPr txBox="1"/>
          <p:nvPr/>
        </p:nvSpPr>
        <p:spPr>
          <a:xfrm>
            <a:off x="1005839" y="1894332"/>
            <a:ext cx="3744595" cy="1039494"/>
          </a:xfrm>
          <a:prstGeom prst="rect">
            <a:avLst/>
          </a:prstGeom>
          <a:solidFill>
            <a:srgbClr val="398797"/>
          </a:solidFill>
        </p:spPr>
        <p:txBody>
          <a:bodyPr vert="horz" wrap="square" lIns="0" tIns="0" rIns="0" bIns="0" rtlCol="0">
            <a:spAutoFit/>
          </a:bodyPr>
          <a:lstStyle/>
          <a:p>
            <a:pPr marL="953135">
              <a:lnSpc>
                <a:spcPct val="100000"/>
              </a:lnSpc>
            </a:pPr>
            <a:r>
              <a:rPr sz="2800" b="1" spc="-5" dirty="0">
                <a:solidFill>
                  <a:srgbClr val="3A3A3A"/>
                </a:solidFill>
                <a:latin typeface="微软雅黑"/>
                <a:cs typeface="微软雅黑"/>
              </a:rPr>
              <a:t>基本定时器</a:t>
            </a:r>
            <a:endParaRPr sz="2800">
              <a:latin typeface="微软雅黑"/>
              <a:cs typeface="微软雅黑"/>
            </a:endParaRPr>
          </a:p>
        </p:txBody>
      </p:sp>
      <p:sp>
        <p:nvSpPr>
          <p:cNvPr id="15" name="object 15"/>
          <p:cNvSpPr txBox="1"/>
          <p:nvPr/>
        </p:nvSpPr>
        <p:spPr>
          <a:xfrm>
            <a:off x="1005839" y="3372611"/>
            <a:ext cx="3744595" cy="1039494"/>
          </a:xfrm>
          <a:prstGeom prst="rect">
            <a:avLst/>
          </a:prstGeom>
          <a:solidFill>
            <a:srgbClr val="EA5221"/>
          </a:solidFill>
        </p:spPr>
        <p:txBody>
          <a:bodyPr vert="horz" wrap="square" lIns="0" tIns="0" rIns="0" bIns="0" rtlCol="0">
            <a:spAutoFit/>
          </a:bodyPr>
          <a:lstStyle/>
          <a:p>
            <a:pPr marL="953135">
              <a:lnSpc>
                <a:spcPct val="100000"/>
              </a:lnSpc>
            </a:pPr>
            <a:r>
              <a:rPr sz="2800" b="1" spc="-10" dirty="0">
                <a:solidFill>
                  <a:srgbClr val="FFFFFF"/>
                </a:solidFill>
                <a:latin typeface="微软雅黑"/>
                <a:cs typeface="微软雅黑"/>
              </a:rPr>
              <a:t>通用定时器</a:t>
            </a:r>
            <a:endParaRPr sz="2800">
              <a:latin typeface="微软雅黑"/>
              <a:cs typeface="微软雅黑"/>
            </a:endParaRPr>
          </a:p>
        </p:txBody>
      </p:sp>
      <p:sp>
        <p:nvSpPr>
          <p:cNvPr id="16" name="object 16"/>
          <p:cNvSpPr txBox="1"/>
          <p:nvPr/>
        </p:nvSpPr>
        <p:spPr>
          <a:xfrm>
            <a:off x="1019555" y="5004815"/>
            <a:ext cx="3744595" cy="1039494"/>
          </a:xfrm>
          <a:prstGeom prst="rect">
            <a:avLst/>
          </a:prstGeom>
          <a:solidFill>
            <a:srgbClr val="FBC717"/>
          </a:solidFill>
        </p:spPr>
        <p:txBody>
          <a:bodyPr vert="horz" wrap="square" lIns="0" tIns="0" rIns="0" bIns="0" rtlCol="0">
            <a:spAutoFit/>
          </a:bodyPr>
          <a:lstStyle/>
          <a:p>
            <a:pPr marL="939165">
              <a:lnSpc>
                <a:spcPct val="100000"/>
              </a:lnSpc>
            </a:pPr>
            <a:r>
              <a:rPr sz="2800" b="1" spc="-5" dirty="0">
                <a:solidFill>
                  <a:srgbClr val="3A3A3A"/>
                </a:solidFill>
                <a:latin typeface="微软雅黑"/>
                <a:cs typeface="微软雅黑"/>
              </a:rPr>
              <a:t>高级定时器</a:t>
            </a:r>
            <a:endParaRPr sz="2800">
              <a:latin typeface="微软雅黑"/>
              <a:cs typeface="微软雅黑"/>
            </a:endParaRPr>
          </a:p>
        </p:txBody>
      </p:sp>
      <p:sp>
        <p:nvSpPr>
          <p:cNvPr id="17" name="object 1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18" name="object 1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9" name="object 1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21" name="object 21"/>
          <p:cNvSpPr txBox="1"/>
          <p:nvPr/>
        </p:nvSpPr>
        <p:spPr>
          <a:xfrm>
            <a:off x="207365" y="1155943"/>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常规定时器</a:t>
            </a:r>
            <a:endParaRPr sz="2400">
              <a:latin typeface="微软雅黑"/>
              <a:cs typeface="微软雅黑"/>
            </a:endParaRPr>
          </a:p>
        </p:txBody>
      </p:sp>
      <p:sp>
        <p:nvSpPr>
          <p:cNvPr id="22" name="object 22"/>
          <p:cNvSpPr txBox="1">
            <a:spLocks noGrp="1"/>
          </p:cNvSpPr>
          <p:nvPr>
            <p:ph type="title"/>
          </p:nvPr>
        </p:nvSpPr>
        <p:spPr>
          <a:prstGeom prst="rect">
            <a:avLst/>
          </a:prstGeom>
        </p:spPr>
        <p:txBody>
          <a:bodyPr vert="horz" wrap="square" lIns="0" tIns="0" rIns="0" bIns="0" rtlCol="0">
            <a:spAutoFit/>
          </a:bodyPr>
          <a:lstStyle/>
          <a:p>
            <a:pPr marL="4524375">
              <a:lnSpc>
                <a:spcPct val="100000"/>
              </a:lnSpc>
            </a:pPr>
            <a:r>
              <a:rPr spc="-5" dirty="0">
                <a:solidFill>
                  <a:srgbClr val="252525"/>
                </a:solidFill>
              </a:rPr>
              <a:t>常规定时器分类</a:t>
            </a:r>
          </a:p>
        </p:txBody>
      </p:sp>
    </p:spTree>
    <p:extLst>
      <p:ext uri="{BB962C8B-B14F-4D97-AF65-F5344CB8AC3E}">
        <p14:creationId xmlns:p14="http://schemas.microsoft.com/office/powerpoint/2010/main" val="204751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26764" y="4125467"/>
            <a:ext cx="1210056" cy="1144524"/>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7" name="object 7"/>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8" name="object 8"/>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9" name="object 9"/>
          <p:cNvSpPr/>
          <p:nvPr/>
        </p:nvSpPr>
        <p:spPr>
          <a:xfrm>
            <a:off x="3278123" y="928116"/>
            <a:ext cx="5560314" cy="162382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3210336" y="846582"/>
            <a:ext cx="5521421" cy="1584959"/>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3210305" y="846582"/>
            <a:ext cx="5521960" cy="1584960"/>
          </a:xfrm>
          <a:custGeom>
            <a:avLst/>
            <a:gdLst/>
            <a:ahLst/>
            <a:cxnLst/>
            <a:rect l="l" t="t" r="r" b="b"/>
            <a:pathLst>
              <a:path w="5521959" h="1584960">
                <a:moveTo>
                  <a:pt x="0" y="172592"/>
                </a:moveTo>
                <a:lnTo>
                  <a:pt x="5419" y="129481"/>
                </a:lnTo>
                <a:lnTo>
                  <a:pt x="20779" y="90373"/>
                </a:lnTo>
                <a:lnTo>
                  <a:pt x="44733" y="56614"/>
                </a:lnTo>
                <a:lnTo>
                  <a:pt x="75932" y="29554"/>
                </a:lnTo>
                <a:lnTo>
                  <a:pt x="113029" y="10539"/>
                </a:lnTo>
                <a:lnTo>
                  <a:pt x="154676" y="917"/>
                </a:lnTo>
                <a:lnTo>
                  <a:pt x="5348859" y="0"/>
                </a:lnTo>
                <a:lnTo>
                  <a:pt x="5363590" y="618"/>
                </a:lnTo>
                <a:lnTo>
                  <a:pt x="5405517" y="9501"/>
                </a:lnTo>
                <a:lnTo>
                  <a:pt x="5442992" y="27876"/>
                </a:lnTo>
                <a:lnTo>
                  <a:pt x="5474668" y="54394"/>
                </a:lnTo>
                <a:lnTo>
                  <a:pt x="5499196" y="87709"/>
                </a:lnTo>
                <a:lnTo>
                  <a:pt x="5515230" y="126472"/>
                </a:lnTo>
                <a:lnTo>
                  <a:pt x="5521421" y="169337"/>
                </a:lnTo>
                <a:lnTo>
                  <a:pt x="5521452" y="1412366"/>
                </a:lnTo>
                <a:lnTo>
                  <a:pt x="5520833" y="1427098"/>
                </a:lnTo>
                <a:lnTo>
                  <a:pt x="5511950" y="1469025"/>
                </a:lnTo>
                <a:lnTo>
                  <a:pt x="5493575" y="1506500"/>
                </a:lnTo>
                <a:lnTo>
                  <a:pt x="5467057" y="1538176"/>
                </a:lnTo>
                <a:lnTo>
                  <a:pt x="5433742" y="1562704"/>
                </a:lnTo>
                <a:lnTo>
                  <a:pt x="5394979" y="1578738"/>
                </a:lnTo>
                <a:lnTo>
                  <a:pt x="5352114" y="1584929"/>
                </a:lnTo>
                <a:lnTo>
                  <a:pt x="172593" y="1584959"/>
                </a:lnTo>
                <a:lnTo>
                  <a:pt x="157861" y="1584341"/>
                </a:lnTo>
                <a:lnTo>
                  <a:pt x="115934" y="1575458"/>
                </a:lnTo>
                <a:lnTo>
                  <a:pt x="78459" y="1557083"/>
                </a:lnTo>
                <a:lnTo>
                  <a:pt x="46783" y="1530565"/>
                </a:lnTo>
                <a:lnTo>
                  <a:pt x="22255" y="1497250"/>
                </a:lnTo>
                <a:lnTo>
                  <a:pt x="6221" y="1458487"/>
                </a:lnTo>
                <a:lnTo>
                  <a:pt x="30" y="1415622"/>
                </a:lnTo>
                <a:lnTo>
                  <a:pt x="0" y="172592"/>
                </a:lnTo>
                <a:close/>
              </a:path>
            </a:pathLst>
          </a:custGeom>
          <a:ln w="38100">
            <a:solidFill>
              <a:srgbClr val="FFFFFF"/>
            </a:solidFill>
          </a:ln>
        </p:spPr>
        <p:txBody>
          <a:bodyPr wrap="square" lIns="0" tIns="0" rIns="0" bIns="0" rtlCol="0"/>
          <a:lstStyle/>
          <a:p>
            <a:endParaRPr/>
          </a:p>
        </p:txBody>
      </p:sp>
      <p:sp>
        <p:nvSpPr>
          <p:cNvPr id="12" name="object 12"/>
          <p:cNvSpPr txBox="1"/>
          <p:nvPr/>
        </p:nvSpPr>
        <p:spPr>
          <a:xfrm>
            <a:off x="5036565" y="1018030"/>
            <a:ext cx="3326765" cy="1355090"/>
          </a:xfrm>
          <a:prstGeom prst="rect">
            <a:avLst/>
          </a:prstGeom>
        </p:spPr>
        <p:txBody>
          <a:bodyPr vert="horz" wrap="square" lIns="0" tIns="0" rIns="0" bIns="0" rtlCol="0">
            <a:spAutoFit/>
          </a:bodyPr>
          <a:lstStyle/>
          <a:p>
            <a:pPr marL="12700">
              <a:lnSpc>
                <a:spcPct val="100000"/>
              </a:lnSpc>
            </a:pPr>
            <a:r>
              <a:rPr sz="1100" spc="165" dirty="0">
                <a:solidFill>
                  <a:srgbClr val="006699"/>
                </a:solidFill>
                <a:latin typeface="Segoe UI Symbol"/>
                <a:cs typeface="Segoe UI Symbol"/>
              </a:rPr>
              <a:t>◆ </a:t>
            </a:r>
            <a:r>
              <a:rPr sz="1100" spc="70" dirty="0">
                <a:solidFill>
                  <a:srgbClr val="006699"/>
                </a:solidFill>
                <a:latin typeface="Segoe UI Symbol"/>
                <a:cs typeface="Segoe UI Symbol"/>
              </a:rPr>
              <a:t> </a:t>
            </a:r>
            <a:r>
              <a:rPr sz="2400" b="1" dirty="0">
                <a:solidFill>
                  <a:srgbClr val="FF0000"/>
                </a:solidFill>
                <a:latin typeface="微软雅黑"/>
                <a:cs typeface="微软雅黑"/>
              </a:rPr>
              <a:t>1 </a:t>
            </a:r>
            <a:r>
              <a:rPr sz="2400" b="1" dirty="0">
                <a:latin typeface="微软雅黑"/>
                <a:cs typeface="微软雅黑"/>
              </a:rPr>
              <a:t>个</a:t>
            </a:r>
            <a:r>
              <a:rPr sz="2400" b="1" spc="-10" dirty="0">
                <a:latin typeface="微软雅黑"/>
                <a:cs typeface="微软雅黑"/>
              </a:rPr>
              <a:t> </a:t>
            </a:r>
            <a:r>
              <a:rPr sz="2400" b="1" spc="-5" dirty="0">
                <a:solidFill>
                  <a:srgbClr val="FF0000"/>
                </a:solidFill>
                <a:latin typeface="微软雅黑"/>
                <a:cs typeface="微软雅黑"/>
              </a:rPr>
              <a:t>1</a:t>
            </a:r>
            <a:r>
              <a:rPr sz="2400" b="1" dirty="0">
                <a:solidFill>
                  <a:srgbClr val="FF0000"/>
                </a:solidFill>
                <a:latin typeface="微软雅黑"/>
                <a:cs typeface="微软雅黑"/>
              </a:rPr>
              <a:t>6</a:t>
            </a:r>
            <a:r>
              <a:rPr sz="2400" b="1" spc="-15" dirty="0">
                <a:solidFill>
                  <a:srgbClr val="FF0000"/>
                </a:solidFill>
                <a:latin typeface="微软雅黑"/>
                <a:cs typeface="微软雅黑"/>
              </a:rPr>
              <a:t> </a:t>
            </a:r>
            <a:r>
              <a:rPr sz="2400" b="1" dirty="0">
                <a:solidFill>
                  <a:srgbClr val="FF0000"/>
                </a:solidFill>
                <a:latin typeface="微软雅黑"/>
                <a:cs typeface="微软雅黑"/>
              </a:rPr>
              <a:t>位 </a:t>
            </a:r>
            <a:r>
              <a:rPr sz="2400" b="1" spc="-5" dirty="0">
                <a:solidFill>
                  <a:srgbClr val="FF0000"/>
                </a:solidFill>
                <a:latin typeface="微软雅黑"/>
                <a:cs typeface="微软雅黑"/>
              </a:rPr>
              <a:t>高级</a:t>
            </a:r>
            <a:r>
              <a:rPr sz="2400" b="1" dirty="0">
                <a:latin typeface="微软雅黑"/>
                <a:cs typeface="微软雅黑"/>
              </a:rPr>
              <a:t>定时器</a:t>
            </a:r>
            <a:endParaRPr sz="2400">
              <a:latin typeface="微软雅黑"/>
              <a:cs typeface="微软雅黑"/>
            </a:endParaRPr>
          </a:p>
          <a:p>
            <a:pPr marL="12700">
              <a:lnSpc>
                <a:spcPct val="100000"/>
              </a:lnSpc>
              <a:spcBef>
                <a:spcPts val="1150"/>
              </a:spcBef>
            </a:pPr>
            <a:r>
              <a:rPr sz="1200" spc="150" dirty="0">
                <a:solidFill>
                  <a:srgbClr val="006699"/>
                </a:solidFill>
                <a:latin typeface="Segoe UI Symbol"/>
                <a:cs typeface="Segoe UI Symbol"/>
              </a:rPr>
              <a:t>◆ </a:t>
            </a:r>
            <a:r>
              <a:rPr sz="1200" spc="55" dirty="0">
                <a:solidFill>
                  <a:srgbClr val="006699"/>
                </a:solidFill>
                <a:latin typeface="Segoe UI Symbol"/>
                <a:cs typeface="Segoe UI Symbol"/>
              </a:rPr>
              <a:t> </a:t>
            </a:r>
            <a:r>
              <a:rPr sz="2400" b="1" spc="-5" dirty="0">
                <a:solidFill>
                  <a:srgbClr val="FF0000"/>
                </a:solidFill>
                <a:latin typeface="微软雅黑"/>
                <a:cs typeface="微软雅黑"/>
              </a:rPr>
              <a:t>2</a:t>
            </a:r>
            <a:r>
              <a:rPr sz="2400" b="1" dirty="0">
                <a:solidFill>
                  <a:srgbClr val="FF0000"/>
                </a:solidFill>
                <a:latin typeface="微软雅黑"/>
                <a:cs typeface="微软雅黑"/>
              </a:rPr>
              <a:t> </a:t>
            </a:r>
            <a:r>
              <a:rPr sz="2400" b="1" dirty="0">
                <a:latin typeface="微软雅黑"/>
                <a:cs typeface="微软雅黑"/>
              </a:rPr>
              <a:t>个</a:t>
            </a:r>
            <a:r>
              <a:rPr sz="2400" b="1" spc="-10" dirty="0">
                <a:latin typeface="微软雅黑"/>
                <a:cs typeface="微软雅黑"/>
              </a:rPr>
              <a:t> </a:t>
            </a:r>
            <a:r>
              <a:rPr sz="2400" b="1" spc="-10" dirty="0">
                <a:solidFill>
                  <a:srgbClr val="FF0000"/>
                </a:solidFill>
                <a:latin typeface="微软雅黑"/>
                <a:cs typeface="微软雅黑"/>
              </a:rPr>
              <a:t>3</a:t>
            </a:r>
            <a:r>
              <a:rPr sz="2400" b="1" spc="-5" dirty="0">
                <a:solidFill>
                  <a:srgbClr val="FF0000"/>
                </a:solidFill>
                <a:latin typeface="微软雅黑"/>
                <a:cs typeface="微软雅黑"/>
              </a:rPr>
              <a:t>2</a:t>
            </a:r>
            <a:r>
              <a:rPr sz="2400" b="1" spc="-15" dirty="0">
                <a:solidFill>
                  <a:srgbClr val="FF0000"/>
                </a:solidFill>
                <a:latin typeface="微软雅黑"/>
                <a:cs typeface="微软雅黑"/>
              </a:rPr>
              <a:t> </a:t>
            </a:r>
            <a:r>
              <a:rPr sz="2400" b="1" dirty="0">
                <a:solidFill>
                  <a:srgbClr val="FF0000"/>
                </a:solidFill>
                <a:latin typeface="微软雅黑"/>
                <a:cs typeface="微软雅黑"/>
              </a:rPr>
              <a:t>位 通用</a:t>
            </a:r>
            <a:r>
              <a:rPr sz="2400" b="1" dirty="0">
                <a:latin typeface="微软雅黑"/>
                <a:cs typeface="微软雅黑"/>
              </a:rPr>
              <a:t>定时器</a:t>
            </a:r>
            <a:endParaRPr sz="2400">
              <a:latin typeface="微软雅黑"/>
              <a:cs typeface="微软雅黑"/>
            </a:endParaRPr>
          </a:p>
          <a:p>
            <a:pPr marL="12700">
              <a:lnSpc>
                <a:spcPct val="100000"/>
              </a:lnSpc>
              <a:spcBef>
                <a:spcPts val="1150"/>
              </a:spcBef>
            </a:pPr>
            <a:r>
              <a:rPr sz="1200" spc="150" dirty="0">
                <a:solidFill>
                  <a:srgbClr val="006699"/>
                </a:solidFill>
                <a:latin typeface="Segoe UI Symbol"/>
                <a:cs typeface="Segoe UI Symbol"/>
              </a:rPr>
              <a:t>◆ </a:t>
            </a:r>
            <a:r>
              <a:rPr sz="1200" spc="55" dirty="0">
                <a:solidFill>
                  <a:srgbClr val="006699"/>
                </a:solidFill>
                <a:latin typeface="Segoe UI Symbol"/>
                <a:cs typeface="Segoe UI Symbol"/>
              </a:rPr>
              <a:t> </a:t>
            </a:r>
            <a:r>
              <a:rPr sz="2400" b="1" spc="-5" dirty="0">
                <a:solidFill>
                  <a:srgbClr val="FF0000"/>
                </a:solidFill>
                <a:latin typeface="微软雅黑"/>
                <a:cs typeface="微软雅黑"/>
              </a:rPr>
              <a:t>5</a:t>
            </a:r>
            <a:r>
              <a:rPr sz="2400" b="1" dirty="0">
                <a:solidFill>
                  <a:srgbClr val="FF0000"/>
                </a:solidFill>
                <a:latin typeface="微软雅黑"/>
                <a:cs typeface="微软雅黑"/>
              </a:rPr>
              <a:t> </a:t>
            </a:r>
            <a:r>
              <a:rPr sz="2400" b="1" dirty="0">
                <a:latin typeface="微软雅黑"/>
                <a:cs typeface="微软雅黑"/>
              </a:rPr>
              <a:t>个</a:t>
            </a:r>
            <a:r>
              <a:rPr sz="2400" b="1" spc="-10" dirty="0">
                <a:latin typeface="微软雅黑"/>
                <a:cs typeface="微软雅黑"/>
              </a:rPr>
              <a:t> </a:t>
            </a:r>
            <a:r>
              <a:rPr sz="2400" b="1" spc="-10" dirty="0">
                <a:solidFill>
                  <a:srgbClr val="FF0000"/>
                </a:solidFill>
                <a:latin typeface="微软雅黑"/>
                <a:cs typeface="微软雅黑"/>
              </a:rPr>
              <a:t>1</a:t>
            </a:r>
            <a:r>
              <a:rPr sz="2400" b="1" spc="-5" dirty="0">
                <a:solidFill>
                  <a:srgbClr val="FF0000"/>
                </a:solidFill>
                <a:latin typeface="微软雅黑"/>
                <a:cs typeface="微软雅黑"/>
              </a:rPr>
              <a:t>6</a:t>
            </a:r>
            <a:r>
              <a:rPr sz="2400" b="1" spc="-15" dirty="0">
                <a:solidFill>
                  <a:srgbClr val="FF0000"/>
                </a:solidFill>
                <a:latin typeface="微软雅黑"/>
                <a:cs typeface="微软雅黑"/>
              </a:rPr>
              <a:t> </a:t>
            </a:r>
            <a:r>
              <a:rPr sz="2400" b="1" dirty="0">
                <a:solidFill>
                  <a:srgbClr val="FF0000"/>
                </a:solidFill>
                <a:latin typeface="微软雅黑"/>
                <a:cs typeface="微软雅黑"/>
              </a:rPr>
              <a:t>位 通用</a:t>
            </a:r>
            <a:r>
              <a:rPr sz="2400" b="1" dirty="0">
                <a:latin typeface="微软雅黑"/>
                <a:cs typeface="微软雅黑"/>
              </a:rPr>
              <a:t>定时器</a:t>
            </a:r>
            <a:endParaRPr sz="2400">
              <a:latin typeface="微软雅黑"/>
              <a:cs typeface="微软雅黑"/>
            </a:endParaRPr>
          </a:p>
        </p:txBody>
      </p:sp>
      <p:sp>
        <p:nvSpPr>
          <p:cNvPr id="13" name="object 13"/>
          <p:cNvSpPr/>
          <p:nvPr/>
        </p:nvSpPr>
        <p:spPr>
          <a:xfrm>
            <a:off x="5791568" y="4180332"/>
            <a:ext cx="1352105" cy="1358264"/>
          </a:xfrm>
          <a:prstGeom prst="rect">
            <a:avLst/>
          </a:prstGeom>
          <a:blipFill>
            <a:blip r:embed="rId5" cstate="print"/>
            <a:stretch>
              <a:fillRect/>
            </a:stretch>
          </a:blipFill>
        </p:spPr>
        <p:txBody>
          <a:bodyPr wrap="square" lIns="0" tIns="0" rIns="0" bIns="0" rtlCol="0"/>
          <a:lstStyle/>
          <a:p>
            <a:endParaRPr/>
          </a:p>
        </p:txBody>
      </p:sp>
      <p:sp>
        <p:nvSpPr>
          <p:cNvPr id="14" name="object 14"/>
          <p:cNvSpPr/>
          <p:nvPr/>
        </p:nvSpPr>
        <p:spPr>
          <a:xfrm>
            <a:off x="3988308" y="2878835"/>
            <a:ext cx="1168908" cy="679703"/>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5109971" y="5562600"/>
            <a:ext cx="1216152" cy="687324"/>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5391911" y="3116579"/>
            <a:ext cx="1306067" cy="113080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2258567" y="2997707"/>
            <a:ext cx="1395983" cy="883920"/>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2165604" y="5366003"/>
            <a:ext cx="1028700" cy="908303"/>
          </a:xfrm>
          <a:prstGeom prst="rect">
            <a:avLst/>
          </a:prstGeom>
          <a:blipFill>
            <a:blip r:embed="rId10" cstate="print"/>
            <a:stretch>
              <a:fillRect/>
            </a:stretch>
          </a:blipFill>
        </p:spPr>
        <p:txBody>
          <a:bodyPr wrap="square" lIns="0" tIns="0" rIns="0" bIns="0" rtlCol="0"/>
          <a:lstStyle/>
          <a:p>
            <a:endParaRPr/>
          </a:p>
        </p:txBody>
      </p:sp>
      <p:sp>
        <p:nvSpPr>
          <p:cNvPr id="19" name="object 19"/>
          <p:cNvSpPr/>
          <p:nvPr/>
        </p:nvSpPr>
        <p:spPr>
          <a:xfrm>
            <a:off x="3755135" y="5722620"/>
            <a:ext cx="864108" cy="748284"/>
          </a:xfrm>
          <a:prstGeom prst="rect">
            <a:avLst/>
          </a:prstGeom>
          <a:blipFill>
            <a:blip r:embed="rId11" cstate="print"/>
            <a:stretch>
              <a:fillRect/>
            </a:stretch>
          </a:blipFill>
        </p:spPr>
        <p:txBody>
          <a:bodyPr wrap="square" lIns="0" tIns="0" rIns="0" bIns="0" rtlCol="0"/>
          <a:lstStyle/>
          <a:p>
            <a:endParaRPr/>
          </a:p>
        </p:txBody>
      </p:sp>
      <p:sp>
        <p:nvSpPr>
          <p:cNvPr id="20" name="object 20"/>
          <p:cNvSpPr/>
          <p:nvPr/>
        </p:nvSpPr>
        <p:spPr>
          <a:xfrm>
            <a:off x="1851660" y="4250435"/>
            <a:ext cx="874776" cy="760476"/>
          </a:xfrm>
          <a:prstGeom prst="rect">
            <a:avLst/>
          </a:prstGeom>
          <a:blipFill>
            <a:blip r:embed="rId12" cstate="print"/>
            <a:stretch>
              <a:fillRect/>
            </a:stretch>
          </a:blipFill>
        </p:spPr>
        <p:txBody>
          <a:bodyPr wrap="square" lIns="0" tIns="0" rIns="0" bIns="0" rtlCol="0"/>
          <a:lstStyle/>
          <a:p>
            <a:endParaRPr/>
          </a:p>
        </p:txBody>
      </p:sp>
      <p:sp>
        <p:nvSpPr>
          <p:cNvPr id="21" name="object 21"/>
          <p:cNvSpPr txBox="1"/>
          <p:nvPr/>
        </p:nvSpPr>
        <p:spPr>
          <a:xfrm>
            <a:off x="7730490" y="3279692"/>
            <a:ext cx="2613660" cy="2987675"/>
          </a:xfrm>
          <a:prstGeom prst="rect">
            <a:avLst/>
          </a:prstGeom>
        </p:spPr>
        <p:txBody>
          <a:bodyPr vert="horz" wrap="square" lIns="0" tIns="0" rIns="0" bIns="0" rtlCol="0">
            <a:spAutoFit/>
          </a:bodyPr>
          <a:lstStyle/>
          <a:p>
            <a:pPr marL="12700">
              <a:lnSpc>
                <a:spcPct val="100000"/>
              </a:lnSpc>
            </a:pPr>
            <a:r>
              <a:rPr sz="3200" b="1" dirty="0">
                <a:latin typeface="微软雅黑"/>
                <a:cs typeface="微软雅黑"/>
              </a:rPr>
              <a:t>应用</a:t>
            </a:r>
            <a:r>
              <a:rPr sz="2900" b="1" spc="25" dirty="0">
                <a:latin typeface="微软雅黑"/>
                <a:cs typeface="微软雅黑"/>
              </a:rPr>
              <a:t>：</a:t>
            </a:r>
            <a:endParaRPr sz="2900">
              <a:latin typeface="微软雅黑"/>
              <a:cs typeface="微软雅黑"/>
            </a:endParaRPr>
          </a:p>
          <a:p>
            <a:pPr marL="12700">
              <a:lnSpc>
                <a:spcPct val="100000"/>
              </a:lnSpc>
              <a:spcBef>
                <a:spcPts val="1095"/>
              </a:spcBef>
              <a:tabLst>
                <a:tab pos="469265" algn="l"/>
              </a:tabLst>
            </a:pPr>
            <a:r>
              <a:rPr sz="2800" spc="-270" dirty="0">
                <a:latin typeface="Segoe UI Symbol"/>
                <a:cs typeface="Segoe UI Symbol"/>
              </a:rPr>
              <a:t>⚫	</a:t>
            </a:r>
            <a:r>
              <a:rPr sz="2800" b="1" spc="-10" dirty="0">
                <a:latin typeface="微软雅黑"/>
                <a:cs typeface="微软雅黑"/>
              </a:rPr>
              <a:t>数字频率计</a:t>
            </a:r>
            <a:endParaRPr sz="2800">
              <a:latin typeface="微软雅黑"/>
              <a:cs typeface="微软雅黑"/>
            </a:endParaRPr>
          </a:p>
          <a:p>
            <a:pPr marL="12700">
              <a:lnSpc>
                <a:spcPct val="100000"/>
              </a:lnSpc>
              <a:spcBef>
                <a:spcPts val="1680"/>
              </a:spcBef>
              <a:tabLst>
                <a:tab pos="469265" algn="l"/>
              </a:tabLst>
            </a:pPr>
            <a:r>
              <a:rPr sz="2800" spc="-275" dirty="0">
                <a:latin typeface="Segoe UI Symbol"/>
                <a:cs typeface="Segoe UI Symbol"/>
              </a:rPr>
              <a:t>⚫	</a:t>
            </a:r>
            <a:r>
              <a:rPr sz="2800" b="1" spc="-5" dirty="0">
                <a:latin typeface="微软雅黑"/>
                <a:cs typeface="微软雅黑"/>
              </a:rPr>
              <a:t>智能家用电器</a:t>
            </a:r>
            <a:endParaRPr sz="2800">
              <a:latin typeface="微软雅黑"/>
              <a:cs typeface="微软雅黑"/>
            </a:endParaRPr>
          </a:p>
          <a:p>
            <a:pPr marL="12700">
              <a:lnSpc>
                <a:spcPct val="100000"/>
              </a:lnSpc>
              <a:spcBef>
                <a:spcPts val="1680"/>
              </a:spcBef>
              <a:tabLst>
                <a:tab pos="469265" algn="l"/>
              </a:tabLst>
            </a:pPr>
            <a:r>
              <a:rPr sz="2800" spc="-275" dirty="0">
                <a:latin typeface="Segoe UI Symbol"/>
                <a:cs typeface="Segoe UI Symbol"/>
              </a:rPr>
              <a:t>⚫	</a:t>
            </a:r>
            <a:r>
              <a:rPr sz="2800" b="1" spc="-5" dirty="0">
                <a:latin typeface="微软雅黑"/>
                <a:cs typeface="微软雅黑"/>
              </a:rPr>
              <a:t>定时控制设备</a:t>
            </a:r>
            <a:endParaRPr sz="2800">
              <a:latin typeface="微软雅黑"/>
              <a:cs typeface="微软雅黑"/>
            </a:endParaRPr>
          </a:p>
          <a:p>
            <a:pPr marL="12700">
              <a:lnSpc>
                <a:spcPct val="100000"/>
              </a:lnSpc>
              <a:spcBef>
                <a:spcPts val="2220"/>
              </a:spcBef>
              <a:tabLst>
                <a:tab pos="469265" algn="l"/>
              </a:tabLst>
            </a:pPr>
            <a:r>
              <a:rPr sz="2800" spc="-275" dirty="0">
                <a:latin typeface="Segoe UI Symbol"/>
                <a:cs typeface="Segoe UI Symbol"/>
              </a:rPr>
              <a:t>⚫	</a:t>
            </a:r>
            <a:r>
              <a:rPr sz="2800" b="1" spc="-5" dirty="0">
                <a:latin typeface="微软雅黑"/>
                <a:cs typeface="微软雅黑"/>
              </a:rPr>
              <a:t>电机驱动</a:t>
            </a:r>
            <a:endParaRPr sz="2800">
              <a:latin typeface="微软雅黑"/>
              <a:cs typeface="微软雅黑"/>
            </a:endParaRPr>
          </a:p>
        </p:txBody>
      </p:sp>
      <p:sp>
        <p:nvSpPr>
          <p:cNvPr id="22" name="object 22"/>
          <p:cNvSpPr/>
          <p:nvPr/>
        </p:nvSpPr>
        <p:spPr>
          <a:xfrm>
            <a:off x="3390138" y="1137666"/>
            <a:ext cx="1449324" cy="1001268"/>
          </a:xfrm>
          <a:prstGeom prst="rect">
            <a:avLst/>
          </a:prstGeom>
          <a:blipFill>
            <a:blip r:embed="rId13" cstate="print"/>
            <a:stretch>
              <a:fillRect/>
            </a:stretch>
          </a:blipFill>
        </p:spPr>
        <p:txBody>
          <a:bodyPr wrap="square" lIns="0" tIns="0" rIns="0" bIns="0" rtlCol="0"/>
          <a:lstStyle/>
          <a:p>
            <a:endParaRPr/>
          </a:p>
        </p:txBody>
      </p:sp>
      <p:sp>
        <p:nvSpPr>
          <p:cNvPr id="23" name="object 23"/>
          <p:cNvSpPr/>
          <p:nvPr/>
        </p:nvSpPr>
        <p:spPr>
          <a:xfrm>
            <a:off x="3390138" y="1137666"/>
            <a:ext cx="1449705" cy="1001394"/>
          </a:xfrm>
          <a:custGeom>
            <a:avLst/>
            <a:gdLst/>
            <a:ahLst/>
            <a:cxnLst/>
            <a:rect l="l" t="t" r="r" b="b"/>
            <a:pathLst>
              <a:path w="1449704" h="1001394">
                <a:moveTo>
                  <a:pt x="0" y="119380"/>
                </a:moveTo>
                <a:lnTo>
                  <a:pt x="7697" y="77128"/>
                </a:lnTo>
                <a:lnTo>
                  <a:pt x="28903" y="41509"/>
                </a:lnTo>
                <a:lnTo>
                  <a:pt x="60790" y="15350"/>
                </a:lnTo>
                <a:lnTo>
                  <a:pt x="100529" y="1481"/>
                </a:lnTo>
                <a:lnTo>
                  <a:pt x="1329944" y="0"/>
                </a:lnTo>
                <a:lnTo>
                  <a:pt x="1344589" y="890"/>
                </a:lnTo>
                <a:lnTo>
                  <a:pt x="1384944" y="13404"/>
                </a:lnTo>
                <a:lnTo>
                  <a:pt x="1417725" y="38485"/>
                </a:lnTo>
                <a:lnTo>
                  <a:pt x="1440101" y="73304"/>
                </a:lnTo>
                <a:lnTo>
                  <a:pt x="1449246" y="115031"/>
                </a:lnTo>
                <a:lnTo>
                  <a:pt x="1449324" y="881888"/>
                </a:lnTo>
                <a:lnTo>
                  <a:pt x="1448433" y="896533"/>
                </a:lnTo>
                <a:lnTo>
                  <a:pt x="1435919" y="936888"/>
                </a:lnTo>
                <a:lnTo>
                  <a:pt x="1410838" y="969669"/>
                </a:lnTo>
                <a:lnTo>
                  <a:pt x="1376019" y="992045"/>
                </a:lnTo>
                <a:lnTo>
                  <a:pt x="1334292" y="1001190"/>
                </a:lnTo>
                <a:lnTo>
                  <a:pt x="119379" y="1001268"/>
                </a:lnTo>
                <a:lnTo>
                  <a:pt x="104734" y="1000377"/>
                </a:lnTo>
                <a:lnTo>
                  <a:pt x="64379" y="987863"/>
                </a:lnTo>
                <a:lnTo>
                  <a:pt x="31598" y="962782"/>
                </a:lnTo>
                <a:lnTo>
                  <a:pt x="9222" y="927963"/>
                </a:lnTo>
                <a:lnTo>
                  <a:pt x="77" y="886236"/>
                </a:lnTo>
                <a:lnTo>
                  <a:pt x="0" y="119380"/>
                </a:lnTo>
                <a:close/>
              </a:path>
            </a:pathLst>
          </a:custGeom>
          <a:ln w="38100">
            <a:solidFill>
              <a:srgbClr val="FFFFFF"/>
            </a:solidFill>
          </a:ln>
        </p:spPr>
        <p:txBody>
          <a:bodyPr wrap="square" lIns="0" tIns="0" rIns="0" bIns="0" rtlCol="0"/>
          <a:lstStyle/>
          <a:p>
            <a:endParaRPr/>
          </a:p>
        </p:txBody>
      </p:sp>
      <p:sp>
        <p:nvSpPr>
          <p:cNvPr id="24" name="object 24"/>
          <p:cNvSpPr/>
          <p:nvPr/>
        </p:nvSpPr>
        <p:spPr>
          <a:xfrm>
            <a:off x="3479291" y="1200911"/>
            <a:ext cx="712343" cy="489330"/>
          </a:xfrm>
          <a:prstGeom prst="rect">
            <a:avLst/>
          </a:prstGeom>
          <a:blipFill>
            <a:blip r:embed="rId14" cstate="print"/>
            <a:stretch>
              <a:fillRect/>
            </a:stretch>
          </a:blipFill>
        </p:spPr>
        <p:txBody>
          <a:bodyPr wrap="square" lIns="0" tIns="0" rIns="0" bIns="0" rtlCol="0"/>
          <a:lstStyle/>
          <a:p>
            <a:endParaRPr/>
          </a:p>
        </p:txBody>
      </p:sp>
      <p:sp>
        <p:nvSpPr>
          <p:cNvPr id="25" name="object 25"/>
          <p:cNvSpPr txBox="1"/>
          <p:nvPr/>
        </p:nvSpPr>
        <p:spPr>
          <a:xfrm>
            <a:off x="3625977" y="1327348"/>
            <a:ext cx="972819" cy="703580"/>
          </a:xfrm>
          <a:prstGeom prst="rect">
            <a:avLst/>
          </a:prstGeom>
        </p:spPr>
        <p:txBody>
          <a:bodyPr vert="horz" wrap="square" lIns="0" tIns="0" rIns="0" bIns="0" rtlCol="0">
            <a:spAutoFit/>
          </a:bodyPr>
          <a:lstStyle/>
          <a:p>
            <a:pPr marL="158750" marR="5080" indent="-146685">
              <a:lnSpc>
                <a:spcPct val="127099"/>
              </a:lnSpc>
            </a:pPr>
            <a:r>
              <a:rPr sz="2100" b="1" spc="20" dirty="0">
                <a:solidFill>
                  <a:srgbClr val="FFFFFF"/>
                </a:solidFill>
                <a:latin typeface="微软雅黑"/>
                <a:cs typeface="微软雅黑"/>
              </a:rPr>
              <a:t>STM32 </a:t>
            </a:r>
            <a:r>
              <a:rPr sz="2100" b="1" spc="15" dirty="0">
                <a:solidFill>
                  <a:srgbClr val="FFFFFF"/>
                </a:solidFill>
                <a:latin typeface="微软雅黑"/>
                <a:cs typeface="微软雅黑"/>
              </a:rPr>
              <a:t>F411</a:t>
            </a:r>
            <a:endParaRPr sz="2100">
              <a:latin typeface="微软雅黑"/>
              <a:cs typeface="微软雅黑"/>
            </a:endParaRPr>
          </a:p>
        </p:txBody>
      </p:sp>
      <p:sp>
        <p:nvSpPr>
          <p:cNvPr id="26" name="object 26"/>
          <p:cNvSpPr/>
          <p:nvPr/>
        </p:nvSpPr>
        <p:spPr>
          <a:xfrm>
            <a:off x="4676521" y="4319473"/>
            <a:ext cx="1542630" cy="992390"/>
          </a:xfrm>
          <a:prstGeom prst="rect">
            <a:avLst/>
          </a:prstGeom>
          <a:blipFill>
            <a:blip r:embed="rId15" cstate="print"/>
            <a:stretch>
              <a:fillRect/>
            </a:stretch>
          </a:blipFill>
        </p:spPr>
        <p:txBody>
          <a:bodyPr wrap="square" lIns="0" tIns="0" rIns="0" bIns="0" rtlCol="0"/>
          <a:lstStyle/>
          <a:p>
            <a:endParaRPr/>
          </a:p>
        </p:txBody>
      </p:sp>
      <p:sp>
        <p:nvSpPr>
          <p:cNvPr id="27" name="object 27"/>
          <p:cNvSpPr/>
          <p:nvPr/>
        </p:nvSpPr>
        <p:spPr>
          <a:xfrm>
            <a:off x="2931261" y="4403801"/>
            <a:ext cx="1478330" cy="1229309"/>
          </a:xfrm>
          <a:prstGeom prst="rect">
            <a:avLst/>
          </a:prstGeom>
          <a:blipFill>
            <a:blip r:embed="rId16" cstate="print"/>
            <a:stretch>
              <a:fillRect/>
            </a:stretch>
          </a:blipFill>
        </p:spPr>
        <p:txBody>
          <a:bodyPr wrap="square" lIns="0" tIns="0" rIns="0" bIns="0" rtlCol="0"/>
          <a:lstStyle/>
          <a:p>
            <a:endParaRPr/>
          </a:p>
        </p:txBody>
      </p:sp>
      <p:sp>
        <p:nvSpPr>
          <p:cNvPr id="28" name="object 28"/>
          <p:cNvSpPr/>
          <p:nvPr/>
        </p:nvSpPr>
        <p:spPr>
          <a:xfrm>
            <a:off x="4230471" y="4420539"/>
            <a:ext cx="973836" cy="1382636"/>
          </a:xfrm>
          <a:prstGeom prst="rect">
            <a:avLst/>
          </a:prstGeom>
          <a:blipFill>
            <a:blip r:embed="rId17" cstate="print"/>
            <a:stretch>
              <a:fillRect/>
            </a:stretch>
          </a:blipFill>
        </p:spPr>
        <p:txBody>
          <a:bodyPr wrap="square" lIns="0" tIns="0" rIns="0" bIns="0" rtlCol="0"/>
          <a:lstStyle/>
          <a:p>
            <a:endParaRPr/>
          </a:p>
        </p:txBody>
      </p:sp>
      <p:sp>
        <p:nvSpPr>
          <p:cNvPr id="29" name="object 29"/>
          <p:cNvSpPr/>
          <p:nvPr/>
        </p:nvSpPr>
        <p:spPr>
          <a:xfrm>
            <a:off x="4502238" y="3609289"/>
            <a:ext cx="1446872" cy="1285671"/>
          </a:xfrm>
          <a:prstGeom prst="rect">
            <a:avLst/>
          </a:prstGeom>
          <a:blipFill>
            <a:blip r:embed="rId18" cstate="print"/>
            <a:stretch>
              <a:fillRect/>
            </a:stretch>
          </a:blipFill>
        </p:spPr>
        <p:txBody>
          <a:bodyPr wrap="square" lIns="0" tIns="0" rIns="0" bIns="0" rtlCol="0"/>
          <a:lstStyle/>
          <a:p>
            <a:endParaRPr/>
          </a:p>
        </p:txBody>
      </p:sp>
      <p:sp>
        <p:nvSpPr>
          <p:cNvPr id="30" name="object 30"/>
          <p:cNvSpPr/>
          <p:nvPr/>
        </p:nvSpPr>
        <p:spPr>
          <a:xfrm>
            <a:off x="4102480" y="3474910"/>
            <a:ext cx="706056" cy="1073831"/>
          </a:xfrm>
          <a:prstGeom prst="rect">
            <a:avLst/>
          </a:prstGeom>
          <a:blipFill>
            <a:blip r:embed="rId19" cstate="print"/>
            <a:stretch>
              <a:fillRect/>
            </a:stretch>
          </a:blipFill>
        </p:spPr>
        <p:txBody>
          <a:bodyPr wrap="square" lIns="0" tIns="0" rIns="0" bIns="0" rtlCol="0"/>
          <a:lstStyle/>
          <a:p>
            <a:endParaRPr/>
          </a:p>
        </p:txBody>
      </p:sp>
      <p:sp>
        <p:nvSpPr>
          <p:cNvPr id="31" name="object 31"/>
          <p:cNvSpPr/>
          <p:nvPr/>
        </p:nvSpPr>
        <p:spPr>
          <a:xfrm>
            <a:off x="2683255" y="3711308"/>
            <a:ext cx="1597342" cy="937869"/>
          </a:xfrm>
          <a:prstGeom prst="rect">
            <a:avLst/>
          </a:prstGeom>
          <a:blipFill>
            <a:blip r:embed="rId20"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85697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p:nvPr/>
        </p:nvSpPr>
        <p:spPr>
          <a:xfrm>
            <a:off x="4187952" y="864108"/>
            <a:ext cx="7705725" cy="1390015"/>
          </a:xfrm>
          <a:custGeom>
            <a:avLst/>
            <a:gdLst/>
            <a:ahLst/>
            <a:cxnLst/>
            <a:rect l="l" t="t" r="r" b="b"/>
            <a:pathLst>
              <a:path w="7705725" h="1390014">
                <a:moveTo>
                  <a:pt x="7553959" y="0"/>
                </a:moveTo>
                <a:lnTo>
                  <a:pt x="138761" y="519"/>
                </a:lnTo>
                <a:lnTo>
                  <a:pt x="97115" y="10029"/>
                </a:lnTo>
                <a:lnTo>
                  <a:pt x="60725" y="30162"/>
                </a:lnTo>
                <a:lnTo>
                  <a:pt x="31353" y="59156"/>
                </a:lnTo>
                <a:lnTo>
                  <a:pt x="10759" y="95253"/>
                </a:lnTo>
                <a:lnTo>
                  <a:pt x="705" y="136689"/>
                </a:lnTo>
                <a:lnTo>
                  <a:pt x="0" y="151383"/>
                </a:lnTo>
                <a:lnTo>
                  <a:pt x="519" y="1251126"/>
                </a:lnTo>
                <a:lnTo>
                  <a:pt x="10029" y="1292772"/>
                </a:lnTo>
                <a:lnTo>
                  <a:pt x="30162" y="1329162"/>
                </a:lnTo>
                <a:lnTo>
                  <a:pt x="59156" y="1358534"/>
                </a:lnTo>
                <a:lnTo>
                  <a:pt x="95253" y="1379128"/>
                </a:lnTo>
                <a:lnTo>
                  <a:pt x="136689" y="1389182"/>
                </a:lnTo>
                <a:lnTo>
                  <a:pt x="151384" y="1389888"/>
                </a:lnTo>
                <a:lnTo>
                  <a:pt x="7566582" y="1389368"/>
                </a:lnTo>
                <a:lnTo>
                  <a:pt x="7608228" y="1379858"/>
                </a:lnTo>
                <a:lnTo>
                  <a:pt x="7644618" y="1359725"/>
                </a:lnTo>
                <a:lnTo>
                  <a:pt x="7673990" y="1330731"/>
                </a:lnTo>
                <a:lnTo>
                  <a:pt x="7694584" y="1294634"/>
                </a:lnTo>
                <a:lnTo>
                  <a:pt x="7704638" y="1253198"/>
                </a:lnTo>
                <a:lnTo>
                  <a:pt x="7705344" y="1238503"/>
                </a:lnTo>
                <a:lnTo>
                  <a:pt x="7704824" y="138761"/>
                </a:lnTo>
                <a:lnTo>
                  <a:pt x="7695314" y="97115"/>
                </a:lnTo>
                <a:lnTo>
                  <a:pt x="7675181" y="60725"/>
                </a:lnTo>
                <a:lnTo>
                  <a:pt x="7646187" y="31353"/>
                </a:lnTo>
                <a:lnTo>
                  <a:pt x="7610090" y="10759"/>
                </a:lnTo>
                <a:lnTo>
                  <a:pt x="7568654" y="705"/>
                </a:lnTo>
                <a:lnTo>
                  <a:pt x="7553959" y="0"/>
                </a:lnTo>
                <a:close/>
              </a:path>
            </a:pathLst>
          </a:custGeom>
          <a:solidFill>
            <a:srgbClr val="FFC000"/>
          </a:solidFill>
        </p:spPr>
        <p:txBody>
          <a:bodyPr wrap="square" lIns="0" tIns="0" rIns="0" bIns="0" rtlCol="0"/>
          <a:lstStyle/>
          <a:p>
            <a:endParaRPr/>
          </a:p>
        </p:txBody>
      </p:sp>
      <p:sp>
        <p:nvSpPr>
          <p:cNvPr id="9" name="object 9"/>
          <p:cNvSpPr/>
          <p:nvPr/>
        </p:nvSpPr>
        <p:spPr>
          <a:xfrm>
            <a:off x="4187952" y="4693920"/>
            <a:ext cx="7705725" cy="1894839"/>
          </a:xfrm>
          <a:custGeom>
            <a:avLst/>
            <a:gdLst/>
            <a:ahLst/>
            <a:cxnLst/>
            <a:rect l="l" t="t" r="r" b="b"/>
            <a:pathLst>
              <a:path w="7705725" h="1894840">
                <a:moveTo>
                  <a:pt x="7499096" y="0"/>
                </a:moveTo>
                <a:lnTo>
                  <a:pt x="206248" y="0"/>
                </a:lnTo>
                <a:lnTo>
                  <a:pt x="189330" y="683"/>
                </a:lnTo>
                <a:lnTo>
                  <a:pt x="141053" y="10513"/>
                </a:lnTo>
                <a:lnTo>
                  <a:pt x="97600" y="30897"/>
                </a:lnTo>
                <a:lnTo>
                  <a:pt x="60404" y="60404"/>
                </a:lnTo>
                <a:lnTo>
                  <a:pt x="30897" y="97600"/>
                </a:lnTo>
                <a:lnTo>
                  <a:pt x="10513" y="141053"/>
                </a:lnTo>
                <a:lnTo>
                  <a:pt x="683" y="189330"/>
                </a:lnTo>
                <a:lnTo>
                  <a:pt x="0" y="206247"/>
                </a:lnTo>
                <a:lnTo>
                  <a:pt x="0" y="1688058"/>
                </a:lnTo>
                <a:lnTo>
                  <a:pt x="5993" y="1737627"/>
                </a:lnTo>
                <a:lnTo>
                  <a:pt x="23018" y="1782851"/>
                </a:lnTo>
                <a:lnTo>
                  <a:pt x="49643" y="1822298"/>
                </a:lnTo>
                <a:lnTo>
                  <a:pt x="84435" y="1854532"/>
                </a:lnTo>
                <a:lnTo>
                  <a:pt x="125962" y="1878121"/>
                </a:lnTo>
                <a:lnTo>
                  <a:pt x="172790" y="1891632"/>
                </a:lnTo>
                <a:lnTo>
                  <a:pt x="206248" y="1894331"/>
                </a:lnTo>
                <a:lnTo>
                  <a:pt x="7499096" y="1894331"/>
                </a:lnTo>
                <a:lnTo>
                  <a:pt x="7548663" y="1888336"/>
                </a:lnTo>
                <a:lnTo>
                  <a:pt x="7593883" y="1871307"/>
                </a:lnTo>
                <a:lnTo>
                  <a:pt x="7633324" y="1844677"/>
                </a:lnTo>
                <a:lnTo>
                  <a:pt x="7665553" y="1809879"/>
                </a:lnTo>
                <a:lnTo>
                  <a:pt x="7689137" y="1768348"/>
                </a:lnTo>
                <a:lnTo>
                  <a:pt x="7702644" y="1721516"/>
                </a:lnTo>
                <a:lnTo>
                  <a:pt x="7705344" y="1688058"/>
                </a:lnTo>
                <a:lnTo>
                  <a:pt x="7705344" y="206247"/>
                </a:lnTo>
                <a:lnTo>
                  <a:pt x="7699350" y="156680"/>
                </a:lnTo>
                <a:lnTo>
                  <a:pt x="7682325" y="111460"/>
                </a:lnTo>
                <a:lnTo>
                  <a:pt x="7655700" y="72019"/>
                </a:lnTo>
                <a:lnTo>
                  <a:pt x="7620908" y="39790"/>
                </a:lnTo>
                <a:lnTo>
                  <a:pt x="7579381" y="16206"/>
                </a:lnTo>
                <a:lnTo>
                  <a:pt x="7532553" y="2699"/>
                </a:lnTo>
                <a:lnTo>
                  <a:pt x="7499096" y="0"/>
                </a:lnTo>
                <a:close/>
              </a:path>
            </a:pathLst>
          </a:custGeom>
          <a:solidFill>
            <a:srgbClr val="8FAADC"/>
          </a:solidFill>
        </p:spPr>
        <p:txBody>
          <a:bodyPr wrap="square" lIns="0" tIns="0" rIns="0" bIns="0" rtlCol="0"/>
          <a:lstStyle/>
          <a:p>
            <a:endParaRPr/>
          </a:p>
        </p:txBody>
      </p:sp>
      <p:sp>
        <p:nvSpPr>
          <p:cNvPr id="10" name="object 10"/>
          <p:cNvSpPr/>
          <p:nvPr/>
        </p:nvSpPr>
        <p:spPr>
          <a:xfrm>
            <a:off x="4187952" y="2596895"/>
            <a:ext cx="7684134" cy="1732914"/>
          </a:xfrm>
          <a:custGeom>
            <a:avLst/>
            <a:gdLst/>
            <a:ahLst/>
            <a:cxnLst/>
            <a:rect l="l" t="t" r="r" b="b"/>
            <a:pathLst>
              <a:path w="7684134" h="1732914">
                <a:moveTo>
                  <a:pt x="7495286" y="0"/>
                </a:moveTo>
                <a:lnTo>
                  <a:pt x="188722" y="0"/>
                </a:lnTo>
                <a:lnTo>
                  <a:pt x="173238" y="625"/>
                </a:lnTo>
                <a:lnTo>
                  <a:pt x="129056" y="9617"/>
                </a:lnTo>
                <a:lnTo>
                  <a:pt x="89294" y="28265"/>
                </a:lnTo>
                <a:lnTo>
                  <a:pt x="55260" y="55260"/>
                </a:lnTo>
                <a:lnTo>
                  <a:pt x="28265" y="89294"/>
                </a:lnTo>
                <a:lnTo>
                  <a:pt x="9617" y="129056"/>
                </a:lnTo>
                <a:lnTo>
                  <a:pt x="625" y="173238"/>
                </a:lnTo>
                <a:lnTo>
                  <a:pt x="0" y="188721"/>
                </a:lnTo>
                <a:lnTo>
                  <a:pt x="0" y="1544065"/>
                </a:lnTo>
                <a:lnTo>
                  <a:pt x="5482" y="1589430"/>
                </a:lnTo>
                <a:lnTo>
                  <a:pt x="21057" y="1630811"/>
                </a:lnTo>
                <a:lnTo>
                  <a:pt x="45415" y="1666900"/>
                </a:lnTo>
                <a:lnTo>
                  <a:pt x="77248" y="1696386"/>
                </a:lnTo>
                <a:lnTo>
                  <a:pt x="115246" y="1717962"/>
                </a:lnTo>
                <a:lnTo>
                  <a:pt x="158100" y="1730318"/>
                </a:lnTo>
                <a:lnTo>
                  <a:pt x="188722" y="1732787"/>
                </a:lnTo>
                <a:lnTo>
                  <a:pt x="7495286" y="1732787"/>
                </a:lnTo>
                <a:lnTo>
                  <a:pt x="7540650" y="1727305"/>
                </a:lnTo>
                <a:lnTo>
                  <a:pt x="7582031" y="1711730"/>
                </a:lnTo>
                <a:lnTo>
                  <a:pt x="7618120" y="1687372"/>
                </a:lnTo>
                <a:lnTo>
                  <a:pt x="7647606" y="1655539"/>
                </a:lnTo>
                <a:lnTo>
                  <a:pt x="7669182" y="1617541"/>
                </a:lnTo>
                <a:lnTo>
                  <a:pt x="7681538" y="1574687"/>
                </a:lnTo>
                <a:lnTo>
                  <a:pt x="7684008" y="1544065"/>
                </a:lnTo>
                <a:lnTo>
                  <a:pt x="7684008" y="188721"/>
                </a:lnTo>
                <a:lnTo>
                  <a:pt x="7678525" y="143357"/>
                </a:lnTo>
                <a:lnTo>
                  <a:pt x="7662950" y="101976"/>
                </a:lnTo>
                <a:lnTo>
                  <a:pt x="7638592" y="65887"/>
                </a:lnTo>
                <a:lnTo>
                  <a:pt x="7606759" y="36401"/>
                </a:lnTo>
                <a:lnTo>
                  <a:pt x="7568761" y="14825"/>
                </a:lnTo>
                <a:lnTo>
                  <a:pt x="7525907" y="2469"/>
                </a:lnTo>
                <a:lnTo>
                  <a:pt x="7495286" y="0"/>
                </a:lnTo>
                <a:close/>
              </a:path>
            </a:pathLst>
          </a:custGeom>
          <a:solidFill>
            <a:srgbClr val="92D050"/>
          </a:solidFill>
        </p:spPr>
        <p:txBody>
          <a:bodyPr wrap="square" lIns="0" tIns="0" rIns="0" bIns="0" rtlCol="0"/>
          <a:lstStyle/>
          <a:p>
            <a:endParaRPr/>
          </a:p>
        </p:txBody>
      </p:sp>
      <p:sp>
        <p:nvSpPr>
          <p:cNvPr id="11" name="object 11"/>
          <p:cNvSpPr/>
          <p:nvPr/>
        </p:nvSpPr>
        <p:spPr>
          <a:xfrm>
            <a:off x="6117499" y="1054900"/>
            <a:ext cx="288290" cy="1005840"/>
          </a:xfrm>
          <a:custGeom>
            <a:avLst/>
            <a:gdLst/>
            <a:ahLst/>
            <a:cxnLst/>
            <a:rect l="l" t="t" r="r" b="b"/>
            <a:pathLst>
              <a:path w="288289" h="1005839">
                <a:moveTo>
                  <a:pt x="287872" y="1005547"/>
                </a:moveTo>
                <a:lnTo>
                  <a:pt x="236150" y="1000208"/>
                </a:lnTo>
                <a:lnTo>
                  <a:pt x="192218" y="985457"/>
                </a:lnTo>
                <a:lnTo>
                  <a:pt x="159325" y="963198"/>
                </a:lnTo>
                <a:lnTo>
                  <a:pt x="138259" y="925126"/>
                </a:lnTo>
                <a:lnTo>
                  <a:pt x="137758" y="590257"/>
                </a:lnTo>
                <a:lnTo>
                  <a:pt x="136702" y="579809"/>
                </a:lnTo>
                <a:lnTo>
                  <a:pt x="113367" y="542355"/>
                </a:lnTo>
                <a:lnTo>
                  <a:pt x="79169" y="520792"/>
                </a:lnTo>
                <a:lnTo>
                  <a:pt x="34271" y="506936"/>
                </a:lnTo>
                <a:lnTo>
                  <a:pt x="0" y="502919"/>
                </a:lnTo>
                <a:lnTo>
                  <a:pt x="16362" y="502160"/>
                </a:lnTo>
                <a:lnTo>
                  <a:pt x="62915" y="492251"/>
                </a:lnTo>
                <a:lnTo>
                  <a:pt x="101895" y="472662"/>
                </a:lnTo>
                <a:lnTo>
                  <a:pt x="133706" y="435402"/>
                </a:lnTo>
                <a:lnTo>
                  <a:pt x="137758" y="87337"/>
                </a:lnTo>
                <a:lnTo>
                  <a:pt x="138814" y="76889"/>
                </a:lnTo>
                <a:lnTo>
                  <a:pt x="162149" y="39435"/>
                </a:lnTo>
                <a:lnTo>
                  <a:pt x="196347" y="17872"/>
                </a:lnTo>
                <a:lnTo>
                  <a:pt x="241245" y="4016"/>
                </a:lnTo>
                <a:lnTo>
                  <a:pt x="258028" y="1438"/>
                </a:lnTo>
                <a:lnTo>
                  <a:pt x="275517" y="0"/>
                </a:lnTo>
              </a:path>
            </a:pathLst>
          </a:custGeom>
          <a:ln w="57912">
            <a:solidFill>
              <a:srgbClr val="000000"/>
            </a:solidFill>
          </a:ln>
        </p:spPr>
        <p:txBody>
          <a:bodyPr wrap="square" lIns="0" tIns="0" rIns="0" bIns="0" rtlCol="0"/>
          <a:lstStyle/>
          <a:p>
            <a:endParaRPr/>
          </a:p>
        </p:txBody>
      </p:sp>
      <p:sp>
        <p:nvSpPr>
          <p:cNvPr id="12" name="object 12"/>
          <p:cNvSpPr txBox="1"/>
          <p:nvPr/>
        </p:nvSpPr>
        <p:spPr>
          <a:xfrm>
            <a:off x="6523990" y="4860034"/>
            <a:ext cx="5472430" cy="1926589"/>
          </a:xfrm>
          <a:prstGeom prst="rect">
            <a:avLst/>
          </a:prstGeom>
        </p:spPr>
        <p:txBody>
          <a:bodyPr vert="horz" wrap="square" lIns="0" tIns="0" rIns="0" bIns="0" rtlCol="0">
            <a:spAutoFit/>
          </a:bodyPr>
          <a:lstStyle/>
          <a:p>
            <a:pPr marL="12700" marR="1184275">
              <a:lnSpc>
                <a:spcPct val="122700"/>
              </a:lnSpc>
            </a:pPr>
            <a:r>
              <a:rPr sz="2400" b="1" spc="-5" dirty="0">
                <a:latin typeface="微软雅黑"/>
                <a:cs typeface="微软雅黑"/>
              </a:rPr>
              <a:t>捕获时保存定时器的当前计数值 </a:t>
            </a:r>
            <a:r>
              <a:rPr sz="2400" b="1" dirty="0">
                <a:latin typeface="微软雅黑"/>
                <a:cs typeface="微软雅黑"/>
              </a:rPr>
              <a:t>捕获时，可选择触发捕获中断 触发捕获的信号边沿类型可选择</a:t>
            </a:r>
            <a:endParaRPr sz="2400">
              <a:latin typeface="微软雅黑"/>
              <a:cs typeface="微软雅黑"/>
            </a:endParaRPr>
          </a:p>
          <a:p>
            <a:pPr marL="12700">
              <a:lnSpc>
                <a:spcPct val="100000"/>
              </a:lnSpc>
            </a:pPr>
            <a:r>
              <a:rPr sz="2400" b="1" dirty="0">
                <a:latin typeface="微软雅黑"/>
                <a:cs typeface="微软雅黑"/>
              </a:rPr>
              <a:t>（上升沿，下降沿，双边沿）</a:t>
            </a:r>
            <a:endParaRPr sz="2400">
              <a:latin typeface="微软雅黑"/>
              <a:cs typeface="微软雅黑"/>
            </a:endParaRPr>
          </a:p>
          <a:p>
            <a:pPr marL="2688590">
              <a:lnSpc>
                <a:spcPct val="100000"/>
              </a:lnSpc>
              <a:spcBef>
                <a:spcPts val="1175"/>
              </a:spcBef>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4" name="object 14"/>
          <p:cNvSpPr txBox="1"/>
          <p:nvPr/>
        </p:nvSpPr>
        <p:spPr>
          <a:xfrm>
            <a:off x="317703" y="1142227"/>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主要功能</a:t>
            </a:r>
            <a:endParaRPr sz="2400">
              <a:latin typeface="微软雅黑"/>
              <a:cs typeface="微软雅黑"/>
            </a:endParaRPr>
          </a:p>
        </p:txBody>
      </p:sp>
      <p:sp>
        <p:nvSpPr>
          <p:cNvPr id="15" name="object 15"/>
          <p:cNvSpPr txBox="1"/>
          <p:nvPr/>
        </p:nvSpPr>
        <p:spPr>
          <a:xfrm>
            <a:off x="4799838" y="1364223"/>
            <a:ext cx="12446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定时计数</a:t>
            </a:r>
            <a:endParaRPr sz="2400">
              <a:latin typeface="微软雅黑"/>
              <a:cs typeface="微软雅黑"/>
            </a:endParaRPr>
          </a:p>
        </p:txBody>
      </p:sp>
      <p:sp>
        <p:nvSpPr>
          <p:cNvPr id="16" name="object 16"/>
          <p:cNvSpPr txBox="1"/>
          <p:nvPr/>
        </p:nvSpPr>
        <p:spPr>
          <a:xfrm>
            <a:off x="4778502" y="3305554"/>
            <a:ext cx="1244600" cy="330835"/>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输出比较</a:t>
            </a:r>
            <a:endParaRPr sz="2400">
              <a:latin typeface="微软雅黑"/>
              <a:cs typeface="微软雅黑"/>
            </a:endParaRPr>
          </a:p>
        </p:txBody>
      </p:sp>
      <p:sp>
        <p:nvSpPr>
          <p:cNvPr id="17" name="object 17"/>
          <p:cNvSpPr txBox="1"/>
          <p:nvPr/>
        </p:nvSpPr>
        <p:spPr>
          <a:xfrm>
            <a:off x="4785486" y="5435691"/>
            <a:ext cx="12446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输入捕获</a:t>
            </a:r>
            <a:endParaRPr sz="2400">
              <a:latin typeface="微软雅黑"/>
              <a:cs typeface="微软雅黑"/>
            </a:endParaRPr>
          </a:p>
        </p:txBody>
      </p:sp>
      <p:sp>
        <p:nvSpPr>
          <p:cNvPr id="18" name="object 18"/>
          <p:cNvSpPr txBox="1"/>
          <p:nvPr/>
        </p:nvSpPr>
        <p:spPr>
          <a:xfrm>
            <a:off x="6502654" y="2679435"/>
            <a:ext cx="1482725" cy="330200"/>
          </a:xfrm>
          <a:prstGeom prst="rect">
            <a:avLst/>
          </a:prstGeom>
        </p:spPr>
        <p:txBody>
          <a:bodyPr vert="horz" wrap="square" lIns="0" tIns="0" rIns="0" bIns="0" rtlCol="0">
            <a:spAutoFit/>
          </a:bodyPr>
          <a:lstStyle/>
          <a:p>
            <a:pPr marL="12700">
              <a:lnSpc>
                <a:spcPct val="100000"/>
              </a:lnSpc>
            </a:pP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M输出</a:t>
            </a:r>
            <a:endParaRPr sz="2400">
              <a:latin typeface="微软雅黑"/>
              <a:cs typeface="微软雅黑"/>
            </a:endParaRPr>
          </a:p>
        </p:txBody>
      </p:sp>
      <p:sp>
        <p:nvSpPr>
          <p:cNvPr id="19" name="object 19"/>
          <p:cNvSpPr/>
          <p:nvPr/>
        </p:nvSpPr>
        <p:spPr>
          <a:xfrm>
            <a:off x="1315974" y="1716785"/>
            <a:ext cx="2018030" cy="3528060"/>
          </a:xfrm>
          <a:custGeom>
            <a:avLst/>
            <a:gdLst/>
            <a:ahLst/>
            <a:cxnLst/>
            <a:rect l="l" t="t" r="r" b="b"/>
            <a:pathLst>
              <a:path w="2018029" h="3528060">
                <a:moveTo>
                  <a:pt x="1185290" y="0"/>
                </a:moveTo>
                <a:lnTo>
                  <a:pt x="1185290" y="656463"/>
                </a:lnTo>
                <a:lnTo>
                  <a:pt x="0" y="656463"/>
                </a:lnTo>
                <a:lnTo>
                  <a:pt x="0" y="2871597"/>
                </a:lnTo>
                <a:lnTo>
                  <a:pt x="1185290" y="2871597"/>
                </a:lnTo>
                <a:lnTo>
                  <a:pt x="1185290" y="3528060"/>
                </a:lnTo>
                <a:lnTo>
                  <a:pt x="2017776" y="1764029"/>
                </a:lnTo>
                <a:lnTo>
                  <a:pt x="1185290" y="0"/>
                </a:lnTo>
                <a:close/>
              </a:path>
            </a:pathLst>
          </a:custGeom>
          <a:solidFill>
            <a:srgbClr val="00AFEF"/>
          </a:solidFill>
        </p:spPr>
        <p:txBody>
          <a:bodyPr wrap="square" lIns="0" tIns="0" rIns="0" bIns="0" rtlCol="0"/>
          <a:lstStyle/>
          <a:p>
            <a:endParaRPr/>
          </a:p>
        </p:txBody>
      </p:sp>
      <p:sp>
        <p:nvSpPr>
          <p:cNvPr id="20" name="object 20"/>
          <p:cNvSpPr/>
          <p:nvPr/>
        </p:nvSpPr>
        <p:spPr>
          <a:xfrm>
            <a:off x="1315974" y="1716785"/>
            <a:ext cx="2018030" cy="3528060"/>
          </a:xfrm>
          <a:custGeom>
            <a:avLst/>
            <a:gdLst/>
            <a:ahLst/>
            <a:cxnLst/>
            <a:rect l="l" t="t" r="r" b="b"/>
            <a:pathLst>
              <a:path w="2018029" h="3528060">
                <a:moveTo>
                  <a:pt x="0" y="656463"/>
                </a:moveTo>
                <a:lnTo>
                  <a:pt x="1185290" y="656463"/>
                </a:lnTo>
                <a:lnTo>
                  <a:pt x="1185290" y="0"/>
                </a:lnTo>
                <a:lnTo>
                  <a:pt x="2017776" y="1764029"/>
                </a:lnTo>
                <a:lnTo>
                  <a:pt x="1185290" y="3528060"/>
                </a:lnTo>
                <a:lnTo>
                  <a:pt x="1185290" y="2871597"/>
                </a:lnTo>
                <a:lnTo>
                  <a:pt x="0" y="2871597"/>
                </a:lnTo>
                <a:lnTo>
                  <a:pt x="0" y="656463"/>
                </a:lnTo>
                <a:close/>
              </a:path>
            </a:pathLst>
          </a:custGeom>
          <a:ln w="19812">
            <a:solidFill>
              <a:srgbClr val="E7E6E6"/>
            </a:solidFill>
            <a:prstDash val="dash"/>
          </a:ln>
        </p:spPr>
        <p:txBody>
          <a:bodyPr wrap="square" lIns="0" tIns="0" rIns="0" bIns="0" rtlCol="0"/>
          <a:lstStyle/>
          <a:p>
            <a:endParaRPr/>
          </a:p>
        </p:txBody>
      </p:sp>
      <p:sp>
        <p:nvSpPr>
          <p:cNvPr id="21" name="object 21"/>
          <p:cNvSpPr/>
          <p:nvPr/>
        </p:nvSpPr>
        <p:spPr>
          <a:xfrm>
            <a:off x="4157471" y="1322832"/>
            <a:ext cx="567055" cy="381000"/>
          </a:xfrm>
          <a:custGeom>
            <a:avLst/>
            <a:gdLst/>
            <a:ahLst/>
            <a:cxnLst/>
            <a:rect l="l" t="t" r="r" b="b"/>
            <a:pathLst>
              <a:path w="567054" h="381000">
                <a:moveTo>
                  <a:pt x="330835" y="0"/>
                </a:moveTo>
                <a:lnTo>
                  <a:pt x="330835" y="95250"/>
                </a:lnTo>
                <a:lnTo>
                  <a:pt x="0" y="95250"/>
                </a:lnTo>
                <a:lnTo>
                  <a:pt x="0" y="285750"/>
                </a:lnTo>
                <a:lnTo>
                  <a:pt x="330835" y="285750"/>
                </a:lnTo>
                <a:lnTo>
                  <a:pt x="330835" y="381000"/>
                </a:lnTo>
                <a:lnTo>
                  <a:pt x="566927" y="190500"/>
                </a:lnTo>
                <a:lnTo>
                  <a:pt x="330835" y="0"/>
                </a:lnTo>
                <a:close/>
              </a:path>
            </a:pathLst>
          </a:custGeom>
          <a:solidFill>
            <a:srgbClr val="FFFFFF"/>
          </a:solidFill>
        </p:spPr>
        <p:txBody>
          <a:bodyPr wrap="square" lIns="0" tIns="0" rIns="0" bIns="0" rtlCol="0"/>
          <a:lstStyle/>
          <a:p>
            <a:endParaRPr/>
          </a:p>
        </p:txBody>
      </p:sp>
      <p:sp>
        <p:nvSpPr>
          <p:cNvPr id="22" name="object 22"/>
          <p:cNvSpPr/>
          <p:nvPr/>
        </p:nvSpPr>
        <p:spPr>
          <a:xfrm>
            <a:off x="4157471" y="3302508"/>
            <a:ext cx="567055" cy="381000"/>
          </a:xfrm>
          <a:custGeom>
            <a:avLst/>
            <a:gdLst/>
            <a:ahLst/>
            <a:cxnLst/>
            <a:rect l="l" t="t" r="r" b="b"/>
            <a:pathLst>
              <a:path w="567054" h="381000">
                <a:moveTo>
                  <a:pt x="330835" y="0"/>
                </a:moveTo>
                <a:lnTo>
                  <a:pt x="330835" y="95250"/>
                </a:lnTo>
                <a:lnTo>
                  <a:pt x="0" y="95250"/>
                </a:lnTo>
                <a:lnTo>
                  <a:pt x="0" y="285750"/>
                </a:lnTo>
                <a:lnTo>
                  <a:pt x="330835" y="285750"/>
                </a:lnTo>
                <a:lnTo>
                  <a:pt x="330835" y="380999"/>
                </a:lnTo>
                <a:lnTo>
                  <a:pt x="566927" y="190500"/>
                </a:lnTo>
                <a:lnTo>
                  <a:pt x="330835" y="0"/>
                </a:lnTo>
                <a:close/>
              </a:path>
            </a:pathLst>
          </a:custGeom>
          <a:solidFill>
            <a:srgbClr val="FFFFFF"/>
          </a:solidFill>
        </p:spPr>
        <p:txBody>
          <a:bodyPr wrap="square" lIns="0" tIns="0" rIns="0" bIns="0" rtlCol="0"/>
          <a:lstStyle/>
          <a:p>
            <a:endParaRPr/>
          </a:p>
        </p:txBody>
      </p:sp>
      <p:sp>
        <p:nvSpPr>
          <p:cNvPr id="23" name="object 23"/>
          <p:cNvSpPr txBox="1"/>
          <p:nvPr/>
        </p:nvSpPr>
        <p:spPr>
          <a:xfrm>
            <a:off x="6484746" y="3102726"/>
            <a:ext cx="1567815" cy="1177290"/>
          </a:xfrm>
          <a:prstGeom prst="rect">
            <a:avLst/>
          </a:prstGeom>
        </p:spPr>
        <p:txBody>
          <a:bodyPr vert="horz" wrap="square" lIns="0" tIns="0" rIns="0" bIns="0" rtlCol="0">
            <a:spAutoFit/>
          </a:bodyPr>
          <a:lstStyle/>
          <a:p>
            <a:pPr marL="12700" marR="5080" indent="17780">
              <a:lnSpc>
                <a:spcPct val="115700"/>
              </a:lnSpc>
            </a:pPr>
            <a:r>
              <a:rPr sz="2400" b="1" dirty="0">
                <a:latin typeface="微软雅黑"/>
                <a:cs typeface="微软雅黑"/>
              </a:rPr>
              <a:t>电平翻转 单脉冲输出 强制输出</a:t>
            </a:r>
            <a:endParaRPr sz="2400">
              <a:latin typeface="微软雅黑"/>
              <a:cs typeface="微软雅黑"/>
            </a:endParaRPr>
          </a:p>
        </p:txBody>
      </p:sp>
      <p:sp>
        <p:nvSpPr>
          <p:cNvPr id="24" name="object 24"/>
          <p:cNvSpPr txBox="1">
            <a:spLocks noGrp="1"/>
          </p:cNvSpPr>
          <p:nvPr>
            <p:ph type="title"/>
          </p:nvPr>
        </p:nvSpPr>
        <p:spPr>
          <a:xfrm>
            <a:off x="6523990" y="1006972"/>
            <a:ext cx="3987800" cy="330200"/>
          </a:xfrm>
          <a:prstGeom prst="rect">
            <a:avLst/>
          </a:prstGeom>
        </p:spPr>
        <p:txBody>
          <a:bodyPr vert="horz" wrap="square" lIns="0" tIns="0" rIns="0" bIns="0" rtlCol="0">
            <a:spAutoFit/>
          </a:bodyPr>
          <a:lstStyle/>
          <a:p>
            <a:pPr marL="12700">
              <a:lnSpc>
                <a:spcPct val="100000"/>
              </a:lnSpc>
            </a:pPr>
            <a:r>
              <a:rPr sz="2400" dirty="0"/>
              <a:t>计数内部时钟，即定时器模式</a:t>
            </a:r>
            <a:endParaRPr sz="2400"/>
          </a:p>
        </p:txBody>
      </p:sp>
      <p:sp>
        <p:nvSpPr>
          <p:cNvPr id="25" name="object 25"/>
          <p:cNvSpPr txBox="1"/>
          <p:nvPr/>
        </p:nvSpPr>
        <p:spPr>
          <a:xfrm>
            <a:off x="6523990" y="1734809"/>
            <a:ext cx="39878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计数外部脉冲，即计数器模式</a:t>
            </a:r>
            <a:endParaRPr sz="2400">
              <a:latin typeface="微软雅黑"/>
              <a:cs typeface="微软雅黑"/>
            </a:endParaRPr>
          </a:p>
        </p:txBody>
      </p:sp>
      <p:sp>
        <p:nvSpPr>
          <p:cNvPr id="26" name="object 26"/>
          <p:cNvSpPr txBox="1"/>
          <p:nvPr/>
        </p:nvSpPr>
        <p:spPr>
          <a:xfrm>
            <a:off x="1845310" y="2801791"/>
            <a:ext cx="433070" cy="1408430"/>
          </a:xfrm>
          <a:prstGeom prst="rect">
            <a:avLst/>
          </a:prstGeom>
        </p:spPr>
        <p:txBody>
          <a:bodyPr vert="horz" wrap="square" lIns="0" tIns="0" rIns="0" bIns="0" rtlCol="0">
            <a:spAutoFit/>
          </a:bodyPr>
          <a:lstStyle/>
          <a:p>
            <a:pPr marL="12700" marR="5080" algn="just">
              <a:lnSpc>
                <a:spcPct val="100000"/>
              </a:lnSpc>
            </a:pPr>
            <a:r>
              <a:rPr sz="3200" b="1" dirty="0">
                <a:latin typeface="微软雅黑"/>
                <a:cs typeface="微软雅黑"/>
              </a:rPr>
              <a:t>定 </a:t>
            </a:r>
            <a:r>
              <a:rPr sz="3200" b="1" spc="5" dirty="0">
                <a:latin typeface="微软雅黑"/>
                <a:cs typeface="微软雅黑"/>
              </a:rPr>
              <a:t>时</a:t>
            </a:r>
            <a:r>
              <a:rPr sz="3200" b="1" dirty="0">
                <a:latin typeface="微软雅黑"/>
                <a:cs typeface="微软雅黑"/>
              </a:rPr>
              <a:t> 器</a:t>
            </a:r>
            <a:endParaRPr sz="3200">
              <a:latin typeface="微软雅黑"/>
              <a:cs typeface="微软雅黑"/>
            </a:endParaRPr>
          </a:p>
        </p:txBody>
      </p:sp>
      <p:sp>
        <p:nvSpPr>
          <p:cNvPr id="27" name="object 27"/>
          <p:cNvSpPr/>
          <p:nvPr/>
        </p:nvSpPr>
        <p:spPr>
          <a:xfrm>
            <a:off x="4139184" y="5385815"/>
            <a:ext cx="567055" cy="381000"/>
          </a:xfrm>
          <a:custGeom>
            <a:avLst/>
            <a:gdLst/>
            <a:ahLst/>
            <a:cxnLst/>
            <a:rect l="l" t="t" r="r" b="b"/>
            <a:pathLst>
              <a:path w="567054" h="381000">
                <a:moveTo>
                  <a:pt x="330835" y="0"/>
                </a:moveTo>
                <a:lnTo>
                  <a:pt x="330835" y="95250"/>
                </a:lnTo>
                <a:lnTo>
                  <a:pt x="0" y="95250"/>
                </a:lnTo>
                <a:lnTo>
                  <a:pt x="0" y="285750"/>
                </a:lnTo>
                <a:lnTo>
                  <a:pt x="330835" y="285750"/>
                </a:lnTo>
                <a:lnTo>
                  <a:pt x="330835" y="381000"/>
                </a:lnTo>
                <a:lnTo>
                  <a:pt x="566927" y="190500"/>
                </a:lnTo>
                <a:lnTo>
                  <a:pt x="330835" y="0"/>
                </a:lnTo>
                <a:close/>
              </a:path>
            </a:pathLst>
          </a:custGeom>
          <a:solidFill>
            <a:srgbClr val="FFFFFF"/>
          </a:solidFill>
        </p:spPr>
        <p:txBody>
          <a:bodyPr wrap="square" lIns="0" tIns="0" rIns="0" bIns="0" rtlCol="0"/>
          <a:lstStyle/>
          <a:p>
            <a:endParaRPr/>
          </a:p>
        </p:txBody>
      </p:sp>
      <p:sp>
        <p:nvSpPr>
          <p:cNvPr id="28" name="object 28"/>
          <p:cNvSpPr/>
          <p:nvPr/>
        </p:nvSpPr>
        <p:spPr>
          <a:xfrm>
            <a:off x="6098093" y="2718816"/>
            <a:ext cx="307340" cy="1461770"/>
          </a:xfrm>
          <a:custGeom>
            <a:avLst/>
            <a:gdLst/>
            <a:ahLst/>
            <a:cxnLst/>
            <a:rect l="l" t="t" r="r" b="b"/>
            <a:pathLst>
              <a:path w="307339" h="1461770">
                <a:moveTo>
                  <a:pt x="307278" y="1461515"/>
                </a:moveTo>
                <a:lnTo>
                  <a:pt x="255493" y="1456297"/>
                </a:lnTo>
                <a:lnTo>
                  <a:pt x="211203" y="1441853"/>
                </a:lnTo>
                <a:lnTo>
                  <a:pt x="177513" y="1420002"/>
                </a:lnTo>
                <a:lnTo>
                  <a:pt x="154451" y="1382485"/>
                </a:lnTo>
                <a:lnTo>
                  <a:pt x="153354" y="820546"/>
                </a:lnTo>
                <a:lnTo>
                  <a:pt x="152322" y="810109"/>
                </a:lnTo>
                <a:lnTo>
                  <a:pt x="129480" y="772531"/>
                </a:lnTo>
                <a:lnTo>
                  <a:pt x="95917" y="750612"/>
                </a:lnTo>
                <a:lnTo>
                  <a:pt x="51722" y="736082"/>
                </a:lnTo>
                <a:lnTo>
                  <a:pt x="0" y="730758"/>
                </a:lnTo>
                <a:lnTo>
                  <a:pt x="17837" y="730152"/>
                </a:lnTo>
                <a:lnTo>
                  <a:pt x="67341" y="721611"/>
                </a:lnTo>
                <a:lnTo>
                  <a:pt x="108368" y="704411"/>
                </a:lnTo>
                <a:lnTo>
                  <a:pt x="144414" y="671172"/>
                </a:lnTo>
                <a:lnTo>
                  <a:pt x="153354" y="89788"/>
                </a:lnTo>
                <a:lnTo>
                  <a:pt x="154386" y="79351"/>
                </a:lnTo>
                <a:lnTo>
                  <a:pt x="177228" y="41773"/>
                </a:lnTo>
                <a:lnTo>
                  <a:pt x="210790" y="19854"/>
                </a:lnTo>
                <a:lnTo>
                  <a:pt x="254986" y="5324"/>
                </a:lnTo>
                <a:lnTo>
                  <a:pt x="288823" y="639"/>
                </a:lnTo>
                <a:lnTo>
                  <a:pt x="306708" y="0"/>
                </a:lnTo>
              </a:path>
            </a:pathLst>
          </a:custGeom>
          <a:ln w="57912">
            <a:solidFill>
              <a:srgbClr val="000000"/>
            </a:solidFill>
          </a:ln>
        </p:spPr>
        <p:txBody>
          <a:bodyPr wrap="square" lIns="0" tIns="0" rIns="0" bIns="0" rtlCol="0"/>
          <a:lstStyle/>
          <a:p>
            <a:endParaRPr/>
          </a:p>
        </p:txBody>
      </p:sp>
      <p:sp>
        <p:nvSpPr>
          <p:cNvPr id="29" name="object 29"/>
          <p:cNvSpPr/>
          <p:nvPr/>
        </p:nvSpPr>
        <p:spPr>
          <a:xfrm>
            <a:off x="6125444" y="4847935"/>
            <a:ext cx="264795" cy="1582420"/>
          </a:xfrm>
          <a:custGeom>
            <a:avLst/>
            <a:gdLst/>
            <a:ahLst/>
            <a:cxnLst/>
            <a:rect l="l" t="t" r="r" b="b"/>
            <a:pathLst>
              <a:path w="264795" h="1582420">
                <a:moveTo>
                  <a:pt x="264687" y="1581820"/>
                </a:moveTo>
                <a:lnTo>
                  <a:pt x="213321" y="1575952"/>
                </a:lnTo>
                <a:lnTo>
                  <a:pt x="170964" y="1559898"/>
                </a:lnTo>
                <a:lnTo>
                  <a:pt x="135385" y="1526670"/>
                </a:lnTo>
                <a:lnTo>
                  <a:pt x="129051" y="869985"/>
                </a:lnTo>
                <a:lnTo>
                  <a:pt x="127884" y="859558"/>
                </a:lnTo>
                <a:lnTo>
                  <a:pt x="102343" y="822826"/>
                </a:lnTo>
                <a:lnTo>
                  <a:pt x="65399" y="802910"/>
                </a:lnTo>
                <a:lnTo>
                  <a:pt x="17636" y="792121"/>
                </a:lnTo>
                <a:lnTo>
                  <a:pt x="0" y="790955"/>
                </a:lnTo>
                <a:lnTo>
                  <a:pt x="17004" y="790203"/>
                </a:lnTo>
                <a:lnTo>
                  <a:pt x="64203" y="779956"/>
                </a:lnTo>
                <a:lnTo>
                  <a:pt x="101738" y="759736"/>
                </a:lnTo>
                <a:lnTo>
                  <a:pt x="127984" y="721731"/>
                </a:lnTo>
                <a:lnTo>
                  <a:pt x="129051" y="79029"/>
                </a:lnTo>
                <a:lnTo>
                  <a:pt x="130218" y="68605"/>
                </a:lnTo>
                <a:lnTo>
                  <a:pt x="155759" y="31875"/>
                </a:lnTo>
                <a:lnTo>
                  <a:pt x="192703" y="11957"/>
                </a:lnTo>
                <a:lnTo>
                  <a:pt x="240466" y="1166"/>
                </a:lnTo>
                <a:lnTo>
                  <a:pt x="258102" y="0"/>
                </a:lnTo>
              </a:path>
            </a:pathLst>
          </a:custGeom>
          <a:ln w="57912">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135844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612135"/>
            <a:ext cx="12192000" cy="1416050"/>
          </a:xfrm>
          <a:custGeom>
            <a:avLst/>
            <a:gdLst/>
            <a:ahLst/>
            <a:cxnLst/>
            <a:rect l="l" t="t" r="r" b="b"/>
            <a:pathLst>
              <a:path w="12192000" h="1416050">
                <a:moveTo>
                  <a:pt x="0" y="1415795"/>
                </a:moveTo>
                <a:lnTo>
                  <a:pt x="12191999" y="1415795"/>
                </a:lnTo>
                <a:lnTo>
                  <a:pt x="12192000" y="0"/>
                </a:lnTo>
                <a:lnTo>
                  <a:pt x="0" y="0"/>
                </a:lnTo>
                <a:lnTo>
                  <a:pt x="0" y="1415795"/>
                </a:lnTo>
                <a:close/>
              </a:path>
            </a:pathLst>
          </a:custGeom>
          <a:solidFill>
            <a:srgbClr val="E34A46"/>
          </a:solidFill>
        </p:spPr>
        <p:txBody>
          <a:bodyPr wrap="square" lIns="0" tIns="0" rIns="0" bIns="0" rtlCol="0"/>
          <a:lstStyle/>
          <a:p>
            <a:endParaRPr/>
          </a:p>
        </p:txBody>
      </p:sp>
      <p:sp>
        <p:nvSpPr>
          <p:cNvPr id="3" name="object 3"/>
          <p:cNvSpPr txBox="1"/>
          <p:nvPr/>
        </p:nvSpPr>
        <p:spPr>
          <a:xfrm>
            <a:off x="1176934" y="3061435"/>
            <a:ext cx="10110470" cy="923330"/>
          </a:xfrm>
          <a:prstGeom prst="rect">
            <a:avLst/>
          </a:prstGeom>
        </p:spPr>
        <p:txBody>
          <a:bodyPr vert="horz" wrap="square" lIns="0" tIns="0" rIns="0" bIns="0" rtlCol="0">
            <a:spAutoFit/>
          </a:bodyPr>
          <a:lstStyle/>
          <a:p>
            <a:pPr marL="12700">
              <a:lnSpc>
                <a:spcPct val="100000"/>
              </a:lnSpc>
              <a:tabLst>
                <a:tab pos="1624965" algn="l"/>
              </a:tabLst>
            </a:pPr>
            <a:r>
              <a:rPr sz="6000" b="1" spc="-5" dirty="0" err="1" smtClean="0">
                <a:solidFill>
                  <a:srgbClr val="FFFFFF"/>
                </a:solidFill>
                <a:latin typeface="微软雅黑"/>
                <a:cs typeface="微软雅黑"/>
              </a:rPr>
              <a:t>HAL</a:t>
            </a:r>
            <a:r>
              <a:rPr sz="6000" b="1" dirty="0" err="1">
                <a:solidFill>
                  <a:srgbClr val="FFFFFF"/>
                </a:solidFill>
                <a:latin typeface="微软雅黑"/>
                <a:cs typeface="微软雅黑"/>
              </a:rPr>
              <a:t>库外设模块设计方法</a:t>
            </a:r>
            <a:endParaRPr sz="6000" dirty="0">
              <a:latin typeface="微软雅黑"/>
              <a:cs typeface="微软雅黑"/>
            </a:endParaRPr>
          </a:p>
        </p:txBody>
      </p:sp>
    </p:spTree>
    <p:extLst>
      <p:ext uri="{BB962C8B-B14F-4D97-AF65-F5344CB8AC3E}">
        <p14:creationId xmlns:p14="http://schemas.microsoft.com/office/powerpoint/2010/main" val="1197733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91846" y="1173342"/>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简单外设设计</a:t>
            </a:r>
            <a:endParaRPr sz="2400">
              <a:latin typeface="微软雅黑"/>
              <a:cs typeface="微软雅黑"/>
            </a:endParaRPr>
          </a:p>
        </p:txBody>
      </p:sp>
      <p:sp>
        <p:nvSpPr>
          <p:cNvPr id="10" name="object 10"/>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11" name="object 11"/>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12" name="object 12"/>
          <p:cNvSpPr txBox="1"/>
          <p:nvPr/>
        </p:nvSpPr>
        <p:spPr>
          <a:xfrm>
            <a:off x="587501" y="2923794"/>
            <a:ext cx="4486910" cy="2705100"/>
          </a:xfrm>
          <a:prstGeom prst="rect">
            <a:avLst/>
          </a:prstGeom>
          <a:ln w="38100">
            <a:solidFill>
              <a:srgbClr val="E34A46"/>
            </a:solidFill>
          </a:ln>
        </p:spPr>
        <p:txBody>
          <a:bodyPr vert="horz" wrap="square" lIns="0" tIns="0" rIns="0" bIns="0" rtlCol="0">
            <a:spAutoFit/>
          </a:bodyPr>
          <a:lstStyle/>
          <a:p>
            <a:pPr marL="198755" marR="279400">
              <a:lnSpc>
                <a:spcPct val="150000"/>
              </a:lnSpc>
            </a:pPr>
            <a:r>
              <a:rPr sz="2400" b="1" spc="-5" dirty="0">
                <a:latin typeface="微软雅黑"/>
                <a:cs typeface="微软雅黑"/>
              </a:rPr>
              <a:t>GPIO</a:t>
            </a:r>
            <a:r>
              <a:rPr sz="2400" b="1" dirty="0">
                <a:latin typeface="微软雅黑"/>
                <a:cs typeface="微软雅黑"/>
              </a:rPr>
              <a:t>外设使用引脚初始化数 据类</a:t>
            </a:r>
            <a:r>
              <a:rPr sz="2400" b="1" spc="-5" dirty="0">
                <a:latin typeface="微软雅黑"/>
                <a:cs typeface="微软雅黑"/>
              </a:rPr>
              <a:t>型GPIO_I</a:t>
            </a:r>
            <a:r>
              <a:rPr sz="2400" b="1" dirty="0">
                <a:latin typeface="微软雅黑"/>
                <a:cs typeface="微软雅黑"/>
              </a:rPr>
              <a:t>nit</a:t>
            </a:r>
            <a:r>
              <a:rPr sz="2400" b="1" spc="-125" dirty="0">
                <a:latin typeface="微软雅黑"/>
                <a:cs typeface="微软雅黑"/>
              </a:rPr>
              <a:t>T</a:t>
            </a:r>
            <a:r>
              <a:rPr sz="2400" b="1" spc="-10" dirty="0">
                <a:latin typeface="微软雅黑"/>
                <a:cs typeface="微软雅黑"/>
              </a:rPr>
              <a:t>ype</a:t>
            </a:r>
            <a:r>
              <a:rPr sz="2400" b="1" spc="-15" dirty="0">
                <a:latin typeface="微软雅黑"/>
                <a:cs typeface="微软雅黑"/>
              </a:rPr>
              <a:t>D</a:t>
            </a:r>
            <a:r>
              <a:rPr sz="2400" b="1" dirty="0">
                <a:latin typeface="微软雅黑"/>
                <a:cs typeface="微软雅黑"/>
              </a:rPr>
              <a:t>ef来 描</a:t>
            </a:r>
            <a:r>
              <a:rPr sz="2400" b="1" spc="-5" dirty="0">
                <a:latin typeface="微软雅黑"/>
                <a:cs typeface="微软雅黑"/>
              </a:rPr>
              <a:t>述GPIO</a:t>
            </a:r>
            <a:r>
              <a:rPr sz="2400" b="1" dirty="0">
                <a:latin typeface="微软雅黑"/>
                <a:cs typeface="微软雅黑"/>
              </a:rPr>
              <a:t>引脚的属性：引脚 </a:t>
            </a:r>
            <a:r>
              <a:rPr sz="2400" b="1" spc="-5" dirty="0">
                <a:latin typeface="微软雅黑"/>
                <a:cs typeface="微软雅黑"/>
              </a:rPr>
              <a:t>编号、工作模式、输出速度等</a:t>
            </a:r>
            <a:endParaRPr sz="2400">
              <a:latin typeface="微软雅黑"/>
              <a:cs typeface="微软雅黑"/>
            </a:endParaRPr>
          </a:p>
        </p:txBody>
      </p:sp>
      <p:sp>
        <p:nvSpPr>
          <p:cNvPr id="13" name="object 13"/>
          <p:cNvSpPr txBox="1"/>
          <p:nvPr/>
        </p:nvSpPr>
        <p:spPr>
          <a:xfrm>
            <a:off x="2081529" y="2258379"/>
            <a:ext cx="1447165" cy="381000"/>
          </a:xfrm>
          <a:prstGeom prst="rect">
            <a:avLst/>
          </a:prstGeom>
        </p:spPr>
        <p:txBody>
          <a:bodyPr vert="horz" wrap="square" lIns="0" tIns="0" rIns="0" bIns="0" rtlCol="0">
            <a:spAutoFit/>
          </a:bodyPr>
          <a:lstStyle/>
          <a:p>
            <a:pPr marL="12700">
              <a:lnSpc>
                <a:spcPct val="100000"/>
              </a:lnSpc>
            </a:pPr>
            <a:r>
              <a:rPr sz="2800" b="1" spc="-5" dirty="0">
                <a:solidFill>
                  <a:srgbClr val="FF0000"/>
                </a:solidFill>
                <a:latin typeface="微软雅黑"/>
                <a:cs typeface="微软雅黑"/>
              </a:rPr>
              <a:t>简单外设</a:t>
            </a:r>
            <a:endParaRPr sz="2800">
              <a:latin typeface="微软雅黑"/>
              <a:cs typeface="微软雅黑"/>
            </a:endParaRPr>
          </a:p>
        </p:txBody>
      </p:sp>
      <p:sp>
        <p:nvSpPr>
          <p:cNvPr id="14" name="object 14"/>
          <p:cNvSpPr/>
          <p:nvPr/>
        </p:nvSpPr>
        <p:spPr>
          <a:xfrm>
            <a:off x="6558533" y="2923794"/>
            <a:ext cx="4486910" cy="2705100"/>
          </a:xfrm>
          <a:custGeom>
            <a:avLst/>
            <a:gdLst/>
            <a:ahLst/>
            <a:cxnLst/>
            <a:rect l="l" t="t" r="r" b="b"/>
            <a:pathLst>
              <a:path w="4486909" h="2705100">
                <a:moveTo>
                  <a:pt x="0" y="2705099"/>
                </a:moveTo>
                <a:lnTo>
                  <a:pt x="4486656" y="2705099"/>
                </a:lnTo>
                <a:lnTo>
                  <a:pt x="4486656" y="0"/>
                </a:lnTo>
                <a:lnTo>
                  <a:pt x="0" y="0"/>
                </a:lnTo>
                <a:lnTo>
                  <a:pt x="0" y="2705099"/>
                </a:lnTo>
                <a:close/>
              </a:path>
            </a:pathLst>
          </a:custGeom>
          <a:ln w="38100">
            <a:solidFill>
              <a:srgbClr val="E34A46"/>
            </a:solidFill>
          </a:ln>
        </p:spPr>
        <p:txBody>
          <a:bodyPr wrap="square" lIns="0" tIns="0" rIns="0" bIns="0" rtlCol="0"/>
          <a:lstStyle/>
          <a:p>
            <a:endParaRPr/>
          </a:p>
        </p:txBody>
      </p:sp>
      <p:sp>
        <p:nvSpPr>
          <p:cNvPr id="15" name="object 15"/>
          <p:cNvSpPr txBox="1"/>
          <p:nvPr/>
        </p:nvSpPr>
        <p:spPr>
          <a:xfrm>
            <a:off x="6764781" y="2258379"/>
            <a:ext cx="3683000" cy="1421130"/>
          </a:xfrm>
          <a:prstGeom prst="rect">
            <a:avLst/>
          </a:prstGeom>
        </p:spPr>
        <p:txBody>
          <a:bodyPr vert="horz" wrap="square" lIns="0" tIns="0" rIns="0" bIns="0" rtlCol="0">
            <a:spAutoFit/>
          </a:bodyPr>
          <a:lstStyle/>
          <a:p>
            <a:pPr marL="12700" indent="1289050">
              <a:lnSpc>
                <a:spcPct val="100000"/>
              </a:lnSpc>
            </a:pPr>
            <a:r>
              <a:rPr sz="2800" b="1" spc="-10" dirty="0">
                <a:solidFill>
                  <a:srgbClr val="FF0000"/>
                </a:solidFill>
                <a:latin typeface="微软雅黑"/>
                <a:cs typeface="微软雅黑"/>
              </a:rPr>
              <a:t>复杂外设</a:t>
            </a:r>
            <a:endParaRPr sz="2800">
              <a:latin typeface="微软雅黑"/>
              <a:cs typeface="微软雅黑"/>
            </a:endParaRPr>
          </a:p>
          <a:p>
            <a:pPr>
              <a:lnSpc>
                <a:spcPct val="100000"/>
              </a:lnSpc>
            </a:pPr>
            <a:endParaRPr sz="2800">
              <a:latin typeface="Times New Roman"/>
              <a:cs typeface="Times New Roman"/>
            </a:endParaRPr>
          </a:p>
          <a:p>
            <a:pPr marL="12700">
              <a:lnSpc>
                <a:spcPct val="100000"/>
              </a:lnSpc>
              <a:spcBef>
                <a:spcPts val="2085"/>
              </a:spcBef>
            </a:pPr>
            <a:r>
              <a:rPr sz="2400" b="1" dirty="0">
                <a:latin typeface="微软雅黑"/>
                <a:cs typeface="微软雅黑"/>
              </a:rPr>
              <a:t>定时器外设具有三类功能：</a:t>
            </a:r>
            <a:endParaRPr sz="2400">
              <a:latin typeface="微软雅黑"/>
              <a:cs typeface="微软雅黑"/>
            </a:endParaRPr>
          </a:p>
        </p:txBody>
      </p:sp>
      <p:sp>
        <p:nvSpPr>
          <p:cNvPr id="16" name="object 16"/>
          <p:cNvSpPr txBox="1"/>
          <p:nvPr/>
        </p:nvSpPr>
        <p:spPr>
          <a:xfrm>
            <a:off x="6764781" y="3895107"/>
            <a:ext cx="2342515" cy="1430655"/>
          </a:xfrm>
          <a:prstGeom prst="rect">
            <a:avLst/>
          </a:prstGeom>
        </p:spPr>
        <p:txBody>
          <a:bodyPr vert="horz" wrap="square" lIns="0" tIns="0" rIns="0" bIns="0" rtlCol="0">
            <a:spAutoFit/>
          </a:bodyPr>
          <a:lstStyle/>
          <a:p>
            <a:pPr marL="12700">
              <a:lnSpc>
                <a:spcPct val="100000"/>
              </a:lnSpc>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定时/计数功能</a:t>
            </a:r>
            <a:endParaRPr sz="2400">
              <a:latin typeface="微软雅黑"/>
              <a:cs typeface="微软雅黑"/>
            </a:endParaRPr>
          </a:p>
          <a:p>
            <a:pPr marL="12700">
              <a:lnSpc>
                <a:spcPct val="100000"/>
              </a:lnSpc>
              <a:spcBef>
                <a:spcPts val="1440"/>
              </a:spcBef>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输出比较功能</a:t>
            </a:r>
            <a:endParaRPr sz="2400">
              <a:latin typeface="微软雅黑"/>
              <a:cs typeface="微软雅黑"/>
            </a:endParaRPr>
          </a:p>
          <a:p>
            <a:pPr marL="12700">
              <a:lnSpc>
                <a:spcPct val="100000"/>
              </a:lnSpc>
              <a:spcBef>
                <a:spcPts val="1440"/>
              </a:spcBef>
            </a:pPr>
            <a:r>
              <a:rPr sz="2400" spc="-229" dirty="0">
                <a:latin typeface="Segoe UI Symbol"/>
                <a:cs typeface="Segoe UI Symbol"/>
              </a:rPr>
              <a:t>⚫</a:t>
            </a:r>
            <a:r>
              <a:rPr sz="2400" spc="245" dirty="0">
                <a:latin typeface="Segoe UI Symbol"/>
                <a:cs typeface="Segoe UI Symbol"/>
              </a:rPr>
              <a:t> </a:t>
            </a:r>
            <a:r>
              <a:rPr sz="2400" b="1" spc="-5" dirty="0">
                <a:latin typeface="微软雅黑"/>
                <a:cs typeface="微软雅黑"/>
              </a:rPr>
              <a:t>输入捕获功能</a:t>
            </a:r>
            <a:endParaRPr sz="2400">
              <a:latin typeface="微软雅黑"/>
              <a:cs typeface="微软雅黑"/>
            </a:endParaRPr>
          </a:p>
        </p:txBody>
      </p:sp>
      <p:sp>
        <p:nvSpPr>
          <p:cNvPr id="17" name="object 17"/>
          <p:cNvSpPr/>
          <p:nvPr/>
        </p:nvSpPr>
        <p:spPr>
          <a:xfrm>
            <a:off x="9344532" y="3914394"/>
            <a:ext cx="2590800" cy="1222375"/>
          </a:xfrm>
          <a:custGeom>
            <a:avLst/>
            <a:gdLst/>
            <a:ahLst/>
            <a:cxnLst/>
            <a:rect l="l" t="t" r="r" b="b"/>
            <a:pathLst>
              <a:path w="2590800" h="1222375">
                <a:moveTo>
                  <a:pt x="2386965" y="0"/>
                </a:moveTo>
                <a:lnTo>
                  <a:pt x="561721" y="0"/>
                </a:lnTo>
                <a:lnTo>
                  <a:pt x="545011" y="675"/>
                </a:lnTo>
                <a:lnTo>
                  <a:pt x="497326" y="10383"/>
                </a:lnTo>
                <a:lnTo>
                  <a:pt x="454408" y="30516"/>
                </a:lnTo>
                <a:lnTo>
                  <a:pt x="417671" y="59658"/>
                </a:lnTo>
                <a:lnTo>
                  <a:pt x="388529" y="96395"/>
                </a:lnTo>
                <a:lnTo>
                  <a:pt x="368396" y="139313"/>
                </a:lnTo>
                <a:lnTo>
                  <a:pt x="358688" y="186998"/>
                </a:lnTo>
                <a:lnTo>
                  <a:pt x="358013" y="203707"/>
                </a:lnTo>
                <a:lnTo>
                  <a:pt x="358013" y="712977"/>
                </a:lnTo>
                <a:lnTo>
                  <a:pt x="0" y="961262"/>
                </a:lnTo>
                <a:lnTo>
                  <a:pt x="358013" y="1018539"/>
                </a:lnTo>
                <a:lnTo>
                  <a:pt x="358688" y="1035249"/>
                </a:lnTo>
                <a:lnTo>
                  <a:pt x="360678" y="1051586"/>
                </a:lnTo>
                <a:lnTo>
                  <a:pt x="374018" y="1097839"/>
                </a:lnTo>
                <a:lnTo>
                  <a:pt x="397311" y="1138854"/>
                </a:lnTo>
                <a:lnTo>
                  <a:pt x="429143" y="1173217"/>
                </a:lnTo>
                <a:lnTo>
                  <a:pt x="468097" y="1199513"/>
                </a:lnTo>
                <a:lnTo>
                  <a:pt x="512762" y="1216328"/>
                </a:lnTo>
                <a:lnTo>
                  <a:pt x="561721" y="1222247"/>
                </a:lnTo>
                <a:lnTo>
                  <a:pt x="2386965" y="1222247"/>
                </a:lnTo>
                <a:lnTo>
                  <a:pt x="2435923" y="1216328"/>
                </a:lnTo>
                <a:lnTo>
                  <a:pt x="2480588" y="1199513"/>
                </a:lnTo>
                <a:lnTo>
                  <a:pt x="2519542" y="1173217"/>
                </a:lnTo>
                <a:lnTo>
                  <a:pt x="2551374" y="1138854"/>
                </a:lnTo>
                <a:lnTo>
                  <a:pt x="2574667" y="1097839"/>
                </a:lnTo>
                <a:lnTo>
                  <a:pt x="2588007" y="1051586"/>
                </a:lnTo>
                <a:lnTo>
                  <a:pt x="2590673" y="1018539"/>
                </a:lnTo>
                <a:lnTo>
                  <a:pt x="2590673" y="203707"/>
                </a:lnTo>
                <a:lnTo>
                  <a:pt x="2584753" y="154749"/>
                </a:lnTo>
                <a:lnTo>
                  <a:pt x="2567938" y="110084"/>
                </a:lnTo>
                <a:lnTo>
                  <a:pt x="2541642" y="71130"/>
                </a:lnTo>
                <a:lnTo>
                  <a:pt x="2507279" y="39298"/>
                </a:lnTo>
                <a:lnTo>
                  <a:pt x="2466264" y="16005"/>
                </a:lnTo>
                <a:lnTo>
                  <a:pt x="2420011" y="2665"/>
                </a:lnTo>
                <a:lnTo>
                  <a:pt x="2403674" y="675"/>
                </a:lnTo>
                <a:lnTo>
                  <a:pt x="2386965" y="0"/>
                </a:lnTo>
                <a:close/>
              </a:path>
            </a:pathLst>
          </a:custGeom>
          <a:solidFill>
            <a:srgbClr val="FFFFC7"/>
          </a:solidFill>
        </p:spPr>
        <p:txBody>
          <a:bodyPr wrap="square" lIns="0" tIns="0" rIns="0" bIns="0" rtlCol="0"/>
          <a:lstStyle/>
          <a:p>
            <a:endParaRPr/>
          </a:p>
        </p:txBody>
      </p:sp>
      <p:sp>
        <p:nvSpPr>
          <p:cNvPr id="18" name="object 18"/>
          <p:cNvSpPr/>
          <p:nvPr/>
        </p:nvSpPr>
        <p:spPr>
          <a:xfrm>
            <a:off x="9344532" y="3914394"/>
            <a:ext cx="2590800" cy="1222375"/>
          </a:xfrm>
          <a:custGeom>
            <a:avLst/>
            <a:gdLst/>
            <a:ahLst/>
            <a:cxnLst/>
            <a:rect l="l" t="t" r="r" b="b"/>
            <a:pathLst>
              <a:path w="2590800" h="1222375">
                <a:moveTo>
                  <a:pt x="358013" y="203707"/>
                </a:moveTo>
                <a:lnTo>
                  <a:pt x="363932" y="154749"/>
                </a:lnTo>
                <a:lnTo>
                  <a:pt x="380747" y="110084"/>
                </a:lnTo>
                <a:lnTo>
                  <a:pt x="407043" y="71130"/>
                </a:lnTo>
                <a:lnTo>
                  <a:pt x="441406" y="39298"/>
                </a:lnTo>
                <a:lnTo>
                  <a:pt x="482421" y="16005"/>
                </a:lnTo>
                <a:lnTo>
                  <a:pt x="528674" y="2665"/>
                </a:lnTo>
                <a:lnTo>
                  <a:pt x="561721" y="0"/>
                </a:lnTo>
                <a:lnTo>
                  <a:pt x="730123" y="0"/>
                </a:lnTo>
                <a:lnTo>
                  <a:pt x="1288288" y="0"/>
                </a:lnTo>
                <a:lnTo>
                  <a:pt x="2386965" y="0"/>
                </a:lnTo>
                <a:lnTo>
                  <a:pt x="2403674" y="675"/>
                </a:lnTo>
                <a:lnTo>
                  <a:pt x="2451359" y="10383"/>
                </a:lnTo>
                <a:lnTo>
                  <a:pt x="2494277" y="30516"/>
                </a:lnTo>
                <a:lnTo>
                  <a:pt x="2531014" y="59658"/>
                </a:lnTo>
                <a:lnTo>
                  <a:pt x="2560156" y="96395"/>
                </a:lnTo>
                <a:lnTo>
                  <a:pt x="2580289" y="139313"/>
                </a:lnTo>
                <a:lnTo>
                  <a:pt x="2589997" y="186998"/>
                </a:lnTo>
                <a:lnTo>
                  <a:pt x="2590673" y="203707"/>
                </a:lnTo>
                <a:lnTo>
                  <a:pt x="2590673" y="712977"/>
                </a:lnTo>
                <a:lnTo>
                  <a:pt x="2590673" y="1018539"/>
                </a:lnTo>
                <a:lnTo>
                  <a:pt x="2589997" y="1035249"/>
                </a:lnTo>
                <a:lnTo>
                  <a:pt x="2588007" y="1051586"/>
                </a:lnTo>
                <a:lnTo>
                  <a:pt x="2574667" y="1097839"/>
                </a:lnTo>
                <a:lnTo>
                  <a:pt x="2551374" y="1138854"/>
                </a:lnTo>
                <a:lnTo>
                  <a:pt x="2519542" y="1173217"/>
                </a:lnTo>
                <a:lnTo>
                  <a:pt x="2480588" y="1199513"/>
                </a:lnTo>
                <a:lnTo>
                  <a:pt x="2435923" y="1216328"/>
                </a:lnTo>
                <a:lnTo>
                  <a:pt x="2386965" y="1222247"/>
                </a:lnTo>
                <a:lnTo>
                  <a:pt x="1288288" y="1222247"/>
                </a:lnTo>
                <a:lnTo>
                  <a:pt x="730123" y="1222247"/>
                </a:lnTo>
                <a:lnTo>
                  <a:pt x="561721" y="1222247"/>
                </a:lnTo>
                <a:lnTo>
                  <a:pt x="545011" y="1221572"/>
                </a:lnTo>
                <a:lnTo>
                  <a:pt x="497326" y="1211864"/>
                </a:lnTo>
                <a:lnTo>
                  <a:pt x="454408" y="1191731"/>
                </a:lnTo>
                <a:lnTo>
                  <a:pt x="417671" y="1162589"/>
                </a:lnTo>
                <a:lnTo>
                  <a:pt x="388529" y="1125852"/>
                </a:lnTo>
                <a:lnTo>
                  <a:pt x="368396" y="1082934"/>
                </a:lnTo>
                <a:lnTo>
                  <a:pt x="358688" y="1035249"/>
                </a:lnTo>
                <a:lnTo>
                  <a:pt x="358013" y="1018539"/>
                </a:lnTo>
                <a:lnTo>
                  <a:pt x="0" y="961262"/>
                </a:lnTo>
                <a:lnTo>
                  <a:pt x="358013" y="712977"/>
                </a:lnTo>
                <a:lnTo>
                  <a:pt x="358013" y="203707"/>
                </a:lnTo>
                <a:close/>
              </a:path>
            </a:pathLst>
          </a:custGeom>
          <a:ln w="28956">
            <a:solidFill>
              <a:srgbClr val="000000"/>
            </a:solidFill>
          </a:ln>
        </p:spPr>
        <p:txBody>
          <a:bodyPr wrap="square" lIns="0" tIns="0" rIns="0" bIns="0" rtlCol="0"/>
          <a:lstStyle/>
          <a:p>
            <a:endParaRPr/>
          </a:p>
        </p:txBody>
      </p:sp>
      <p:sp>
        <p:nvSpPr>
          <p:cNvPr id="19" name="object 19"/>
          <p:cNvSpPr txBox="1"/>
          <p:nvPr/>
        </p:nvSpPr>
        <p:spPr>
          <a:xfrm>
            <a:off x="9887204" y="4015795"/>
            <a:ext cx="1863725" cy="1041400"/>
          </a:xfrm>
          <a:prstGeom prst="rect">
            <a:avLst/>
          </a:prstGeom>
        </p:spPr>
        <p:txBody>
          <a:bodyPr vert="horz" wrap="square" lIns="0" tIns="0" rIns="0" bIns="0" rtlCol="0">
            <a:spAutoFit/>
          </a:bodyPr>
          <a:lstStyle/>
          <a:p>
            <a:pPr marL="12700" marR="5080" algn="just">
              <a:lnSpc>
                <a:spcPct val="97100"/>
              </a:lnSpc>
            </a:pPr>
            <a:r>
              <a:rPr sz="2400" b="1" spc="-5" dirty="0">
                <a:latin typeface="宋体"/>
                <a:cs typeface="宋体"/>
              </a:rPr>
              <a:t>每一类功能都 </a:t>
            </a:r>
            <a:r>
              <a:rPr sz="2400" b="1" dirty="0">
                <a:latin typeface="宋体"/>
                <a:cs typeface="宋体"/>
              </a:rPr>
              <a:t>需要单独的初 始化数据类型</a:t>
            </a:r>
            <a:endParaRPr sz="2400">
              <a:latin typeface="宋体"/>
              <a:cs typeface="宋体"/>
            </a:endParaRPr>
          </a:p>
        </p:txBody>
      </p:sp>
      <p:sp>
        <p:nvSpPr>
          <p:cNvPr id="20" name="object 20"/>
          <p:cNvSpPr txBox="1">
            <a:spLocks noGrp="1"/>
          </p:cNvSpPr>
          <p:nvPr>
            <p:ph type="title"/>
          </p:nvPr>
        </p:nvSpPr>
        <p:spPr>
          <a:prstGeom prst="rect">
            <a:avLst/>
          </a:prstGeom>
        </p:spPr>
        <p:txBody>
          <a:bodyPr vert="horz" wrap="square" lIns="0" tIns="0" rIns="0" bIns="0" rtlCol="0">
            <a:spAutoFit/>
          </a:bodyPr>
          <a:lstStyle/>
          <a:p>
            <a:pPr marL="4429125">
              <a:lnSpc>
                <a:spcPct val="100000"/>
              </a:lnSpc>
            </a:pPr>
            <a:r>
              <a:rPr spc="-5" dirty="0">
                <a:solidFill>
                  <a:srgbClr val="252525"/>
                </a:solidFill>
              </a:rPr>
              <a:t>简单外设的设计方法</a:t>
            </a:r>
          </a:p>
        </p:txBody>
      </p:sp>
    </p:spTree>
    <p:extLst>
      <p:ext uri="{BB962C8B-B14F-4D97-AF65-F5344CB8AC3E}">
        <p14:creationId xmlns:p14="http://schemas.microsoft.com/office/powerpoint/2010/main" val="3338167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62890" y="1173723"/>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复杂外设设计</a:t>
            </a:r>
            <a:endParaRPr sz="2400">
              <a:latin typeface="微软雅黑"/>
              <a:cs typeface="微软雅黑"/>
            </a:endParaRPr>
          </a:p>
        </p:txBody>
      </p:sp>
      <p:sp>
        <p:nvSpPr>
          <p:cNvPr id="12" name="object 12"/>
          <p:cNvSpPr/>
          <p:nvPr/>
        </p:nvSpPr>
        <p:spPr>
          <a:xfrm>
            <a:off x="1894332" y="4183198"/>
            <a:ext cx="1092835" cy="1870710"/>
          </a:xfrm>
          <a:custGeom>
            <a:avLst/>
            <a:gdLst/>
            <a:ahLst/>
            <a:cxnLst/>
            <a:rect l="l" t="t" r="r" b="b"/>
            <a:pathLst>
              <a:path w="1092835" h="1870710">
                <a:moveTo>
                  <a:pt x="58542" y="0"/>
                </a:moveTo>
                <a:lnTo>
                  <a:pt x="27340" y="30951"/>
                </a:lnTo>
                <a:lnTo>
                  <a:pt x="8758" y="87644"/>
                </a:lnTo>
                <a:lnTo>
                  <a:pt x="0" y="141786"/>
                </a:lnTo>
                <a:lnTo>
                  <a:pt x="0" y="1383338"/>
                </a:lnTo>
                <a:lnTo>
                  <a:pt x="2725" y="1448945"/>
                </a:lnTo>
                <a:lnTo>
                  <a:pt x="9812" y="1506751"/>
                </a:lnTo>
                <a:lnTo>
                  <a:pt x="21681" y="1556991"/>
                </a:lnTo>
                <a:lnTo>
                  <a:pt x="38754" y="1599901"/>
                </a:lnTo>
                <a:lnTo>
                  <a:pt x="61452" y="1635714"/>
                </a:lnTo>
                <a:lnTo>
                  <a:pt x="90196" y="1664667"/>
                </a:lnTo>
                <a:lnTo>
                  <a:pt x="125408" y="1686994"/>
                </a:lnTo>
                <a:lnTo>
                  <a:pt x="167509" y="1702931"/>
                </a:lnTo>
                <a:lnTo>
                  <a:pt x="216921" y="1712712"/>
                </a:lnTo>
                <a:lnTo>
                  <a:pt x="274066" y="1716573"/>
                </a:lnTo>
                <a:lnTo>
                  <a:pt x="836168" y="1719837"/>
                </a:lnTo>
                <a:lnTo>
                  <a:pt x="833882" y="1870129"/>
                </a:lnTo>
                <a:lnTo>
                  <a:pt x="1092708" y="1620193"/>
                </a:lnTo>
                <a:lnTo>
                  <a:pt x="1019516" y="1540145"/>
                </a:lnTo>
                <a:lnTo>
                  <a:pt x="843280" y="1540145"/>
                </a:lnTo>
                <a:lnTo>
                  <a:pt x="309244" y="1527077"/>
                </a:lnTo>
                <a:lnTo>
                  <a:pt x="268713" y="1524924"/>
                </a:lnTo>
                <a:lnTo>
                  <a:pt x="223387" y="1514963"/>
                </a:lnTo>
                <a:lnTo>
                  <a:pt x="188420" y="1487991"/>
                </a:lnTo>
                <a:lnTo>
                  <a:pt x="169253" y="1450750"/>
                </a:lnTo>
                <a:lnTo>
                  <a:pt x="156338" y="1394373"/>
                </a:lnTo>
                <a:lnTo>
                  <a:pt x="151293" y="1344131"/>
                </a:lnTo>
                <a:lnTo>
                  <a:pt x="138175" y="164646"/>
                </a:lnTo>
                <a:lnTo>
                  <a:pt x="133386" y="135168"/>
                </a:lnTo>
                <a:lnTo>
                  <a:pt x="121625" y="84703"/>
                </a:lnTo>
                <a:lnTo>
                  <a:pt x="107549" y="45738"/>
                </a:lnTo>
                <a:lnTo>
                  <a:pt x="83649" y="9326"/>
                </a:lnTo>
                <a:lnTo>
                  <a:pt x="66897" y="54"/>
                </a:lnTo>
                <a:lnTo>
                  <a:pt x="58542" y="0"/>
                </a:lnTo>
                <a:close/>
              </a:path>
              <a:path w="1092835" h="1870710">
                <a:moveTo>
                  <a:pt x="843280" y="1347397"/>
                </a:moveTo>
                <a:lnTo>
                  <a:pt x="843280" y="1540145"/>
                </a:lnTo>
                <a:lnTo>
                  <a:pt x="1019516" y="1540145"/>
                </a:lnTo>
                <a:lnTo>
                  <a:pt x="843280" y="1347397"/>
                </a:lnTo>
                <a:close/>
              </a:path>
            </a:pathLst>
          </a:custGeom>
          <a:solidFill>
            <a:srgbClr val="A6A6A6"/>
          </a:solidFill>
        </p:spPr>
        <p:txBody>
          <a:bodyPr wrap="square" lIns="0" tIns="0" rIns="0" bIns="0" rtlCol="0"/>
          <a:lstStyle/>
          <a:p>
            <a:endParaRPr/>
          </a:p>
        </p:txBody>
      </p:sp>
      <p:sp>
        <p:nvSpPr>
          <p:cNvPr id="13" name="object 13"/>
          <p:cNvSpPr/>
          <p:nvPr/>
        </p:nvSpPr>
        <p:spPr>
          <a:xfrm>
            <a:off x="1696211" y="3869435"/>
            <a:ext cx="1330960" cy="455930"/>
          </a:xfrm>
          <a:custGeom>
            <a:avLst/>
            <a:gdLst/>
            <a:ahLst/>
            <a:cxnLst/>
            <a:rect l="l" t="t" r="r" b="b"/>
            <a:pathLst>
              <a:path w="1330960" h="455929">
                <a:moveTo>
                  <a:pt x="1223077" y="311276"/>
                </a:moveTo>
                <a:lnTo>
                  <a:pt x="1039749" y="311276"/>
                </a:lnTo>
                <a:lnTo>
                  <a:pt x="1044067" y="455675"/>
                </a:lnTo>
                <a:lnTo>
                  <a:pt x="1223077" y="311276"/>
                </a:lnTo>
                <a:close/>
              </a:path>
              <a:path w="1330960" h="455929">
                <a:moveTo>
                  <a:pt x="1044067" y="0"/>
                </a:moveTo>
                <a:lnTo>
                  <a:pt x="1044067" y="134746"/>
                </a:lnTo>
                <a:lnTo>
                  <a:pt x="0" y="138049"/>
                </a:lnTo>
                <a:lnTo>
                  <a:pt x="2158" y="336931"/>
                </a:lnTo>
                <a:lnTo>
                  <a:pt x="1039749" y="311276"/>
                </a:lnTo>
                <a:lnTo>
                  <a:pt x="1223077" y="311276"/>
                </a:lnTo>
                <a:lnTo>
                  <a:pt x="1330452" y="224662"/>
                </a:lnTo>
                <a:lnTo>
                  <a:pt x="1044067" y="0"/>
                </a:lnTo>
                <a:close/>
              </a:path>
            </a:pathLst>
          </a:custGeom>
          <a:solidFill>
            <a:srgbClr val="A6A6A6"/>
          </a:solidFill>
        </p:spPr>
        <p:txBody>
          <a:bodyPr wrap="square" lIns="0" tIns="0" rIns="0" bIns="0" rtlCol="0"/>
          <a:lstStyle/>
          <a:p>
            <a:endParaRPr/>
          </a:p>
        </p:txBody>
      </p:sp>
      <p:sp>
        <p:nvSpPr>
          <p:cNvPr id="14" name="object 14"/>
          <p:cNvSpPr/>
          <p:nvPr/>
        </p:nvSpPr>
        <p:spPr>
          <a:xfrm>
            <a:off x="1933955" y="2225039"/>
            <a:ext cx="1092835" cy="1708150"/>
          </a:xfrm>
          <a:custGeom>
            <a:avLst/>
            <a:gdLst/>
            <a:ahLst/>
            <a:cxnLst/>
            <a:rect l="l" t="t" r="r" b="b"/>
            <a:pathLst>
              <a:path w="1092835" h="1708150">
                <a:moveTo>
                  <a:pt x="833882" y="0"/>
                </a:moveTo>
                <a:lnTo>
                  <a:pt x="836168" y="137287"/>
                </a:lnTo>
                <a:lnTo>
                  <a:pt x="274066" y="140208"/>
                </a:lnTo>
                <a:lnTo>
                  <a:pt x="244501" y="141317"/>
                </a:lnTo>
                <a:lnTo>
                  <a:pt x="191275" y="147530"/>
                </a:lnTo>
                <a:lnTo>
                  <a:pt x="145571" y="159250"/>
                </a:lnTo>
                <a:lnTo>
                  <a:pt x="106967" y="176692"/>
                </a:lnTo>
                <a:lnTo>
                  <a:pt x="75042" y="200073"/>
                </a:lnTo>
                <a:lnTo>
                  <a:pt x="49373" y="229609"/>
                </a:lnTo>
                <a:lnTo>
                  <a:pt x="29541" y="265518"/>
                </a:lnTo>
                <a:lnTo>
                  <a:pt x="15122" y="308014"/>
                </a:lnTo>
                <a:lnTo>
                  <a:pt x="5697" y="357315"/>
                </a:lnTo>
                <a:lnTo>
                  <a:pt x="844" y="413638"/>
                </a:lnTo>
                <a:lnTo>
                  <a:pt x="0" y="444500"/>
                </a:lnTo>
                <a:lnTo>
                  <a:pt x="0" y="1578229"/>
                </a:lnTo>
                <a:lnTo>
                  <a:pt x="8758" y="1627685"/>
                </a:lnTo>
                <a:lnTo>
                  <a:pt x="20539" y="1665162"/>
                </a:lnTo>
                <a:lnTo>
                  <a:pt x="42320" y="1699347"/>
                </a:lnTo>
                <a:lnTo>
                  <a:pt x="58542" y="1707739"/>
                </a:lnTo>
                <a:lnTo>
                  <a:pt x="66897" y="1707689"/>
                </a:lnTo>
                <a:lnTo>
                  <a:pt x="99864" y="1679762"/>
                </a:lnTo>
                <a:lnTo>
                  <a:pt x="121625" y="1630393"/>
                </a:lnTo>
                <a:lnTo>
                  <a:pt x="133386" y="1584315"/>
                </a:lnTo>
                <a:lnTo>
                  <a:pt x="149860" y="507238"/>
                </a:lnTo>
                <a:lnTo>
                  <a:pt x="151314" y="480105"/>
                </a:lnTo>
                <a:lnTo>
                  <a:pt x="156454" y="433785"/>
                </a:lnTo>
                <a:lnTo>
                  <a:pt x="169636" y="382016"/>
                </a:lnTo>
                <a:lnTo>
                  <a:pt x="189215" y="348051"/>
                </a:lnTo>
                <a:lnTo>
                  <a:pt x="224945" y="323763"/>
                </a:lnTo>
                <a:lnTo>
                  <a:pt x="271265" y="315048"/>
                </a:lnTo>
                <a:lnTo>
                  <a:pt x="843280" y="301371"/>
                </a:lnTo>
                <a:lnTo>
                  <a:pt x="1019481" y="301371"/>
                </a:lnTo>
                <a:lnTo>
                  <a:pt x="1092708" y="228219"/>
                </a:lnTo>
                <a:lnTo>
                  <a:pt x="833882" y="0"/>
                </a:lnTo>
                <a:close/>
              </a:path>
              <a:path w="1092835" h="1708150">
                <a:moveTo>
                  <a:pt x="1019481" y="301371"/>
                </a:moveTo>
                <a:lnTo>
                  <a:pt x="843280" y="301371"/>
                </a:lnTo>
                <a:lnTo>
                  <a:pt x="843280" y="477393"/>
                </a:lnTo>
                <a:lnTo>
                  <a:pt x="1019481" y="301371"/>
                </a:lnTo>
                <a:close/>
              </a:path>
            </a:pathLst>
          </a:custGeom>
          <a:solidFill>
            <a:srgbClr val="A6A6A6"/>
          </a:solidFill>
        </p:spPr>
        <p:txBody>
          <a:bodyPr wrap="square" lIns="0" tIns="0" rIns="0" bIns="0" rtlCol="0"/>
          <a:lstStyle/>
          <a:p>
            <a:endParaRPr/>
          </a:p>
        </p:txBody>
      </p:sp>
      <p:sp>
        <p:nvSpPr>
          <p:cNvPr id="15" name="object 15"/>
          <p:cNvSpPr/>
          <p:nvPr/>
        </p:nvSpPr>
        <p:spPr>
          <a:xfrm>
            <a:off x="5080253" y="1838705"/>
            <a:ext cx="5875020" cy="1202690"/>
          </a:xfrm>
          <a:custGeom>
            <a:avLst/>
            <a:gdLst/>
            <a:ahLst/>
            <a:cxnLst/>
            <a:rect l="l" t="t" r="r" b="b"/>
            <a:pathLst>
              <a:path w="5875020" h="1202689">
                <a:moveTo>
                  <a:pt x="0" y="138303"/>
                </a:moveTo>
                <a:lnTo>
                  <a:pt x="6703" y="95684"/>
                </a:lnTo>
                <a:lnTo>
                  <a:pt x="25404" y="58444"/>
                </a:lnTo>
                <a:lnTo>
                  <a:pt x="53991" y="28697"/>
                </a:lnTo>
                <a:lnTo>
                  <a:pt x="90351" y="8553"/>
                </a:lnTo>
                <a:lnTo>
                  <a:pt x="132374" y="125"/>
                </a:lnTo>
                <a:lnTo>
                  <a:pt x="5736717" y="0"/>
                </a:lnTo>
                <a:lnTo>
                  <a:pt x="5751390" y="770"/>
                </a:lnTo>
                <a:lnTo>
                  <a:pt x="5792450" y="11707"/>
                </a:lnTo>
                <a:lnTo>
                  <a:pt x="5827427" y="33938"/>
                </a:lnTo>
                <a:lnTo>
                  <a:pt x="5854208" y="65351"/>
                </a:lnTo>
                <a:lnTo>
                  <a:pt x="5870682" y="103834"/>
                </a:lnTo>
                <a:lnTo>
                  <a:pt x="5875020" y="1064133"/>
                </a:lnTo>
                <a:lnTo>
                  <a:pt x="5874249" y="1078806"/>
                </a:lnTo>
                <a:lnTo>
                  <a:pt x="5863312" y="1119866"/>
                </a:lnTo>
                <a:lnTo>
                  <a:pt x="5841081" y="1154843"/>
                </a:lnTo>
                <a:lnTo>
                  <a:pt x="5809668" y="1181624"/>
                </a:lnTo>
                <a:lnTo>
                  <a:pt x="5771185" y="1198098"/>
                </a:lnTo>
                <a:lnTo>
                  <a:pt x="138303" y="1202436"/>
                </a:lnTo>
                <a:lnTo>
                  <a:pt x="123629" y="1201665"/>
                </a:lnTo>
                <a:lnTo>
                  <a:pt x="82569" y="1190728"/>
                </a:lnTo>
                <a:lnTo>
                  <a:pt x="47592" y="1168497"/>
                </a:lnTo>
                <a:lnTo>
                  <a:pt x="20811" y="1137084"/>
                </a:lnTo>
                <a:lnTo>
                  <a:pt x="4337" y="1098601"/>
                </a:lnTo>
                <a:lnTo>
                  <a:pt x="0" y="138303"/>
                </a:lnTo>
                <a:close/>
              </a:path>
            </a:pathLst>
          </a:custGeom>
          <a:ln w="28956">
            <a:solidFill>
              <a:srgbClr val="5B9BD4"/>
            </a:solidFill>
          </a:ln>
        </p:spPr>
        <p:txBody>
          <a:bodyPr wrap="square" lIns="0" tIns="0" rIns="0" bIns="0" rtlCol="0"/>
          <a:lstStyle/>
          <a:p>
            <a:endParaRPr/>
          </a:p>
        </p:txBody>
      </p:sp>
      <p:sp>
        <p:nvSpPr>
          <p:cNvPr id="16" name="object 16"/>
          <p:cNvSpPr txBox="1"/>
          <p:nvPr/>
        </p:nvSpPr>
        <p:spPr>
          <a:xfrm>
            <a:off x="5191505" y="2092060"/>
            <a:ext cx="5428615" cy="76962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设计了统一的外设句柄数据类型</a:t>
            </a:r>
            <a:r>
              <a:rPr sz="2400" b="1" spc="-5" dirty="0">
                <a:latin typeface="微软雅黑"/>
                <a:cs typeface="微软雅黑"/>
              </a:rPr>
              <a:t>P</a:t>
            </a:r>
            <a:r>
              <a:rPr sz="2400" b="1" spc="-15" dirty="0">
                <a:latin typeface="微软雅黑"/>
                <a:cs typeface="微软雅黑"/>
              </a:rPr>
              <a:t>P</a:t>
            </a:r>
            <a:r>
              <a:rPr sz="2400" b="1" spc="-5" dirty="0">
                <a:latin typeface="微软雅黑"/>
                <a:cs typeface="微软雅黑"/>
              </a:rPr>
              <a:t>P_</a:t>
            </a:r>
            <a:endParaRPr sz="2400">
              <a:latin typeface="微软雅黑"/>
              <a:cs typeface="微软雅黑"/>
            </a:endParaRPr>
          </a:p>
          <a:p>
            <a:pPr marL="12700">
              <a:lnSpc>
                <a:spcPct val="100000"/>
              </a:lnSpc>
              <a:spcBef>
                <a:spcPts val="575"/>
              </a:spcBef>
            </a:pPr>
            <a:r>
              <a:rPr sz="2400" b="1" spc="-5" dirty="0">
                <a:latin typeface="微软雅黑"/>
                <a:cs typeface="微软雅黑"/>
              </a:rPr>
              <a:t>Handle</a:t>
            </a:r>
            <a:r>
              <a:rPr sz="2400" b="1" spc="-125"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5" dirty="0">
                <a:latin typeface="微软雅黑"/>
                <a:cs typeface="微软雅黑"/>
              </a:rPr>
              <a:t>（</a:t>
            </a:r>
            <a:r>
              <a:rPr sz="2400" b="1" spc="-10" dirty="0">
                <a:latin typeface="微软雅黑"/>
                <a:cs typeface="微软雅黑"/>
              </a:rPr>
              <a:t>PPP</a:t>
            </a:r>
            <a:r>
              <a:rPr sz="2400" b="1" spc="-5" dirty="0">
                <a:latin typeface="微软雅黑"/>
                <a:cs typeface="微软雅黑"/>
              </a:rPr>
              <a:t>代表外设名称）</a:t>
            </a:r>
            <a:endParaRPr sz="2400">
              <a:latin typeface="微软雅黑"/>
              <a:cs typeface="微软雅黑"/>
            </a:endParaRPr>
          </a:p>
        </p:txBody>
      </p:sp>
      <p:sp>
        <p:nvSpPr>
          <p:cNvPr id="17" name="object 17"/>
          <p:cNvSpPr/>
          <p:nvPr/>
        </p:nvSpPr>
        <p:spPr>
          <a:xfrm>
            <a:off x="3025139" y="1837944"/>
            <a:ext cx="1754505" cy="1202690"/>
          </a:xfrm>
          <a:custGeom>
            <a:avLst/>
            <a:gdLst/>
            <a:ahLst/>
            <a:cxnLst/>
            <a:rect l="l" t="t" r="r" b="b"/>
            <a:pathLst>
              <a:path w="1754504" h="1202689">
                <a:moveTo>
                  <a:pt x="1610740" y="0"/>
                </a:moveTo>
                <a:lnTo>
                  <a:pt x="129169" y="694"/>
                </a:lnTo>
                <a:lnTo>
                  <a:pt x="87871" y="11122"/>
                </a:lnTo>
                <a:lnTo>
                  <a:pt x="52354" y="32556"/>
                </a:lnTo>
                <a:lnTo>
                  <a:pt x="24569" y="63045"/>
                </a:lnTo>
                <a:lnTo>
                  <a:pt x="6467" y="100638"/>
                </a:lnTo>
                <a:lnTo>
                  <a:pt x="0" y="143382"/>
                </a:lnTo>
                <a:lnTo>
                  <a:pt x="683" y="1059052"/>
                </a:lnTo>
                <a:lnTo>
                  <a:pt x="6327" y="1101344"/>
                </a:lnTo>
                <a:lnTo>
                  <a:pt x="24309" y="1139005"/>
                </a:lnTo>
                <a:lnTo>
                  <a:pt x="51997" y="1169584"/>
                </a:lnTo>
                <a:lnTo>
                  <a:pt x="87438" y="1191130"/>
                </a:lnTo>
                <a:lnTo>
                  <a:pt x="128682" y="1201693"/>
                </a:lnTo>
                <a:lnTo>
                  <a:pt x="143383" y="1202435"/>
                </a:lnTo>
                <a:lnTo>
                  <a:pt x="1624954" y="1201741"/>
                </a:lnTo>
                <a:lnTo>
                  <a:pt x="1666252" y="1191313"/>
                </a:lnTo>
                <a:lnTo>
                  <a:pt x="1701769" y="1169879"/>
                </a:lnTo>
                <a:lnTo>
                  <a:pt x="1729554" y="1139390"/>
                </a:lnTo>
                <a:lnTo>
                  <a:pt x="1747656" y="1101797"/>
                </a:lnTo>
                <a:lnTo>
                  <a:pt x="1754124" y="1059052"/>
                </a:lnTo>
                <a:lnTo>
                  <a:pt x="1753440" y="143382"/>
                </a:lnTo>
                <a:lnTo>
                  <a:pt x="1747796" y="101091"/>
                </a:lnTo>
                <a:lnTo>
                  <a:pt x="1729814" y="63430"/>
                </a:lnTo>
                <a:lnTo>
                  <a:pt x="1702126" y="32851"/>
                </a:lnTo>
                <a:lnTo>
                  <a:pt x="1666685" y="11305"/>
                </a:lnTo>
                <a:lnTo>
                  <a:pt x="1625441" y="742"/>
                </a:lnTo>
                <a:lnTo>
                  <a:pt x="1610740" y="0"/>
                </a:lnTo>
                <a:close/>
              </a:path>
            </a:pathLst>
          </a:custGeom>
          <a:solidFill>
            <a:srgbClr val="EC7C30"/>
          </a:solidFill>
        </p:spPr>
        <p:txBody>
          <a:bodyPr wrap="square" lIns="0" tIns="0" rIns="0" bIns="0" rtlCol="0"/>
          <a:lstStyle/>
          <a:p>
            <a:endParaRPr/>
          </a:p>
        </p:txBody>
      </p:sp>
      <p:sp>
        <p:nvSpPr>
          <p:cNvPr id="18" name="object 18"/>
          <p:cNvSpPr txBox="1"/>
          <p:nvPr/>
        </p:nvSpPr>
        <p:spPr>
          <a:xfrm>
            <a:off x="3280028" y="2311516"/>
            <a:ext cx="1245870" cy="330200"/>
          </a:xfrm>
          <a:prstGeom prst="rect">
            <a:avLst/>
          </a:prstGeom>
        </p:spPr>
        <p:txBody>
          <a:bodyPr vert="horz" wrap="square" lIns="0" tIns="0" rIns="0" bIns="0" rtlCol="0">
            <a:spAutoFit/>
          </a:bodyPr>
          <a:lstStyle/>
          <a:p>
            <a:pPr marL="12700">
              <a:lnSpc>
                <a:spcPct val="100000"/>
              </a:lnSpc>
            </a:pPr>
            <a:r>
              <a:rPr sz="2400" b="1" dirty="0">
                <a:solidFill>
                  <a:srgbClr val="F1F1F1"/>
                </a:solidFill>
                <a:latin typeface="微软雅黑"/>
                <a:cs typeface="微软雅黑"/>
              </a:rPr>
              <a:t>句柄设计</a:t>
            </a:r>
            <a:endParaRPr sz="2400">
              <a:latin typeface="微软雅黑"/>
              <a:cs typeface="微软雅黑"/>
            </a:endParaRPr>
          </a:p>
        </p:txBody>
      </p:sp>
      <p:sp>
        <p:nvSpPr>
          <p:cNvPr id="19" name="object 19"/>
          <p:cNvSpPr/>
          <p:nvPr/>
        </p:nvSpPr>
        <p:spPr>
          <a:xfrm>
            <a:off x="3026664" y="3525011"/>
            <a:ext cx="1757680" cy="1195070"/>
          </a:xfrm>
          <a:custGeom>
            <a:avLst/>
            <a:gdLst/>
            <a:ahLst/>
            <a:cxnLst/>
            <a:rect l="l" t="t" r="r" b="b"/>
            <a:pathLst>
              <a:path w="1757679" h="1195070">
                <a:moveTo>
                  <a:pt x="1614677" y="0"/>
                </a:moveTo>
                <a:lnTo>
                  <a:pt x="129722" y="563"/>
                </a:lnTo>
                <a:lnTo>
                  <a:pt x="88295" y="10656"/>
                </a:lnTo>
                <a:lnTo>
                  <a:pt x="52632" y="31873"/>
                </a:lnTo>
                <a:lnTo>
                  <a:pt x="24710" y="62236"/>
                </a:lnTo>
                <a:lnTo>
                  <a:pt x="6507" y="99769"/>
                </a:lnTo>
                <a:lnTo>
                  <a:pt x="0" y="142494"/>
                </a:lnTo>
                <a:lnTo>
                  <a:pt x="563" y="1065093"/>
                </a:lnTo>
                <a:lnTo>
                  <a:pt x="10656" y="1106520"/>
                </a:lnTo>
                <a:lnTo>
                  <a:pt x="31873" y="1142183"/>
                </a:lnTo>
                <a:lnTo>
                  <a:pt x="62236" y="1170105"/>
                </a:lnTo>
                <a:lnTo>
                  <a:pt x="99769" y="1188308"/>
                </a:lnTo>
                <a:lnTo>
                  <a:pt x="142494" y="1194815"/>
                </a:lnTo>
                <a:lnTo>
                  <a:pt x="1627449" y="1194252"/>
                </a:lnTo>
                <a:lnTo>
                  <a:pt x="1668876" y="1184159"/>
                </a:lnTo>
                <a:lnTo>
                  <a:pt x="1704539" y="1162942"/>
                </a:lnTo>
                <a:lnTo>
                  <a:pt x="1732461" y="1132579"/>
                </a:lnTo>
                <a:lnTo>
                  <a:pt x="1750664" y="1095046"/>
                </a:lnTo>
                <a:lnTo>
                  <a:pt x="1757172" y="1052321"/>
                </a:lnTo>
                <a:lnTo>
                  <a:pt x="1756608" y="129722"/>
                </a:lnTo>
                <a:lnTo>
                  <a:pt x="1746515" y="88295"/>
                </a:lnTo>
                <a:lnTo>
                  <a:pt x="1725298" y="52632"/>
                </a:lnTo>
                <a:lnTo>
                  <a:pt x="1694935" y="24710"/>
                </a:lnTo>
                <a:lnTo>
                  <a:pt x="1657402" y="6507"/>
                </a:lnTo>
                <a:lnTo>
                  <a:pt x="1614677" y="0"/>
                </a:lnTo>
                <a:close/>
              </a:path>
            </a:pathLst>
          </a:custGeom>
          <a:solidFill>
            <a:srgbClr val="00AFEF"/>
          </a:solidFill>
        </p:spPr>
        <p:txBody>
          <a:bodyPr wrap="square" lIns="0" tIns="0" rIns="0" bIns="0" rtlCol="0"/>
          <a:lstStyle/>
          <a:p>
            <a:endParaRPr/>
          </a:p>
        </p:txBody>
      </p:sp>
      <p:sp>
        <p:nvSpPr>
          <p:cNvPr id="20" name="object 20"/>
          <p:cNvSpPr txBox="1"/>
          <p:nvPr/>
        </p:nvSpPr>
        <p:spPr>
          <a:xfrm>
            <a:off x="3283711" y="3994403"/>
            <a:ext cx="1244600" cy="330835"/>
          </a:xfrm>
          <a:prstGeom prst="rect">
            <a:avLst/>
          </a:prstGeom>
        </p:spPr>
        <p:txBody>
          <a:bodyPr vert="horz" wrap="square" lIns="0" tIns="0" rIns="0" bIns="0" rtlCol="0">
            <a:spAutoFit/>
          </a:bodyPr>
          <a:lstStyle/>
          <a:p>
            <a:pPr marL="12700">
              <a:lnSpc>
                <a:spcPct val="100000"/>
              </a:lnSpc>
            </a:pPr>
            <a:r>
              <a:rPr sz="2400" b="1" spc="-5" dirty="0">
                <a:solidFill>
                  <a:srgbClr val="F1F1F1"/>
                </a:solidFill>
                <a:latin typeface="微软雅黑"/>
                <a:cs typeface="微软雅黑"/>
              </a:rPr>
              <a:t>编程模型</a:t>
            </a:r>
            <a:endParaRPr sz="2400">
              <a:latin typeface="微软雅黑"/>
              <a:cs typeface="微软雅黑"/>
            </a:endParaRPr>
          </a:p>
        </p:txBody>
      </p:sp>
      <p:sp>
        <p:nvSpPr>
          <p:cNvPr id="21" name="object 21"/>
          <p:cNvSpPr/>
          <p:nvPr/>
        </p:nvSpPr>
        <p:spPr>
          <a:xfrm>
            <a:off x="2987039" y="5204459"/>
            <a:ext cx="1797050" cy="1181100"/>
          </a:xfrm>
          <a:custGeom>
            <a:avLst/>
            <a:gdLst/>
            <a:ahLst/>
            <a:cxnLst/>
            <a:rect l="l" t="t" r="r" b="b"/>
            <a:pathLst>
              <a:path w="1797050" h="1181100">
                <a:moveTo>
                  <a:pt x="1655952" y="0"/>
                </a:moveTo>
                <a:lnTo>
                  <a:pt x="130751" y="355"/>
                </a:lnTo>
                <a:lnTo>
                  <a:pt x="89070" y="9801"/>
                </a:lnTo>
                <a:lnTo>
                  <a:pt x="53134" y="30594"/>
                </a:lnTo>
                <a:lnTo>
                  <a:pt x="24962" y="60712"/>
                </a:lnTo>
                <a:lnTo>
                  <a:pt x="6577" y="98136"/>
                </a:lnTo>
                <a:lnTo>
                  <a:pt x="0" y="140842"/>
                </a:lnTo>
                <a:lnTo>
                  <a:pt x="352" y="1050347"/>
                </a:lnTo>
                <a:lnTo>
                  <a:pt x="9789" y="1092002"/>
                </a:lnTo>
                <a:lnTo>
                  <a:pt x="30580" y="1127936"/>
                </a:lnTo>
                <a:lnTo>
                  <a:pt x="60700" y="1156117"/>
                </a:lnTo>
                <a:lnTo>
                  <a:pt x="98129" y="1174515"/>
                </a:lnTo>
                <a:lnTo>
                  <a:pt x="140843" y="1181099"/>
                </a:lnTo>
                <a:lnTo>
                  <a:pt x="1666005" y="1180747"/>
                </a:lnTo>
                <a:lnTo>
                  <a:pt x="1707696" y="1171304"/>
                </a:lnTo>
                <a:lnTo>
                  <a:pt x="1743644" y="1150507"/>
                </a:lnTo>
                <a:lnTo>
                  <a:pt x="1771824" y="1120389"/>
                </a:lnTo>
                <a:lnTo>
                  <a:pt x="1790216" y="1082978"/>
                </a:lnTo>
                <a:lnTo>
                  <a:pt x="1796796" y="1040307"/>
                </a:lnTo>
                <a:lnTo>
                  <a:pt x="1796440" y="130751"/>
                </a:lnTo>
                <a:lnTo>
                  <a:pt x="1786994" y="89070"/>
                </a:lnTo>
                <a:lnTo>
                  <a:pt x="1766201" y="53134"/>
                </a:lnTo>
                <a:lnTo>
                  <a:pt x="1736083" y="24962"/>
                </a:lnTo>
                <a:lnTo>
                  <a:pt x="1698659" y="6577"/>
                </a:lnTo>
                <a:lnTo>
                  <a:pt x="1655952" y="0"/>
                </a:lnTo>
                <a:close/>
              </a:path>
            </a:pathLst>
          </a:custGeom>
          <a:solidFill>
            <a:srgbClr val="00AF50"/>
          </a:solidFill>
        </p:spPr>
        <p:txBody>
          <a:bodyPr wrap="square" lIns="0" tIns="0" rIns="0" bIns="0" rtlCol="0"/>
          <a:lstStyle/>
          <a:p>
            <a:endParaRPr/>
          </a:p>
        </p:txBody>
      </p:sp>
      <p:sp>
        <p:nvSpPr>
          <p:cNvPr id="22" name="object 22"/>
          <p:cNvSpPr txBox="1"/>
          <p:nvPr/>
        </p:nvSpPr>
        <p:spPr>
          <a:xfrm>
            <a:off x="3416553" y="5447882"/>
            <a:ext cx="939800" cy="769620"/>
          </a:xfrm>
          <a:prstGeom prst="rect">
            <a:avLst/>
          </a:prstGeom>
        </p:spPr>
        <p:txBody>
          <a:bodyPr vert="horz" wrap="square" lIns="0" tIns="0" rIns="0" bIns="0" rtlCol="0">
            <a:spAutoFit/>
          </a:bodyPr>
          <a:lstStyle/>
          <a:p>
            <a:pPr marL="12700" marR="5080">
              <a:lnSpc>
                <a:spcPct val="120000"/>
              </a:lnSpc>
            </a:pPr>
            <a:r>
              <a:rPr sz="2400" b="1" dirty="0">
                <a:solidFill>
                  <a:srgbClr val="F1F1F1"/>
                </a:solidFill>
                <a:latin typeface="微软雅黑"/>
                <a:cs typeface="微软雅黑"/>
              </a:rPr>
              <a:t>通用接 口函数</a:t>
            </a:r>
            <a:endParaRPr sz="2400">
              <a:latin typeface="微软雅黑"/>
              <a:cs typeface="微软雅黑"/>
            </a:endParaRPr>
          </a:p>
        </p:txBody>
      </p:sp>
      <p:sp>
        <p:nvSpPr>
          <p:cNvPr id="23" name="object 23"/>
          <p:cNvSpPr/>
          <p:nvPr/>
        </p:nvSpPr>
        <p:spPr>
          <a:xfrm>
            <a:off x="1269491" y="3422903"/>
            <a:ext cx="1339850" cy="1297305"/>
          </a:xfrm>
          <a:custGeom>
            <a:avLst/>
            <a:gdLst/>
            <a:ahLst/>
            <a:cxnLst/>
            <a:rect l="l" t="t" r="r" b="b"/>
            <a:pathLst>
              <a:path w="1339850" h="1297304">
                <a:moveTo>
                  <a:pt x="669797" y="0"/>
                </a:moveTo>
                <a:lnTo>
                  <a:pt x="614859" y="2149"/>
                </a:lnTo>
                <a:lnTo>
                  <a:pt x="561145" y="8487"/>
                </a:lnTo>
                <a:lnTo>
                  <a:pt x="508827" y="18845"/>
                </a:lnTo>
                <a:lnTo>
                  <a:pt x="458077" y="33058"/>
                </a:lnTo>
                <a:lnTo>
                  <a:pt x="409068" y="50958"/>
                </a:lnTo>
                <a:lnTo>
                  <a:pt x="361973" y="72379"/>
                </a:lnTo>
                <a:lnTo>
                  <a:pt x="316962" y="97153"/>
                </a:lnTo>
                <a:lnTo>
                  <a:pt x="274210" y="125114"/>
                </a:lnTo>
                <a:lnTo>
                  <a:pt x="233887" y="156094"/>
                </a:lnTo>
                <a:lnTo>
                  <a:pt x="196167" y="189928"/>
                </a:lnTo>
                <a:lnTo>
                  <a:pt x="161221" y="226448"/>
                </a:lnTo>
                <a:lnTo>
                  <a:pt x="129223" y="265486"/>
                </a:lnTo>
                <a:lnTo>
                  <a:pt x="100343" y="306877"/>
                </a:lnTo>
                <a:lnTo>
                  <a:pt x="74755" y="350454"/>
                </a:lnTo>
                <a:lnTo>
                  <a:pt x="52631" y="396049"/>
                </a:lnTo>
                <a:lnTo>
                  <a:pt x="34143" y="443496"/>
                </a:lnTo>
                <a:lnTo>
                  <a:pt x="19464" y="492627"/>
                </a:lnTo>
                <a:lnTo>
                  <a:pt x="8765" y="543277"/>
                </a:lnTo>
                <a:lnTo>
                  <a:pt x="2220" y="595277"/>
                </a:lnTo>
                <a:lnTo>
                  <a:pt x="0" y="648462"/>
                </a:lnTo>
                <a:lnTo>
                  <a:pt x="2220" y="701646"/>
                </a:lnTo>
                <a:lnTo>
                  <a:pt x="8765" y="753646"/>
                </a:lnTo>
                <a:lnTo>
                  <a:pt x="19464" y="804296"/>
                </a:lnTo>
                <a:lnTo>
                  <a:pt x="34143" y="853427"/>
                </a:lnTo>
                <a:lnTo>
                  <a:pt x="52631" y="900874"/>
                </a:lnTo>
                <a:lnTo>
                  <a:pt x="74755" y="946469"/>
                </a:lnTo>
                <a:lnTo>
                  <a:pt x="100343" y="990046"/>
                </a:lnTo>
                <a:lnTo>
                  <a:pt x="129223" y="1031437"/>
                </a:lnTo>
                <a:lnTo>
                  <a:pt x="161221" y="1070475"/>
                </a:lnTo>
                <a:lnTo>
                  <a:pt x="196167" y="1106995"/>
                </a:lnTo>
                <a:lnTo>
                  <a:pt x="233887" y="1140829"/>
                </a:lnTo>
                <a:lnTo>
                  <a:pt x="274210" y="1171809"/>
                </a:lnTo>
                <a:lnTo>
                  <a:pt x="316962" y="1199770"/>
                </a:lnTo>
                <a:lnTo>
                  <a:pt x="361973" y="1224544"/>
                </a:lnTo>
                <a:lnTo>
                  <a:pt x="409068" y="1245965"/>
                </a:lnTo>
                <a:lnTo>
                  <a:pt x="458077" y="1263865"/>
                </a:lnTo>
                <a:lnTo>
                  <a:pt x="508827" y="1278078"/>
                </a:lnTo>
                <a:lnTo>
                  <a:pt x="561145" y="1288436"/>
                </a:lnTo>
                <a:lnTo>
                  <a:pt x="614859" y="1294774"/>
                </a:lnTo>
                <a:lnTo>
                  <a:pt x="669797" y="1296924"/>
                </a:lnTo>
                <a:lnTo>
                  <a:pt x="724736" y="1294774"/>
                </a:lnTo>
                <a:lnTo>
                  <a:pt x="778450" y="1288436"/>
                </a:lnTo>
                <a:lnTo>
                  <a:pt x="830768" y="1278078"/>
                </a:lnTo>
                <a:lnTo>
                  <a:pt x="881518" y="1263865"/>
                </a:lnTo>
                <a:lnTo>
                  <a:pt x="930527" y="1245965"/>
                </a:lnTo>
                <a:lnTo>
                  <a:pt x="977622" y="1224544"/>
                </a:lnTo>
                <a:lnTo>
                  <a:pt x="1022633" y="1199770"/>
                </a:lnTo>
                <a:lnTo>
                  <a:pt x="1065385" y="1171809"/>
                </a:lnTo>
                <a:lnTo>
                  <a:pt x="1105708" y="1140829"/>
                </a:lnTo>
                <a:lnTo>
                  <a:pt x="1143428" y="1106995"/>
                </a:lnTo>
                <a:lnTo>
                  <a:pt x="1178374" y="1070475"/>
                </a:lnTo>
                <a:lnTo>
                  <a:pt x="1210372" y="1031437"/>
                </a:lnTo>
                <a:lnTo>
                  <a:pt x="1239252" y="990046"/>
                </a:lnTo>
                <a:lnTo>
                  <a:pt x="1264840" y="946469"/>
                </a:lnTo>
                <a:lnTo>
                  <a:pt x="1286964" y="900874"/>
                </a:lnTo>
                <a:lnTo>
                  <a:pt x="1305452" y="853427"/>
                </a:lnTo>
                <a:lnTo>
                  <a:pt x="1320131" y="804296"/>
                </a:lnTo>
                <a:lnTo>
                  <a:pt x="1330830" y="753646"/>
                </a:lnTo>
                <a:lnTo>
                  <a:pt x="1337375" y="701646"/>
                </a:lnTo>
                <a:lnTo>
                  <a:pt x="1339596" y="648462"/>
                </a:lnTo>
                <a:lnTo>
                  <a:pt x="1337375" y="595277"/>
                </a:lnTo>
                <a:lnTo>
                  <a:pt x="1330830" y="543277"/>
                </a:lnTo>
                <a:lnTo>
                  <a:pt x="1320131" y="492627"/>
                </a:lnTo>
                <a:lnTo>
                  <a:pt x="1305452" y="443496"/>
                </a:lnTo>
                <a:lnTo>
                  <a:pt x="1286964" y="396049"/>
                </a:lnTo>
                <a:lnTo>
                  <a:pt x="1264840" y="350454"/>
                </a:lnTo>
                <a:lnTo>
                  <a:pt x="1239252" y="306877"/>
                </a:lnTo>
                <a:lnTo>
                  <a:pt x="1210372" y="265486"/>
                </a:lnTo>
                <a:lnTo>
                  <a:pt x="1178374" y="226448"/>
                </a:lnTo>
                <a:lnTo>
                  <a:pt x="1143428" y="189928"/>
                </a:lnTo>
                <a:lnTo>
                  <a:pt x="1105708" y="156094"/>
                </a:lnTo>
                <a:lnTo>
                  <a:pt x="1065385" y="125114"/>
                </a:lnTo>
                <a:lnTo>
                  <a:pt x="1022633" y="97153"/>
                </a:lnTo>
                <a:lnTo>
                  <a:pt x="977622" y="72379"/>
                </a:lnTo>
                <a:lnTo>
                  <a:pt x="930527" y="50958"/>
                </a:lnTo>
                <a:lnTo>
                  <a:pt x="881518" y="33058"/>
                </a:lnTo>
                <a:lnTo>
                  <a:pt x="830768" y="18845"/>
                </a:lnTo>
                <a:lnTo>
                  <a:pt x="778450" y="8487"/>
                </a:lnTo>
                <a:lnTo>
                  <a:pt x="724736" y="2149"/>
                </a:lnTo>
                <a:lnTo>
                  <a:pt x="669797" y="0"/>
                </a:lnTo>
                <a:close/>
              </a:path>
            </a:pathLst>
          </a:custGeom>
          <a:solidFill>
            <a:srgbClr val="5B9BD4"/>
          </a:solidFill>
        </p:spPr>
        <p:txBody>
          <a:bodyPr wrap="square" lIns="0" tIns="0" rIns="0" bIns="0" rtlCol="0"/>
          <a:lstStyle/>
          <a:p>
            <a:endParaRPr/>
          </a:p>
        </p:txBody>
      </p:sp>
      <p:sp>
        <p:nvSpPr>
          <p:cNvPr id="24" name="object 24"/>
          <p:cNvSpPr txBox="1"/>
          <p:nvPr/>
        </p:nvSpPr>
        <p:spPr>
          <a:xfrm>
            <a:off x="1621916" y="3723883"/>
            <a:ext cx="635000" cy="769620"/>
          </a:xfrm>
          <a:prstGeom prst="rect">
            <a:avLst/>
          </a:prstGeom>
        </p:spPr>
        <p:txBody>
          <a:bodyPr vert="horz" wrap="square" lIns="0" tIns="0" rIns="0" bIns="0" rtlCol="0">
            <a:spAutoFit/>
          </a:bodyPr>
          <a:lstStyle/>
          <a:p>
            <a:pPr marL="12700" marR="5080">
              <a:lnSpc>
                <a:spcPct val="120000"/>
              </a:lnSpc>
            </a:pPr>
            <a:r>
              <a:rPr sz="2400" b="1" dirty="0">
                <a:solidFill>
                  <a:srgbClr val="FFFFFF"/>
                </a:solidFill>
                <a:latin typeface="微软雅黑"/>
                <a:cs typeface="微软雅黑"/>
              </a:rPr>
              <a:t>复杂 外设</a:t>
            </a:r>
            <a:endParaRPr sz="2400">
              <a:latin typeface="微软雅黑"/>
              <a:cs typeface="微软雅黑"/>
            </a:endParaRPr>
          </a:p>
        </p:txBody>
      </p:sp>
      <p:sp>
        <p:nvSpPr>
          <p:cNvPr id="25" name="object 25"/>
          <p:cNvSpPr/>
          <p:nvPr/>
        </p:nvSpPr>
        <p:spPr>
          <a:xfrm>
            <a:off x="5080253" y="3525773"/>
            <a:ext cx="5875020" cy="1195070"/>
          </a:xfrm>
          <a:custGeom>
            <a:avLst/>
            <a:gdLst/>
            <a:ahLst/>
            <a:cxnLst/>
            <a:rect l="l" t="t" r="r" b="b"/>
            <a:pathLst>
              <a:path w="5875020" h="1195070">
                <a:moveTo>
                  <a:pt x="0" y="137413"/>
                </a:moveTo>
                <a:lnTo>
                  <a:pt x="6745" y="94817"/>
                </a:lnTo>
                <a:lnTo>
                  <a:pt x="25555" y="57642"/>
                </a:lnTo>
                <a:lnTo>
                  <a:pt x="54285" y="28031"/>
                </a:lnTo>
                <a:lnTo>
                  <a:pt x="90796" y="8127"/>
                </a:lnTo>
                <a:lnTo>
                  <a:pt x="132944" y="71"/>
                </a:lnTo>
                <a:lnTo>
                  <a:pt x="5737606" y="0"/>
                </a:lnTo>
                <a:lnTo>
                  <a:pt x="5752275" y="775"/>
                </a:lnTo>
                <a:lnTo>
                  <a:pt x="5793302" y="11780"/>
                </a:lnTo>
                <a:lnTo>
                  <a:pt x="5828194" y="34135"/>
                </a:lnTo>
                <a:lnTo>
                  <a:pt x="5854807" y="65697"/>
                </a:lnTo>
                <a:lnTo>
                  <a:pt x="5870999" y="104325"/>
                </a:lnTo>
                <a:lnTo>
                  <a:pt x="5875020" y="1057402"/>
                </a:lnTo>
                <a:lnTo>
                  <a:pt x="5874244" y="1072071"/>
                </a:lnTo>
                <a:lnTo>
                  <a:pt x="5863239" y="1113098"/>
                </a:lnTo>
                <a:lnTo>
                  <a:pt x="5840884" y="1147990"/>
                </a:lnTo>
                <a:lnTo>
                  <a:pt x="5809322" y="1174603"/>
                </a:lnTo>
                <a:lnTo>
                  <a:pt x="5770694" y="1190795"/>
                </a:lnTo>
                <a:lnTo>
                  <a:pt x="137413" y="1194815"/>
                </a:lnTo>
                <a:lnTo>
                  <a:pt x="122744" y="1194040"/>
                </a:lnTo>
                <a:lnTo>
                  <a:pt x="81717" y="1183035"/>
                </a:lnTo>
                <a:lnTo>
                  <a:pt x="46825" y="1160680"/>
                </a:lnTo>
                <a:lnTo>
                  <a:pt x="20212" y="1129118"/>
                </a:lnTo>
                <a:lnTo>
                  <a:pt x="4020" y="1090490"/>
                </a:lnTo>
                <a:lnTo>
                  <a:pt x="0" y="137413"/>
                </a:lnTo>
                <a:close/>
              </a:path>
            </a:pathLst>
          </a:custGeom>
          <a:ln w="28956">
            <a:solidFill>
              <a:srgbClr val="5B9BD4"/>
            </a:solidFill>
          </a:ln>
        </p:spPr>
        <p:txBody>
          <a:bodyPr wrap="square" lIns="0" tIns="0" rIns="0" bIns="0" rtlCol="0"/>
          <a:lstStyle/>
          <a:p>
            <a:endParaRPr/>
          </a:p>
        </p:txBody>
      </p:sp>
      <p:sp>
        <p:nvSpPr>
          <p:cNvPr id="26" name="object 26"/>
          <p:cNvSpPr txBox="1"/>
          <p:nvPr/>
        </p:nvSpPr>
        <p:spPr>
          <a:xfrm>
            <a:off x="5191125" y="3994403"/>
            <a:ext cx="5381625" cy="330835"/>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设计了轮询、中断</a:t>
            </a:r>
            <a:r>
              <a:rPr sz="2400" b="1" dirty="0">
                <a:latin typeface="微软雅黑"/>
                <a:cs typeface="微软雅黑"/>
              </a:rPr>
              <a:t>和DM</a:t>
            </a:r>
            <a:r>
              <a:rPr sz="2400" b="1" spc="-15" dirty="0">
                <a:latin typeface="微软雅黑"/>
                <a:cs typeface="微软雅黑"/>
              </a:rPr>
              <a:t>A</a:t>
            </a:r>
            <a:r>
              <a:rPr sz="2400" b="1" spc="-5" dirty="0">
                <a:latin typeface="微软雅黑"/>
                <a:cs typeface="微软雅黑"/>
              </a:rPr>
              <a:t>三种编程模型</a:t>
            </a:r>
            <a:endParaRPr sz="2400">
              <a:latin typeface="微软雅黑"/>
              <a:cs typeface="微软雅黑"/>
            </a:endParaRPr>
          </a:p>
        </p:txBody>
      </p:sp>
      <p:sp>
        <p:nvSpPr>
          <p:cNvPr id="27" name="object 27"/>
          <p:cNvSpPr/>
          <p:nvPr/>
        </p:nvSpPr>
        <p:spPr>
          <a:xfrm>
            <a:off x="5080253" y="5205221"/>
            <a:ext cx="5875020" cy="1193800"/>
          </a:xfrm>
          <a:custGeom>
            <a:avLst/>
            <a:gdLst/>
            <a:ahLst/>
            <a:cxnLst/>
            <a:rect l="l" t="t" r="r" b="b"/>
            <a:pathLst>
              <a:path w="5875020" h="1193800">
                <a:moveTo>
                  <a:pt x="0" y="137286"/>
                </a:moveTo>
                <a:lnTo>
                  <a:pt x="6745" y="94665"/>
                </a:lnTo>
                <a:lnTo>
                  <a:pt x="25556" y="57496"/>
                </a:lnTo>
                <a:lnTo>
                  <a:pt x="54297" y="27915"/>
                </a:lnTo>
                <a:lnTo>
                  <a:pt x="90831" y="8059"/>
                </a:lnTo>
                <a:lnTo>
                  <a:pt x="133022" y="64"/>
                </a:lnTo>
                <a:lnTo>
                  <a:pt x="5737733" y="0"/>
                </a:lnTo>
                <a:lnTo>
                  <a:pt x="5752414" y="775"/>
                </a:lnTo>
                <a:lnTo>
                  <a:pt x="5793455" y="11780"/>
                </a:lnTo>
                <a:lnTo>
                  <a:pt x="5828332" y="34138"/>
                </a:lnTo>
                <a:lnTo>
                  <a:pt x="5854909" y="65714"/>
                </a:lnTo>
                <a:lnTo>
                  <a:pt x="5871048" y="104372"/>
                </a:lnTo>
                <a:lnTo>
                  <a:pt x="5875020" y="1056004"/>
                </a:lnTo>
                <a:lnTo>
                  <a:pt x="5874244" y="1070686"/>
                </a:lnTo>
                <a:lnTo>
                  <a:pt x="5863239" y="1111727"/>
                </a:lnTo>
                <a:lnTo>
                  <a:pt x="5840881" y="1146604"/>
                </a:lnTo>
                <a:lnTo>
                  <a:pt x="5809305" y="1173181"/>
                </a:lnTo>
                <a:lnTo>
                  <a:pt x="5770647" y="1189320"/>
                </a:lnTo>
                <a:lnTo>
                  <a:pt x="137287" y="1193291"/>
                </a:lnTo>
                <a:lnTo>
                  <a:pt x="122605" y="1192516"/>
                </a:lnTo>
                <a:lnTo>
                  <a:pt x="81564" y="1181511"/>
                </a:lnTo>
                <a:lnTo>
                  <a:pt x="46687" y="1159153"/>
                </a:lnTo>
                <a:lnTo>
                  <a:pt x="20110" y="1127577"/>
                </a:lnTo>
                <a:lnTo>
                  <a:pt x="3971" y="1088919"/>
                </a:lnTo>
                <a:lnTo>
                  <a:pt x="0" y="137286"/>
                </a:lnTo>
                <a:close/>
              </a:path>
            </a:pathLst>
          </a:custGeom>
          <a:ln w="28956">
            <a:solidFill>
              <a:srgbClr val="5B9BD4"/>
            </a:solidFill>
          </a:ln>
        </p:spPr>
        <p:txBody>
          <a:bodyPr wrap="square" lIns="0" tIns="0" rIns="0" bIns="0" rtlCol="0"/>
          <a:lstStyle/>
          <a:p>
            <a:endParaRPr/>
          </a:p>
        </p:txBody>
      </p:sp>
      <p:sp>
        <p:nvSpPr>
          <p:cNvPr id="28" name="object 28"/>
          <p:cNvSpPr txBox="1"/>
          <p:nvPr/>
        </p:nvSpPr>
        <p:spPr>
          <a:xfrm>
            <a:off x="5191125" y="5673739"/>
            <a:ext cx="3378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设计四类通用的接口函数</a:t>
            </a:r>
            <a:endParaRPr sz="2400">
              <a:latin typeface="微软雅黑"/>
              <a:cs typeface="微软雅黑"/>
            </a:endParaRPr>
          </a:p>
        </p:txBody>
      </p:sp>
      <p:sp>
        <p:nvSpPr>
          <p:cNvPr id="29" name="object 29"/>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30" name="object 30"/>
          <p:cNvSpPr txBox="1">
            <a:spLocks noGrp="1"/>
          </p:cNvSpPr>
          <p:nvPr>
            <p:ph type="title"/>
          </p:nvPr>
        </p:nvSpPr>
        <p:spPr>
          <a:prstGeom prst="rect">
            <a:avLst/>
          </a:prstGeom>
        </p:spPr>
        <p:txBody>
          <a:bodyPr vert="horz" wrap="square" lIns="0" tIns="0" rIns="0" bIns="0" rtlCol="0">
            <a:spAutoFit/>
          </a:bodyPr>
          <a:lstStyle/>
          <a:p>
            <a:pPr marL="4596765">
              <a:lnSpc>
                <a:spcPct val="100000"/>
              </a:lnSpc>
            </a:pPr>
            <a:r>
              <a:rPr spc="-5" dirty="0">
                <a:solidFill>
                  <a:srgbClr val="252525"/>
                </a:solidFill>
              </a:rPr>
              <a:t>三种基本设计方法</a:t>
            </a:r>
          </a:p>
        </p:txBody>
      </p:sp>
    </p:spTree>
    <p:extLst>
      <p:ext uri="{BB962C8B-B14F-4D97-AF65-F5344CB8AC3E}">
        <p14:creationId xmlns:p14="http://schemas.microsoft.com/office/powerpoint/2010/main" val="3492212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352145" y="1173977"/>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外设句柄</a:t>
            </a:r>
            <a:endParaRPr sz="2400">
              <a:latin typeface="微软雅黑"/>
              <a:cs typeface="微软雅黑"/>
            </a:endParaRPr>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a:spLocks noGrp="1"/>
          </p:cNvSpPr>
          <p:nvPr>
            <p:ph type="title"/>
          </p:nvPr>
        </p:nvSpPr>
        <p:spPr>
          <a:prstGeom prst="rect">
            <a:avLst/>
          </a:prstGeom>
        </p:spPr>
        <p:txBody>
          <a:bodyPr vert="horz" wrap="square" lIns="0" tIns="0" rIns="0" bIns="0" rtlCol="0">
            <a:spAutoFit/>
          </a:bodyPr>
          <a:lstStyle/>
          <a:p>
            <a:pPr marL="4035425">
              <a:lnSpc>
                <a:spcPct val="100000"/>
              </a:lnSpc>
            </a:pPr>
            <a:r>
              <a:rPr spc="-5" dirty="0">
                <a:solidFill>
                  <a:srgbClr val="252525"/>
                </a:solidFill>
              </a:rPr>
              <a:t>外设句柄数据类型的组成</a:t>
            </a:r>
          </a:p>
        </p:txBody>
      </p:sp>
      <p:sp>
        <p:nvSpPr>
          <p:cNvPr id="14" name="object 14"/>
          <p:cNvSpPr/>
          <p:nvPr/>
        </p:nvSpPr>
        <p:spPr>
          <a:xfrm>
            <a:off x="893825" y="5726429"/>
            <a:ext cx="8194675" cy="570230"/>
          </a:xfrm>
          <a:custGeom>
            <a:avLst/>
            <a:gdLst/>
            <a:ahLst/>
            <a:cxnLst/>
            <a:rect l="l" t="t" r="r" b="b"/>
            <a:pathLst>
              <a:path w="8194675" h="570229">
                <a:moveTo>
                  <a:pt x="0" y="569976"/>
                </a:moveTo>
                <a:lnTo>
                  <a:pt x="8194548" y="569976"/>
                </a:lnTo>
                <a:lnTo>
                  <a:pt x="8194548" y="0"/>
                </a:lnTo>
                <a:lnTo>
                  <a:pt x="0" y="0"/>
                </a:lnTo>
                <a:lnTo>
                  <a:pt x="0" y="569976"/>
                </a:lnTo>
                <a:close/>
              </a:path>
            </a:pathLst>
          </a:custGeom>
          <a:ln w="38100">
            <a:solidFill>
              <a:srgbClr val="FF0000"/>
            </a:solidFill>
          </a:ln>
        </p:spPr>
        <p:txBody>
          <a:bodyPr wrap="square" lIns="0" tIns="0" rIns="0" bIns="0" rtlCol="0"/>
          <a:lstStyle/>
          <a:p>
            <a:endParaRPr/>
          </a:p>
        </p:txBody>
      </p:sp>
      <p:sp>
        <p:nvSpPr>
          <p:cNvPr id="15" name="object 15"/>
          <p:cNvSpPr/>
          <p:nvPr/>
        </p:nvSpPr>
        <p:spPr>
          <a:xfrm>
            <a:off x="9167876" y="4837938"/>
            <a:ext cx="2833370" cy="1533525"/>
          </a:xfrm>
          <a:custGeom>
            <a:avLst/>
            <a:gdLst/>
            <a:ahLst/>
            <a:cxnLst/>
            <a:rect l="l" t="t" r="r" b="b"/>
            <a:pathLst>
              <a:path w="2833370" h="1533525">
                <a:moveTo>
                  <a:pt x="2577338" y="0"/>
                </a:moveTo>
                <a:lnTo>
                  <a:pt x="532638" y="0"/>
                </a:lnTo>
                <a:lnTo>
                  <a:pt x="511684" y="847"/>
                </a:lnTo>
                <a:lnTo>
                  <a:pt x="471240" y="7427"/>
                </a:lnTo>
                <a:lnTo>
                  <a:pt x="433187" y="20083"/>
                </a:lnTo>
                <a:lnTo>
                  <a:pt x="398049" y="38289"/>
                </a:lnTo>
                <a:lnTo>
                  <a:pt x="366355" y="61517"/>
                </a:lnTo>
                <a:lnTo>
                  <a:pt x="338631" y="89241"/>
                </a:lnTo>
                <a:lnTo>
                  <a:pt x="315403" y="120935"/>
                </a:lnTo>
                <a:lnTo>
                  <a:pt x="297197" y="156073"/>
                </a:lnTo>
                <a:lnTo>
                  <a:pt x="284541" y="194126"/>
                </a:lnTo>
                <a:lnTo>
                  <a:pt x="277961" y="234570"/>
                </a:lnTo>
                <a:lnTo>
                  <a:pt x="277114" y="255524"/>
                </a:lnTo>
                <a:lnTo>
                  <a:pt x="277114" y="894334"/>
                </a:lnTo>
                <a:lnTo>
                  <a:pt x="0" y="1182992"/>
                </a:lnTo>
                <a:lnTo>
                  <a:pt x="277114" y="1277620"/>
                </a:lnTo>
                <a:lnTo>
                  <a:pt x="277961" y="1298576"/>
                </a:lnTo>
                <a:lnTo>
                  <a:pt x="280459" y="1319067"/>
                </a:lnTo>
                <a:lnTo>
                  <a:pt x="290143" y="1358385"/>
                </a:lnTo>
                <a:lnTo>
                  <a:pt x="305639" y="1395048"/>
                </a:lnTo>
                <a:lnTo>
                  <a:pt x="326422" y="1428529"/>
                </a:lnTo>
                <a:lnTo>
                  <a:pt x="351964" y="1458302"/>
                </a:lnTo>
                <a:lnTo>
                  <a:pt x="381739" y="1483842"/>
                </a:lnTo>
                <a:lnTo>
                  <a:pt x="415221" y="1504622"/>
                </a:lnTo>
                <a:lnTo>
                  <a:pt x="451882" y="1520117"/>
                </a:lnTo>
                <a:lnTo>
                  <a:pt x="491196" y="1529799"/>
                </a:lnTo>
                <a:lnTo>
                  <a:pt x="532638" y="1533144"/>
                </a:lnTo>
                <a:lnTo>
                  <a:pt x="2577338" y="1533144"/>
                </a:lnTo>
                <a:lnTo>
                  <a:pt x="2618779" y="1529799"/>
                </a:lnTo>
                <a:lnTo>
                  <a:pt x="2658093" y="1520117"/>
                </a:lnTo>
                <a:lnTo>
                  <a:pt x="2694754" y="1504622"/>
                </a:lnTo>
                <a:lnTo>
                  <a:pt x="2728236" y="1483842"/>
                </a:lnTo>
                <a:lnTo>
                  <a:pt x="2758011" y="1458302"/>
                </a:lnTo>
                <a:lnTo>
                  <a:pt x="2783553" y="1428529"/>
                </a:lnTo>
                <a:lnTo>
                  <a:pt x="2804336" y="1395048"/>
                </a:lnTo>
                <a:lnTo>
                  <a:pt x="2819832" y="1358385"/>
                </a:lnTo>
                <a:lnTo>
                  <a:pt x="2829516" y="1319067"/>
                </a:lnTo>
                <a:lnTo>
                  <a:pt x="2832862" y="1277620"/>
                </a:lnTo>
                <a:lnTo>
                  <a:pt x="2832862" y="255524"/>
                </a:lnTo>
                <a:lnTo>
                  <a:pt x="2829516" y="214082"/>
                </a:lnTo>
                <a:lnTo>
                  <a:pt x="2819832" y="174768"/>
                </a:lnTo>
                <a:lnTo>
                  <a:pt x="2804336" y="138107"/>
                </a:lnTo>
                <a:lnTo>
                  <a:pt x="2783553" y="104625"/>
                </a:lnTo>
                <a:lnTo>
                  <a:pt x="2758011" y="74850"/>
                </a:lnTo>
                <a:lnTo>
                  <a:pt x="2728236" y="49308"/>
                </a:lnTo>
                <a:lnTo>
                  <a:pt x="2694754" y="28525"/>
                </a:lnTo>
                <a:lnTo>
                  <a:pt x="2658093" y="13029"/>
                </a:lnTo>
                <a:lnTo>
                  <a:pt x="2618779" y="3345"/>
                </a:lnTo>
                <a:lnTo>
                  <a:pt x="2598291" y="847"/>
                </a:lnTo>
                <a:lnTo>
                  <a:pt x="2577338" y="0"/>
                </a:lnTo>
                <a:close/>
              </a:path>
            </a:pathLst>
          </a:custGeom>
          <a:solidFill>
            <a:srgbClr val="FFFFC7"/>
          </a:solidFill>
        </p:spPr>
        <p:txBody>
          <a:bodyPr wrap="square" lIns="0" tIns="0" rIns="0" bIns="0" rtlCol="0"/>
          <a:lstStyle/>
          <a:p>
            <a:endParaRPr/>
          </a:p>
        </p:txBody>
      </p:sp>
      <p:sp>
        <p:nvSpPr>
          <p:cNvPr id="16" name="object 16"/>
          <p:cNvSpPr/>
          <p:nvPr/>
        </p:nvSpPr>
        <p:spPr>
          <a:xfrm>
            <a:off x="9167876" y="4837938"/>
            <a:ext cx="2833370" cy="1533525"/>
          </a:xfrm>
          <a:custGeom>
            <a:avLst/>
            <a:gdLst/>
            <a:ahLst/>
            <a:cxnLst/>
            <a:rect l="l" t="t" r="r" b="b"/>
            <a:pathLst>
              <a:path w="2833370" h="1533525">
                <a:moveTo>
                  <a:pt x="277114" y="255524"/>
                </a:moveTo>
                <a:lnTo>
                  <a:pt x="280459" y="214082"/>
                </a:lnTo>
                <a:lnTo>
                  <a:pt x="290143" y="174768"/>
                </a:lnTo>
                <a:lnTo>
                  <a:pt x="305639" y="138107"/>
                </a:lnTo>
                <a:lnTo>
                  <a:pt x="326422" y="104625"/>
                </a:lnTo>
                <a:lnTo>
                  <a:pt x="351964" y="74850"/>
                </a:lnTo>
                <a:lnTo>
                  <a:pt x="381739" y="49308"/>
                </a:lnTo>
                <a:lnTo>
                  <a:pt x="415221" y="28525"/>
                </a:lnTo>
                <a:lnTo>
                  <a:pt x="451882" y="13029"/>
                </a:lnTo>
                <a:lnTo>
                  <a:pt x="491196" y="3345"/>
                </a:lnTo>
                <a:lnTo>
                  <a:pt x="532638" y="0"/>
                </a:lnTo>
                <a:lnTo>
                  <a:pt x="703072" y="0"/>
                </a:lnTo>
                <a:lnTo>
                  <a:pt x="1342008" y="0"/>
                </a:lnTo>
                <a:lnTo>
                  <a:pt x="2577338" y="0"/>
                </a:lnTo>
                <a:lnTo>
                  <a:pt x="2598291" y="847"/>
                </a:lnTo>
                <a:lnTo>
                  <a:pt x="2638735" y="7427"/>
                </a:lnTo>
                <a:lnTo>
                  <a:pt x="2676788" y="20083"/>
                </a:lnTo>
                <a:lnTo>
                  <a:pt x="2711926" y="38289"/>
                </a:lnTo>
                <a:lnTo>
                  <a:pt x="2743620" y="61517"/>
                </a:lnTo>
                <a:lnTo>
                  <a:pt x="2771344" y="89241"/>
                </a:lnTo>
                <a:lnTo>
                  <a:pt x="2794572" y="120935"/>
                </a:lnTo>
                <a:lnTo>
                  <a:pt x="2812778" y="156073"/>
                </a:lnTo>
                <a:lnTo>
                  <a:pt x="2825434" y="194126"/>
                </a:lnTo>
                <a:lnTo>
                  <a:pt x="2832014" y="234570"/>
                </a:lnTo>
                <a:lnTo>
                  <a:pt x="2832862" y="255524"/>
                </a:lnTo>
                <a:lnTo>
                  <a:pt x="2832862" y="894334"/>
                </a:lnTo>
                <a:lnTo>
                  <a:pt x="2832862" y="1277620"/>
                </a:lnTo>
                <a:lnTo>
                  <a:pt x="2832014" y="1298576"/>
                </a:lnTo>
                <a:lnTo>
                  <a:pt x="2829516" y="1319067"/>
                </a:lnTo>
                <a:lnTo>
                  <a:pt x="2819832" y="1358385"/>
                </a:lnTo>
                <a:lnTo>
                  <a:pt x="2804336" y="1395048"/>
                </a:lnTo>
                <a:lnTo>
                  <a:pt x="2783553" y="1428529"/>
                </a:lnTo>
                <a:lnTo>
                  <a:pt x="2758011" y="1458302"/>
                </a:lnTo>
                <a:lnTo>
                  <a:pt x="2728236" y="1483842"/>
                </a:lnTo>
                <a:lnTo>
                  <a:pt x="2694754" y="1504622"/>
                </a:lnTo>
                <a:lnTo>
                  <a:pt x="2658093" y="1520117"/>
                </a:lnTo>
                <a:lnTo>
                  <a:pt x="2618779" y="1529799"/>
                </a:lnTo>
                <a:lnTo>
                  <a:pt x="2577338" y="1533144"/>
                </a:lnTo>
                <a:lnTo>
                  <a:pt x="1342008" y="1533144"/>
                </a:lnTo>
                <a:lnTo>
                  <a:pt x="703072" y="1533144"/>
                </a:lnTo>
                <a:lnTo>
                  <a:pt x="532638" y="1533144"/>
                </a:lnTo>
                <a:lnTo>
                  <a:pt x="511684" y="1532296"/>
                </a:lnTo>
                <a:lnTo>
                  <a:pt x="471240" y="1525717"/>
                </a:lnTo>
                <a:lnTo>
                  <a:pt x="433187" y="1513063"/>
                </a:lnTo>
                <a:lnTo>
                  <a:pt x="398049" y="1494860"/>
                </a:lnTo>
                <a:lnTo>
                  <a:pt x="366355" y="1471634"/>
                </a:lnTo>
                <a:lnTo>
                  <a:pt x="338631" y="1443912"/>
                </a:lnTo>
                <a:lnTo>
                  <a:pt x="315403" y="1412219"/>
                </a:lnTo>
                <a:lnTo>
                  <a:pt x="297197" y="1377081"/>
                </a:lnTo>
                <a:lnTo>
                  <a:pt x="284541" y="1339025"/>
                </a:lnTo>
                <a:lnTo>
                  <a:pt x="277961" y="1298576"/>
                </a:lnTo>
                <a:lnTo>
                  <a:pt x="277114" y="1277620"/>
                </a:lnTo>
                <a:lnTo>
                  <a:pt x="0" y="1182992"/>
                </a:lnTo>
                <a:lnTo>
                  <a:pt x="277114" y="894334"/>
                </a:lnTo>
                <a:lnTo>
                  <a:pt x="277114" y="255524"/>
                </a:lnTo>
                <a:close/>
              </a:path>
            </a:pathLst>
          </a:custGeom>
          <a:ln w="28956">
            <a:solidFill>
              <a:srgbClr val="000000"/>
            </a:solidFill>
          </a:ln>
        </p:spPr>
        <p:txBody>
          <a:bodyPr wrap="square" lIns="0" tIns="0" rIns="0" bIns="0" rtlCol="0"/>
          <a:lstStyle/>
          <a:p>
            <a:endParaRPr/>
          </a:p>
        </p:txBody>
      </p:sp>
      <p:sp>
        <p:nvSpPr>
          <p:cNvPr id="17" name="object 17"/>
          <p:cNvSpPr txBox="1"/>
          <p:nvPr/>
        </p:nvSpPr>
        <p:spPr>
          <a:xfrm>
            <a:off x="9599168" y="4913058"/>
            <a:ext cx="2169795" cy="1406525"/>
          </a:xfrm>
          <a:prstGeom prst="rect">
            <a:avLst/>
          </a:prstGeom>
        </p:spPr>
        <p:txBody>
          <a:bodyPr vert="horz" wrap="square" lIns="0" tIns="0" rIns="0" bIns="0" rtlCol="0">
            <a:spAutoFit/>
          </a:bodyPr>
          <a:lstStyle/>
          <a:p>
            <a:pPr marL="12700" marR="5080">
              <a:lnSpc>
                <a:spcPct val="98100"/>
              </a:lnSpc>
            </a:pPr>
            <a:r>
              <a:rPr sz="2400" b="1" dirty="0">
                <a:latin typeface="宋体"/>
                <a:cs typeface="宋体"/>
              </a:rPr>
              <a:t>可选模块，串口 和</a:t>
            </a:r>
            <a:r>
              <a:rPr sz="2400" b="1" spc="-5" dirty="0">
                <a:latin typeface="Consolas"/>
                <a:cs typeface="Consolas"/>
              </a:rPr>
              <a:t>A/D</a:t>
            </a:r>
            <a:r>
              <a:rPr sz="2400" b="1" dirty="0">
                <a:latin typeface="宋体"/>
                <a:cs typeface="宋体"/>
              </a:rPr>
              <a:t>转换器包 含该模块，而定 </a:t>
            </a:r>
            <a:r>
              <a:rPr sz="2400" b="1" spc="-5" dirty="0">
                <a:latin typeface="宋体"/>
                <a:cs typeface="宋体"/>
              </a:rPr>
              <a:t>时器没有包含</a:t>
            </a:r>
            <a:endParaRPr sz="2400">
              <a:latin typeface="宋体"/>
              <a:cs typeface="宋体"/>
            </a:endParaRPr>
          </a:p>
        </p:txBody>
      </p:sp>
      <p:sp>
        <p:nvSpPr>
          <p:cNvPr id="18" name="object 18"/>
          <p:cNvSpPr/>
          <p:nvPr/>
        </p:nvSpPr>
        <p:spPr>
          <a:xfrm>
            <a:off x="237743" y="2860548"/>
            <a:ext cx="455930" cy="455930"/>
          </a:xfrm>
          <a:custGeom>
            <a:avLst/>
            <a:gdLst/>
            <a:ahLst/>
            <a:cxnLst/>
            <a:rect l="l" t="t" r="r" b="b"/>
            <a:pathLst>
              <a:path w="455930" h="455929">
                <a:moveTo>
                  <a:pt x="227837" y="0"/>
                </a:moveTo>
                <a:lnTo>
                  <a:pt x="173085" y="6620"/>
                </a:lnTo>
                <a:lnTo>
                  <a:pt x="123133" y="25426"/>
                </a:lnTo>
                <a:lnTo>
                  <a:pt x="79563" y="54836"/>
                </a:lnTo>
                <a:lnTo>
                  <a:pt x="43959" y="93268"/>
                </a:lnTo>
                <a:lnTo>
                  <a:pt x="17904" y="139142"/>
                </a:lnTo>
                <a:lnTo>
                  <a:pt x="2982" y="190875"/>
                </a:lnTo>
                <a:lnTo>
                  <a:pt x="0" y="227837"/>
                </a:lnTo>
                <a:lnTo>
                  <a:pt x="755" y="246527"/>
                </a:lnTo>
                <a:lnTo>
                  <a:pt x="11615" y="299862"/>
                </a:lnTo>
                <a:lnTo>
                  <a:pt x="34135" y="347864"/>
                </a:lnTo>
                <a:lnTo>
                  <a:pt x="66732" y="388953"/>
                </a:lnTo>
                <a:lnTo>
                  <a:pt x="107822" y="421546"/>
                </a:lnTo>
                <a:lnTo>
                  <a:pt x="155823" y="444063"/>
                </a:lnTo>
                <a:lnTo>
                  <a:pt x="209151" y="454920"/>
                </a:lnTo>
                <a:lnTo>
                  <a:pt x="227837" y="455675"/>
                </a:lnTo>
                <a:lnTo>
                  <a:pt x="246524" y="454920"/>
                </a:lnTo>
                <a:lnTo>
                  <a:pt x="299852" y="444063"/>
                </a:lnTo>
                <a:lnTo>
                  <a:pt x="347853" y="421546"/>
                </a:lnTo>
                <a:lnTo>
                  <a:pt x="388943" y="388953"/>
                </a:lnTo>
                <a:lnTo>
                  <a:pt x="421540" y="347864"/>
                </a:lnTo>
                <a:lnTo>
                  <a:pt x="444060" y="299862"/>
                </a:lnTo>
                <a:lnTo>
                  <a:pt x="454920" y="246527"/>
                </a:lnTo>
                <a:lnTo>
                  <a:pt x="455676" y="227837"/>
                </a:lnTo>
                <a:lnTo>
                  <a:pt x="454920" y="209148"/>
                </a:lnTo>
                <a:lnTo>
                  <a:pt x="444060" y="155813"/>
                </a:lnTo>
                <a:lnTo>
                  <a:pt x="421540" y="107811"/>
                </a:lnTo>
                <a:lnTo>
                  <a:pt x="388943" y="66722"/>
                </a:lnTo>
                <a:lnTo>
                  <a:pt x="347853" y="34129"/>
                </a:lnTo>
                <a:lnTo>
                  <a:pt x="299852" y="11612"/>
                </a:lnTo>
                <a:lnTo>
                  <a:pt x="246524" y="755"/>
                </a:lnTo>
                <a:lnTo>
                  <a:pt x="227837" y="0"/>
                </a:lnTo>
                <a:close/>
              </a:path>
            </a:pathLst>
          </a:custGeom>
          <a:solidFill>
            <a:srgbClr val="0066FF"/>
          </a:solidFill>
        </p:spPr>
        <p:txBody>
          <a:bodyPr wrap="square" lIns="0" tIns="0" rIns="0" bIns="0" rtlCol="0"/>
          <a:lstStyle/>
          <a:p>
            <a:endParaRPr/>
          </a:p>
        </p:txBody>
      </p:sp>
      <p:sp>
        <p:nvSpPr>
          <p:cNvPr id="19" name="object 19"/>
          <p:cNvSpPr txBox="1"/>
          <p:nvPr/>
        </p:nvSpPr>
        <p:spPr>
          <a:xfrm>
            <a:off x="347573" y="2921463"/>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1</a:t>
            </a:r>
            <a:endParaRPr sz="2800">
              <a:latin typeface="Arial Rounded MT Bold"/>
              <a:cs typeface="Arial Rounded MT Bold"/>
            </a:endParaRPr>
          </a:p>
        </p:txBody>
      </p:sp>
      <p:sp>
        <p:nvSpPr>
          <p:cNvPr id="20" name="object 20"/>
          <p:cNvSpPr/>
          <p:nvPr/>
        </p:nvSpPr>
        <p:spPr>
          <a:xfrm>
            <a:off x="170687" y="2793492"/>
            <a:ext cx="589915" cy="589915"/>
          </a:xfrm>
          <a:custGeom>
            <a:avLst/>
            <a:gdLst/>
            <a:ahLst/>
            <a:cxnLst/>
            <a:rect l="l" t="t" r="r" b="b"/>
            <a:pathLst>
              <a:path w="589915" h="589914">
                <a:moveTo>
                  <a:pt x="294894" y="0"/>
                </a:moveTo>
                <a:lnTo>
                  <a:pt x="247060" y="3861"/>
                </a:lnTo>
                <a:lnTo>
                  <a:pt x="201684" y="15038"/>
                </a:lnTo>
                <a:lnTo>
                  <a:pt x="159373" y="32925"/>
                </a:lnTo>
                <a:lnTo>
                  <a:pt x="120733" y="56912"/>
                </a:lnTo>
                <a:lnTo>
                  <a:pt x="86372" y="86391"/>
                </a:lnTo>
                <a:lnTo>
                  <a:pt x="56897" y="120755"/>
                </a:lnTo>
                <a:lnTo>
                  <a:pt x="32915" y="159395"/>
                </a:lnTo>
                <a:lnTo>
                  <a:pt x="15033" y="201704"/>
                </a:lnTo>
                <a:lnTo>
                  <a:pt x="3859" y="247073"/>
                </a:lnTo>
                <a:lnTo>
                  <a:pt x="0" y="294894"/>
                </a:lnTo>
                <a:lnTo>
                  <a:pt x="977" y="319072"/>
                </a:lnTo>
                <a:lnTo>
                  <a:pt x="8570" y="365743"/>
                </a:lnTo>
                <a:lnTo>
                  <a:pt x="23174" y="409658"/>
                </a:lnTo>
                <a:lnTo>
                  <a:pt x="44182" y="450208"/>
                </a:lnTo>
                <a:lnTo>
                  <a:pt x="70986" y="486786"/>
                </a:lnTo>
                <a:lnTo>
                  <a:pt x="102980" y="518784"/>
                </a:lnTo>
                <a:lnTo>
                  <a:pt x="139556" y="545593"/>
                </a:lnTo>
                <a:lnTo>
                  <a:pt x="180108" y="566606"/>
                </a:lnTo>
                <a:lnTo>
                  <a:pt x="224027" y="581214"/>
                </a:lnTo>
                <a:lnTo>
                  <a:pt x="270708" y="588810"/>
                </a:lnTo>
                <a:lnTo>
                  <a:pt x="294894" y="589788"/>
                </a:lnTo>
                <a:lnTo>
                  <a:pt x="319079" y="588810"/>
                </a:lnTo>
                <a:lnTo>
                  <a:pt x="365760" y="581214"/>
                </a:lnTo>
                <a:lnTo>
                  <a:pt x="409679" y="566606"/>
                </a:lnTo>
                <a:lnTo>
                  <a:pt x="450231" y="545593"/>
                </a:lnTo>
                <a:lnTo>
                  <a:pt x="486807" y="518784"/>
                </a:lnTo>
                <a:lnTo>
                  <a:pt x="492827" y="513207"/>
                </a:lnTo>
                <a:lnTo>
                  <a:pt x="294894" y="513207"/>
                </a:lnTo>
                <a:lnTo>
                  <a:pt x="276992" y="512482"/>
                </a:lnTo>
                <a:lnTo>
                  <a:pt x="225902" y="502072"/>
                </a:lnTo>
                <a:lnTo>
                  <a:pt x="179916" y="480487"/>
                </a:lnTo>
                <a:lnTo>
                  <a:pt x="140550" y="449246"/>
                </a:lnTo>
                <a:lnTo>
                  <a:pt x="109322" y="409870"/>
                </a:lnTo>
                <a:lnTo>
                  <a:pt x="87747" y="363879"/>
                </a:lnTo>
                <a:lnTo>
                  <a:pt x="77342" y="312792"/>
                </a:lnTo>
                <a:lnTo>
                  <a:pt x="76619" y="294894"/>
                </a:lnTo>
                <a:lnTo>
                  <a:pt x="77342" y="276995"/>
                </a:lnTo>
                <a:lnTo>
                  <a:pt x="87747" y="225908"/>
                </a:lnTo>
                <a:lnTo>
                  <a:pt x="109322" y="179917"/>
                </a:lnTo>
                <a:lnTo>
                  <a:pt x="140550" y="140541"/>
                </a:lnTo>
                <a:lnTo>
                  <a:pt x="179916" y="109300"/>
                </a:lnTo>
                <a:lnTo>
                  <a:pt x="225902" y="87715"/>
                </a:lnTo>
                <a:lnTo>
                  <a:pt x="276992" y="77305"/>
                </a:lnTo>
                <a:lnTo>
                  <a:pt x="294894" y="76581"/>
                </a:lnTo>
                <a:lnTo>
                  <a:pt x="492827" y="76581"/>
                </a:lnTo>
                <a:lnTo>
                  <a:pt x="486807" y="71003"/>
                </a:lnTo>
                <a:lnTo>
                  <a:pt x="450231" y="44194"/>
                </a:lnTo>
                <a:lnTo>
                  <a:pt x="409679" y="23181"/>
                </a:lnTo>
                <a:lnTo>
                  <a:pt x="365760" y="8573"/>
                </a:lnTo>
                <a:lnTo>
                  <a:pt x="319079" y="977"/>
                </a:lnTo>
                <a:lnTo>
                  <a:pt x="294894" y="0"/>
                </a:lnTo>
                <a:close/>
              </a:path>
              <a:path w="589915" h="589914">
                <a:moveTo>
                  <a:pt x="492827" y="76581"/>
                </a:moveTo>
                <a:lnTo>
                  <a:pt x="294894" y="76581"/>
                </a:lnTo>
                <a:lnTo>
                  <a:pt x="312795" y="77305"/>
                </a:lnTo>
                <a:lnTo>
                  <a:pt x="330298" y="79439"/>
                </a:lnTo>
                <a:lnTo>
                  <a:pt x="379855" y="93743"/>
                </a:lnTo>
                <a:lnTo>
                  <a:pt x="423803" y="118716"/>
                </a:lnTo>
                <a:lnTo>
                  <a:pt x="460625" y="152837"/>
                </a:lnTo>
                <a:lnTo>
                  <a:pt x="488805" y="194587"/>
                </a:lnTo>
                <a:lnTo>
                  <a:pt x="506825" y="242446"/>
                </a:lnTo>
                <a:lnTo>
                  <a:pt x="513168" y="294894"/>
                </a:lnTo>
                <a:lnTo>
                  <a:pt x="512445" y="312792"/>
                </a:lnTo>
                <a:lnTo>
                  <a:pt x="502040" y="363879"/>
                </a:lnTo>
                <a:lnTo>
                  <a:pt x="480465" y="409870"/>
                </a:lnTo>
                <a:lnTo>
                  <a:pt x="449237" y="449246"/>
                </a:lnTo>
                <a:lnTo>
                  <a:pt x="409871" y="480487"/>
                </a:lnTo>
                <a:lnTo>
                  <a:pt x="363885" y="502072"/>
                </a:lnTo>
                <a:lnTo>
                  <a:pt x="312795" y="512482"/>
                </a:lnTo>
                <a:lnTo>
                  <a:pt x="294894" y="513207"/>
                </a:lnTo>
                <a:lnTo>
                  <a:pt x="492827" y="513207"/>
                </a:lnTo>
                <a:lnTo>
                  <a:pt x="532890" y="469032"/>
                </a:lnTo>
                <a:lnTo>
                  <a:pt x="556872" y="430392"/>
                </a:lnTo>
                <a:lnTo>
                  <a:pt x="574754" y="388083"/>
                </a:lnTo>
                <a:lnTo>
                  <a:pt x="585928" y="342714"/>
                </a:lnTo>
                <a:lnTo>
                  <a:pt x="589788" y="294894"/>
                </a:lnTo>
                <a:lnTo>
                  <a:pt x="588810" y="270715"/>
                </a:lnTo>
                <a:lnTo>
                  <a:pt x="581217" y="224044"/>
                </a:lnTo>
                <a:lnTo>
                  <a:pt x="566613" y="180129"/>
                </a:lnTo>
                <a:lnTo>
                  <a:pt x="545605" y="139579"/>
                </a:lnTo>
                <a:lnTo>
                  <a:pt x="518801" y="103001"/>
                </a:lnTo>
                <a:lnTo>
                  <a:pt x="503415" y="86391"/>
                </a:lnTo>
                <a:lnTo>
                  <a:pt x="492827" y="76581"/>
                </a:lnTo>
                <a:close/>
              </a:path>
            </a:pathLst>
          </a:custGeom>
          <a:solidFill>
            <a:srgbClr val="FFFFFF"/>
          </a:solidFill>
        </p:spPr>
        <p:txBody>
          <a:bodyPr wrap="square" lIns="0" tIns="0" rIns="0" bIns="0" rtlCol="0"/>
          <a:lstStyle/>
          <a:p>
            <a:endParaRPr/>
          </a:p>
        </p:txBody>
      </p:sp>
      <p:sp>
        <p:nvSpPr>
          <p:cNvPr id="21" name="object 21"/>
          <p:cNvSpPr/>
          <p:nvPr/>
        </p:nvSpPr>
        <p:spPr>
          <a:xfrm>
            <a:off x="170687" y="2793492"/>
            <a:ext cx="589915" cy="589915"/>
          </a:xfrm>
          <a:custGeom>
            <a:avLst/>
            <a:gdLst/>
            <a:ahLst/>
            <a:cxnLst/>
            <a:rect l="l" t="t" r="r" b="b"/>
            <a:pathLst>
              <a:path w="589915" h="589914">
                <a:moveTo>
                  <a:pt x="0" y="294894"/>
                </a:moveTo>
                <a:lnTo>
                  <a:pt x="3859" y="247073"/>
                </a:lnTo>
                <a:lnTo>
                  <a:pt x="15033" y="201704"/>
                </a:lnTo>
                <a:lnTo>
                  <a:pt x="32915" y="159395"/>
                </a:lnTo>
                <a:lnTo>
                  <a:pt x="56897" y="120755"/>
                </a:lnTo>
                <a:lnTo>
                  <a:pt x="86372" y="86391"/>
                </a:lnTo>
                <a:lnTo>
                  <a:pt x="120733" y="56912"/>
                </a:lnTo>
                <a:lnTo>
                  <a:pt x="159373" y="32925"/>
                </a:lnTo>
                <a:lnTo>
                  <a:pt x="201684" y="15038"/>
                </a:lnTo>
                <a:lnTo>
                  <a:pt x="247060" y="3861"/>
                </a:lnTo>
                <a:lnTo>
                  <a:pt x="294894" y="0"/>
                </a:lnTo>
                <a:lnTo>
                  <a:pt x="319079" y="977"/>
                </a:lnTo>
                <a:lnTo>
                  <a:pt x="365760" y="8573"/>
                </a:lnTo>
                <a:lnTo>
                  <a:pt x="409679" y="23181"/>
                </a:lnTo>
                <a:lnTo>
                  <a:pt x="450231" y="44194"/>
                </a:lnTo>
                <a:lnTo>
                  <a:pt x="486807" y="71003"/>
                </a:lnTo>
                <a:lnTo>
                  <a:pt x="518801" y="103001"/>
                </a:lnTo>
                <a:lnTo>
                  <a:pt x="545605" y="139579"/>
                </a:lnTo>
                <a:lnTo>
                  <a:pt x="566613" y="180129"/>
                </a:lnTo>
                <a:lnTo>
                  <a:pt x="581217" y="224044"/>
                </a:lnTo>
                <a:lnTo>
                  <a:pt x="588810" y="270715"/>
                </a:lnTo>
                <a:lnTo>
                  <a:pt x="589788" y="294894"/>
                </a:lnTo>
                <a:lnTo>
                  <a:pt x="588810" y="319072"/>
                </a:lnTo>
                <a:lnTo>
                  <a:pt x="581217" y="365743"/>
                </a:lnTo>
                <a:lnTo>
                  <a:pt x="566613" y="409658"/>
                </a:lnTo>
                <a:lnTo>
                  <a:pt x="545605" y="450208"/>
                </a:lnTo>
                <a:lnTo>
                  <a:pt x="518801" y="486786"/>
                </a:lnTo>
                <a:lnTo>
                  <a:pt x="486807" y="518784"/>
                </a:lnTo>
                <a:lnTo>
                  <a:pt x="450231" y="545593"/>
                </a:lnTo>
                <a:lnTo>
                  <a:pt x="409679" y="566606"/>
                </a:lnTo>
                <a:lnTo>
                  <a:pt x="365760" y="581214"/>
                </a:lnTo>
                <a:lnTo>
                  <a:pt x="319079" y="588810"/>
                </a:lnTo>
                <a:lnTo>
                  <a:pt x="294894" y="589788"/>
                </a:lnTo>
                <a:lnTo>
                  <a:pt x="270708" y="588810"/>
                </a:lnTo>
                <a:lnTo>
                  <a:pt x="224027" y="581214"/>
                </a:lnTo>
                <a:lnTo>
                  <a:pt x="180108" y="566606"/>
                </a:lnTo>
                <a:lnTo>
                  <a:pt x="139556" y="545593"/>
                </a:lnTo>
                <a:lnTo>
                  <a:pt x="102980" y="518784"/>
                </a:lnTo>
                <a:lnTo>
                  <a:pt x="70986" y="486786"/>
                </a:lnTo>
                <a:lnTo>
                  <a:pt x="44182" y="450208"/>
                </a:lnTo>
                <a:lnTo>
                  <a:pt x="23174" y="409658"/>
                </a:lnTo>
                <a:lnTo>
                  <a:pt x="8570"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22" name="object 22"/>
          <p:cNvSpPr/>
          <p:nvPr/>
        </p:nvSpPr>
        <p:spPr>
          <a:xfrm>
            <a:off x="247307" y="2870073"/>
            <a:ext cx="436880" cy="436880"/>
          </a:xfrm>
          <a:custGeom>
            <a:avLst/>
            <a:gdLst/>
            <a:ahLst/>
            <a:cxnLst/>
            <a:rect l="l" t="t" r="r" b="b"/>
            <a:pathLst>
              <a:path w="436880" h="436879">
                <a:moveTo>
                  <a:pt x="0" y="218312"/>
                </a:moveTo>
                <a:lnTo>
                  <a:pt x="6343" y="270760"/>
                </a:lnTo>
                <a:lnTo>
                  <a:pt x="24363" y="318619"/>
                </a:lnTo>
                <a:lnTo>
                  <a:pt x="52543" y="360369"/>
                </a:lnTo>
                <a:lnTo>
                  <a:pt x="89365" y="394490"/>
                </a:lnTo>
                <a:lnTo>
                  <a:pt x="133313" y="419463"/>
                </a:lnTo>
                <a:lnTo>
                  <a:pt x="182869" y="433767"/>
                </a:lnTo>
                <a:lnTo>
                  <a:pt x="218274" y="436625"/>
                </a:lnTo>
                <a:lnTo>
                  <a:pt x="236176" y="435901"/>
                </a:lnTo>
                <a:lnTo>
                  <a:pt x="287266" y="425491"/>
                </a:lnTo>
                <a:lnTo>
                  <a:pt x="333252" y="403906"/>
                </a:lnTo>
                <a:lnTo>
                  <a:pt x="372618" y="372665"/>
                </a:lnTo>
                <a:lnTo>
                  <a:pt x="403846" y="333289"/>
                </a:lnTo>
                <a:lnTo>
                  <a:pt x="425421" y="287298"/>
                </a:lnTo>
                <a:lnTo>
                  <a:pt x="435826" y="236211"/>
                </a:lnTo>
                <a:lnTo>
                  <a:pt x="436549" y="218312"/>
                </a:lnTo>
                <a:lnTo>
                  <a:pt x="435826" y="200414"/>
                </a:lnTo>
                <a:lnTo>
                  <a:pt x="425421" y="149327"/>
                </a:lnTo>
                <a:lnTo>
                  <a:pt x="403846" y="103336"/>
                </a:lnTo>
                <a:lnTo>
                  <a:pt x="372618" y="63960"/>
                </a:lnTo>
                <a:lnTo>
                  <a:pt x="333252" y="32719"/>
                </a:lnTo>
                <a:lnTo>
                  <a:pt x="287266" y="11134"/>
                </a:lnTo>
                <a:lnTo>
                  <a:pt x="236176" y="724"/>
                </a:lnTo>
                <a:lnTo>
                  <a:pt x="218274" y="0"/>
                </a:lnTo>
                <a:lnTo>
                  <a:pt x="200373" y="724"/>
                </a:lnTo>
                <a:lnTo>
                  <a:pt x="149283" y="11134"/>
                </a:lnTo>
                <a:lnTo>
                  <a:pt x="103297" y="32719"/>
                </a:lnTo>
                <a:lnTo>
                  <a:pt x="63931" y="63960"/>
                </a:lnTo>
                <a:lnTo>
                  <a:pt x="32702" y="103336"/>
                </a:lnTo>
                <a:lnTo>
                  <a:pt x="11127" y="149327"/>
                </a:lnTo>
                <a:lnTo>
                  <a:pt x="723" y="200414"/>
                </a:lnTo>
                <a:lnTo>
                  <a:pt x="0" y="218312"/>
                </a:lnTo>
                <a:close/>
              </a:path>
            </a:pathLst>
          </a:custGeom>
          <a:ln w="12192">
            <a:solidFill>
              <a:srgbClr val="41709C"/>
            </a:solidFill>
          </a:ln>
        </p:spPr>
        <p:txBody>
          <a:bodyPr wrap="square" lIns="0" tIns="0" rIns="0" bIns="0" rtlCol="0"/>
          <a:lstStyle/>
          <a:p>
            <a:endParaRPr/>
          </a:p>
        </p:txBody>
      </p:sp>
      <p:sp>
        <p:nvSpPr>
          <p:cNvPr id="23" name="object 23"/>
          <p:cNvSpPr/>
          <p:nvPr/>
        </p:nvSpPr>
        <p:spPr>
          <a:xfrm>
            <a:off x="237743" y="3576828"/>
            <a:ext cx="455930" cy="457200"/>
          </a:xfrm>
          <a:custGeom>
            <a:avLst/>
            <a:gdLst/>
            <a:ahLst/>
            <a:cxnLst/>
            <a:rect l="l" t="t" r="r" b="b"/>
            <a:pathLst>
              <a:path w="455930" h="457200">
                <a:moveTo>
                  <a:pt x="227837" y="0"/>
                </a:moveTo>
                <a:lnTo>
                  <a:pt x="173085" y="6644"/>
                </a:lnTo>
                <a:lnTo>
                  <a:pt x="123133" y="25518"/>
                </a:lnTo>
                <a:lnTo>
                  <a:pt x="79563" y="55032"/>
                </a:lnTo>
                <a:lnTo>
                  <a:pt x="43959" y="93597"/>
                </a:lnTo>
                <a:lnTo>
                  <a:pt x="17904" y="139624"/>
                </a:lnTo>
                <a:lnTo>
                  <a:pt x="2982" y="191523"/>
                </a:lnTo>
                <a:lnTo>
                  <a:pt x="0" y="228600"/>
                </a:lnTo>
                <a:lnTo>
                  <a:pt x="755" y="247346"/>
                </a:lnTo>
                <a:lnTo>
                  <a:pt x="11615" y="300849"/>
                </a:lnTo>
                <a:lnTo>
                  <a:pt x="34135" y="349010"/>
                </a:lnTo>
                <a:lnTo>
                  <a:pt x="66732" y="390239"/>
                </a:lnTo>
                <a:lnTo>
                  <a:pt x="107822" y="422947"/>
                </a:lnTo>
                <a:lnTo>
                  <a:pt x="155823" y="445544"/>
                </a:lnTo>
                <a:lnTo>
                  <a:pt x="209151" y="456442"/>
                </a:lnTo>
                <a:lnTo>
                  <a:pt x="227837" y="457200"/>
                </a:lnTo>
                <a:lnTo>
                  <a:pt x="246524" y="456442"/>
                </a:lnTo>
                <a:lnTo>
                  <a:pt x="299852" y="445544"/>
                </a:lnTo>
                <a:lnTo>
                  <a:pt x="347853" y="422947"/>
                </a:lnTo>
                <a:lnTo>
                  <a:pt x="388943" y="390239"/>
                </a:lnTo>
                <a:lnTo>
                  <a:pt x="421540" y="349010"/>
                </a:lnTo>
                <a:lnTo>
                  <a:pt x="444060" y="300849"/>
                </a:lnTo>
                <a:lnTo>
                  <a:pt x="454920" y="247346"/>
                </a:lnTo>
                <a:lnTo>
                  <a:pt x="455676" y="228600"/>
                </a:lnTo>
                <a:lnTo>
                  <a:pt x="454920" y="209853"/>
                </a:lnTo>
                <a:lnTo>
                  <a:pt x="444060" y="156350"/>
                </a:lnTo>
                <a:lnTo>
                  <a:pt x="421540" y="108189"/>
                </a:lnTo>
                <a:lnTo>
                  <a:pt x="388943" y="66960"/>
                </a:lnTo>
                <a:lnTo>
                  <a:pt x="347853" y="34252"/>
                </a:lnTo>
                <a:lnTo>
                  <a:pt x="299852" y="11655"/>
                </a:lnTo>
                <a:lnTo>
                  <a:pt x="246524" y="757"/>
                </a:lnTo>
                <a:lnTo>
                  <a:pt x="227837" y="0"/>
                </a:lnTo>
                <a:close/>
              </a:path>
            </a:pathLst>
          </a:custGeom>
          <a:solidFill>
            <a:srgbClr val="0066FF"/>
          </a:solidFill>
        </p:spPr>
        <p:txBody>
          <a:bodyPr wrap="square" lIns="0" tIns="0" rIns="0" bIns="0" rtlCol="0"/>
          <a:lstStyle/>
          <a:p>
            <a:endParaRPr/>
          </a:p>
        </p:txBody>
      </p:sp>
      <p:sp>
        <p:nvSpPr>
          <p:cNvPr id="24" name="object 24"/>
          <p:cNvSpPr txBox="1"/>
          <p:nvPr/>
        </p:nvSpPr>
        <p:spPr>
          <a:xfrm>
            <a:off x="347573" y="3638886"/>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2</a:t>
            </a:r>
            <a:endParaRPr sz="2800">
              <a:latin typeface="Arial Rounded MT Bold"/>
              <a:cs typeface="Arial Rounded MT Bold"/>
            </a:endParaRPr>
          </a:p>
        </p:txBody>
      </p:sp>
      <p:sp>
        <p:nvSpPr>
          <p:cNvPr id="25" name="object 25"/>
          <p:cNvSpPr/>
          <p:nvPr/>
        </p:nvSpPr>
        <p:spPr>
          <a:xfrm>
            <a:off x="170687" y="3509771"/>
            <a:ext cx="589915" cy="591820"/>
          </a:xfrm>
          <a:custGeom>
            <a:avLst/>
            <a:gdLst/>
            <a:ahLst/>
            <a:cxnLst/>
            <a:rect l="l" t="t" r="r" b="b"/>
            <a:pathLst>
              <a:path w="589915" h="591820">
                <a:moveTo>
                  <a:pt x="294894" y="0"/>
                </a:moveTo>
                <a:lnTo>
                  <a:pt x="247060" y="3868"/>
                </a:lnTo>
                <a:lnTo>
                  <a:pt x="201684" y="15069"/>
                </a:lnTo>
                <a:lnTo>
                  <a:pt x="159373" y="32993"/>
                </a:lnTo>
                <a:lnTo>
                  <a:pt x="120733" y="57034"/>
                </a:lnTo>
                <a:lnTo>
                  <a:pt x="86372" y="86582"/>
                </a:lnTo>
                <a:lnTo>
                  <a:pt x="56897" y="121029"/>
                </a:lnTo>
                <a:lnTo>
                  <a:pt x="32915" y="159769"/>
                </a:lnTo>
                <a:lnTo>
                  <a:pt x="15033" y="202192"/>
                </a:lnTo>
                <a:lnTo>
                  <a:pt x="3859" y="247690"/>
                </a:lnTo>
                <a:lnTo>
                  <a:pt x="0" y="295655"/>
                </a:lnTo>
                <a:lnTo>
                  <a:pt x="977" y="319909"/>
                </a:lnTo>
                <a:lnTo>
                  <a:pt x="8570" y="366717"/>
                </a:lnTo>
                <a:lnTo>
                  <a:pt x="23174" y="410753"/>
                </a:lnTo>
                <a:lnTo>
                  <a:pt x="44182" y="451410"/>
                </a:lnTo>
                <a:lnTo>
                  <a:pt x="70986" y="488080"/>
                </a:lnTo>
                <a:lnTo>
                  <a:pt x="102980" y="520154"/>
                </a:lnTo>
                <a:lnTo>
                  <a:pt x="139556" y="547024"/>
                </a:lnTo>
                <a:lnTo>
                  <a:pt x="180108" y="568082"/>
                </a:lnTo>
                <a:lnTo>
                  <a:pt x="224027" y="582721"/>
                </a:lnTo>
                <a:lnTo>
                  <a:pt x="270708" y="590332"/>
                </a:lnTo>
                <a:lnTo>
                  <a:pt x="294894" y="591311"/>
                </a:lnTo>
                <a:lnTo>
                  <a:pt x="319079" y="590332"/>
                </a:lnTo>
                <a:lnTo>
                  <a:pt x="365760" y="582721"/>
                </a:lnTo>
                <a:lnTo>
                  <a:pt x="409679" y="568082"/>
                </a:lnTo>
                <a:lnTo>
                  <a:pt x="450231" y="547024"/>
                </a:lnTo>
                <a:lnTo>
                  <a:pt x="486807" y="520154"/>
                </a:lnTo>
                <a:lnTo>
                  <a:pt x="492646" y="514730"/>
                </a:lnTo>
                <a:lnTo>
                  <a:pt x="294894" y="514730"/>
                </a:lnTo>
                <a:lnTo>
                  <a:pt x="276992" y="514005"/>
                </a:lnTo>
                <a:lnTo>
                  <a:pt x="225902" y="503566"/>
                </a:lnTo>
                <a:lnTo>
                  <a:pt x="179916" y="481917"/>
                </a:lnTo>
                <a:lnTo>
                  <a:pt x="140550" y="450580"/>
                </a:lnTo>
                <a:lnTo>
                  <a:pt x="109322" y="411072"/>
                </a:lnTo>
                <a:lnTo>
                  <a:pt x="87747" y="364915"/>
                </a:lnTo>
                <a:lnTo>
                  <a:pt x="77342" y="313628"/>
                </a:lnTo>
                <a:lnTo>
                  <a:pt x="76619" y="295655"/>
                </a:lnTo>
                <a:lnTo>
                  <a:pt x="77342" y="277683"/>
                </a:lnTo>
                <a:lnTo>
                  <a:pt x="87747" y="226396"/>
                </a:lnTo>
                <a:lnTo>
                  <a:pt x="109322" y="180239"/>
                </a:lnTo>
                <a:lnTo>
                  <a:pt x="140550" y="140731"/>
                </a:lnTo>
                <a:lnTo>
                  <a:pt x="179916" y="109394"/>
                </a:lnTo>
                <a:lnTo>
                  <a:pt x="225902" y="87745"/>
                </a:lnTo>
                <a:lnTo>
                  <a:pt x="276992" y="77306"/>
                </a:lnTo>
                <a:lnTo>
                  <a:pt x="294894" y="76580"/>
                </a:lnTo>
                <a:lnTo>
                  <a:pt x="492646" y="76580"/>
                </a:lnTo>
                <a:lnTo>
                  <a:pt x="486807" y="71157"/>
                </a:lnTo>
                <a:lnTo>
                  <a:pt x="450231" y="44287"/>
                </a:lnTo>
                <a:lnTo>
                  <a:pt x="409679" y="23229"/>
                </a:lnTo>
                <a:lnTo>
                  <a:pt x="365760" y="8590"/>
                </a:lnTo>
                <a:lnTo>
                  <a:pt x="319079" y="979"/>
                </a:lnTo>
                <a:lnTo>
                  <a:pt x="294894" y="0"/>
                </a:lnTo>
                <a:close/>
              </a:path>
              <a:path w="589915" h="591820">
                <a:moveTo>
                  <a:pt x="492646" y="76580"/>
                </a:moveTo>
                <a:lnTo>
                  <a:pt x="294894" y="76580"/>
                </a:lnTo>
                <a:lnTo>
                  <a:pt x="312795" y="77306"/>
                </a:lnTo>
                <a:lnTo>
                  <a:pt x="330298" y="79447"/>
                </a:lnTo>
                <a:lnTo>
                  <a:pt x="379855" y="93791"/>
                </a:lnTo>
                <a:lnTo>
                  <a:pt x="423803" y="118838"/>
                </a:lnTo>
                <a:lnTo>
                  <a:pt x="460625" y="153068"/>
                </a:lnTo>
                <a:lnTo>
                  <a:pt x="488805" y="194961"/>
                </a:lnTo>
                <a:lnTo>
                  <a:pt x="506825" y="242996"/>
                </a:lnTo>
                <a:lnTo>
                  <a:pt x="513168" y="295655"/>
                </a:lnTo>
                <a:lnTo>
                  <a:pt x="512445" y="313628"/>
                </a:lnTo>
                <a:lnTo>
                  <a:pt x="502040" y="364915"/>
                </a:lnTo>
                <a:lnTo>
                  <a:pt x="480465" y="411072"/>
                </a:lnTo>
                <a:lnTo>
                  <a:pt x="449237" y="450580"/>
                </a:lnTo>
                <a:lnTo>
                  <a:pt x="409871" y="481917"/>
                </a:lnTo>
                <a:lnTo>
                  <a:pt x="363885" y="503566"/>
                </a:lnTo>
                <a:lnTo>
                  <a:pt x="312795" y="514005"/>
                </a:lnTo>
                <a:lnTo>
                  <a:pt x="294894" y="514730"/>
                </a:lnTo>
                <a:lnTo>
                  <a:pt x="492646" y="514730"/>
                </a:lnTo>
                <a:lnTo>
                  <a:pt x="532890" y="470282"/>
                </a:lnTo>
                <a:lnTo>
                  <a:pt x="556872" y="431542"/>
                </a:lnTo>
                <a:lnTo>
                  <a:pt x="574754" y="389119"/>
                </a:lnTo>
                <a:lnTo>
                  <a:pt x="585928" y="343621"/>
                </a:lnTo>
                <a:lnTo>
                  <a:pt x="589788" y="295655"/>
                </a:lnTo>
                <a:lnTo>
                  <a:pt x="588810" y="271402"/>
                </a:lnTo>
                <a:lnTo>
                  <a:pt x="581217" y="224594"/>
                </a:lnTo>
                <a:lnTo>
                  <a:pt x="566613" y="180558"/>
                </a:lnTo>
                <a:lnTo>
                  <a:pt x="545605" y="139901"/>
                </a:lnTo>
                <a:lnTo>
                  <a:pt x="518801" y="103231"/>
                </a:lnTo>
                <a:lnTo>
                  <a:pt x="503415" y="86582"/>
                </a:lnTo>
                <a:lnTo>
                  <a:pt x="492646" y="76580"/>
                </a:lnTo>
                <a:close/>
              </a:path>
            </a:pathLst>
          </a:custGeom>
          <a:solidFill>
            <a:srgbClr val="FFFFFF"/>
          </a:solidFill>
        </p:spPr>
        <p:txBody>
          <a:bodyPr wrap="square" lIns="0" tIns="0" rIns="0" bIns="0" rtlCol="0"/>
          <a:lstStyle/>
          <a:p>
            <a:endParaRPr/>
          </a:p>
        </p:txBody>
      </p:sp>
      <p:sp>
        <p:nvSpPr>
          <p:cNvPr id="26" name="object 26"/>
          <p:cNvSpPr/>
          <p:nvPr/>
        </p:nvSpPr>
        <p:spPr>
          <a:xfrm>
            <a:off x="170687" y="3509771"/>
            <a:ext cx="589915" cy="591820"/>
          </a:xfrm>
          <a:custGeom>
            <a:avLst/>
            <a:gdLst/>
            <a:ahLst/>
            <a:cxnLst/>
            <a:rect l="l" t="t" r="r" b="b"/>
            <a:pathLst>
              <a:path w="589915" h="591820">
                <a:moveTo>
                  <a:pt x="0" y="295655"/>
                </a:moveTo>
                <a:lnTo>
                  <a:pt x="3859" y="247690"/>
                </a:lnTo>
                <a:lnTo>
                  <a:pt x="15033" y="202192"/>
                </a:lnTo>
                <a:lnTo>
                  <a:pt x="32915" y="159769"/>
                </a:lnTo>
                <a:lnTo>
                  <a:pt x="56897" y="121029"/>
                </a:lnTo>
                <a:lnTo>
                  <a:pt x="86372" y="86582"/>
                </a:lnTo>
                <a:lnTo>
                  <a:pt x="120733" y="57034"/>
                </a:lnTo>
                <a:lnTo>
                  <a:pt x="159373" y="32993"/>
                </a:lnTo>
                <a:lnTo>
                  <a:pt x="201684" y="15069"/>
                </a:lnTo>
                <a:lnTo>
                  <a:pt x="247060" y="3868"/>
                </a:lnTo>
                <a:lnTo>
                  <a:pt x="294894" y="0"/>
                </a:lnTo>
                <a:lnTo>
                  <a:pt x="319079" y="979"/>
                </a:lnTo>
                <a:lnTo>
                  <a:pt x="365760" y="8590"/>
                </a:lnTo>
                <a:lnTo>
                  <a:pt x="409679" y="23229"/>
                </a:lnTo>
                <a:lnTo>
                  <a:pt x="450231" y="44287"/>
                </a:lnTo>
                <a:lnTo>
                  <a:pt x="486807" y="71157"/>
                </a:lnTo>
                <a:lnTo>
                  <a:pt x="518801" y="103231"/>
                </a:lnTo>
                <a:lnTo>
                  <a:pt x="545605" y="139901"/>
                </a:lnTo>
                <a:lnTo>
                  <a:pt x="566613" y="180558"/>
                </a:lnTo>
                <a:lnTo>
                  <a:pt x="581217" y="224594"/>
                </a:lnTo>
                <a:lnTo>
                  <a:pt x="588810" y="271402"/>
                </a:lnTo>
                <a:lnTo>
                  <a:pt x="589788" y="295655"/>
                </a:lnTo>
                <a:lnTo>
                  <a:pt x="588810" y="319909"/>
                </a:lnTo>
                <a:lnTo>
                  <a:pt x="581217" y="366717"/>
                </a:lnTo>
                <a:lnTo>
                  <a:pt x="566613" y="410753"/>
                </a:lnTo>
                <a:lnTo>
                  <a:pt x="545605" y="451410"/>
                </a:lnTo>
                <a:lnTo>
                  <a:pt x="518801" y="488080"/>
                </a:lnTo>
                <a:lnTo>
                  <a:pt x="486807" y="520154"/>
                </a:lnTo>
                <a:lnTo>
                  <a:pt x="450231" y="547024"/>
                </a:lnTo>
                <a:lnTo>
                  <a:pt x="409679" y="568082"/>
                </a:lnTo>
                <a:lnTo>
                  <a:pt x="365760" y="582721"/>
                </a:lnTo>
                <a:lnTo>
                  <a:pt x="319079" y="590332"/>
                </a:lnTo>
                <a:lnTo>
                  <a:pt x="294894" y="591311"/>
                </a:lnTo>
                <a:lnTo>
                  <a:pt x="270708" y="590332"/>
                </a:lnTo>
                <a:lnTo>
                  <a:pt x="224027" y="582721"/>
                </a:lnTo>
                <a:lnTo>
                  <a:pt x="180108" y="568082"/>
                </a:lnTo>
                <a:lnTo>
                  <a:pt x="139556" y="547024"/>
                </a:lnTo>
                <a:lnTo>
                  <a:pt x="102980" y="520154"/>
                </a:lnTo>
                <a:lnTo>
                  <a:pt x="70986" y="488080"/>
                </a:lnTo>
                <a:lnTo>
                  <a:pt x="44182" y="451410"/>
                </a:lnTo>
                <a:lnTo>
                  <a:pt x="23174" y="410753"/>
                </a:lnTo>
                <a:lnTo>
                  <a:pt x="8570" y="366717"/>
                </a:lnTo>
                <a:lnTo>
                  <a:pt x="977" y="319909"/>
                </a:lnTo>
                <a:lnTo>
                  <a:pt x="0" y="295655"/>
                </a:lnTo>
                <a:close/>
              </a:path>
            </a:pathLst>
          </a:custGeom>
          <a:ln w="12192">
            <a:solidFill>
              <a:srgbClr val="41709C"/>
            </a:solidFill>
          </a:ln>
        </p:spPr>
        <p:txBody>
          <a:bodyPr wrap="square" lIns="0" tIns="0" rIns="0" bIns="0" rtlCol="0"/>
          <a:lstStyle/>
          <a:p>
            <a:endParaRPr/>
          </a:p>
        </p:txBody>
      </p:sp>
      <p:sp>
        <p:nvSpPr>
          <p:cNvPr id="27" name="object 27"/>
          <p:cNvSpPr/>
          <p:nvPr/>
        </p:nvSpPr>
        <p:spPr>
          <a:xfrm>
            <a:off x="247307" y="3586353"/>
            <a:ext cx="436880" cy="438150"/>
          </a:xfrm>
          <a:custGeom>
            <a:avLst/>
            <a:gdLst/>
            <a:ahLst/>
            <a:cxnLst/>
            <a:rect l="l" t="t" r="r" b="b"/>
            <a:pathLst>
              <a:path w="436880" h="438150">
                <a:moveTo>
                  <a:pt x="0" y="219075"/>
                </a:moveTo>
                <a:lnTo>
                  <a:pt x="6343" y="271734"/>
                </a:lnTo>
                <a:lnTo>
                  <a:pt x="24363" y="319769"/>
                </a:lnTo>
                <a:lnTo>
                  <a:pt x="52543" y="361662"/>
                </a:lnTo>
                <a:lnTo>
                  <a:pt x="89365" y="395892"/>
                </a:lnTo>
                <a:lnTo>
                  <a:pt x="133313" y="420939"/>
                </a:lnTo>
                <a:lnTo>
                  <a:pt x="182869" y="435283"/>
                </a:lnTo>
                <a:lnTo>
                  <a:pt x="218274" y="438150"/>
                </a:lnTo>
                <a:lnTo>
                  <a:pt x="236176" y="437424"/>
                </a:lnTo>
                <a:lnTo>
                  <a:pt x="287266" y="426985"/>
                </a:lnTo>
                <a:lnTo>
                  <a:pt x="333252" y="405336"/>
                </a:lnTo>
                <a:lnTo>
                  <a:pt x="372618" y="373999"/>
                </a:lnTo>
                <a:lnTo>
                  <a:pt x="403846" y="334491"/>
                </a:lnTo>
                <a:lnTo>
                  <a:pt x="425421" y="288334"/>
                </a:lnTo>
                <a:lnTo>
                  <a:pt x="435826" y="237047"/>
                </a:lnTo>
                <a:lnTo>
                  <a:pt x="436549" y="219075"/>
                </a:lnTo>
                <a:lnTo>
                  <a:pt x="435826" y="201102"/>
                </a:lnTo>
                <a:lnTo>
                  <a:pt x="425421" y="149815"/>
                </a:lnTo>
                <a:lnTo>
                  <a:pt x="403846" y="103658"/>
                </a:lnTo>
                <a:lnTo>
                  <a:pt x="372618" y="64150"/>
                </a:lnTo>
                <a:lnTo>
                  <a:pt x="333252" y="32813"/>
                </a:lnTo>
                <a:lnTo>
                  <a:pt x="287266" y="11164"/>
                </a:lnTo>
                <a:lnTo>
                  <a:pt x="236176" y="725"/>
                </a:lnTo>
                <a:lnTo>
                  <a:pt x="218274" y="0"/>
                </a:lnTo>
                <a:lnTo>
                  <a:pt x="200373" y="725"/>
                </a:lnTo>
                <a:lnTo>
                  <a:pt x="149283" y="11164"/>
                </a:lnTo>
                <a:lnTo>
                  <a:pt x="103297" y="32813"/>
                </a:lnTo>
                <a:lnTo>
                  <a:pt x="63931" y="64150"/>
                </a:lnTo>
                <a:lnTo>
                  <a:pt x="32702" y="103658"/>
                </a:lnTo>
                <a:lnTo>
                  <a:pt x="11127" y="149815"/>
                </a:lnTo>
                <a:lnTo>
                  <a:pt x="723" y="201102"/>
                </a:lnTo>
                <a:lnTo>
                  <a:pt x="0" y="219075"/>
                </a:lnTo>
                <a:close/>
              </a:path>
            </a:pathLst>
          </a:custGeom>
          <a:ln w="12192">
            <a:solidFill>
              <a:srgbClr val="41709C"/>
            </a:solidFill>
          </a:ln>
        </p:spPr>
        <p:txBody>
          <a:bodyPr wrap="square" lIns="0" tIns="0" rIns="0" bIns="0" rtlCol="0"/>
          <a:lstStyle/>
          <a:p>
            <a:endParaRPr/>
          </a:p>
        </p:txBody>
      </p:sp>
      <p:sp>
        <p:nvSpPr>
          <p:cNvPr id="28" name="object 28"/>
          <p:cNvSpPr/>
          <p:nvPr/>
        </p:nvSpPr>
        <p:spPr>
          <a:xfrm>
            <a:off x="237743" y="4314444"/>
            <a:ext cx="455930" cy="455930"/>
          </a:xfrm>
          <a:custGeom>
            <a:avLst/>
            <a:gdLst/>
            <a:ahLst/>
            <a:cxnLst/>
            <a:rect l="l" t="t" r="r" b="b"/>
            <a:pathLst>
              <a:path w="455930" h="455929">
                <a:moveTo>
                  <a:pt x="227837" y="0"/>
                </a:moveTo>
                <a:lnTo>
                  <a:pt x="173085" y="6620"/>
                </a:lnTo>
                <a:lnTo>
                  <a:pt x="123133" y="25426"/>
                </a:lnTo>
                <a:lnTo>
                  <a:pt x="79563" y="54836"/>
                </a:lnTo>
                <a:lnTo>
                  <a:pt x="43959" y="93268"/>
                </a:lnTo>
                <a:lnTo>
                  <a:pt x="17904" y="139142"/>
                </a:lnTo>
                <a:lnTo>
                  <a:pt x="2982" y="190875"/>
                </a:lnTo>
                <a:lnTo>
                  <a:pt x="0" y="227837"/>
                </a:lnTo>
                <a:lnTo>
                  <a:pt x="755" y="246527"/>
                </a:lnTo>
                <a:lnTo>
                  <a:pt x="11615" y="299862"/>
                </a:lnTo>
                <a:lnTo>
                  <a:pt x="34135" y="347864"/>
                </a:lnTo>
                <a:lnTo>
                  <a:pt x="66732" y="388953"/>
                </a:lnTo>
                <a:lnTo>
                  <a:pt x="107822" y="421546"/>
                </a:lnTo>
                <a:lnTo>
                  <a:pt x="155823" y="444063"/>
                </a:lnTo>
                <a:lnTo>
                  <a:pt x="209151" y="454920"/>
                </a:lnTo>
                <a:lnTo>
                  <a:pt x="227837" y="455675"/>
                </a:lnTo>
                <a:lnTo>
                  <a:pt x="246524" y="454920"/>
                </a:lnTo>
                <a:lnTo>
                  <a:pt x="299852" y="444063"/>
                </a:lnTo>
                <a:lnTo>
                  <a:pt x="347853" y="421546"/>
                </a:lnTo>
                <a:lnTo>
                  <a:pt x="388943" y="388953"/>
                </a:lnTo>
                <a:lnTo>
                  <a:pt x="421540" y="347864"/>
                </a:lnTo>
                <a:lnTo>
                  <a:pt x="444060" y="299862"/>
                </a:lnTo>
                <a:lnTo>
                  <a:pt x="454920" y="246527"/>
                </a:lnTo>
                <a:lnTo>
                  <a:pt x="455676" y="227837"/>
                </a:lnTo>
                <a:lnTo>
                  <a:pt x="454920" y="209148"/>
                </a:lnTo>
                <a:lnTo>
                  <a:pt x="444060" y="155813"/>
                </a:lnTo>
                <a:lnTo>
                  <a:pt x="421540" y="107811"/>
                </a:lnTo>
                <a:lnTo>
                  <a:pt x="388943" y="66722"/>
                </a:lnTo>
                <a:lnTo>
                  <a:pt x="347853" y="34129"/>
                </a:lnTo>
                <a:lnTo>
                  <a:pt x="299852" y="11612"/>
                </a:lnTo>
                <a:lnTo>
                  <a:pt x="246524" y="755"/>
                </a:lnTo>
                <a:lnTo>
                  <a:pt x="227837" y="0"/>
                </a:lnTo>
                <a:close/>
              </a:path>
            </a:pathLst>
          </a:custGeom>
          <a:solidFill>
            <a:srgbClr val="0066FF"/>
          </a:solidFill>
        </p:spPr>
        <p:txBody>
          <a:bodyPr wrap="square" lIns="0" tIns="0" rIns="0" bIns="0" rtlCol="0"/>
          <a:lstStyle/>
          <a:p>
            <a:endParaRPr/>
          </a:p>
        </p:txBody>
      </p:sp>
      <p:sp>
        <p:nvSpPr>
          <p:cNvPr id="29" name="object 29"/>
          <p:cNvSpPr txBox="1"/>
          <p:nvPr/>
        </p:nvSpPr>
        <p:spPr>
          <a:xfrm>
            <a:off x="347573" y="4376248"/>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3</a:t>
            </a:r>
            <a:endParaRPr sz="2800">
              <a:latin typeface="Arial Rounded MT Bold"/>
              <a:cs typeface="Arial Rounded MT Bold"/>
            </a:endParaRPr>
          </a:p>
        </p:txBody>
      </p:sp>
      <p:sp>
        <p:nvSpPr>
          <p:cNvPr id="30" name="object 30"/>
          <p:cNvSpPr/>
          <p:nvPr/>
        </p:nvSpPr>
        <p:spPr>
          <a:xfrm>
            <a:off x="170687" y="4247388"/>
            <a:ext cx="589915" cy="589915"/>
          </a:xfrm>
          <a:custGeom>
            <a:avLst/>
            <a:gdLst/>
            <a:ahLst/>
            <a:cxnLst/>
            <a:rect l="l" t="t" r="r" b="b"/>
            <a:pathLst>
              <a:path w="589915" h="589914">
                <a:moveTo>
                  <a:pt x="294894" y="0"/>
                </a:moveTo>
                <a:lnTo>
                  <a:pt x="247060" y="3861"/>
                </a:lnTo>
                <a:lnTo>
                  <a:pt x="201684" y="15038"/>
                </a:lnTo>
                <a:lnTo>
                  <a:pt x="159373" y="32925"/>
                </a:lnTo>
                <a:lnTo>
                  <a:pt x="120733" y="56912"/>
                </a:lnTo>
                <a:lnTo>
                  <a:pt x="86372" y="86391"/>
                </a:lnTo>
                <a:lnTo>
                  <a:pt x="56897" y="120755"/>
                </a:lnTo>
                <a:lnTo>
                  <a:pt x="32915" y="159395"/>
                </a:lnTo>
                <a:lnTo>
                  <a:pt x="15033" y="201704"/>
                </a:lnTo>
                <a:lnTo>
                  <a:pt x="3859" y="247073"/>
                </a:lnTo>
                <a:lnTo>
                  <a:pt x="0" y="294894"/>
                </a:lnTo>
                <a:lnTo>
                  <a:pt x="977" y="319072"/>
                </a:lnTo>
                <a:lnTo>
                  <a:pt x="8570" y="365743"/>
                </a:lnTo>
                <a:lnTo>
                  <a:pt x="23174" y="409658"/>
                </a:lnTo>
                <a:lnTo>
                  <a:pt x="44182" y="450208"/>
                </a:lnTo>
                <a:lnTo>
                  <a:pt x="70986" y="486786"/>
                </a:lnTo>
                <a:lnTo>
                  <a:pt x="102980" y="518784"/>
                </a:lnTo>
                <a:lnTo>
                  <a:pt x="139556" y="545593"/>
                </a:lnTo>
                <a:lnTo>
                  <a:pt x="180108" y="566606"/>
                </a:lnTo>
                <a:lnTo>
                  <a:pt x="224027" y="581214"/>
                </a:lnTo>
                <a:lnTo>
                  <a:pt x="270708" y="588810"/>
                </a:lnTo>
                <a:lnTo>
                  <a:pt x="294894" y="589788"/>
                </a:lnTo>
                <a:lnTo>
                  <a:pt x="319079" y="588810"/>
                </a:lnTo>
                <a:lnTo>
                  <a:pt x="365760" y="581214"/>
                </a:lnTo>
                <a:lnTo>
                  <a:pt x="409679" y="566606"/>
                </a:lnTo>
                <a:lnTo>
                  <a:pt x="450231" y="545593"/>
                </a:lnTo>
                <a:lnTo>
                  <a:pt x="486807" y="518784"/>
                </a:lnTo>
                <a:lnTo>
                  <a:pt x="492827" y="513206"/>
                </a:lnTo>
                <a:lnTo>
                  <a:pt x="294894" y="513206"/>
                </a:lnTo>
                <a:lnTo>
                  <a:pt x="276992" y="512482"/>
                </a:lnTo>
                <a:lnTo>
                  <a:pt x="225902" y="502072"/>
                </a:lnTo>
                <a:lnTo>
                  <a:pt x="179916" y="480487"/>
                </a:lnTo>
                <a:lnTo>
                  <a:pt x="140550" y="449246"/>
                </a:lnTo>
                <a:lnTo>
                  <a:pt x="109322" y="409870"/>
                </a:lnTo>
                <a:lnTo>
                  <a:pt x="87747" y="363879"/>
                </a:lnTo>
                <a:lnTo>
                  <a:pt x="77342" y="312792"/>
                </a:lnTo>
                <a:lnTo>
                  <a:pt x="76619" y="294894"/>
                </a:lnTo>
                <a:lnTo>
                  <a:pt x="77342" y="276995"/>
                </a:lnTo>
                <a:lnTo>
                  <a:pt x="87747" y="225908"/>
                </a:lnTo>
                <a:lnTo>
                  <a:pt x="109322" y="179917"/>
                </a:lnTo>
                <a:lnTo>
                  <a:pt x="140550" y="140541"/>
                </a:lnTo>
                <a:lnTo>
                  <a:pt x="179916" y="109300"/>
                </a:lnTo>
                <a:lnTo>
                  <a:pt x="225902" y="87715"/>
                </a:lnTo>
                <a:lnTo>
                  <a:pt x="276992" y="77305"/>
                </a:lnTo>
                <a:lnTo>
                  <a:pt x="294894" y="76581"/>
                </a:lnTo>
                <a:lnTo>
                  <a:pt x="492827" y="76581"/>
                </a:lnTo>
                <a:lnTo>
                  <a:pt x="486807" y="71003"/>
                </a:lnTo>
                <a:lnTo>
                  <a:pt x="450231" y="44194"/>
                </a:lnTo>
                <a:lnTo>
                  <a:pt x="409679" y="23181"/>
                </a:lnTo>
                <a:lnTo>
                  <a:pt x="365760" y="8573"/>
                </a:lnTo>
                <a:lnTo>
                  <a:pt x="319079" y="977"/>
                </a:lnTo>
                <a:lnTo>
                  <a:pt x="294894" y="0"/>
                </a:lnTo>
                <a:close/>
              </a:path>
              <a:path w="589915" h="589914">
                <a:moveTo>
                  <a:pt x="492827" y="76581"/>
                </a:moveTo>
                <a:lnTo>
                  <a:pt x="294894" y="76581"/>
                </a:lnTo>
                <a:lnTo>
                  <a:pt x="312795" y="77305"/>
                </a:lnTo>
                <a:lnTo>
                  <a:pt x="330298" y="79439"/>
                </a:lnTo>
                <a:lnTo>
                  <a:pt x="379855" y="93743"/>
                </a:lnTo>
                <a:lnTo>
                  <a:pt x="423803" y="118716"/>
                </a:lnTo>
                <a:lnTo>
                  <a:pt x="460625" y="152837"/>
                </a:lnTo>
                <a:lnTo>
                  <a:pt x="488805" y="194587"/>
                </a:lnTo>
                <a:lnTo>
                  <a:pt x="506825" y="242446"/>
                </a:lnTo>
                <a:lnTo>
                  <a:pt x="513168" y="294894"/>
                </a:lnTo>
                <a:lnTo>
                  <a:pt x="512445" y="312792"/>
                </a:lnTo>
                <a:lnTo>
                  <a:pt x="502040" y="363879"/>
                </a:lnTo>
                <a:lnTo>
                  <a:pt x="480465" y="409870"/>
                </a:lnTo>
                <a:lnTo>
                  <a:pt x="449237" y="449246"/>
                </a:lnTo>
                <a:lnTo>
                  <a:pt x="409871" y="480487"/>
                </a:lnTo>
                <a:lnTo>
                  <a:pt x="363885" y="502072"/>
                </a:lnTo>
                <a:lnTo>
                  <a:pt x="312795" y="512482"/>
                </a:lnTo>
                <a:lnTo>
                  <a:pt x="294894" y="513206"/>
                </a:lnTo>
                <a:lnTo>
                  <a:pt x="492827" y="513206"/>
                </a:lnTo>
                <a:lnTo>
                  <a:pt x="532890" y="469032"/>
                </a:lnTo>
                <a:lnTo>
                  <a:pt x="556872" y="430392"/>
                </a:lnTo>
                <a:lnTo>
                  <a:pt x="574754" y="388083"/>
                </a:lnTo>
                <a:lnTo>
                  <a:pt x="585928" y="342714"/>
                </a:lnTo>
                <a:lnTo>
                  <a:pt x="589788" y="294894"/>
                </a:lnTo>
                <a:lnTo>
                  <a:pt x="588810" y="270715"/>
                </a:lnTo>
                <a:lnTo>
                  <a:pt x="581217" y="224044"/>
                </a:lnTo>
                <a:lnTo>
                  <a:pt x="566613" y="180129"/>
                </a:lnTo>
                <a:lnTo>
                  <a:pt x="545605" y="139579"/>
                </a:lnTo>
                <a:lnTo>
                  <a:pt x="518801" y="103001"/>
                </a:lnTo>
                <a:lnTo>
                  <a:pt x="503415" y="86391"/>
                </a:lnTo>
                <a:lnTo>
                  <a:pt x="492827" y="76581"/>
                </a:lnTo>
                <a:close/>
              </a:path>
            </a:pathLst>
          </a:custGeom>
          <a:solidFill>
            <a:srgbClr val="FFFFFF"/>
          </a:solidFill>
        </p:spPr>
        <p:txBody>
          <a:bodyPr wrap="square" lIns="0" tIns="0" rIns="0" bIns="0" rtlCol="0"/>
          <a:lstStyle/>
          <a:p>
            <a:endParaRPr/>
          </a:p>
        </p:txBody>
      </p:sp>
      <p:sp>
        <p:nvSpPr>
          <p:cNvPr id="31" name="object 31"/>
          <p:cNvSpPr/>
          <p:nvPr/>
        </p:nvSpPr>
        <p:spPr>
          <a:xfrm>
            <a:off x="170687" y="4247388"/>
            <a:ext cx="589915" cy="589915"/>
          </a:xfrm>
          <a:custGeom>
            <a:avLst/>
            <a:gdLst/>
            <a:ahLst/>
            <a:cxnLst/>
            <a:rect l="l" t="t" r="r" b="b"/>
            <a:pathLst>
              <a:path w="589915" h="589914">
                <a:moveTo>
                  <a:pt x="0" y="294894"/>
                </a:moveTo>
                <a:lnTo>
                  <a:pt x="3859" y="247073"/>
                </a:lnTo>
                <a:lnTo>
                  <a:pt x="15033" y="201704"/>
                </a:lnTo>
                <a:lnTo>
                  <a:pt x="32915" y="159395"/>
                </a:lnTo>
                <a:lnTo>
                  <a:pt x="56897" y="120755"/>
                </a:lnTo>
                <a:lnTo>
                  <a:pt x="86372" y="86391"/>
                </a:lnTo>
                <a:lnTo>
                  <a:pt x="120733" y="56912"/>
                </a:lnTo>
                <a:lnTo>
                  <a:pt x="159373" y="32925"/>
                </a:lnTo>
                <a:lnTo>
                  <a:pt x="201684" y="15038"/>
                </a:lnTo>
                <a:lnTo>
                  <a:pt x="247060" y="3861"/>
                </a:lnTo>
                <a:lnTo>
                  <a:pt x="294894" y="0"/>
                </a:lnTo>
                <a:lnTo>
                  <a:pt x="319079" y="977"/>
                </a:lnTo>
                <a:lnTo>
                  <a:pt x="365760" y="8573"/>
                </a:lnTo>
                <a:lnTo>
                  <a:pt x="409679" y="23181"/>
                </a:lnTo>
                <a:lnTo>
                  <a:pt x="450231" y="44194"/>
                </a:lnTo>
                <a:lnTo>
                  <a:pt x="486807" y="71003"/>
                </a:lnTo>
                <a:lnTo>
                  <a:pt x="518801" y="103001"/>
                </a:lnTo>
                <a:lnTo>
                  <a:pt x="545605" y="139579"/>
                </a:lnTo>
                <a:lnTo>
                  <a:pt x="566613" y="180129"/>
                </a:lnTo>
                <a:lnTo>
                  <a:pt x="581217" y="224044"/>
                </a:lnTo>
                <a:lnTo>
                  <a:pt x="588810" y="270715"/>
                </a:lnTo>
                <a:lnTo>
                  <a:pt x="589788" y="294894"/>
                </a:lnTo>
                <a:lnTo>
                  <a:pt x="588810" y="319072"/>
                </a:lnTo>
                <a:lnTo>
                  <a:pt x="581217" y="365743"/>
                </a:lnTo>
                <a:lnTo>
                  <a:pt x="566613" y="409658"/>
                </a:lnTo>
                <a:lnTo>
                  <a:pt x="545605" y="450208"/>
                </a:lnTo>
                <a:lnTo>
                  <a:pt x="518801" y="486786"/>
                </a:lnTo>
                <a:lnTo>
                  <a:pt x="486807" y="518784"/>
                </a:lnTo>
                <a:lnTo>
                  <a:pt x="450231" y="545593"/>
                </a:lnTo>
                <a:lnTo>
                  <a:pt x="409679" y="566606"/>
                </a:lnTo>
                <a:lnTo>
                  <a:pt x="365760" y="581214"/>
                </a:lnTo>
                <a:lnTo>
                  <a:pt x="319079" y="588810"/>
                </a:lnTo>
                <a:lnTo>
                  <a:pt x="294894" y="589788"/>
                </a:lnTo>
                <a:lnTo>
                  <a:pt x="270708" y="588810"/>
                </a:lnTo>
                <a:lnTo>
                  <a:pt x="224027" y="581214"/>
                </a:lnTo>
                <a:lnTo>
                  <a:pt x="180108" y="566606"/>
                </a:lnTo>
                <a:lnTo>
                  <a:pt x="139556" y="545593"/>
                </a:lnTo>
                <a:lnTo>
                  <a:pt x="102980" y="518784"/>
                </a:lnTo>
                <a:lnTo>
                  <a:pt x="70986" y="486786"/>
                </a:lnTo>
                <a:lnTo>
                  <a:pt x="44182" y="450208"/>
                </a:lnTo>
                <a:lnTo>
                  <a:pt x="23174" y="409658"/>
                </a:lnTo>
                <a:lnTo>
                  <a:pt x="8570"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32" name="object 32"/>
          <p:cNvSpPr/>
          <p:nvPr/>
        </p:nvSpPr>
        <p:spPr>
          <a:xfrm>
            <a:off x="247307" y="4323969"/>
            <a:ext cx="436880" cy="436880"/>
          </a:xfrm>
          <a:custGeom>
            <a:avLst/>
            <a:gdLst/>
            <a:ahLst/>
            <a:cxnLst/>
            <a:rect l="l" t="t" r="r" b="b"/>
            <a:pathLst>
              <a:path w="436880" h="436879">
                <a:moveTo>
                  <a:pt x="0" y="218312"/>
                </a:moveTo>
                <a:lnTo>
                  <a:pt x="6343" y="270760"/>
                </a:lnTo>
                <a:lnTo>
                  <a:pt x="24363" y="318619"/>
                </a:lnTo>
                <a:lnTo>
                  <a:pt x="52543" y="360369"/>
                </a:lnTo>
                <a:lnTo>
                  <a:pt x="89365" y="394490"/>
                </a:lnTo>
                <a:lnTo>
                  <a:pt x="133313" y="419463"/>
                </a:lnTo>
                <a:lnTo>
                  <a:pt x="182869" y="433767"/>
                </a:lnTo>
                <a:lnTo>
                  <a:pt x="218274" y="436625"/>
                </a:lnTo>
                <a:lnTo>
                  <a:pt x="236176" y="435901"/>
                </a:lnTo>
                <a:lnTo>
                  <a:pt x="287266" y="425491"/>
                </a:lnTo>
                <a:lnTo>
                  <a:pt x="333252" y="403906"/>
                </a:lnTo>
                <a:lnTo>
                  <a:pt x="372618" y="372665"/>
                </a:lnTo>
                <a:lnTo>
                  <a:pt x="403846" y="333289"/>
                </a:lnTo>
                <a:lnTo>
                  <a:pt x="425421" y="287298"/>
                </a:lnTo>
                <a:lnTo>
                  <a:pt x="435826" y="236211"/>
                </a:lnTo>
                <a:lnTo>
                  <a:pt x="436549" y="218312"/>
                </a:lnTo>
                <a:lnTo>
                  <a:pt x="435826" y="200414"/>
                </a:lnTo>
                <a:lnTo>
                  <a:pt x="425421" y="149327"/>
                </a:lnTo>
                <a:lnTo>
                  <a:pt x="403846" y="103336"/>
                </a:lnTo>
                <a:lnTo>
                  <a:pt x="372618" y="63960"/>
                </a:lnTo>
                <a:lnTo>
                  <a:pt x="333252" y="32719"/>
                </a:lnTo>
                <a:lnTo>
                  <a:pt x="287266" y="11134"/>
                </a:lnTo>
                <a:lnTo>
                  <a:pt x="236176" y="724"/>
                </a:lnTo>
                <a:lnTo>
                  <a:pt x="218274" y="0"/>
                </a:lnTo>
                <a:lnTo>
                  <a:pt x="200373" y="724"/>
                </a:lnTo>
                <a:lnTo>
                  <a:pt x="149283" y="11134"/>
                </a:lnTo>
                <a:lnTo>
                  <a:pt x="103297" y="32719"/>
                </a:lnTo>
                <a:lnTo>
                  <a:pt x="63931" y="63960"/>
                </a:lnTo>
                <a:lnTo>
                  <a:pt x="32702" y="103336"/>
                </a:lnTo>
                <a:lnTo>
                  <a:pt x="11127" y="149327"/>
                </a:lnTo>
                <a:lnTo>
                  <a:pt x="723" y="200414"/>
                </a:lnTo>
                <a:lnTo>
                  <a:pt x="0" y="218312"/>
                </a:lnTo>
                <a:close/>
              </a:path>
            </a:pathLst>
          </a:custGeom>
          <a:ln w="12192">
            <a:solidFill>
              <a:srgbClr val="41709C"/>
            </a:solidFill>
          </a:ln>
        </p:spPr>
        <p:txBody>
          <a:bodyPr wrap="square" lIns="0" tIns="0" rIns="0" bIns="0" rtlCol="0"/>
          <a:lstStyle/>
          <a:p>
            <a:endParaRPr/>
          </a:p>
        </p:txBody>
      </p:sp>
      <p:sp>
        <p:nvSpPr>
          <p:cNvPr id="33" name="object 33"/>
          <p:cNvSpPr/>
          <p:nvPr/>
        </p:nvSpPr>
        <p:spPr>
          <a:xfrm>
            <a:off x="237743" y="5047488"/>
            <a:ext cx="455930" cy="455930"/>
          </a:xfrm>
          <a:custGeom>
            <a:avLst/>
            <a:gdLst/>
            <a:ahLst/>
            <a:cxnLst/>
            <a:rect l="l" t="t" r="r" b="b"/>
            <a:pathLst>
              <a:path w="455930" h="455929">
                <a:moveTo>
                  <a:pt x="227837" y="0"/>
                </a:moveTo>
                <a:lnTo>
                  <a:pt x="173085" y="6620"/>
                </a:lnTo>
                <a:lnTo>
                  <a:pt x="123133" y="25426"/>
                </a:lnTo>
                <a:lnTo>
                  <a:pt x="79563" y="54836"/>
                </a:lnTo>
                <a:lnTo>
                  <a:pt x="43959" y="93268"/>
                </a:lnTo>
                <a:lnTo>
                  <a:pt x="17904" y="139142"/>
                </a:lnTo>
                <a:lnTo>
                  <a:pt x="2982" y="190875"/>
                </a:lnTo>
                <a:lnTo>
                  <a:pt x="0" y="227837"/>
                </a:lnTo>
                <a:lnTo>
                  <a:pt x="755" y="246527"/>
                </a:lnTo>
                <a:lnTo>
                  <a:pt x="11615" y="299862"/>
                </a:lnTo>
                <a:lnTo>
                  <a:pt x="34135" y="347864"/>
                </a:lnTo>
                <a:lnTo>
                  <a:pt x="66732" y="388953"/>
                </a:lnTo>
                <a:lnTo>
                  <a:pt x="107822" y="421546"/>
                </a:lnTo>
                <a:lnTo>
                  <a:pt x="155823" y="444063"/>
                </a:lnTo>
                <a:lnTo>
                  <a:pt x="209151" y="454920"/>
                </a:lnTo>
                <a:lnTo>
                  <a:pt x="227837" y="455675"/>
                </a:lnTo>
                <a:lnTo>
                  <a:pt x="246524" y="454920"/>
                </a:lnTo>
                <a:lnTo>
                  <a:pt x="299852" y="444063"/>
                </a:lnTo>
                <a:lnTo>
                  <a:pt x="347853" y="421546"/>
                </a:lnTo>
                <a:lnTo>
                  <a:pt x="388943" y="388953"/>
                </a:lnTo>
                <a:lnTo>
                  <a:pt x="421540" y="347864"/>
                </a:lnTo>
                <a:lnTo>
                  <a:pt x="444060" y="299862"/>
                </a:lnTo>
                <a:lnTo>
                  <a:pt x="454920" y="246527"/>
                </a:lnTo>
                <a:lnTo>
                  <a:pt x="455676" y="227837"/>
                </a:lnTo>
                <a:lnTo>
                  <a:pt x="454920" y="209148"/>
                </a:lnTo>
                <a:lnTo>
                  <a:pt x="444060" y="155813"/>
                </a:lnTo>
                <a:lnTo>
                  <a:pt x="421540" y="107811"/>
                </a:lnTo>
                <a:lnTo>
                  <a:pt x="388943" y="66722"/>
                </a:lnTo>
                <a:lnTo>
                  <a:pt x="347853" y="34129"/>
                </a:lnTo>
                <a:lnTo>
                  <a:pt x="299852" y="11612"/>
                </a:lnTo>
                <a:lnTo>
                  <a:pt x="246524" y="755"/>
                </a:lnTo>
                <a:lnTo>
                  <a:pt x="227837" y="0"/>
                </a:lnTo>
                <a:close/>
              </a:path>
            </a:pathLst>
          </a:custGeom>
          <a:solidFill>
            <a:srgbClr val="0066FF"/>
          </a:solidFill>
        </p:spPr>
        <p:txBody>
          <a:bodyPr wrap="square" lIns="0" tIns="0" rIns="0" bIns="0" rtlCol="0"/>
          <a:lstStyle/>
          <a:p>
            <a:endParaRPr/>
          </a:p>
        </p:txBody>
      </p:sp>
      <p:sp>
        <p:nvSpPr>
          <p:cNvPr id="34" name="object 34"/>
          <p:cNvSpPr txBox="1"/>
          <p:nvPr/>
        </p:nvSpPr>
        <p:spPr>
          <a:xfrm>
            <a:off x="347573" y="5109546"/>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4</a:t>
            </a:r>
            <a:endParaRPr sz="2800">
              <a:latin typeface="Arial Rounded MT Bold"/>
              <a:cs typeface="Arial Rounded MT Bold"/>
            </a:endParaRPr>
          </a:p>
        </p:txBody>
      </p:sp>
      <p:sp>
        <p:nvSpPr>
          <p:cNvPr id="35" name="object 35"/>
          <p:cNvSpPr/>
          <p:nvPr/>
        </p:nvSpPr>
        <p:spPr>
          <a:xfrm>
            <a:off x="170687" y="4980432"/>
            <a:ext cx="589915" cy="589915"/>
          </a:xfrm>
          <a:custGeom>
            <a:avLst/>
            <a:gdLst/>
            <a:ahLst/>
            <a:cxnLst/>
            <a:rect l="l" t="t" r="r" b="b"/>
            <a:pathLst>
              <a:path w="589915" h="589914">
                <a:moveTo>
                  <a:pt x="294894" y="0"/>
                </a:moveTo>
                <a:lnTo>
                  <a:pt x="247060" y="3861"/>
                </a:lnTo>
                <a:lnTo>
                  <a:pt x="201684" y="15038"/>
                </a:lnTo>
                <a:lnTo>
                  <a:pt x="159373" y="32925"/>
                </a:lnTo>
                <a:lnTo>
                  <a:pt x="120733" y="56912"/>
                </a:lnTo>
                <a:lnTo>
                  <a:pt x="86372" y="86391"/>
                </a:lnTo>
                <a:lnTo>
                  <a:pt x="56897" y="120755"/>
                </a:lnTo>
                <a:lnTo>
                  <a:pt x="32915" y="159395"/>
                </a:lnTo>
                <a:lnTo>
                  <a:pt x="15033" y="201704"/>
                </a:lnTo>
                <a:lnTo>
                  <a:pt x="3859" y="247073"/>
                </a:lnTo>
                <a:lnTo>
                  <a:pt x="0" y="294894"/>
                </a:lnTo>
                <a:lnTo>
                  <a:pt x="977" y="319072"/>
                </a:lnTo>
                <a:lnTo>
                  <a:pt x="8570" y="365743"/>
                </a:lnTo>
                <a:lnTo>
                  <a:pt x="23174" y="409658"/>
                </a:lnTo>
                <a:lnTo>
                  <a:pt x="44182" y="450208"/>
                </a:lnTo>
                <a:lnTo>
                  <a:pt x="70986" y="486786"/>
                </a:lnTo>
                <a:lnTo>
                  <a:pt x="102980" y="518784"/>
                </a:lnTo>
                <a:lnTo>
                  <a:pt x="139556" y="545593"/>
                </a:lnTo>
                <a:lnTo>
                  <a:pt x="180108" y="566606"/>
                </a:lnTo>
                <a:lnTo>
                  <a:pt x="224027" y="581214"/>
                </a:lnTo>
                <a:lnTo>
                  <a:pt x="270708" y="588810"/>
                </a:lnTo>
                <a:lnTo>
                  <a:pt x="294894" y="589788"/>
                </a:lnTo>
                <a:lnTo>
                  <a:pt x="319079" y="588810"/>
                </a:lnTo>
                <a:lnTo>
                  <a:pt x="365760" y="581214"/>
                </a:lnTo>
                <a:lnTo>
                  <a:pt x="409679" y="566606"/>
                </a:lnTo>
                <a:lnTo>
                  <a:pt x="450231" y="545593"/>
                </a:lnTo>
                <a:lnTo>
                  <a:pt x="486807" y="518784"/>
                </a:lnTo>
                <a:lnTo>
                  <a:pt x="492827" y="513207"/>
                </a:lnTo>
                <a:lnTo>
                  <a:pt x="294894" y="513207"/>
                </a:lnTo>
                <a:lnTo>
                  <a:pt x="276992" y="512482"/>
                </a:lnTo>
                <a:lnTo>
                  <a:pt x="225902" y="502072"/>
                </a:lnTo>
                <a:lnTo>
                  <a:pt x="179916" y="480487"/>
                </a:lnTo>
                <a:lnTo>
                  <a:pt x="140550" y="449246"/>
                </a:lnTo>
                <a:lnTo>
                  <a:pt x="109322" y="409870"/>
                </a:lnTo>
                <a:lnTo>
                  <a:pt x="87747" y="363879"/>
                </a:lnTo>
                <a:lnTo>
                  <a:pt x="77342" y="312792"/>
                </a:lnTo>
                <a:lnTo>
                  <a:pt x="76619" y="294894"/>
                </a:lnTo>
                <a:lnTo>
                  <a:pt x="77342" y="276995"/>
                </a:lnTo>
                <a:lnTo>
                  <a:pt x="87747" y="225908"/>
                </a:lnTo>
                <a:lnTo>
                  <a:pt x="109322" y="179917"/>
                </a:lnTo>
                <a:lnTo>
                  <a:pt x="140550" y="140541"/>
                </a:lnTo>
                <a:lnTo>
                  <a:pt x="179916" y="109300"/>
                </a:lnTo>
                <a:lnTo>
                  <a:pt x="225902" y="87715"/>
                </a:lnTo>
                <a:lnTo>
                  <a:pt x="276992" y="77305"/>
                </a:lnTo>
                <a:lnTo>
                  <a:pt x="294894" y="76581"/>
                </a:lnTo>
                <a:lnTo>
                  <a:pt x="492827" y="76581"/>
                </a:lnTo>
                <a:lnTo>
                  <a:pt x="486807" y="71003"/>
                </a:lnTo>
                <a:lnTo>
                  <a:pt x="450231" y="44194"/>
                </a:lnTo>
                <a:lnTo>
                  <a:pt x="409679" y="23181"/>
                </a:lnTo>
                <a:lnTo>
                  <a:pt x="365760" y="8573"/>
                </a:lnTo>
                <a:lnTo>
                  <a:pt x="319079" y="977"/>
                </a:lnTo>
                <a:lnTo>
                  <a:pt x="294894" y="0"/>
                </a:lnTo>
                <a:close/>
              </a:path>
              <a:path w="589915" h="589914">
                <a:moveTo>
                  <a:pt x="492827" y="76581"/>
                </a:moveTo>
                <a:lnTo>
                  <a:pt x="294894" y="76581"/>
                </a:lnTo>
                <a:lnTo>
                  <a:pt x="312795" y="77305"/>
                </a:lnTo>
                <a:lnTo>
                  <a:pt x="330298" y="79439"/>
                </a:lnTo>
                <a:lnTo>
                  <a:pt x="379855" y="93743"/>
                </a:lnTo>
                <a:lnTo>
                  <a:pt x="423803" y="118716"/>
                </a:lnTo>
                <a:lnTo>
                  <a:pt x="460625" y="152837"/>
                </a:lnTo>
                <a:lnTo>
                  <a:pt x="488805" y="194587"/>
                </a:lnTo>
                <a:lnTo>
                  <a:pt x="506825" y="242446"/>
                </a:lnTo>
                <a:lnTo>
                  <a:pt x="513168" y="294894"/>
                </a:lnTo>
                <a:lnTo>
                  <a:pt x="512445" y="312792"/>
                </a:lnTo>
                <a:lnTo>
                  <a:pt x="502040" y="363879"/>
                </a:lnTo>
                <a:lnTo>
                  <a:pt x="480465" y="409870"/>
                </a:lnTo>
                <a:lnTo>
                  <a:pt x="449237" y="449246"/>
                </a:lnTo>
                <a:lnTo>
                  <a:pt x="409871" y="480487"/>
                </a:lnTo>
                <a:lnTo>
                  <a:pt x="363885" y="502072"/>
                </a:lnTo>
                <a:lnTo>
                  <a:pt x="312795" y="512482"/>
                </a:lnTo>
                <a:lnTo>
                  <a:pt x="294894" y="513207"/>
                </a:lnTo>
                <a:lnTo>
                  <a:pt x="492827" y="513207"/>
                </a:lnTo>
                <a:lnTo>
                  <a:pt x="532890" y="469032"/>
                </a:lnTo>
                <a:lnTo>
                  <a:pt x="556872" y="430392"/>
                </a:lnTo>
                <a:lnTo>
                  <a:pt x="574754" y="388083"/>
                </a:lnTo>
                <a:lnTo>
                  <a:pt x="585928" y="342714"/>
                </a:lnTo>
                <a:lnTo>
                  <a:pt x="589788" y="294894"/>
                </a:lnTo>
                <a:lnTo>
                  <a:pt x="588810" y="270715"/>
                </a:lnTo>
                <a:lnTo>
                  <a:pt x="581217" y="224044"/>
                </a:lnTo>
                <a:lnTo>
                  <a:pt x="566613" y="180129"/>
                </a:lnTo>
                <a:lnTo>
                  <a:pt x="545605" y="139579"/>
                </a:lnTo>
                <a:lnTo>
                  <a:pt x="518801" y="103001"/>
                </a:lnTo>
                <a:lnTo>
                  <a:pt x="503415" y="86391"/>
                </a:lnTo>
                <a:lnTo>
                  <a:pt x="492827" y="76581"/>
                </a:lnTo>
                <a:close/>
              </a:path>
            </a:pathLst>
          </a:custGeom>
          <a:solidFill>
            <a:srgbClr val="FFFFFF"/>
          </a:solidFill>
        </p:spPr>
        <p:txBody>
          <a:bodyPr wrap="square" lIns="0" tIns="0" rIns="0" bIns="0" rtlCol="0"/>
          <a:lstStyle/>
          <a:p>
            <a:endParaRPr/>
          </a:p>
        </p:txBody>
      </p:sp>
      <p:sp>
        <p:nvSpPr>
          <p:cNvPr id="36" name="object 36"/>
          <p:cNvSpPr/>
          <p:nvPr/>
        </p:nvSpPr>
        <p:spPr>
          <a:xfrm>
            <a:off x="170687" y="4980432"/>
            <a:ext cx="589915" cy="589915"/>
          </a:xfrm>
          <a:custGeom>
            <a:avLst/>
            <a:gdLst/>
            <a:ahLst/>
            <a:cxnLst/>
            <a:rect l="l" t="t" r="r" b="b"/>
            <a:pathLst>
              <a:path w="589915" h="589914">
                <a:moveTo>
                  <a:pt x="0" y="294894"/>
                </a:moveTo>
                <a:lnTo>
                  <a:pt x="3859" y="247073"/>
                </a:lnTo>
                <a:lnTo>
                  <a:pt x="15033" y="201704"/>
                </a:lnTo>
                <a:lnTo>
                  <a:pt x="32915" y="159395"/>
                </a:lnTo>
                <a:lnTo>
                  <a:pt x="56897" y="120755"/>
                </a:lnTo>
                <a:lnTo>
                  <a:pt x="86372" y="86391"/>
                </a:lnTo>
                <a:lnTo>
                  <a:pt x="120733" y="56912"/>
                </a:lnTo>
                <a:lnTo>
                  <a:pt x="159373" y="32925"/>
                </a:lnTo>
                <a:lnTo>
                  <a:pt x="201684" y="15038"/>
                </a:lnTo>
                <a:lnTo>
                  <a:pt x="247060" y="3861"/>
                </a:lnTo>
                <a:lnTo>
                  <a:pt x="294894" y="0"/>
                </a:lnTo>
                <a:lnTo>
                  <a:pt x="319079" y="977"/>
                </a:lnTo>
                <a:lnTo>
                  <a:pt x="365760" y="8573"/>
                </a:lnTo>
                <a:lnTo>
                  <a:pt x="409679" y="23181"/>
                </a:lnTo>
                <a:lnTo>
                  <a:pt x="450231" y="44194"/>
                </a:lnTo>
                <a:lnTo>
                  <a:pt x="486807" y="71003"/>
                </a:lnTo>
                <a:lnTo>
                  <a:pt x="518801" y="103001"/>
                </a:lnTo>
                <a:lnTo>
                  <a:pt x="545605" y="139579"/>
                </a:lnTo>
                <a:lnTo>
                  <a:pt x="566613" y="180129"/>
                </a:lnTo>
                <a:lnTo>
                  <a:pt x="581217" y="224044"/>
                </a:lnTo>
                <a:lnTo>
                  <a:pt x="588810" y="270715"/>
                </a:lnTo>
                <a:lnTo>
                  <a:pt x="589788" y="294894"/>
                </a:lnTo>
                <a:lnTo>
                  <a:pt x="588810" y="319072"/>
                </a:lnTo>
                <a:lnTo>
                  <a:pt x="581217" y="365743"/>
                </a:lnTo>
                <a:lnTo>
                  <a:pt x="566613" y="409658"/>
                </a:lnTo>
                <a:lnTo>
                  <a:pt x="545605" y="450208"/>
                </a:lnTo>
                <a:lnTo>
                  <a:pt x="518801" y="486786"/>
                </a:lnTo>
                <a:lnTo>
                  <a:pt x="486807" y="518784"/>
                </a:lnTo>
                <a:lnTo>
                  <a:pt x="450231" y="545593"/>
                </a:lnTo>
                <a:lnTo>
                  <a:pt x="409679" y="566606"/>
                </a:lnTo>
                <a:lnTo>
                  <a:pt x="365760" y="581214"/>
                </a:lnTo>
                <a:lnTo>
                  <a:pt x="319079" y="588810"/>
                </a:lnTo>
                <a:lnTo>
                  <a:pt x="294894" y="589788"/>
                </a:lnTo>
                <a:lnTo>
                  <a:pt x="270708" y="588810"/>
                </a:lnTo>
                <a:lnTo>
                  <a:pt x="224027" y="581214"/>
                </a:lnTo>
                <a:lnTo>
                  <a:pt x="180108" y="566606"/>
                </a:lnTo>
                <a:lnTo>
                  <a:pt x="139556" y="545593"/>
                </a:lnTo>
                <a:lnTo>
                  <a:pt x="102980" y="518784"/>
                </a:lnTo>
                <a:lnTo>
                  <a:pt x="70986" y="486786"/>
                </a:lnTo>
                <a:lnTo>
                  <a:pt x="44182" y="450208"/>
                </a:lnTo>
                <a:lnTo>
                  <a:pt x="23174" y="409658"/>
                </a:lnTo>
                <a:lnTo>
                  <a:pt x="8570"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37" name="object 37"/>
          <p:cNvSpPr/>
          <p:nvPr/>
        </p:nvSpPr>
        <p:spPr>
          <a:xfrm>
            <a:off x="247307" y="5057013"/>
            <a:ext cx="436880" cy="436880"/>
          </a:xfrm>
          <a:custGeom>
            <a:avLst/>
            <a:gdLst/>
            <a:ahLst/>
            <a:cxnLst/>
            <a:rect l="l" t="t" r="r" b="b"/>
            <a:pathLst>
              <a:path w="436880" h="436879">
                <a:moveTo>
                  <a:pt x="0" y="218312"/>
                </a:moveTo>
                <a:lnTo>
                  <a:pt x="6343" y="270760"/>
                </a:lnTo>
                <a:lnTo>
                  <a:pt x="24363" y="318619"/>
                </a:lnTo>
                <a:lnTo>
                  <a:pt x="52543" y="360369"/>
                </a:lnTo>
                <a:lnTo>
                  <a:pt x="89365" y="394490"/>
                </a:lnTo>
                <a:lnTo>
                  <a:pt x="133313" y="419463"/>
                </a:lnTo>
                <a:lnTo>
                  <a:pt x="182869" y="433767"/>
                </a:lnTo>
                <a:lnTo>
                  <a:pt x="218274" y="436625"/>
                </a:lnTo>
                <a:lnTo>
                  <a:pt x="236176" y="435901"/>
                </a:lnTo>
                <a:lnTo>
                  <a:pt x="287266" y="425491"/>
                </a:lnTo>
                <a:lnTo>
                  <a:pt x="333252" y="403906"/>
                </a:lnTo>
                <a:lnTo>
                  <a:pt x="372618" y="372665"/>
                </a:lnTo>
                <a:lnTo>
                  <a:pt x="403846" y="333289"/>
                </a:lnTo>
                <a:lnTo>
                  <a:pt x="425421" y="287298"/>
                </a:lnTo>
                <a:lnTo>
                  <a:pt x="435826" y="236211"/>
                </a:lnTo>
                <a:lnTo>
                  <a:pt x="436549" y="218312"/>
                </a:lnTo>
                <a:lnTo>
                  <a:pt x="435826" y="200414"/>
                </a:lnTo>
                <a:lnTo>
                  <a:pt x="425421" y="149327"/>
                </a:lnTo>
                <a:lnTo>
                  <a:pt x="403846" y="103336"/>
                </a:lnTo>
                <a:lnTo>
                  <a:pt x="372618" y="63960"/>
                </a:lnTo>
                <a:lnTo>
                  <a:pt x="333252" y="32719"/>
                </a:lnTo>
                <a:lnTo>
                  <a:pt x="287266" y="11134"/>
                </a:lnTo>
                <a:lnTo>
                  <a:pt x="236176" y="724"/>
                </a:lnTo>
                <a:lnTo>
                  <a:pt x="218274" y="0"/>
                </a:lnTo>
                <a:lnTo>
                  <a:pt x="200373" y="724"/>
                </a:lnTo>
                <a:lnTo>
                  <a:pt x="149283" y="11134"/>
                </a:lnTo>
                <a:lnTo>
                  <a:pt x="103297" y="32719"/>
                </a:lnTo>
                <a:lnTo>
                  <a:pt x="63931" y="63960"/>
                </a:lnTo>
                <a:lnTo>
                  <a:pt x="32702" y="103336"/>
                </a:lnTo>
                <a:lnTo>
                  <a:pt x="11127" y="149327"/>
                </a:lnTo>
                <a:lnTo>
                  <a:pt x="723" y="200414"/>
                </a:lnTo>
                <a:lnTo>
                  <a:pt x="0" y="218312"/>
                </a:lnTo>
                <a:close/>
              </a:path>
            </a:pathLst>
          </a:custGeom>
          <a:ln w="12192">
            <a:solidFill>
              <a:srgbClr val="41709C"/>
            </a:solidFill>
          </a:ln>
        </p:spPr>
        <p:txBody>
          <a:bodyPr wrap="square" lIns="0" tIns="0" rIns="0" bIns="0" rtlCol="0"/>
          <a:lstStyle/>
          <a:p>
            <a:endParaRPr/>
          </a:p>
        </p:txBody>
      </p:sp>
      <p:sp>
        <p:nvSpPr>
          <p:cNvPr id="38" name="object 38"/>
          <p:cNvSpPr/>
          <p:nvPr/>
        </p:nvSpPr>
        <p:spPr>
          <a:xfrm>
            <a:off x="237743" y="5774435"/>
            <a:ext cx="455930" cy="455930"/>
          </a:xfrm>
          <a:custGeom>
            <a:avLst/>
            <a:gdLst/>
            <a:ahLst/>
            <a:cxnLst/>
            <a:rect l="l" t="t" r="r" b="b"/>
            <a:pathLst>
              <a:path w="455930" h="455929">
                <a:moveTo>
                  <a:pt x="227837" y="0"/>
                </a:moveTo>
                <a:lnTo>
                  <a:pt x="173085" y="6621"/>
                </a:lnTo>
                <a:lnTo>
                  <a:pt x="123133" y="25430"/>
                </a:lnTo>
                <a:lnTo>
                  <a:pt x="79563" y="54844"/>
                </a:lnTo>
                <a:lnTo>
                  <a:pt x="43959" y="93279"/>
                </a:lnTo>
                <a:lnTo>
                  <a:pt x="17904" y="139153"/>
                </a:lnTo>
                <a:lnTo>
                  <a:pt x="2982" y="190881"/>
                </a:lnTo>
                <a:lnTo>
                  <a:pt x="0" y="227837"/>
                </a:lnTo>
                <a:lnTo>
                  <a:pt x="755" y="246524"/>
                </a:lnTo>
                <a:lnTo>
                  <a:pt x="11615" y="299852"/>
                </a:lnTo>
                <a:lnTo>
                  <a:pt x="34135" y="347853"/>
                </a:lnTo>
                <a:lnTo>
                  <a:pt x="66732" y="388943"/>
                </a:lnTo>
                <a:lnTo>
                  <a:pt x="107822" y="421540"/>
                </a:lnTo>
                <a:lnTo>
                  <a:pt x="155823" y="444060"/>
                </a:lnTo>
                <a:lnTo>
                  <a:pt x="209151" y="454920"/>
                </a:lnTo>
                <a:lnTo>
                  <a:pt x="227837" y="455675"/>
                </a:lnTo>
                <a:lnTo>
                  <a:pt x="246524" y="454920"/>
                </a:lnTo>
                <a:lnTo>
                  <a:pt x="299852" y="444060"/>
                </a:lnTo>
                <a:lnTo>
                  <a:pt x="347853" y="421540"/>
                </a:lnTo>
                <a:lnTo>
                  <a:pt x="388943" y="388943"/>
                </a:lnTo>
                <a:lnTo>
                  <a:pt x="421540" y="347853"/>
                </a:lnTo>
                <a:lnTo>
                  <a:pt x="444060" y="299852"/>
                </a:lnTo>
                <a:lnTo>
                  <a:pt x="454920" y="246524"/>
                </a:lnTo>
                <a:lnTo>
                  <a:pt x="455676" y="227837"/>
                </a:lnTo>
                <a:lnTo>
                  <a:pt x="454920" y="209151"/>
                </a:lnTo>
                <a:lnTo>
                  <a:pt x="444060" y="155823"/>
                </a:lnTo>
                <a:lnTo>
                  <a:pt x="421540" y="107822"/>
                </a:lnTo>
                <a:lnTo>
                  <a:pt x="388943" y="66732"/>
                </a:lnTo>
                <a:lnTo>
                  <a:pt x="347853" y="34135"/>
                </a:lnTo>
                <a:lnTo>
                  <a:pt x="299852" y="11615"/>
                </a:lnTo>
                <a:lnTo>
                  <a:pt x="246524" y="755"/>
                </a:lnTo>
                <a:lnTo>
                  <a:pt x="227837" y="0"/>
                </a:lnTo>
                <a:close/>
              </a:path>
            </a:pathLst>
          </a:custGeom>
          <a:solidFill>
            <a:srgbClr val="0066FF"/>
          </a:solidFill>
        </p:spPr>
        <p:txBody>
          <a:bodyPr wrap="square" lIns="0" tIns="0" rIns="0" bIns="0" rtlCol="0"/>
          <a:lstStyle/>
          <a:p>
            <a:endParaRPr/>
          </a:p>
        </p:txBody>
      </p:sp>
      <p:sp>
        <p:nvSpPr>
          <p:cNvPr id="39" name="object 39"/>
          <p:cNvSpPr txBox="1"/>
          <p:nvPr/>
        </p:nvSpPr>
        <p:spPr>
          <a:xfrm>
            <a:off x="347573" y="5836520"/>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5</a:t>
            </a:r>
            <a:endParaRPr sz="2800">
              <a:latin typeface="Arial Rounded MT Bold"/>
              <a:cs typeface="Arial Rounded MT Bold"/>
            </a:endParaRPr>
          </a:p>
        </p:txBody>
      </p:sp>
      <p:sp>
        <p:nvSpPr>
          <p:cNvPr id="40" name="object 40"/>
          <p:cNvSpPr/>
          <p:nvPr/>
        </p:nvSpPr>
        <p:spPr>
          <a:xfrm>
            <a:off x="170687" y="5707379"/>
            <a:ext cx="589915" cy="589915"/>
          </a:xfrm>
          <a:custGeom>
            <a:avLst/>
            <a:gdLst/>
            <a:ahLst/>
            <a:cxnLst/>
            <a:rect l="l" t="t" r="r" b="b"/>
            <a:pathLst>
              <a:path w="589915" h="589914">
                <a:moveTo>
                  <a:pt x="294894" y="0"/>
                </a:moveTo>
                <a:lnTo>
                  <a:pt x="247060" y="3859"/>
                </a:lnTo>
                <a:lnTo>
                  <a:pt x="201684" y="15033"/>
                </a:lnTo>
                <a:lnTo>
                  <a:pt x="159373" y="32915"/>
                </a:lnTo>
                <a:lnTo>
                  <a:pt x="120733" y="56897"/>
                </a:lnTo>
                <a:lnTo>
                  <a:pt x="86372" y="86372"/>
                </a:lnTo>
                <a:lnTo>
                  <a:pt x="56897" y="120733"/>
                </a:lnTo>
                <a:lnTo>
                  <a:pt x="32915" y="159373"/>
                </a:lnTo>
                <a:lnTo>
                  <a:pt x="15033" y="201684"/>
                </a:lnTo>
                <a:lnTo>
                  <a:pt x="3859" y="247060"/>
                </a:lnTo>
                <a:lnTo>
                  <a:pt x="0" y="294894"/>
                </a:lnTo>
                <a:lnTo>
                  <a:pt x="977" y="319079"/>
                </a:lnTo>
                <a:lnTo>
                  <a:pt x="8570" y="365760"/>
                </a:lnTo>
                <a:lnTo>
                  <a:pt x="23174" y="409679"/>
                </a:lnTo>
                <a:lnTo>
                  <a:pt x="44182" y="450231"/>
                </a:lnTo>
                <a:lnTo>
                  <a:pt x="70986" y="486807"/>
                </a:lnTo>
                <a:lnTo>
                  <a:pt x="102980" y="518801"/>
                </a:lnTo>
                <a:lnTo>
                  <a:pt x="139556" y="545605"/>
                </a:lnTo>
                <a:lnTo>
                  <a:pt x="180108" y="566613"/>
                </a:lnTo>
                <a:lnTo>
                  <a:pt x="224027" y="581217"/>
                </a:lnTo>
                <a:lnTo>
                  <a:pt x="270708" y="588810"/>
                </a:lnTo>
                <a:lnTo>
                  <a:pt x="294894" y="589788"/>
                </a:lnTo>
                <a:lnTo>
                  <a:pt x="319079" y="588810"/>
                </a:lnTo>
                <a:lnTo>
                  <a:pt x="365760" y="581217"/>
                </a:lnTo>
                <a:lnTo>
                  <a:pt x="409679" y="566613"/>
                </a:lnTo>
                <a:lnTo>
                  <a:pt x="450231" y="545605"/>
                </a:lnTo>
                <a:lnTo>
                  <a:pt x="486807" y="518801"/>
                </a:lnTo>
                <a:lnTo>
                  <a:pt x="492887" y="513168"/>
                </a:lnTo>
                <a:lnTo>
                  <a:pt x="294894" y="513168"/>
                </a:lnTo>
                <a:lnTo>
                  <a:pt x="276992" y="512445"/>
                </a:lnTo>
                <a:lnTo>
                  <a:pt x="225902" y="502040"/>
                </a:lnTo>
                <a:lnTo>
                  <a:pt x="179916" y="480465"/>
                </a:lnTo>
                <a:lnTo>
                  <a:pt x="140550" y="449237"/>
                </a:lnTo>
                <a:lnTo>
                  <a:pt x="109322" y="409871"/>
                </a:lnTo>
                <a:lnTo>
                  <a:pt x="87747" y="363885"/>
                </a:lnTo>
                <a:lnTo>
                  <a:pt x="77342" y="312795"/>
                </a:lnTo>
                <a:lnTo>
                  <a:pt x="76619" y="294894"/>
                </a:lnTo>
                <a:lnTo>
                  <a:pt x="77342" y="276992"/>
                </a:lnTo>
                <a:lnTo>
                  <a:pt x="87747" y="225902"/>
                </a:lnTo>
                <a:lnTo>
                  <a:pt x="109322" y="179916"/>
                </a:lnTo>
                <a:lnTo>
                  <a:pt x="140550" y="140550"/>
                </a:lnTo>
                <a:lnTo>
                  <a:pt x="179916" y="109322"/>
                </a:lnTo>
                <a:lnTo>
                  <a:pt x="225902" y="87747"/>
                </a:lnTo>
                <a:lnTo>
                  <a:pt x="276992" y="77342"/>
                </a:lnTo>
                <a:lnTo>
                  <a:pt x="294894" y="76619"/>
                </a:lnTo>
                <a:lnTo>
                  <a:pt x="492887" y="76619"/>
                </a:lnTo>
                <a:lnTo>
                  <a:pt x="486807" y="70986"/>
                </a:lnTo>
                <a:lnTo>
                  <a:pt x="450231" y="44182"/>
                </a:lnTo>
                <a:lnTo>
                  <a:pt x="409679" y="23174"/>
                </a:lnTo>
                <a:lnTo>
                  <a:pt x="365760" y="8570"/>
                </a:lnTo>
                <a:lnTo>
                  <a:pt x="319079" y="977"/>
                </a:lnTo>
                <a:lnTo>
                  <a:pt x="294894" y="0"/>
                </a:lnTo>
                <a:close/>
              </a:path>
              <a:path w="589915" h="589914">
                <a:moveTo>
                  <a:pt x="492887" y="76619"/>
                </a:moveTo>
                <a:lnTo>
                  <a:pt x="294894" y="76619"/>
                </a:lnTo>
                <a:lnTo>
                  <a:pt x="312795" y="77342"/>
                </a:lnTo>
                <a:lnTo>
                  <a:pt x="330298" y="79475"/>
                </a:lnTo>
                <a:lnTo>
                  <a:pt x="379855" y="93772"/>
                </a:lnTo>
                <a:lnTo>
                  <a:pt x="423803" y="118733"/>
                </a:lnTo>
                <a:lnTo>
                  <a:pt x="460625" y="152843"/>
                </a:lnTo>
                <a:lnTo>
                  <a:pt x="488805" y="194584"/>
                </a:lnTo>
                <a:lnTo>
                  <a:pt x="506825" y="242440"/>
                </a:lnTo>
                <a:lnTo>
                  <a:pt x="513168" y="294894"/>
                </a:lnTo>
                <a:lnTo>
                  <a:pt x="512445" y="312795"/>
                </a:lnTo>
                <a:lnTo>
                  <a:pt x="502040" y="363885"/>
                </a:lnTo>
                <a:lnTo>
                  <a:pt x="480465" y="409871"/>
                </a:lnTo>
                <a:lnTo>
                  <a:pt x="449237" y="449237"/>
                </a:lnTo>
                <a:lnTo>
                  <a:pt x="409871" y="480465"/>
                </a:lnTo>
                <a:lnTo>
                  <a:pt x="363885" y="502040"/>
                </a:lnTo>
                <a:lnTo>
                  <a:pt x="312795" y="512445"/>
                </a:lnTo>
                <a:lnTo>
                  <a:pt x="294894" y="513168"/>
                </a:lnTo>
                <a:lnTo>
                  <a:pt x="492887" y="513168"/>
                </a:lnTo>
                <a:lnTo>
                  <a:pt x="532890" y="469054"/>
                </a:lnTo>
                <a:lnTo>
                  <a:pt x="556872" y="430414"/>
                </a:lnTo>
                <a:lnTo>
                  <a:pt x="574754" y="388103"/>
                </a:lnTo>
                <a:lnTo>
                  <a:pt x="585928" y="342727"/>
                </a:lnTo>
                <a:lnTo>
                  <a:pt x="589788" y="294894"/>
                </a:lnTo>
                <a:lnTo>
                  <a:pt x="588810" y="270708"/>
                </a:lnTo>
                <a:lnTo>
                  <a:pt x="581217" y="224027"/>
                </a:lnTo>
                <a:lnTo>
                  <a:pt x="566613" y="180108"/>
                </a:lnTo>
                <a:lnTo>
                  <a:pt x="545605" y="139556"/>
                </a:lnTo>
                <a:lnTo>
                  <a:pt x="518801" y="102980"/>
                </a:lnTo>
                <a:lnTo>
                  <a:pt x="503415" y="86372"/>
                </a:lnTo>
                <a:lnTo>
                  <a:pt x="492887" y="76619"/>
                </a:lnTo>
                <a:close/>
              </a:path>
            </a:pathLst>
          </a:custGeom>
          <a:solidFill>
            <a:srgbClr val="FFFFFF"/>
          </a:solidFill>
        </p:spPr>
        <p:txBody>
          <a:bodyPr wrap="square" lIns="0" tIns="0" rIns="0" bIns="0" rtlCol="0"/>
          <a:lstStyle/>
          <a:p>
            <a:endParaRPr/>
          </a:p>
        </p:txBody>
      </p:sp>
      <p:sp>
        <p:nvSpPr>
          <p:cNvPr id="41" name="object 41"/>
          <p:cNvSpPr/>
          <p:nvPr/>
        </p:nvSpPr>
        <p:spPr>
          <a:xfrm>
            <a:off x="170687" y="5707379"/>
            <a:ext cx="589915" cy="589915"/>
          </a:xfrm>
          <a:custGeom>
            <a:avLst/>
            <a:gdLst/>
            <a:ahLst/>
            <a:cxnLst/>
            <a:rect l="l" t="t" r="r" b="b"/>
            <a:pathLst>
              <a:path w="589915" h="589914">
                <a:moveTo>
                  <a:pt x="0" y="294894"/>
                </a:moveTo>
                <a:lnTo>
                  <a:pt x="3859" y="247060"/>
                </a:lnTo>
                <a:lnTo>
                  <a:pt x="15033" y="201684"/>
                </a:lnTo>
                <a:lnTo>
                  <a:pt x="32915" y="159373"/>
                </a:lnTo>
                <a:lnTo>
                  <a:pt x="56897" y="120733"/>
                </a:lnTo>
                <a:lnTo>
                  <a:pt x="86372" y="86372"/>
                </a:lnTo>
                <a:lnTo>
                  <a:pt x="120733" y="56897"/>
                </a:lnTo>
                <a:lnTo>
                  <a:pt x="159373" y="32915"/>
                </a:lnTo>
                <a:lnTo>
                  <a:pt x="201684" y="15033"/>
                </a:lnTo>
                <a:lnTo>
                  <a:pt x="247060" y="3859"/>
                </a:lnTo>
                <a:lnTo>
                  <a:pt x="294894" y="0"/>
                </a:lnTo>
                <a:lnTo>
                  <a:pt x="319079" y="977"/>
                </a:lnTo>
                <a:lnTo>
                  <a:pt x="365760" y="8570"/>
                </a:lnTo>
                <a:lnTo>
                  <a:pt x="409679" y="23174"/>
                </a:lnTo>
                <a:lnTo>
                  <a:pt x="450231" y="44182"/>
                </a:lnTo>
                <a:lnTo>
                  <a:pt x="486807" y="70986"/>
                </a:lnTo>
                <a:lnTo>
                  <a:pt x="518801" y="102980"/>
                </a:lnTo>
                <a:lnTo>
                  <a:pt x="545605" y="139556"/>
                </a:lnTo>
                <a:lnTo>
                  <a:pt x="566613" y="180108"/>
                </a:lnTo>
                <a:lnTo>
                  <a:pt x="581217" y="224027"/>
                </a:lnTo>
                <a:lnTo>
                  <a:pt x="588810" y="270708"/>
                </a:lnTo>
                <a:lnTo>
                  <a:pt x="589788" y="294894"/>
                </a:lnTo>
                <a:lnTo>
                  <a:pt x="588810" y="319079"/>
                </a:lnTo>
                <a:lnTo>
                  <a:pt x="581217" y="365760"/>
                </a:lnTo>
                <a:lnTo>
                  <a:pt x="566613" y="409679"/>
                </a:lnTo>
                <a:lnTo>
                  <a:pt x="545605" y="450231"/>
                </a:lnTo>
                <a:lnTo>
                  <a:pt x="518801" y="486807"/>
                </a:lnTo>
                <a:lnTo>
                  <a:pt x="486807" y="518801"/>
                </a:lnTo>
                <a:lnTo>
                  <a:pt x="450231" y="545605"/>
                </a:lnTo>
                <a:lnTo>
                  <a:pt x="409679" y="566613"/>
                </a:lnTo>
                <a:lnTo>
                  <a:pt x="365760" y="581217"/>
                </a:lnTo>
                <a:lnTo>
                  <a:pt x="319079" y="588810"/>
                </a:lnTo>
                <a:lnTo>
                  <a:pt x="294894" y="589788"/>
                </a:lnTo>
                <a:lnTo>
                  <a:pt x="270708" y="588810"/>
                </a:lnTo>
                <a:lnTo>
                  <a:pt x="224027" y="581217"/>
                </a:lnTo>
                <a:lnTo>
                  <a:pt x="180108" y="566613"/>
                </a:lnTo>
                <a:lnTo>
                  <a:pt x="139556" y="545605"/>
                </a:lnTo>
                <a:lnTo>
                  <a:pt x="102980" y="518801"/>
                </a:lnTo>
                <a:lnTo>
                  <a:pt x="70986" y="486807"/>
                </a:lnTo>
                <a:lnTo>
                  <a:pt x="44182" y="450231"/>
                </a:lnTo>
                <a:lnTo>
                  <a:pt x="23174" y="409679"/>
                </a:lnTo>
                <a:lnTo>
                  <a:pt x="8570" y="365760"/>
                </a:lnTo>
                <a:lnTo>
                  <a:pt x="977" y="319079"/>
                </a:lnTo>
                <a:lnTo>
                  <a:pt x="0" y="294894"/>
                </a:lnTo>
                <a:close/>
              </a:path>
            </a:pathLst>
          </a:custGeom>
          <a:ln w="12192">
            <a:solidFill>
              <a:srgbClr val="41709C"/>
            </a:solidFill>
          </a:ln>
        </p:spPr>
        <p:txBody>
          <a:bodyPr wrap="square" lIns="0" tIns="0" rIns="0" bIns="0" rtlCol="0"/>
          <a:lstStyle/>
          <a:p>
            <a:endParaRPr/>
          </a:p>
        </p:txBody>
      </p:sp>
      <p:sp>
        <p:nvSpPr>
          <p:cNvPr id="42" name="object 42"/>
          <p:cNvSpPr/>
          <p:nvPr/>
        </p:nvSpPr>
        <p:spPr>
          <a:xfrm>
            <a:off x="247307" y="5783999"/>
            <a:ext cx="436880" cy="436880"/>
          </a:xfrm>
          <a:custGeom>
            <a:avLst/>
            <a:gdLst/>
            <a:ahLst/>
            <a:cxnLst/>
            <a:rect l="l" t="t" r="r" b="b"/>
            <a:pathLst>
              <a:path w="436880" h="436879">
                <a:moveTo>
                  <a:pt x="0" y="218274"/>
                </a:moveTo>
                <a:lnTo>
                  <a:pt x="6343" y="270728"/>
                </a:lnTo>
                <a:lnTo>
                  <a:pt x="24363" y="318584"/>
                </a:lnTo>
                <a:lnTo>
                  <a:pt x="52543" y="360325"/>
                </a:lnTo>
                <a:lnTo>
                  <a:pt x="89365" y="394434"/>
                </a:lnTo>
                <a:lnTo>
                  <a:pt x="133313" y="419396"/>
                </a:lnTo>
                <a:lnTo>
                  <a:pt x="182869" y="433692"/>
                </a:lnTo>
                <a:lnTo>
                  <a:pt x="218274" y="436549"/>
                </a:lnTo>
                <a:lnTo>
                  <a:pt x="236176" y="435826"/>
                </a:lnTo>
                <a:lnTo>
                  <a:pt x="287266" y="425421"/>
                </a:lnTo>
                <a:lnTo>
                  <a:pt x="333252" y="403846"/>
                </a:lnTo>
                <a:lnTo>
                  <a:pt x="372618" y="372618"/>
                </a:lnTo>
                <a:lnTo>
                  <a:pt x="403846" y="333252"/>
                </a:lnTo>
                <a:lnTo>
                  <a:pt x="425421" y="287266"/>
                </a:lnTo>
                <a:lnTo>
                  <a:pt x="435826" y="236176"/>
                </a:lnTo>
                <a:lnTo>
                  <a:pt x="436549" y="218274"/>
                </a:lnTo>
                <a:lnTo>
                  <a:pt x="435826" y="200373"/>
                </a:lnTo>
                <a:lnTo>
                  <a:pt x="425421" y="149283"/>
                </a:lnTo>
                <a:lnTo>
                  <a:pt x="403846" y="103297"/>
                </a:lnTo>
                <a:lnTo>
                  <a:pt x="372618" y="63931"/>
                </a:lnTo>
                <a:lnTo>
                  <a:pt x="333252" y="32702"/>
                </a:lnTo>
                <a:lnTo>
                  <a:pt x="287266" y="11127"/>
                </a:lnTo>
                <a:lnTo>
                  <a:pt x="236176" y="723"/>
                </a:lnTo>
                <a:lnTo>
                  <a:pt x="218274" y="0"/>
                </a:lnTo>
                <a:lnTo>
                  <a:pt x="200373" y="723"/>
                </a:lnTo>
                <a:lnTo>
                  <a:pt x="149283" y="11127"/>
                </a:lnTo>
                <a:lnTo>
                  <a:pt x="103297" y="32702"/>
                </a:lnTo>
                <a:lnTo>
                  <a:pt x="63931" y="63931"/>
                </a:lnTo>
                <a:lnTo>
                  <a:pt x="32702" y="103297"/>
                </a:lnTo>
                <a:lnTo>
                  <a:pt x="11127" y="149283"/>
                </a:lnTo>
                <a:lnTo>
                  <a:pt x="723" y="200373"/>
                </a:lnTo>
                <a:lnTo>
                  <a:pt x="0" y="218274"/>
                </a:lnTo>
                <a:close/>
              </a:path>
            </a:pathLst>
          </a:custGeom>
          <a:ln w="12192">
            <a:solidFill>
              <a:srgbClr val="41709C"/>
            </a:solidFill>
          </a:ln>
        </p:spPr>
        <p:txBody>
          <a:bodyPr wrap="square" lIns="0" tIns="0" rIns="0" bIns="0" rtlCol="0"/>
          <a:lstStyle/>
          <a:p>
            <a:endParaRPr/>
          </a:p>
        </p:txBody>
      </p:sp>
      <p:sp>
        <p:nvSpPr>
          <p:cNvPr id="43" name="object 43"/>
          <p:cNvSpPr/>
          <p:nvPr/>
        </p:nvSpPr>
        <p:spPr>
          <a:xfrm>
            <a:off x="4885944" y="2874264"/>
            <a:ext cx="504190" cy="396240"/>
          </a:xfrm>
          <a:custGeom>
            <a:avLst/>
            <a:gdLst/>
            <a:ahLst/>
            <a:cxnLst/>
            <a:rect l="l" t="t" r="r" b="b"/>
            <a:pathLst>
              <a:path w="504189" h="396239">
                <a:moveTo>
                  <a:pt x="306069" y="0"/>
                </a:moveTo>
                <a:lnTo>
                  <a:pt x="306069" y="99060"/>
                </a:lnTo>
                <a:lnTo>
                  <a:pt x="0" y="99060"/>
                </a:lnTo>
                <a:lnTo>
                  <a:pt x="0" y="297180"/>
                </a:lnTo>
                <a:lnTo>
                  <a:pt x="306069" y="297180"/>
                </a:lnTo>
                <a:lnTo>
                  <a:pt x="306069" y="396239"/>
                </a:lnTo>
                <a:lnTo>
                  <a:pt x="504063" y="198120"/>
                </a:lnTo>
                <a:lnTo>
                  <a:pt x="306069" y="0"/>
                </a:lnTo>
                <a:close/>
              </a:path>
            </a:pathLst>
          </a:custGeom>
          <a:solidFill>
            <a:srgbClr val="D20079"/>
          </a:solidFill>
        </p:spPr>
        <p:txBody>
          <a:bodyPr wrap="square" lIns="0" tIns="0" rIns="0" bIns="0" rtlCol="0"/>
          <a:lstStyle/>
          <a:p>
            <a:endParaRPr/>
          </a:p>
        </p:txBody>
      </p:sp>
      <p:sp>
        <p:nvSpPr>
          <p:cNvPr id="44" name="object 44"/>
          <p:cNvSpPr/>
          <p:nvPr/>
        </p:nvSpPr>
        <p:spPr>
          <a:xfrm>
            <a:off x="4886705" y="2875026"/>
            <a:ext cx="504190" cy="396240"/>
          </a:xfrm>
          <a:custGeom>
            <a:avLst/>
            <a:gdLst/>
            <a:ahLst/>
            <a:cxnLst/>
            <a:rect l="l" t="t" r="r" b="b"/>
            <a:pathLst>
              <a:path w="504189" h="396239">
                <a:moveTo>
                  <a:pt x="0" y="99060"/>
                </a:moveTo>
                <a:lnTo>
                  <a:pt x="306070" y="99060"/>
                </a:lnTo>
                <a:lnTo>
                  <a:pt x="306070" y="0"/>
                </a:lnTo>
                <a:lnTo>
                  <a:pt x="504063" y="198120"/>
                </a:lnTo>
                <a:lnTo>
                  <a:pt x="306070" y="396239"/>
                </a:lnTo>
                <a:lnTo>
                  <a:pt x="306070" y="297179"/>
                </a:lnTo>
                <a:lnTo>
                  <a:pt x="0" y="297179"/>
                </a:lnTo>
                <a:lnTo>
                  <a:pt x="0" y="99060"/>
                </a:lnTo>
                <a:close/>
              </a:path>
            </a:pathLst>
          </a:custGeom>
          <a:ln w="25907">
            <a:solidFill>
              <a:srgbClr val="9B0056"/>
            </a:solidFill>
          </a:ln>
        </p:spPr>
        <p:txBody>
          <a:bodyPr wrap="square" lIns="0" tIns="0" rIns="0" bIns="0" rtlCol="0"/>
          <a:lstStyle/>
          <a:p>
            <a:endParaRPr/>
          </a:p>
        </p:txBody>
      </p:sp>
      <p:sp>
        <p:nvSpPr>
          <p:cNvPr id="45" name="object 45"/>
          <p:cNvSpPr/>
          <p:nvPr/>
        </p:nvSpPr>
        <p:spPr>
          <a:xfrm>
            <a:off x="4885944" y="3625596"/>
            <a:ext cx="504190" cy="397510"/>
          </a:xfrm>
          <a:custGeom>
            <a:avLst/>
            <a:gdLst/>
            <a:ahLst/>
            <a:cxnLst/>
            <a:rect l="l" t="t" r="r" b="b"/>
            <a:pathLst>
              <a:path w="504189" h="397510">
                <a:moveTo>
                  <a:pt x="305307" y="0"/>
                </a:moveTo>
                <a:lnTo>
                  <a:pt x="305307" y="99313"/>
                </a:lnTo>
                <a:lnTo>
                  <a:pt x="0" y="99313"/>
                </a:lnTo>
                <a:lnTo>
                  <a:pt x="0" y="298068"/>
                </a:lnTo>
                <a:lnTo>
                  <a:pt x="305307" y="298068"/>
                </a:lnTo>
                <a:lnTo>
                  <a:pt x="305307" y="397382"/>
                </a:lnTo>
                <a:lnTo>
                  <a:pt x="504063" y="198754"/>
                </a:lnTo>
                <a:lnTo>
                  <a:pt x="305307" y="0"/>
                </a:lnTo>
                <a:close/>
              </a:path>
            </a:pathLst>
          </a:custGeom>
          <a:solidFill>
            <a:srgbClr val="D20079"/>
          </a:solidFill>
        </p:spPr>
        <p:txBody>
          <a:bodyPr wrap="square" lIns="0" tIns="0" rIns="0" bIns="0" rtlCol="0"/>
          <a:lstStyle/>
          <a:p>
            <a:endParaRPr/>
          </a:p>
        </p:txBody>
      </p:sp>
      <p:sp>
        <p:nvSpPr>
          <p:cNvPr id="46" name="object 46"/>
          <p:cNvSpPr/>
          <p:nvPr/>
        </p:nvSpPr>
        <p:spPr>
          <a:xfrm>
            <a:off x="4886705" y="3626358"/>
            <a:ext cx="504190" cy="397510"/>
          </a:xfrm>
          <a:custGeom>
            <a:avLst/>
            <a:gdLst/>
            <a:ahLst/>
            <a:cxnLst/>
            <a:rect l="l" t="t" r="r" b="b"/>
            <a:pathLst>
              <a:path w="504189" h="397510">
                <a:moveTo>
                  <a:pt x="0" y="99314"/>
                </a:moveTo>
                <a:lnTo>
                  <a:pt x="305308" y="99314"/>
                </a:lnTo>
                <a:lnTo>
                  <a:pt x="305308" y="0"/>
                </a:lnTo>
                <a:lnTo>
                  <a:pt x="504063" y="198755"/>
                </a:lnTo>
                <a:lnTo>
                  <a:pt x="305308" y="397383"/>
                </a:lnTo>
                <a:lnTo>
                  <a:pt x="305308" y="298069"/>
                </a:lnTo>
                <a:lnTo>
                  <a:pt x="0" y="298069"/>
                </a:lnTo>
                <a:lnTo>
                  <a:pt x="0" y="99314"/>
                </a:lnTo>
                <a:close/>
              </a:path>
            </a:pathLst>
          </a:custGeom>
          <a:ln w="25908">
            <a:solidFill>
              <a:srgbClr val="9B0056"/>
            </a:solidFill>
          </a:ln>
        </p:spPr>
        <p:txBody>
          <a:bodyPr wrap="square" lIns="0" tIns="0" rIns="0" bIns="0" rtlCol="0"/>
          <a:lstStyle/>
          <a:p>
            <a:endParaRPr/>
          </a:p>
        </p:txBody>
      </p:sp>
      <p:sp>
        <p:nvSpPr>
          <p:cNvPr id="47" name="object 47"/>
          <p:cNvSpPr/>
          <p:nvPr/>
        </p:nvSpPr>
        <p:spPr>
          <a:xfrm>
            <a:off x="4885944" y="4343400"/>
            <a:ext cx="504190" cy="397510"/>
          </a:xfrm>
          <a:custGeom>
            <a:avLst/>
            <a:gdLst/>
            <a:ahLst/>
            <a:cxnLst/>
            <a:rect l="l" t="t" r="r" b="b"/>
            <a:pathLst>
              <a:path w="504189" h="397510">
                <a:moveTo>
                  <a:pt x="305307" y="0"/>
                </a:moveTo>
                <a:lnTo>
                  <a:pt x="305307" y="99313"/>
                </a:lnTo>
                <a:lnTo>
                  <a:pt x="0" y="99313"/>
                </a:lnTo>
                <a:lnTo>
                  <a:pt x="0" y="298069"/>
                </a:lnTo>
                <a:lnTo>
                  <a:pt x="305307" y="298069"/>
                </a:lnTo>
                <a:lnTo>
                  <a:pt x="305307" y="397382"/>
                </a:lnTo>
                <a:lnTo>
                  <a:pt x="504063" y="198627"/>
                </a:lnTo>
                <a:lnTo>
                  <a:pt x="305307" y="0"/>
                </a:lnTo>
                <a:close/>
              </a:path>
            </a:pathLst>
          </a:custGeom>
          <a:solidFill>
            <a:srgbClr val="D20079"/>
          </a:solidFill>
        </p:spPr>
        <p:txBody>
          <a:bodyPr wrap="square" lIns="0" tIns="0" rIns="0" bIns="0" rtlCol="0"/>
          <a:lstStyle/>
          <a:p>
            <a:endParaRPr/>
          </a:p>
        </p:txBody>
      </p:sp>
      <p:sp>
        <p:nvSpPr>
          <p:cNvPr id="48" name="object 48"/>
          <p:cNvSpPr/>
          <p:nvPr/>
        </p:nvSpPr>
        <p:spPr>
          <a:xfrm>
            <a:off x="4886705" y="4344161"/>
            <a:ext cx="504190" cy="397510"/>
          </a:xfrm>
          <a:custGeom>
            <a:avLst/>
            <a:gdLst/>
            <a:ahLst/>
            <a:cxnLst/>
            <a:rect l="l" t="t" r="r" b="b"/>
            <a:pathLst>
              <a:path w="504189" h="397510">
                <a:moveTo>
                  <a:pt x="0" y="99313"/>
                </a:moveTo>
                <a:lnTo>
                  <a:pt x="305308" y="99313"/>
                </a:lnTo>
                <a:lnTo>
                  <a:pt x="305308" y="0"/>
                </a:lnTo>
                <a:lnTo>
                  <a:pt x="504063" y="198627"/>
                </a:lnTo>
                <a:lnTo>
                  <a:pt x="305308" y="397382"/>
                </a:lnTo>
                <a:lnTo>
                  <a:pt x="305308" y="298069"/>
                </a:lnTo>
                <a:lnTo>
                  <a:pt x="0" y="298069"/>
                </a:lnTo>
                <a:lnTo>
                  <a:pt x="0" y="99313"/>
                </a:lnTo>
                <a:close/>
              </a:path>
            </a:pathLst>
          </a:custGeom>
          <a:ln w="25908">
            <a:solidFill>
              <a:srgbClr val="9B0056"/>
            </a:solidFill>
          </a:ln>
        </p:spPr>
        <p:txBody>
          <a:bodyPr wrap="square" lIns="0" tIns="0" rIns="0" bIns="0" rtlCol="0"/>
          <a:lstStyle/>
          <a:p>
            <a:endParaRPr/>
          </a:p>
        </p:txBody>
      </p:sp>
      <p:sp>
        <p:nvSpPr>
          <p:cNvPr id="49" name="object 49"/>
          <p:cNvSpPr/>
          <p:nvPr/>
        </p:nvSpPr>
        <p:spPr>
          <a:xfrm>
            <a:off x="4892040" y="5070347"/>
            <a:ext cx="504190" cy="396240"/>
          </a:xfrm>
          <a:custGeom>
            <a:avLst/>
            <a:gdLst/>
            <a:ahLst/>
            <a:cxnLst/>
            <a:rect l="l" t="t" r="r" b="b"/>
            <a:pathLst>
              <a:path w="504189" h="396239">
                <a:moveTo>
                  <a:pt x="306070" y="0"/>
                </a:moveTo>
                <a:lnTo>
                  <a:pt x="306070" y="99059"/>
                </a:lnTo>
                <a:lnTo>
                  <a:pt x="0" y="99059"/>
                </a:lnTo>
                <a:lnTo>
                  <a:pt x="0" y="297179"/>
                </a:lnTo>
                <a:lnTo>
                  <a:pt x="306070" y="297179"/>
                </a:lnTo>
                <a:lnTo>
                  <a:pt x="306070" y="396239"/>
                </a:lnTo>
                <a:lnTo>
                  <a:pt x="504063" y="198119"/>
                </a:lnTo>
                <a:lnTo>
                  <a:pt x="306070" y="0"/>
                </a:lnTo>
                <a:close/>
              </a:path>
            </a:pathLst>
          </a:custGeom>
          <a:solidFill>
            <a:srgbClr val="D20079"/>
          </a:solidFill>
        </p:spPr>
        <p:txBody>
          <a:bodyPr wrap="square" lIns="0" tIns="0" rIns="0" bIns="0" rtlCol="0"/>
          <a:lstStyle/>
          <a:p>
            <a:endParaRPr/>
          </a:p>
        </p:txBody>
      </p:sp>
      <p:sp>
        <p:nvSpPr>
          <p:cNvPr id="50" name="object 50"/>
          <p:cNvSpPr/>
          <p:nvPr/>
        </p:nvSpPr>
        <p:spPr>
          <a:xfrm>
            <a:off x="4892802" y="5071109"/>
            <a:ext cx="504190" cy="396240"/>
          </a:xfrm>
          <a:custGeom>
            <a:avLst/>
            <a:gdLst/>
            <a:ahLst/>
            <a:cxnLst/>
            <a:rect l="l" t="t" r="r" b="b"/>
            <a:pathLst>
              <a:path w="504189" h="396239">
                <a:moveTo>
                  <a:pt x="0" y="99059"/>
                </a:moveTo>
                <a:lnTo>
                  <a:pt x="306070" y="99059"/>
                </a:lnTo>
                <a:lnTo>
                  <a:pt x="306070" y="0"/>
                </a:lnTo>
                <a:lnTo>
                  <a:pt x="504063" y="198119"/>
                </a:lnTo>
                <a:lnTo>
                  <a:pt x="306070" y="396239"/>
                </a:lnTo>
                <a:lnTo>
                  <a:pt x="306070" y="297179"/>
                </a:lnTo>
                <a:lnTo>
                  <a:pt x="0" y="297179"/>
                </a:lnTo>
                <a:lnTo>
                  <a:pt x="0" y="99059"/>
                </a:lnTo>
                <a:close/>
              </a:path>
            </a:pathLst>
          </a:custGeom>
          <a:ln w="25908">
            <a:solidFill>
              <a:srgbClr val="9B0056"/>
            </a:solidFill>
          </a:ln>
        </p:spPr>
        <p:txBody>
          <a:bodyPr wrap="square" lIns="0" tIns="0" rIns="0" bIns="0" rtlCol="0"/>
          <a:lstStyle/>
          <a:p>
            <a:endParaRPr/>
          </a:p>
        </p:txBody>
      </p:sp>
      <p:sp>
        <p:nvSpPr>
          <p:cNvPr id="51" name="object 51"/>
          <p:cNvSpPr/>
          <p:nvPr/>
        </p:nvSpPr>
        <p:spPr>
          <a:xfrm>
            <a:off x="4885944" y="5798820"/>
            <a:ext cx="504190" cy="396240"/>
          </a:xfrm>
          <a:custGeom>
            <a:avLst/>
            <a:gdLst/>
            <a:ahLst/>
            <a:cxnLst/>
            <a:rect l="l" t="t" r="r" b="b"/>
            <a:pathLst>
              <a:path w="504189" h="396239">
                <a:moveTo>
                  <a:pt x="306069" y="0"/>
                </a:moveTo>
                <a:lnTo>
                  <a:pt x="306069" y="99059"/>
                </a:lnTo>
                <a:lnTo>
                  <a:pt x="0" y="99059"/>
                </a:lnTo>
                <a:lnTo>
                  <a:pt x="0" y="297179"/>
                </a:lnTo>
                <a:lnTo>
                  <a:pt x="306069" y="297179"/>
                </a:lnTo>
                <a:lnTo>
                  <a:pt x="306069" y="396239"/>
                </a:lnTo>
                <a:lnTo>
                  <a:pt x="504063" y="198119"/>
                </a:lnTo>
                <a:lnTo>
                  <a:pt x="306069" y="0"/>
                </a:lnTo>
                <a:close/>
              </a:path>
            </a:pathLst>
          </a:custGeom>
          <a:solidFill>
            <a:srgbClr val="D20079"/>
          </a:solidFill>
        </p:spPr>
        <p:txBody>
          <a:bodyPr wrap="square" lIns="0" tIns="0" rIns="0" bIns="0" rtlCol="0"/>
          <a:lstStyle/>
          <a:p>
            <a:endParaRPr/>
          </a:p>
        </p:txBody>
      </p:sp>
      <p:sp>
        <p:nvSpPr>
          <p:cNvPr id="52" name="object 52"/>
          <p:cNvSpPr/>
          <p:nvPr/>
        </p:nvSpPr>
        <p:spPr>
          <a:xfrm>
            <a:off x="4886705" y="5799582"/>
            <a:ext cx="504190" cy="396240"/>
          </a:xfrm>
          <a:custGeom>
            <a:avLst/>
            <a:gdLst/>
            <a:ahLst/>
            <a:cxnLst/>
            <a:rect l="l" t="t" r="r" b="b"/>
            <a:pathLst>
              <a:path w="504189" h="396239">
                <a:moveTo>
                  <a:pt x="0" y="99060"/>
                </a:moveTo>
                <a:lnTo>
                  <a:pt x="306070" y="99060"/>
                </a:lnTo>
                <a:lnTo>
                  <a:pt x="306070" y="0"/>
                </a:lnTo>
                <a:lnTo>
                  <a:pt x="504063" y="198120"/>
                </a:lnTo>
                <a:lnTo>
                  <a:pt x="306070" y="396240"/>
                </a:lnTo>
                <a:lnTo>
                  <a:pt x="306070" y="297180"/>
                </a:lnTo>
                <a:lnTo>
                  <a:pt x="0" y="297180"/>
                </a:lnTo>
                <a:lnTo>
                  <a:pt x="0" y="99060"/>
                </a:lnTo>
                <a:close/>
              </a:path>
            </a:pathLst>
          </a:custGeom>
          <a:ln w="25907">
            <a:solidFill>
              <a:srgbClr val="9B0056"/>
            </a:solidFill>
          </a:ln>
        </p:spPr>
        <p:txBody>
          <a:bodyPr wrap="square" lIns="0" tIns="0" rIns="0" bIns="0" rtlCol="0"/>
          <a:lstStyle/>
          <a:p>
            <a:endParaRPr/>
          </a:p>
        </p:txBody>
      </p:sp>
      <p:sp>
        <p:nvSpPr>
          <p:cNvPr id="53" name="object 53"/>
          <p:cNvSpPr/>
          <p:nvPr/>
        </p:nvSpPr>
        <p:spPr>
          <a:xfrm>
            <a:off x="3028060" y="2758820"/>
            <a:ext cx="105410" cy="114300"/>
          </a:xfrm>
          <a:custGeom>
            <a:avLst/>
            <a:gdLst/>
            <a:ahLst/>
            <a:cxnLst/>
            <a:rect l="l" t="t" r="r" b="b"/>
            <a:pathLst>
              <a:path w="105410" h="114300">
                <a:moveTo>
                  <a:pt x="38100" y="0"/>
                </a:moveTo>
                <a:lnTo>
                  <a:pt x="0" y="0"/>
                </a:lnTo>
                <a:lnTo>
                  <a:pt x="57276" y="113918"/>
                </a:lnTo>
                <a:lnTo>
                  <a:pt x="104901" y="19050"/>
                </a:lnTo>
                <a:lnTo>
                  <a:pt x="38100" y="19050"/>
                </a:lnTo>
                <a:lnTo>
                  <a:pt x="38100" y="0"/>
                </a:lnTo>
                <a:close/>
              </a:path>
            </a:pathLst>
          </a:custGeom>
          <a:solidFill>
            <a:srgbClr val="D20079"/>
          </a:solidFill>
        </p:spPr>
        <p:txBody>
          <a:bodyPr wrap="square" lIns="0" tIns="0" rIns="0" bIns="0" rtlCol="0"/>
          <a:lstStyle/>
          <a:p>
            <a:endParaRPr/>
          </a:p>
        </p:txBody>
      </p:sp>
      <p:sp>
        <p:nvSpPr>
          <p:cNvPr id="54" name="object 54"/>
          <p:cNvSpPr/>
          <p:nvPr/>
        </p:nvSpPr>
        <p:spPr>
          <a:xfrm>
            <a:off x="3066160" y="2718054"/>
            <a:ext cx="38735" cy="60325"/>
          </a:xfrm>
          <a:custGeom>
            <a:avLst/>
            <a:gdLst/>
            <a:ahLst/>
            <a:cxnLst/>
            <a:rect l="l" t="t" r="r" b="b"/>
            <a:pathLst>
              <a:path w="38735" h="60325">
                <a:moveTo>
                  <a:pt x="0" y="0"/>
                </a:moveTo>
                <a:lnTo>
                  <a:pt x="0" y="59817"/>
                </a:lnTo>
                <a:lnTo>
                  <a:pt x="38226" y="59817"/>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55" name="object 55"/>
          <p:cNvSpPr/>
          <p:nvPr/>
        </p:nvSpPr>
        <p:spPr>
          <a:xfrm>
            <a:off x="3104388" y="2758820"/>
            <a:ext cx="38100" cy="19050"/>
          </a:xfrm>
          <a:custGeom>
            <a:avLst/>
            <a:gdLst/>
            <a:ahLst/>
            <a:cxnLst/>
            <a:rect l="l" t="t" r="r" b="b"/>
            <a:pathLst>
              <a:path w="38100" h="19050">
                <a:moveTo>
                  <a:pt x="38100" y="0"/>
                </a:moveTo>
                <a:lnTo>
                  <a:pt x="0" y="0"/>
                </a:lnTo>
                <a:lnTo>
                  <a:pt x="0" y="19050"/>
                </a:lnTo>
                <a:lnTo>
                  <a:pt x="28575" y="19050"/>
                </a:lnTo>
                <a:lnTo>
                  <a:pt x="38100" y="0"/>
                </a:lnTo>
                <a:close/>
              </a:path>
            </a:pathLst>
          </a:custGeom>
          <a:solidFill>
            <a:srgbClr val="D20079"/>
          </a:solidFill>
        </p:spPr>
        <p:txBody>
          <a:bodyPr wrap="square" lIns="0" tIns="0" rIns="0" bIns="0" rtlCol="0"/>
          <a:lstStyle/>
          <a:p>
            <a:endParaRPr/>
          </a:p>
        </p:txBody>
      </p:sp>
      <p:sp>
        <p:nvSpPr>
          <p:cNvPr id="56" name="object 56"/>
          <p:cNvSpPr/>
          <p:nvPr/>
        </p:nvSpPr>
        <p:spPr>
          <a:xfrm>
            <a:off x="2345435" y="2563367"/>
            <a:ext cx="720725" cy="173990"/>
          </a:xfrm>
          <a:custGeom>
            <a:avLst/>
            <a:gdLst/>
            <a:ahLst/>
            <a:cxnLst/>
            <a:rect l="l" t="t" r="r" b="b"/>
            <a:pathLst>
              <a:path w="720725" h="173989">
                <a:moveTo>
                  <a:pt x="38100" y="0"/>
                </a:moveTo>
                <a:lnTo>
                  <a:pt x="0" y="0"/>
                </a:lnTo>
                <a:lnTo>
                  <a:pt x="0" y="154686"/>
                </a:lnTo>
                <a:lnTo>
                  <a:pt x="1524" y="162052"/>
                </a:lnTo>
                <a:lnTo>
                  <a:pt x="5587" y="168148"/>
                </a:lnTo>
                <a:lnTo>
                  <a:pt x="11683" y="172212"/>
                </a:lnTo>
                <a:lnTo>
                  <a:pt x="19050" y="173736"/>
                </a:lnTo>
                <a:lnTo>
                  <a:pt x="720725" y="173736"/>
                </a:lnTo>
                <a:lnTo>
                  <a:pt x="720725" y="154686"/>
                </a:lnTo>
                <a:lnTo>
                  <a:pt x="38100" y="154686"/>
                </a:lnTo>
                <a:lnTo>
                  <a:pt x="19050" y="135762"/>
                </a:lnTo>
                <a:lnTo>
                  <a:pt x="38100" y="135762"/>
                </a:lnTo>
                <a:lnTo>
                  <a:pt x="38100" y="0"/>
                </a:lnTo>
                <a:close/>
              </a:path>
            </a:pathLst>
          </a:custGeom>
          <a:solidFill>
            <a:srgbClr val="D20079"/>
          </a:solidFill>
        </p:spPr>
        <p:txBody>
          <a:bodyPr wrap="square" lIns="0" tIns="0" rIns="0" bIns="0" rtlCol="0"/>
          <a:lstStyle/>
          <a:p>
            <a:endParaRPr/>
          </a:p>
        </p:txBody>
      </p:sp>
      <p:sp>
        <p:nvSpPr>
          <p:cNvPr id="57" name="object 57"/>
          <p:cNvSpPr/>
          <p:nvPr/>
        </p:nvSpPr>
        <p:spPr>
          <a:xfrm>
            <a:off x="2383535" y="2699130"/>
            <a:ext cx="721360" cy="38100"/>
          </a:xfrm>
          <a:custGeom>
            <a:avLst/>
            <a:gdLst/>
            <a:ahLst/>
            <a:cxnLst/>
            <a:rect l="l" t="t" r="r" b="b"/>
            <a:pathLst>
              <a:path w="721360" h="38100">
                <a:moveTo>
                  <a:pt x="701801" y="0"/>
                </a:moveTo>
                <a:lnTo>
                  <a:pt x="0" y="0"/>
                </a:lnTo>
                <a:lnTo>
                  <a:pt x="0" y="18923"/>
                </a:lnTo>
                <a:lnTo>
                  <a:pt x="682625" y="18923"/>
                </a:lnTo>
                <a:lnTo>
                  <a:pt x="701801" y="37973"/>
                </a:lnTo>
                <a:lnTo>
                  <a:pt x="720851" y="37973"/>
                </a:lnTo>
                <a:lnTo>
                  <a:pt x="720851" y="18923"/>
                </a:lnTo>
                <a:lnTo>
                  <a:pt x="719327" y="11557"/>
                </a:lnTo>
                <a:lnTo>
                  <a:pt x="715263" y="5588"/>
                </a:lnTo>
                <a:lnTo>
                  <a:pt x="709168" y="1524"/>
                </a:lnTo>
                <a:lnTo>
                  <a:pt x="701801" y="0"/>
                </a:lnTo>
                <a:close/>
              </a:path>
            </a:pathLst>
          </a:custGeom>
          <a:solidFill>
            <a:srgbClr val="D20079"/>
          </a:solidFill>
        </p:spPr>
        <p:txBody>
          <a:bodyPr wrap="square" lIns="0" tIns="0" rIns="0" bIns="0" rtlCol="0"/>
          <a:lstStyle/>
          <a:p>
            <a:endParaRPr/>
          </a:p>
        </p:txBody>
      </p:sp>
      <p:sp>
        <p:nvSpPr>
          <p:cNvPr id="58" name="object 58"/>
          <p:cNvSpPr/>
          <p:nvPr/>
        </p:nvSpPr>
        <p:spPr>
          <a:xfrm>
            <a:off x="2364485" y="2699130"/>
            <a:ext cx="19050" cy="19050"/>
          </a:xfrm>
          <a:custGeom>
            <a:avLst/>
            <a:gdLst/>
            <a:ahLst/>
            <a:cxnLst/>
            <a:rect l="l" t="t" r="r" b="b"/>
            <a:pathLst>
              <a:path w="19050" h="19050">
                <a:moveTo>
                  <a:pt x="19050" y="0"/>
                </a:moveTo>
                <a:lnTo>
                  <a:pt x="0" y="0"/>
                </a:lnTo>
                <a:lnTo>
                  <a:pt x="19050" y="18923"/>
                </a:lnTo>
                <a:lnTo>
                  <a:pt x="19050" y="0"/>
                </a:lnTo>
                <a:close/>
              </a:path>
            </a:pathLst>
          </a:custGeom>
          <a:solidFill>
            <a:srgbClr val="D20079"/>
          </a:solidFill>
        </p:spPr>
        <p:txBody>
          <a:bodyPr wrap="square" lIns="0" tIns="0" rIns="0" bIns="0" rtlCol="0"/>
          <a:lstStyle/>
          <a:p>
            <a:endParaRPr/>
          </a:p>
        </p:txBody>
      </p:sp>
      <p:sp>
        <p:nvSpPr>
          <p:cNvPr id="59" name="object 59"/>
          <p:cNvSpPr/>
          <p:nvPr/>
        </p:nvSpPr>
        <p:spPr>
          <a:xfrm>
            <a:off x="3028060" y="3488182"/>
            <a:ext cx="105410" cy="114300"/>
          </a:xfrm>
          <a:custGeom>
            <a:avLst/>
            <a:gdLst/>
            <a:ahLst/>
            <a:cxnLst/>
            <a:rect l="l" t="t" r="r" b="b"/>
            <a:pathLst>
              <a:path w="105410" h="114300">
                <a:moveTo>
                  <a:pt x="38100" y="0"/>
                </a:moveTo>
                <a:lnTo>
                  <a:pt x="0" y="0"/>
                </a:lnTo>
                <a:lnTo>
                  <a:pt x="57276" y="114172"/>
                </a:lnTo>
                <a:lnTo>
                  <a:pt x="104901" y="19050"/>
                </a:lnTo>
                <a:lnTo>
                  <a:pt x="38100" y="19050"/>
                </a:lnTo>
                <a:lnTo>
                  <a:pt x="38100" y="0"/>
                </a:lnTo>
                <a:close/>
              </a:path>
            </a:pathLst>
          </a:custGeom>
          <a:solidFill>
            <a:srgbClr val="D20079"/>
          </a:solidFill>
        </p:spPr>
        <p:txBody>
          <a:bodyPr wrap="square" lIns="0" tIns="0" rIns="0" bIns="0" rtlCol="0"/>
          <a:lstStyle/>
          <a:p>
            <a:endParaRPr/>
          </a:p>
        </p:txBody>
      </p:sp>
      <p:sp>
        <p:nvSpPr>
          <p:cNvPr id="60" name="object 60"/>
          <p:cNvSpPr/>
          <p:nvPr/>
        </p:nvSpPr>
        <p:spPr>
          <a:xfrm>
            <a:off x="3066160" y="3419475"/>
            <a:ext cx="38735" cy="88265"/>
          </a:xfrm>
          <a:custGeom>
            <a:avLst/>
            <a:gdLst/>
            <a:ahLst/>
            <a:cxnLst/>
            <a:rect l="l" t="t" r="r" b="b"/>
            <a:pathLst>
              <a:path w="38735" h="88264">
                <a:moveTo>
                  <a:pt x="0" y="0"/>
                </a:moveTo>
                <a:lnTo>
                  <a:pt x="0" y="87757"/>
                </a:lnTo>
                <a:lnTo>
                  <a:pt x="38226" y="87757"/>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61" name="object 61"/>
          <p:cNvSpPr/>
          <p:nvPr/>
        </p:nvSpPr>
        <p:spPr>
          <a:xfrm>
            <a:off x="3104388" y="3488182"/>
            <a:ext cx="38100" cy="19050"/>
          </a:xfrm>
          <a:custGeom>
            <a:avLst/>
            <a:gdLst/>
            <a:ahLst/>
            <a:cxnLst/>
            <a:rect l="l" t="t" r="r" b="b"/>
            <a:pathLst>
              <a:path w="38100" h="19050">
                <a:moveTo>
                  <a:pt x="38100" y="0"/>
                </a:moveTo>
                <a:lnTo>
                  <a:pt x="0" y="0"/>
                </a:lnTo>
                <a:lnTo>
                  <a:pt x="0" y="19050"/>
                </a:lnTo>
                <a:lnTo>
                  <a:pt x="28575" y="19050"/>
                </a:lnTo>
                <a:lnTo>
                  <a:pt x="38100" y="0"/>
                </a:lnTo>
                <a:close/>
              </a:path>
            </a:pathLst>
          </a:custGeom>
          <a:solidFill>
            <a:srgbClr val="D20079"/>
          </a:solidFill>
        </p:spPr>
        <p:txBody>
          <a:bodyPr wrap="square" lIns="0" tIns="0" rIns="0" bIns="0" rtlCol="0"/>
          <a:lstStyle/>
          <a:p>
            <a:endParaRPr/>
          </a:p>
        </p:txBody>
      </p:sp>
      <p:sp>
        <p:nvSpPr>
          <p:cNvPr id="62" name="object 62"/>
          <p:cNvSpPr/>
          <p:nvPr/>
        </p:nvSpPr>
        <p:spPr>
          <a:xfrm>
            <a:off x="2345435" y="2563367"/>
            <a:ext cx="720725" cy="875665"/>
          </a:xfrm>
          <a:custGeom>
            <a:avLst/>
            <a:gdLst/>
            <a:ahLst/>
            <a:cxnLst/>
            <a:rect l="l" t="t" r="r" b="b"/>
            <a:pathLst>
              <a:path w="720725" h="875664">
                <a:moveTo>
                  <a:pt x="38100" y="0"/>
                </a:moveTo>
                <a:lnTo>
                  <a:pt x="0" y="0"/>
                </a:lnTo>
                <a:lnTo>
                  <a:pt x="0" y="856107"/>
                </a:lnTo>
                <a:lnTo>
                  <a:pt x="1524" y="863473"/>
                </a:lnTo>
                <a:lnTo>
                  <a:pt x="5587" y="869569"/>
                </a:lnTo>
                <a:lnTo>
                  <a:pt x="11683" y="873633"/>
                </a:lnTo>
                <a:lnTo>
                  <a:pt x="19050" y="875157"/>
                </a:lnTo>
                <a:lnTo>
                  <a:pt x="720725" y="875157"/>
                </a:lnTo>
                <a:lnTo>
                  <a:pt x="720725" y="856107"/>
                </a:lnTo>
                <a:lnTo>
                  <a:pt x="38100" y="856107"/>
                </a:lnTo>
                <a:lnTo>
                  <a:pt x="19050" y="837057"/>
                </a:lnTo>
                <a:lnTo>
                  <a:pt x="38100" y="837057"/>
                </a:lnTo>
                <a:lnTo>
                  <a:pt x="38100" y="0"/>
                </a:lnTo>
                <a:close/>
              </a:path>
            </a:pathLst>
          </a:custGeom>
          <a:solidFill>
            <a:srgbClr val="D20079"/>
          </a:solidFill>
        </p:spPr>
        <p:txBody>
          <a:bodyPr wrap="square" lIns="0" tIns="0" rIns="0" bIns="0" rtlCol="0"/>
          <a:lstStyle/>
          <a:p>
            <a:endParaRPr/>
          </a:p>
        </p:txBody>
      </p:sp>
      <p:sp>
        <p:nvSpPr>
          <p:cNvPr id="63" name="object 63"/>
          <p:cNvSpPr/>
          <p:nvPr/>
        </p:nvSpPr>
        <p:spPr>
          <a:xfrm>
            <a:off x="2383535" y="3400425"/>
            <a:ext cx="721360" cy="38100"/>
          </a:xfrm>
          <a:custGeom>
            <a:avLst/>
            <a:gdLst/>
            <a:ahLst/>
            <a:cxnLst/>
            <a:rect l="l" t="t" r="r" b="b"/>
            <a:pathLst>
              <a:path w="721360" h="38100">
                <a:moveTo>
                  <a:pt x="701801" y="0"/>
                </a:moveTo>
                <a:lnTo>
                  <a:pt x="0" y="0"/>
                </a:lnTo>
                <a:lnTo>
                  <a:pt x="0" y="19050"/>
                </a:lnTo>
                <a:lnTo>
                  <a:pt x="682625" y="19050"/>
                </a:lnTo>
                <a:lnTo>
                  <a:pt x="701801" y="38100"/>
                </a:lnTo>
                <a:lnTo>
                  <a:pt x="720851" y="38100"/>
                </a:lnTo>
                <a:lnTo>
                  <a:pt x="720851" y="19050"/>
                </a:lnTo>
                <a:lnTo>
                  <a:pt x="719327" y="11684"/>
                </a:lnTo>
                <a:lnTo>
                  <a:pt x="715263" y="5587"/>
                </a:lnTo>
                <a:lnTo>
                  <a:pt x="709168" y="1524"/>
                </a:lnTo>
                <a:lnTo>
                  <a:pt x="701801" y="0"/>
                </a:lnTo>
                <a:close/>
              </a:path>
            </a:pathLst>
          </a:custGeom>
          <a:solidFill>
            <a:srgbClr val="D20079"/>
          </a:solidFill>
        </p:spPr>
        <p:txBody>
          <a:bodyPr wrap="square" lIns="0" tIns="0" rIns="0" bIns="0" rtlCol="0"/>
          <a:lstStyle/>
          <a:p>
            <a:endParaRPr/>
          </a:p>
        </p:txBody>
      </p:sp>
      <p:sp>
        <p:nvSpPr>
          <p:cNvPr id="64" name="object 64"/>
          <p:cNvSpPr/>
          <p:nvPr/>
        </p:nvSpPr>
        <p:spPr>
          <a:xfrm>
            <a:off x="2364485" y="3400425"/>
            <a:ext cx="19050" cy="19050"/>
          </a:xfrm>
          <a:custGeom>
            <a:avLst/>
            <a:gdLst/>
            <a:ahLst/>
            <a:cxnLst/>
            <a:rect l="l" t="t" r="r" b="b"/>
            <a:pathLst>
              <a:path w="19050" h="19050">
                <a:moveTo>
                  <a:pt x="19050" y="0"/>
                </a:moveTo>
                <a:lnTo>
                  <a:pt x="0" y="0"/>
                </a:lnTo>
                <a:lnTo>
                  <a:pt x="19050" y="19050"/>
                </a:lnTo>
                <a:lnTo>
                  <a:pt x="19050" y="0"/>
                </a:lnTo>
                <a:close/>
              </a:path>
            </a:pathLst>
          </a:custGeom>
          <a:solidFill>
            <a:srgbClr val="D20079"/>
          </a:solidFill>
        </p:spPr>
        <p:txBody>
          <a:bodyPr wrap="square" lIns="0" tIns="0" rIns="0" bIns="0" rtlCol="0"/>
          <a:lstStyle/>
          <a:p>
            <a:endParaRPr/>
          </a:p>
        </p:txBody>
      </p:sp>
      <p:sp>
        <p:nvSpPr>
          <p:cNvPr id="65" name="object 65"/>
          <p:cNvSpPr/>
          <p:nvPr/>
        </p:nvSpPr>
        <p:spPr>
          <a:xfrm>
            <a:off x="3028060" y="4216908"/>
            <a:ext cx="105410" cy="114300"/>
          </a:xfrm>
          <a:custGeom>
            <a:avLst/>
            <a:gdLst/>
            <a:ahLst/>
            <a:cxnLst/>
            <a:rect l="l" t="t" r="r" b="b"/>
            <a:pathLst>
              <a:path w="105410" h="114300">
                <a:moveTo>
                  <a:pt x="38100" y="0"/>
                </a:moveTo>
                <a:lnTo>
                  <a:pt x="0" y="0"/>
                </a:lnTo>
                <a:lnTo>
                  <a:pt x="57276" y="114173"/>
                </a:lnTo>
                <a:lnTo>
                  <a:pt x="104901" y="19050"/>
                </a:lnTo>
                <a:lnTo>
                  <a:pt x="38100" y="19050"/>
                </a:lnTo>
                <a:lnTo>
                  <a:pt x="38100" y="0"/>
                </a:lnTo>
                <a:close/>
              </a:path>
            </a:pathLst>
          </a:custGeom>
          <a:solidFill>
            <a:srgbClr val="D20079"/>
          </a:solidFill>
        </p:spPr>
        <p:txBody>
          <a:bodyPr wrap="square" lIns="0" tIns="0" rIns="0" bIns="0" rtlCol="0"/>
          <a:lstStyle/>
          <a:p>
            <a:endParaRPr/>
          </a:p>
        </p:txBody>
      </p:sp>
      <p:sp>
        <p:nvSpPr>
          <p:cNvPr id="66" name="object 66"/>
          <p:cNvSpPr/>
          <p:nvPr/>
        </p:nvSpPr>
        <p:spPr>
          <a:xfrm>
            <a:off x="3066160" y="4168647"/>
            <a:ext cx="38735" cy="67310"/>
          </a:xfrm>
          <a:custGeom>
            <a:avLst/>
            <a:gdLst/>
            <a:ahLst/>
            <a:cxnLst/>
            <a:rect l="l" t="t" r="r" b="b"/>
            <a:pathLst>
              <a:path w="38735" h="67310">
                <a:moveTo>
                  <a:pt x="0" y="0"/>
                </a:moveTo>
                <a:lnTo>
                  <a:pt x="0" y="67309"/>
                </a:lnTo>
                <a:lnTo>
                  <a:pt x="38226" y="67309"/>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67" name="object 67"/>
          <p:cNvSpPr/>
          <p:nvPr/>
        </p:nvSpPr>
        <p:spPr>
          <a:xfrm>
            <a:off x="3104388" y="4216908"/>
            <a:ext cx="38100" cy="19050"/>
          </a:xfrm>
          <a:custGeom>
            <a:avLst/>
            <a:gdLst/>
            <a:ahLst/>
            <a:cxnLst/>
            <a:rect l="l" t="t" r="r" b="b"/>
            <a:pathLst>
              <a:path w="38100" h="19050">
                <a:moveTo>
                  <a:pt x="38100" y="0"/>
                </a:moveTo>
                <a:lnTo>
                  <a:pt x="0" y="0"/>
                </a:lnTo>
                <a:lnTo>
                  <a:pt x="0" y="19050"/>
                </a:lnTo>
                <a:lnTo>
                  <a:pt x="28575" y="19050"/>
                </a:lnTo>
                <a:lnTo>
                  <a:pt x="38100" y="0"/>
                </a:lnTo>
                <a:close/>
              </a:path>
            </a:pathLst>
          </a:custGeom>
          <a:solidFill>
            <a:srgbClr val="D20079"/>
          </a:solidFill>
        </p:spPr>
        <p:txBody>
          <a:bodyPr wrap="square" lIns="0" tIns="0" rIns="0" bIns="0" rtlCol="0"/>
          <a:lstStyle/>
          <a:p>
            <a:endParaRPr/>
          </a:p>
        </p:txBody>
      </p:sp>
      <p:sp>
        <p:nvSpPr>
          <p:cNvPr id="68" name="object 68"/>
          <p:cNvSpPr/>
          <p:nvPr/>
        </p:nvSpPr>
        <p:spPr>
          <a:xfrm>
            <a:off x="2345435" y="2563367"/>
            <a:ext cx="720725" cy="1624330"/>
          </a:xfrm>
          <a:custGeom>
            <a:avLst/>
            <a:gdLst/>
            <a:ahLst/>
            <a:cxnLst/>
            <a:rect l="l" t="t" r="r" b="b"/>
            <a:pathLst>
              <a:path w="720725" h="1624329">
                <a:moveTo>
                  <a:pt x="38100" y="0"/>
                </a:moveTo>
                <a:lnTo>
                  <a:pt x="0" y="0"/>
                </a:lnTo>
                <a:lnTo>
                  <a:pt x="0" y="1605280"/>
                </a:lnTo>
                <a:lnTo>
                  <a:pt x="1524" y="1612646"/>
                </a:lnTo>
                <a:lnTo>
                  <a:pt x="5587" y="1618742"/>
                </a:lnTo>
                <a:lnTo>
                  <a:pt x="11683" y="1622806"/>
                </a:lnTo>
                <a:lnTo>
                  <a:pt x="19050" y="1624330"/>
                </a:lnTo>
                <a:lnTo>
                  <a:pt x="720725" y="1624330"/>
                </a:lnTo>
                <a:lnTo>
                  <a:pt x="720725" y="1605280"/>
                </a:lnTo>
                <a:lnTo>
                  <a:pt x="38100" y="1605280"/>
                </a:lnTo>
                <a:lnTo>
                  <a:pt x="19050" y="1586230"/>
                </a:lnTo>
                <a:lnTo>
                  <a:pt x="38100" y="1586230"/>
                </a:lnTo>
                <a:lnTo>
                  <a:pt x="38100" y="0"/>
                </a:lnTo>
                <a:close/>
              </a:path>
            </a:pathLst>
          </a:custGeom>
          <a:solidFill>
            <a:srgbClr val="D20079"/>
          </a:solidFill>
        </p:spPr>
        <p:txBody>
          <a:bodyPr wrap="square" lIns="0" tIns="0" rIns="0" bIns="0" rtlCol="0"/>
          <a:lstStyle/>
          <a:p>
            <a:endParaRPr/>
          </a:p>
        </p:txBody>
      </p:sp>
      <p:sp>
        <p:nvSpPr>
          <p:cNvPr id="69" name="object 69"/>
          <p:cNvSpPr/>
          <p:nvPr/>
        </p:nvSpPr>
        <p:spPr>
          <a:xfrm>
            <a:off x="2383535" y="4149597"/>
            <a:ext cx="721360" cy="38100"/>
          </a:xfrm>
          <a:custGeom>
            <a:avLst/>
            <a:gdLst/>
            <a:ahLst/>
            <a:cxnLst/>
            <a:rect l="l" t="t" r="r" b="b"/>
            <a:pathLst>
              <a:path w="721360" h="38100">
                <a:moveTo>
                  <a:pt x="701801" y="0"/>
                </a:moveTo>
                <a:lnTo>
                  <a:pt x="0" y="0"/>
                </a:lnTo>
                <a:lnTo>
                  <a:pt x="0" y="19050"/>
                </a:lnTo>
                <a:lnTo>
                  <a:pt x="682625" y="19050"/>
                </a:lnTo>
                <a:lnTo>
                  <a:pt x="701801" y="38100"/>
                </a:lnTo>
                <a:lnTo>
                  <a:pt x="720851" y="38100"/>
                </a:lnTo>
                <a:lnTo>
                  <a:pt x="720851" y="19050"/>
                </a:lnTo>
                <a:lnTo>
                  <a:pt x="719327" y="11683"/>
                </a:lnTo>
                <a:lnTo>
                  <a:pt x="715263" y="5587"/>
                </a:lnTo>
                <a:lnTo>
                  <a:pt x="709168" y="1524"/>
                </a:lnTo>
                <a:lnTo>
                  <a:pt x="701801" y="0"/>
                </a:lnTo>
                <a:close/>
              </a:path>
            </a:pathLst>
          </a:custGeom>
          <a:solidFill>
            <a:srgbClr val="D20079"/>
          </a:solidFill>
        </p:spPr>
        <p:txBody>
          <a:bodyPr wrap="square" lIns="0" tIns="0" rIns="0" bIns="0" rtlCol="0"/>
          <a:lstStyle/>
          <a:p>
            <a:endParaRPr/>
          </a:p>
        </p:txBody>
      </p:sp>
      <p:sp>
        <p:nvSpPr>
          <p:cNvPr id="70" name="object 70"/>
          <p:cNvSpPr/>
          <p:nvPr/>
        </p:nvSpPr>
        <p:spPr>
          <a:xfrm>
            <a:off x="2364485" y="4149597"/>
            <a:ext cx="19050" cy="19050"/>
          </a:xfrm>
          <a:custGeom>
            <a:avLst/>
            <a:gdLst/>
            <a:ahLst/>
            <a:cxnLst/>
            <a:rect l="l" t="t" r="r" b="b"/>
            <a:pathLst>
              <a:path w="19050" h="19050">
                <a:moveTo>
                  <a:pt x="19050" y="0"/>
                </a:moveTo>
                <a:lnTo>
                  <a:pt x="0" y="0"/>
                </a:lnTo>
                <a:lnTo>
                  <a:pt x="19050" y="19050"/>
                </a:lnTo>
                <a:lnTo>
                  <a:pt x="19050" y="0"/>
                </a:lnTo>
                <a:close/>
              </a:path>
            </a:pathLst>
          </a:custGeom>
          <a:solidFill>
            <a:srgbClr val="D20079"/>
          </a:solidFill>
        </p:spPr>
        <p:txBody>
          <a:bodyPr wrap="square" lIns="0" tIns="0" rIns="0" bIns="0" rtlCol="0"/>
          <a:lstStyle/>
          <a:p>
            <a:endParaRPr/>
          </a:p>
        </p:txBody>
      </p:sp>
      <p:sp>
        <p:nvSpPr>
          <p:cNvPr id="71" name="object 71"/>
          <p:cNvSpPr/>
          <p:nvPr/>
        </p:nvSpPr>
        <p:spPr>
          <a:xfrm>
            <a:off x="3028060" y="4946396"/>
            <a:ext cx="105410" cy="114300"/>
          </a:xfrm>
          <a:custGeom>
            <a:avLst/>
            <a:gdLst/>
            <a:ahLst/>
            <a:cxnLst/>
            <a:rect l="l" t="t" r="r" b="b"/>
            <a:pathLst>
              <a:path w="105410" h="114300">
                <a:moveTo>
                  <a:pt x="38100" y="0"/>
                </a:moveTo>
                <a:lnTo>
                  <a:pt x="0" y="0"/>
                </a:lnTo>
                <a:lnTo>
                  <a:pt x="57276" y="114299"/>
                </a:lnTo>
                <a:lnTo>
                  <a:pt x="104901" y="19049"/>
                </a:lnTo>
                <a:lnTo>
                  <a:pt x="38100" y="19049"/>
                </a:lnTo>
                <a:lnTo>
                  <a:pt x="38100" y="0"/>
                </a:lnTo>
                <a:close/>
              </a:path>
            </a:pathLst>
          </a:custGeom>
          <a:solidFill>
            <a:srgbClr val="D20079"/>
          </a:solidFill>
        </p:spPr>
        <p:txBody>
          <a:bodyPr wrap="square" lIns="0" tIns="0" rIns="0" bIns="0" rtlCol="0"/>
          <a:lstStyle/>
          <a:p>
            <a:endParaRPr/>
          </a:p>
        </p:txBody>
      </p:sp>
      <p:sp>
        <p:nvSpPr>
          <p:cNvPr id="72" name="object 72"/>
          <p:cNvSpPr/>
          <p:nvPr/>
        </p:nvSpPr>
        <p:spPr>
          <a:xfrm>
            <a:off x="3066160" y="4882388"/>
            <a:ext cx="38735" cy="83185"/>
          </a:xfrm>
          <a:custGeom>
            <a:avLst/>
            <a:gdLst/>
            <a:ahLst/>
            <a:cxnLst/>
            <a:rect l="l" t="t" r="r" b="b"/>
            <a:pathLst>
              <a:path w="38735" h="83185">
                <a:moveTo>
                  <a:pt x="0" y="0"/>
                </a:moveTo>
                <a:lnTo>
                  <a:pt x="0" y="83057"/>
                </a:lnTo>
                <a:lnTo>
                  <a:pt x="38226" y="83057"/>
                </a:lnTo>
                <a:lnTo>
                  <a:pt x="38226" y="19050"/>
                </a:lnTo>
                <a:lnTo>
                  <a:pt x="19176" y="19050"/>
                </a:lnTo>
                <a:lnTo>
                  <a:pt x="0" y="0"/>
                </a:lnTo>
                <a:close/>
              </a:path>
            </a:pathLst>
          </a:custGeom>
          <a:solidFill>
            <a:srgbClr val="D20079"/>
          </a:solidFill>
        </p:spPr>
        <p:txBody>
          <a:bodyPr wrap="square" lIns="0" tIns="0" rIns="0" bIns="0" rtlCol="0"/>
          <a:lstStyle/>
          <a:p>
            <a:endParaRPr/>
          </a:p>
        </p:txBody>
      </p:sp>
      <p:sp>
        <p:nvSpPr>
          <p:cNvPr id="73" name="object 73"/>
          <p:cNvSpPr/>
          <p:nvPr/>
        </p:nvSpPr>
        <p:spPr>
          <a:xfrm>
            <a:off x="3104388" y="4946396"/>
            <a:ext cx="38100" cy="19050"/>
          </a:xfrm>
          <a:custGeom>
            <a:avLst/>
            <a:gdLst/>
            <a:ahLst/>
            <a:cxnLst/>
            <a:rect l="l" t="t" r="r" b="b"/>
            <a:pathLst>
              <a:path w="38100" h="19050">
                <a:moveTo>
                  <a:pt x="38100" y="0"/>
                </a:moveTo>
                <a:lnTo>
                  <a:pt x="0" y="0"/>
                </a:lnTo>
                <a:lnTo>
                  <a:pt x="0" y="19049"/>
                </a:lnTo>
                <a:lnTo>
                  <a:pt x="28575" y="19049"/>
                </a:lnTo>
                <a:lnTo>
                  <a:pt x="38100" y="0"/>
                </a:lnTo>
                <a:close/>
              </a:path>
            </a:pathLst>
          </a:custGeom>
          <a:solidFill>
            <a:srgbClr val="D20079"/>
          </a:solidFill>
        </p:spPr>
        <p:txBody>
          <a:bodyPr wrap="square" lIns="0" tIns="0" rIns="0" bIns="0" rtlCol="0"/>
          <a:lstStyle/>
          <a:p>
            <a:endParaRPr/>
          </a:p>
        </p:txBody>
      </p:sp>
      <p:sp>
        <p:nvSpPr>
          <p:cNvPr id="74" name="object 74"/>
          <p:cNvSpPr/>
          <p:nvPr/>
        </p:nvSpPr>
        <p:spPr>
          <a:xfrm>
            <a:off x="2345435" y="2563367"/>
            <a:ext cx="720725" cy="2338070"/>
          </a:xfrm>
          <a:custGeom>
            <a:avLst/>
            <a:gdLst/>
            <a:ahLst/>
            <a:cxnLst/>
            <a:rect l="l" t="t" r="r" b="b"/>
            <a:pathLst>
              <a:path w="720725" h="2338070">
                <a:moveTo>
                  <a:pt x="38100" y="0"/>
                </a:moveTo>
                <a:lnTo>
                  <a:pt x="0" y="0"/>
                </a:lnTo>
                <a:lnTo>
                  <a:pt x="0" y="2319020"/>
                </a:lnTo>
                <a:lnTo>
                  <a:pt x="1524" y="2326513"/>
                </a:lnTo>
                <a:lnTo>
                  <a:pt x="5587" y="2332609"/>
                </a:lnTo>
                <a:lnTo>
                  <a:pt x="11683" y="2336673"/>
                </a:lnTo>
                <a:lnTo>
                  <a:pt x="19050" y="2338070"/>
                </a:lnTo>
                <a:lnTo>
                  <a:pt x="720725" y="2338070"/>
                </a:lnTo>
                <a:lnTo>
                  <a:pt x="720725" y="2319020"/>
                </a:lnTo>
                <a:lnTo>
                  <a:pt x="38100" y="2319020"/>
                </a:lnTo>
                <a:lnTo>
                  <a:pt x="19050" y="2300097"/>
                </a:lnTo>
                <a:lnTo>
                  <a:pt x="38100" y="2300097"/>
                </a:lnTo>
                <a:lnTo>
                  <a:pt x="38100" y="0"/>
                </a:lnTo>
                <a:close/>
              </a:path>
            </a:pathLst>
          </a:custGeom>
          <a:solidFill>
            <a:srgbClr val="D20079"/>
          </a:solidFill>
        </p:spPr>
        <p:txBody>
          <a:bodyPr wrap="square" lIns="0" tIns="0" rIns="0" bIns="0" rtlCol="0"/>
          <a:lstStyle/>
          <a:p>
            <a:endParaRPr/>
          </a:p>
        </p:txBody>
      </p:sp>
      <p:sp>
        <p:nvSpPr>
          <p:cNvPr id="75" name="object 75"/>
          <p:cNvSpPr/>
          <p:nvPr/>
        </p:nvSpPr>
        <p:spPr>
          <a:xfrm>
            <a:off x="2383535" y="4863465"/>
            <a:ext cx="721360" cy="38100"/>
          </a:xfrm>
          <a:custGeom>
            <a:avLst/>
            <a:gdLst/>
            <a:ahLst/>
            <a:cxnLst/>
            <a:rect l="l" t="t" r="r" b="b"/>
            <a:pathLst>
              <a:path w="721360" h="38100">
                <a:moveTo>
                  <a:pt x="701801" y="0"/>
                </a:moveTo>
                <a:lnTo>
                  <a:pt x="0" y="0"/>
                </a:lnTo>
                <a:lnTo>
                  <a:pt x="0" y="18923"/>
                </a:lnTo>
                <a:lnTo>
                  <a:pt x="682625" y="18923"/>
                </a:lnTo>
                <a:lnTo>
                  <a:pt x="701801" y="37973"/>
                </a:lnTo>
                <a:lnTo>
                  <a:pt x="720851" y="37973"/>
                </a:lnTo>
                <a:lnTo>
                  <a:pt x="720851" y="18923"/>
                </a:lnTo>
                <a:lnTo>
                  <a:pt x="719327" y="11557"/>
                </a:lnTo>
                <a:lnTo>
                  <a:pt x="715263" y="5461"/>
                </a:lnTo>
                <a:lnTo>
                  <a:pt x="709168" y="1397"/>
                </a:lnTo>
                <a:lnTo>
                  <a:pt x="701801" y="0"/>
                </a:lnTo>
                <a:close/>
              </a:path>
            </a:pathLst>
          </a:custGeom>
          <a:solidFill>
            <a:srgbClr val="D20079"/>
          </a:solidFill>
        </p:spPr>
        <p:txBody>
          <a:bodyPr wrap="square" lIns="0" tIns="0" rIns="0" bIns="0" rtlCol="0"/>
          <a:lstStyle/>
          <a:p>
            <a:endParaRPr/>
          </a:p>
        </p:txBody>
      </p:sp>
      <p:sp>
        <p:nvSpPr>
          <p:cNvPr id="76" name="object 76"/>
          <p:cNvSpPr/>
          <p:nvPr/>
        </p:nvSpPr>
        <p:spPr>
          <a:xfrm>
            <a:off x="2364485" y="4863465"/>
            <a:ext cx="19050" cy="19050"/>
          </a:xfrm>
          <a:custGeom>
            <a:avLst/>
            <a:gdLst/>
            <a:ahLst/>
            <a:cxnLst/>
            <a:rect l="l" t="t" r="r" b="b"/>
            <a:pathLst>
              <a:path w="19050" h="19050">
                <a:moveTo>
                  <a:pt x="19050" y="0"/>
                </a:moveTo>
                <a:lnTo>
                  <a:pt x="0" y="0"/>
                </a:lnTo>
                <a:lnTo>
                  <a:pt x="19050" y="18923"/>
                </a:lnTo>
                <a:lnTo>
                  <a:pt x="19050" y="0"/>
                </a:lnTo>
                <a:close/>
              </a:path>
            </a:pathLst>
          </a:custGeom>
          <a:solidFill>
            <a:srgbClr val="D20079"/>
          </a:solidFill>
        </p:spPr>
        <p:txBody>
          <a:bodyPr wrap="square" lIns="0" tIns="0" rIns="0" bIns="0" rtlCol="0"/>
          <a:lstStyle/>
          <a:p>
            <a:endParaRPr/>
          </a:p>
        </p:txBody>
      </p:sp>
      <p:sp>
        <p:nvSpPr>
          <p:cNvPr id="77" name="object 77"/>
          <p:cNvSpPr/>
          <p:nvPr/>
        </p:nvSpPr>
        <p:spPr>
          <a:xfrm>
            <a:off x="3027679" y="5675045"/>
            <a:ext cx="104775" cy="114300"/>
          </a:xfrm>
          <a:custGeom>
            <a:avLst/>
            <a:gdLst/>
            <a:ahLst/>
            <a:cxnLst/>
            <a:rect l="l" t="t" r="r" b="b"/>
            <a:pathLst>
              <a:path w="104775" h="114300">
                <a:moveTo>
                  <a:pt x="38100" y="0"/>
                </a:moveTo>
                <a:lnTo>
                  <a:pt x="0" y="0"/>
                </a:lnTo>
                <a:lnTo>
                  <a:pt x="57150" y="114249"/>
                </a:lnTo>
                <a:lnTo>
                  <a:pt x="104775" y="19037"/>
                </a:lnTo>
                <a:lnTo>
                  <a:pt x="38100" y="19037"/>
                </a:lnTo>
                <a:lnTo>
                  <a:pt x="38100" y="0"/>
                </a:lnTo>
                <a:close/>
              </a:path>
            </a:pathLst>
          </a:custGeom>
          <a:solidFill>
            <a:srgbClr val="D20079"/>
          </a:solidFill>
        </p:spPr>
        <p:txBody>
          <a:bodyPr wrap="square" lIns="0" tIns="0" rIns="0" bIns="0" rtlCol="0"/>
          <a:lstStyle/>
          <a:p>
            <a:endParaRPr/>
          </a:p>
        </p:txBody>
      </p:sp>
      <p:sp>
        <p:nvSpPr>
          <p:cNvPr id="78" name="object 78"/>
          <p:cNvSpPr/>
          <p:nvPr/>
        </p:nvSpPr>
        <p:spPr>
          <a:xfrm>
            <a:off x="3065779" y="5619572"/>
            <a:ext cx="38100" cy="74930"/>
          </a:xfrm>
          <a:custGeom>
            <a:avLst/>
            <a:gdLst/>
            <a:ahLst/>
            <a:cxnLst/>
            <a:rect l="l" t="t" r="r" b="b"/>
            <a:pathLst>
              <a:path w="38100" h="74929">
                <a:moveTo>
                  <a:pt x="0" y="0"/>
                </a:moveTo>
                <a:lnTo>
                  <a:pt x="0" y="74510"/>
                </a:lnTo>
                <a:lnTo>
                  <a:pt x="38100" y="74510"/>
                </a:lnTo>
                <a:lnTo>
                  <a:pt x="38100" y="19037"/>
                </a:lnTo>
                <a:lnTo>
                  <a:pt x="19050" y="19037"/>
                </a:lnTo>
                <a:lnTo>
                  <a:pt x="0" y="0"/>
                </a:lnTo>
                <a:close/>
              </a:path>
            </a:pathLst>
          </a:custGeom>
          <a:solidFill>
            <a:srgbClr val="D20079"/>
          </a:solidFill>
        </p:spPr>
        <p:txBody>
          <a:bodyPr wrap="square" lIns="0" tIns="0" rIns="0" bIns="0" rtlCol="0"/>
          <a:lstStyle/>
          <a:p>
            <a:endParaRPr/>
          </a:p>
        </p:txBody>
      </p:sp>
      <p:sp>
        <p:nvSpPr>
          <p:cNvPr id="79" name="object 79"/>
          <p:cNvSpPr/>
          <p:nvPr/>
        </p:nvSpPr>
        <p:spPr>
          <a:xfrm>
            <a:off x="3103879" y="5675045"/>
            <a:ext cx="38100" cy="19050"/>
          </a:xfrm>
          <a:custGeom>
            <a:avLst/>
            <a:gdLst/>
            <a:ahLst/>
            <a:cxnLst/>
            <a:rect l="l" t="t" r="r" b="b"/>
            <a:pathLst>
              <a:path w="38100" h="19050">
                <a:moveTo>
                  <a:pt x="38100" y="0"/>
                </a:moveTo>
                <a:lnTo>
                  <a:pt x="0" y="0"/>
                </a:lnTo>
                <a:lnTo>
                  <a:pt x="0" y="19037"/>
                </a:lnTo>
                <a:lnTo>
                  <a:pt x="28575" y="19037"/>
                </a:lnTo>
                <a:lnTo>
                  <a:pt x="38100" y="0"/>
                </a:lnTo>
                <a:close/>
              </a:path>
            </a:pathLst>
          </a:custGeom>
          <a:solidFill>
            <a:srgbClr val="D20079"/>
          </a:solidFill>
        </p:spPr>
        <p:txBody>
          <a:bodyPr wrap="square" lIns="0" tIns="0" rIns="0" bIns="0" rtlCol="0"/>
          <a:lstStyle/>
          <a:p>
            <a:endParaRPr/>
          </a:p>
        </p:txBody>
      </p:sp>
      <p:sp>
        <p:nvSpPr>
          <p:cNvPr id="80" name="object 80"/>
          <p:cNvSpPr/>
          <p:nvPr/>
        </p:nvSpPr>
        <p:spPr>
          <a:xfrm>
            <a:off x="2345435" y="2563367"/>
            <a:ext cx="720725" cy="3075305"/>
          </a:xfrm>
          <a:custGeom>
            <a:avLst/>
            <a:gdLst/>
            <a:ahLst/>
            <a:cxnLst/>
            <a:rect l="l" t="t" r="r" b="b"/>
            <a:pathLst>
              <a:path w="720725" h="3075304">
                <a:moveTo>
                  <a:pt x="38100" y="0"/>
                </a:moveTo>
                <a:lnTo>
                  <a:pt x="0" y="0"/>
                </a:lnTo>
                <a:lnTo>
                  <a:pt x="0" y="3056204"/>
                </a:lnTo>
                <a:lnTo>
                  <a:pt x="1524" y="3063621"/>
                </a:lnTo>
                <a:lnTo>
                  <a:pt x="5587" y="3069678"/>
                </a:lnTo>
                <a:lnTo>
                  <a:pt x="11683" y="3073755"/>
                </a:lnTo>
                <a:lnTo>
                  <a:pt x="19050" y="3075241"/>
                </a:lnTo>
                <a:lnTo>
                  <a:pt x="720344" y="3075241"/>
                </a:lnTo>
                <a:lnTo>
                  <a:pt x="720344" y="3056204"/>
                </a:lnTo>
                <a:lnTo>
                  <a:pt x="38100" y="3056204"/>
                </a:lnTo>
                <a:lnTo>
                  <a:pt x="19050" y="3037154"/>
                </a:lnTo>
                <a:lnTo>
                  <a:pt x="38100" y="3037154"/>
                </a:lnTo>
                <a:lnTo>
                  <a:pt x="38100" y="0"/>
                </a:lnTo>
                <a:close/>
              </a:path>
            </a:pathLst>
          </a:custGeom>
          <a:solidFill>
            <a:srgbClr val="D20079"/>
          </a:solidFill>
        </p:spPr>
        <p:txBody>
          <a:bodyPr wrap="square" lIns="0" tIns="0" rIns="0" bIns="0" rtlCol="0"/>
          <a:lstStyle/>
          <a:p>
            <a:endParaRPr/>
          </a:p>
        </p:txBody>
      </p:sp>
      <p:sp>
        <p:nvSpPr>
          <p:cNvPr id="81" name="object 81"/>
          <p:cNvSpPr/>
          <p:nvPr/>
        </p:nvSpPr>
        <p:spPr>
          <a:xfrm>
            <a:off x="2383535" y="5600522"/>
            <a:ext cx="720725" cy="38100"/>
          </a:xfrm>
          <a:custGeom>
            <a:avLst/>
            <a:gdLst/>
            <a:ahLst/>
            <a:cxnLst/>
            <a:rect l="l" t="t" r="r" b="b"/>
            <a:pathLst>
              <a:path w="720725" h="38100">
                <a:moveTo>
                  <a:pt x="701294" y="0"/>
                </a:moveTo>
                <a:lnTo>
                  <a:pt x="0" y="0"/>
                </a:lnTo>
                <a:lnTo>
                  <a:pt x="0" y="19050"/>
                </a:lnTo>
                <a:lnTo>
                  <a:pt x="682244" y="19050"/>
                </a:lnTo>
                <a:lnTo>
                  <a:pt x="701294" y="38087"/>
                </a:lnTo>
                <a:lnTo>
                  <a:pt x="720344" y="38087"/>
                </a:lnTo>
                <a:lnTo>
                  <a:pt x="720344" y="19050"/>
                </a:lnTo>
                <a:lnTo>
                  <a:pt x="718819" y="11633"/>
                </a:lnTo>
                <a:lnTo>
                  <a:pt x="714756" y="5575"/>
                </a:lnTo>
                <a:lnTo>
                  <a:pt x="708659" y="1498"/>
                </a:lnTo>
                <a:lnTo>
                  <a:pt x="701294" y="0"/>
                </a:lnTo>
                <a:close/>
              </a:path>
            </a:pathLst>
          </a:custGeom>
          <a:solidFill>
            <a:srgbClr val="D20079"/>
          </a:solidFill>
        </p:spPr>
        <p:txBody>
          <a:bodyPr wrap="square" lIns="0" tIns="0" rIns="0" bIns="0" rtlCol="0"/>
          <a:lstStyle/>
          <a:p>
            <a:endParaRPr/>
          </a:p>
        </p:txBody>
      </p:sp>
      <p:sp>
        <p:nvSpPr>
          <p:cNvPr id="82" name="object 82"/>
          <p:cNvSpPr/>
          <p:nvPr/>
        </p:nvSpPr>
        <p:spPr>
          <a:xfrm>
            <a:off x="2364485" y="5600522"/>
            <a:ext cx="19050" cy="19050"/>
          </a:xfrm>
          <a:custGeom>
            <a:avLst/>
            <a:gdLst/>
            <a:ahLst/>
            <a:cxnLst/>
            <a:rect l="l" t="t" r="r" b="b"/>
            <a:pathLst>
              <a:path w="19050" h="19050">
                <a:moveTo>
                  <a:pt x="19050" y="0"/>
                </a:moveTo>
                <a:lnTo>
                  <a:pt x="0" y="0"/>
                </a:lnTo>
                <a:lnTo>
                  <a:pt x="19050" y="19050"/>
                </a:lnTo>
                <a:lnTo>
                  <a:pt x="19050" y="0"/>
                </a:lnTo>
                <a:close/>
              </a:path>
            </a:pathLst>
          </a:custGeom>
          <a:solidFill>
            <a:srgbClr val="D20079"/>
          </a:solidFill>
        </p:spPr>
        <p:txBody>
          <a:bodyPr wrap="square" lIns="0" tIns="0" rIns="0" bIns="0" rtlCol="0"/>
          <a:lstStyle/>
          <a:p>
            <a:endParaRPr/>
          </a:p>
        </p:txBody>
      </p:sp>
      <p:sp>
        <p:nvSpPr>
          <p:cNvPr id="83" name="object 83"/>
          <p:cNvSpPr/>
          <p:nvPr/>
        </p:nvSpPr>
        <p:spPr>
          <a:xfrm>
            <a:off x="565404" y="2154935"/>
            <a:ext cx="3599815" cy="408305"/>
          </a:xfrm>
          <a:custGeom>
            <a:avLst/>
            <a:gdLst/>
            <a:ahLst/>
            <a:cxnLst/>
            <a:rect l="l" t="t" r="r" b="b"/>
            <a:pathLst>
              <a:path w="3599815" h="408305">
                <a:moveTo>
                  <a:pt x="3531489" y="0"/>
                </a:moveTo>
                <a:lnTo>
                  <a:pt x="68072" y="0"/>
                </a:lnTo>
                <a:lnTo>
                  <a:pt x="41579" y="5334"/>
                </a:lnTo>
                <a:lnTo>
                  <a:pt x="19939" y="19938"/>
                </a:lnTo>
                <a:lnTo>
                  <a:pt x="5346" y="41528"/>
                </a:lnTo>
                <a:lnTo>
                  <a:pt x="0" y="67944"/>
                </a:lnTo>
                <a:lnTo>
                  <a:pt x="0" y="339978"/>
                </a:lnTo>
                <a:lnTo>
                  <a:pt x="5346" y="366394"/>
                </a:lnTo>
                <a:lnTo>
                  <a:pt x="19939" y="387985"/>
                </a:lnTo>
                <a:lnTo>
                  <a:pt x="41579" y="402589"/>
                </a:lnTo>
                <a:lnTo>
                  <a:pt x="68072" y="407924"/>
                </a:lnTo>
                <a:lnTo>
                  <a:pt x="3531489" y="407924"/>
                </a:lnTo>
                <a:lnTo>
                  <a:pt x="3558032" y="402589"/>
                </a:lnTo>
                <a:lnTo>
                  <a:pt x="3579622" y="387985"/>
                </a:lnTo>
                <a:lnTo>
                  <a:pt x="3594227" y="366394"/>
                </a:lnTo>
                <a:lnTo>
                  <a:pt x="3599561" y="339978"/>
                </a:lnTo>
                <a:lnTo>
                  <a:pt x="3599561" y="67944"/>
                </a:lnTo>
                <a:lnTo>
                  <a:pt x="3594227" y="41528"/>
                </a:lnTo>
                <a:lnTo>
                  <a:pt x="3579622" y="19938"/>
                </a:lnTo>
                <a:lnTo>
                  <a:pt x="3558032" y="5334"/>
                </a:lnTo>
                <a:lnTo>
                  <a:pt x="3531489" y="0"/>
                </a:lnTo>
                <a:close/>
              </a:path>
            </a:pathLst>
          </a:custGeom>
          <a:solidFill>
            <a:srgbClr val="12215B"/>
          </a:solidFill>
        </p:spPr>
        <p:txBody>
          <a:bodyPr wrap="square" lIns="0" tIns="0" rIns="0" bIns="0" rtlCol="0"/>
          <a:lstStyle/>
          <a:p>
            <a:endParaRPr/>
          </a:p>
        </p:txBody>
      </p:sp>
      <p:sp>
        <p:nvSpPr>
          <p:cNvPr id="84" name="object 84"/>
          <p:cNvSpPr/>
          <p:nvPr/>
        </p:nvSpPr>
        <p:spPr>
          <a:xfrm>
            <a:off x="566166" y="2155698"/>
            <a:ext cx="3599815" cy="408305"/>
          </a:xfrm>
          <a:custGeom>
            <a:avLst/>
            <a:gdLst/>
            <a:ahLst/>
            <a:cxnLst/>
            <a:rect l="l" t="t" r="r" b="b"/>
            <a:pathLst>
              <a:path w="3599815" h="408305">
                <a:moveTo>
                  <a:pt x="0" y="67944"/>
                </a:moveTo>
                <a:lnTo>
                  <a:pt x="5346" y="41528"/>
                </a:lnTo>
                <a:lnTo>
                  <a:pt x="19939" y="19938"/>
                </a:lnTo>
                <a:lnTo>
                  <a:pt x="41579" y="5334"/>
                </a:lnTo>
                <a:lnTo>
                  <a:pt x="68072" y="0"/>
                </a:lnTo>
                <a:lnTo>
                  <a:pt x="3531489" y="0"/>
                </a:lnTo>
                <a:lnTo>
                  <a:pt x="3558032" y="5334"/>
                </a:lnTo>
                <a:lnTo>
                  <a:pt x="3579622" y="19938"/>
                </a:lnTo>
                <a:lnTo>
                  <a:pt x="3594227" y="41528"/>
                </a:lnTo>
                <a:lnTo>
                  <a:pt x="3599561" y="67944"/>
                </a:lnTo>
                <a:lnTo>
                  <a:pt x="3599561" y="339978"/>
                </a:lnTo>
                <a:lnTo>
                  <a:pt x="3594227" y="366394"/>
                </a:lnTo>
                <a:lnTo>
                  <a:pt x="3579622" y="387985"/>
                </a:lnTo>
                <a:lnTo>
                  <a:pt x="3558032" y="402589"/>
                </a:lnTo>
                <a:lnTo>
                  <a:pt x="3531489" y="407924"/>
                </a:lnTo>
                <a:lnTo>
                  <a:pt x="68072" y="407924"/>
                </a:lnTo>
                <a:lnTo>
                  <a:pt x="41579" y="402589"/>
                </a:lnTo>
                <a:lnTo>
                  <a:pt x="19939" y="387985"/>
                </a:lnTo>
                <a:lnTo>
                  <a:pt x="5346" y="366394"/>
                </a:lnTo>
                <a:lnTo>
                  <a:pt x="0" y="339978"/>
                </a:lnTo>
                <a:lnTo>
                  <a:pt x="0" y="67944"/>
                </a:lnTo>
                <a:close/>
              </a:path>
            </a:pathLst>
          </a:custGeom>
          <a:ln w="25907">
            <a:solidFill>
              <a:srgbClr val="091741"/>
            </a:solidFill>
          </a:ln>
        </p:spPr>
        <p:txBody>
          <a:bodyPr wrap="square" lIns="0" tIns="0" rIns="0" bIns="0" rtlCol="0"/>
          <a:lstStyle/>
          <a:p>
            <a:endParaRPr/>
          </a:p>
        </p:txBody>
      </p:sp>
      <p:sp>
        <p:nvSpPr>
          <p:cNvPr id="85" name="object 85"/>
          <p:cNvSpPr txBox="1"/>
          <p:nvPr/>
        </p:nvSpPr>
        <p:spPr>
          <a:xfrm>
            <a:off x="1417700" y="2226232"/>
            <a:ext cx="2160905" cy="280035"/>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H</a:t>
            </a:r>
            <a:r>
              <a:rPr sz="2000" b="1" spc="-10" dirty="0">
                <a:solidFill>
                  <a:srgbClr val="FFFFFF"/>
                </a:solidFill>
                <a:latin typeface="微软雅黑"/>
                <a:cs typeface="微软雅黑"/>
              </a:rPr>
              <a:t>a</a:t>
            </a:r>
            <a:r>
              <a:rPr sz="2000" b="1" dirty="0">
                <a:solidFill>
                  <a:srgbClr val="FFFFFF"/>
                </a:solidFill>
                <a:latin typeface="微软雅黑"/>
                <a:cs typeface="微软雅黑"/>
              </a:rPr>
              <a:t>nd</a:t>
            </a:r>
            <a:r>
              <a:rPr sz="2000" b="1" spc="-10" dirty="0">
                <a:solidFill>
                  <a:srgbClr val="FFFFFF"/>
                </a:solidFill>
                <a:latin typeface="微软雅黑"/>
                <a:cs typeface="微软雅黑"/>
              </a:rPr>
              <a:t>l</a:t>
            </a:r>
            <a:r>
              <a:rPr sz="2000" b="1" dirty="0">
                <a:solidFill>
                  <a:srgbClr val="FFFFFF"/>
                </a:solidFill>
                <a:latin typeface="微软雅黑"/>
                <a:cs typeface="微软雅黑"/>
              </a:rPr>
              <a:t>e</a:t>
            </a:r>
            <a:r>
              <a:rPr sz="2000" b="1" spc="-85" dirty="0">
                <a:solidFill>
                  <a:srgbClr val="FFFFFF"/>
                </a:solidFill>
                <a:latin typeface="微软雅黑"/>
                <a:cs typeface="微软雅黑"/>
              </a:rPr>
              <a:t> </a:t>
            </a:r>
            <a:r>
              <a:rPr sz="2000" b="1" dirty="0">
                <a:solidFill>
                  <a:srgbClr val="FFFFFF"/>
                </a:solidFill>
                <a:latin typeface="微软雅黑"/>
                <a:cs typeface="微软雅黑"/>
              </a:rPr>
              <a:t>s</a:t>
            </a:r>
            <a:r>
              <a:rPr sz="2000" b="1" spc="-10" dirty="0">
                <a:solidFill>
                  <a:srgbClr val="FFFFFF"/>
                </a:solidFill>
                <a:latin typeface="微软雅黑"/>
                <a:cs typeface="微软雅黑"/>
              </a:rPr>
              <a:t>t</a:t>
            </a:r>
            <a:r>
              <a:rPr sz="2000" b="1" dirty="0">
                <a:solidFill>
                  <a:srgbClr val="FFFFFF"/>
                </a:solidFill>
                <a:latin typeface="微软雅黑"/>
                <a:cs typeface="微软雅黑"/>
              </a:rPr>
              <a:t>ruc</a:t>
            </a:r>
            <a:r>
              <a:rPr sz="2000" b="1" spc="-10" dirty="0">
                <a:solidFill>
                  <a:srgbClr val="FFFFFF"/>
                </a:solidFill>
                <a:latin typeface="微软雅黑"/>
                <a:cs typeface="微软雅黑"/>
              </a:rPr>
              <a:t>t</a:t>
            </a:r>
            <a:r>
              <a:rPr sz="2000" b="1" dirty="0">
                <a:solidFill>
                  <a:srgbClr val="FFFFFF"/>
                </a:solidFill>
                <a:latin typeface="微软雅黑"/>
                <a:cs typeface="微软雅黑"/>
              </a:rPr>
              <a:t>u</a:t>
            </a:r>
            <a:r>
              <a:rPr sz="2000" b="1" spc="-15" dirty="0">
                <a:solidFill>
                  <a:srgbClr val="FFFFFF"/>
                </a:solidFill>
                <a:latin typeface="微软雅黑"/>
                <a:cs typeface="微软雅黑"/>
              </a:rPr>
              <a:t>r</a:t>
            </a:r>
            <a:r>
              <a:rPr sz="2000" b="1" dirty="0">
                <a:solidFill>
                  <a:srgbClr val="FFFFFF"/>
                </a:solidFill>
                <a:latin typeface="微软雅黑"/>
                <a:cs typeface="微软雅黑"/>
              </a:rPr>
              <a:t>e</a:t>
            </a:r>
            <a:endParaRPr sz="2000">
              <a:latin typeface="微软雅黑"/>
              <a:cs typeface="微软雅黑"/>
            </a:endParaRPr>
          </a:p>
        </p:txBody>
      </p:sp>
      <p:sp>
        <p:nvSpPr>
          <p:cNvPr id="86" name="object 86"/>
          <p:cNvSpPr/>
          <p:nvPr/>
        </p:nvSpPr>
        <p:spPr>
          <a:xfrm>
            <a:off x="963167" y="2874264"/>
            <a:ext cx="3923029" cy="410209"/>
          </a:xfrm>
          <a:custGeom>
            <a:avLst/>
            <a:gdLst/>
            <a:ahLst/>
            <a:cxnLst/>
            <a:rect l="l" t="t" r="r" b="b"/>
            <a:pathLst>
              <a:path w="3923029" h="410210">
                <a:moveTo>
                  <a:pt x="3848227" y="0"/>
                </a:moveTo>
                <a:lnTo>
                  <a:pt x="74460" y="0"/>
                </a:lnTo>
                <a:lnTo>
                  <a:pt x="45478" y="5334"/>
                </a:lnTo>
                <a:lnTo>
                  <a:pt x="21805" y="20065"/>
                </a:lnTo>
                <a:lnTo>
                  <a:pt x="5854" y="41656"/>
                </a:lnTo>
                <a:lnTo>
                  <a:pt x="0" y="68325"/>
                </a:lnTo>
                <a:lnTo>
                  <a:pt x="0" y="341375"/>
                </a:lnTo>
                <a:lnTo>
                  <a:pt x="5854" y="368046"/>
                </a:lnTo>
                <a:lnTo>
                  <a:pt x="21805" y="389636"/>
                </a:lnTo>
                <a:lnTo>
                  <a:pt x="45478" y="404368"/>
                </a:lnTo>
                <a:lnTo>
                  <a:pt x="74460" y="409701"/>
                </a:lnTo>
                <a:lnTo>
                  <a:pt x="3848227" y="409701"/>
                </a:lnTo>
                <a:lnTo>
                  <a:pt x="3877182" y="404368"/>
                </a:lnTo>
                <a:lnTo>
                  <a:pt x="3900804" y="389636"/>
                </a:lnTo>
                <a:lnTo>
                  <a:pt x="3916806" y="368046"/>
                </a:lnTo>
                <a:lnTo>
                  <a:pt x="3922649" y="341375"/>
                </a:lnTo>
                <a:lnTo>
                  <a:pt x="3922649" y="68325"/>
                </a:lnTo>
                <a:lnTo>
                  <a:pt x="3916806" y="41656"/>
                </a:lnTo>
                <a:lnTo>
                  <a:pt x="3900804" y="20065"/>
                </a:lnTo>
                <a:lnTo>
                  <a:pt x="3877182" y="5334"/>
                </a:lnTo>
                <a:lnTo>
                  <a:pt x="3848227" y="0"/>
                </a:lnTo>
                <a:close/>
              </a:path>
            </a:pathLst>
          </a:custGeom>
          <a:solidFill>
            <a:srgbClr val="39A9DC"/>
          </a:solidFill>
        </p:spPr>
        <p:txBody>
          <a:bodyPr wrap="square" lIns="0" tIns="0" rIns="0" bIns="0" rtlCol="0"/>
          <a:lstStyle/>
          <a:p>
            <a:endParaRPr/>
          </a:p>
        </p:txBody>
      </p:sp>
      <p:sp>
        <p:nvSpPr>
          <p:cNvPr id="87" name="object 87"/>
          <p:cNvSpPr/>
          <p:nvPr/>
        </p:nvSpPr>
        <p:spPr>
          <a:xfrm>
            <a:off x="963930" y="2875026"/>
            <a:ext cx="3923029" cy="410209"/>
          </a:xfrm>
          <a:custGeom>
            <a:avLst/>
            <a:gdLst/>
            <a:ahLst/>
            <a:cxnLst/>
            <a:rect l="l" t="t" r="r" b="b"/>
            <a:pathLst>
              <a:path w="3923029" h="410210">
                <a:moveTo>
                  <a:pt x="0" y="68325"/>
                </a:moveTo>
                <a:lnTo>
                  <a:pt x="5854" y="41656"/>
                </a:lnTo>
                <a:lnTo>
                  <a:pt x="21805" y="20065"/>
                </a:lnTo>
                <a:lnTo>
                  <a:pt x="45478" y="5334"/>
                </a:lnTo>
                <a:lnTo>
                  <a:pt x="74460" y="0"/>
                </a:lnTo>
                <a:lnTo>
                  <a:pt x="3848227" y="0"/>
                </a:lnTo>
                <a:lnTo>
                  <a:pt x="3877182" y="5334"/>
                </a:lnTo>
                <a:lnTo>
                  <a:pt x="3900804" y="20065"/>
                </a:lnTo>
                <a:lnTo>
                  <a:pt x="3916806" y="41656"/>
                </a:lnTo>
                <a:lnTo>
                  <a:pt x="3922649" y="68325"/>
                </a:lnTo>
                <a:lnTo>
                  <a:pt x="3922649" y="341375"/>
                </a:lnTo>
                <a:lnTo>
                  <a:pt x="3916806" y="368046"/>
                </a:lnTo>
                <a:lnTo>
                  <a:pt x="3900804" y="389636"/>
                </a:lnTo>
                <a:lnTo>
                  <a:pt x="3877182" y="404368"/>
                </a:lnTo>
                <a:lnTo>
                  <a:pt x="3848227" y="409701"/>
                </a:lnTo>
                <a:lnTo>
                  <a:pt x="74460" y="409701"/>
                </a:lnTo>
                <a:lnTo>
                  <a:pt x="45478" y="404368"/>
                </a:lnTo>
                <a:lnTo>
                  <a:pt x="21805" y="389636"/>
                </a:lnTo>
                <a:lnTo>
                  <a:pt x="5854" y="368046"/>
                </a:lnTo>
                <a:lnTo>
                  <a:pt x="0" y="341375"/>
                </a:lnTo>
                <a:lnTo>
                  <a:pt x="0" y="68325"/>
                </a:lnTo>
                <a:close/>
              </a:path>
            </a:pathLst>
          </a:custGeom>
          <a:ln w="25908">
            <a:solidFill>
              <a:srgbClr val="27799F"/>
            </a:solidFill>
          </a:ln>
        </p:spPr>
        <p:txBody>
          <a:bodyPr wrap="square" lIns="0" tIns="0" rIns="0" bIns="0" rtlCol="0"/>
          <a:lstStyle/>
          <a:p>
            <a:endParaRPr/>
          </a:p>
        </p:txBody>
      </p:sp>
      <p:sp>
        <p:nvSpPr>
          <p:cNvPr id="88" name="object 88"/>
          <p:cNvSpPr txBox="1"/>
          <p:nvPr/>
        </p:nvSpPr>
        <p:spPr>
          <a:xfrm>
            <a:off x="1873123" y="2956482"/>
            <a:ext cx="2622550" cy="280035"/>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In</a:t>
            </a:r>
            <a:r>
              <a:rPr sz="2000" b="1" spc="-10" dirty="0">
                <a:solidFill>
                  <a:srgbClr val="FFFFFF"/>
                </a:solidFill>
                <a:latin typeface="微软雅黑"/>
                <a:cs typeface="微软雅黑"/>
              </a:rPr>
              <a:t>s</a:t>
            </a:r>
            <a:r>
              <a:rPr sz="2000" b="1" spc="-5" dirty="0">
                <a:solidFill>
                  <a:srgbClr val="FFFFFF"/>
                </a:solidFill>
                <a:latin typeface="微软雅黑"/>
                <a:cs typeface="微软雅黑"/>
              </a:rPr>
              <a:t>t</a:t>
            </a:r>
            <a:r>
              <a:rPr sz="2000" b="1" spc="-10" dirty="0">
                <a:solidFill>
                  <a:srgbClr val="FFFFFF"/>
                </a:solidFill>
                <a:latin typeface="微软雅黑"/>
                <a:cs typeface="微软雅黑"/>
              </a:rPr>
              <a:t>a</a:t>
            </a:r>
            <a:r>
              <a:rPr sz="2000" b="1" spc="5" dirty="0">
                <a:solidFill>
                  <a:srgbClr val="FFFFFF"/>
                </a:solidFill>
                <a:latin typeface="微软雅黑"/>
                <a:cs typeface="微软雅黑"/>
              </a:rPr>
              <a:t>n</a:t>
            </a:r>
            <a:r>
              <a:rPr sz="2000" b="1" spc="-5" dirty="0">
                <a:solidFill>
                  <a:srgbClr val="FFFFFF"/>
                </a:solidFill>
                <a:latin typeface="微软雅黑"/>
                <a:cs typeface="微软雅黑"/>
              </a:rPr>
              <a:t>ce</a:t>
            </a:r>
            <a:r>
              <a:rPr sz="2000" b="1" dirty="0">
                <a:solidFill>
                  <a:srgbClr val="FFFFFF"/>
                </a:solidFill>
                <a:latin typeface="微软雅黑"/>
                <a:cs typeface="微软雅黑"/>
              </a:rPr>
              <a:t>（外设实</a:t>
            </a:r>
            <a:r>
              <a:rPr sz="2000" b="1" spc="-15" dirty="0">
                <a:solidFill>
                  <a:srgbClr val="FFFFFF"/>
                </a:solidFill>
                <a:latin typeface="微软雅黑"/>
                <a:cs typeface="微软雅黑"/>
              </a:rPr>
              <a:t>例</a:t>
            </a:r>
            <a:r>
              <a:rPr sz="2000" b="1" dirty="0">
                <a:solidFill>
                  <a:srgbClr val="FFFFFF"/>
                </a:solidFill>
                <a:latin typeface="微软雅黑"/>
                <a:cs typeface="微软雅黑"/>
              </a:rPr>
              <a:t>）</a:t>
            </a:r>
            <a:endParaRPr sz="2000">
              <a:latin typeface="微软雅黑"/>
              <a:cs typeface="微软雅黑"/>
            </a:endParaRPr>
          </a:p>
        </p:txBody>
      </p:sp>
      <p:sp>
        <p:nvSpPr>
          <p:cNvPr id="89" name="object 89"/>
          <p:cNvSpPr/>
          <p:nvPr/>
        </p:nvSpPr>
        <p:spPr>
          <a:xfrm>
            <a:off x="963167" y="3602735"/>
            <a:ext cx="3923029" cy="410209"/>
          </a:xfrm>
          <a:custGeom>
            <a:avLst/>
            <a:gdLst/>
            <a:ahLst/>
            <a:cxnLst/>
            <a:rect l="l" t="t" r="r" b="b"/>
            <a:pathLst>
              <a:path w="3923029" h="410210">
                <a:moveTo>
                  <a:pt x="3848227" y="0"/>
                </a:moveTo>
                <a:lnTo>
                  <a:pt x="74460" y="0"/>
                </a:lnTo>
                <a:lnTo>
                  <a:pt x="45478" y="5333"/>
                </a:lnTo>
                <a:lnTo>
                  <a:pt x="21805" y="20065"/>
                </a:lnTo>
                <a:lnTo>
                  <a:pt x="5854" y="41656"/>
                </a:lnTo>
                <a:lnTo>
                  <a:pt x="0" y="68325"/>
                </a:lnTo>
                <a:lnTo>
                  <a:pt x="0" y="341375"/>
                </a:lnTo>
                <a:lnTo>
                  <a:pt x="5854" y="368045"/>
                </a:lnTo>
                <a:lnTo>
                  <a:pt x="21805" y="389636"/>
                </a:lnTo>
                <a:lnTo>
                  <a:pt x="45478" y="404368"/>
                </a:lnTo>
                <a:lnTo>
                  <a:pt x="74460" y="409701"/>
                </a:lnTo>
                <a:lnTo>
                  <a:pt x="3848227" y="409701"/>
                </a:lnTo>
                <a:lnTo>
                  <a:pt x="3877182" y="404368"/>
                </a:lnTo>
                <a:lnTo>
                  <a:pt x="3900804" y="389636"/>
                </a:lnTo>
                <a:lnTo>
                  <a:pt x="3916806" y="368045"/>
                </a:lnTo>
                <a:lnTo>
                  <a:pt x="3922649" y="341375"/>
                </a:lnTo>
                <a:lnTo>
                  <a:pt x="3922649" y="68325"/>
                </a:lnTo>
                <a:lnTo>
                  <a:pt x="3916806" y="41656"/>
                </a:lnTo>
                <a:lnTo>
                  <a:pt x="3900804" y="20065"/>
                </a:lnTo>
                <a:lnTo>
                  <a:pt x="3877182" y="5333"/>
                </a:lnTo>
                <a:lnTo>
                  <a:pt x="3848227" y="0"/>
                </a:lnTo>
                <a:close/>
              </a:path>
            </a:pathLst>
          </a:custGeom>
          <a:solidFill>
            <a:srgbClr val="39A9DC"/>
          </a:solidFill>
        </p:spPr>
        <p:txBody>
          <a:bodyPr wrap="square" lIns="0" tIns="0" rIns="0" bIns="0" rtlCol="0"/>
          <a:lstStyle/>
          <a:p>
            <a:endParaRPr/>
          </a:p>
        </p:txBody>
      </p:sp>
      <p:sp>
        <p:nvSpPr>
          <p:cNvPr id="90" name="object 90"/>
          <p:cNvSpPr/>
          <p:nvPr/>
        </p:nvSpPr>
        <p:spPr>
          <a:xfrm>
            <a:off x="963930" y="3603497"/>
            <a:ext cx="3923029" cy="410209"/>
          </a:xfrm>
          <a:custGeom>
            <a:avLst/>
            <a:gdLst/>
            <a:ahLst/>
            <a:cxnLst/>
            <a:rect l="l" t="t" r="r" b="b"/>
            <a:pathLst>
              <a:path w="3923029" h="410210">
                <a:moveTo>
                  <a:pt x="0" y="68325"/>
                </a:moveTo>
                <a:lnTo>
                  <a:pt x="5854" y="41656"/>
                </a:lnTo>
                <a:lnTo>
                  <a:pt x="21805" y="20065"/>
                </a:lnTo>
                <a:lnTo>
                  <a:pt x="45478" y="5333"/>
                </a:lnTo>
                <a:lnTo>
                  <a:pt x="74460" y="0"/>
                </a:lnTo>
                <a:lnTo>
                  <a:pt x="3848227" y="0"/>
                </a:lnTo>
                <a:lnTo>
                  <a:pt x="3877182" y="5333"/>
                </a:lnTo>
                <a:lnTo>
                  <a:pt x="3900804" y="20065"/>
                </a:lnTo>
                <a:lnTo>
                  <a:pt x="3916806" y="41656"/>
                </a:lnTo>
                <a:lnTo>
                  <a:pt x="3922649" y="68325"/>
                </a:lnTo>
                <a:lnTo>
                  <a:pt x="3922649" y="341375"/>
                </a:lnTo>
                <a:lnTo>
                  <a:pt x="3916806" y="368045"/>
                </a:lnTo>
                <a:lnTo>
                  <a:pt x="3900804" y="389635"/>
                </a:lnTo>
                <a:lnTo>
                  <a:pt x="3877182" y="404368"/>
                </a:lnTo>
                <a:lnTo>
                  <a:pt x="3848227" y="409701"/>
                </a:lnTo>
                <a:lnTo>
                  <a:pt x="74460" y="409701"/>
                </a:lnTo>
                <a:lnTo>
                  <a:pt x="45478" y="404368"/>
                </a:lnTo>
                <a:lnTo>
                  <a:pt x="21805" y="389635"/>
                </a:lnTo>
                <a:lnTo>
                  <a:pt x="5854" y="368045"/>
                </a:lnTo>
                <a:lnTo>
                  <a:pt x="0" y="341375"/>
                </a:lnTo>
                <a:lnTo>
                  <a:pt x="0" y="68325"/>
                </a:lnTo>
                <a:close/>
              </a:path>
            </a:pathLst>
          </a:custGeom>
          <a:ln w="25908">
            <a:solidFill>
              <a:srgbClr val="27799F"/>
            </a:solidFill>
          </a:ln>
        </p:spPr>
        <p:txBody>
          <a:bodyPr wrap="square" lIns="0" tIns="0" rIns="0" bIns="0" rtlCol="0"/>
          <a:lstStyle/>
          <a:p>
            <a:endParaRPr/>
          </a:p>
        </p:txBody>
      </p:sp>
      <p:sp>
        <p:nvSpPr>
          <p:cNvPr id="91" name="object 91"/>
          <p:cNvSpPr txBox="1"/>
          <p:nvPr/>
        </p:nvSpPr>
        <p:spPr>
          <a:xfrm>
            <a:off x="1075436" y="3683176"/>
            <a:ext cx="3900170" cy="280035"/>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Ini</a:t>
            </a:r>
            <a:r>
              <a:rPr sz="2000" b="1" spc="-15" dirty="0">
                <a:solidFill>
                  <a:srgbClr val="FFFFFF"/>
                </a:solidFill>
                <a:latin typeface="微软雅黑"/>
                <a:cs typeface="微软雅黑"/>
              </a:rPr>
              <a:t>t</a:t>
            </a:r>
            <a:r>
              <a:rPr sz="2000" b="1" dirty="0">
                <a:solidFill>
                  <a:srgbClr val="FFFFFF"/>
                </a:solidFill>
                <a:latin typeface="微软雅黑"/>
                <a:cs typeface="微软雅黑"/>
              </a:rPr>
              <a:t>i</a:t>
            </a:r>
            <a:r>
              <a:rPr sz="2000" b="1" spc="-15" dirty="0">
                <a:solidFill>
                  <a:srgbClr val="FFFFFF"/>
                </a:solidFill>
                <a:latin typeface="微软雅黑"/>
                <a:cs typeface="微软雅黑"/>
              </a:rPr>
              <a:t>a</a:t>
            </a:r>
            <a:r>
              <a:rPr sz="2000" b="1" dirty="0">
                <a:solidFill>
                  <a:srgbClr val="FFFFFF"/>
                </a:solidFill>
                <a:latin typeface="微软雅黑"/>
                <a:cs typeface="微软雅黑"/>
              </a:rPr>
              <a:t>l</a:t>
            </a:r>
            <a:r>
              <a:rPr sz="2000" b="1" spc="-10" dirty="0">
                <a:solidFill>
                  <a:srgbClr val="FFFFFF"/>
                </a:solidFill>
                <a:latin typeface="微软雅黑"/>
                <a:cs typeface="微软雅黑"/>
              </a:rPr>
              <a:t>i</a:t>
            </a:r>
            <a:r>
              <a:rPr sz="2000" b="1" dirty="0">
                <a:solidFill>
                  <a:srgbClr val="FFFFFF"/>
                </a:solidFill>
                <a:latin typeface="微软雅黑"/>
                <a:cs typeface="微软雅黑"/>
              </a:rPr>
              <a:t>za</a:t>
            </a:r>
            <a:r>
              <a:rPr sz="2000" b="1" spc="-10" dirty="0">
                <a:solidFill>
                  <a:srgbClr val="FFFFFF"/>
                </a:solidFill>
                <a:latin typeface="微软雅黑"/>
                <a:cs typeface="微软雅黑"/>
              </a:rPr>
              <a:t>t</a:t>
            </a:r>
            <a:r>
              <a:rPr sz="2000" b="1" spc="-20" dirty="0">
                <a:solidFill>
                  <a:srgbClr val="FFFFFF"/>
                </a:solidFill>
                <a:latin typeface="微软雅黑"/>
                <a:cs typeface="微软雅黑"/>
              </a:rPr>
              <a:t>i</a:t>
            </a:r>
            <a:r>
              <a:rPr sz="2000" b="1" spc="-10" dirty="0">
                <a:solidFill>
                  <a:srgbClr val="FFFFFF"/>
                </a:solidFill>
                <a:latin typeface="微软雅黑"/>
                <a:cs typeface="微软雅黑"/>
              </a:rPr>
              <a:t>o</a:t>
            </a:r>
            <a:r>
              <a:rPr sz="2000" b="1" spc="-5" dirty="0">
                <a:solidFill>
                  <a:srgbClr val="FFFFFF"/>
                </a:solidFill>
                <a:latin typeface="微软雅黑"/>
                <a:cs typeface="微软雅黑"/>
              </a:rPr>
              <a:t>n</a:t>
            </a:r>
            <a:r>
              <a:rPr sz="2000" b="1" dirty="0">
                <a:solidFill>
                  <a:srgbClr val="FFFFFF"/>
                </a:solidFill>
                <a:latin typeface="微软雅黑"/>
                <a:cs typeface="微软雅黑"/>
              </a:rPr>
              <a:t>（初始化</a:t>
            </a:r>
            <a:r>
              <a:rPr sz="2000" b="1" spc="-15" dirty="0">
                <a:solidFill>
                  <a:srgbClr val="FFFFFF"/>
                </a:solidFill>
                <a:latin typeface="微软雅黑"/>
                <a:cs typeface="微软雅黑"/>
              </a:rPr>
              <a:t>配</a:t>
            </a:r>
            <a:r>
              <a:rPr sz="2000" b="1" dirty="0">
                <a:solidFill>
                  <a:srgbClr val="FFFFFF"/>
                </a:solidFill>
                <a:latin typeface="微软雅黑"/>
                <a:cs typeface="微软雅黑"/>
              </a:rPr>
              <a:t>置参数）</a:t>
            </a:r>
            <a:endParaRPr sz="2000">
              <a:latin typeface="微软雅黑"/>
              <a:cs typeface="微软雅黑"/>
            </a:endParaRPr>
          </a:p>
        </p:txBody>
      </p:sp>
      <p:sp>
        <p:nvSpPr>
          <p:cNvPr id="92" name="object 92"/>
          <p:cNvSpPr/>
          <p:nvPr/>
        </p:nvSpPr>
        <p:spPr>
          <a:xfrm>
            <a:off x="976883" y="4332732"/>
            <a:ext cx="3909060" cy="410209"/>
          </a:xfrm>
          <a:custGeom>
            <a:avLst/>
            <a:gdLst/>
            <a:ahLst/>
            <a:cxnLst/>
            <a:rect l="l" t="t" r="r" b="b"/>
            <a:pathLst>
              <a:path w="3909060" h="410210">
                <a:moveTo>
                  <a:pt x="3834765" y="0"/>
                </a:moveTo>
                <a:lnTo>
                  <a:pt x="74193" y="0"/>
                </a:lnTo>
                <a:lnTo>
                  <a:pt x="45313" y="5334"/>
                </a:lnTo>
                <a:lnTo>
                  <a:pt x="21729" y="20066"/>
                </a:lnTo>
                <a:lnTo>
                  <a:pt x="5829" y="41656"/>
                </a:lnTo>
                <a:lnTo>
                  <a:pt x="0" y="68326"/>
                </a:lnTo>
                <a:lnTo>
                  <a:pt x="0" y="341376"/>
                </a:lnTo>
                <a:lnTo>
                  <a:pt x="5829" y="368046"/>
                </a:lnTo>
                <a:lnTo>
                  <a:pt x="21729" y="389636"/>
                </a:lnTo>
                <a:lnTo>
                  <a:pt x="45313" y="404368"/>
                </a:lnTo>
                <a:lnTo>
                  <a:pt x="74193" y="409702"/>
                </a:lnTo>
                <a:lnTo>
                  <a:pt x="3834765" y="409702"/>
                </a:lnTo>
                <a:lnTo>
                  <a:pt x="3863593" y="404368"/>
                </a:lnTo>
                <a:lnTo>
                  <a:pt x="3887216" y="389636"/>
                </a:lnTo>
                <a:lnTo>
                  <a:pt x="3903091" y="368046"/>
                </a:lnTo>
                <a:lnTo>
                  <a:pt x="3908932" y="341376"/>
                </a:lnTo>
                <a:lnTo>
                  <a:pt x="3908932" y="68326"/>
                </a:lnTo>
                <a:lnTo>
                  <a:pt x="3903091" y="41656"/>
                </a:lnTo>
                <a:lnTo>
                  <a:pt x="3887216" y="20066"/>
                </a:lnTo>
                <a:lnTo>
                  <a:pt x="3863593" y="5334"/>
                </a:lnTo>
                <a:lnTo>
                  <a:pt x="3834765" y="0"/>
                </a:lnTo>
                <a:close/>
              </a:path>
            </a:pathLst>
          </a:custGeom>
          <a:solidFill>
            <a:srgbClr val="39A9DC"/>
          </a:solidFill>
        </p:spPr>
        <p:txBody>
          <a:bodyPr wrap="square" lIns="0" tIns="0" rIns="0" bIns="0" rtlCol="0"/>
          <a:lstStyle/>
          <a:p>
            <a:endParaRPr/>
          </a:p>
        </p:txBody>
      </p:sp>
      <p:sp>
        <p:nvSpPr>
          <p:cNvPr id="93" name="object 93"/>
          <p:cNvSpPr/>
          <p:nvPr/>
        </p:nvSpPr>
        <p:spPr>
          <a:xfrm>
            <a:off x="963930" y="4333494"/>
            <a:ext cx="3923029" cy="410209"/>
          </a:xfrm>
          <a:custGeom>
            <a:avLst/>
            <a:gdLst/>
            <a:ahLst/>
            <a:cxnLst/>
            <a:rect l="l" t="t" r="r" b="b"/>
            <a:pathLst>
              <a:path w="3923029" h="410210">
                <a:moveTo>
                  <a:pt x="0" y="68325"/>
                </a:moveTo>
                <a:lnTo>
                  <a:pt x="5854" y="41655"/>
                </a:lnTo>
                <a:lnTo>
                  <a:pt x="21805" y="20065"/>
                </a:lnTo>
                <a:lnTo>
                  <a:pt x="45478" y="5333"/>
                </a:lnTo>
                <a:lnTo>
                  <a:pt x="74460" y="0"/>
                </a:lnTo>
                <a:lnTo>
                  <a:pt x="3848227" y="0"/>
                </a:lnTo>
                <a:lnTo>
                  <a:pt x="3877182" y="5333"/>
                </a:lnTo>
                <a:lnTo>
                  <a:pt x="3900804" y="20065"/>
                </a:lnTo>
                <a:lnTo>
                  <a:pt x="3916806" y="41655"/>
                </a:lnTo>
                <a:lnTo>
                  <a:pt x="3922649" y="68325"/>
                </a:lnTo>
                <a:lnTo>
                  <a:pt x="3922649" y="341375"/>
                </a:lnTo>
                <a:lnTo>
                  <a:pt x="3916806" y="368045"/>
                </a:lnTo>
                <a:lnTo>
                  <a:pt x="3900804" y="389635"/>
                </a:lnTo>
                <a:lnTo>
                  <a:pt x="3877182" y="404367"/>
                </a:lnTo>
                <a:lnTo>
                  <a:pt x="3848227" y="409701"/>
                </a:lnTo>
                <a:lnTo>
                  <a:pt x="74460" y="409701"/>
                </a:lnTo>
                <a:lnTo>
                  <a:pt x="45478" y="404367"/>
                </a:lnTo>
                <a:lnTo>
                  <a:pt x="21805" y="389635"/>
                </a:lnTo>
                <a:lnTo>
                  <a:pt x="5854" y="368045"/>
                </a:lnTo>
                <a:lnTo>
                  <a:pt x="0" y="341375"/>
                </a:lnTo>
                <a:lnTo>
                  <a:pt x="0" y="68325"/>
                </a:lnTo>
                <a:close/>
              </a:path>
            </a:pathLst>
          </a:custGeom>
          <a:ln w="25908">
            <a:solidFill>
              <a:srgbClr val="27799F"/>
            </a:solidFill>
          </a:ln>
        </p:spPr>
        <p:txBody>
          <a:bodyPr wrap="square" lIns="0" tIns="0" rIns="0" bIns="0" rtlCol="0"/>
          <a:lstStyle/>
          <a:p>
            <a:endParaRPr/>
          </a:p>
        </p:txBody>
      </p:sp>
      <p:sp>
        <p:nvSpPr>
          <p:cNvPr id="94" name="object 94"/>
          <p:cNvSpPr txBox="1"/>
          <p:nvPr/>
        </p:nvSpPr>
        <p:spPr>
          <a:xfrm>
            <a:off x="1828038" y="4411902"/>
            <a:ext cx="2342515" cy="280035"/>
          </a:xfrm>
          <a:prstGeom prst="rect">
            <a:avLst/>
          </a:prstGeom>
        </p:spPr>
        <p:txBody>
          <a:bodyPr vert="horz" wrap="square" lIns="0" tIns="0" rIns="0" bIns="0" rtlCol="0">
            <a:spAutoFit/>
          </a:bodyPr>
          <a:lstStyle/>
          <a:p>
            <a:pPr marL="12700">
              <a:lnSpc>
                <a:spcPct val="100000"/>
              </a:lnSpc>
            </a:pPr>
            <a:r>
              <a:rPr sz="2000" b="1" spc="-70" dirty="0">
                <a:solidFill>
                  <a:srgbClr val="FFFFFF"/>
                </a:solidFill>
                <a:latin typeface="微软雅黑"/>
                <a:cs typeface="微软雅黑"/>
              </a:rPr>
              <a:t>S</a:t>
            </a:r>
            <a:r>
              <a:rPr sz="2000" b="1" spc="-15" dirty="0">
                <a:solidFill>
                  <a:srgbClr val="FFFFFF"/>
                </a:solidFill>
                <a:latin typeface="微软雅黑"/>
                <a:cs typeface="微软雅黑"/>
              </a:rPr>
              <a:t>t</a:t>
            </a:r>
            <a:r>
              <a:rPr sz="2000" b="1" dirty="0">
                <a:solidFill>
                  <a:srgbClr val="FFFFFF"/>
                </a:solidFill>
                <a:latin typeface="微软雅黑"/>
                <a:cs typeface="微软雅黑"/>
              </a:rPr>
              <a:t>atu</a:t>
            </a:r>
            <a:r>
              <a:rPr sz="2000" b="1" spc="-20" dirty="0">
                <a:solidFill>
                  <a:srgbClr val="FFFFFF"/>
                </a:solidFill>
                <a:latin typeface="微软雅黑"/>
                <a:cs typeface="微软雅黑"/>
              </a:rPr>
              <a:t>s</a:t>
            </a:r>
            <a:r>
              <a:rPr sz="2000" b="1" dirty="0">
                <a:solidFill>
                  <a:srgbClr val="FFFFFF"/>
                </a:solidFill>
                <a:latin typeface="微软雅黑"/>
                <a:cs typeface="微软雅黑"/>
              </a:rPr>
              <a:t>（外设状态）</a:t>
            </a:r>
            <a:endParaRPr sz="2000">
              <a:latin typeface="微软雅黑"/>
              <a:cs typeface="微软雅黑"/>
            </a:endParaRPr>
          </a:p>
        </p:txBody>
      </p:sp>
      <p:sp>
        <p:nvSpPr>
          <p:cNvPr id="95" name="object 95"/>
          <p:cNvSpPr/>
          <p:nvPr/>
        </p:nvSpPr>
        <p:spPr>
          <a:xfrm>
            <a:off x="976883" y="5061203"/>
            <a:ext cx="3909060" cy="410209"/>
          </a:xfrm>
          <a:custGeom>
            <a:avLst/>
            <a:gdLst/>
            <a:ahLst/>
            <a:cxnLst/>
            <a:rect l="l" t="t" r="r" b="b"/>
            <a:pathLst>
              <a:path w="3909060" h="410210">
                <a:moveTo>
                  <a:pt x="3834765" y="0"/>
                </a:moveTo>
                <a:lnTo>
                  <a:pt x="74193" y="0"/>
                </a:lnTo>
                <a:lnTo>
                  <a:pt x="45313" y="5334"/>
                </a:lnTo>
                <a:lnTo>
                  <a:pt x="21729" y="20066"/>
                </a:lnTo>
                <a:lnTo>
                  <a:pt x="5829" y="41656"/>
                </a:lnTo>
                <a:lnTo>
                  <a:pt x="0" y="68326"/>
                </a:lnTo>
                <a:lnTo>
                  <a:pt x="0" y="341376"/>
                </a:lnTo>
                <a:lnTo>
                  <a:pt x="5829" y="368046"/>
                </a:lnTo>
                <a:lnTo>
                  <a:pt x="21729" y="389636"/>
                </a:lnTo>
                <a:lnTo>
                  <a:pt x="45313" y="404368"/>
                </a:lnTo>
                <a:lnTo>
                  <a:pt x="74193" y="409702"/>
                </a:lnTo>
                <a:lnTo>
                  <a:pt x="3834765" y="409702"/>
                </a:lnTo>
                <a:lnTo>
                  <a:pt x="3863593" y="404368"/>
                </a:lnTo>
                <a:lnTo>
                  <a:pt x="3887216" y="389636"/>
                </a:lnTo>
                <a:lnTo>
                  <a:pt x="3903091" y="368046"/>
                </a:lnTo>
                <a:lnTo>
                  <a:pt x="3908932" y="341376"/>
                </a:lnTo>
                <a:lnTo>
                  <a:pt x="3908932" y="68326"/>
                </a:lnTo>
                <a:lnTo>
                  <a:pt x="3903091" y="41656"/>
                </a:lnTo>
                <a:lnTo>
                  <a:pt x="3887216" y="20066"/>
                </a:lnTo>
                <a:lnTo>
                  <a:pt x="3863593" y="5334"/>
                </a:lnTo>
                <a:lnTo>
                  <a:pt x="3834765" y="0"/>
                </a:lnTo>
                <a:close/>
              </a:path>
            </a:pathLst>
          </a:custGeom>
          <a:solidFill>
            <a:srgbClr val="39A9DC"/>
          </a:solidFill>
        </p:spPr>
        <p:txBody>
          <a:bodyPr wrap="square" lIns="0" tIns="0" rIns="0" bIns="0" rtlCol="0"/>
          <a:lstStyle/>
          <a:p>
            <a:endParaRPr/>
          </a:p>
        </p:txBody>
      </p:sp>
      <p:sp>
        <p:nvSpPr>
          <p:cNvPr id="96" name="object 96"/>
          <p:cNvSpPr/>
          <p:nvPr/>
        </p:nvSpPr>
        <p:spPr>
          <a:xfrm>
            <a:off x="963930" y="5061965"/>
            <a:ext cx="3923029" cy="410209"/>
          </a:xfrm>
          <a:custGeom>
            <a:avLst/>
            <a:gdLst/>
            <a:ahLst/>
            <a:cxnLst/>
            <a:rect l="l" t="t" r="r" b="b"/>
            <a:pathLst>
              <a:path w="3923029" h="410210">
                <a:moveTo>
                  <a:pt x="0" y="68325"/>
                </a:moveTo>
                <a:lnTo>
                  <a:pt x="5854" y="41655"/>
                </a:lnTo>
                <a:lnTo>
                  <a:pt x="21805" y="20065"/>
                </a:lnTo>
                <a:lnTo>
                  <a:pt x="45478" y="5333"/>
                </a:lnTo>
                <a:lnTo>
                  <a:pt x="74460" y="0"/>
                </a:lnTo>
                <a:lnTo>
                  <a:pt x="3848227" y="0"/>
                </a:lnTo>
                <a:lnTo>
                  <a:pt x="3877182" y="5333"/>
                </a:lnTo>
                <a:lnTo>
                  <a:pt x="3900804" y="20065"/>
                </a:lnTo>
                <a:lnTo>
                  <a:pt x="3916806" y="41655"/>
                </a:lnTo>
                <a:lnTo>
                  <a:pt x="3922649" y="68325"/>
                </a:lnTo>
                <a:lnTo>
                  <a:pt x="3922649" y="341375"/>
                </a:lnTo>
                <a:lnTo>
                  <a:pt x="3916806" y="368045"/>
                </a:lnTo>
                <a:lnTo>
                  <a:pt x="3900804" y="389635"/>
                </a:lnTo>
                <a:lnTo>
                  <a:pt x="3877182" y="404367"/>
                </a:lnTo>
                <a:lnTo>
                  <a:pt x="3848227" y="409701"/>
                </a:lnTo>
                <a:lnTo>
                  <a:pt x="74460" y="409701"/>
                </a:lnTo>
                <a:lnTo>
                  <a:pt x="45478" y="404367"/>
                </a:lnTo>
                <a:lnTo>
                  <a:pt x="21805" y="389635"/>
                </a:lnTo>
                <a:lnTo>
                  <a:pt x="5854" y="368045"/>
                </a:lnTo>
                <a:lnTo>
                  <a:pt x="0" y="341375"/>
                </a:lnTo>
                <a:lnTo>
                  <a:pt x="0" y="68325"/>
                </a:lnTo>
                <a:close/>
              </a:path>
            </a:pathLst>
          </a:custGeom>
          <a:ln w="25908">
            <a:solidFill>
              <a:srgbClr val="27799F"/>
            </a:solidFill>
          </a:ln>
        </p:spPr>
        <p:txBody>
          <a:bodyPr wrap="square" lIns="0" tIns="0" rIns="0" bIns="0" rtlCol="0"/>
          <a:lstStyle/>
          <a:p>
            <a:endParaRPr/>
          </a:p>
        </p:txBody>
      </p:sp>
      <p:sp>
        <p:nvSpPr>
          <p:cNvPr id="97" name="object 97"/>
          <p:cNvSpPr txBox="1"/>
          <p:nvPr/>
        </p:nvSpPr>
        <p:spPr>
          <a:xfrm>
            <a:off x="1940179" y="5137961"/>
            <a:ext cx="1699260" cy="280035"/>
          </a:xfrm>
          <a:prstGeom prst="rect">
            <a:avLst/>
          </a:prstGeom>
        </p:spPr>
        <p:txBody>
          <a:bodyPr vert="horz" wrap="square" lIns="0" tIns="0" rIns="0" bIns="0" rtlCol="0">
            <a:spAutoFit/>
          </a:bodyPr>
          <a:lstStyle/>
          <a:p>
            <a:pPr marL="12700">
              <a:lnSpc>
                <a:spcPct val="100000"/>
              </a:lnSpc>
            </a:pPr>
            <a:r>
              <a:rPr sz="2000" b="1" dirty="0">
                <a:solidFill>
                  <a:srgbClr val="FFFFFF"/>
                </a:solidFill>
                <a:latin typeface="微软雅黑"/>
                <a:cs typeface="微软雅黑"/>
              </a:rPr>
              <a:t>DMA通道句柄</a:t>
            </a:r>
            <a:endParaRPr sz="2000">
              <a:latin typeface="微软雅黑"/>
              <a:cs typeface="微软雅黑"/>
            </a:endParaRPr>
          </a:p>
        </p:txBody>
      </p:sp>
      <p:sp>
        <p:nvSpPr>
          <p:cNvPr id="98" name="object 98"/>
          <p:cNvSpPr/>
          <p:nvPr/>
        </p:nvSpPr>
        <p:spPr>
          <a:xfrm>
            <a:off x="976883" y="5791200"/>
            <a:ext cx="3909060" cy="410209"/>
          </a:xfrm>
          <a:custGeom>
            <a:avLst/>
            <a:gdLst/>
            <a:ahLst/>
            <a:cxnLst/>
            <a:rect l="l" t="t" r="r" b="b"/>
            <a:pathLst>
              <a:path w="3909060" h="410210">
                <a:moveTo>
                  <a:pt x="3834765" y="0"/>
                </a:moveTo>
                <a:lnTo>
                  <a:pt x="74193" y="0"/>
                </a:lnTo>
                <a:lnTo>
                  <a:pt x="45313" y="5372"/>
                </a:lnTo>
                <a:lnTo>
                  <a:pt x="21729" y="20002"/>
                </a:lnTo>
                <a:lnTo>
                  <a:pt x="5829" y="41706"/>
                </a:lnTo>
                <a:lnTo>
                  <a:pt x="0" y="68287"/>
                </a:lnTo>
                <a:lnTo>
                  <a:pt x="0" y="341414"/>
                </a:lnTo>
                <a:lnTo>
                  <a:pt x="5829" y="367995"/>
                </a:lnTo>
                <a:lnTo>
                  <a:pt x="21729" y="389699"/>
                </a:lnTo>
                <a:lnTo>
                  <a:pt x="45313" y="404329"/>
                </a:lnTo>
                <a:lnTo>
                  <a:pt x="74193" y="409702"/>
                </a:lnTo>
                <a:lnTo>
                  <a:pt x="3834765" y="409702"/>
                </a:lnTo>
                <a:lnTo>
                  <a:pt x="3863593" y="404329"/>
                </a:lnTo>
                <a:lnTo>
                  <a:pt x="3887216" y="389699"/>
                </a:lnTo>
                <a:lnTo>
                  <a:pt x="3903091" y="367995"/>
                </a:lnTo>
                <a:lnTo>
                  <a:pt x="3908932" y="341414"/>
                </a:lnTo>
                <a:lnTo>
                  <a:pt x="3908932" y="68287"/>
                </a:lnTo>
                <a:lnTo>
                  <a:pt x="3903091" y="41706"/>
                </a:lnTo>
                <a:lnTo>
                  <a:pt x="3887216" y="20002"/>
                </a:lnTo>
                <a:lnTo>
                  <a:pt x="3863593" y="5372"/>
                </a:lnTo>
                <a:lnTo>
                  <a:pt x="3834765" y="0"/>
                </a:lnTo>
                <a:close/>
              </a:path>
            </a:pathLst>
          </a:custGeom>
          <a:solidFill>
            <a:srgbClr val="39A9DC"/>
          </a:solidFill>
        </p:spPr>
        <p:txBody>
          <a:bodyPr wrap="square" lIns="0" tIns="0" rIns="0" bIns="0" rtlCol="0"/>
          <a:lstStyle/>
          <a:p>
            <a:endParaRPr/>
          </a:p>
        </p:txBody>
      </p:sp>
      <p:sp>
        <p:nvSpPr>
          <p:cNvPr id="99" name="object 99"/>
          <p:cNvSpPr/>
          <p:nvPr/>
        </p:nvSpPr>
        <p:spPr>
          <a:xfrm>
            <a:off x="977646" y="5791961"/>
            <a:ext cx="3909060" cy="410209"/>
          </a:xfrm>
          <a:custGeom>
            <a:avLst/>
            <a:gdLst/>
            <a:ahLst/>
            <a:cxnLst/>
            <a:rect l="l" t="t" r="r" b="b"/>
            <a:pathLst>
              <a:path w="3909060" h="410210">
                <a:moveTo>
                  <a:pt x="0" y="68287"/>
                </a:moveTo>
                <a:lnTo>
                  <a:pt x="5829" y="41706"/>
                </a:lnTo>
                <a:lnTo>
                  <a:pt x="21729" y="20002"/>
                </a:lnTo>
                <a:lnTo>
                  <a:pt x="45313" y="5372"/>
                </a:lnTo>
                <a:lnTo>
                  <a:pt x="74193" y="0"/>
                </a:lnTo>
                <a:lnTo>
                  <a:pt x="3834765" y="0"/>
                </a:lnTo>
                <a:lnTo>
                  <a:pt x="3863593" y="5372"/>
                </a:lnTo>
                <a:lnTo>
                  <a:pt x="3887216" y="20002"/>
                </a:lnTo>
                <a:lnTo>
                  <a:pt x="3903091" y="41706"/>
                </a:lnTo>
                <a:lnTo>
                  <a:pt x="3908932" y="68287"/>
                </a:lnTo>
                <a:lnTo>
                  <a:pt x="3908932" y="341414"/>
                </a:lnTo>
                <a:lnTo>
                  <a:pt x="3903091" y="367995"/>
                </a:lnTo>
                <a:lnTo>
                  <a:pt x="3887216" y="389699"/>
                </a:lnTo>
                <a:lnTo>
                  <a:pt x="3863593" y="404329"/>
                </a:lnTo>
                <a:lnTo>
                  <a:pt x="3834765" y="409702"/>
                </a:lnTo>
                <a:lnTo>
                  <a:pt x="74193" y="409702"/>
                </a:lnTo>
                <a:lnTo>
                  <a:pt x="45313" y="404329"/>
                </a:lnTo>
                <a:lnTo>
                  <a:pt x="21729" y="389699"/>
                </a:lnTo>
                <a:lnTo>
                  <a:pt x="5829" y="367995"/>
                </a:lnTo>
                <a:lnTo>
                  <a:pt x="0" y="341414"/>
                </a:lnTo>
                <a:lnTo>
                  <a:pt x="0" y="68287"/>
                </a:lnTo>
                <a:close/>
              </a:path>
            </a:pathLst>
          </a:custGeom>
          <a:ln w="25908">
            <a:solidFill>
              <a:srgbClr val="27799F"/>
            </a:solidFill>
          </a:ln>
        </p:spPr>
        <p:txBody>
          <a:bodyPr wrap="square" lIns="0" tIns="0" rIns="0" bIns="0" rtlCol="0"/>
          <a:lstStyle/>
          <a:p>
            <a:endParaRPr/>
          </a:p>
        </p:txBody>
      </p:sp>
      <p:sp>
        <p:nvSpPr>
          <p:cNvPr id="100" name="object 100"/>
          <p:cNvSpPr txBox="1"/>
          <p:nvPr/>
        </p:nvSpPr>
        <p:spPr>
          <a:xfrm>
            <a:off x="1517141" y="5873529"/>
            <a:ext cx="3003550" cy="280670"/>
          </a:xfrm>
          <a:prstGeom prst="rect">
            <a:avLst/>
          </a:prstGeom>
        </p:spPr>
        <p:txBody>
          <a:bodyPr vert="horz" wrap="square" lIns="0" tIns="0" rIns="0" bIns="0" rtlCol="0">
            <a:spAutoFit/>
          </a:bodyPr>
          <a:lstStyle/>
          <a:p>
            <a:pPr marL="12700">
              <a:lnSpc>
                <a:spcPct val="100000"/>
              </a:lnSpc>
            </a:pPr>
            <a:r>
              <a:rPr sz="2000" b="1" spc="-5" dirty="0">
                <a:solidFill>
                  <a:srgbClr val="FFFFFF"/>
                </a:solidFill>
                <a:latin typeface="微软雅黑"/>
                <a:cs typeface="微软雅黑"/>
              </a:rPr>
              <a:t>I/</a:t>
            </a:r>
            <a:r>
              <a:rPr sz="2000" b="1" spc="5" dirty="0">
                <a:solidFill>
                  <a:srgbClr val="FFFFFF"/>
                </a:solidFill>
                <a:latin typeface="微软雅黑"/>
                <a:cs typeface="微软雅黑"/>
              </a:rPr>
              <a:t>O</a:t>
            </a:r>
            <a:r>
              <a:rPr sz="2000" b="1" dirty="0">
                <a:solidFill>
                  <a:srgbClr val="FFFFFF"/>
                </a:solidFill>
                <a:latin typeface="微软雅黑"/>
                <a:cs typeface="微软雅黑"/>
              </a:rPr>
              <a:t> Buffe</a:t>
            </a:r>
            <a:r>
              <a:rPr sz="2000" b="1" spc="-5" dirty="0">
                <a:solidFill>
                  <a:srgbClr val="FFFFFF"/>
                </a:solidFill>
                <a:latin typeface="微软雅黑"/>
                <a:cs typeface="微软雅黑"/>
              </a:rPr>
              <a:t>r</a:t>
            </a:r>
            <a:r>
              <a:rPr sz="2000" b="1" dirty="0">
                <a:solidFill>
                  <a:srgbClr val="FFFFFF"/>
                </a:solidFill>
                <a:latin typeface="微软雅黑"/>
                <a:cs typeface="微软雅黑"/>
              </a:rPr>
              <a:t>（</a:t>
            </a:r>
            <a:r>
              <a:rPr sz="2000" b="1" spc="-5" dirty="0">
                <a:solidFill>
                  <a:srgbClr val="FFFFFF"/>
                </a:solidFill>
                <a:latin typeface="微软雅黑"/>
                <a:cs typeface="微软雅黑"/>
              </a:rPr>
              <a:t>I/O</a:t>
            </a:r>
            <a:r>
              <a:rPr sz="2000" b="1" dirty="0">
                <a:solidFill>
                  <a:srgbClr val="FFFFFF"/>
                </a:solidFill>
                <a:latin typeface="微软雅黑"/>
                <a:cs typeface="微软雅黑"/>
              </a:rPr>
              <a:t>缓冲区）</a:t>
            </a:r>
            <a:endParaRPr sz="2000">
              <a:latin typeface="微软雅黑"/>
              <a:cs typeface="微软雅黑"/>
            </a:endParaRPr>
          </a:p>
        </p:txBody>
      </p:sp>
      <p:sp>
        <p:nvSpPr>
          <p:cNvPr id="101" name="object 101"/>
          <p:cNvSpPr/>
          <p:nvPr/>
        </p:nvSpPr>
        <p:spPr>
          <a:xfrm>
            <a:off x="5606796" y="2874264"/>
            <a:ext cx="2159635" cy="410209"/>
          </a:xfrm>
          <a:custGeom>
            <a:avLst/>
            <a:gdLst/>
            <a:ahLst/>
            <a:cxnLst/>
            <a:rect l="l" t="t" r="r" b="b"/>
            <a:pathLst>
              <a:path w="2159634" h="410210">
                <a:moveTo>
                  <a:pt x="2091054" y="0"/>
                </a:moveTo>
                <a:lnTo>
                  <a:pt x="68325" y="0"/>
                </a:lnTo>
                <a:lnTo>
                  <a:pt x="41782" y="5334"/>
                </a:lnTo>
                <a:lnTo>
                  <a:pt x="20065" y="20065"/>
                </a:lnTo>
                <a:lnTo>
                  <a:pt x="5333" y="41656"/>
                </a:lnTo>
                <a:lnTo>
                  <a:pt x="0" y="68325"/>
                </a:lnTo>
                <a:lnTo>
                  <a:pt x="0" y="341375"/>
                </a:lnTo>
                <a:lnTo>
                  <a:pt x="5333" y="368046"/>
                </a:lnTo>
                <a:lnTo>
                  <a:pt x="20065" y="389636"/>
                </a:lnTo>
                <a:lnTo>
                  <a:pt x="41782" y="404368"/>
                </a:lnTo>
                <a:lnTo>
                  <a:pt x="68325" y="409701"/>
                </a:lnTo>
                <a:lnTo>
                  <a:pt x="2091054" y="409701"/>
                </a:lnTo>
                <a:lnTo>
                  <a:pt x="2117598" y="404368"/>
                </a:lnTo>
                <a:lnTo>
                  <a:pt x="2139314" y="389636"/>
                </a:lnTo>
                <a:lnTo>
                  <a:pt x="2154047" y="368046"/>
                </a:lnTo>
                <a:lnTo>
                  <a:pt x="2159380" y="341375"/>
                </a:lnTo>
                <a:lnTo>
                  <a:pt x="2159380" y="68325"/>
                </a:lnTo>
                <a:lnTo>
                  <a:pt x="2154047" y="41656"/>
                </a:lnTo>
                <a:lnTo>
                  <a:pt x="2139314" y="20065"/>
                </a:lnTo>
                <a:lnTo>
                  <a:pt x="2117598" y="5334"/>
                </a:lnTo>
                <a:lnTo>
                  <a:pt x="2091054" y="0"/>
                </a:lnTo>
                <a:close/>
              </a:path>
            </a:pathLst>
          </a:custGeom>
          <a:solidFill>
            <a:srgbClr val="B9CC00"/>
          </a:solidFill>
        </p:spPr>
        <p:txBody>
          <a:bodyPr wrap="square" lIns="0" tIns="0" rIns="0" bIns="0" rtlCol="0"/>
          <a:lstStyle/>
          <a:p>
            <a:endParaRPr/>
          </a:p>
        </p:txBody>
      </p:sp>
      <p:sp>
        <p:nvSpPr>
          <p:cNvPr id="102" name="object 102"/>
          <p:cNvSpPr/>
          <p:nvPr/>
        </p:nvSpPr>
        <p:spPr>
          <a:xfrm>
            <a:off x="5607558" y="2875026"/>
            <a:ext cx="2159635" cy="410209"/>
          </a:xfrm>
          <a:custGeom>
            <a:avLst/>
            <a:gdLst/>
            <a:ahLst/>
            <a:cxnLst/>
            <a:rect l="l" t="t" r="r" b="b"/>
            <a:pathLst>
              <a:path w="2159634" h="410210">
                <a:moveTo>
                  <a:pt x="0" y="68325"/>
                </a:moveTo>
                <a:lnTo>
                  <a:pt x="5333" y="41656"/>
                </a:lnTo>
                <a:lnTo>
                  <a:pt x="20065" y="20065"/>
                </a:lnTo>
                <a:lnTo>
                  <a:pt x="41782" y="5334"/>
                </a:lnTo>
                <a:lnTo>
                  <a:pt x="68325" y="0"/>
                </a:lnTo>
                <a:lnTo>
                  <a:pt x="2091055" y="0"/>
                </a:lnTo>
                <a:lnTo>
                  <a:pt x="2117597" y="5334"/>
                </a:lnTo>
                <a:lnTo>
                  <a:pt x="2139315" y="20065"/>
                </a:lnTo>
                <a:lnTo>
                  <a:pt x="2154046" y="41656"/>
                </a:lnTo>
                <a:lnTo>
                  <a:pt x="2159381" y="68325"/>
                </a:lnTo>
                <a:lnTo>
                  <a:pt x="2159381" y="341375"/>
                </a:lnTo>
                <a:lnTo>
                  <a:pt x="2154046" y="368046"/>
                </a:lnTo>
                <a:lnTo>
                  <a:pt x="2139315" y="389636"/>
                </a:lnTo>
                <a:lnTo>
                  <a:pt x="2117597" y="404368"/>
                </a:lnTo>
                <a:lnTo>
                  <a:pt x="2091055" y="409701"/>
                </a:lnTo>
                <a:lnTo>
                  <a:pt x="68325" y="409701"/>
                </a:lnTo>
                <a:lnTo>
                  <a:pt x="41782" y="404368"/>
                </a:lnTo>
                <a:lnTo>
                  <a:pt x="20065" y="389636"/>
                </a:lnTo>
                <a:lnTo>
                  <a:pt x="5333" y="368046"/>
                </a:lnTo>
                <a:lnTo>
                  <a:pt x="0" y="341375"/>
                </a:lnTo>
                <a:lnTo>
                  <a:pt x="0" y="68325"/>
                </a:lnTo>
                <a:close/>
              </a:path>
            </a:pathLst>
          </a:custGeom>
          <a:ln w="25908">
            <a:solidFill>
              <a:srgbClr val="879300"/>
            </a:solidFill>
          </a:ln>
        </p:spPr>
        <p:txBody>
          <a:bodyPr wrap="square" lIns="0" tIns="0" rIns="0" bIns="0" rtlCol="0"/>
          <a:lstStyle/>
          <a:p>
            <a:endParaRPr/>
          </a:p>
        </p:txBody>
      </p:sp>
      <p:sp>
        <p:nvSpPr>
          <p:cNvPr id="103" name="object 103"/>
          <p:cNvSpPr txBox="1"/>
          <p:nvPr/>
        </p:nvSpPr>
        <p:spPr>
          <a:xfrm>
            <a:off x="6289040" y="2946830"/>
            <a:ext cx="688340" cy="280035"/>
          </a:xfrm>
          <a:prstGeom prst="rect">
            <a:avLst/>
          </a:prstGeom>
        </p:spPr>
        <p:txBody>
          <a:bodyPr vert="horz" wrap="square" lIns="0" tIns="0" rIns="0" bIns="0" rtlCol="0">
            <a:spAutoFit/>
          </a:bodyPr>
          <a:lstStyle/>
          <a:p>
            <a:pPr marL="12700">
              <a:lnSpc>
                <a:spcPct val="100000"/>
              </a:lnSpc>
            </a:pPr>
            <a:r>
              <a:rPr sz="2000" b="1" spc="-5" dirty="0">
                <a:latin typeface="微软雅黑"/>
                <a:cs typeface="微软雅黑"/>
              </a:rPr>
              <a:t>TIM1</a:t>
            </a:r>
            <a:endParaRPr sz="2000">
              <a:latin typeface="微软雅黑"/>
              <a:cs typeface="微软雅黑"/>
            </a:endParaRPr>
          </a:p>
        </p:txBody>
      </p:sp>
      <p:sp>
        <p:nvSpPr>
          <p:cNvPr id="104" name="object 104"/>
          <p:cNvSpPr/>
          <p:nvPr/>
        </p:nvSpPr>
        <p:spPr>
          <a:xfrm>
            <a:off x="8487156" y="2874264"/>
            <a:ext cx="2159635" cy="410209"/>
          </a:xfrm>
          <a:custGeom>
            <a:avLst/>
            <a:gdLst/>
            <a:ahLst/>
            <a:cxnLst/>
            <a:rect l="l" t="t" r="r" b="b"/>
            <a:pathLst>
              <a:path w="2159634" h="410210">
                <a:moveTo>
                  <a:pt x="2091054" y="0"/>
                </a:moveTo>
                <a:lnTo>
                  <a:pt x="68325" y="0"/>
                </a:lnTo>
                <a:lnTo>
                  <a:pt x="41783" y="5334"/>
                </a:lnTo>
                <a:lnTo>
                  <a:pt x="20066" y="20065"/>
                </a:lnTo>
                <a:lnTo>
                  <a:pt x="5334" y="41656"/>
                </a:lnTo>
                <a:lnTo>
                  <a:pt x="0" y="68325"/>
                </a:lnTo>
                <a:lnTo>
                  <a:pt x="0" y="341375"/>
                </a:lnTo>
                <a:lnTo>
                  <a:pt x="5334" y="368046"/>
                </a:lnTo>
                <a:lnTo>
                  <a:pt x="20066" y="389636"/>
                </a:lnTo>
                <a:lnTo>
                  <a:pt x="41783" y="404368"/>
                </a:lnTo>
                <a:lnTo>
                  <a:pt x="68325" y="409701"/>
                </a:lnTo>
                <a:lnTo>
                  <a:pt x="2091054" y="409701"/>
                </a:lnTo>
                <a:lnTo>
                  <a:pt x="2117598" y="404368"/>
                </a:lnTo>
                <a:lnTo>
                  <a:pt x="2139315" y="389636"/>
                </a:lnTo>
                <a:lnTo>
                  <a:pt x="2154047" y="368046"/>
                </a:lnTo>
                <a:lnTo>
                  <a:pt x="2159380" y="341375"/>
                </a:lnTo>
                <a:lnTo>
                  <a:pt x="2159380" y="68325"/>
                </a:lnTo>
                <a:lnTo>
                  <a:pt x="2154047" y="41656"/>
                </a:lnTo>
                <a:lnTo>
                  <a:pt x="2139315" y="20065"/>
                </a:lnTo>
                <a:lnTo>
                  <a:pt x="2117598" y="5334"/>
                </a:lnTo>
                <a:lnTo>
                  <a:pt x="2091054" y="0"/>
                </a:lnTo>
                <a:close/>
              </a:path>
            </a:pathLst>
          </a:custGeom>
          <a:solidFill>
            <a:srgbClr val="B9CC00"/>
          </a:solidFill>
        </p:spPr>
        <p:txBody>
          <a:bodyPr wrap="square" lIns="0" tIns="0" rIns="0" bIns="0" rtlCol="0"/>
          <a:lstStyle/>
          <a:p>
            <a:endParaRPr/>
          </a:p>
        </p:txBody>
      </p:sp>
      <p:sp>
        <p:nvSpPr>
          <p:cNvPr id="105" name="object 105"/>
          <p:cNvSpPr/>
          <p:nvPr/>
        </p:nvSpPr>
        <p:spPr>
          <a:xfrm>
            <a:off x="8487918" y="2875026"/>
            <a:ext cx="2159635" cy="410209"/>
          </a:xfrm>
          <a:custGeom>
            <a:avLst/>
            <a:gdLst/>
            <a:ahLst/>
            <a:cxnLst/>
            <a:rect l="l" t="t" r="r" b="b"/>
            <a:pathLst>
              <a:path w="2159634" h="410210">
                <a:moveTo>
                  <a:pt x="0" y="68325"/>
                </a:moveTo>
                <a:lnTo>
                  <a:pt x="5333" y="41656"/>
                </a:lnTo>
                <a:lnTo>
                  <a:pt x="20065" y="20065"/>
                </a:lnTo>
                <a:lnTo>
                  <a:pt x="41782" y="5334"/>
                </a:lnTo>
                <a:lnTo>
                  <a:pt x="68325" y="0"/>
                </a:lnTo>
                <a:lnTo>
                  <a:pt x="2091054" y="0"/>
                </a:lnTo>
                <a:lnTo>
                  <a:pt x="2117598" y="5334"/>
                </a:lnTo>
                <a:lnTo>
                  <a:pt x="2139314" y="20065"/>
                </a:lnTo>
                <a:lnTo>
                  <a:pt x="2154047" y="41656"/>
                </a:lnTo>
                <a:lnTo>
                  <a:pt x="2159380" y="68325"/>
                </a:lnTo>
                <a:lnTo>
                  <a:pt x="2159380" y="341375"/>
                </a:lnTo>
                <a:lnTo>
                  <a:pt x="2154047" y="368046"/>
                </a:lnTo>
                <a:lnTo>
                  <a:pt x="2139314" y="389636"/>
                </a:lnTo>
                <a:lnTo>
                  <a:pt x="2117598" y="404368"/>
                </a:lnTo>
                <a:lnTo>
                  <a:pt x="2091054" y="409701"/>
                </a:lnTo>
                <a:lnTo>
                  <a:pt x="68325" y="409701"/>
                </a:lnTo>
                <a:lnTo>
                  <a:pt x="41782" y="404368"/>
                </a:lnTo>
                <a:lnTo>
                  <a:pt x="20065" y="389636"/>
                </a:lnTo>
                <a:lnTo>
                  <a:pt x="5333" y="368046"/>
                </a:lnTo>
                <a:lnTo>
                  <a:pt x="0" y="341375"/>
                </a:lnTo>
                <a:lnTo>
                  <a:pt x="0" y="68325"/>
                </a:lnTo>
                <a:close/>
              </a:path>
            </a:pathLst>
          </a:custGeom>
          <a:ln w="25908">
            <a:solidFill>
              <a:srgbClr val="879300"/>
            </a:solidFill>
          </a:ln>
        </p:spPr>
        <p:txBody>
          <a:bodyPr wrap="square" lIns="0" tIns="0" rIns="0" bIns="0" rtlCol="0"/>
          <a:lstStyle/>
          <a:p>
            <a:endParaRPr/>
          </a:p>
        </p:txBody>
      </p:sp>
      <p:sp>
        <p:nvSpPr>
          <p:cNvPr id="106" name="object 106"/>
          <p:cNvSpPr txBox="1"/>
          <p:nvPr/>
        </p:nvSpPr>
        <p:spPr>
          <a:xfrm>
            <a:off x="9207245" y="2936670"/>
            <a:ext cx="688340" cy="280035"/>
          </a:xfrm>
          <a:prstGeom prst="rect">
            <a:avLst/>
          </a:prstGeom>
        </p:spPr>
        <p:txBody>
          <a:bodyPr vert="horz" wrap="square" lIns="0" tIns="0" rIns="0" bIns="0" rtlCol="0">
            <a:spAutoFit/>
          </a:bodyPr>
          <a:lstStyle/>
          <a:p>
            <a:pPr marL="12700">
              <a:lnSpc>
                <a:spcPct val="100000"/>
              </a:lnSpc>
            </a:pPr>
            <a:r>
              <a:rPr sz="2000" b="1" spc="-5" dirty="0">
                <a:latin typeface="微软雅黑"/>
                <a:cs typeface="微软雅黑"/>
              </a:rPr>
              <a:t>TIM2</a:t>
            </a:r>
            <a:endParaRPr sz="2000">
              <a:latin typeface="微软雅黑"/>
              <a:cs typeface="微软雅黑"/>
            </a:endParaRPr>
          </a:p>
        </p:txBody>
      </p:sp>
      <p:sp>
        <p:nvSpPr>
          <p:cNvPr id="107" name="object 107"/>
          <p:cNvSpPr txBox="1"/>
          <p:nvPr/>
        </p:nvSpPr>
        <p:spPr>
          <a:xfrm>
            <a:off x="8009635" y="2940099"/>
            <a:ext cx="30162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or</a:t>
            </a:r>
            <a:endParaRPr sz="2000">
              <a:latin typeface="微软雅黑"/>
              <a:cs typeface="微软雅黑"/>
            </a:endParaRPr>
          </a:p>
        </p:txBody>
      </p:sp>
      <p:sp>
        <p:nvSpPr>
          <p:cNvPr id="108" name="object 108"/>
          <p:cNvSpPr/>
          <p:nvPr/>
        </p:nvSpPr>
        <p:spPr>
          <a:xfrm>
            <a:off x="5606796" y="3595115"/>
            <a:ext cx="2159635" cy="408305"/>
          </a:xfrm>
          <a:custGeom>
            <a:avLst/>
            <a:gdLst/>
            <a:ahLst/>
            <a:cxnLst/>
            <a:rect l="l" t="t" r="r" b="b"/>
            <a:pathLst>
              <a:path w="2159634" h="408304">
                <a:moveTo>
                  <a:pt x="2091308" y="0"/>
                </a:moveTo>
                <a:lnTo>
                  <a:pt x="68071" y="0"/>
                </a:lnTo>
                <a:lnTo>
                  <a:pt x="41528" y="5334"/>
                </a:lnTo>
                <a:lnTo>
                  <a:pt x="19938" y="19939"/>
                </a:lnTo>
                <a:lnTo>
                  <a:pt x="5333" y="41529"/>
                </a:lnTo>
                <a:lnTo>
                  <a:pt x="0" y="67945"/>
                </a:lnTo>
                <a:lnTo>
                  <a:pt x="0" y="339979"/>
                </a:lnTo>
                <a:lnTo>
                  <a:pt x="5333" y="366395"/>
                </a:lnTo>
                <a:lnTo>
                  <a:pt x="19938" y="387985"/>
                </a:lnTo>
                <a:lnTo>
                  <a:pt x="41528" y="402590"/>
                </a:lnTo>
                <a:lnTo>
                  <a:pt x="68071" y="407924"/>
                </a:lnTo>
                <a:lnTo>
                  <a:pt x="2091308" y="407924"/>
                </a:lnTo>
                <a:lnTo>
                  <a:pt x="2117852" y="402590"/>
                </a:lnTo>
                <a:lnTo>
                  <a:pt x="2139442" y="387985"/>
                </a:lnTo>
                <a:lnTo>
                  <a:pt x="2154047" y="366395"/>
                </a:lnTo>
                <a:lnTo>
                  <a:pt x="2159380" y="339979"/>
                </a:lnTo>
                <a:lnTo>
                  <a:pt x="2159380" y="67945"/>
                </a:lnTo>
                <a:lnTo>
                  <a:pt x="2154047" y="41529"/>
                </a:lnTo>
                <a:lnTo>
                  <a:pt x="2139442" y="19939"/>
                </a:lnTo>
                <a:lnTo>
                  <a:pt x="2117852" y="5334"/>
                </a:lnTo>
                <a:lnTo>
                  <a:pt x="2091308" y="0"/>
                </a:lnTo>
                <a:close/>
              </a:path>
            </a:pathLst>
          </a:custGeom>
          <a:solidFill>
            <a:srgbClr val="B9CC00"/>
          </a:solidFill>
        </p:spPr>
        <p:txBody>
          <a:bodyPr wrap="square" lIns="0" tIns="0" rIns="0" bIns="0" rtlCol="0"/>
          <a:lstStyle/>
          <a:p>
            <a:endParaRPr/>
          </a:p>
        </p:txBody>
      </p:sp>
      <p:sp>
        <p:nvSpPr>
          <p:cNvPr id="109" name="object 109"/>
          <p:cNvSpPr/>
          <p:nvPr/>
        </p:nvSpPr>
        <p:spPr>
          <a:xfrm>
            <a:off x="5607558" y="3595878"/>
            <a:ext cx="2159635" cy="408305"/>
          </a:xfrm>
          <a:custGeom>
            <a:avLst/>
            <a:gdLst/>
            <a:ahLst/>
            <a:cxnLst/>
            <a:rect l="l" t="t" r="r" b="b"/>
            <a:pathLst>
              <a:path w="2159634" h="408304">
                <a:moveTo>
                  <a:pt x="0" y="67945"/>
                </a:moveTo>
                <a:lnTo>
                  <a:pt x="5333" y="41529"/>
                </a:lnTo>
                <a:lnTo>
                  <a:pt x="19938" y="19939"/>
                </a:lnTo>
                <a:lnTo>
                  <a:pt x="41528" y="5334"/>
                </a:lnTo>
                <a:lnTo>
                  <a:pt x="68071" y="0"/>
                </a:lnTo>
                <a:lnTo>
                  <a:pt x="2091309" y="0"/>
                </a:lnTo>
                <a:lnTo>
                  <a:pt x="2117851" y="5334"/>
                </a:lnTo>
                <a:lnTo>
                  <a:pt x="2139441" y="19939"/>
                </a:lnTo>
                <a:lnTo>
                  <a:pt x="2154046" y="41529"/>
                </a:lnTo>
                <a:lnTo>
                  <a:pt x="2159381" y="67945"/>
                </a:lnTo>
                <a:lnTo>
                  <a:pt x="2159381" y="339979"/>
                </a:lnTo>
                <a:lnTo>
                  <a:pt x="2154046" y="366395"/>
                </a:lnTo>
                <a:lnTo>
                  <a:pt x="2139441" y="387985"/>
                </a:lnTo>
                <a:lnTo>
                  <a:pt x="2117851" y="402590"/>
                </a:lnTo>
                <a:lnTo>
                  <a:pt x="2091309" y="407924"/>
                </a:lnTo>
                <a:lnTo>
                  <a:pt x="68071" y="407924"/>
                </a:lnTo>
                <a:lnTo>
                  <a:pt x="41528" y="402590"/>
                </a:lnTo>
                <a:lnTo>
                  <a:pt x="19938" y="387985"/>
                </a:lnTo>
                <a:lnTo>
                  <a:pt x="5333" y="366395"/>
                </a:lnTo>
                <a:lnTo>
                  <a:pt x="0" y="339979"/>
                </a:lnTo>
                <a:lnTo>
                  <a:pt x="0" y="67945"/>
                </a:lnTo>
                <a:close/>
              </a:path>
            </a:pathLst>
          </a:custGeom>
          <a:ln w="25908">
            <a:solidFill>
              <a:srgbClr val="879300"/>
            </a:solidFill>
          </a:ln>
        </p:spPr>
        <p:txBody>
          <a:bodyPr wrap="square" lIns="0" tIns="0" rIns="0" bIns="0" rtlCol="0"/>
          <a:lstStyle/>
          <a:p>
            <a:endParaRPr/>
          </a:p>
        </p:txBody>
      </p:sp>
      <p:sp>
        <p:nvSpPr>
          <p:cNvPr id="110" name="object 110"/>
          <p:cNvSpPr txBox="1"/>
          <p:nvPr/>
        </p:nvSpPr>
        <p:spPr>
          <a:xfrm>
            <a:off x="5955538" y="3657913"/>
            <a:ext cx="1552575"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时间基准功能</a:t>
            </a:r>
            <a:endParaRPr sz="2000">
              <a:latin typeface="微软雅黑"/>
              <a:cs typeface="微软雅黑"/>
            </a:endParaRPr>
          </a:p>
        </p:txBody>
      </p:sp>
      <p:sp>
        <p:nvSpPr>
          <p:cNvPr id="111" name="object 111"/>
          <p:cNvSpPr/>
          <p:nvPr/>
        </p:nvSpPr>
        <p:spPr>
          <a:xfrm>
            <a:off x="5606796" y="4337303"/>
            <a:ext cx="1438910" cy="408305"/>
          </a:xfrm>
          <a:custGeom>
            <a:avLst/>
            <a:gdLst/>
            <a:ahLst/>
            <a:cxnLst/>
            <a:rect l="l" t="t" r="r" b="b"/>
            <a:pathLst>
              <a:path w="1438909" h="408304">
                <a:moveTo>
                  <a:pt x="1370329" y="0"/>
                </a:moveTo>
                <a:lnTo>
                  <a:pt x="68071" y="0"/>
                </a:lnTo>
                <a:lnTo>
                  <a:pt x="41528" y="5334"/>
                </a:lnTo>
                <a:lnTo>
                  <a:pt x="19938" y="19939"/>
                </a:lnTo>
                <a:lnTo>
                  <a:pt x="5333" y="41529"/>
                </a:lnTo>
                <a:lnTo>
                  <a:pt x="0" y="67945"/>
                </a:lnTo>
                <a:lnTo>
                  <a:pt x="0" y="339979"/>
                </a:lnTo>
                <a:lnTo>
                  <a:pt x="5333" y="366395"/>
                </a:lnTo>
                <a:lnTo>
                  <a:pt x="19938" y="387985"/>
                </a:lnTo>
                <a:lnTo>
                  <a:pt x="41528" y="402590"/>
                </a:lnTo>
                <a:lnTo>
                  <a:pt x="68071" y="407924"/>
                </a:lnTo>
                <a:lnTo>
                  <a:pt x="1370329" y="407924"/>
                </a:lnTo>
                <a:lnTo>
                  <a:pt x="1396873" y="402590"/>
                </a:lnTo>
                <a:lnTo>
                  <a:pt x="1418462" y="387985"/>
                </a:lnTo>
                <a:lnTo>
                  <a:pt x="1433068" y="366395"/>
                </a:lnTo>
                <a:lnTo>
                  <a:pt x="1438402" y="339979"/>
                </a:lnTo>
                <a:lnTo>
                  <a:pt x="1438402" y="67945"/>
                </a:lnTo>
                <a:lnTo>
                  <a:pt x="1433068" y="41529"/>
                </a:lnTo>
                <a:lnTo>
                  <a:pt x="1418462" y="19939"/>
                </a:lnTo>
                <a:lnTo>
                  <a:pt x="1396873" y="5334"/>
                </a:lnTo>
                <a:lnTo>
                  <a:pt x="1370329" y="0"/>
                </a:lnTo>
                <a:close/>
              </a:path>
            </a:pathLst>
          </a:custGeom>
          <a:solidFill>
            <a:srgbClr val="B9CC00"/>
          </a:solidFill>
        </p:spPr>
        <p:txBody>
          <a:bodyPr wrap="square" lIns="0" tIns="0" rIns="0" bIns="0" rtlCol="0"/>
          <a:lstStyle/>
          <a:p>
            <a:endParaRPr/>
          </a:p>
        </p:txBody>
      </p:sp>
      <p:sp>
        <p:nvSpPr>
          <p:cNvPr id="112" name="object 112"/>
          <p:cNvSpPr/>
          <p:nvPr/>
        </p:nvSpPr>
        <p:spPr>
          <a:xfrm>
            <a:off x="5607558" y="4338065"/>
            <a:ext cx="1438910" cy="408305"/>
          </a:xfrm>
          <a:custGeom>
            <a:avLst/>
            <a:gdLst/>
            <a:ahLst/>
            <a:cxnLst/>
            <a:rect l="l" t="t" r="r" b="b"/>
            <a:pathLst>
              <a:path w="1438909" h="408304">
                <a:moveTo>
                  <a:pt x="0" y="67944"/>
                </a:moveTo>
                <a:lnTo>
                  <a:pt x="5333" y="41528"/>
                </a:lnTo>
                <a:lnTo>
                  <a:pt x="19938" y="19938"/>
                </a:lnTo>
                <a:lnTo>
                  <a:pt x="41528" y="5333"/>
                </a:lnTo>
                <a:lnTo>
                  <a:pt x="68071" y="0"/>
                </a:lnTo>
                <a:lnTo>
                  <a:pt x="1370330" y="0"/>
                </a:lnTo>
                <a:lnTo>
                  <a:pt x="1396872" y="5333"/>
                </a:lnTo>
                <a:lnTo>
                  <a:pt x="1418463" y="19938"/>
                </a:lnTo>
                <a:lnTo>
                  <a:pt x="1433067" y="41528"/>
                </a:lnTo>
                <a:lnTo>
                  <a:pt x="1438401" y="67944"/>
                </a:lnTo>
                <a:lnTo>
                  <a:pt x="1438401" y="339978"/>
                </a:lnTo>
                <a:lnTo>
                  <a:pt x="1433067" y="366394"/>
                </a:lnTo>
                <a:lnTo>
                  <a:pt x="1418463" y="387984"/>
                </a:lnTo>
                <a:lnTo>
                  <a:pt x="1396872" y="402589"/>
                </a:lnTo>
                <a:lnTo>
                  <a:pt x="1370330" y="407923"/>
                </a:lnTo>
                <a:lnTo>
                  <a:pt x="68071" y="407923"/>
                </a:lnTo>
                <a:lnTo>
                  <a:pt x="41528" y="402589"/>
                </a:lnTo>
                <a:lnTo>
                  <a:pt x="19938" y="387984"/>
                </a:lnTo>
                <a:lnTo>
                  <a:pt x="5333" y="366394"/>
                </a:lnTo>
                <a:lnTo>
                  <a:pt x="0" y="339978"/>
                </a:lnTo>
                <a:lnTo>
                  <a:pt x="0" y="67944"/>
                </a:lnTo>
                <a:close/>
              </a:path>
            </a:pathLst>
          </a:custGeom>
          <a:ln w="25908">
            <a:solidFill>
              <a:srgbClr val="879300"/>
            </a:solidFill>
          </a:ln>
        </p:spPr>
        <p:txBody>
          <a:bodyPr wrap="square" lIns="0" tIns="0" rIns="0" bIns="0" rtlCol="0"/>
          <a:lstStyle/>
          <a:p>
            <a:endParaRPr/>
          </a:p>
        </p:txBody>
      </p:sp>
      <p:sp>
        <p:nvSpPr>
          <p:cNvPr id="113" name="object 113"/>
          <p:cNvSpPr/>
          <p:nvPr/>
        </p:nvSpPr>
        <p:spPr>
          <a:xfrm>
            <a:off x="7766304" y="4337303"/>
            <a:ext cx="1440180" cy="408305"/>
          </a:xfrm>
          <a:custGeom>
            <a:avLst/>
            <a:gdLst/>
            <a:ahLst/>
            <a:cxnLst/>
            <a:rect l="l" t="t" r="r" b="b"/>
            <a:pathLst>
              <a:path w="1440179" h="408304">
                <a:moveTo>
                  <a:pt x="1372107" y="0"/>
                </a:moveTo>
                <a:lnTo>
                  <a:pt x="68072" y="0"/>
                </a:lnTo>
                <a:lnTo>
                  <a:pt x="41528" y="5334"/>
                </a:lnTo>
                <a:lnTo>
                  <a:pt x="19939" y="19939"/>
                </a:lnTo>
                <a:lnTo>
                  <a:pt x="5334" y="41529"/>
                </a:lnTo>
                <a:lnTo>
                  <a:pt x="0" y="67945"/>
                </a:lnTo>
                <a:lnTo>
                  <a:pt x="0" y="339979"/>
                </a:lnTo>
                <a:lnTo>
                  <a:pt x="5334" y="366395"/>
                </a:lnTo>
                <a:lnTo>
                  <a:pt x="19939" y="387985"/>
                </a:lnTo>
                <a:lnTo>
                  <a:pt x="41528" y="402590"/>
                </a:lnTo>
                <a:lnTo>
                  <a:pt x="68072" y="407924"/>
                </a:lnTo>
                <a:lnTo>
                  <a:pt x="1372107" y="407924"/>
                </a:lnTo>
                <a:lnTo>
                  <a:pt x="1398651" y="402590"/>
                </a:lnTo>
                <a:lnTo>
                  <a:pt x="1420241" y="387985"/>
                </a:lnTo>
                <a:lnTo>
                  <a:pt x="1434846" y="366395"/>
                </a:lnTo>
                <a:lnTo>
                  <a:pt x="1440179" y="339979"/>
                </a:lnTo>
                <a:lnTo>
                  <a:pt x="1440179" y="67945"/>
                </a:lnTo>
                <a:lnTo>
                  <a:pt x="1434846" y="41529"/>
                </a:lnTo>
                <a:lnTo>
                  <a:pt x="1420241" y="19939"/>
                </a:lnTo>
                <a:lnTo>
                  <a:pt x="1398651" y="5334"/>
                </a:lnTo>
                <a:lnTo>
                  <a:pt x="1372107" y="0"/>
                </a:lnTo>
                <a:close/>
              </a:path>
            </a:pathLst>
          </a:custGeom>
          <a:solidFill>
            <a:srgbClr val="B9CC00"/>
          </a:solidFill>
        </p:spPr>
        <p:txBody>
          <a:bodyPr wrap="square" lIns="0" tIns="0" rIns="0" bIns="0" rtlCol="0"/>
          <a:lstStyle/>
          <a:p>
            <a:endParaRPr/>
          </a:p>
        </p:txBody>
      </p:sp>
      <p:sp>
        <p:nvSpPr>
          <p:cNvPr id="114" name="object 114"/>
          <p:cNvSpPr/>
          <p:nvPr/>
        </p:nvSpPr>
        <p:spPr>
          <a:xfrm>
            <a:off x="7767066" y="4338065"/>
            <a:ext cx="1440180" cy="408305"/>
          </a:xfrm>
          <a:custGeom>
            <a:avLst/>
            <a:gdLst/>
            <a:ahLst/>
            <a:cxnLst/>
            <a:rect l="l" t="t" r="r" b="b"/>
            <a:pathLst>
              <a:path w="1440179" h="408304">
                <a:moveTo>
                  <a:pt x="0" y="67944"/>
                </a:moveTo>
                <a:lnTo>
                  <a:pt x="5333" y="41528"/>
                </a:lnTo>
                <a:lnTo>
                  <a:pt x="19938" y="19938"/>
                </a:lnTo>
                <a:lnTo>
                  <a:pt x="41528" y="5333"/>
                </a:lnTo>
                <a:lnTo>
                  <a:pt x="68072" y="0"/>
                </a:lnTo>
                <a:lnTo>
                  <a:pt x="1372107" y="0"/>
                </a:lnTo>
                <a:lnTo>
                  <a:pt x="1398651" y="5333"/>
                </a:lnTo>
                <a:lnTo>
                  <a:pt x="1420240" y="19938"/>
                </a:lnTo>
                <a:lnTo>
                  <a:pt x="1434845" y="41528"/>
                </a:lnTo>
                <a:lnTo>
                  <a:pt x="1440179" y="67944"/>
                </a:lnTo>
                <a:lnTo>
                  <a:pt x="1440179" y="339978"/>
                </a:lnTo>
                <a:lnTo>
                  <a:pt x="1434845" y="366394"/>
                </a:lnTo>
                <a:lnTo>
                  <a:pt x="1420240" y="387984"/>
                </a:lnTo>
                <a:lnTo>
                  <a:pt x="1398651" y="402589"/>
                </a:lnTo>
                <a:lnTo>
                  <a:pt x="1372107" y="407923"/>
                </a:lnTo>
                <a:lnTo>
                  <a:pt x="68072" y="407923"/>
                </a:lnTo>
                <a:lnTo>
                  <a:pt x="41528" y="402589"/>
                </a:lnTo>
                <a:lnTo>
                  <a:pt x="19938" y="387984"/>
                </a:lnTo>
                <a:lnTo>
                  <a:pt x="5333" y="366394"/>
                </a:lnTo>
                <a:lnTo>
                  <a:pt x="0" y="339978"/>
                </a:lnTo>
                <a:lnTo>
                  <a:pt x="0" y="67944"/>
                </a:lnTo>
                <a:close/>
              </a:path>
            </a:pathLst>
          </a:custGeom>
          <a:ln w="25908">
            <a:solidFill>
              <a:srgbClr val="879300"/>
            </a:solidFill>
          </a:ln>
        </p:spPr>
        <p:txBody>
          <a:bodyPr wrap="square" lIns="0" tIns="0" rIns="0" bIns="0" rtlCol="0"/>
          <a:lstStyle/>
          <a:p>
            <a:endParaRPr/>
          </a:p>
        </p:txBody>
      </p:sp>
      <p:sp>
        <p:nvSpPr>
          <p:cNvPr id="115" name="object 115"/>
          <p:cNvSpPr/>
          <p:nvPr/>
        </p:nvSpPr>
        <p:spPr>
          <a:xfrm>
            <a:off x="9927335" y="4314444"/>
            <a:ext cx="1438910" cy="410209"/>
          </a:xfrm>
          <a:custGeom>
            <a:avLst/>
            <a:gdLst/>
            <a:ahLst/>
            <a:cxnLst/>
            <a:rect l="l" t="t" r="r" b="b"/>
            <a:pathLst>
              <a:path w="1438909" h="410210">
                <a:moveTo>
                  <a:pt x="1370076" y="0"/>
                </a:moveTo>
                <a:lnTo>
                  <a:pt x="68325" y="0"/>
                </a:lnTo>
                <a:lnTo>
                  <a:pt x="41783" y="5333"/>
                </a:lnTo>
                <a:lnTo>
                  <a:pt x="20066" y="20065"/>
                </a:lnTo>
                <a:lnTo>
                  <a:pt x="5334" y="41655"/>
                </a:lnTo>
                <a:lnTo>
                  <a:pt x="0" y="68325"/>
                </a:lnTo>
                <a:lnTo>
                  <a:pt x="0" y="341375"/>
                </a:lnTo>
                <a:lnTo>
                  <a:pt x="5334" y="368045"/>
                </a:lnTo>
                <a:lnTo>
                  <a:pt x="20066" y="389635"/>
                </a:lnTo>
                <a:lnTo>
                  <a:pt x="41783" y="404367"/>
                </a:lnTo>
                <a:lnTo>
                  <a:pt x="68325" y="409701"/>
                </a:lnTo>
                <a:lnTo>
                  <a:pt x="1370076" y="409701"/>
                </a:lnTo>
                <a:lnTo>
                  <a:pt x="1396619" y="404367"/>
                </a:lnTo>
                <a:lnTo>
                  <a:pt x="1418336" y="389635"/>
                </a:lnTo>
                <a:lnTo>
                  <a:pt x="1433068" y="368045"/>
                </a:lnTo>
                <a:lnTo>
                  <a:pt x="1438402" y="341375"/>
                </a:lnTo>
                <a:lnTo>
                  <a:pt x="1438402" y="68325"/>
                </a:lnTo>
                <a:lnTo>
                  <a:pt x="1433068" y="41655"/>
                </a:lnTo>
                <a:lnTo>
                  <a:pt x="1418336" y="20065"/>
                </a:lnTo>
                <a:lnTo>
                  <a:pt x="1396619" y="5333"/>
                </a:lnTo>
                <a:lnTo>
                  <a:pt x="1370076" y="0"/>
                </a:lnTo>
                <a:close/>
              </a:path>
            </a:pathLst>
          </a:custGeom>
          <a:solidFill>
            <a:srgbClr val="B9CC00"/>
          </a:solidFill>
        </p:spPr>
        <p:txBody>
          <a:bodyPr wrap="square" lIns="0" tIns="0" rIns="0" bIns="0" rtlCol="0"/>
          <a:lstStyle/>
          <a:p>
            <a:endParaRPr/>
          </a:p>
        </p:txBody>
      </p:sp>
      <p:sp>
        <p:nvSpPr>
          <p:cNvPr id="116" name="object 116"/>
          <p:cNvSpPr/>
          <p:nvPr/>
        </p:nvSpPr>
        <p:spPr>
          <a:xfrm>
            <a:off x="9928097" y="4315205"/>
            <a:ext cx="1438910" cy="410209"/>
          </a:xfrm>
          <a:custGeom>
            <a:avLst/>
            <a:gdLst/>
            <a:ahLst/>
            <a:cxnLst/>
            <a:rect l="l" t="t" r="r" b="b"/>
            <a:pathLst>
              <a:path w="1438909" h="410210">
                <a:moveTo>
                  <a:pt x="0" y="68326"/>
                </a:moveTo>
                <a:lnTo>
                  <a:pt x="5333" y="41656"/>
                </a:lnTo>
                <a:lnTo>
                  <a:pt x="20066" y="20066"/>
                </a:lnTo>
                <a:lnTo>
                  <a:pt x="41782" y="5334"/>
                </a:lnTo>
                <a:lnTo>
                  <a:pt x="68325" y="0"/>
                </a:lnTo>
                <a:lnTo>
                  <a:pt x="1370076" y="0"/>
                </a:lnTo>
                <a:lnTo>
                  <a:pt x="1396619" y="5334"/>
                </a:lnTo>
                <a:lnTo>
                  <a:pt x="1418335" y="20066"/>
                </a:lnTo>
                <a:lnTo>
                  <a:pt x="1433068" y="41656"/>
                </a:lnTo>
                <a:lnTo>
                  <a:pt x="1438402" y="68326"/>
                </a:lnTo>
                <a:lnTo>
                  <a:pt x="1438402" y="341376"/>
                </a:lnTo>
                <a:lnTo>
                  <a:pt x="1433068" y="368046"/>
                </a:lnTo>
                <a:lnTo>
                  <a:pt x="1418335" y="389636"/>
                </a:lnTo>
                <a:lnTo>
                  <a:pt x="1396619" y="404368"/>
                </a:lnTo>
                <a:lnTo>
                  <a:pt x="1370076" y="409702"/>
                </a:lnTo>
                <a:lnTo>
                  <a:pt x="68325" y="409702"/>
                </a:lnTo>
                <a:lnTo>
                  <a:pt x="41782" y="404368"/>
                </a:lnTo>
                <a:lnTo>
                  <a:pt x="20066" y="389636"/>
                </a:lnTo>
                <a:lnTo>
                  <a:pt x="5333" y="368046"/>
                </a:lnTo>
                <a:lnTo>
                  <a:pt x="0" y="341376"/>
                </a:lnTo>
                <a:lnTo>
                  <a:pt x="0" y="68326"/>
                </a:lnTo>
                <a:close/>
              </a:path>
            </a:pathLst>
          </a:custGeom>
          <a:ln w="25908">
            <a:solidFill>
              <a:srgbClr val="879300"/>
            </a:solidFill>
          </a:ln>
        </p:spPr>
        <p:txBody>
          <a:bodyPr wrap="square" lIns="0" tIns="0" rIns="0" bIns="0" rtlCol="0"/>
          <a:lstStyle/>
          <a:p>
            <a:endParaRPr/>
          </a:p>
        </p:txBody>
      </p:sp>
      <p:sp>
        <p:nvSpPr>
          <p:cNvPr id="117" name="object 117"/>
          <p:cNvSpPr txBox="1"/>
          <p:nvPr/>
        </p:nvSpPr>
        <p:spPr>
          <a:xfrm>
            <a:off x="10352023" y="4387518"/>
            <a:ext cx="660400" cy="280035"/>
          </a:xfrm>
          <a:prstGeom prst="rect">
            <a:avLst/>
          </a:prstGeom>
        </p:spPr>
        <p:txBody>
          <a:bodyPr vert="horz" wrap="square" lIns="0" tIns="0" rIns="0" bIns="0" rtlCol="0">
            <a:spAutoFit/>
          </a:bodyPr>
          <a:lstStyle/>
          <a:p>
            <a:pPr marL="12700">
              <a:lnSpc>
                <a:spcPct val="100000"/>
              </a:lnSpc>
            </a:pPr>
            <a:r>
              <a:rPr sz="2000" b="1" spc="-10" dirty="0">
                <a:latin typeface="微软雅黑"/>
                <a:cs typeface="微软雅黑"/>
              </a:rPr>
              <a:t>E</a:t>
            </a:r>
            <a:r>
              <a:rPr sz="2000" b="1" dirty="0">
                <a:latin typeface="微软雅黑"/>
                <a:cs typeface="微软雅黑"/>
              </a:rPr>
              <a:t>r</a:t>
            </a:r>
            <a:r>
              <a:rPr sz="2000" b="1" spc="-10" dirty="0">
                <a:latin typeface="微软雅黑"/>
                <a:cs typeface="微软雅黑"/>
              </a:rPr>
              <a:t>r</a:t>
            </a:r>
            <a:r>
              <a:rPr sz="2000" b="1" spc="-5" dirty="0">
                <a:latin typeface="微软雅黑"/>
                <a:cs typeface="微软雅黑"/>
              </a:rPr>
              <a:t>or</a:t>
            </a:r>
            <a:endParaRPr sz="2000">
              <a:latin typeface="微软雅黑"/>
              <a:cs typeface="微软雅黑"/>
            </a:endParaRPr>
          </a:p>
        </p:txBody>
      </p:sp>
      <p:sp>
        <p:nvSpPr>
          <p:cNvPr id="118" name="object 118"/>
          <p:cNvSpPr txBox="1"/>
          <p:nvPr/>
        </p:nvSpPr>
        <p:spPr>
          <a:xfrm>
            <a:off x="9449816" y="4412918"/>
            <a:ext cx="2359660" cy="280035"/>
          </a:xfrm>
          <a:prstGeom prst="rect">
            <a:avLst/>
          </a:prstGeom>
        </p:spPr>
        <p:txBody>
          <a:bodyPr vert="horz" wrap="square" lIns="0" tIns="0" rIns="0" bIns="0" rtlCol="0">
            <a:spAutoFit/>
          </a:bodyPr>
          <a:lstStyle/>
          <a:p>
            <a:pPr marL="12700">
              <a:lnSpc>
                <a:spcPct val="100000"/>
              </a:lnSpc>
              <a:tabLst>
                <a:tab pos="2101215" algn="l"/>
              </a:tabLst>
            </a:pPr>
            <a:r>
              <a:rPr sz="2000" b="1" dirty="0">
                <a:latin typeface="微软雅黑"/>
                <a:cs typeface="微软雅黑"/>
              </a:rPr>
              <a:t>or	…</a:t>
            </a:r>
            <a:endParaRPr sz="2000">
              <a:latin typeface="微软雅黑"/>
              <a:cs typeface="微软雅黑"/>
            </a:endParaRPr>
          </a:p>
        </p:txBody>
      </p:sp>
      <p:sp>
        <p:nvSpPr>
          <p:cNvPr id="119" name="object 119"/>
          <p:cNvSpPr/>
          <p:nvPr/>
        </p:nvSpPr>
        <p:spPr>
          <a:xfrm>
            <a:off x="5606796" y="5056632"/>
            <a:ext cx="3599815" cy="410209"/>
          </a:xfrm>
          <a:custGeom>
            <a:avLst/>
            <a:gdLst/>
            <a:ahLst/>
            <a:cxnLst/>
            <a:rect l="l" t="t" r="r" b="b"/>
            <a:pathLst>
              <a:path w="3599815" h="410210">
                <a:moveTo>
                  <a:pt x="3531234" y="0"/>
                </a:moveTo>
                <a:lnTo>
                  <a:pt x="68325" y="0"/>
                </a:lnTo>
                <a:lnTo>
                  <a:pt x="41782" y="5334"/>
                </a:lnTo>
                <a:lnTo>
                  <a:pt x="20065" y="20066"/>
                </a:lnTo>
                <a:lnTo>
                  <a:pt x="5333" y="41656"/>
                </a:lnTo>
                <a:lnTo>
                  <a:pt x="0" y="68326"/>
                </a:lnTo>
                <a:lnTo>
                  <a:pt x="0" y="341376"/>
                </a:lnTo>
                <a:lnTo>
                  <a:pt x="5333" y="368046"/>
                </a:lnTo>
                <a:lnTo>
                  <a:pt x="20065" y="389636"/>
                </a:lnTo>
                <a:lnTo>
                  <a:pt x="41782" y="404368"/>
                </a:lnTo>
                <a:lnTo>
                  <a:pt x="68325" y="409702"/>
                </a:lnTo>
                <a:lnTo>
                  <a:pt x="3531234" y="409702"/>
                </a:lnTo>
                <a:lnTo>
                  <a:pt x="3557778" y="404368"/>
                </a:lnTo>
                <a:lnTo>
                  <a:pt x="3579495" y="389636"/>
                </a:lnTo>
                <a:lnTo>
                  <a:pt x="3594227" y="368046"/>
                </a:lnTo>
                <a:lnTo>
                  <a:pt x="3599560" y="341376"/>
                </a:lnTo>
                <a:lnTo>
                  <a:pt x="3599560" y="68326"/>
                </a:lnTo>
                <a:lnTo>
                  <a:pt x="3594227" y="41656"/>
                </a:lnTo>
                <a:lnTo>
                  <a:pt x="3579495" y="20066"/>
                </a:lnTo>
                <a:lnTo>
                  <a:pt x="3557778" y="5334"/>
                </a:lnTo>
                <a:lnTo>
                  <a:pt x="3531234" y="0"/>
                </a:lnTo>
                <a:close/>
              </a:path>
            </a:pathLst>
          </a:custGeom>
          <a:solidFill>
            <a:srgbClr val="B9CC00"/>
          </a:solidFill>
        </p:spPr>
        <p:txBody>
          <a:bodyPr wrap="square" lIns="0" tIns="0" rIns="0" bIns="0" rtlCol="0"/>
          <a:lstStyle/>
          <a:p>
            <a:endParaRPr/>
          </a:p>
        </p:txBody>
      </p:sp>
      <p:sp>
        <p:nvSpPr>
          <p:cNvPr id="120" name="object 120"/>
          <p:cNvSpPr/>
          <p:nvPr/>
        </p:nvSpPr>
        <p:spPr>
          <a:xfrm>
            <a:off x="5607558" y="5057394"/>
            <a:ext cx="3599815" cy="410209"/>
          </a:xfrm>
          <a:custGeom>
            <a:avLst/>
            <a:gdLst/>
            <a:ahLst/>
            <a:cxnLst/>
            <a:rect l="l" t="t" r="r" b="b"/>
            <a:pathLst>
              <a:path w="3599815" h="410210">
                <a:moveTo>
                  <a:pt x="0" y="68325"/>
                </a:moveTo>
                <a:lnTo>
                  <a:pt x="5333" y="41655"/>
                </a:lnTo>
                <a:lnTo>
                  <a:pt x="20065" y="20065"/>
                </a:lnTo>
                <a:lnTo>
                  <a:pt x="41782" y="5333"/>
                </a:lnTo>
                <a:lnTo>
                  <a:pt x="68325" y="0"/>
                </a:lnTo>
                <a:lnTo>
                  <a:pt x="3531235" y="0"/>
                </a:lnTo>
                <a:lnTo>
                  <a:pt x="3557777" y="5333"/>
                </a:lnTo>
                <a:lnTo>
                  <a:pt x="3579494" y="20065"/>
                </a:lnTo>
                <a:lnTo>
                  <a:pt x="3594226" y="41655"/>
                </a:lnTo>
                <a:lnTo>
                  <a:pt x="3599561" y="68325"/>
                </a:lnTo>
                <a:lnTo>
                  <a:pt x="3599561" y="341375"/>
                </a:lnTo>
                <a:lnTo>
                  <a:pt x="3594226" y="368045"/>
                </a:lnTo>
                <a:lnTo>
                  <a:pt x="3579494" y="389635"/>
                </a:lnTo>
                <a:lnTo>
                  <a:pt x="3557777" y="404367"/>
                </a:lnTo>
                <a:lnTo>
                  <a:pt x="3531235" y="409701"/>
                </a:lnTo>
                <a:lnTo>
                  <a:pt x="68325" y="409701"/>
                </a:lnTo>
                <a:lnTo>
                  <a:pt x="41782" y="404367"/>
                </a:lnTo>
                <a:lnTo>
                  <a:pt x="20065" y="389635"/>
                </a:lnTo>
                <a:lnTo>
                  <a:pt x="5333" y="368045"/>
                </a:lnTo>
                <a:lnTo>
                  <a:pt x="0" y="341375"/>
                </a:lnTo>
                <a:lnTo>
                  <a:pt x="0" y="68325"/>
                </a:lnTo>
                <a:close/>
              </a:path>
            </a:pathLst>
          </a:custGeom>
          <a:ln w="25908">
            <a:solidFill>
              <a:srgbClr val="879300"/>
            </a:solidFill>
          </a:ln>
        </p:spPr>
        <p:txBody>
          <a:bodyPr wrap="square" lIns="0" tIns="0" rIns="0" bIns="0" rtlCol="0"/>
          <a:lstStyle/>
          <a:p>
            <a:endParaRPr/>
          </a:p>
        </p:txBody>
      </p:sp>
      <p:sp>
        <p:nvSpPr>
          <p:cNvPr id="121" name="object 121"/>
          <p:cNvSpPr txBox="1"/>
          <p:nvPr/>
        </p:nvSpPr>
        <p:spPr>
          <a:xfrm>
            <a:off x="5944615" y="4414442"/>
            <a:ext cx="806450" cy="280035"/>
          </a:xfrm>
          <a:prstGeom prst="rect">
            <a:avLst/>
          </a:prstGeom>
        </p:spPr>
        <p:txBody>
          <a:bodyPr vert="horz" wrap="square" lIns="0" tIns="0" rIns="0" bIns="0" rtlCol="0">
            <a:spAutoFit/>
          </a:bodyPr>
          <a:lstStyle/>
          <a:p>
            <a:pPr marL="12700">
              <a:lnSpc>
                <a:spcPct val="100000"/>
              </a:lnSpc>
            </a:pPr>
            <a:r>
              <a:rPr sz="2000" b="1" spc="-55" dirty="0">
                <a:latin typeface="微软雅黑"/>
                <a:cs typeface="微软雅黑"/>
              </a:rPr>
              <a:t>R</a:t>
            </a:r>
            <a:r>
              <a:rPr sz="2000" b="1" dirty="0">
                <a:latin typeface="微软雅黑"/>
                <a:cs typeface="微软雅黑"/>
              </a:rPr>
              <a:t>e</a:t>
            </a:r>
            <a:r>
              <a:rPr sz="2000" b="1" spc="-10" dirty="0">
                <a:latin typeface="微软雅黑"/>
                <a:cs typeface="微软雅黑"/>
              </a:rPr>
              <a:t>a</a:t>
            </a:r>
            <a:r>
              <a:rPr sz="2000" b="1" dirty="0">
                <a:latin typeface="微软雅黑"/>
                <a:cs typeface="微软雅黑"/>
              </a:rPr>
              <a:t>dy</a:t>
            </a:r>
            <a:endParaRPr sz="2000">
              <a:latin typeface="微软雅黑"/>
              <a:cs typeface="微软雅黑"/>
            </a:endParaRPr>
          </a:p>
        </p:txBody>
      </p:sp>
      <p:sp>
        <p:nvSpPr>
          <p:cNvPr id="122" name="object 122"/>
          <p:cNvSpPr txBox="1"/>
          <p:nvPr/>
        </p:nvSpPr>
        <p:spPr>
          <a:xfrm>
            <a:off x="7269226" y="4414442"/>
            <a:ext cx="301625" cy="280035"/>
          </a:xfrm>
          <a:prstGeom prst="rect">
            <a:avLst/>
          </a:prstGeom>
        </p:spPr>
        <p:txBody>
          <a:bodyPr vert="horz" wrap="square" lIns="0" tIns="0" rIns="0" bIns="0" rtlCol="0">
            <a:spAutoFit/>
          </a:bodyPr>
          <a:lstStyle/>
          <a:p>
            <a:pPr marL="12700">
              <a:lnSpc>
                <a:spcPct val="100000"/>
              </a:lnSpc>
            </a:pPr>
            <a:r>
              <a:rPr sz="2000" b="1" dirty="0">
                <a:solidFill>
                  <a:srgbClr val="001F52"/>
                </a:solidFill>
                <a:latin typeface="微软雅黑"/>
                <a:cs typeface="微软雅黑"/>
              </a:rPr>
              <a:t>or</a:t>
            </a:r>
            <a:endParaRPr sz="2000">
              <a:latin typeface="微软雅黑"/>
              <a:cs typeface="微软雅黑"/>
            </a:endParaRPr>
          </a:p>
        </p:txBody>
      </p:sp>
      <p:sp>
        <p:nvSpPr>
          <p:cNvPr id="123" name="object 123"/>
          <p:cNvSpPr txBox="1"/>
          <p:nvPr/>
        </p:nvSpPr>
        <p:spPr>
          <a:xfrm>
            <a:off x="8191245" y="4414442"/>
            <a:ext cx="635000"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Bu</a:t>
            </a:r>
            <a:r>
              <a:rPr sz="2000" b="1" spc="-15" dirty="0">
                <a:latin typeface="微软雅黑"/>
                <a:cs typeface="微软雅黑"/>
              </a:rPr>
              <a:t>s</a:t>
            </a:r>
            <a:r>
              <a:rPr sz="2000" b="1" dirty="0">
                <a:latin typeface="微软雅黑"/>
                <a:cs typeface="微软雅黑"/>
              </a:rPr>
              <a:t>y</a:t>
            </a:r>
            <a:endParaRPr sz="2000">
              <a:latin typeface="微软雅黑"/>
              <a:cs typeface="微软雅黑"/>
            </a:endParaRPr>
          </a:p>
        </p:txBody>
      </p:sp>
      <p:sp>
        <p:nvSpPr>
          <p:cNvPr id="124" name="object 124"/>
          <p:cNvSpPr/>
          <p:nvPr/>
        </p:nvSpPr>
        <p:spPr>
          <a:xfrm>
            <a:off x="5606796" y="5800344"/>
            <a:ext cx="3136265" cy="408305"/>
          </a:xfrm>
          <a:custGeom>
            <a:avLst/>
            <a:gdLst/>
            <a:ahLst/>
            <a:cxnLst/>
            <a:rect l="l" t="t" r="r" b="b"/>
            <a:pathLst>
              <a:path w="3136265" h="408304">
                <a:moveTo>
                  <a:pt x="3061970" y="0"/>
                </a:moveTo>
                <a:lnTo>
                  <a:pt x="74167" y="0"/>
                </a:lnTo>
                <a:lnTo>
                  <a:pt x="45338" y="5346"/>
                </a:lnTo>
                <a:lnTo>
                  <a:pt x="21716" y="19913"/>
                </a:lnTo>
                <a:lnTo>
                  <a:pt x="5841" y="41528"/>
                </a:lnTo>
                <a:lnTo>
                  <a:pt x="0" y="67983"/>
                </a:lnTo>
                <a:lnTo>
                  <a:pt x="0" y="339940"/>
                </a:lnTo>
                <a:lnTo>
                  <a:pt x="5841" y="366394"/>
                </a:lnTo>
                <a:lnTo>
                  <a:pt x="21716" y="388010"/>
                </a:lnTo>
                <a:lnTo>
                  <a:pt x="45338" y="402577"/>
                </a:lnTo>
                <a:lnTo>
                  <a:pt x="74167" y="407923"/>
                </a:lnTo>
                <a:lnTo>
                  <a:pt x="3061970" y="407923"/>
                </a:lnTo>
                <a:lnTo>
                  <a:pt x="3090799" y="402577"/>
                </a:lnTo>
                <a:lnTo>
                  <a:pt x="3114421" y="388010"/>
                </a:lnTo>
                <a:lnTo>
                  <a:pt x="3130296" y="366394"/>
                </a:lnTo>
                <a:lnTo>
                  <a:pt x="3136137" y="339940"/>
                </a:lnTo>
                <a:lnTo>
                  <a:pt x="3136137" y="67983"/>
                </a:lnTo>
                <a:lnTo>
                  <a:pt x="3130296" y="41528"/>
                </a:lnTo>
                <a:lnTo>
                  <a:pt x="3114421" y="19913"/>
                </a:lnTo>
                <a:lnTo>
                  <a:pt x="3090799" y="5346"/>
                </a:lnTo>
                <a:lnTo>
                  <a:pt x="3061970" y="0"/>
                </a:lnTo>
                <a:close/>
              </a:path>
            </a:pathLst>
          </a:custGeom>
          <a:solidFill>
            <a:srgbClr val="B9CC00"/>
          </a:solidFill>
        </p:spPr>
        <p:txBody>
          <a:bodyPr wrap="square" lIns="0" tIns="0" rIns="0" bIns="0" rtlCol="0"/>
          <a:lstStyle/>
          <a:p>
            <a:endParaRPr/>
          </a:p>
        </p:txBody>
      </p:sp>
      <p:sp>
        <p:nvSpPr>
          <p:cNvPr id="125" name="object 125"/>
          <p:cNvSpPr/>
          <p:nvPr/>
        </p:nvSpPr>
        <p:spPr>
          <a:xfrm>
            <a:off x="5607558" y="5801105"/>
            <a:ext cx="3094990" cy="408305"/>
          </a:xfrm>
          <a:custGeom>
            <a:avLst/>
            <a:gdLst/>
            <a:ahLst/>
            <a:cxnLst/>
            <a:rect l="l" t="t" r="r" b="b"/>
            <a:pathLst>
              <a:path w="3094990" h="408304">
                <a:moveTo>
                  <a:pt x="0" y="67983"/>
                </a:moveTo>
                <a:lnTo>
                  <a:pt x="5714" y="41529"/>
                </a:lnTo>
                <a:lnTo>
                  <a:pt x="21462" y="19913"/>
                </a:lnTo>
                <a:lnTo>
                  <a:pt x="44703" y="5346"/>
                </a:lnTo>
                <a:lnTo>
                  <a:pt x="73151" y="0"/>
                </a:lnTo>
                <a:lnTo>
                  <a:pt x="3021838" y="0"/>
                </a:lnTo>
                <a:lnTo>
                  <a:pt x="3050286" y="5346"/>
                </a:lnTo>
                <a:lnTo>
                  <a:pt x="3073526" y="19913"/>
                </a:lnTo>
                <a:lnTo>
                  <a:pt x="3089274" y="41529"/>
                </a:lnTo>
                <a:lnTo>
                  <a:pt x="3094990" y="67983"/>
                </a:lnTo>
                <a:lnTo>
                  <a:pt x="3094990" y="339940"/>
                </a:lnTo>
                <a:lnTo>
                  <a:pt x="3089274" y="366395"/>
                </a:lnTo>
                <a:lnTo>
                  <a:pt x="3073526" y="388010"/>
                </a:lnTo>
                <a:lnTo>
                  <a:pt x="3050286" y="402577"/>
                </a:lnTo>
                <a:lnTo>
                  <a:pt x="3021838" y="407924"/>
                </a:lnTo>
                <a:lnTo>
                  <a:pt x="73151" y="407924"/>
                </a:lnTo>
                <a:lnTo>
                  <a:pt x="44703" y="402577"/>
                </a:lnTo>
                <a:lnTo>
                  <a:pt x="21462" y="388010"/>
                </a:lnTo>
                <a:lnTo>
                  <a:pt x="5714" y="366395"/>
                </a:lnTo>
                <a:lnTo>
                  <a:pt x="0" y="339940"/>
                </a:lnTo>
                <a:lnTo>
                  <a:pt x="0" y="67983"/>
                </a:lnTo>
                <a:close/>
              </a:path>
            </a:pathLst>
          </a:custGeom>
          <a:ln w="25908">
            <a:solidFill>
              <a:srgbClr val="879300"/>
            </a:solidFill>
          </a:ln>
        </p:spPr>
        <p:txBody>
          <a:bodyPr wrap="square" lIns="0" tIns="0" rIns="0" bIns="0" rtlCol="0"/>
          <a:lstStyle/>
          <a:p>
            <a:endParaRPr/>
          </a:p>
        </p:txBody>
      </p:sp>
      <p:sp>
        <p:nvSpPr>
          <p:cNvPr id="126" name="object 126"/>
          <p:cNvSpPr txBox="1"/>
          <p:nvPr/>
        </p:nvSpPr>
        <p:spPr>
          <a:xfrm>
            <a:off x="5710173" y="5864325"/>
            <a:ext cx="2776220" cy="280035"/>
          </a:xfrm>
          <a:prstGeom prst="rect">
            <a:avLst/>
          </a:prstGeom>
        </p:spPr>
        <p:txBody>
          <a:bodyPr vert="horz" wrap="square" lIns="0" tIns="0" rIns="0" bIns="0" rtlCol="0">
            <a:spAutoFit/>
          </a:bodyPr>
          <a:lstStyle/>
          <a:p>
            <a:pPr marL="12700">
              <a:lnSpc>
                <a:spcPct val="100000"/>
              </a:lnSpc>
            </a:pPr>
            <a:r>
              <a:rPr sz="2000" b="1" spc="-5" dirty="0">
                <a:latin typeface="微软雅黑"/>
                <a:cs typeface="微软雅黑"/>
              </a:rPr>
              <a:t>I/</a:t>
            </a:r>
            <a:r>
              <a:rPr sz="2000" b="1" dirty="0">
                <a:latin typeface="微软雅黑"/>
                <a:cs typeface="微软雅黑"/>
              </a:rPr>
              <a:t>O</a:t>
            </a:r>
            <a:r>
              <a:rPr sz="2000" b="1" spc="-15" dirty="0">
                <a:latin typeface="微软雅黑"/>
                <a:cs typeface="微软雅黑"/>
              </a:rPr>
              <a:t> bu</a:t>
            </a:r>
            <a:r>
              <a:rPr sz="2000" b="1" spc="-10" dirty="0">
                <a:latin typeface="微软雅黑"/>
                <a:cs typeface="微软雅黑"/>
              </a:rPr>
              <a:t>ff</a:t>
            </a:r>
            <a:r>
              <a:rPr sz="2000" b="1" spc="-15" dirty="0">
                <a:latin typeface="微软雅黑"/>
                <a:cs typeface="微软雅黑"/>
              </a:rPr>
              <a:t>e</a:t>
            </a:r>
            <a:r>
              <a:rPr sz="2000" b="1" dirty="0">
                <a:latin typeface="微软雅黑"/>
                <a:cs typeface="微软雅黑"/>
              </a:rPr>
              <a:t>r</a:t>
            </a:r>
            <a:r>
              <a:rPr sz="2000" b="1" spc="-10" dirty="0">
                <a:latin typeface="微软雅黑"/>
                <a:cs typeface="微软雅黑"/>
              </a:rPr>
              <a:t> </a:t>
            </a:r>
            <a:r>
              <a:rPr sz="2000" b="1" spc="-5" dirty="0">
                <a:latin typeface="微软雅黑"/>
                <a:cs typeface="微软雅黑"/>
              </a:rPr>
              <a:t>o</a:t>
            </a:r>
            <a:r>
              <a:rPr sz="2000" b="1" dirty="0">
                <a:latin typeface="微软雅黑"/>
                <a:cs typeface="微软雅黑"/>
              </a:rPr>
              <a:t>n</a:t>
            </a:r>
            <a:r>
              <a:rPr sz="2000" b="1" spc="-10" dirty="0">
                <a:latin typeface="微软雅黑"/>
                <a:cs typeface="微软雅黑"/>
              </a:rPr>
              <a:t> </a:t>
            </a:r>
            <a:r>
              <a:rPr sz="2000" b="1" dirty="0">
                <a:latin typeface="微软雅黑"/>
                <a:cs typeface="微软雅黑"/>
              </a:rPr>
              <a:t>add</a:t>
            </a:r>
            <a:r>
              <a:rPr sz="2000" b="1" spc="-10" dirty="0">
                <a:latin typeface="微软雅黑"/>
                <a:cs typeface="微软雅黑"/>
              </a:rPr>
              <a:t>r</a:t>
            </a:r>
            <a:r>
              <a:rPr sz="2000" b="1" dirty="0">
                <a:latin typeface="微软雅黑"/>
                <a:cs typeface="微软雅黑"/>
              </a:rPr>
              <a:t>ess</a:t>
            </a:r>
            <a:endParaRPr sz="2000">
              <a:latin typeface="微软雅黑"/>
              <a:cs typeface="微软雅黑"/>
            </a:endParaRPr>
          </a:p>
        </p:txBody>
      </p:sp>
      <p:sp>
        <p:nvSpPr>
          <p:cNvPr id="127" name="object 127"/>
          <p:cNvSpPr txBox="1"/>
          <p:nvPr/>
        </p:nvSpPr>
        <p:spPr>
          <a:xfrm>
            <a:off x="5874765" y="5165149"/>
            <a:ext cx="3015615"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L</a:t>
            </a:r>
            <a:r>
              <a:rPr sz="2000" b="1" spc="-15" dirty="0">
                <a:latin typeface="微软雅黑"/>
                <a:cs typeface="微软雅黑"/>
              </a:rPr>
              <a:t>i</a:t>
            </a:r>
            <a:r>
              <a:rPr sz="2000" b="1" dirty="0">
                <a:latin typeface="微软雅黑"/>
                <a:cs typeface="微软雅黑"/>
              </a:rPr>
              <a:t>n</a:t>
            </a:r>
            <a:r>
              <a:rPr sz="2000" b="1" spc="-40" dirty="0">
                <a:latin typeface="微软雅黑"/>
                <a:cs typeface="微软雅黑"/>
              </a:rPr>
              <a:t>k</a:t>
            </a:r>
            <a:r>
              <a:rPr sz="2000" b="1" spc="-5" dirty="0">
                <a:latin typeface="微软雅黑"/>
                <a:cs typeface="微软雅黑"/>
              </a:rPr>
              <a:t>e</a:t>
            </a:r>
            <a:r>
              <a:rPr sz="2000" b="1" dirty="0">
                <a:latin typeface="微软雅黑"/>
                <a:cs typeface="微软雅黑"/>
              </a:rPr>
              <a:t>d </a:t>
            </a:r>
            <a:r>
              <a:rPr sz="2000" b="1" spc="-20" dirty="0">
                <a:latin typeface="微软雅黑"/>
                <a:cs typeface="微软雅黑"/>
              </a:rPr>
              <a:t>t</a:t>
            </a:r>
            <a:r>
              <a:rPr sz="2000" b="1" dirty="0">
                <a:latin typeface="微软雅黑"/>
                <a:cs typeface="微软雅黑"/>
              </a:rPr>
              <a:t>o</a:t>
            </a:r>
            <a:r>
              <a:rPr sz="2000" b="1" spc="-10" dirty="0">
                <a:latin typeface="微软雅黑"/>
                <a:cs typeface="微软雅黑"/>
              </a:rPr>
              <a:t> </a:t>
            </a:r>
            <a:r>
              <a:rPr sz="2000" b="1" spc="5" dirty="0">
                <a:latin typeface="微软雅黑"/>
                <a:cs typeface="微软雅黑"/>
              </a:rPr>
              <a:t>DMA</a:t>
            </a:r>
            <a:r>
              <a:rPr sz="2000" b="1" spc="-10" dirty="0">
                <a:latin typeface="微软雅黑"/>
                <a:cs typeface="微软雅黑"/>
              </a:rPr>
              <a:t> </a:t>
            </a:r>
            <a:r>
              <a:rPr sz="2000" b="1" dirty="0">
                <a:latin typeface="微软雅黑"/>
                <a:cs typeface="微软雅黑"/>
              </a:rPr>
              <a:t>ch</a:t>
            </a:r>
            <a:r>
              <a:rPr sz="2000" b="1" spc="-15" dirty="0">
                <a:latin typeface="微软雅黑"/>
                <a:cs typeface="微软雅黑"/>
              </a:rPr>
              <a:t>a</a:t>
            </a:r>
            <a:r>
              <a:rPr sz="2000" b="1" dirty="0">
                <a:latin typeface="微软雅黑"/>
                <a:cs typeface="微软雅黑"/>
              </a:rPr>
              <a:t>n</a:t>
            </a:r>
            <a:r>
              <a:rPr sz="2000" b="1" spc="-10" dirty="0">
                <a:latin typeface="微软雅黑"/>
                <a:cs typeface="微软雅黑"/>
              </a:rPr>
              <a:t>n</a:t>
            </a:r>
            <a:r>
              <a:rPr sz="2000" b="1" dirty="0">
                <a:latin typeface="微软雅黑"/>
                <a:cs typeface="微软雅黑"/>
              </a:rPr>
              <a:t>el</a:t>
            </a:r>
            <a:endParaRPr sz="2000">
              <a:latin typeface="微软雅黑"/>
              <a:cs typeface="微软雅黑"/>
            </a:endParaRPr>
          </a:p>
        </p:txBody>
      </p:sp>
      <p:sp>
        <p:nvSpPr>
          <p:cNvPr id="128" name="object 128"/>
          <p:cNvSpPr/>
          <p:nvPr/>
        </p:nvSpPr>
        <p:spPr>
          <a:xfrm>
            <a:off x="8487156" y="3616452"/>
            <a:ext cx="2159635" cy="410209"/>
          </a:xfrm>
          <a:custGeom>
            <a:avLst/>
            <a:gdLst/>
            <a:ahLst/>
            <a:cxnLst/>
            <a:rect l="l" t="t" r="r" b="b"/>
            <a:pathLst>
              <a:path w="2159634" h="410210">
                <a:moveTo>
                  <a:pt x="2091054" y="0"/>
                </a:moveTo>
                <a:lnTo>
                  <a:pt x="68325" y="0"/>
                </a:lnTo>
                <a:lnTo>
                  <a:pt x="41783" y="5334"/>
                </a:lnTo>
                <a:lnTo>
                  <a:pt x="20066" y="20066"/>
                </a:lnTo>
                <a:lnTo>
                  <a:pt x="5334" y="41656"/>
                </a:lnTo>
                <a:lnTo>
                  <a:pt x="0" y="68325"/>
                </a:lnTo>
                <a:lnTo>
                  <a:pt x="0" y="341375"/>
                </a:lnTo>
                <a:lnTo>
                  <a:pt x="5334" y="368046"/>
                </a:lnTo>
                <a:lnTo>
                  <a:pt x="20066" y="389636"/>
                </a:lnTo>
                <a:lnTo>
                  <a:pt x="41783" y="404368"/>
                </a:lnTo>
                <a:lnTo>
                  <a:pt x="68325" y="409702"/>
                </a:lnTo>
                <a:lnTo>
                  <a:pt x="2091054" y="409702"/>
                </a:lnTo>
                <a:lnTo>
                  <a:pt x="2117598" y="404368"/>
                </a:lnTo>
                <a:lnTo>
                  <a:pt x="2139315" y="389636"/>
                </a:lnTo>
                <a:lnTo>
                  <a:pt x="2154047" y="368046"/>
                </a:lnTo>
                <a:lnTo>
                  <a:pt x="2159380" y="341375"/>
                </a:lnTo>
                <a:lnTo>
                  <a:pt x="2159380" y="68325"/>
                </a:lnTo>
                <a:lnTo>
                  <a:pt x="2154047" y="41656"/>
                </a:lnTo>
                <a:lnTo>
                  <a:pt x="2139315" y="20066"/>
                </a:lnTo>
                <a:lnTo>
                  <a:pt x="2117598" y="5334"/>
                </a:lnTo>
                <a:lnTo>
                  <a:pt x="2091054" y="0"/>
                </a:lnTo>
                <a:close/>
              </a:path>
            </a:pathLst>
          </a:custGeom>
          <a:solidFill>
            <a:srgbClr val="B9CC00"/>
          </a:solidFill>
        </p:spPr>
        <p:txBody>
          <a:bodyPr wrap="square" lIns="0" tIns="0" rIns="0" bIns="0" rtlCol="0"/>
          <a:lstStyle/>
          <a:p>
            <a:endParaRPr/>
          </a:p>
        </p:txBody>
      </p:sp>
      <p:sp>
        <p:nvSpPr>
          <p:cNvPr id="129" name="object 129"/>
          <p:cNvSpPr txBox="1"/>
          <p:nvPr/>
        </p:nvSpPr>
        <p:spPr>
          <a:xfrm>
            <a:off x="8800592" y="3679493"/>
            <a:ext cx="167322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捕获/比较通道</a:t>
            </a:r>
            <a:endParaRPr sz="2000">
              <a:latin typeface="微软雅黑"/>
              <a:cs typeface="微软雅黑"/>
            </a:endParaRPr>
          </a:p>
        </p:txBody>
      </p:sp>
      <p:sp>
        <p:nvSpPr>
          <p:cNvPr id="130" name="object 130"/>
          <p:cNvSpPr txBox="1"/>
          <p:nvPr/>
        </p:nvSpPr>
        <p:spPr>
          <a:xfrm>
            <a:off x="8009635" y="3682541"/>
            <a:ext cx="30162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or</a:t>
            </a:r>
            <a:endParaRPr sz="2000">
              <a:latin typeface="微软雅黑"/>
              <a:cs typeface="微软雅黑"/>
            </a:endParaRPr>
          </a:p>
        </p:txBody>
      </p:sp>
    </p:spTree>
    <p:extLst>
      <p:ext uri="{BB962C8B-B14F-4D97-AF65-F5344CB8AC3E}">
        <p14:creationId xmlns:p14="http://schemas.microsoft.com/office/powerpoint/2010/main" val="1277085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solidFill>
            <a:srgbClr val="D9D9D9"/>
          </a:solidFill>
        </p:spPr>
        <p:txBody>
          <a:bodyPr wrap="square" lIns="0" tIns="0" rIns="0" bIns="0" rtlCol="0"/>
          <a:lstStyle/>
          <a:p>
            <a:endParaRPr/>
          </a:p>
        </p:txBody>
      </p:sp>
      <p:sp>
        <p:nvSpPr>
          <p:cNvPr id="3" name="object 3"/>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ln w="28956">
            <a:solidFill>
              <a:srgbClr val="5B9BD4"/>
            </a:solidFill>
          </a:ln>
        </p:spPr>
        <p:txBody>
          <a:bodyPr wrap="square" lIns="0" tIns="0" rIns="0" bIns="0" rtlCol="0"/>
          <a:lstStyle/>
          <a:p>
            <a:endParaRPr/>
          </a:p>
        </p:txBody>
      </p:sp>
      <p:sp>
        <p:nvSpPr>
          <p:cNvPr id="4" name="object 4"/>
          <p:cNvSpPr txBox="1"/>
          <p:nvPr/>
        </p:nvSpPr>
        <p:spPr>
          <a:xfrm>
            <a:off x="436270" y="1977082"/>
            <a:ext cx="2837180" cy="87947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1.</a:t>
            </a:r>
            <a:r>
              <a:rPr sz="2400" b="1" spc="-360" dirty="0">
                <a:solidFill>
                  <a:srgbClr val="008200"/>
                </a:solidFill>
                <a:latin typeface="Consolas"/>
                <a:cs typeface="Consolas"/>
              </a:rPr>
              <a:t> </a:t>
            </a:r>
            <a:r>
              <a:rPr sz="2400" b="1" spc="-5" dirty="0">
                <a:latin typeface="Consolas"/>
                <a:cs typeface="Consolas"/>
              </a:rPr>
              <a:t>ty</a:t>
            </a:r>
            <a:r>
              <a:rPr sz="2400" b="1" spc="0" dirty="0">
                <a:latin typeface="Consolas"/>
                <a:cs typeface="Consolas"/>
              </a:rPr>
              <a:t>p</a:t>
            </a:r>
            <a:r>
              <a:rPr sz="2400" b="1" spc="-5" dirty="0">
                <a:latin typeface="Consolas"/>
                <a:cs typeface="Consolas"/>
              </a:rPr>
              <a:t>ed</a:t>
            </a:r>
            <a:r>
              <a:rPr sz="2400" b="1" spc="0" dirty="0">
                <a:latin typeface="Consolas"/>
                <a:cs typeface="Consolas"/>
              </a:rPr>
              <a:t>e</a:t>
            </a:r>
            <a:r>
              <a:rPr sz="2400" b="1" spc="-5" dirty="0">
                <a:latin typeface="Consolas"/>
                <a:cs typeface="Consolas"/>
              </a:rPr>
              <a:t>f</a:t>
            </a:r>
            <a:r>
              <a:rPr sz="2400" b="1" spc="20" dirty="0">
                <a:latin typeface="Consolas"/>
                <a:cs typeface="Consolas"/>
              </a:rPr>
              <a:t> </a:t>
            </a:r>
            <a:r>
              <a:rPr sz="2400" b="1" spc="0" dirty="0">
                <a:latin typeface="Consolas"/>
                <a:cs typeface="Consolas"/>
              </a:rPr>
              <a:t>s</a:t>
            </a:r>
            <a:r>
              <a:rPr sz="2400" b="1" spc="-5" dirty="0">
                <a:latin typeface="Consolas"/>
                <a:cs typeface="Consolas"/>
              </a:rPr>
              <a:t>tr</a:t>
            </a:r>
            <a:r>
              <a:rPr sz="2400" b="1" spc="0" dirty="0">
                <a:latin typeface="Consolas"/>
                <a:cs typeface="Consolas"/>
              </a:rPr>
              <a:t>u</a:t>
            </a:r>
            <a:r>
              <a:rPr sz="2400" b="1" spc="-5" dirty="0">
                <a:latin typeface="Consolas"/>
                <a:cs typeface="Consolas"/>
              </a:rPr>
              <a:t>ct</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2</a:t>
            </a:r>
            <a:r>
              <a:rPr sz="2400" b="1" dirty="0">
                <a:solidFill>
                  <a:srgbClr val="008200"/>
                </a:solidFill>
                <a:latin typeface="Consolas"/>
                <a:cs typeface="Consolas"/>
              </a:rPr>
              <a:t>.</a:t>
            </a:r>
            <a:r>
              <a:rPr sz="2400" b="1" spc="-365" dirty="0">
                <a:solidFill>
                  <a:srgbClr val="008200"/>
                </a:solidFill>
                <a:latin typeface="Consolas"/>
                <a:cs typeface="Consolas"/>
              </a:rPr>
              <a:t> </a:t>
            </a:r>
            <a:r>
              <a:rPr sz="2400" b="1" dirty="0">
                <a:latin typeface="Consolas"/>
                <a:cs typeface="Consolas"/>
              </a:rPr>
              <a:t>{</a:t>
            </a:r>
            <a:endParaRPr sz="2400">
              <a:latin typeface="Consolas"/>
              <a:cs typeface="Consolas"/>
            </a:endParaRPr>
          </a:p>
        </p:txBody>
      </p:sp>
      <p:sp>
        <p:nvSpPr>
          <p:cNvPr id="5" name="object 5"/>
          <p:cNvSpPr txBox="1"/>
          <p:nvPr/>
        </p:nvSpPr>
        <p:spPr>
          <a:xfrm>
            <a:off x="436270" y="5818527"/>
            <a:ext cx="360680" cy="33020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8.</a:t>
            </a:r>
            <a:endParaRPr sz="2400">
              <a:latin typeface="Consolas"/>
              <a:cs typeface="Consolas"/>
            </a:endParaRPr>
          </a:p>
        </p:txBody>
      </p:sp>
      <p:sp>
        <p:nvSpPr>
          <p:cNvPr id="6" name="object 6"/>
          <p:cNvSpPr txBox="1"/>
          <p:nvPr/>
        </p:nvSpPr>
        <p:spPr>
          <a:xfrm>
            <a:off x="1565792" y="5818527"/>
            <a:ext cx="3888104"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IO</a:t>
            </a:r>
            <a:r>
              <a:rPr sz="2400" b="1" spc="25" dirty="0">
                <a:latin typeface="Consolas"/>
                <a:cs typeface="Consolas"/>
              </a:rPr>
              <a:t> </a:t>
            </a:r>
            <a:r>
              <a:rPr sz="2400" b="1" spc="-5" dirty="0">
                <a:latin typeface="Consolas"/>
                <a:cs typeface="Consolas"/>
              </a:rPr>
              <a:t>HAL_TIM_Stat</a:t>
            </a:r>
            <a:r>
              <a:rPr sz="2400" b="1" spc="0" dirty="0">
                <a:latin typeface="Consolas"/>
                <a:cs typeface="Consolas"/>
              </a:rPr>
              <a:t>e</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a:t>
            </a:r>
            <a:endParaRPr sz="2400">
              <a:latin typeface="Consolas"/>
              <a:cs typeface="Consolas"/>
            </a:endParaRPr>
          </a:p>
        </p:txBody>
      </p:sp>
      <p:sp>
        <p:nvSpPr>
          <p:cNvPr id="7" name="object 7"/>
          <p:cNvSpPr txBox="1"/>
          <p:nvPr/>
        </p:nvSpPr>
        <p:spPr>
          <a:xfrm>
            <a:off x="5773928" y="5818527"/>
            <a:ext cx="1032510"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Sta</a:t>
            </a:r>
            <a:r>
              <a:rPr sz="2400" b="1" dirty="0">
                <a:latin typeface="Consolas"/>
                <a:cs typeface="Consolas"/>
              </a:rPr>
              <a:t>t</a:t>
            </a:r>
            <a:r>
              <a:rPr sz="2400" b="1" spc="-5" dirty="0">
                <a:latin typeface="Consolas"/>
                <a:cs typeface="Consolas"/>
              </a:rPr>
              <a:t>e;</a:t>
            </a:r>
            <a:endParaRPr sz="2400">
              <a:latin typeface="Consolas"/>
              <a:cs typeface="Consolas"/>
            </a:endParaRPr>
          </a:p>
        </p:txBody>
      </p:sp>
      <p:sp>
        <p:nvSpPr>
          <p:cNvPr id="8" name="object 8"/>
          <p:cNvSpPr txBox="1"/>
          <p:nvPr/>
        </p:nvSpPr>
        <p:spPr>
          <a:xfrm>
            <a:off x="7119873" y="5800536"/>
            <a:ext cx="3274695" cy="34861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定时器运行状态定义</a:t>
            </a:r>
            <a:endParaRPr sz="2400">
              <a:latin typeface="微软雅黑"/>
              <a:cs typeface="微软雅黑"/>
            </a:endParaRPr>
          </a:p>
        </p:txBody>
      </p:sp>
      <p:sp>
        <p:nvSpPr>
          <p:cNvPr id="9" name="object 9"/>
          <p:cNvSpPr txBox="1"/>
          <p:nvPr/>
        </p:nvSpPr>
        <p:spPr>
          <a:xfrm>
            <a:off x="436270" y="6367167"/>
            <a:ext cx="3848735" cy="33020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9.</a:t>
            </a:r>
            <a:r>
              <a:rPr sz="2400" b="1" spc="-360" dirty="0">
                <a:solidFill>
                  <a:srgbClr val="008200"/>
                </a:solidFill>
                <a:latin typeface="Consolas"/>
                <a:cs typeface="Consolas"/>
              </a:rPr>
              <a:t> </a:t>
            </a:r>
            <a:r>
              <a:rPr sz="2400" b="1" spc="-5" dirty="0">
                <a:latin typeface="Consolas"/>
                <a:cs typeface="Consolas"/>
              </a:rPr>
              <a:t>}</a:t>
            </a:r>
            <a:r>
              <a:rPr sz="2400" b="1" dirty="0">
                <a:latin typeface="Consolas"/>
                <a:cs typeface="Consolas"/>
              </a:rPr>
              <a:t> </a:t>
            </a:r>
            <a:r>
              <a:rPr sz="2400" b="1" spc="0" dirty="0">
                <a:latin typeface="Consolas"/>
                <a:cs typeface="Consolas"/>
              </a:rPr>
              <a:t>T</a:t>
            </a:r>
            <a:r>
              <a:rPr sz="2400" b="1" spc="-5" dirty="0">
                <a:latin typeface="Consolas"/>
                <a:cs typeface="Consolas"/>
              </a:rPr>
              <a:t>IM</a:t>
            </a:r>
            <a:r>
              <a:rPr sz="2400" b="1" spc="0" dirty="0">
                <a:latin typeface="Consolas"/>
                <a:cs typeface="Consolas"/>
              </a:rPr>
              <a:t>_</a:t>
            </a:r>
            <a:r>
              <a:rPr sz="2400" b="1" spc="-5" dirty="0">
                <a:latin typeface="Consolas"/>
                <a:cs typeface="Consolas"/>
              </a:rPr>
              <a:t>H</a:t>
            </a:r>
            <a:r>
              <a:rPr sz="2400" b="1" spc="0" dirty="0">
                <a:latin typeface="Consolas"/>
                <a:cs typeface="Consolas"/>
              </a:rPr>
              <a:t>an</a:t>
            </a:r>
            <a:r>
              <a:rPr sz="2400" b="1" spc="-5" dirty="0">
                <a:latin typeface="Consolas"/>
                <a:cs typeface="Consolas"/>
              </a:rPr>
              <a:t>dl</a:t>
            </a:r>
            <a:r>
              <a:rPr sz="2400" b="1" spc="0" dirty="0">
                <a:latin typeface="Consolas"/>
                <a:cs typeface="Consolas"/>
              </a:rPr>
              <a:t>e</a:t>
            </a:r>
            <a:r>
              <a:rPr sz="2400" b="1" spc="-5" dirty="0">
                <a:latin typeface="Consolas"/>
                <a:cs typeface="Consolas"/>
              </a:rPr>
              <a:t>Ty</a:t>
            </a:r>
            <a:r>
              <a:rPr sz="2400" b="1" spc="0" dirty="0">
                <a:latin typeface="Consolas"/>
                <a:cs typeface="Consolas"/>
              </a:rPr>
              <a:t>p</a:t>
            </a:r>
            <a:r>
              <a:rPr sz="2400" b="1" spc="-5" dirty="0">
                <a:latin typeface="Consolas"/>
                <a:cs typeface="Consolas"/>
              </a:rPr>
              <a:t>e</a:t>
            </a:r>
            <a:r>
              <a:rPr sz="2400" b="1" spc="0" dirty="0">
                <a:latin typeface="Consolas"/>
                <a:cs typeface="Consolas"/>
              </a:rPr>
              <a:t>De</a:t>
            </a:r>
            <a:r>
              <a:rPr sz="2400" b="1" spc="10" dirty="0">
                <a:latin typeface="Consolas"/>
                <a:cs typeface="Consolas"/>
              </a:rPr>
              <a:t>f</a:t>
            </a:r>
            <a:r>
              <a:rPr sz="2400" b="1" spc="-5" dirty="0">
                <a:latin typeface="Consolas"/>
                <a:cs typeface="Consolas"/>
              </a:rPr>
              <a:t>;</a:t>
            </a:r>
            <a:endParaRPr sz="2400">
              <a:latin typeface="Consolas"/>
              <a:cs typeface="Consolas"/>
            </a:endParaRPr>
          </a:p>
        </p:txBody>
      </p:sp>
      <p:sp>
        <p:nvSpPr>
          <p:cNvPr id="10" name="object 10"/>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11" name="object 11"/>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12" name="object 12"/>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4" name="object 14"/>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7" name="object 17"/>
          <p:cNvSpPr txBox="1"/>
          <p:nvPr/>
        </p:nvSpPr>
        <p:spPr>
          <a:xfrm>
            <a:off x="189992" y="1162674"/>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定时器句柄</a:t>
            </a:r>
            <a:endParaRPr sz="2400">
              <a:latin typeface="微软雅黑"/>
              <a:cs typeface="微软雅黑"/>
            </a:endParaRPr>
          </a:p>
        </p:txBody>
      </p:sp>
      <p:sp>
        <p:nvSpPr>
          <p:cNvPr id="18" name="object 18"/>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9" name="object 19"/>
          <p:cNvSpPr txBox="1">
            <a:spLocks noGrp="1"/>
          </p:cNvSpPr>
          <p:nvPr>
            <p:ph type="title"/>
          </p:nvPr>
        </p:nvSpPr>
        <p:spPr>
          <a:prstGeom prst="rect">
            <a:avLst/>
          </a:prstGeom>
        </p:spPr>
        <p:txBody>
          <a:bodyPr vert="horz" wrap="square" lIns="0" tIns="0" rIns="0" bIns="0" rtlCol="0">
            <a:spAutoFit/>
          </a:bodyPr>
          <a:lstStyle/>
          <a:p>
            <a:pPr marL="4236085">
              <a:lnSpc>
                <a:spcPct val="100000"/>
              </a:lnSpc>
            </a:pPr>
            <a:r>
              <a:rPr spc="-5" dirty="0">
                <a:solidFill>
                  <a:srgbClr val="252525"/>
                </a:solidFill>
              </a:rPr>
              <a:t>定时器句柄结构的组成</a:t>
            </a:r>
          </a:p>
        </p:txBody>
      </p:sp>
      <p:sp>
        <p:nvSpPr>
          <p:cNvPr id="20" name="object 20"/>
          <p:cNvSpPr/>
          <p:nvPr/>
        </p:nvSpPr>
        <p:spPr>
          <a:xfrm>
            <a:off x="4792217" y="1913382"/>
            <a:ext cx="4445635" cy="1011555"/>
          </a:xfrm>
          <a:custGeom>
            <a:avLst/>
            <a:gdLst/>
            <a:ahLst/>
            <a:cxnLst/>
            <a:rect l="l" t="t" r="r" b="b"/>
            <a:pathLst>
              <a:path w="4445634" h="1011555">
                <a:moveTo>
                  <a:pt x="4334510" y="0"/>
                </a:moveTo>
                <a:lnTo>
                  <a:pt x="105665" y="125"/>
                </a:lnTo>
                <a:lnTo>
                  <a:pt x="64323" y="10247"/>
                </a:lnTo>
                <a:lnTo>
                  <a:pt x="30759" y="34271"/>
                </a:lnTo>
                <a:lnTo>
                  <a:pt x="8232" y="68940"/>
                </a:lnTo>
                <a:lnTo>
                  <a:pt x="0" y="110997"/>
                </a:lnTo>
                <a:lnTo>
                  <a:pt x="125" y="560322"/>
                </a:lnTo>
                <a:lnTo>
                  <a:pt x="10247" y="601664"/>
                </a:lnTo>
                <a:lnTo>
                  <a:pt x="34271" y="635228"/>
                </a:lnTo>
                <a:lnTo>
                  <a:pt x="68940" y="657755"/>
                </a:lnTo>
                <a:lnTo>
                  <a:pt x="110998" y="665988"/>
                </a:lnTo>
                <a:lnTo>
                  <a:pt x="740918" y="665988"/>
                </a:lnTo>
                <a:lnTo>
                  <a:pt x="562102" y="1011173"/>
                </a:lnTo>
                <a:lnTo>
                  <a:pt x="1852295" y="665988"/>
                </a:lnTo>
                <a:lnTo>
                  <a:pt x="4339842" y="665862"/>
                </a:lnTo>
                <a:lnTo>
                  <a:pt x="4354286" y="664234"/>
                </a:lnTo>
                <a:lnTo>
                  <a:pt x="4393397" y="649116"/>
                </a:lnTo>
                <a:lnTo>
                  <a:pt x="4423644" y="621182"/>
                </a:lnTo>
                <a:lnTo>
                  <a:pt x="4441768" y="583688"/>
                </a:lnTo>
                <a:lnTo>
                  <a:pt x="4445508" y="554989"/>
                </a:lnTo>
                <a:lnTo>
                  <a:pt x="4445382" y="105665"/>
                </a:lnTo>
                <a:lnTo>
                  <a:pt x="4435260" y="64323"/>
                </a:lnTo>
                <a:lnTo>
                  <a:pt x="4411236" y="30759"/>
                </a:lnTo>
                <a:lnTo>
                  <a:pt x="4376567" y="8232"/>
                </a:lnTo>
                <a:lnTo>
                  <a:pt x="4349148" y="954"/>
                </a:lnTo>
                <a:lnTo>
                  <a:pt x="4334510" y="0"/>
                </a:lnTo>
                <a:close/>
              </a:path>
            </a:pathLst>
          </a:custGeom>
          <a:solidFill>
            <a:srgbClr val="FFFFC7"/>
          </a:solidFill>
        </p:spPr>
        <p:txBody>
          <a:bodyPr wrap="square" lIns="0" tIns="0" rIns="0" bIns="0" rtlCol="0"/>
          <a:lstStyle/>
          <a:p>
            <a:endParaRPr/>
          </a:p>
        </p:txBody>
      </p:sp>
      <p:sp>
        <p:nvSpPr>
          <p:cNvPr id="21" name="object 21"/>
          <p:cNvSpPr/>
          <p:nvPr/>
        </p:nvSpPr>
        <p:spPr>
          <a:xfrm>
            <a:off x="4792217" y="1913382"/>
            <a:ext cx="4445635" cy="1011555"/>
          </a:xfrm>
          <a:custGeom>
            <a:avLst/>
            <a:gdLst/>
            <a:ahLst/>
            <a:cxnLst/>
            <a:rect l="l" t="t" r="r" b="b"/>
            <a:pathLst>
              <a:path w="4445634" h="1011555">
                <a:moveTo>
                  <a:pt x="0" y="110997"/>
                </a:moveTo>
                <a:lnTo>
                  <a:pt x="8232" y="68940"/>
                </a:lnTo>
                <a:lnTo>
                  <a:pt x="30759" y="34271"/>
                </a:lnTo>
                <a:lnTo>
                  <a:pt x="64323" y="10247"/>
                </a:lnTo>
                <a:lnTo>
                  <a:pt x="105665" y="125"/>
                </a:lnTo>
                <a:lnTo>
                  <a:pt x="740918" y="0"/>
                </a:lnTo>
                <a:lnTo>
                  <a:pt x="1852295" y="0"/>
                </a:lnTo>
                <a:lnTo>
                  <a:pt x="4334510" y="0"/>
                </a:lnTo>
                <a:lnTo>
                  <a:pt x="4349148" y="954"/>
                </a:lnTo>
                <a:lnTo>
                  <a:pt x="4389105" y="14314"/>
                </a:lnTo>
                <a:lnTo>
                  <a:pt x="4420588" y="40882"/>
                </a:lnTo>
                <a:lnTo>
                  <a:pt x="4440340" y="77400"/>
                </a:lnTo>
                <a:lnTo>
                  <a:pt x="4445508" y="388492"/>
                </a:lnTo>
                <a:lnTo>
                  <a:pt x="4445508" y="554989"/>
                </a:lnTo>
                <a:lnTo>
                  <a:pt x="4444553" y="569628"/>
                </a:lnTo>
                <a:lnTo>
                  <a:pt x="4441768" y="583688"/>
                </a:lnTo>
                <a:lnTo>
                  <a:pt x="4423644" y="621182"/>
                </a:lnTo>
                <a:lnTo>
                  <a:pt x="4393397" y="649116"/>
                </a:lnTo>
                <a:lnTo>
                  <a:pt x="4354286" y="664234"/>
                </a:lnTo>
                <a:lnTo>
                  <a:pt x="1852295" y="665988"/>
                </a:lnTo>
                <a:lnTo>
                  <a:pt x="562102" y="1011173"/>
                </a:lnTo>
                <a:lnTo>
                  <a:pt x="740918" y="665988"/>
                </a:lnTo>
                <a:lnTo>
                  <a:pt x="110998" y="665988"/>
                </a:lnTo>
                <a:lnTo>
                  <a:pt x="96359" y="665033"/>
                </a:lnTo>
                <a:lnTo>
                  <a:pt x="56402" y="651673"/>
                </a:lnTo>
                <a:lnTo>
                  <a:pt x="24919" y="625105"/>
                </a:lnTo>
                <a:lnTo>
                  <a:pt x="5167" y="588587"/>
                </a:lnTo>
                <a:lnTo>
                  <a:pt x="0" y="554989"/>
                </a:lnTo>
                <a:lnTo>
                  <a:pt x="0" y="388492"/>
                </a:lnTo>
                <a:lnTo>
                  <a:pt x="0" y="110997"/>
                </a:lnTo>
                <a:close/>
              </a:path>
            </a:pathLst>
          </a:custGeom>
          <a:ln w="28956">
            <a:solidFill>
              <a:srgbClr val="000000"/>
            </a:solidFill>
          </a:ln>
        </p:spPr>
        <p:txBody>
          <a:bodyPr wrap="square" lIns="0" tIns="0" rIns="0" bIns="0" rtlCol="0"/>
          <a:lstStyle/>
          <a:p>
            <a:endParaRPr/>
          </a:p>
        </p:txBody>
      </p:sp>
      <p:sp>
        <p:nvSpPr>
          <p:cNvPr id="22" name="object 22"/>
          <p:cNvSpPr txBox="1"/>
          <p:nvPr/>
        </p:nvSpPr>
        <p:spPr>
          <a:xfrm>
            <a:off x="4951857" y="2080831"/>
            <a:ext cx="4122420" cy="365760"/>
          </a:xfrm>
          <a:prstGeom prst="rect">
            <a:avLst/>
          </a:prstGeom>
        </p:spPr>
        <p:txBody>
          <a:bodyPr vert="horz" wrap="square" lIns="0" tIns="0" rIns="0" bIns="0" rtlCol="0">
            <a:spAutoFit/>
          </a:bodyPr>
          <a:lstStyle/>
          <a:p>
            <a:pPr marL="12700">
              <a:lnSpc>
                <a:spcPct val="100000"/>
              </a:lnSpc>
            </a:pPr>
            <a:r>
              <a:rPr sz="2400" b="1" dirty="0">
                <a:latin typeface="宋体"/>
                <a:cs typeface="宋体"/>
              </a:rPr>
              <a:t>定时器实例，</a:t>
            </a:r>
            <a:r>
              <a:rPr sz="2400" b="1" spc="0" dirty="0">
                <a:latin typeface="宋体"/>
                <a:cs typeface="宋体"/>
              </a:rPr>
              <a:t>如</a:t>
            </a:r>
            <a:r>
              <a:rPr sz="2400" b="1" spc="-5" dirty="0">
                <a:latin typeface="Consolas"/>
                <a:cs typeface="Consolas"/>
              </a:rPr>
              <a:t>TIM1</a:t>
            </a:r>
            <a:r>
              <a:rPr sz="2400" b="1" dirty="0">
                <a:latin typeface="宋体"/>
                <a:cs typeface="宋体"/>
              </a:rPr>
              <a:t>和</a:t>
            </a:r>
            <a:r>
              <a:rPr sz="2400" b="1" spc="-5" dirty="0">
                <a:latin typeface="Consolas"/>
                <a:cs typeface="Consolas"/>
              </a:rPr>
              <a:t>TIM2</a:t>
            </a:r>
            <a:r>
              <a:rPr sz="2400" b="1" spc="-10" dirty="0">
                <a:latin typeface="宋体"/>
                <a:cs typeface="宋体"/>
              </a:rPr>
              <a:t>等</a:t>
            </a:r>
            <a:endParaRPr sz="2400">
              <a:latin typeface="宋体"/>
              <a:cs typeface="宋体"/>
            </a:endParaRPr>
          </a:p>
        </p:txBody>
      </p:sp>
      <p:sp>
        <p:nvSpPr>
          <p:cNvPr id="23" name="object 23"/>
          <p:cNvSpPr/>
          <p:nvPr/>
        </p:nvSpPr>
        <p:spPr>
          <a:xfrm>
            <a:off x="1242974" y="6104253"/>
            <a:ext cx="335915" cy="0"/>
          </a:xfrm>
          <a:custGeom>
            <a:avLst/>
            <a:gdLst/>
            <a:ahLst/>
            <a:cxnLst/>
            <a:rect l="l" t="t" r="r" b="b"/>
            <a:pathLst>
              <a:path w="335915">
                <a:moveTo>
                  <a:pt x="0" y="0"/>
                </a:moveTo>
                <a:lnTo>
                  <a:pt x="335399" y="0"/>
                </a:lnTo>
              </a:path>
            </a:pathLst>
          </a:custGeom>
          <a:ln w="28727">
            <a:solidFill>
              <a:srgbClr val="000000"/>
            </a:solidFill>
          </a:ln>
        </p:spPr>
        <p:txBody>
          <a:bodyPr wrap="square" lIns="0" tIns="0" rIns="0" bIns="0" rtlCol="0"/>
          <a:lstStyle/>
          <a:p>
            <a:endParaRPr/>
          </a:p>
        </p:txBody>
      </p:sp>
      <p:graphicFrame>
        <p:nvGraphicFramePr>
          <p:cNvPr id="16" name="object 16"/>
          <p:cNvGraphicFramePr>
            <a:graphicFrameLocks noGrp="1"/>
          </p:cNvGraphicFramePr>
          <p:nvPr/>
        </p:nvGraphicFramePr>
        <p:xfrm>
          <a:off x="414045" y="2964942"/>
          <a:ext cx="10917020" cy="2685690"/>
        </p:xfrm>
        <a:graphic>
          <a:graphicData uri="http://schemas.openxmlformats.org/drawingml/2006/table">
            <a:tbl>
              <a:tblPr firstRow="1" bandRow="1">
                <a:tableStyleId>{2D5ABB26-0587-4C30-8999-92F81FD0307C}</a:tableStyleId>
              </a:tblPr>
              <a:tblGrid>
                <a:gridCol w="682472">
                  <a:extLst>
                    <a:ext uri="{9D8B030D-6E8A-4147-A177-3AD203B41FA5}">
                      <a16:colId xmlns:a16="http://schemas.microsoft.com/office/drawing/2014/main" val="20000"/>
                    </a:ext>
                  </a:extLst>
                </a:gridCol>
                <a:gridCol w="3760288">
                  <a:extLst>
                    <a:ext uri="{9D8B030D-6E8A-4147-A177-3AD203B41FA5}">
                      <a16:colId xmlns:a16="http://schemas.microsoft.com/office/drawing/2014/main" val="20001"/>
                    </a:ext>
                  </a:extLst>
                </a:gridCol>
                <a:gridCol w="1858699">
                  <a:extLst>
                    <a:ext uri="{9D8B030D-6E8A-4147-A177-3AD203B41FA5}">
                      <a16:colId xmlns:a16="http://schemas.microsoft.com/office/drawing/2014/main" val="20002"/>
                    </a:ext>
                  </a:extLst>
                </a:gridCol>
                <a:gridCol w="4615561">
                  <a:extLst>
                    <a:ext uri="{9D8B030D-6E8A-4147-A177-3AD203B41FA5}">
                      <a16:colId xmlns:a16="http://schemas.microsoft.com/office/drawing/2014/main" val="20003"/>
                    </a:ext>
                  </a:extLst>
                </a:gridCol>
              </a:tblGrid>
              <a:tr h="470915">
                <a:tc>
                  <a:txBody>
                    <a:bodyPr/>
                    <a:lstStyle/>
                    <a:p>
                      <a:pPr marL="34925">
                        <a:lnSpc>
                          <a:spcPct val="100000"/>
                        </a:lnSpc>
                      </a:pPr>
                      <a:r>
                        <a:rPr sz="2400" b="1" dirty="0">
                          <a:solidFill>
                            <a:srgbClr val="008200"/>
                          </a:solidFill>
                          <a:latin typeface="Consolas"/>
                          <a:cs typeface="Consolas"/>
                        </a:rPr>
                        <a:t>3.</a:t>
                      </a:r>
                      <a:endParaRPr sz="2400">
                        <a:latin typeface="Consolas"/>
                        <a:cs typeface="Consolas"/>
                      </a:endParaRPr>
                    </a:p>
                  </a:txBody>
                  <a:tcPr marL="0" marR="0" marT="0" marB="0">
                    <a:lnR w="38100">
                      <a:solidFill>
                        <a:srgbClr val="FF0000"/>
                      </a:solidFill>
                      <a:prstDash val="solid"/>
                    </a:lnR>
                    <a:solidFill>
                      <a:srgbClr val="D9D9D9"/>
                    </a:solidFill>
                  </a:tcPr>
                </a:tc>
                <a:tc>
                  <a:txBody>
                    <a:bodyPr/>
                    <a:lstStyle/>
                    <a:p>
                      <a:pPr marL="127000">
                        <a:lnSpc>
                          <a:spcPct val="100000"/>
                        </a:lnSpc>
                      </a:pPr>
                      <a:r>
                        <a:rPr sz="2400" b="1" dirty="0">
                          <a:latin typeface="Consolas"/>
                          <a:cs typeface="Consolas"/>
                        </a:rPr>
                        <a:t>TIM_TypeDef</a:t>
                      </a:r>
                      <a:endParaRPr sz="2400">
                        <a:latin typeface="Consolas"/>
                        <a:cs typeface="Consolas"/>
                      </a:endParaRPr>
                    </a:p>
                  </a:txBody>
                  <a:tcPr marL="0" marR="0" marT="0" marB="0">
                    <a:lnL w="38100">
                      <a:solidFill>
                        <a:srgbClr val="FF0000"/>
                      </a:solidFill>
                      <a:prstDash val="solid"/>
                    </a:lnL>
                    <a:lnT w="38100">
                      <a:solidFill>
                        <a:srgbClr val="FF0000"/>
                      </a:solidFill>
                      <a:prstDash val="solid"/>
                    </a:lnT>
                    <a:lnB w="38100">
                      <a:solidFill>
                        <a:srgbClr val="FF0000"/>
                      </a:solidFill>
                      <a:prstDash val="solid"/>
                    </a:lnB>
                    <a:solidFill>
                      <a:srgbClr val="D9D9D9"/>
                    </a:solidFill>
                  </a:tcPr>
                </a:tc>
                <a:tc>
                  <a:txBody>
                    <a:bodyPr/>
                    <a:lstStyle/>
                    <a:p>
                      <a:pPr marL="88265">
                        <a:lnSpc>
                          <a:spcPct val="100000"/>
                        </a:lnSpc>
                      </a:pPr>
                      <a:r>
                        <a:rPr sz="2400" b="1" dirty="0">
                          <a:latin typeface="Consolas"/>
                          <a:cs typeface="Consolas"/>
                        </a:rPr>
                        <a:t>*Instance;</a:t>
                      </a:r>
                      <a:endParaRPr sz="2400">
                        <a:latin typeface="Consolas"/>
                        <a:cs typeface="Consolas"/>
                      </a:endParaRPr>
                    </a:p>
                  </a:txBody>
                  <a:tcPr marL="0" marR="0" marT="0" marB="0">
                    <a:lnR w="38100">
                      <a:solidFill>
                        <a:srgbClr val="FF0000"/>
                      </a:solidFill>
                      <a:prstDash val="solid"/>
                    </a:lnR>
                    <a:lnT w="38100">
                      <a:solidFill>
                        <a:srgbClr val="FF0000"/>
                      </a:solidFill>
                      <a:prstDash val="solid"/>
                    </a:lnT>
                    <a:lnB w="38100">
                      <a:solidFill>
                        <a:srgbClr val="FF0000"/>
                      </a:solidFill>
                      <a:prstDash val="solid"/>
                    </a:lnB>
                    <a:solidFill>
                      <a:srgbClr val="D9D9D9"/>
                    </a:solidFill>
                  </a:tcPr>
                </a:tc>
                <a:tc>
                  <a:txBody>
                    <a:bodyPr/>
                    <a:lstStyle/>
                    <a:p>
                      <a:pPr marL="397510">
                        <a:lnSpc>
                          <a:spcPct val="100000"/>
                        </a:lnSpc>
                      </a:pPr>
                      <a:r>
                        <a:rPr sz="2400" b="1"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定时器寄存器的基地址定义</a:t>
                      </a:r>
                      <a:endParaRPr sz="2400">
                        <a:latin typeface="微软雅黑"/>
                        <a:cs typeface="微软雅黑"/>
                      </a:endParaRPr>
                    </a:p>
                  </a:txBody>
                  <a:tcPr marL="0" marR="0" marT="0" marB="0">
                    <a:lnL w="38100">
                      <a:solidFill>
                        <a:srgbClr val="FF0000"/>
                      </a:solidFill>
                      <a:prstDash val="solid"/>
                    </a:lnL>
                    <a:solidFill>
                      <a:srgbClr val="D9D9D9"/>
                    </a:solidFill>
                  </a:tcPr>
                </a:tc>
                <a:extLst>
                  <a:ext uri="{0D108BD9-81ED-4DB2-BD59-A6C34878D82A}">
                    <a16:rowId xmlns:a16="http://schemas.microsoft.com/office/drawing/2014/main" val="10000"/>
                  </a:ext>
                </a:extLst>
              </a:tr>
              <a:tr h="618076">
                <a:tc>
                  <a:txBody>
                    <a:bodyPr/>
                    <a:lstStyle/>
                    <a:p>
                      <a:pPr marL="34925">
                        <a:lnSpc>
                          <a:spcPct val="100000"/>
                        </a:lnSpc>
                      </a:pPr>
                      <a:r>
                        <a:rPr sz="2400" b="1" dirty="0">
                          <a:solidFill>
                            <a:srgbClr val="008200"/>
                          </a:solidFill>
                          <a:latin typeface="Consolas"/>
                          <a:cs typeface="Consolas"/>
                        </a:rPr>
                        <a:t>4.</a:t>
                      </a:r>
                      <a:endParaRPr sz="2400">
                        <a:latin typeface="Consolas"/>
                        <a:cs typeface="Consolas"/>
                      </a:endParaRPr>
                    </a:p>
                  </a:txBody>
                  <a:tcPr marL="0" marR="0" marT="0" marB="0">
                    <a:solidFill>
                      <a:srgbClr val="D9D9D9"/>
                    </a:solidFill>
                  </a:tcPr>
                </a:tc>
                <a:tc>
                  <a:txBody>
                    <a:bodyPr/>
                    <a:lstStyle/>
                    <a:p>
                      <a:pPr marL="146050">
                        <a:lnSpc>
                          <a:spcPct val="100000"/>
                        </a:lnSpc>
                      </a:pPr>
                      <a:r>
                        <a:rPr sz="2400" b="1" dirty="0">
                          <a:latin typeface="Consolas"/>
                          <a:cs typeface="Consolas"/>
                        </a:rPr>
                        <a:t>TIM_Base_Ini</a:t>
                      </a:r>
                      <a:r>
                        <a:rPr sz="2400" b="1" spc="10" dirty="0">
                          <a:latin typeface="Consolas"/>
                          <a:cs typeface="Consolas"/>
                        </a:rPr>
                        <a:t>t</a:t>
                      </a:r>
                      <a:r>
                        <a:rPr sz="2400" b="1" dirty="0">
                          <a:latin typeface="Consolas"/>
                          <a:cs typeface="Consolas"/>
                        </a:rPr>
                        <a:t>T</a:t>
                      </a:r>
                      <a:r>
                        <a:rPr sz="2400" b="1" spc="10" dirty="0">
                          <a:latin typeface="Consolas"/>
                          <a:cs typeface="Consolas"/>
                        </a:rPr>
                        <a:t>y</a:t>
                      </a:r>
                      <a:r>
                        <a:rPr sz="2400" b="1" dirty="0">
                          <a:latin typeface="Consolas"/>
                          <a:cs typeface="Consolas"/>
                        </a:rPr>
                        <a:t>pe</a:t>
                      </a:r>
                      <a:r>
                        <a:rPr sz="2400" b="1" spc="10" dirty="0">
                          <a:latin typeface="Consolas"/>
                          <a:cs typeface="Consolas"/>
                        </a:rPr>
                        <a:t>D</a:t>
                      </a:r>
                      <a:r>
                        <a:rPr sz="2400" b="1" dirty="0">
                          <a:latin typeface="Consolas"/>
                          <a:cs typeface="Consolas"/>
                        </a:rPr>
                        <a:t>ef</a:t>
                      </a:r>
                      <a:endParaRPr sz="2400">
                        <a:latin typeface="Consolas"/>
                        <a:cs typeface="Consolas"/>
                      </a:endParaRPr>
                    </a:p>
                  </a:txBody>
                  <a:tcPr marL="0" marR="0" marT="0" marB="0">
                    <a:lnT w="38100">
                      <a:solidFill>
                        <a:srgbClr val="FF0000"/>
                      </a:solidFill>
                      <a:prstDash val="solid"/>
                    </a:lnT>
                    <a:solidFill>
                      <a:srgbClr val="D9D9D9"/>
                    </a:solidFill>
                  </a:tcPr>
                </a:tc>
                <a:tc>
                  <a:txBody>
                    <a:bodyPr/>
                    <a:lstStyle/>
                    <a:p>
                      <a:pPr marL="88265">
                        <a:lnSpc>
                          <a:spcPct val="100000"/>
                        </a:lnSpc>
                      </a:pPr>
                      <a:r>
                        <a:rPr sz="2400" b="1" dirty="0">
                          <a:latin typeface="Consolas"/>
                          <a:cs typeface="Consolas"/>
                        </a:rPr>
                        <a:t>Init;</a:t>
                      </a:r>
                      <a:endParaRPr sz="2400">
                        <a:latin typeface="Consolas"/>
                        <a:cs typeface="Consolas"/>
                      </a:endParaRPr>
                    </a:p>
                  </a:txBody>
                  <a:tcPr marL="0" marR="0" marT="0" marB="0">
                    <a:lnT w="38100">
                      <a:solidFill>
                        <a:srgbClr val="FF0000"/>
                      </a:solidFill>
                      <a:prstDash val="solid"/>
                    </a:lnT>
                    <a:solidFill>
                      <a:srgbClr val="D9D9D9"/>
                    </a:solidFill>
                  </a:tcPr>
                </a:tc>
                <a:tc>
                  <a:txBody>
                    <a:bodyPr/>
                    <a:lstStyle/>
                    <a:p>
                      <a:pPr marL="416559">
                        <a:lnSpc>
                          <a:spcPct val="100000"/>
                        </a:lnSpc>
                      </a:pPr>
                      <a:r>
                        <a:rPr sz="2400" b="1"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时基功能的配置参数定义</a:t>
                      </a:r>
                      <a:endParaRPr sz="2400">
                        <a:latin typeface="微软雅黑"/>
                        <a:cs typeface="微软雅黑"/>
                      </a:endParaRPr>
                    </a:p>
                  </a:txBody>
                  <a:tcPr marL="0" marR="0" marT="0" marB="0">
                    <a:solidFill>
                      <a:srgbClr val="D9D9D9"/>
                    </a:solidFill>
                  </a:tcPr>
                </a:tc>
                <a:extLst>
                  <a:ext uri="{0D108BD9-81ED-4DB2-BD59-A6C34878D82A}">
                    <a16:rowId xmlns:a16="http://schemas.microsoft.com/office/drawing/2014/main" val="10001"/>
                  </a:ext>
                </a:extLst>
              </a:tr>
              <a:tr h="548766">
                <a:tc>
                  <a:txBody>
                    <a:bodyPr/>
                    <a:lstStyle/>
                    <a:p>
                      <a:pPr marL="34925">
                        <a:lnSpc>
                          <a:spcPct val="100000"/>
                        </a:lnSpc>
                      </a:pPr>
                      <a:r>
                        <a:rPr sz="2400" b="1" dirty="0">
                          <a:solidFill>
                            <a:srgbClr val="008200"/>
                          </a:solidFill>
                          <a:latin typeface="Consolas"/>
                          <a:cs typeface="Consolas"/>
                        </a:rPr>
                        <a:t>5.</a:t>
                      </a:r>
                      <a:endParaRPr sz="2400">
                        <a:latin typeface="Consolas"/>
                        <a:cs typeface="Consolas"/>
                      </a:endParaRPr>
                    </a:p>
                  </a:txBody>
                  <a:tcPr marL="0" marR="0" marT="0" marB="0">
                    <a:solidFill>
                      <a:srgbClr val="D9D9D9"/>
                    </a:solidFill>
                  </a:tcPr>
                </a:tc>
                <a:tc>
                  <a:txBody>
                    <a:bodyPr/>
                    <a:lstStyle/>
                    <a:p>
                      <a:pPr marL="146050">
                        <a:lnSpc>
                          <a:spcPct val="100000"/>
                        </a:lnSpc>
                      </a:pPr>
                      <a:r>
                        <a:rPr sz="2400" b="1" dirty="0">
                          <a:latin typeface="Consolas"/>
                          <a:cs typeface="Consolas"/>
                        </a:rPr>
                        <a:t>HAL_TIM_Acti</a:t>
                      </a:r>
                      <a:r>
                        <a:rPr sz="2400" b="1" spc="10" dirty="0">
                          <a:latin typeface="Consolas"/>
                          <a:cs typeface="Consolas"/>
                        </a:rPr>
                        <a:t>v</a:t>
                      </a:r>
                      <a:r>
                        <a:rPr sz="2400" b="1" dirty="0">
                          <a:latin typeface="Consolas"/>
                          <a:cs typeface="Consolas"/>
                        </a:rPr>
                        <a:t>e</a:t>
                      </a:r>
                      <a:r>
                        <a:rPr sz="2400" b="1" spc="10" dirty="0">
                          <a:latin typeface="Consolas"/>
                          <a:cs typeface="Consolas"/>
                        </a:rPr>
                        <a:t>C</a:t>
                      </a:r>
                      <a:r>
                        <a:rPr sz="2400" b="1" dirty="0">
                          <a:latin typeface="Consolas"/>
                          <a:cs typeface="Consolas"/>
                        </a:rPr>
                        <a:t>ha</a:t>
                      </a:r>
                      <a:r>
                        <a:rPr sz="2400" b="1" spc="10" dirty="0">
                          <a:latin typeface="Consolas"/>
                          <a:cs typeface="Consolas"/>
                        </a:rPr>
                        <a:t>n</a:t>
                      </a:r>
                      <a:r>
                        <a:rPr sz="2400" b="1" dirty="0">
                          <a:latin typeface="Consolas"/>
                          <a:cs typeface="Consolas"/>
                        </a:rPr>
                        <a:t>n</a:t>
                      </a:r>
                      <a:r>
                        <a:rPr sz="2400" b="1" spc="10" dirty="0">
                          <a:latin typeface="Consolas"/>
                          <a:cs typeface="Consolas"/>
                        </a:rPr>
                        <a:t>e</a:t>
                      </a:r>
                      <a:r>
                        <a:rPr sz="2400" b="1" dirty="0">
                          <a:latin typeface="Consolas"/>
                          <a:cs typeface="Consolas"/>
                        </a:rPr>
                        <a:t>l</a:t>
                      </a:r>
                      <a:endParaRPr sz="2400">
                        <a:latin typeface="Consolas"/>
                        <a:cs typeface="Consolas"/>
                      </a:endParaRPr>
                    </a:p>
                  </a:txBody>
                  <a:tcPr marL="0" marR="0" marT="0" marB="0">
                    <a:solidFill>
                      <a:srgbClr val="D9D9D9"/>
                    </a:solidFill>
                  </a:tcPr>
                </a:tc>
                <a:tc>
                  <a:txBody>
                    <a:bodyPr/>
                    <a:lstStyle/>
                    <a:p>
                      <a:pPr marL="88265">
                        <a:lnSpc>
                          <a:spcPct val="100000"/>
                        </a:lnSpc>
                      </a:pPr>
                      <a:r>
                        <a:rPr sz="2400" b="1" dirty="0">
                          <a:latin typeface="Consolas"/>
                          <a:cs typeface="Consolas"/>
                        </a:rPr>
                        <a:t>Channel;</a:t>
                      </a:r>
                      <a:endParaRPr sz="2400">
                        <a:latin typeface="Consolas"/>
                        <a:cs typeface="Consolas"/>
                      </a:endParaRPr>
                    </a:p>
                  </a:txBody>
                  <a:tcPr marL="0" marR="0" marT="0" marB="0">
                    <a:solidFill>
                      <a:srgbClr val="D9D9D9"/>
                    </a:solidFill>
                  </a:tcPr>
                </a:tc>
                <a:tc>
                  <a:txBody>
                    <a:bodyPr/>
                    <a:lstStyle/>
                    <a:p>
                      <a:pPr marL="416559">
                        <a:lnSpc>
                          <a:spcPct val="100000"/>
                        </a:lnSpc>
                      </a:pPr>
                      <a:r>
                        <a:rPr sz="2400" b="1"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捕获</a:t>
                      </a:r>
                      <a:r>
                        <a:rPr sz="2400" b="1" dirty="0">
                          <a:solidFill>
                            <a:srgbClr val="008200"/>
                          </a:solidFill>
                          <a:latin typeface="Consolas"/>
                          <a:cs typeface="Consolas"/>
                        </a:rPr>
                        <a:t>/</a:t>
                      </a:r>
                      <a:r>
                        <a:rPr sz="2400" b="1" dirty="0">
                          <a:solidFill>
                            <a:srgbClr val="008200"/>
                          </a:solidFill>
                          <a:latin typeface="微软雅黑"/>
                          <a:cs typeface="微软雅黑"/>
                        </a:rPr>
                        <a:t>比较通道的定义</a:t>
                      </a:r>
                      <a:endParaRPr sz="2400">
                        <a:latin typeface="微软雅黑"/>
                        <a:cs typeface="微软雅黑"/>
                      </a:endParaRPr>
                    </a:p>
                  </a:txBody>
                  <a:tcPr marL="0" marR="0" marT="0" marB="0">
                    <a:solidFill>
                      <a:srgbClr val="D9D9D9"/>
                    </a:solidFill>
                  </a:tcPr>
                </a:tc>
                <a:extLst>
                  <a:ext uri="{0D108BD9-81ED-4DB2-BD59-A6C34878D82A}">
                    <a16:rowId xmlns:a16="http://schemas.microsoft.com/office/drawing/2014/main" val="10002"/>
                  </a:ext>
                </a:extLst>
              </a:tr>
              <a:tr h="548517">
                <a:tc>
                  <a:txBody>
                    <a:bodyPr/>
                    <a:lstStyle/>
                    <a:p>
                      <a:pPr marL="34925">
                        <a:lnSpc>
                          <a:spcPct val="100000"/>
                        </a:lnSpc>
                      </a:pPr>
                      <a:r>
                        <a:rPr sz="2400" b="1" dirty="0">
                          <a:solidFill>
                            <a:srgbClr val="008200"/>
                          </a:solidFill>
                          <a:latin typeface="Consolas"/>
                          <a:cs typeface="Consolas"/>
                        </a:rPr>
                        <a:t>6.</a:t>
                      </a:r>
                      <a:endParaRPr sz="2400">
                        <a:latin typeface="Consolas"/>
                        <a:cs typeface="Consolas"/>
                      </a:endParaRPr>
                    </a:p>
                  </a:txBody>
                  <a:tcPr marL="0" marR="0" marT="0" marB="0">
                    <a:solidFill>
                      <a:srgbClr val="D9D9D9"/>
                    </a:solidFill>
                  </a:tcPr>
                </a:tc>
                <a:tc>
                  <a:txBody>
                    <a:bodyPr/>
                    <a:lstStyle/>
                    <a:p>
                      <a:pPr marL="146050">
                        <a:lnSpc>
                          <a:spcPct val="100000"/>
                        </a:lnSpc>
                      </a:pPr>
                      <a:r>
                        <a:rPr sz="2400" b="1" dirty="0">
                          <a:latin typeface="Consolas"/>
                          <a:cs typeface="Consolas"/>
                        </a:rPr>
                        <a:t>DMA_HandleTy</a:t>
                      </a:r>
                      <a:r>
                        <a:rPr sz="2400" b="1" spc="10" dirty="0">
                          <a:latin typeface="Consolas"/>
                          <a:cs typeface="Consolas"/>
                        </a:rPr>
                        <a:t>p</a:t>
                      </a:r>
                      <a:r>
                        <a:rPr sz="2400" b="1" dirty="0">
                          <a:latin typeface="Consolas"/>
                          <a:cs typeface="Consolas"/>
                        </a:rPr>
                        <a:t>e</a:t>
                      </a:r>
                      <a:r>
                        <a:rPr sz="2400" b="1" spc="10" dirty="0">
                          <a:latin typeface="Consolas"/>
                          <a:cs typeface="Consolas"/>
                        </a:rPr>
                        <a:t>D</a:t>
                      </a:r>
                      <a:r>
                        <a:rPr sz="2400" b="1" dirty="0">
                          <a:latin typeface="Consolas"/>
                          <a:cs typeface="Consolas"/>
                        </a:rPr>
                        <a:t>ef</a:t>
                      </a:r>
                      <a:endParaRPr sz="2400">
                        <a:latin typeface="Consolas"/>
                        <a:cs typeface="Consolas"/>
                      </a:endParaRPr>
                    </a:p>
                  </a:txBody>
                  <a:tcPr marL="0" marR="0" marT="0" marB="0">
                    <a:solidFill>
                      <a:srgbClr val="D9D9D9"/>
                    </a:solidFill>
                  </a:tcPr>
                </a:tc>
                <a:tc>
                  <a:txBody>
                    <a:bodyPr/>
                    <a:lstStyle/>
                    <a:p>
                      <a:pPr marL="88265">
                        <a:lnSpc>
                          <a:spcPct val="100000"/>
                        </a:lnSpc>
                      </a:pPr>
                      <a:r>
                        <a:rPr sz="2400" b="1" dirty="0">
                          <a:latin typeface="Consolas"/>
                          <a:cs typeface="Consolas"/>
                        </a:rPr>
                        <a:t>*hdma[7];</a:t>
                      </a:r>
                      <a:endParaRPr sz="2400">
                        <a:latin typeface="Consolas"/>
                        <a:cs typeface="Consolas"/>
                      </a:endParaRPr>
                    </a:p>
                  </a:txBody>
                  <a:tcPr marL="0" marR="0" marT="0" marB="0">
                    <a:solidFill>
                      <a:srgbClr val="D9D9D9"/>
                    </a:solidFill>
                  </a:tcPr>
                </a:tc>
                <a:tc>
                  <a:txBody>
                    <a:bodyPr/>
                    <a:lstStyle/>
                    <a:p>
                      <a:pPr marL="416559">
                        <a:lnSpc>
                          <a:spcPct val="100000"/>
                        </a:lnSpc>
                      </a:pPr>
                      <a:r>
                        <a:rPr sz="2400" b="1"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Consolas"/>
                          <a:cs typeface="Consolas"/>
                        </a:rPr>
                        <a:t>DM</a:t>
                      </a:r>
                      <a:r>
                        <a:rPr sz="2400" b="1" spc="5" dirty="0">
                          <a:solidFill>
                            <a:srgbClr val="008200"/>
                          </a:solidFill>
                          <a:latin typeface="Consolas"/>
                          <a:cs typeface="Consolas"/>
                        </a:rPr>
                        <a:t>A</a:t>
                      </a:r>
                      <a:r>
                        <a:rPr sz="2400" b="1" dirty="0">
                          <a:solidFill>
                            <a:srgbClr val="008200"/>
                          </a:solidFill>
                          <a:latin typeface="微软雅黑"/>
                          <a:cs typeface="微软雅黑"/>
                        </a:rPr>
                        <a:t>通道句柄定义</a:t>
                      </a:r>
                      <a:endParaRPr sz="2400">
                        <a:latin typeface="微软雅黑"/>
                        <a:cs typeface="微软雅黑"/>
                      </a:endParaRPr>
                    </a:p>
                  </a:txBody>
                  <a:tcPr marL="0" marR="0" marT="0" marB="0">
                    <a:solidFill>
                      <a:srgbClr val="D9D9D9"/>
                    </a:solidFill>
                  </a:tcPr>
                </a:tc>
                <a:extLst>
                  <a:ext uri="{0D108BD9-81ED-4DB2-BD59-A6C34878D82A}">
                    <a16:rowId xmlns:a16="http://schemas.microsoft.com/office/drawing/2014/main" val="10003"/>
                  </a:ext>
                </a:extLst>
              </a:tr>
              <a:tr h="499416">
                <a:tc>
                  <a:txBody>
                    <a:bodyPr/>
                    <a:lstStyle/>
                    <a:p>
                      <a:pPr marL="34925">
                        <a:lnSpc>
                          <a:spcPct val="100000"/>
                        </a:lnSpc>
                      </a:pPr>
                      <a:r>
                        <a:rPr sz="2400" b="1" spc="-5" dirty="0">
                          <a:solidFill>
                            <a:srgbClr val="008200"/>
                          </a:solidFill>
                          <a:latin typeface="Consolas"/>
                          <a:cs typeface="Consolas"/>
                        </a:rPr>
                        <a:t>7.</a:t>
                      </a:r>
                      <a:endParaRPr sz="2400">
                        <a:latin typeface="Consolas"/>
                        <a:cs typeface="Consolas"/>
                      </a:endParaRPr>
                    </a:p>
                  </a:txBody>
                  <a:tcPr marL="0" marR="0" marT="0" marB="0">
                    <a:solidFill>
                      <a:srgbClr val="D9D9D9"/>
                    </a:solidFill>
                  </a:tcPr>
                </a:tc>
                <a:tc>
                  <a:txBody>
                    <a:bodyPr/>
                    <a:lstStyle/>
                    <a:p>
                      <a:pPr marL="146050">
                        <a:lnSpc>
                          <a:spcPct val="100000"/>
                        </a:lnSpc>
                      </a:pPr>
                      <a:r>
                        <a:rPr sz="2400" b="1" spc="-5" dirty="0">
                          <a:latin typeface="Consolas"/>
                          <a:cs typeface="Consolas"/>
                        </a:rPr>
                        <a:t>HAL_LockType</a:t>
                      </a:r>
                      <a:r>
                        <a:rPr sz="2400" b="1" spc="5" dirty="0">
                          <a:latin typeface="Consolas"/>
                          <a:cs typeface="Consolas"/>
                        </a:rPr>
                        <a:t>D</a:t>
                      </a:r>
                      <a:r>
                        <a:rPr sz="2400" b="1" spc="-5" dirty="0">
                          <a:latin typeface="Consolas"/>
                          <a:cs typeface="Consolas"/>
                        </a:rPr>
                        <a:t>ef</a:t>
                      </a:r>
                      <a:endParaRPr sz="2400">
                        <a:latin typeface="Consolas"/>
                        <a:cs typeface="Consolas"/>
                      </a:endParaRPr>
                    </a:p>
                  </a:txBody>
                  <a:tcPr marL="0" marR="0" marT="0" marB="0">
                    <a:solidFill>
                      <a:srgbClr val="D9D9D9"/>
                    </a:solidFill>
                  </a:tcPr>
                </a:tc>
                <a:tc>
                  <a:txBody>
                    <a:bodyPr/>
                    <a:lstStyle/>
                    <a:p>
                      <a:pPr marL="88265">
                        <a:lnSpc>
                          <a:spcPct val="100000"/>
                        </a:lnSpc>
                      </a:pPr>
                      <a:r>
                        <a:rPr sz="2400" b="1" dirty="0">
                          <a:latin typeface="Consolas"/>
                          <a:cs typeface="Consolas"/>
                        </a:rPr>
                        <a:t>Lock;</a:t>
                      </a:r>
                      <a:endParaRPr sz="2400">
                        <a:latin typeface="Consolas"/>
                        <a:cs typeface="Consolas"/>
                      </a:endParaRPr>
                    </a:p>
                  </a:txBody>
                  <a:tcPr marL="0" marR="0" marT="0" marB="0">
                    <a:solidFill>
                      <a:srgbClr val="D9D9D9"/>
                    </a:solidFill>
                  </a:tcPr>
                </a:tc>
                <a:tc>
                  <a:txBody>
                    <a:bodyPr/>
                    <a:lstStyle/>
                    <a:p>
                      <a:pPr marL="416559">
                        <a:lnSpc>
                          <a:spcPct val="100000"/>
                        </a:lnSpc>
                      </a:pPr>
                      <a:r>
                        <a:rPr sz="2400" b="1" spc="-5" dirty="0">
                          <a:solidFill>
                            <a:srgbClr val="008200"/>
                          </a:solidFill>
                          <a:latin typeface="Consolas"/>
                          <a:cs typeface="Consolas"/>
                        </a:rPr>
                        <a:t>/</a:t>
                      </a:r>
                      <a:r>
                        <a:rPr sz="2400" b="1" dirty="0">
                          <a:solidFill>
                            <a:srgbClr val="008200"/>
                          </a:solidFill>
                          <a:latin typeface="Consolas"/>
                          <a:cs typeface="Consolas"/>
                        </a:rPr>
                        <a:t>/</a:t>
                      </a:r>
                      <a:r>
                        <a:rPr sz="2400" b="1" spc="20" dirty="0">
                          <a:solidFill>
                            <a:srgbClr val="008200"/>
                          </a:solidFill>
                          <a:latin typeface="Consolas"/>
                          <a:cs typeface="Consolas"/>
                        </a:rPr>
                        <a:t> </a:t>
                      </a:r>
                      <a:r>
                        <a:rPr sz="2400" b="1" spc="-5" dirty="0">
                          <a:solidFill>
                            <a:srgbClr val="008200"/>
                          </a:solidFill>
                          <a:latin typeface="微软雅黑"/>
                          <a:cs typeface="微软雅黑"/>
                        </a:rPr>
                        <a:t>保护锁类型定义</a:t>
                      </a:r>
                      <a:endParaRPr sz="2400">
                        <a:latin typeface="微软雅黑"/>
                        <a:cs typeface="微软雅黑"/>
                      </a:endParaRPr>
                    </a:p>
                  </a:txBody>
                  <a:tcPr marL="0" marR="0" marT="0" marB="0">
                    <a:solidFill>
                      <a:srgbClr val="D9D9D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519752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902" y="1759457"/>
            <a:ext cx="11677015" cy="5019040"/>
          </a:xfrm>
          <a:prstGeom prst="rect">
            <a:avLst/>
          </a:prstGeom>
        </p:spPr>
        <p:txBody>
          <a:bodyPr vert="horz" wrap="square" lIns="0" tIns="0" rIns="0" bIns="0" rtlCol="0">
            <a:spAutoFit/>
          </a:bodyPr>
          <a:lstStyle/>
          <a:p>
            <a:pPr marR="36195" algn="r">
              <a:lnSpc>
                <a:spcPts val="1385"/>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189992" y="1162674"/>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定时器句柄</a:t>
            </a:r>
            <a:endParaRPr sz="2400">
              <a:latin typeface="微软雅黑"/>
              <a:cs typeface="微软雅黑"/>
            </a:endParaRPr>
          </a:p>
        </p:txBody>
      </p:sp>
      <p:sp>
        <p:nvSpPr>
          <p:cNvPr id="10" name="object 10"/>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4236085">
              <a:lnSpc>
                <a:spcPct val="100000"/>
              </a:lnSpc>
            </a:pPr>
            <a:r>
              <a:rPr spc="-5" dirty="0">
                <a:solidFill>
                  <a:srgbClr val="252525"/>
                </a:solidFill>
              </a:rPr>
              <a:t>定时器句柄结构的组成</a:t>
            </a:r>
          </a:p>
        </p:txBody>
      </p:sp>
      <p:sp>
        <p:nvSpPr>
          <p:cNvPr id="12" name="object 12"/>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solidFill>
            <a:srgbClr val="D9D9D9"/>
          </a:solidFill>
        </p:spPr>
        <p:txBody>
          <a:bodyPr wrap="square" lIns="0" tIns="0" rIns="0" bIns="0" rtlCol="0"/>
          <a:lstStyle/>
          <a:p>
            <a:endParaRPr/>
          </a:p>
        </p:txBody>
      </p:sp>
      <p:sp>
        <p:nvSpPr>
          <p:cNvPr id="13" name="object 13"/>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ln w="28956">
            <a:solidFill>
              <a:srgbClr val="5B9BD4"/>
            </a:solidFill>
          </a:ln>
        </p:spPr>
        <p:txBody>
          <a:bodyPr wrap="square" lIns="0" tIns="0" rIns="0" bIns="0" rtlCol="0"/>
          <a:lstStyle/>
          <a:p>
            <a:endParaRPr/>
          </a:p>
        </p:txBody>
      </p:sp>
      <p:sp>
        <p:nvSpPr>
          <p:cNvPr id="14" name="object 14"/>
          <p:cNvSpPr txBox="1"/>
          <p:nvPr/>
        </p:nvSpPr>
        <p:spPr>
          <a:xfrm>
            <a:off x="436270" y="1977082"/>
            <a:ext cx="2837180" cy="87947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1.</a:t>
            </a:r>
            <a:r>
              <a:rPr sz="2400" b="1" spc="-360" dirty="0">
                <a:solidFill>
                  <a:srgbClr val="008200"/>
                </a:solidFill>
                <a:latin typeface="Consolas"/>
                <a:cs typeface="Consolas"/>
              </a:rPr>
              <a:t> </a:t>
            </a:r>
            <a:r>
              <a:rPr sz="2400" b="1" spc="-5" dirty="0">
                <a:latin typeface="Consolas"/>
                <a:cs typeface="Consolas"/>
              </a:rPr>
              <a:t>ty</a:t>
            </a:r>
            <a:r>
              <a:rPr sz="2400" b="1" spc="0" dirty="0">
                <a:latin typeface="Consolas"/>
                <a:cs typeface="Consolas"/>
              </a:rPr>
              <a:t>p</a:t>
            </a:r>
            <a:r>
              <a:rPr sz="2400" b="1" spc="-5" dirty="0">
                <a:latin typeface="Consolas"/>
                <a:cs typeface="Consolas"/>
              </a:rPr>
              <a:t>ed</a:t>
            </a:r>
            <a:r>
              <a:rPr sz="2400" b="1" spc="0" dirty="0">
                <a:latin typeface="Consolas"/>
                <a:cs typeface="Consolas"/>
              </a:rPr>
              <a:t>e</a:t>
            </a:r>
            <a:r>
              <a:rPr sz="2400" b="1" spc="-5" dirty="0">
                <a:latin typeface="Consolas"/>
                <a:cs typeface="Consolas"/>
              </a:rPr>
              <a:t>f</a:t>
            </a:r>
            <a:r>
              <a:rPr sz="2400" b="1" spc="20" dirty="0">
                <a:latin typeface="Consolas"/>
                <a:cs typeface="Consolas"/>
              </a:rPr>
              <a:t> </a:t>
            </a:r>
            <a:r>
              <a:rPr sz="2400" b="1" spc="0" dirty="0">
                <a:latin typeface="Consolas"/>
                <a:cs typeface="Consolas"/>
              </a:rPr>
              <a:t>s</a:t>
            </a:r>
            <a:r>
              <a:rPr sz="2400" b="1" spc="-5" dirty="0">
                <a:latin typeface="Consolas"/>
                <a:cs typeface="Consolas"/>
              </a:rPr>
              <a:t>tr</a:t>
            </a:r>
            <a:r>
              <a:rPr sz="2400" b="1" spc="0" dirty="0">
                <a:latin typeface="Consolas"/>
                <a:cs typeface="Consolas"/>
              </a:rPr>
              <a:t>u</a:t>
            </a:r>
            <a:r>
              <a:rPr sz="2400" b="1" spc="-5" dirty="0">
                <a:latin typeface="Consolas"/>
                <a:cs typeface="Consolas"/>
              </a:rPr>
              <a:t>ct</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2</a:t>
            </a:r>
            <a:r>
              <a:rPr sz="2400" b="1" dirty="0">
                <a:solidFill>
                  <a:srgbClr val="008200"/>
                </a:solidFill>
                <a:latin typeface="Consolas"/>
                <a:cs typeface="Consolas"/>
              </a:rPr>
              <a:t>.</a:t>
            </a:r>
            <a:r>
              <a:rPr sz="2400" b="1" spc="-365" dirty="0">
                <a:solidFill>
                  <a:srgbClr val="008200"/>
                </a:solidFill>
                <a:latin typeface="Consolas"/>
                <a:cs typeface="Consolas"/>
              </a:rPr>
              <a:t> </a:t>
            </a:r>
            <a:r>
              <a:rPr sz="2400" b="1" dirty="0">
                <a:latin typeface="Consolas"/>
                <a:cs typeface="Consolas"/>
              </a:rPr>
              <a:t>{</a:t>
            </a:r>
            <a:endParaRPr sz="2400">
              <a:latin typeface="Consolas"/>
              <a:cs typeface="Consolas"/>
            </a:endParaRPr>
          </a:p>
        </p:txBody>
      </p:sp>
      <p:sp>
        <p:nvSpPr>
          <p:cNvPr id="15" name="object 15"/>
          <p:cNvSpPr txBox="1"/>
          <p:nvPr/>
        </p:nvSpPr>
        <p:spPr>
          <a:xfrm>
            <a:off x="436270" y="3074743"/>
            <a:ext cx="5850890" cy="3074035"/>
          </a:xfrm>
          <a:prstGeom prst="rect">
            <a:avLst/>
          </a:prstGeom>
        </p:spPr>
        <p:txBody>
          <a:bodyPr vert="horz" wrap="square" lIns="0" tIns="0" rIns="0" bIns="0" rtlCol="0">
            <a:spAutoFit/>
          </a:bodyPr>
          <a:lstStyle/>
          <a:p>
            <a:pPr marL="12700">
              <a:lnSpc>
                <a:spcPct val="100000"/>
              </a:lnSpc>
              <a:buClr>
                <a:srgbClr val="008200"/>
              </a:buClr>
              <a:buAutoNum type="arabicPeriod" startAt="3"/>
              <a:tabLst>
                <a:tab pos="807085" algn="l"/>
              </a:tabLst>
            </a:pPr>
            <a:r>
              <a:rPr sz="2400" b="1" spc="-5" dirty="0">
                <a:latin typeface="Consolas"/>
                <a:cs typeface="Consolas"/>
              </a:rPr>
              <a:t>TIM_TypeDef</a:t>
            </a:r>
            <a:endParaRPr sz="2400">
              <a:latin typeface="Consolas"/>
              <a:cs typeface="Consolas"/>
            </a:endParaRPr>
          </a:p>
          <a:p>
            <a:pPr marL="806450" indent="-793750">
              <a:lnSpc>
                <a:spcPct val="100000"/>
              </a:lnSpc>
              <a:spcBef>
                <a:spcPts val="1440"/>
              </a:spcBef>
              <a:buClr>
                <a:srgbClr val="008200"/>
              </a:buClr>
              <a:buAutoNum type="arabicPeriod" startAt="3"/>
              <a:tabLst>
                <a:tab pos="807085" algn="l"/>
                <a:tab pos="4508500" algn="l"/>
              </a:tabLst>
            </a:pPr>
            <a:r>
              <a:rPr sz="2400" b="1" spc="-5" dirty="0">
                <a:latin typeface="Consolas"/>
                <a:cs typeface="Consolas"/>
              </a:rPr>
              <a:t>TIM_Base_Ini</a:t>
            </a:r>
            <a:r>
              <a:rPr sz="2400" b="1" spc="0" dirty="0">
                <a:latin typeface="Consolas"/>
                <a:cs typeface="Consolas"/>
              </a:rPr>
              <a:t>t</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a:t>
            </a:r>
            <a:r>
              <a:rPr sz="2400" b="1" dirty="0">
                <a:latin typeface="Consolas"/>
                <a:cs typeface="Consolas"/>
              </a:rPr>
              <a:t>	</a:t>
            </a:r>
            <a:r>
              <a:rPr sz="2400" b="1" spc="-5" dirty="0">
                <a:latin typeface="Consolas"/>
                <a:cs typeface="Consolas"/>
              </a:rPr>
              <a:t>Init;</a:t>
            </a:r>
            <a:endParaRPr sz="2400">
              <a:latin typeface="Consolas"/>
              <a:cs typeface="Consolas"/>
            </a:endParaRPr>
          </a:p>
          <a:p>
            <a:pPr marL="12700">
              <a:lnSpc>
                <a:spcPct val="150000"/>
              </a:lnSpc>
              <a:buClr>
                <a:srgbClr val="008200"/>
              </a:buClr>
              <a:buAutoNum type="arabicPeriod" startAt="3"/>
              <a:tabLst>
                <a:tab pos="807085" algn="l"/>
              </a:tabLst>
            </a:pPr>
            <a:r>
              <a:rPr sz="2400" b="1" spc="-5" dirty="0">
                <a:latin typeface="Consolas"/>
                <a:cs typeface="Consolas"/>
              </a:rPr>
              <a:t>HAL_TIM_Acti</a:t>
            </a:r>
            <a:r>
              <a:rPr sz="2400" b="1" spc="0" dirty="0">
                <a:latin typeface="Consolas"/>
                <a:cs typeface="Consolas"/>
              </a:rPr>
              <a:t>v</a:t>
            </a:r>
            <a:r>
              <a:rPr sz="2400" b="1" spc="-5" dirty="0">
                <a:latin typeface="Consolas"/>
                <a:cs typeface="Consolas"/>
              </a:rPr>
              <a:t>e</a:t>
            </a:r>
            <a:r>
              <a:rPr sz="2400" b="1" spc="0" dirty="0">
                <a:latin typeface="Consolas"/>
                <a:cs typeface="Consolas"/>
              </a:rPr>
              <a:t>C</a:t>
            </a:r>
            <a:r>
              <a:rPr sz="2400" b="1" spc="-5" dirty="0">
                <a:latin typeface="Consolas"/>
                <a:cs typeface="Consolas"/>
              </a:rPr>
              <a:t>ha</a:t>
            </a:r>
            <a:r>
              <a:rPr sz="2400" b="1" spc="0" dirty="0">
                <a:latin typeface="Consolas"/>
                <a:cs typeface="Consolas"/>
              </a:rPr>
              <a:t>n</a:t>
            </a:r>
            <a:r>
              <a:rPr sz="2400" b="1" spc="-5" dirty="0">
                <a:latin typeface="Consolas"/>
                <a:cs typeface="Consolas"/>
              </a:rPr>
              <a:t>n</a:t>
            </a:r>
            <a:r>
              <a:rPr sz="2400" b="1" spc="0" dirty="0">
                <a:latin typeface="Consolas"/>
                <a:cs typeface="Consolas"/>
              </a:rPr>
              <a:t>e</a:t>
            </a:r>
            <a:r>
              <a:rPr sz="2400" b="1" spc="-5" dirty="0">
                <a:latin typeface="Consolas"/>
                <a:cs typeface="Consolas"/>
              </a:rPr>
              <a:t>l</a:t>
            </a:r>
            <a:r>
              <a:rPr sz="2400" b="1" spc="70" dirty="0">
                <a:latin typeface="Consolas"/>
                <a:cs typeface="Consolas"/>
              </a:rPr>
              <a:t> </a:t>
            </a:r>
            <a:r>
              <a:rPr sz="2400" b="1" spc="-5" dirty="0">
                <a:latin typeface="Consolas"/>
                <a:cs typeface="Consolas"/>
              </a:rPr>
              <a:t>Channel; </a:t>
            </a:r>
            <a:r>
              <a:rPr sz="2400" b="1" spc="-5" dirty="0">
                <a:solidFill>
                  <a:srgbClr val="008200"/>
                </a:solidFill>
                <a:latin typeface="Consolas"/>
                <a:cs typeface="Consolas"/>
              </a:rPr>
              <a:t>6.</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7.</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8.</a:t>
            </a:r>
            <a:endParaRPr sz="2400">
              <a:latin typeface="Consolas"/>
              <a:cs typeface="Consolas"/>
            </a:endParaRPr>
          </a:p>
        </p:txBody>
      </p:sp>
      <p:sp>
        <p:nvSpPr>
          <p:cNvPr id="16" name="object 16"/>
          <p:cNvSpPr txBox="1"/>
          <p:nvPr/>
        </p:nvSpPr>
        <p:spPr>
          <a:xfrm>
            <a:off x="4932679" y="3074743"/>
            <a:ext cx="1702435"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*Instance;</a:t>
            </a:r>
            <a:endParaRPr sz="2400">
              <a:latin typeface="Consolas"/>
              <a:cs typeface="Consolas"/>
            </a:endParaRPr>
          </a:p>
        </p:txBody>
      </p:sp>
      <p:sp>
        <p:nvSpPr>
          <p:cNvPr id="17" name="object 17"/>
          <p:cNvSpPr txBox="1"/>
          <p:nvPr/>
        </p:nvSpPr>
        <p:spPr>
          <a:xfrm>
            <a:off x="7119873" y="3056752"/>
            <a:ext cx="4189095" cy="309245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定时器寄存器的基地址定义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时基功能的配置参数定义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捕获</a:t>
            </a:r>
            <a:r>
              <a:rPr sz="2400" b="1" spc="-5" dirty="0">
                <a:solidFill>
                  <a:srgbClr val="008200"/>
                </a:solidFill>
                <a:latin typeface="Consolas"/>
                <a:cs typeface="Consolas"/>
              </a:rPr>
              <a:t>/</a:t>
            </a:r>
            <a:r>
              <a:rPr sz="2400" b="1" dirty="0">
                <a:solidFill>
                  <a:srgbClr val="008200"/>
                </a:solidFill>
                <a:latin typeface="微软雅黑"/>
                <a:cs typeface="微软雅黑"/>
              </a:rPr>
              <a:t>比较通道的定义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spc="-5" dirty="0">
                <a:solidFill>
                  <a:srgbClr val="008200"/>
                </a:solidFill>
                <a:latin typeface="Consolas"/>
                <a:cs typeface="Consolas"/>
              </a:rPr>
              <a:t>DM</a:t>
            </a:r>
            <a:r>
              <a:rPr sz="2400" b="1" dirty="0">
                <a:solidFill>
                  <a:srgbClr val="008200"/>
                </a:solidFill>
                <a:latin typeface="Consolas"/>
                <a:cs typeface="Consolas"/>
              </a:rPr>
              <a:t>A</a:t>
            </a:r>
            <a:r>
              <a:rPr sz="2400" b="1" dirty="0">
                <a:solidFill>
                  <a:srgbClr val="008200"/>
                </a:solidFill>
                <a:latin typeface="微软雅黑"/>
                <a:cs typeface="微软雅黑"/>
              </a:rPr>
              <a:t>通道句柄定义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dirty="0">
                <a:solidFill>
                  <a:srgbClr val="008200"/>
                </a:solidFill>
                <a:latin typeface="Consolas"/>
                <a:cs typeface="Consolas"/>
              </a:rPr>
              <a:t>/</a:t>
            </a:r>
            <a:r>
              <a:rPr sz="2400" b="1" spc="20" dirty="0">
                <a:solidFill>
                  <a:srgbClr val="008200"/>
                </a:solidFill>
                <a:latin typeface="Consolas"/>
                <a:cs typeface="Consolas"/>
              </a:rPr>
              <a:t> </a:t>
            </a:r>
            <a:r>
              <a:rPr sz="2400" b="1" spc="-5" dirty="0">
                <a:solidFill>
                  <a:srgbClr val="008200"/>
                </a:solidFill>
                <a:latin typeface="微软雅黑"/>
                <a:cs typeface="微软雅黑"/>
              </a:rPr>
              <a:t>保护锁类型定义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定时器运行状态定义</a:t>
            </a:r>
            <a:endParaRPr sz="2400">
              <a:latin typeface="微软雅黑"/>
              <a:cs typeface="微软雅黑"/>
            </a:endParaRPr>
          </a:p>
        </p:txBody>
      </p:sp>
      <p:sp>
        <p:nvSpPr>
          <p:cNvPr id="18" name="object 18"/>
          <p:cNvSpPr txBox="1"/>
          <p:nvPr/>
        </p:nvSpPr>
        <p:spPr>
          <a:xfrm>
            <a:off x="1230274" y="4720917"/>
            <a:ext cx="2877820" cy="879475"/>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DMA_HandleTy</a:t>
            </a:r>
            <a:r>
              <a:rPr sz="2400" b="1" spc="0" dirty="0">
                <a:latin typeface="Consolas"/>
                <a:cs typeface="Consolas"/>
              </a:rPr>
              <a:t>p</a:t>
            </a:r>
            <a:r>
              <a:rPr sz="2400" b="1" spc="-5" dirty="0">
                <a:latin typeface="Consolas"/>
                <a:cs typeface="Consolas"/>
              </a:rPr>
              <a:t>e</a:t>
            </a:r>
            <a:r>
              <a:rPr sz="2400" b="1" spc="0" dirty="0">
                <a:latin typeface="Consolas"/>
                <a:cs typeface="Consolas"/>
              </a:rPr>
              <a:t>D</a:t>
            </a:r>
            <a:r>
              <a:rPr sz="2400" b="1" spc="-5" dirty="0">
                <a:latin typeface="Consolas"/>
                <a:cs typeface="Consolas"/>
              </a:rPr>
              <a:t>ef</a:t>
            </a:r>
            <a:endParaRPr sz="2400">
              <a:latin typeface="Consolas"/>
              <a:cs typeface="Consolas"/>
            </a:endParaRPr>
          </a:p>
          <a:p>
            <a:pPr marL="12700">
              <a:lnSpc>
                <a:spcPct val="100000"/>
              </a:lnSpc>
              <a:spcBef>
                <a:spcPts val="1440"/>
              </a:spcBef>
            </a:pPr>
            <a:r>
              <a:rPr sz="2400" b="1" spc="-5" dirty="0">
                <a:latin typeface="Consolas"/>
                <a:cs typeface="Consolas"/>
              </a:rPr>
              <a:t>HAL_LockType</a:t>
            </a:r>
            <a:r>
              <a:rPr sz="2400" b="1" spc="5" dirty="0">
                <a:latin typeface="Consolas"/>
                <a:cs typeface="Consolas"/>
              </a:rPr>
              <a:t>D</a:t>
            </a:r>
            <a:r>
              <a:rPr sz="2400" b="1" spc="-5" dirty="0">
                <a:latin typeface="Consolas"/>
                <a:cs typeface="Consolas"/>
              </a:rPr>
              <a:t>ef</a:t>
            </a:r>
            <a:endParaRPr sz="2400">
              <a:latin typeface="Consolas"/>
              <a:cs typeface="Consolas"/>
            </a:endParaRPr>
          </a:p>
        </p:txBody>
      </p:sp>
      <p:sp>
        <p:nvSpPr>
          <p:cNvPr id="19" name="object 19"/>
          <p:cNvSpPr txBox="1"/>
          <p:nvPr/>
        </p:nvSpPr>
        <p:spPr>
          <a:xfrm>
            <a:off x="4932679" y="4720917"/>
            <a:ext cx="1534160" cy="879475"/>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*hdma[7];</a:t>
            </a:r>
            <a:endParaRPr sz="2400">
              <a:latin typeface="Consolas"/>
              <a:cs typeface="Consolas"/>
            </a:endParaRPr>
          </a:p>
          <a:p>
            <a:pPr marL="12700">
              <a:lnSpc>
                <a:spcPct val="100000"/>
              </a:lnSpc>
              <a:spcBef>
                <a:spcPts val="1440"/>
              </a:spcBef>
            </a:pPr>
            <a:r>
              <a:rPr sz="2400" b="1" dirty="0">
                <a:latin typeface="Consolas"/>
                <a:cs typeface="Consolas"/>
              </a:rPr>
              <a:t>Lock;</a:t>
            </a:r>
            <a:endParaRPr sz="2400">
              <a:latin typeface="Consolas"/>
              <a:cs typeface="Consolas"/>
            </a:endParaRPr>
          </a:p>
        </p:txBody>
      </p:sp>
      <p:sp>
        <p:nvSpPr>
          <p:cNvPr id="20" name="object 20"/>
          <p:cNvSpPr txBox="1"/>
          <p:nvPr/>
        </p:nvSpPr>
        <p:spPr>
          <a:xfrm>
            <a:off x="1565792" y="5818527"/>
            <a:ext cx="3888104"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IO</a:t>
            </a:r>
            <a:r>
              <a:rPr sz="2400" b="1" spc="25" dirty="0">
                <a:latin typeface="Consolas"/>
                <a:cs typeface="Consolas"/>
              </a:rPr>
              <a:t> </a:t>
            </a:r>
            <a:r>
              <a:rPr sz="2400" b="1" spc="-5" dirty="0">
                <a:latin typeface="Consolas"/>
                <a:cs typeface="Consolas"/>
              </a:rPr>
              <a:t>HAL_TIM_Stat</a:t>
            </a:r>
            <a:r>
              <a:rPr sz="2400" b="1" spc="0" dirty="0">
                <a:latin typeface="Consolas"/>
                <a:cs typeface="Consolas"/>
              </a:rPr>
              <a:t>e</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a:t>
            </a:r>
            <a:endParaRPr sz="2400">
              <a:latin typeface="Consolas"/>
              <a:cs typeface="Consolas"/>
            </a:endParaRPr>
          </a:p>
        </p:txBody>
      </p:sp>
      <p:sp>
        <p:nvSpPr>
          <p:cNvPr id="21" name="object 21"/>
          <p:cNvSpPr txBox="1"/>
          <p:nvPr/>
        </p:nvSpPr>
        <p:spPr>
          <a:xfrm>
            <a:off x="5773928" y="5818527"/>
            <a:ext cx="1032510"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Sta</a:t>
            </a:r>
            <a:r>
              <a:rPr sz="2400" b="1" dirty="0">
                <a:latin typeface="Consolas"/>
                <a:cs typeface="Consolas"/>
              </a:rPr>
              <a:t>t</a:t>
            </a:r>
            <a:r>
              <a:rPr sz="2400" b="1" spc="-5" dirty="0">
                <a:latin typeface="Consolas"/>
                <a:cs typeface="Consolas"/>
              </a:rPr>
              <a:t>e;</a:t>
            </a:r>
            <a:endParaRPr sz="2400">
              <a:latin typeface="Consolas"/>
              <a:cs typeface="Consolas"/>
            </a:endParaRPr>
          </a:p>
        </p:txBody>
      </p:sp>
      <p:sp>
        <p:nvSpPr>
          <p:cNvPr id="22" name="object 22"/>
          <p:cNvSpPr txBox="1"/>
          <p:nvPr/>
        </p:nvSpPr>
        <p:spPr>
          <a:xfrm>
            <a:off x="436270" y="6367167"/>
            <a:ext cx="3848735" cy="33020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9.</a:t>
            </a:r>
            <a:r>
              <a:rPr sz="2400" b="1" spc="-360" dirty="0">
                <a:solidFill>
                  <a:srgbClr val="008200"/>
                </a:solidFill>
                <a:latin typeface="Consolas"/>
                <a:cs typeface="Consolas"/>
              </a:rPr>
              <a:t> </a:t>
            </a:r>
            <a:r>
              <a:rPr sz="2400" b="1" spc="-5" dirty="0">
                <a:latin typeface="Consolas"/>
                <a:cs typeface="Consolas"/>
              </a:rPr>
              <a:t>}</a:t>
            </a:r>
            <a:r>
              <a:rPr sz="2400" b="1" dirty="0">
                <a:latin typeface="Consolas"/>
                <a:cs typeface="Consolas"/>
              </a:rPr>
              <a:t> </a:t>
            </a:r>
            <a:r>
              <a:rPr sz="2400" b="1" spc="0" dirty="0">
                <a:latin typeface="Consolas"/>
                <a:cs typeface="Consolas"/>
              </a:rPr>
              <a:t>T</a:t>
            </a:r>
            <a:r>
              <a:rPr sz="2400" b="1" spc="-5" dirty="0">
                <a:latin typeface="Consolas"/>
                <a:cs typeface="Consolas"/>
              </a:rPr>
              <a:t>IM</a:t>
            </a:r>
            <a:r>
              <a:rPr sz="2400" b="1" spc="0" dirty="0">
                <a:latin typeface="Consolas"/>
                <a:cs typeface="Consolas"/>
              </a:rPr>
              <a:t>_</a:t>
            </a:r>
            <a:r>
              <a:rPr sz="2400" b="1" spc="-5" dirty="0">
                <a:latin typeface="Consolas"/>
                <a:cs typeface="Consolas"/>
              </a:rPr>
              <a:t>H</a:t>
            </a:r>
            <a:r>
              <a:rPr sz="2400" b="1" spc="0" dirty="0">
                <a:latin typeface="Consolas"/>
                <a:cs typeface="Consolas"/>
              </a:rPr>
              <a:t>an</a:t>
            </a:r>
            <a:r>
              <a:rPr sz="2400" b="1" spc="-5" dirty="0">
                <a:latin typeface="Consolas"/>
                <a:cs typeface="Consolas"/>
              </a:rPr>
              <a:t>dl</a:t>
            </a:r>
            <a:r>
              <a:rPr sz="2400" b="1" spc="0" dirty="0">
                <a:latin typeface="Consolas"/>
                <a:cs typeface="Consolas"/>
              </a:rPr>
              <a:t>e</a:t>
            </a:r>
            <a:r>
              <a:rPr sz="2400" b="1" spc="-5" dirty="0">
                <a:latin typeface="Consolas"/>
                <a:cs typeface="Consolas"/>
              </a:rPr>
              <a:t>Ty</a:t>
            </a:r>
            <a:r>
              <a:rPr sz="2400" b="1" spc="0" dirty="0">
                <a:latin typeface="Consolas"/>
                <a:cs typeface="Consolas"/>
              </a:rPr>
              <a:t>p</a:t>
            </a:r>
            <a:r>
              <a:rPr sz="2400" b="1" spc="-5" dirty="0">
                <a:latin typeface="Consolas"/>
                <a:cs typeface="Consolas"/>
              </a:rPr>
              <a:t>e</a:t>
            </a:r>
            <a:r>
              <a:rPr sz="2400" b="1" spc="0" dirty="0">
                <a:latin typeface="Consolas"/>
                <a:cs typeface="Consolas"/>
              </a:rPr>
              <a:t>De</a:t>
            </a:r>
            <a:r>
              <a:rPr sz="2400" b="1" spc="10" dirty="0">
                <a:latin typeface="Consolas"/>
                <a:cs typeface="Consolas"/>
              </a:rPr>
              <a:t>f</a:t>
            </a:r>
            <a:r>
              <a:rPr sz="2400" b="1" spc="-5" dirty="0">
                <a:latin typeface="Consolas"/>
                <a:cs typeface="Consolas"/>
              </a:rPr>
              <a:t>;</a:t>
            </a:r>
            <a:endParaRPr sz="2400">
              <a:latin typeface="Consolas"/>
              <a:cs typeface="Consolas"/>
            </a:endParaRPr>
          </a:p>
        </p:txBody>
      </p:sp>
      <p:sp>
        <p:nvSpPr>
          <p:cNvPr id="23" name="object 23"/>
          <p:cNvSpPr/>
          <p:nvPr/>
        </p:nvSpPr>
        <p:spPr>
          <a:xfrm>
            <a:off x="1056894" y="3515105"/>
            <a:ext cx="5619115" cy="1039494"/>
          </a:xfrm>
          <a:custGeom>
            <a:avLst/>
            <a:gdLst/>
            <a:ahLst/>
            <a:cxnLst/>
            <a:rect l="l" t="t" r="r" b="b"/>
            <a:pathLst>
              <a:path w="5619115" h="1039495">
                <a:moveTo>
                  <a:pt x="0" y="1039368"/>
                </a:moveTo>
                <a:lnTo>
                  <a:pt x="5618987" y="1039368"/>
                </a:lnTo>
                <a:lnTo>
                  <a:pt x="5618987" y="0"/>
                </a:lnTo>
                <a:lnTo>
                  <a:pt x="0" y="0"/>
                </a:lnTo>
                <a:lnTo>
                  <a:pt x="0" y="1039368"/>
                </a:lnTo>
                <a:close/>
              </a:path>
            </a:pathLst>
          </a:custGeom>
          <a:ln w="38100">
            <a:solidFill>
              <a:srgbClr val="FF0000"/>
            </a:solidFill>
          </a:ln>
        </p:spPr>
        <p:txBody>
          <a:bodyPr wrap="square" lIns="0" tIns="0" rIns="0" bIns="0" rtlCol="0"/>
          <a:lstStyle/>
          <a:p>
            <a:endParaRPr/>
          </a:p>
        </p:txBody>
      </p:sp>
      <p:sp>
        <p:nvSpPr>
          <p:cNvPr id="24" name="object 24"/>
          <p:cNvSpPr/>
          <p:nvPr/>
        </p:nvSpPr>
        <p:spPr>
          <a:xfrm>
            <a:off x="6096761" y="2044445"/>
            <a:ext cx="4445635" cy="1402080"/>
          </a:xfrm>
          <a:custGeom>
            <a:avLst/>
            <a:gdLst/>
            <a:ahLst/>
            <a:cxnLst/>
            <a:rect l="l" t="t" r="r" b="b"/>
            <a:pathLst>
              <a:path w="4445634" h="1402079">
                <a:moveTo>
                  <a:pt x="4334256" y="0"/>
                </a:moveTo>
                <a:lnTo>
                  <a:pt x="740917" y="0"/>
                </a:lnTo>
                <a:lnTo>
                  <a:pt x="105504" y="145"/>
                </a:lnTo>
                <a:lnTo>
                  <a:pt x="64215" y="10393"/>
                </a:lnTo>
                <a:lnTo>
                  <a:pt x="30704" y="34491"/>
                </a:lnTo>
                <a:lnTo>
                  <a:pt x="8217" y="69193"/>
                </a:lnTo>
                <a:lnTo>
                  <a:pt x="0" y="111251"/>
                </a:lnTo>
                <a:lnTo>
                  <a:pt x="0" y="556259"/>
                </a:lnTo>
                <a:lnTo>
                  <a:pt x="10393" y="603296"/>
                </a:lnTo>
                <a:lnTo>
                  <a:pt x="34491" y="636807"/>
                </a:lnTo>
                <a:lnTo>
                  <a:pt x="69193" y="659294"/>
                </a:lnTo>
                <a:lnTo>
                  <a:pt x="111251" y="667512"/>
                </a:lnTo>
                <a:lnTo>
                  <a:pt x="740917" y="667512"/>
                </a:lnTo>
                <a:lnTo>
                  <a:pt x="488314" y="1401952"/>
                </a:lnTo>
                <a:lnTo>
                  <a:pt x="1852294" y="667512"/>
                </a:lnTo>
                <a:lnTo>
                  <a:pt x="4340003" y="667366"/>
                </a:lnTo>
                <a:lnTo>
                  <a:pt x="4354430" y="665689"/>
                </a:lnTo>
                <a:lnTo>
                  <a:pt x="4393487" y="650464"/>
                </a:lnTo>
                <a:lnTo>
                  <a:pt x="4423684" y="622470"/>
                </a:lnTo>
                <a:lnTo>
                  <a:pt x="4441775" y="584956"/>
                </a:lnTo>
                <a:lnTo>
                  <a:pt x="4445508" y="556259"/>
                </a:lnTo>
                <a:lnTo>
                  <a:pt x="4445508" y="389381"/>
                </a:lnTo>
                <a:lnTo>
                  <a:pt x="4445362" y="105504"/>
                </a:lnTo>
                <a:lnTo>
                  <a:pt x="4435114" y="64215"/>
                </a:lnTo>
                <a:lnTo>
                  <a:pt x="4411016" y="30704"/>
                </a:lnTo>
                <a:lnTo>
                  <a:pt x="4376314" y="8217"/>
                </a:lnTo>
                <a:lnTo>
                  <a:pt x="4348892" y="953"/>
                </a:lnTo>
                <a:lnTo>
                  <a:pt x="4334256" y="0"/>
                </a:lnTo>
                <a:close/>
              </a:path>
            </a:pathLst>
          </a:custGeom>
          <a:solidFill>
            <a:srgbClr val="FFFFC7"/>
          </a:solidFill>
        </p:spPr>
        <p:txBody>
          <a:bodyPr wrap="square" lIns="0" tIns="0" rIns="0" bIns="0" rtlCol="0"/>
          <a:lstStyle/>
          <a:p>
            <a:endParaRPr/>
          </a:p>
        </p:txBody>
      </p:sp>
      <p:sp>
        <p:nvSpPr>
          <p:cNvPr id="25" name="object 25"/>
          <p:cNvSpPr/>
          <p:nvPr/>
        </p:nvSpPr>
        <p:spPr>
          <a:xfrm>
            <a:off x="6096761" y="2044445"/>
            <a:ext cx="4445635" cy="1402080"/>
          </a:xfrm>
          <a:custGeom>
            <a:avLst/>
            <a:gdLst/>
            <a:ahLst/>
            <a:cxnLst/>
            <a:rect l="l" t="t" r="r" b="b"/>
            <a:pathLst>
              <a:path w="4445634" h="1402079">
                <a:moveTo>
                  <a:pt x="0" y="111251"/>
                </a:moveTo>
                <a:lnTo>
                  <a:pt x="8217" y="69193"/>
                </a:lnTo>
                <a:lnTo>
                  <a:pt x="30704" y="34491"/>
                </a:lnTo>
                <a:lnTo>
                  <a:pt x="64215" y="10393"/>
                </a:lnTo>
                <a:lnTo>
                  <a:pt x="105504" y="145"/>
                </a:lnTo>
                <a:lnTo>
                  <a:pt x="740917" y="0"/>
                </a:lnTo>
                <a:lnTo>
                  <a:pt x="1852294" y="0"/>
                </a:lnTo>
                <a:lnTo>
                  <a:pt x="4334256" y="0"/>
                </a:lnTo>
                <a:lnTo>
                  <a:pt x="4348892" y="953"/>
                </a:lnTo>
                <a:lnTo>
                  <a:pt x="4388859" y="14287"/>
                </a:lnTo>
                <a:lnTo>
                  <a:pt x="4420387" y="40810"/>
                </a:lnTo>
                <a:lnTo>
                  <a:pt x="4440229" y="77274"/>
                </a:lnTo>
                <a:lnTo>
                  <a:pt x="4445508" y="389381"/>
                </a:lnTo>
                <a:lnTo>
                  <a:pt x="4445508" y="556259"/>
                </a:lnTo>
                <a:lnTo>
                  <a:pt x="4444554" y="570896"/>
                </a:lnTo>
                <a:lnTo>
                  <a:pt x="4441775" y="584956"/>
                </a:lnTo>
                <a:lnTo>
                  <a:pt x="4423684" y="622470"/>
                </a:lnTo>
                <a:lnTo>
                  <a:pt x="4393487" y="650464"/>
                </a:lnTo>
                <a:lnTo>
                  <a:pt x="4354430" y="665689"/>
                </a:lnTo>
                <a:lnTo>
                  <a:pt x="1852294" y="667512"/>
                </a:lnTo>
                <a:lnTo>
                  <a:pt x="488314" y="1401952"/>
                </a:lnTo>
                <a:lnTo>
                  <a:pt x="740917" y="667512"/>
                </a:lnTo>
                <a:lnTo>
                  <a:pt x="111251" y="667512"/>
                </a:lnTo>
                <a:lnTo>
                  <a:pt x="96615" y="666558"/>
                </a:lnTo>
                <a:lnTo>
                  <a:pt x="56648" y="653224"/>
                </a:lnTo>
                <a:lnTo>
                  <a:pt x="25120" y="626701"/>
                </a:lnTo>
                <a:lnTo>
                  <a:pt x="5278" y="590237"/>
                </a:lnTo>
                <a:lnTo>
                  <a:pt x="0" y="556259"/>
                </a:lnTo>
                <a:lnTo>
                  <a:pt x="0" y="389381"/>
                </a:lnTo>
                <a:lnTo>
                  <a:pt x="0" y="111251"/>
                </a:lnTo>
                <a:close/>
              </a:path>
            </a:pathLst>
          </a:custGeom>
          <a:ln w="28956">
            <a:solidFill>
              <a:srgbClr val="000000"/>
            </a:solidFill>
          </a:ln>
        </p:spPr>
        <p:txBody>
          <a:bodyPr wrap="square" lIns="0" tIns="0" rIns="0" bIns="0" rtlCol="0"/>
          <a:lstStyle/>
          <a:p>
            <a:endParaRPr/>
          </a:p>
        </p:txBody>
      </p:sp>
      <p:sp>
        <p:nvSpPr>
          <p:cNvPr id="26" name="object 26"/>
          <p:cNvSpPr txBox="1"/>
          <p:nvPr/>
        </p:nvSpPr>
        <p:spPr>
          <a:xfrm>
            <a:off x="6621271" y="2213419"/>
            <a:ext cx="3395345"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定时器的初始化配置参数</a:t>
            </a:r>
            <a:endParaRPr sz="2400">
              <a:latin typeface="宋体"/>
              <a:cs typeface="宋体"/>
            </a:endParaRPr>
          </a:p>
        </p:txBody>
      </p:sp>
      <p:sp>
        <p:nvSpPr>
          <p:cNvPr id="27" name="object 27"/>
          <p:cNvSpPr/>
          <p:nvPr/>
        </p:nvSpPr>
        <p:spPr>
          <a:xfrm>
            <a:off x="1242974" y="6104253"/>
            <a:ext cx="335915" cy="0"/>
          </a:xfrm>
          <a:custGeom>
            <a:avLst/>
            <a:gdLst/>
            <a:ahLst/>
            <a:cxnLst/>
            <a:rect l="l" t="t" r="r" b="b"/>
            <a:pathLst>
              <a:path w="335915">
                <a:moveTo>
                  <a:pt x="0" y="0"/>
                </a:moveTo>
                <a:lnTo>
                  <a:pt x="335399" y="0"/>
                </a:lnTo>
              </a:path>
            </a:pathLst>
          </a:custGeom>
          <a:ln w="28727">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731611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solidFill>
            <a:srgbClr val="D9D9D9"/>
          </a:solidFill>
        </p:spPr>
        <p:txBody>
          <a:bodyPr wrap="square" lIns="0" tIns="0" rIns="0" bIns="0" rtlCol="0"/>
          <a:lstStyle/>
          <a:p>
            <a:endParaRPr/>
          </a:p>
        </p:txBody>
      </p:sp>
      <p:sp>
        <p:nvSpPr>
          <p:cNvPr id="3" name="object 3"/>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ln w="28956">
            <a:solidFill>
              <a:srgbClr val="5B9BD4"/>
            </a:solidFill>
          </a:ln>
        </p:spPr>
        <p:txBody>
          <a:bodyPr wrap="square" lIns="0" tIns="0" rIns="0" bIns="0" rtlCol="0"/>
          <a:lstStyle/>
          <a:p>
            <a:endParaRPr/>
          </a:p>
        </p:txBody>
      </p:sp>
      <p:sp>
        <p:nvSpPr>
          <p:cNvPr id="4" name="object 4"/>
          <p:cNvSpPr txBox="1"/>
          <p:nvPr/>
        </p:nvSpPr>
        <p:spPr>
          <a:xfrm>
            <a:off x="436270" y="1977082"/>
            <a:ext cx="2837180" cy="87947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1.</a:t>
            </a:r>
            <a:r>
              <a:rPr sz="2400" b="1" spc="-360" dirty="0">
                <a:solidFill>
                  <a:srgbClr val="008200"/>
                </a:solidFill>
                <a:latin typeface="Consolas"/>
                <a:cs typeface="Consolas"/>
              </a:rPr>
              <a:t> </a:t>
            </a:r>
            <a:r>
              <a:rPr sz="2400" b="1" spc="-5" dirty="0">
                <a:latin typeface="Consolas"/>
                <a:cs typeface="Consolas"/>
              </a:rPr>
              <a:t>ty</a:t>
            </a:r>
            <a:r>
              <a:rPr sz="2400" b="1" spc="0" dirty="0">
                <a:latin typeface="Consolas"/>
                <a:cs typeface="Consolas"/>
              </a:rPr>
              <a:t>p</a:t>
            </a:r>
            <a:r>
              <a:rPr sz="2400" b="1" spc="-5" dirty="0">
                <a:latin typeface="Consolas"/>
                <a:cs typeface="Consolas"/>
              </a:rPr>
              <a:t>ed</a:t>
            </a:r>
            <a:r>
              <a:rPr sz="2400" b="1" spc="0" dirty="0">
                <a:latin typeface="Consolas"/>
                <a:cs typeface="Consolas"/>
              </a:rPr>
              <a:t>e</a:t>
            </a:r>
            <a:r>
              <a:rPr sz="2400" b="1" spc="-5" dirty="0">
                <a:latin typeface="Consolas"/>
                <a:cs typeface="Consolas"/>
              </a:rPr>
              <a:t>f</a:t>
            </a:r>
            <a:r>
              <a:rPr sz="2400" b="1" spc="20" dirty="0">
                <a:latin typeface="Consolas"/>
                <a:cs typeface="Consolas"/>
              </a:rPr>
              <a:t> </a:t>
            </a:r>
            <a:r>
              <a:rPr sz="2400" b="1" spc="0" dirty="0">
                <a:latin typeface="Consolas"/>
                <a:cs typeface="Consolas"/>
              </a:rPr>
              <a:t>s</a:t>
            </a:r>
            <a:r>
              <a:rPr sz="2400" b="1" spc="-5" dirty="0">
                <a:latin typeface="Consolas"/>
                <a:cs typeface="Consolas"/>
              </a:rPr>
              <a:t>tr</a:t>
            </a:r>
            <a:r>
              <a:rPr sz="2400" b="1" spc="0" dirty="0">
                <a:latin typeface="Consolas"/>
                <a:cs typeface="Consolas"/>
              </a:rPr>
              <a:t>u</a:t>
            </a:r>
            <a:r>
              <a:rPr sz="2400" b="1" spc="-5" dirty="0">
                <a:latin typeface="Consolas"/>
                <a:cs typeface="Consolas"/>
              </a:rPr>
              <a:t>ct</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2</a:t>
            </a:r>
            <a:r>
              <a:rPr sz="2400" b="1" dirty="0">
                <a:solidFill>
                  <a:srgbClr val="008200"/>
                </a:solidFill>
                <a:latin typeface="Consolas"/>
                <a:cs typeface="Consolas"/>
              </a:rPr>
              <a:t>.</a:t>
            </a:r>
            <a:r>
              <a:rPr sz="2400" b="1" spc="-365" dirty="0">
                <a:solidFill>
                  <a:srgbClr val="008200"/>
                </a:solidFill>
                <a:latin typeface="Consolas"/>
                <a:cs typeface="Consolas"/>
              </a:rPr>
              <a:t> </a:t>
            </a:r>
            <a:r>
              <a:rPr sz="2400" b="1" dirty="0">
                <a:latin typeface="Consolas"/>
                <a:cs typeface="Consolas"/>
              </a:rPr>
              <a:t>{</a:t>
            </a:r>
            <a:endParaRPr sz="2400">
              <a:latin typeface="Consolas"/>
              <a:cs typeface="Consolas"/>
            </a:endParaRPr>
          </a:p>
        </p:txBody>
      </p:sp>
      <p:sp>
        <p:nvSpPr>
          <p:cNvPr id="5" name="object 5"/>
          <p:cNvSpPr txBox="1"/>
          <p:nvPr/>
        </p:nvSpPr>
        <p:spPr>
          <a:xfrm>
            <a:off x="436270" y="3074743"/>
            <a:ext cx="4176395" cy="3074035"/>
          </a:xfrm>
          <a:prstGeom prst="rect">
            <a:avLst/>
          </a:prstGeom>
        </p:spPr>
        <p:txBody>
          <a:bodyPr vert="horz" wrap="square" lIns="0" tIns="0" rIns="0" bIns="0" rtlCol="0">
            <a:spAutoFit/>
          </a:bodyPr>
          <a:lstStyle/>
          <a:p>
            <a:pPr marL="12700">
              <a:lnSpc>
                <a:spcPct val="100000"/>
              </a:lnSpc>
              <a:buClr>
                <a:srgbClr val="008200"/>
              </a:buClr>
              <a:buAutoNum type="arabicPeriod" startAt="3"/>
              <a:tabLst>
                <a:tab pos="807085" algn="l"/>
              </a:tabLst>
            </a:pPr>
            <a:r>
              <a:rPr sz="2400" b="1" spc="-5" dirty="0">
                <a:latin typeface="Consolas"/>
                <a:cs typeface="Consolas"/>
              </a:rPr>
              <a:t>TIM_TypeDef</a:t>
            </a:r>
            <a:endParaRPr sz="2400">
              <a:latin typeface="Consolas"/>
              <a:cs typeface="Consolas"/>
            </a:endParaRPr>
          </a:p>
          <a:p>
            <a:pPr marL="12700" marR="5080">
              <a:lnSpc>
                <a:spcPts val="4320"/>
              </a:lnSpc>
              <a:spcBef>
                <a:spcPts val="384"/>
              </a:spcBef>
              <a:buClr>
                <a:srgbClr val="008200"/>
              </a:buClr>
              <a:buAutoNum type="arabicPeriod" startAt="3"/>
              <a:tabLst>
                <a:tab pos="807085" algn="l"/>
              </a:tabLst>
            </a:pPr>
            <a:r>
              <a:rPr sz="2400" b="1" spc="-5" dirty="0">
                <a:latin typeface="Consolas"/>
                <a:cs typeface="Consolas"/>
              </a:rPr>
              <a:t>TIM_Base_Ini</a:t>
            </a:r>
            <a:r>
              <a:rPr sz="2400" b="1" spc="0" dirty="0">
                <a:latin typeface="Consolas"/>
                <a:cs typeface="Consolas"/>
              </a:rPr>
              <a:t>t</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 </a:t>
            </a:r>
            <a:r>
              <a:rPr sz="2400" b="1" spc="-5" dirty="0">
                <a:solidFill>
                  <a:srgbClr val="008200"/>
                </a:solidFill>
                <a:latin typeface="Consolas"/>
                <a:cs typeface="Consolas"/>
              </a:rPr>
              <a:t>5.</a:t>
            </a:r>
            <a:endParaRPr sz="2400">
              <a:latin typeface="Consolas"/>
              <a:cs typeface="Consolas"/>
            </a:endParaRPr>
          </a:p>
          <a:p>
            <a:pPr marL="12700">
              <a:lnSpc>
                <a:spcPct val="100000"/>
              </a:lnSpc>
              <a:spcBef>
                <a:spcPts val="1055"/>
              </a:spcBef>
            </a:pPr>
            <a:r>
              <a:rPr sz="2400" b="1" spc="-5" dirty="0">
                <a:solidFill>
                  <a:srgbClr val="008200"/>
                </a:solidFill>
                <a:latin typeface="Consolas"/>
                <a:cs typeface="Consolas"/>
              </a:rPr>
              <a:t>6.</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7.</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8.</a:t>
            </a:r>
            <a:endParaRPr sz="2400">
              <a:latin typeface="Consolas"/>
              <a:cs typeface="Consolas"/>
            </a:endParaRPr>
          </a:p>
        </p:txBody>
      </p:sp>
      <p:sp>
        <p:nvSpPr>
          <p:cNvPr id="6" name="object 6"/>
          <p:cNvSpPr txBox="1"/>
          <p:nvPr/>
        </p:nvSpPr>
        <p:spPr>
          <a:xfrm>
            <a:off x="4932679" y="3074743"/>
            <a:ext cx="1702435" cy="878840"/>
          </a:xfrm>
          <a:prstGeom prst="rect">
            <a:avLst/>
          </a:prstGeom>
        </p:spPr>
        <p:txBody>
          <a:bodyPr vert="horz" wrap="square" lIns="0" tIns="0" rIns="0" bIns="0" rtlCol="0">
            <a:spAutoFit/>
          </a:bodyPr>
          <a:lstStyle/>
          <a:p>
            <a:pPr marL="12700" marR="5080">
              <a:lnSpc>
                <a:spcPct val="150000"/>
              </a:lnSpc>
            </a:pPr>
            <a:r>
              <a:rPr sz="2400" b="1" spc="-5" dirty="0">
                <a:latin typeface="Consolas"/>
                <a:cs typeface="Consolas"/>
              </a:rPr>
              <a:t>*Instance; Init;</a:t>
            </a:r>
            <a:endParaRPr sz="2400">
              <a:latin typeface="Consolas"/>
              <a:cs typeface="Consolas"/>
            </a:endParaRPr>
          </a:p>
        </p:txBody>
      </p:sp>
      <p:sp>
        <p:nvSpPr>
          <p:cNvPr id="7" name="object 7"/>
          <p:cNvSpPr txBox="1"/>
          <p:nvPr/>
        </p:nvSpPr>
        <p:spPr>
          <a:xfrm>
            <a:off x="7119873" y="3056752"/>
            <a:ext cx="4189095" cy="309245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定时器寄存器的基地址定义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时基功能的配置参数定义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捕获</a:t>
            </a:r>
            <a:r>
              <a:rPr sz="2400" b="1" spc="-5" dirty="0">
                <a:solidFill>
                  <a:srgbClr val="008200"/>
                </a:solidFill>
                <a:latin typeface="Consolas"/>
                <a:cs typeface="Consolas"/>
              </a:rPr>
              <a:t>/</a:t>
            </a:r>
            <a:r>
              <a:rPr sz="2400" b="1" dirty="0">
                <a:solidFill>
                  <a:srgbClr val="008200"/>
                </a:solidFill>
                <a:latin typeface="微软雅黑"/>
                <a:cs typeface="微软雅黑"/>
              </a:rPr>
              <a:t>比较通道的定义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spc="-5" dirty="0">
                <a:solidFill>
                  <a:srgbClr val="008200"/>
                </a:solidFill>
                <a:latin typeface="Consolas"/>
                <a:cs typeface="Consolas"/>
              </a:rPr>
              <a:t>DM</a:t>
            </a:r>
            <a:r>
              <a:rPr sz="2400" b="1" dirty="0">
                <a:solidFill>
                  <a:srgbClr val="008200"/>
                </a:solidFill>
                <a:latin typeface="Consolas"/>
                <a:cs typeface="Consolas"/>
              </a:rPr>
              <a:t>A</a:t>
            </a:r>
            <a:r>
              <a:rPr sz="2400" b="1" dirty="0">
                <a:solidFill>
                  <a:srgbClr val="008200"/>
                </a:solidFill>
                <a:latin typeface="微软雅黑"/>
                <a:cs typeface="微软雅黑"/>
              </a:rPr>
              <a:t>通道句柄定义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dirty="0">
                <a:solidFill>
                  <a:srgbClr val="008200"/>
                </a:solidFill>
                <a:latin typeface="Consolas"/>
                <a:cs typeface="Consolas"/>
              </a:rPr>
              <a:t>/</a:t>
            </a:r>
            <a:r>
              <a:rPr sz="2400" b="1" spc="20" dirty="0">
                <a:solidFill>
                  <a:srgbClr val="008200"/>
                </a:solidFill>
                <a:latin typeface="Consolas"/>
                <a:cs typeface="Consolas"/>
              </a:rPr>
              <a:t> </a:t>
            </a:r>
            <a:r>
              <a:rPr sz="2400" b="1" spc="-5" dirty="0">
                <a:solidFill>
                  <a:srgbClr val="008200"/>
                </a:solidFill>
                <a:latin typeface="微软雅黑"/>
                <a:cs typeface="微软雅黑"/>
              </a:rPr>
              <a:t>保护锁类型定义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定时器运行状态定义</a:t>
            </a:r>
            <a:endParaRPr sz="2400">
              <a:latin typeface="微软雅黑"/>
              <a:cs typeface="微软雅黑"/>
            </a:endParaRPr>
          </a:p>
        </p:txBody>
      </p:sp>
      <p:sp>
        <p:nvSpPr>
          <p:cNvPr id="8" name="object 8"/>
          <p:cNvSpPr txBox="1"/>
          <p:nvPr/>
        </p:nvSpPr>
        <p:spPr>
          <a:xfrm>
            <a:off x="1230274" y="4172277"/>
            <a:ext cx="5069840"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HAL_TIM_Acti</a:t>
            </a:r>
            <a:r>
              <a:rPr sz="2400" b="1" spc="0" dirty="0">
                <a:latin typeface="Consolas"/>
                <a:cs typeface="Consolas"/>
              </a:rPr>
              <a:t>v</a:t>
            </a:r>
            <a:r>
              <a:rPr sz="2400" b="1" spc="-5" dirty="0">
                <a:latin typeface="Consolas"/>
                <a:cs typeface="Consolas"/>
              </a:rPr>
              <a:t>e</a:t>
            </a:r>
            <a:r>
              <a:rPr sz="2400" b="1" spc="0" dirty="0">
                <a:latin typeface="Consolas"/>
                <a:cs typeface="Consolas"/>
              </a:rPr>
              <a:t>C</a:t>
            </a:r>
            <a:r>
              <a:rPr sz="2400" b="1" spc="-5" dirty="0">
                <a:latin typeface="Consolas"/>
                <a:cs typeface="Consolas"/>
              </a:rPr>
              <a:t>ha</a:t>
            </a:r>
            <a:r>
              <a:rPr sz="2400" b="1" spc="0" dirty="0">
                <a:latin typeface="Consolas"/>
                <a:cs typeface="Consolas"/>
              </a:rPr>
              <a:t>n</a:t>
            </a:r>
            <a:r>
              <a:rPr sz="2400" b="1" spc="-5" dirty="0">
                <a:latin typeface="Consolas"/>
                <a:cs typeface="Consolas"/>
              </a:rPr>
              <a:t>n</a:t>
            </a:r>
            <a:r>
              <a:rPr sz="2400" b="1" spc="0" dirty="0">
                <a:latin typeface="Consolas"/>
                <a:cs typeface="Consolas"/>
              </a:rPr>
              <a:t>e</a:t>
            </a:r>
            <a:r>
              <a:rPr sz="2400" b="1" spc="-5" dirty="0">
                <a:latin typeface="Consolas"/>
                <a:cs typeface="Consolas"/>
              </a:rPr>
              <a:t>l</a:t>
            </a:r>
            <a:r>
              <a:rPr sz="2400" b="1" spc="70" dirty="0">
                <a:latin typeface="Consolas"/>
                <a:cs typeface="Consolas"/>
              </a:rPr>
              <a:t> </a:t>
            </a:r>
            <a:r>
              <a:rPr sz="2400" b="1" spc="-5" dirty="0">
                <a:latin typeface="Consolas"/>
                <a:cs typeface="Consolas"/>
              </a:rPr>
              <a:t>Channel;</a:t>
            </a:r>
            <a:endParaRPr sz="2400">
              <a:latin typeface="Consolas"/>
              <a:cs typeface="Consolas"/>
            </a:endParaRPr>
          </a:p>
        </p:txBody>
      </p:sp>
      <p:sp>
        <p:nvSpPr>
          <p:cNvPr id="9" name="object 9"/>
          <p:cNvSpPr txBox="1"/>
          <p:nvPr/>
        </p:nvSpPr>
        <p:spPr>
          <a:xfrm>
            <a:off x="1072133" y="4591050"/>
            <a:ext cx="5697220" cy="532130"/>
          </a:xfrm>
          <a:prstGeom prst="rect">
            <a:avLst/>
          </a:prstGeom>
          <a:solidFill>
            <a:srgbClr val="D9D9D9"/>
          </a:solidFill>
          <a:ln w="38100">
            <a:solidFill>
              <a:srgbClr val="FF0000"/>
            </a:solidFill>
          </a:ln>
        </p:spPr>
        <p:txBody>
          <a:bodyPr vert="horz" wrap="square" lIns="0" tIns="0" rIns="0" bIns="0" rtlCol="0">
            <a:spAutoFit/>
          </a:bodyPr>
          <a:lstStyle/>
          <a:p>
            <a:pPr marL="151765">
              <a:lnSpc>
                <a:spcPct val="100000"/>
              </a:lnSpc>
              <a:tabLst>
                <a:tab pos="3853815" algn="l"/>
              </a:tabLst>
            </a:pPr>
            <a:r>
              <a:rPr sz="2400" b="1" spc="-5" dirty="0">
                <a:latin typeface="Consolas"/>
                <a:cs typeface="Consolas"/>
              </a:rPr>
              <a:t>DMA_HandleTy</a:t>
            </a:r>
            <a:r>
              <a:rPr sz="2400" b="1" spc="0" dirty="0">
                <a:latin typeface="Consolas"/>
                <a:cs typeface="Consolas"/>
              </a:rPr>
              <a:t>p</a:t>
            </a:r>
            <a:r>
              <a:rPr sz="2400" b="1" spc="-5" dirty="0">
                <a:latin typeface="Consolas"/>
                <a:cs typeface="Consolas"/>
              </a:rPr>
              <a:t>e</a:t>
            </a:r>
            <a:r>
              <a:rPr sz="2400" b="1" spc="0" dirty="0">
                <a:latin typeface="Consolas"/>
                <a:cs typeface="Consolas"/>
              </a:rPr>
              <a:t>D</a:t>
            </a:r>
            <a:r>
              <a:rPr sz="2400" b="1" spc="-5" dirty="0">
                <a:latin typeface="Consolas"/>
                <a:cs typeface="Consolas"/>
              </a:rPr>
              <a:t>ef</a:t>
            </a:r>
            <a:r>
              <a:rPr sz="2400" b="1" dirty="0">
                <a:latin typeface="Consolas"/>
                <a:cs typeface="Consolas"/>
              </a:rPr>
              <a:t>	</a:t>
            </a:r>
            <a:r>
              <a:rPr sz="2400" b="1" spc="-5" dirty="0">
                <a:latin typeface="Consolas"/>
                <a:cs typeface="Consolas"/>
              </a:rPr>
              <a:t>*hdma[7];</a:t>
            </a:r>
            <a:endParaRPr sz="2400">
              <a:latin typeface="Consolas"/>
              <a:cs typeface="Consolas"/>
            </a:endParaRPr>
          </a:p>
        </p:txBody>
      </p:sp>
      <p:sp>
        <p:nvSpPr>
          <p:cNvPr id="10" name="object 10"/>
          <p:cNvSpPr txBox="1"/>
          <p:nvPr/>
        </p:nvSpPr>
        <p:spPr>
          <a:xfrm>
            <a:off x="1230274" y="5269331"/>
            <a:ext cx="5575935" cy="879475"/>
          </a:xfrm>
          <a:prstGeom prst="rect">
            <a:avLst/>
          </a:prstGeom>
        </p:spPr>
        <p:txBody>
          <a:bodyPr vert="horz" wrap="square" lIns="0" tIns="0" rIns="0" bIns="0" rtlCol="0">
            <a:spAutoFit/>
          </a:bodyPr>
          <a:lstStyle/>
          <a:p>
            <a:pPr marL="12700">
              <a:lnSpc>
                <a:spcPct val="100000"/>
              </a:lnSpc>
              <a:tabLst>
                <a:tab pos="3714750" algn="l"/>
              </a:tabLst>
            </a:pPr>
            <a:r>
              <a:rPr sz="2400" b="1" spc="-5" dirty="0">
                <a:latin typeface="Consolas"/>
                <a:cs typeface="Consolas"/>
              </a:rPr>
              <a:t>HAL_LockType</a:t>
            </a:r>
            <a:r>
              <a:rPr sz="2400" b="1" spc="5" dirty="0">
                <a:latin typeface="Consolas"/>
                <a:cs typeface="Consolas"/>
              </a:rPr>
              <a:t>D</a:t>
            </a:r>
            <a:r>
              <a:rPr sz="2400" b="1" spc="-5" dirty="0">
                <a:latin typeface="Consolas"/>
                <a:cs typeface="Consolas"/>
              </a:rPr>
              <a:t>e</a:t>
            </a:r>
            <a:r>
              <a:rPr sz="2400" b="1" dirty="0">
                <a:latin typeface="Consolas"/>
                <a:cs typeface="Consolas"/>
              </a:rPr>
              <a:t>f	Lock;</a:t>
            </a:r>
            <a:endParaRPr sz="2400">
              <a:latin typeface="Consolas"/>
              <a:cs typeface="Consolas"/>
            </a:endParaRPr>
          </a:p>
          <a:p>
            <a:pPr marL="347980">
              <a:lnSpc>
                <a:spcPct val="100000"/>
              </a:lnSpc>
              <a:spcBef>
                <a:spcPts val="1440"/>
              </a:spcBef>
              <a:tabLst>
                <a:tab pos="4556125" algn="l"/>
              </a:tabLst>
            </a:pPr>
            <a:r>
              <a:rPr sz="2400" b="1" spc="-5" dirty="0">
                <a:latin typeface="Consolas"/>
                <a:cs typeface="Consolas"/>
              </a:rPr>
              <a:t>IO</a:t>
            </a:r>
            <a:r>
              <a:rPr sz="2400" b="1" spc="25" dirty="0">
                <a:latin typeface="Consolas"/>
                <a:cs typeface="Consolas"/>
              </a:rPr>
              <a:t> </a:t>
            </a:r>
            <a:r>
              <a:rPr sz="2400" b="1" spc="-5" dirty="0">
                <a:latin typeface="Consolas"/>
                <a:cs typeface="Consolas"/>
              </a:rPr>
              <a:t>HAL_TIM_Stat</a:t>
            </a:r>
            <a:r>
              <a:rPr sz="2400" b="1" spc="0" dirty="0">
                <a:latin typeface="Consolas"/>
                <a:cs typeface="Consolas"/>
              </a:rPr>
              <a:t>e</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a:t>
            </a:r>
            <a:r>
              <a:rPr sz="2400" b="1" dirty="0">
                <a:latin typeface="Consolas"/>
                <a:cs typeface="Consolas"/>
              </a:rPr>
              <a:t>	</a:t>
            </a:r>
            <a:r>
              <a:rPr sz="2400" b="1" spc="-5" dirty="0">
                <a:latin typeface="Consolas"/>
                <a:cs typeface="Consolas"/>
              </a:rPr>
              <a:t>Sta</a:t>
            </a:r>
            <a:r>
              <a:rPr sz="2400" b="1" dirty="0">
                <a:latin typeface="Consolas"/>
                <a:cs typeface="Consolas"/>
              </a:rPr>
              <a:t>t</a:t>
            </a:r>
            <a:r>
              <a:rPr sz="2400" b="1" spc="-5" dirty="0">
                <a:latin typeface="Consolas"/>
                <a:cs typeface="Consolas"/>
              </a:rPr>
              <a:t>e;</a:t>
            </a:r>
            <a:endParaRPr sz="2400">
              <a:latin typeface="Consolas"/>
              <a:cs typeface="Consolas"/>
            </a:endParaRPr>
          </a:p>
        </p:txBody>
      </p:sp>
      <p:sp>
        <p:nvSpPr>
          <p:cNvPr id="11" name="object 11"/>
          <p:cNvSpPr txBox="1"/>
          <p:nvPr/>
        </p:nvSpPr>
        <p:spPr>
          <a:xfrm>
            <a:off x="436270" y="6367167"/>
            <a:ext cx="3848735" cy="33020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9.</a:t>
            </a:r>
            <a:r>
              <a:rPr sz="2400" b="1" spc="-360" dirty="0">
                <a:solidFill>
                  <a:srgbClr val="008200"/>
                </a:solidFill>
                <a:latin typeface="Consolas"/>
                <a:cs typeface="Consolas"/>
              </a:rPr>
              <a:t> </a:t>
            </a:r>
            <a:r>
              <a:rPr sz="2400" b="1" spc="-5" dirty="0">
                <a:latin typeface="Consolas"/>
                <a:cs typeface="Consolas"/>
              </a:rPr>
              <a:t>}</a:t>
            </a:r>
            <a:r>
              <a:rPr sz="2400" b="1" dirty="0">
                <a:latin typeface="Consolas"/>
                <a:cs typeface="Consolas"/>
              </a:rPr>
              <a:t> </a:t>
            </a:r>
            <a:r>
              <a:rPr sz="2400" b="1" spc="0" dirty="0">
                <a:latin typeface="Consolas"/>
                <a:cs typeface="Consolas"/>
              </a:rPr>
              <a:t>T</a:t>
            </a:r>
            <a:r>
              <a:rPr sz="2400" b="1" spc="-5" dirty="0">
                <a:latin typeface="Consolas"/>
                <a:cs typeface="Consolas"/>
              </a:rPr>
              <a:t>IM</a:t>
            </a:r>
            <a:r>
              <a:rPr sz="2400" b="1" spc="0" dirty="0">
                <a:latin typeface="Consolas"/>
                <a:cs typeface="Consolas"/>
              </a:rPr>
              <a:t>_</a:t>
            </a:r>
            <a:r>
              <a:rPr sz="2400" b="1" spc="-5" dirty="0">
                <a:latin typeface="Consolas"/>
                <a:cs typeface="Consolas"/>
              </a:rPr>
              <a:t>H</a:t>
            </a:r>
            <a:r>
              <a:rPr sz="2400" b="1" spc="0" dirty="0">
                <a:latin typeface="Consolas"/>
                <a:cs typeface="Consolas"/>
              </a:rPr>
              <a:t>an</a:t>
            </a:r>
            <a:r>
              <a:rPr sz="2400" b="1" spc="-5" dirty="0">
                <a:latin typeface="Consolas"/>
                <a:cs typeface="Consolas"/>
              </a:rPr>
              <a:t>dl</a:t>
            </a:r>
            <a:r>
              <a:rPr sz="2400" b="1" spc="0" dirty="0">
                <a:latin typeface="Consolas"/>
                <a:cs typeface="Consolas"/>
              </a:rPr>
              <a:t>e</a:t>
            </a:r>
            <a:r>
              <a:rPr sz="2400" b="1" spc="-5" dirty="0">
                <a:latin typeface="Consolas"/>
                <a:cs typeface="Consolas"/>
              </a:rPr>
              <a:t>Ty</a:t>
            </a:r>
            <a:r>
              <a:rPr sz="2400" b="1" spc="0" dirty="0">
                <a:latin typeface="Consolas"/>
                <a:cs typeface="Consolas"/>
              </a:rPr>
              <a:t>p</a:t>
            </a:r>
            <a:r>
              <a:rPr sz="2400" b="1" spc="-5" dirty="0">
                <a:latin typeface="Consolas"/>
                <a:cs typeface="Consolas"/>
              </a:rPr>
              <a:t>e</a:t>
            </a:r>
            <a:r>
              <a:rPr sz="2400" b="1" spc="0" dirty="0">
                <a:latin typeface="Consolas"/>
                <a:cs typeface="Consolas"/>
              </a:rPr>
              <a:t>De</a:t>
            </a:r>
            <a:r>
              <a:rPr sz="2400" b="1" spc="10" dirty="0">
                <a:latin typeface="Consolas"/>
                <a:cs typeface="Consolas"/>
              </a:rPr>
              <a:t>f</a:t>
            </a:r>
            <a:r>
              <a:rPr sz="2400" b="1" spc="-5" dirty="0">
                <a:latin typeface="Consolas"/>
                <a:cs typeface="Consolas"/>
              </a:rPr>
              <a:t>;</a:t>
            </a:r>
            <a:endParaRPr sz="2400">
              <a:latin typeface="Consolas"/>
              <a:cs typeface="Consolas"/>
            </a:endParaRPr>
          </a:p>
        </p:txBody>
      </p:sp>
      <p:sp>
        <p:nvSpPr>
          <p:cNvPr id="12" name="object 1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13" name="object 1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14" name="object 1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6" name="object 1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8" name="object 18"/>
          <p:cNvSpPr txBox="1"/>
          <p:nvPr/>
        </p:nvSpPr>
        <p:spPr>
          <a:xfrm>
            <a:off x="189992" y="1162674"/>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定时器句柄</a:t>
            </a:r>
            <a:endParaRPr sz="2400">
              <a:latin typeface="微软雅黑"/>
              <a:cs typeface="微软雅黑"/>
            </a:endParaRPr>
          </a:p>
        </p:txBody>
      </p:sp>
      <p:sp>
        <p:nvSpPr>
          <p:cNvPr id="19" name="object 19"/>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20" name="object 20"/>
          <p:cNvSpPr txBox="1">
            <a:spLocks noGrp="1"/>
          </p:cNvSpPr>
          <p:nvPr>
            <p:ph type="title"/>
          </p:nvPr>
        </p:nvSpPr>
        <p:spPr>
          <a:prstGeom prst="rect">
            <a:avLst/>
          </a:prstGeom>
        </p:spPr>
        <p:txBody>
          <a:bodyPr vert="horz" wrap="square" lIns="0" tIns="0" rIns="0" bIns="0" rtlCol="0">
            <a:spAutoFit/>
          </a:bodyPr>
          <a:lstStyle/>
          <a:p>
            <a:pPr marL="4236085">
              <a:lnSpc>
                <a:spcPct val="100000"/>
              </a:lnSpc>
            </a:pPr>
            <a:r>
              <a:rPr spc="-5" dirty="0">
                <a:solidFill>
                  <a:srgbClr val="252525"/>
                </a:solidFill>
              </a:rPr>
              <a:t>定时器句柄结构的组成</a:t>
            </a:r>
          </a:p>
        </p:txBody>
      </p:sp>
      <p:sp>
        <p:nvSpPr>
          <p:cNvPr id="21" name="object 21"/>
          <p:cNvSpPr/>
          <p:nvPr/>
        </p:nvSpPr>
        <p:spPr>
          <a:xfrm>
            <a:off x="6308597" y="2049017"/>
            <a:ext cx="2504440" cy="2469515"/>
          </a:xfrm>
          <a:custGeom>
            <a:avLst/>
            <a:gdLst/>
            <a:ahLst/>
            <a:cxnLst/>
            <a:rect l="l" t="t" r="r" b="b"/>
            <a:pathLst>
              <a:path w="2504440" h="2469515">
                <a:moveTo>
                  <a:pt x="2392933" y="0"/>
                </a:moveTo>
                <a:lnTo>
                  <a:pt x="105665" y="125"/>
                </a:lnTo>
                <a:lnTo>
                  <a:pt x="64323" y="10247"/>
                </a:lnTo>
                <a:lnTo>
                  <a:pt x="30759" y="34271"/>
                </a:lnTo>
                <a:lnTo>
                  <a:pt x="8232" y="68940"/>
                </a:lnTo>
                <a:lnTo>
                  <a:pt x="0" y="110998"/>
                </a:lnTo>
                <a:lnTo>
                  <a:pt x="125" y="560322"/>
                </a:lnTo>
                <a:lnTo>
                  <a:pt x="10247" y="601664"/>
                </a:lnTo>
                <a:lnTo>
                  <a:pt x="34271" y="635228"/>
                </a:lnTo>
                <a:lnTo>
                  <a:pt x="68940" y="657755"/>
                </a:lnTo>
                <a:lnTo>
                  <a:pt x="110998" y="665988"/>
                </a:lnTo>
                <a:lnTo>
                  <a:pt x="417322" y="665988"/>
                </a:lnTo>
                <a:lnTo>
                  <a:pt x="170941" y="2469134"/>
                </a:lnTo>
                <a:lnTo>
                  <a:pt x="1043304" y="665988"/>
                </a:lnTo>
                <a:lnTo>
                  <a:pt x="2398266" y="665862"/>
                </a:lnTo>
                <a:lnTo>
                  <a:pt x="2412710" y="664234"/>
                </a:lnTo>
                <a:lnTo>
                  <a:pt x="2451821" y="649116"/>
                </a:lnTo>
                <a:lnTo>
                  <a:pt x="2482068" y="621182"/>
                </a:lnTo>
                <a:lnTo>
                  <a:pt x="2500192" y="583688"/>
                </a:lnTo>
                <a:lnTo>
                  <a:pt x="2503931" y="554990"/>
                </a:lnTo>
                <a:lnTo>
                  <a:pt x="2503806" y="105665"/>
                </a:lnTo>
                <a:lnTo>
                  <a:pt x="2493684" y="64323"/>
                </a:lnTo>
                <a:lnTo>
                  <a:pt x="2469660" y="30759"/>
                </a:lnTo>
                <a:lnTo>
                  <a:pt x="2434991" y="8232"/>
                </a:lnTo>
                <a:lnTo>
                  <a:pt x="2407572" y="954"/>
                </a:lnTo>
                <a:lnTo>
                  <a:pt x="2392933" y="0"/>
                </a:lnTo>
                <a:close/>
              </a:path>
            </a:pathLst>
          </a:custGeom>
          <a:solidFill>
            <a:srgbClr val="FFFFC7"/>
          </a:solidFill>
        </p:spPr>
        <p:txBody>
          <a:bodyPr wrap="square" lIns="0" tIns="0" rIns="0" bIns="0" rtlCol="0"/>
          <a:lstStyle/>
          <a:p>
            <a:endParaRPr/>
          </a:p>
        </p:txBody>
      </p:sp>
      <p:sp>
        <p:nvSpPr>
          <p:cNvPr id="22" name="object 22"/>
          <p:cNvSpPr/>
          <p:nvPr/>
        </p:nvSpPr>
        <p:spPr>
          <a:xfrm>
            <a:off x="6308597" y="2049017"/>
            <a:ext cx="2504440" cy="2469515"/>
          </a:xfrm>
          <a:custGeom>
            <a:avLst/>
            <a:gdLst/>
            <a:ahLst/>
            <a:cxnLst/>
            <a:rect l="l" t="t" r="r" b="b"/>
            <a:pathLst>
              <a:path w="2504440" h="2469515">
                <a:moveTo>
                  <a:pt x="0" y="110998"/>
                </a:moveTo>
                <a:lnTo>
                  <a:pt x="8232" y="68940"/>
                </a:lnTo>
                <a:lnTo>
                  <a:pt x="30759" y="34271"/>
                </a:lnTo>
                <a:lnTo>
                  <a:pt x="64323" y="10247"/>
                </a:lnTo>
                <a:lnTo>
                  <a:pt x="105665" y="125"/>
                </a:lnTo>
                <a:lnTo>
                  <a:pt x="417322" y="0"/>
                </a:lnTo>
                <a:lnTo>
                  <a:pt x="1043304" y="0"/>
                </a:lnTo>
                <a:lnTo>
                  <a:pt x="2392933" y="0"/>
                </a:lnTo>
                <a:lnTo>
                  <a:pt x="2407572" y="954"/>
                </a:lnTo>
                <a:lnTo>
                  <a:pt x="2447529" y="14314"/>
                </a:lnTo>
                <a:lnTo>
                  <a:pt x="2479012" y="40882"/>
                </a:lnTo>
                <a:lnTo>
                  <a:pt x="2498764" y="77400"/>
                </a:lnTo>
                <a:lnTo>
                  <a:pt x="2503931" y="388493"/>
                </a:lnTo>
                <a:lnTo>
                  <a:pt x="2503931" y="554990"/>
                </a:lnTo>
                <a:lnTo>
                  <a:pt x="2502977" y="569628"/>
                </a:lnTo>
                <a:lnTo>
                  <a:pt x="2500192" y="583688"/>
                </a:lnTo>
                <a:lnTo>
                  <a:pt x="2482068" y="621182"/>
                </a:lnTo>
                <a:lnTo>
                  <a:pt x="2451821" y="649116"/>
                </a:lnTo>
                <a:lnTo>
                  <a:pt x="2412710" y="664234"/>
                </a:lnTo>
                <a:lnTo>
                  <a:pt x="1043304" y="665988"/>
                </a:lnTo>
                <a:lnTo>
                  <a:pt x="170941" y="2469134"/>
                </a:lnTo>
                <a:lnTo>
                  <a:pt x="417322" y="665988"/>
                </a:lnTo>
                <a:lnTo>
                  <a:pt x="110998" y="665988"/>
                </a:lnTo>
                <a:lnTo>
                  <a:pt x="96359" y="665033"/>
                </a:lnTo>
                <a:lnTo>
                  <a:pt x="56402" y="651673"/>
                </a:lnTo>
                <a:lnTo>
                  <a:pt x="24919" y="625105"/>
                </a:lnTo>
                <a:lnTo>
                  <a:pt x="5167" y="588587"/>
                </a:lnTo>
                <a:lnTo>
                  <a:pt x="0" y="554990"/>
                </a:lnTo>
                <a:lnTo>
                  <a:pt x="0" y="388493"/>
                </a:lnTo>
                <a:lnTo>
                  <a:pt x="0" y="110998"/>
                </a:lnTo>
                <a:close/>
              </a:path>
            </a:pathLst>
          </a:custGeom>
          <a:ln w="28956">
            <a:solidFill>
              <a:srgbClr val="000000"/>
            </a:solidFill>
          </a:ln>
        </p:spPr>
        <p:txBody>
          <a:bodyPr wrap="square" lIns="0" tIns="0" rIns="0" bIns="0" rtlCol="0"/>
          <a:lstStyle/>
          <a:p>
            <a:endParaRPr/>
          </a:p>
        </p:txBody>
      </p:sp>
      <p:sp>
        <p:nvSpPr>
          <p:cNvPr id="23" name="object 23"/>
          <p:cNvSpPr txBox="1"/>
          <p:nvPr/>
        </p:nvSpPr>
        <p:spPr>
          <a:xfrm>
            <a:off x="6683120" y="2216848"/>
            <a:ext cx="1755139" cy="36576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DMA</a:t>
            </a:r>
            <a:r>
              <a:rPr sz="2400" b="1" dirty="0">
                <a:latin typeface="宋体"/>
                <a:cs typeface="宋体"/>
              </a:rPr>
              <a:t>通道句柄</a:t>
            </a:r>
            <a:endParaRPr sz="2400">
              <a:latin typeface="宋体"/>
              <a:cs typeface="宋体"/>
            </a:endParaRPr>
          </a:p>
        </p:txBody>
      </p:sp>
      <p:sp>
        <p:nvSpPr>
          <p:cNvPr id="24" name="object 24"/>
          <p:cNvSpPr/>
          <p:nvPr/>
        </p:nvSpPr>
        <p:spPr>
          <a:xfrm>
            <a:off x="1242974" y="6104253"/>
            <a:ext cx="335915" cy="0"/>
          </a:xfrm>
          <a:custGeom>
            <a:avLst/>
            <a:gdLst/>
            <a:ahLst/>
            <a:cxnLst/>
            <a:rect l="l" t="t" r="r" b="b"/>
            <a:pathLst>
              <a:path w="335915">
                <a:moveTo>
                  <a:pt x="0" y="0"/>
                </a:moveTo>
                <a:lnTo>
                  <a:pt x="335399" y="0"/>
                </a:lnTo>
              </a:path>
            </a:pathLst>
          </a:custGeom>
          <a:ln w="28727">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85918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solidFill>
            <a:srgbClr val="D9D9D9"/>
          </a:solidFill>
        </p:spPr>
        <p:txBody>
          <a:bodyPr wrap="square" lIns="0" tIns="0" rIns="0" bIns="0" rtlCol="0"/>
          <a:lstStyle/>
          <a:p>
            <a:endParaRPr/>
          </a:p>
        </p:txBody>
      </p:sp>
      <p:sp>
        <p:nvSpPr>
          <p:cNvPr id="3" name="object 3"/>
          <p:cNvSpPr/>
          <p:nvPr/>
        </p:nvSpPr>
        <p:spPr>
          <a:xfrm>
            <a:off x="358902" y="1759457"/>
            <a:ext cx="11677015" cy="5019040"/>
          </a:xfrm>
          <a:custGeom>
            <a:avLst/>
            <a:gdLst/>
            <a:ahLst/>
            <a:cxnLst/>
            <a:rect l="l" t="t" r="r" b="b"/>
            <a:pathLst>
              <a:path w="11677015" h="5019040">
                <a:moveTo>
                  <a:pt x="0" y="5018532"/>
                </a:moveTo>
                <a:lnTo>
                  <a:pt x="11676888" y="5018532"/>
                </a:lnTo>
                <a:lnTo>
                  <a:pt x="11676888" y="0"/>
                </a:lnTo>
                <a:lnTo>
                  <a:pt x="0" y="0"/>
                </a:lnTo>
                <a:lnTo>
                  <a:pt x="0" y="5018532"/>
                </a:lnTo>
                <a:close/>
              </a:path>
            </a:pathLst>
          </a:custGeom>
          <a:ln w="28956">
            <a:solidFill>
              <a:srgbClr val="5B9BD4"/>
            </a:solidFill>
          </a:ln>
        </p:spPr>
        <p:txBody>
          <a:bodyPr wrap="square" lIns="0" tIns="0" rIns="0" bIns="0" rtlCol="0"/>
          <a:lstStyle/>
          <a:p>
            <a:endParaRPr/>
          </a:p>
        </p:txBody>
      </p:sp>
      <p:sp>
        <p:nvSpPr>
          <p:cNvPr id="4" name="object 4"/>
          <p:cNvSpPr txBox="1"/>
          <p:nvPr/>
        </p:nvSpPr>
        <p:spPr>
          <a:xfrm>
            <a:off x="436270" y="1977082"/>
            <a:ext cx="2837180" cy="87947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1.</a:t>
            </a:r>
            <a:r>
              <a:rPr sz="2400" b="1" spc="-360" dirty="0">
                <a:solidFill>
                  <a:srgbClr val="008200"/>
                </a:solidFill>
                <a:latin typeface="Consolas"/>
                <a:cs typeface="Consolas"/>
              </a:rPr>
              <a:t> </a:t>
            </a:r>
            <a:r>
              <a:rPr sz="2400" b="1" spc="-5" dirty="0">
                <a:latin typeface="Consolas"/>
                <a:cs typeface="Consolas"/>
              </a:rPr>
              <a:t>ty</a:t>
            </a:r>
            <a:r>
              <a:rPr sz="2400" b="1" spc="0" dirty="0">
                <a:latin typeface="Consolas"/>
                <a:cs typeface="Consolas"/>
              </a:rPr>
              <a:t>p</a:t>
            </a:r>
            <a:r>
              <a:rPr sz="2400" b="1" spc="-5" dirty="0">
                <a:latin typeface="Consolas"/>
                <a:cs typeface="Consolas"/>
              </a:rPr>
              <a:t>ed</a:t>
            </a:r>
            <a:r>
              <a:rPr sz="2400" b="1" spc="0" dirty="0">
                <a:latin typeface="Consolas"/>
                <a:cs typeface="Consolas"/>
              </a:rPr>
              <a:t>e</a:t>
            </a:r>
            <a:r>
              <a:rPr sz="2400" b="1" spc="-5" dirty="0">
                <a:latin typeface="Consolas"/>
                <a:cs typeface="Consolas"/>
              </a:rPr>
              <a:t>f</a:t>
            </a:r>
            <a:r>
              <a:rPr sz="2400" b="1" spc="20" dirty="0">
                <a:latin typeface="Consolas"/>
                <a:cs typeface="Consolas"/>
              </a:rPr>
              <a:t> </a:t>
            </a:r>
            <a:r>
              <a:rPr sz="2400" b="1" spc="0" dirty="0">
                <a:latin typeface="Consolas"/>
                <a:cs typeface="Consolas"/>
              </a:rPr>
              <a:t>s</a:t>
            </a:r>
            <a:r>
              <a:rPr sz="2400" b="1" spc="-5" dirty="0">
                <a:latin typeface="Consolas"/>
                <a:cs typeface="Consolas"/>
              </a:rPr>
              <a:t>tr</a:t>
            </a:r>
            <a:r>
              <a:rPr sz="2400" b="1" spc="0" dirty="0">
                <a:latin typeface="Consolas"/>
                <a:cs typeface="Consolas"/>
              </a:rPr>
              <a:t>u</a:t>
            </a:r>
            <a:r>
              <a:rPr sz="2400" b="1" spc="-5" dirty="0">
                <a:latin typeface="Consolas"/>
                <a:cs typeface="Consolas"/>
              </a:rPr>
              <a:t>ct</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2</a:t>
            </a:r>
            <a:r>
              <a:rPr sz="2400" b="1" dirty="0">
                <a:solidFill>
                  <a:srgbClr val="008200"/>
                </a:solidFill>
                <a:latin typeface="Consolas"/>
                <a:cs typeface="Consolas"/>
              </a:rPr>
              <a:t>.</a:t>
            </a:r>
            <a:r>
              <a:rPr sz="2400" b="1" spc="-365" dirty="0">
                <a:solidFill>
                  <a:srgbClr val="008200"/>
                </a:solidFill>
                <a:latin typeface="Consolas"/>
                <a:cs typeface="Consolas"/>
              </a:rPr>
              <a:t> </a:t>
            </a:r>
            <a:r>
              <a:rPr sz="2400" b="1" dirty="0">
                <a:latin typeface="Consolas"/>
                <a:cs typeface="Consolas"/>
              </a:rPr>
              <a:t>{</a:t>
            </a:r>
            <a:endParaRPr sz="2400">
              <a:latin typeface="Consolas"/>
              <a:cs typeface="Consolas"/>
            </a:endParaRPr>
          </a:p>
        </p:txBody>
      </p:sp>
      <p:sp>
        <p:nvSpPr>
          <p:cNvPr id="5" name="object 5"/>
          <p:cNvSpPr txBox="1"/>
          <p:nvPr/>
        </p:nvSpPr>
        <p:spPr>
          <a:xfrm>
            <a:off x="436270" y="3074743"/>
            <a:ext cx="4176395" cy="3074035"/>
          </a:xfrm>
          <a:prstGeom prst="rect">
            <a:avLst/>
          </a:prstGeom>
        </p:spPr>
        <p:txBody>
          <a:bodyPr vert="horz" wrap="square" lIns="0" tIns="0" rIns="0" bIns="0" rtlCol="0">
            <a:spAutoFit/>
          </a:bodyPr>
          <a:lstStyle/>
          <a:p>
            <a:pPr marL="12700">
              <a:lnSpc>
                <a:spcPct val="100000"/>
              </a:lnSpc>
              <a:buClr>
                <a:srgbClr val="008200"/>
              </a:buClr>
              <a:buAutoNum type="arabicPeriod" startAt="3"/>
              <a:tabLst>
                <a:tab pos="807085" algn="l"/>
              </a:tabLst>
            </a:pPr>
            <a:r>
              <a:rPr sz="2400" b="1" spc="-5" dirty="0">
                <a:latin typeface="Consolas"/>
                <a:cs typeface="Consolas"/>
              </a:rPr>
              <a:t>TIM_TypeDef</a:t>
            </a:r>
            <a:endParaRPr sz="2400">
              <a:latin typeface="Consolas"/>
              <a:cs typeface="Consolas"/>
            </a:endParaRPr>
          </a:p>
          <a:p>
            <a:pPr marL="12700" marR="5080">
              <a:lnSpc>
                <a:spcPts val="4320"/>
              </a:lnSpc>
              <a:spcBef>
                <a:spcPts val="384"/>
              </a:spcBef>
              <a:buClr>
                <a:srgbClr val="008200"/>
              </a:buClr>
              <a:buAutoNum type="arabicPeriod" startAt="3"/>
              <a:tabLst>
                <a:tab pos="807085" algn="l"/>
              </a:tabLst>
            </a:pPr>
            <a:r>
              <a:rPr sz="2400" b="1" spc="-5" dirty="0">
                <a:latin typeface="Consolas"/>
                <a:cs typeface="Consolas"/>
              </a:rPr>
              <a:t>TIM_Base_Ini</a:t>
            </a:r>
            <a:r>
              <a:rPr sz="2400" b="1" spc="0" dirty="0">
                <a:latin typeface="Consolas"/>
                <a:cs typeface="Consolas"/>
              </a:rPr>
              <a:t>t</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 </a:t>
            </a:r>
            <a:r>
              <a:rPr sz="2400" b="1" spc="-5" dirty="0">
                <a:solidFill>
                  <a:srgbClr val="008200"/>
                </a:solidFill>
                <a:latin typeface="Consolas"/>
                <a:cs typeface="Consolas"/>
              </a:rPr>
              <a:t>5.</a:t>
            </a:r>
            <a:endParaRPr sz="2400">
              <a:latin typeface="Consolas"/>
              <a:cs typeface="Consolas"/>
            </a:endParaRPr>
          </a:p>
          <a:p>
            <a:pPr marL="12700">
              <a:lnSpc>
                <a:spcPct val="100000"/>
              </a:lnSpc>
              <a:spcBef>
                <a:spcPts val="1055"/>
              </a:spcBef>
            </a:pPr>
            <a:r>
              <a:rPr sz="2400" b="1" spc="-5" dirty="0">
                <a:solidFill>
                  <a:srgbClr val="008200"/>
                </a:solidFill>
                <a:latin typeface="Consolas"/>
                <a:cs typeface="Consolas"/>
              </a:rPr>
              <a:t>6.</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7.</a:t>
            </a:r>
            <a:endParaRPr sz="2400">
              <a:latin typeface="Consolas"/>
              <a:cs typeface="Consolas"/>
            </a:endParaRPr>
          </a:p>
          <a:p>
            <a:pPr marL="12700">
              <a:lnSpc>
                <a:spcPct val="100000"/>
              </a:lnSpc>
              <a:spcBef>
                <a:spcPts val="1440"/>
              </a:spcBef>
            </a:pPr>
            <a:r>
              <a:rPr sz="2400" b="1" spc="-5" dirty="0">
                <a:solidFill>
                  <a:srgbClr val="008200"/>
                </a:solidFill>
                <a:latin typeface="Consolas"/>
                <a:cs typeface="Consolas"/>
              </a:rPr>
              <a:t>8.</a:t>
            </a:r>
            <a:endParaRPr sz="2400">
              <a:latin typeface="Consolas"/>
              <a:cs typeface="Consolas"/>
            </a:endParaRPr>
          </a:p>
        </p:txBody>
      </p:sp>
      <p:sp>
        <p:nvSpPr>
          <p:cNvPr id="6" name="object 6"/>
          <p:cNvSpPr txBox="1"/>
          <p:nvPr/>
        </p:nvSpPr>
        <p:spPr>
          <a:xfrm>
            <a:off x="4932679" y="3074743"/>
            <a:ext cx="1702435" cy="878840"/>
          </a:xfrm>
          <a:prstGeom prst="rect">
            <a:avLst/>
          </a:prstGeom>
        </p:spPr>
        <p:txBody>
          <a:bodyPr vert="horz" wrap="square" lIns="0" tIns="0" rIns="0" bIns="0" rtlCol="0">
            <a:spAutoFit/>
          </a:bodyPr>
          <a:lstStyle/>
          <a:p>
            <a:pPr marL="12700" marR="5080">
              <a:lnSpc>
                <a:spcPct val="150000"/>
              </a:lnSpc>
            </a:pPr>
            <a:r>
              <a:rPr sz="2400" b="1" spc="-5" dirty="0">
                <a:latin typeface="Consolas"/>
                <a:cs typeface="Consolas"/>
              </a:rPr>
              <a:t>*Instance; Init;</a:t>
            </a:r>
            <a:endParaRPr sz="2400">
              <a:latin typeface="Consolas"/>
              <a:cs typeface="Consolas"/>
            </a:endParaRPr>
          </a:p>
        </p:txBody>
      </p:sp>
      <p:sp>
        <p:nvSpPr>
          <p:cNvPr id="7" name="object 7"/>
          <p:cNvSpPr txBox="1"/>
          <p:nvPr/>
        </p:nvSpPr>
        <p:spPr>
          <a:xfrm>
            <a:off x="7119873" y="3056752"/>
            <a:ext cx="4189095" cy="89725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定时器寄存器的基地址定义</a:t>
            </a:r>
            <a:endParaRPr sz="2400">
              <a:latin typeface="微软雅黑"/>
              <a:cs typeface="微软雅黑"/>
            </a:endParaRPr>
          </a:p>
          <a:p>
            <a:pPr marL="12700">
              <a:lnSpc>
                <a:spcPct val="100000"/>
              </a:lnSpc>
              <a:spcBef>
                <a:spcPts val="1440"/>
              </a:spcBef>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时基功能的配置参数定义</a:t>
            </a:r>
            <a:endParaRPr sz="2400">
              <a:latin typeface="微软雅黑"/>
              <a:cs typeface="微软雅黑"/>
            </a:endParaRPr>
          </a:p>
        </p:txBody>
      </p:sp>
      <p:sp>
        <p:nvSpPr>
          <p:cNvPr id="8" name="object 8"/>
          <p:cNvSpPr txBox="1"/>
          <p:nvPr/>
        </p:nvSpPr>
        <p:spPr>
          <a:xfrm>
            <a:off x="1230274" y="4172277"/>
            <a:ext cx="5563235" cy="1964055"/>
          </a:xfrm>
          <a:prstGeom prst="rect">
            <a:avLst/>
          </a:prstGeom>
        </p:spPr>
        <p:txBody>
          <a:bodyPr vert="horz" wrap="square" lIns="0" tIns="0" rIns="0" bIns="0" rtlCol="0">
            <a:spAutoFit/>
          </a:bodyPr>
          <a:lstStyle/>
          <a:p>
            <a:pPr marL="12700" marR="331470">
              <a:lnSpc>
                <a:spcPct val="150000"/>
              </a:lnSpc>
              <a:tabLst>
                <a:tab pos="3714750" algn="l"/>
              </a:tabLst>
            </a:pPr>
            <a:r>
              <a:rPr sz="2400" b="1" spc="-5" dirty="0">
                <a:latin typeface="Consolas"/>
                <a:cs typeface="Consolas"/>
              </a:rPr>
              <a:t>HAL_TIM_Acti</a:t>
            </a:r>
            <a:r>
              <a:rPr sz="2400" b="1" spc="0" dirty="0">
                <a:latin typeface="Consolas"/>
                <a:cs typeface="Consolas"/>
              </a:rPr>
              <a:t>v</a:t>
            </a:r>
            <a:r>
              <a:rPr sz="2400" b="1" spc="-5" dirty="0">
                <a:latin typeface="Consolas"/>
                <a:cs typeface="Consolas"/>
              </a:rPr>
              <a:t>e</a:t>
            </a:r>
            <a:r>
              <a:rPr sz="2400" b="1" spc="0" dirty="0">
                <a:latin typeface="Consolas"/>
                <a:cs typeface="Consolas"/>
              </a:rPr>
              <a:t>C</a:t>
            </a:r>
            <a:r>
              <a:rPr sz="2400" b="1" spc="-5" dirty="0">
                <a:latin typeface="Consolas"/>
                <a:cs typeface="Consolas"/>
              </a:rPr>
              <a:t>ha</a:t>
            </a:r>
            <a:r>
              <a:rPr sz="2400" b="1" spc="0" dirty="0">
                <a:latin typeface="Consolas"/>
                <a:cs typeface="Consolas"/>
              </a:rPr>
              <a:t>n</a:t>
            </a:r>
            <a:r>
              <a:rPr sz="2400" b="1" spc="-5" dirty="0">
                <a:latin typeface="Consolas"/>
                <a:cs typeface="Consolas"/>
              </a:rPr>
              <a:t>n</a:t>
            </a:r>
            <a:r>
              <a:rPr sz="2400" b="1" spc="0" dirty="0">
                <a:latin typeface="Consolas"/>
                <a:cs typeface="Consolas"/>
              </a:rPr>
              <a:t>e</a:t>
            </a:r>
            <a:r>
              <a:rPr sz="2400" b="1" spc="-5" dirty="0">
                <a:latin typeface="Consolas"/>
                <a:cs typeface="Consolas"/>
              </a:rPr>
              <a:t>l</a:t>
            </a:r>
            <a:r>
              <a:rPr sz="2400" b="1" spc="70" dirty="0">
                <a:latin typeface="Consolas"/>
                <a:cs typeface="Consolas"/>
              </a:rPr>
              <a:t> </a:t>
            </a:r>
            <a:r>
              <a:rPr sz="2400" b="1" spc="-5" dirty="0">
                <a:latin typeface="Consolas"/>
                <a:cs typeface="Consolas"/>
              </a:rPr>
              <a:t>Channel; DMA_HandleTy</a:t>
            </a:r>
            <a:r>
              <a:rPr sz="2400" b="1" spc="0" dirty="0">
                <a:latin typeface="Consolas"/>
                <a:cs typeface="Consolas"/>
              </a:rPr>
              <a:t>p</a:t>
            </a:r>
            <a:r>
              <a:rPr sz="2400" b="1" spc="-5" dirty="0">
                <a:latin typeface="Consolas"/>
                <a:cs typeface="Consolas"/>
              </a:rPr>
              <a:t>e</a:t>
            </a:r>
            <a:r>
              <a:rPr sz="2400" b="1" spc="0" dirty="0">
                <a:latin typeface="Consolas"/>
                <a:cs typeface="Consolas"/>
              </a:rPr>
              <a:t>D</a:t>
            </a:r>
            <a:r>
              <a:rPr sz="2400" b="1" spc="-5" dirty="0">
                <a:latin typeface="Consolas"/>
                <a:cs typeface="Consolas"/>
              </a:rPr>
              <a:t>ef</a:t>
            </a:r>
            <a:r>
              <a:rPr sz="2400" b="1" dirty="0">
                <a:latin typeface="Consolas"/>
                <a:cs typeface="Consolas"/>
              </a:rPr>
              <a:t>	</a:t>
            </a:r>
            <a:r>
              <a:rPr sz="2400" b="1" spc="-5" dirty="0">
                <a:latin typeface="Consolas"/>
                <a:cs typeface="Consolas"/>
              </a:rPr>
              <a:t>*hdma[7]; HAL_LockType</a:t>
            </a:r>
            <a:r>
              <a:rPr sz="2400" b="1" spc="5" dirty="0">
                <a:latin typeface="Consolas"/>
                <a:cs typeface="Consolas"/>
              </a:rPr>
              <a:t>D</a:t>
            </a:r>
            <a:r>
              <a:rPr sz="2400" b="1" spc="-5" dirty="0">
                <a:latin typeface="Consolas"/>
                <a:cs typeface="Consolas"/>
              </a:rPr>
              <a:t>e</a:t>
            </a:r>
            <a:r>
              <a:rPr sz="2400" b="1" dirty="0">
                <a:latin typeface="Consolas"/>
                <a:cs typeface="Consolas"/>
              </a:rPr>
              <a:t>f	Lock;</a:t>
            </a:r>
            <a:endParaRPr sz="2400">
              <a:latin typeface="Consolas"/>
              <a:cs typeface="Consolas"/>
            </a:endParaRPr>
          </a:p>
          <a:p>
            <a:pPr marL="347980">
              <a:lnSpc>
                <a:spcPct val="100000"/>
              </a:lnSpc>
              <a:spcBef>
                <a:spcPts val="1440"/>
              </a:spcBef>
              <a:tabLst>
                <a:tab pos="4556125" algn="l"/>
              </a:tabLst>
            </a:pPr>
            <a:r>
              <a:rPr sz="2400" b="1" spc="-5" dirty="0">
                <a:latin typeface="Consolas"/>
                <a:cs typeface="Consolas"/>
              </a:rPr>
              <a:t>IO</a:t>
            </a:r>
            <a:r>
              <a:rPr sz="2400" b="1" spc="25" dirty="0">
                <a:latin typeface="Consolas"/>
                <a:cs typeface="Consolas"/>
              </a:rPr>
              <a:t> </a:t>
            </a:r>
            <a:r>
              <a:rPr sz="2400" b="1" spc="-5" dirty="0">
                <a:latin typeface="Consolas"/>
                <a:cs typeface="Consolas"/>
              </a:rPr>
              <a:t>HAL_TIM_Stat</a:t>
            </a:r>
            <a:r>
              <a:rPr sz="2400" b="1" spc="0" dirty="0">
                <a:latin typeface="Consolas"/>
                <a:cs typeface="Consolas"/>
              </a:rPr>
              <a:t>e</a:t>
            </a:r>
            <a:r>
              <a:rPr sz="2400" b="1" spc="-5" dirty="0">
                <a:latin typeface="Consolas"/>
                <a:cs typeface="Consolas"/>
              </a:rPr>
              <a:t>T</a:t>
            </a:r>
            <a:r>
              <a:rPr sz="2400" b="1" spc="0" dirty="0">
                <a:latin typeface="Consolas"/>
                <a:cs typeface="Consolas"/>
              </a:rPr>
              <a:t>y</a:t>
            </a:r>
            <a:r>
              <a:rPr sz="2400" b="1" spc="-5" dirty="0">
                <a:latin typeface="Consolas"/>
                <a:cs typeface="Consolas"/>
              </a:rPr>
              <a:t>pe</a:t>
            </a:r>
            <a:r>
              <a:rPr sz="2400" b="1" spc="0" dirty="0">
                <a:latin typeface="Consolas"/>
                <a:cs typeface="Consolas"/>
              </a:rPr>
              <a:t>D</a:t>
            </a:r>
            <a:r>
              <a:rPr sz="2400" b="1" spc="-5" dirty="0">
                <a:latin typeface="Consolas"/>
                <a:cs typeface="Consolas"/>
              </a:rPr>
              <a:t>ef</a:t>
            </a:r>
            <a:r>
              <a:rPr sz="2400" b="1" dirty="0">
                <a:latin typeface="Consolas"/>
                <a:cs typeface="Consolas"/>
              </a:rPr>
              <a:t>	</a:t>
            </a:r>
            <a:r>
              <a:rPr sz="2400" b="1" spc="-5" dirty="0">
                <a:latin typeface="Consolas"/>
                <a:cs typeface="Consolas"/>
              </a:rPr>
              <a:t>Sta</a:t>
            </a:r>
            <a:r>
              <a:rPr sz="2400" b="1" dirty="0">
                <a:latin typeface="Consolas"/>
                <a:cs typeface="Consolas"/>
              </a:rPr>
              <a:t>t</a:t>
            </a:r>
            <a:r>
              <a:rPr sz="2400" b="1" spc="-5" dirty="0">
                <a:latin typeface="Consolas"/>
                <a:cs typeface="Consolas"/>
              </a:rPr>
              <a:t>e;</a:t>
            </a:r>
            <a:endParaRPr sz="2400">
              <a:latin typeface="Consolas"/>
              <a:cs typeface="Consolas"/>
            </a:endParaRPr>
          </a:p>
        </p:txBody>
      </p:sp>
      <p:sp>
        <p:nvSpPr>
          <p:cNvPr id="9" name="object 9"/>
          <p:cNvSpPr txBox="1"/>
          <p:nvPr/>
        </p:nvSpPr>
        <p:spPr>
          <a:xfrm>
            <a:off x="7119873" y="4154286"/>
            <a:ext cx="3442970" cy="348615"/>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捕获</a:t>
            </a:r>
            <a:r>
              <a:rPr sz="2400" b="1" spc="-5" dirty="0">
                <a:solidFill>
                  <a:srgbClr val="008200"/>
                </a:solidFill>
                <a:latin typeface="Consolas"/>
                <a:cs typeface="Consolas"/>
              </a:rPr>
              <a:t>/</a:t>
            </a:r>
            <a:r>
              <a:rPr sz="2400" b="1" dirty="0">
                <a:solidFill>
                  <a:srgbClr val="008200"/>
                </a:solidFill>
                <a:latin typeface="微软雅黑"/>
                <a:cs typeface="微软雅黑"/>
              </a:rPr>
              <a:t>比较通道的定义</a:t>
            </a:r>
            <a:endParaRPr sz="2400">
              <a:latin typeface="微软雅黑"/>
              <a:cs typeface="微软雅黑"/>
            </a:endParaRPr>
          </a:p>
        </p:txBody>
      </p:sp>
      <p:sp>
        <p:nvSpPr>
          <p:cNvPr id="10" name="object 10"/>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11" name="object 11"/>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12" name="object 12"/>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4" name="object 14"/>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6" name="object 16"/>
          <p:cNvSpPr/>
          <p:nvPr/>
        </p:nvSpPr>
        <p:spPr>
          <a:xfrm>
            <a:off x="1037082" y="5154929"/>
            <a:ext cx="5834380" cy="1043940"/>
          </a:xfrm>
          <a:custGeom>
            <a:avLst/>
            <a:gdLst/>
            <a:ahLst/>
            <a:cxnLst/>
            <a:rect l="l" t="t" r="r" b="b"/>
            <a:pathLst>
              <a:path w="5834380" h="1043939">
                <a:moveTo>
                  <a:pt x="0" y="1043940"/>
                </a:moveTo>
                <a:lnTo>
                  <a:pt x="5833872" y="1043940"/>
                </a:lnTo>
                <a:lnTo>
                  <a:pt x="5833872" y="0"/>
                </a:lnTo>
                <a:lnTo>
                  <a:pt x="0" y="0"/>
                </a:lnTo>
                <a:lnTo>
                  <a:pt x="0" y="1043940"/>
                </a:lnTo>
                <a:close/>
              </a:path>
            </a:pathLst>
          </a:custGeom>
          <a:ln w="38100">
            <a:solidFill>
              <a:srgbClr val="FF0000"/>
            </a:solidFill>
          </a:ln>
        </p:spPr>
        <p:txBody>
          <a:bodyPr wrap="square" lIns="0" tIns="0" rIns="0" bIns="0" rtlCol="0"/>
          <a:lstStyle/>
          <a:p>
            <a:endParaRPr/>
          </a:p>
        </p:txBody>
      </p:sp>
      <p:sp>
        <p:nvSpPr>
          <p:cNvPr id="17" name="object 17"/>
          <p:cNvSpPr/>
          <p:nvPr/>
        </p:nvSpPr>
        <p:spPr>
          <a:xfrm>
            <a:off x="6944359" y="5683986"/>
            <a:ext cx="2459990" cy="1094105"/>
          </a:xfrm>
          <a:custGeom>
            <a:avLst/>
            <a:gdLst/>
            <a:ahLst/>
            <a:cxnLst/>
            <a:rect l="l" t="t" r="r" b="b"/>
            <a:pathLst>
              <a:path w="2459990" h="1094104">
                <a:moveTo>
                  <a:pt x="0" y="0"/>
                </a:moveTo>
                <a:lnTo>
                  <a:pt x="534162" y="475259"/>
                </a:lnTo>
                <a:lnTo>
                  <a:pt x="245095" y="475502"/>
                </a:lnTo>
                <a:lnTo>
                  <a:pt x="230783" y="477494"/>
                </a:lnTo>
                <a:lnTo>
                  <a:pt x="192575" y="494268"/>
                </a:lnTo>
                <a:lnTo>
                  <a:pt x="164422" y="524291"/>
                </a:lnTo>
                <a:lnTo>
                  <a:pt x="150126" y="563774"/>
                </a:lnTo>
                <a:lnTo>
                  <a:pt x="149098" y="578383"/>
                </a:lnTo>
                <a:lnTo>
                  <a:pt x="149098" y="733069"/>
                </a:lnTo>
                <a:lnTo>
                  <a:pt x="149341" y="998012"/>
                </a:lnTo>
                <a:lnTo>
                  <a:pt x="160866" y="1038744"/>
                </a:lnTo>
                <a:lnTo>
                  <a:pt x="186905" y="1070665"/>
                </a:lnTo>
                <a:lnTo>
                  <a:pt x="223652" y="1089988"/>
                </a:lnTo>
                <a:lnTo>
                  <a:pt x="252222" y="1094003"/>
                </a:lnTo>
                <a:lnTo>
                  <a:pt x="1111758" y="1094003"/>
                </a:lnTo>
                <a:lnTo>
                  <a:pt x="2363484" y="1093760"/>
                </a:lnTo>
                <a:lnTo>
                  <a:pt x="2404197" y="1082245"/>
                </a:lnTo>
                <a:lnTo>
                  <a:pt x="2436125" y="1056219"/>
                </a:lnTo>
                <a:lnTo>
                  <a:pt x="2455463" y="1019468"/>
                </a:lnTo>
                <a:lnTo>
                  <a:pt x="2459482" y="990879"/>
                </a:lnTo>
                <a:lnTo>
                  <a:pt x="2459482" y="578383"/>
                </a:lnTo>
                <a:lnTo>
                  <a:pt x="2447713" y="530521"/>
                </a:lnTo>
                <a:lnTo>
                  <a:pt x="2421674" y="498599"/>
                </a:lnTo>
                <a:lnTo>
                  <a:pt x="2384927" y="479274"/>
                </a:lnTo>
                <a:lnTo>
                  <a:pt x="2356358" y="475259"/>
                </a:lnTo>
                <a:lnTo>
                  <a:pt x="1111758" y="475259"/>
                </a:lnTo>
                <a:lnTo>
                  <a:pt x="0" y="0"/>
                </a:lnTo>
                <a:close/>
              </a:path>
            </a:pathLst>
          </a:custGeom>
          <a:solidFill>
            <a:srgbClr val="FFFFC7"/>
          </a:solidFill>
        </p:spPr>
        <p:txBody>
          <a:bodyPr wrap="square" lIns="0" tIns="0" rIns="0" bIns="0" rtlCol="0"/>
          <a:lstStyle/>
          <a:p>
            <a:endParaRPr/>
          </a:p>
        </p:txBody>
      </p:sp>
      <p:sp>
        <p:nvSpPr>
          <p:cNvPr id="18" name="object 18"/>
          <p:cNvSpPr/>
          <p:nvPr/>
        </p:nvSpPr>
        <p:spPr>
          <a:xfrm>
            <a:off x="6944359" y="5683986"/>
            <a:ext cx="2459990" cy="1094105"/>
          </a:xfrm>
          <a:custGeom>
            <a:avLst/>
            <a:gdLst/>
            <a:ahLst/>
            <a:cxnLst/>
            <a:rect l="l" t="t" r="r" b="b"/>
            <a:pathLst>
              <a:path w="2459990" h="1094104">
                <a:moveTo>
                  <a:pt x="149098" y="578383"/>
                </a:moveTo>
                <a:lnTo>
                  <a:pt x="157929" y="536588"/>
                </a:lnTo>
                <a:lnTo>
                  <a:pt x="181886" y="502991"/>
                </a:lnTo>
                <a:lnTo>
                  <a:pt x="217165" y="481380"/>
                </a:lnTo>
                <a:lnTo>
                  <a:pt x="534162" y="475259"/>
                </a:lnTo>
                <a:lnTo>
                  <a:pt x="0" y="0"/>
                </a:lnTo>
                <a:lnTo>
                  <a:pt x="1111758" y="475259"/>
                </a:lnTo>
                <a:lnTo>
                  <a:pt x="2356358" y="475259"/>
                </a:lnTo>
                <a:lnTo>
                  <a:pt x="2370955" y="476286"/>
                </a:lnTo>
                <a:lnTo>
                  <a:pt x="2410427" y="490571"/>
                </a:lnTo>
                <a:lnTo>
                  <a:pt x="2440458" y="518715"/>
                </a:lnTo>
                <a:lnTo>
                  <a:pt x="2457244" y="556929"/>
                </a:lnTo>
                <a:lnTo>
                  <a:pt x="2459482" y="578383"/>
                </a:lnTo>
                <a:lnTo>
                  <a:pt x="2459482" y="733069"/>
                </a:lnTo>
                <a:lnTo>
                  <a:pt x="2459482" y="990879"/>
                </a:lnTo>
                <a:lnTo>
                  <a:pt x="2458453" y="1005489"/>
                </a:lnTo>
                <a:lnTo>
                  <a:pt x="2444157" y="1044974"/>
                </a:lnTo>
                <a:lnTo>
                  <a:pt x="2416004" y="1074995"/>
                </a:lnTo>
                <a:lnTo>
                  <a:pt x="2377796" y="1091768"/>
                </a:lnTo>
                <a:lnTo>
                  <a:pt x="1111758" y="1094003"/>
                </a:lnTo>
                <a:lnTo>
                  <a:pt x="534162" y="1094003"/>
                </a:lnTo>
                <a:lnTo>
                  <a:pt x="252222" y="1094003"/>
                </a:lnTo>
                <a:lnTo>
                  <a:pt x="237624" y="1092976"/>
                </a:lnTo>
                <a:lnTo>
                  <a:pt x="198152" y="1078692"/>
                </a:lnTo>
                <a:lnTo>
                  <a:pt x="168121" y="1050550"/>
                </a:lnTo>
                <a:lnTo>
                  <a:pt x="151335" y="1012334"/>
                </a:lnTo>
                <a:lnTo>
                  <a:pt x="149098" y="733069"/>
                </a:lnTo>
                <a:lnTo>
                  <a:pt x="149098" y="578383"/>
                </a:lnTo>
                <a:close/>
              </a:path>
            </a:pathLst>
          </a:custGeom>
          <a:ln w="28955">
            <a:solidFill>
              <a:srgbClr val="000000"/>
            </a:solidFill>
          </a:ln>
        </p:spPr>
        <p:txBody>
          <a:bodyPr wrap="square" lIns="0" tIns="0" rIns="0" bIns="0" rtlCol="0"/>
          <a:lstStyle/>
          <a:p>
            <a:endParaRPr/>
          </a:p>
        </p:txBody>
      </p:sp>
      <p:sp>
        <p:nvSpPr>
          <p:cNvPr id="19" name="object 19"/>
          <p:cNvSpPr/>
          <p:nvPr/>
        </p:nvSpPr>
        <p:spPr>
          <a:xfrm>
            <a:off x="6963918" y="3853434"/>
            <a:ext cx="3400425" cy="1245235"/>
          </a:xfrm>
          <a:custGeom>
            <a:avLst/>
            <a:gdLst/>
            <a:ahLst/>
            <a:cxnLst/>
            <a:rect l="l" t="t" r="r" b="b"/>
            <a:pathLst>
              <a:path w="3400425" h="1245235">
                <a:moveTo>
                  <a:pt x="3192526" y="0"/>
                </a:moveTo>
                <a:lnTo>
                  <a:pt x="207517" y="0"/>
                </a:lnTo>
                <a:lnTo>
                  <a:pt x="190505" y="688"/>
                </a:lnTo>
                <a:lnTo>
                  <a:pt x="141947" y="10584"/>
                </a:lnTo>
                <a:lnTo>
                  <a:pt x="98230" y="31104"/>
                </a:lnTo>
                <a:lnTo>
                  <a:pt x="60801" y="60801"/>
                </a:lnTo>
                <a:lnTo>
                  <a:pt x="31104" y="98230"/>
                </a:lnTo>
                <a:lnTo>
                  <a:pt x="10584" y="141947"/>
                </a:lnTo>
                <a:lnTo>
                  <a:pt x="688" y="190505"/>
                </a:lnTo>
                <a:lnTo>
                  <a:pt x="0" y="207518"/>
                </a:lnTo>
                <a:lnTo>
                  <a:pt x="0" y="1037590"/>
                </a:lnTo>
                <a:lnTo>
                  <a:pt x="6034" y="1087441"/>
                </a:lnTo>
                <a:lnTo>
                  <a:pt x="23173" y="1132932"/>
                </a:lnTo>
                <a:lnTo>
                  <a:pt x="49971" y="1172618"/>
                </a:lnTo>
                <a:lnTo>
                  <a:pt x="84984" y="1205053"/>
                </a:lnTo>
                <a:lnTo>
                  <a:pt x="126765" y="1228792"/>
                </a:lnTo>
                <a:lnTo>
                  <a:pt x="173870" y="1242390"/>
                </a:lnTo>
                <a:lnTo>
                  <a:pt x="207517" y="1245108"/>
                </a:lnTo>
                <a:lnTo>
                  <a:pt x="3192526" y="1245108"/>
                </a:lnTo>
                <a:lnTo>
                  <a:pt x="3242377" y="1239073"/>
                </a:lnTo>
                <a:lnTo>
                  <a:pt x="3287868" y="1221934"/>
                </a:lnTo>
                <a:lnTo>
                  <a:pt x="3327554" y="1195136"/>
                </a:lnTo>
                <a:lnTo>
                  <a:pt x="3359989" y="1160123"/>
                </a:lnTo>
                <a:lnTo>
                  <a:pt x="3383728" y="1118342"/>
                </a:lnTo>
                <a:lnTo>
                  <a:pt x="3397326" y="1071237"/>
                </a:lnTo>
                <a:lnTo>
                  <a:pt x="3400043" y="1037590"/>
                </a:lnTo>
                <a:lnTo>
                  <a:pt x="3400043" y="207518"/>
                </a:lnTo>
                <a:lnTo>
                  <a:pt x="3394009" y="157666"/>
                </a:lnTo>
                <a:lnTo>
                  <a:pt x="3376870" y="112175"/>
                </a:lnTo>
                <a:lnTo>
                  <a:pt x="3350072" y="72489"/>
                </a:lnTo>
                <a:lnTo>
                  <a:pt x="3315059" y="40054"/>
                </a:lnTo>
                <a:lnTo>
                  <a:pt x="3273278" y="16315"/>
                </a:lnTo>
                <a:lnTo>
                  <a:pt x="3226173" y="2717"/>
                </a:lnTo>
                <a:lnTo>
                  <a:pt x="3192526" y="0"/>
                </a:lnTo>
                <a:close/>
              </a:path>
            </a:pathLst>
          </a:custGeom>
          <a:solidFill>
            <a:srgbClr val="FFFFC7"/>
          </a:solidFill>
        </p:spPr>
        <p:txBody>
          <a:bodyPr wrap="square" lIns="0" tIns="0" rIns="0" bIns="0" rtlCol="0"/>
          <a:lstStyle/>
          <a:p>
            <a:endParaRPr/>
          </a:p>
        </p:txBody>
      </p:sp>
      <p:sp>
        <p:nvSpPr>
          <p:cNvPr id="20" name="object 20"/>
          <p:cNvSpPr/>
          <p:nvPr/>
        </p:nvSpPr>
        <p:spPr>
          <a:xfrm>
            <a:off x="6963918" y="3853434"/>
            <a:ext cx="3400425" cy="1245235"/>
          </a:xfrm>
          <a:custGeom>
            <a:avLst/>
            <a:gdLst/>
            <a:ahLst/>
            <a:cxnLst/>
            <a:rect l="l" t="t" r="r" b="b"/>
            <a:pathLst>
              <a:path w="3400425" h="1245235">
                <a:moveTo>
                  <a:pt x="0" y="207518"/>
                </a:moveTo>
                <a:lnTo>
                  <a:pt x="6034" y="157666"/>
                </a:lnTo>
                <a:lnTo>
                  <a:pt x="23173" y="112175"/>
                </a:lnTo>
                <a:lnTo>
                  <a:pt x="49971" y="72489"/>
                </a:lnTo>
                <a:lnTo>
                  <a:pt x="84984" y="40054"/>
                </a:lnTo>
                <a:lnTo>
                  <a:pt x="126765" y="16315"/>
                </a:lnTo>
                <a:lnTo>
                  <a:pt x="173870" y="2717"/>
                </a:lnTo>
                <a:lnTo>
                  <a:pt x="207517" y="0"/>
                </a:lnTo>
                <a:lnTo>
                  <a:pt x="566674" y="0"/>
                </a:lnTo>
                <a:lnTo>
                  <a:pt x="916051" y="0"/>
                </a:lnTo>
                <a:lnTo>
                  <a:pt x="1416684" y="0"/>
                </a:lnTo>
                <a:lnTo>
                  <a:pt x="3192526" y="0"/>
                </a:lnTo>
                <a:lnTo>
                  <a:pt x="3209538" y="688"/>
                </a:lnTo>
                <a:lnTo>
                  <a:pt x="3258096" y="10584"/>
                </a:lnTo>
                <a:lnTo>
                  <a:pt x="3301813" y="31104"/>
                </a:lnTo>
                <a:lnTo>
                  <a:pt x="3339242" y="60801"/>
                </a:lnTo>
                <a:lnTo>
                  <a:pt x="3368939" y="98230"/>
                </a:lnTo>
                <a:lnTo>
                  <a:pt x="3389459" y="141947"/>
                </a:lnTo>
                <a:lnTo>
                  <a:pt x="3399355" y="190505"/>
                </a:lnTo>
                <a:lnTo>
                  <a:pt x="3400043" y="207518"/>
                </a:lnTo>
                <a:lnTo>
                  <a:pt x="3400043" y="518795"/>
                </a:lnTo>
                <a:lnTo>
                  <a:pt x="3400043" y="1037590"/>
                </a:lnTo>
                <a:lnTo>
                  <a:pt x="3399355" y="1054602"/>
                </a:lnTo>
                <a:lnTo>
                  <a:pt x="3389459" y="1103160"/>
                </a:lnTo>
                <a:lnTo>
                  <a:pt x="3368939" y="1146877"/>
                </a:lnTo>
                <a:lnTo>
                  <a:pt x="3339242" y="1184306"/>
                </a:lnTo>
                <a:lnTo>
                  <a:pt x="3301813" y="1214003"/>
                </a:lnTo>
                <a:lnTo>
                  <a:pt x="3258096" y="1234523"/>
                </a:lnTo>
                <a:lnTo>
                  <a:pt x="3209538" y="1244419"/>
                </a:lnTo>
                <a:lnTo>
                  <a:pt x="3192526" y="1245108"/>
                </a:lnTo>
                <a:lnTo>
                  <a:pt x="1416684" y="1245108"/>
                </a:lnTo>
                <a:lnTo>
                  <a:pt x="566674" y="1245108"/>
                </a:lnTo>
                <a:lnTo>
                  <a:pt x="207517" y="1245108"/>
                </a:lnTo>
                <a:lnTo>
                  <a:pt x="190505" y="1244419"/>
                </a:lnTo>
                <a:lnTo>
                  <a:pt x="141947" y="1234523"/>
                </a:lnTo>
                <a:lnTo>
                  <a:pt x="98230" y="1214003"/>
                </a:lnTo>
                <a:lnTo>
                  <a:pt x="60801" y="1184306"/>
                </a:lnTo>
                <a:lnTo>
                  <a:pt x="31104" y="1146877"/>
                </a:lnTo>
                <a:lnTo>
                  <a:pt x="10584" y="1103160"/>
                </a:lnTo>
                <a:lnTo>
                  <a:pt x="688" y="1054602"/>
                </a:lnTo>
                <a:lnTo>
                  <a:pt x="0" y="1037590"/>
                </a:lnTo>
                <a:lnTo>
                  <a:pt x="0" y="518795"/>
                </a:lnTo>
                <a:lnTo>
                  <a:pt x="0" y="207518"/>
                </a:lnTo>
                <a:close/>
              </a:path>
            </a:pathLst>
          </a:custGeom>
          <a:ln w="28956">
            <a:solidFill>
              <a:srgbClr val="000000"/>
            </a:solidFill>
          </a:ln>
        </p:spPr>
        <p:txBody>
          <a:bodyPr wrap="square" lIns="0" tIns="0" rIns="0" bIns="0" rtlCol="0"/>
          <a:lstStyle/>
          <a:p>
            <a:endParaRPr/>
          </a:p>
        </p:txBody>
      </p:sp>
      <p:sp>
        <p:nvSpPr>
          <p:cNvPr id="21" name="object 21"/>
          <p:cNvSpPr txBox="1"/>
          <p:nvPr/>
        </p:nvSpPr>
        <p:spPr>
          <a:xfrm>
            <a:off x="7103491" y="4333303"/>
            <a:ext cx="3088640" cy="1266825"/>
          </a:xfrm>
          <a:prstGeom prst="rect">
            <a:avLst/>
          </a:prstGeom>
        </p:spPr>
        <p:txBody>
          <a:bodyPr vert="horz" wrap="square" lIns="0" tIns="0" rIns="0" bIns="0" rtlCol="0">
            <a:spAutoFit/>
          </a:bodyPr>
          <a:lstStyle/>
          <a:p>
            <a:pPr marL="12700" marR="5080">
              <a:lnSpc>
                <a:spcPts val="2770"/>
              </a:lnSpc>
            </a:pPr>
            <a:r>
              <a:rPr sz="2400" b="1" dirty="0">
                <a:latin typeface="宋体"/>
                <a:cs typeface="宋体"/>
              </a:rPr>
              <a:t>的一种安全机制，以避 </a:t>
            </a:r>
            <a:r>
              <a:rPr sz="3600" b="1" spc="-3427" baseline="1157" dirty="0">
                <a:latin typeface="宋体"/>
                <a:cs typeface="宋体"/>
              </a:rPr>
              <a:t>免</a:t>
            </a:r>
            <a:r>
              <a:rPr sz="2400" b="1" spc="-5" dirty="0">
                <a:solidFill>
                  <a:srgbClr val="008200"/>
                </a:solidFill>
                <a:latin typeface="Consolas"/>
                <a:cs typeface="Consolas"/>
              </a:rPr>
              <a:t>/</a:t>
            </a:r>
            <a:r>
              <a:rPr sz="2400" b="1" spc="-365" dirty="0">
                <a:solidFill>
                  <a:srgbClr val="008200"/>
                </a:solidFill>
                <a:latin typeface="Consolas"/>
                <a:cs typeface="Consolas"/>
              </a:rPr>
              <a:t>/</a:t>
            </a:r>
            <a:r>
              <a:rPr sz="3600" b="1" spc="-1072" baseline="1157" dirty="0">
                <a:latin typeface="宋体"/>
                <a:cs typeface="宋体"/>
              </a:rPr>
              <a:t>对</a:t>
            </a:r>
            <a:r>
              <a:rPr sz="2400" b="1" spc="-615" dirty="0">
                <a:solidFill>
                  <a:srgbClr val="008200"/>
                </a:solidFill>
                <a:latin typeface="Consolas"/>
                <a:cs typeface="Consolas"/>
              </a:rPr>
              <a:t>D</a:t>
            </a:r>
            <a:r>
              <a:rPr sz="3600" b="1" spc="-2707" baseline="1157" dirty="0">
                <a:latin typeface="宋体"/>
                <a:cs typeface="宋体"/>
              </a:rPr>
              <a:t>外</a:t>
            </a:r>
            <a:r>
              <a:rPr sz="2400" b="1" spc="-5" dirty="0">
                <a:solidFill>
                  <a:srgbClr val="008200"/>
                </a:solidFill>
                <a:latin typeface="Consolas"/>
                <a:cs typeface="Consolas"/>
              </a:rPr>
              <a:t>M</a:t>
            </a:r>
            <a:r>
              <a:rPr sz="2400" b="1" spc="-840" dirty="0">
                <a:solidFill>
                  <a:srgbClr val="008200"/>
                </a:solidFill>
                <a:latin typeface="Consolas"/>
                <a:cs typeface="Consolas"/>
              </a:rPr>
              <a:t>A</a:t>
            </a:r>
            <a:r>
              <a:rPr sz="3600" b="1" spc="-2354" baseline="1157" dirty="0">
                <a:latin typeface="宋体"/>
                <a:cs typeface="宋体"/>
              </a:rPr>
              <a:t>设</a:t>
            </a:r>
            <a:r>
              <a:rPr sz="2400" b="1" spc="-830" dirty="0">
                <a:solidFill>
                  <a:srgbClr val="008200"/>
                </a:solidFill>
                <a:latin typeface="微软雅黑"/>
                <a:cs typeface="微软雅黑"/>
              </a:rPr>
              <a:t>通</a:t>
            </a:r>
            <a:r>
              <a:rPr sz="3600" b="1" spc="-2377" baseline="1157" dirty="0">
                <a:latin typeface="宋体"/>
                <a:cs typeface="宋体"/>
              </a:rPr>
              <a:t>的</a:t>
            </a:r>
            <a:r>
              <a:rPr sz="2400" b="1" spc="-819" dirty="0">
                <a:solidFill>
                  <a:srgbClr val="008200"/>
                </a:solidFill>
                <a:latin typeface="微软雅黑"/>
                <a:cs typeface="微软雅黑"/>
              </a:rPr>
              <a:t>道</a:t>
            </a:r>
            <a:r>
              <a:rPr sz="3600" b="1" spc="-2392" baseline="1157" dirty="0">
                <a:latin typeface="宋体"/>
                <a:cs typeface="宋体"/>
              </a:rPr>
              <a:t>并</a:t>
            </a:r>
            <a:r>
              <a:rPr sz="2400" b="1" spc="-805" dirty="0">
                <a:solidFill>
                  <a:srgbClr val="008200"/>
                </a:solidFill>
                <a:latin typeface="微软雅黑"/>
                <a:cs typeface="微软雅黑"/>
              </a:rPr>
              <a:t>句</a:t>
            </a:r>
            <a:r>
              <a:rPr sz="3600" b="1" spc="-2415" baseline="1157" dirty="0">
                <a:latin typeface="宋体"/>
                <a:cs typeface="宋体"/>
              </a:rPr>
              <a:t>发</a:t>
            </a:r>
            <a:r>
              <a:rPr sz="2400" b="1" spc="-795" dirty="0">
                <a:solidFill>
                  <a:srgbClr val="008200"/>
                </a:solidFill>
                <a:latin typeface="微软雅黑"/>
                <a:cs typeface="微软雅黑"/>
              </a:rPr>
              <a:t>柄</a:t>
            </a:r>
            <a:r>
              <a:rPr sz="3600" b="1" spc="-2429" baseline="1157" dirty="0">
                <a:latin typeface="宋体"/>
                <a:cs typeface="宋体"/>
              </a:rPr>
              <a:t>访</a:t>
            </a:r>
            <a:r>
              <a:rPr sz="2400" b="1" spc="-780" dirty="0">
                <a:solidFill>
                  <a:srgbClr val="008200"/>
                </a:solidFill>
                <a:latin typeface="微软雅黑"/>
                <a:cs typeface="微软雅黑"/>
              </a:rPr>
              <a:t>定</a:t>
            </a:r>
            <a:r>
              <a:rPr sz="3600" b="1" spc="-2445" baseline="1157" dirty="0">
                <a:latin typeface="宋体"/>
                <a:cs typeface="宋体"/>
              </a:rPr>
              <a:t>问</a:t>
            </a:r>
            <a:r>
              <a:rPr sz="2400" b="1" dirty="0">
                <a:solidFill>
                  <a:srgbClr val="008200"/>
                </a:solidFill>
                <a:latin typeface="微软雅黑"/>
                <a:cs typeface="微软雅黑"/>
              </a:rPr>
              <a:t>义</a:t>
            </a:r>
            <a:endParaRPr sz="2400">
              <a:latin typeface="微软雅黑"/>
              <a:cs typeface="微软雅黑"/>
            </a:endParaRPr>
          </a:p>
          <a:p>
            <a:pPr marL="28575">
              <a:lnSpc>
                <a:spcPct val="100000"/>
              </a:lnSpc>
              <a:spcBef>
                <a:spcPts val="1365"/>
              </a:spcBef>
            </a:pPr>
            <a:r>
              <a:rPr sz="2400" b="1" spc="-5" dirty="0">
                <a:solidFill>
                  <a:srgbClr val="008200"/>
                </a:solidFill>
                <a:latin typeface="Consolas"/>
                <a:cs typeface="Consolas"/>
              </a:rPr>
              <a:t>/</a:t>
            </a:r>
            <a:r>
              <a:rPr sz="2400" b="1" dirty="0">
                <a:solidFill>
                  <a:srgbClr val="008200"/>
                </a:solidFill>
                <a:latin typeface="Consolas"/>
                <a:cs typeface="Consolas"/>
              </a:rPr>
              <a:t>/</a:t>
            </a:r>
            <a:r>
              <a:rPr sz="2400" b="1" spc="20" dirty="0">
                <a:solidFill>
                  <a:srgbClr val="008200"/>
                </a:solidFill>
                <a:latin typeface="Consolas"/>
                <a:cs typeface="Consolas"/>
              </a:rPr>
              <a:t> </a:t>
            </a:r>
            <a:r>
              <a:rPr sz="2400" b="1" spc="-5" dirty="0">
                <a:solidFill>
                  <a:srgbClr val="008200"/>
                </a:solidFill>
                <a:latin typeface="微软雅黑"/>
                <a:cs typeface="微软雅黑"/>
              </a:rPr>
              <a:t>保护锁类型定义</a:t>
            </a:r>
            <a:endParaRPr sz="2400">
              <a:latin typeface="微软雅黑"/>
              <a:cs typeface="微软雅黑"/>
            </a:endParaRPr>
          </a:p>
        </p:txBody>
      </p:sp>
      <p:sp>
        <p:nvSpPr>
          <p:cNvPr id="22" name="object 22"/>
          <p:cNvSpPr txBox="1"/>
          <p:nvPr/>
        </p:nvSpPr>
        <p:spPr>
          <a:xfrm>
            <a:off x="7119873" y="5800536"/>
            <a:ext cx="3274695" cy="83439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a:t>
            </a:r>
            <a:r>
              <a:rPr sz="2400" b="1" spc="20" dirty="0">
                <a:solidFill>
                  <a:srgbClr val="008200"/>
                </a:solidFill>
                <a:latin typeface="Consolas"/>
                <a:cs typeface="Consolas"/>
              </a:rPr>
              <a:t> </a:t>
            </a:r>
            <a:r>
              <a:rPr sz="2400" b="1" dirty="0">
                <a:solidFill>
                  <a:srgbClr val="008200"/>
                </a:solidFill>
                <a:latin typeface="微软雅黑"/>
                <a:cs typeface="微软雅黑"/>
              </a:rPr>
              <a:t>定时器运行状态定义</a:t>
            </a:r>
            <a:endParaRPr sz="2400">
              <a:latin typeface="微软雅黑"/>
              <a:cs typeface="微软雅黑"/>
            </a:endParaRPr>
          </a:p>
          <a:p>
            <a:pPr marL="515620">
              <a:lnSpc>
                <a:spcPts val="2835"/>
              </a:lnSpc>
              <a:spcBef>
                <a:spcPts val="1225"/>
              </a:spcBef>
            </a:pPr>
            <a:r>
              <a:rPr sz="2400" b="1" dirty="0">
                <a:latin typeface="宋体"/>
                <a:cs typeface="宋体"/>
              </a:rPr>
              <a:t>外设状态</a:t>
            </a:r>
            <a:endParaRPr sz="2400">
              <a:latin typeface="宋体"/>
              <a:cs typeface="宋体"/>
            </a:endParaRPr>
          </a:p>
        </p:txBody>
      </p:sp>
      <p:sp>
        <p:nvSpPr>
          <p:cNvPr id="23" name="object 23"/>
          <p:cNvSpPr txBox="1"/>
          <p:nvPr/>
        </p:nvSpPr>
        <p:spPr>
          <a:xfrm>
            <a:off x="436270" y="6367167"/>
            <a:ext cx="3848735" cy="330200"/>
          </a:xfrm>
          <a:prstGeom prst="rect">
            <a:avLst/>
          </a:prstGeom>
        </p:spPr>
        <p:txBody>
          <a:bodyPr vert="horz" wrap="square" lIns="0" tIns="0" rIns="0" bIns="0" rtlCol="0">
            <a:spAutoFit/>
          </a:bodyPr>
          <a:lstStyle/>
          <a:p>
            <a:pPr marL="12700">
              <a:lnSpc>
                <a:spcPct val="100000"/>
              </a:lnSpc>
            </a:pPr>
            <a:r>
              <a:rPr sz="2400" b="1" spc="-5" dirty="0">
                <a:solidFill>
                  <a:srgbClr val="008200"/>
                </a:solidFill>
                <a:latin typeface="Consolas"/>
                <a:cs typeface="Consolas"/>
              </a:rPr>
              <a:t>9.</a:t>
            </a:r>
            <a:r>
              <a:rPr sz="2400" b="1" spc="-360" dirty="0">
                <a:solidFill>
                  <a:srgbClr val="008200"/>
                </a:solidFill>
                <a:latin typeface="Consolas"/>
                <a:cs typeface="Consolas"/>
              </a:rPr>
              <a:t> </a:t>
            </a:r>
            <a:r>
              <a:rPr sz="2400" b="1" spc="-5" dirty="0">
                <a:latin typeface="Consolas"/>
                <a:cs typeface="Consolas"/>
              </a:rPr>
              <a:t>}</a:t>
            </a:r>
            <a:r>
              <a:rPr sz="2400" b="1" dirty="0">
                <a:latin typeface="Consolas"/>
                <a:cs typeface="Consolas"/>
              </a:rPr>
              <a:t> </a:t>
            </a:r>
            <a:r>
              <a:rPr sz="2400" b="1" spc="0" dirty="0">
                <a:latin typeface="Consolas"/>
                <a:cs typeface="Consolas"/>
              </a:rPr>
              <a:t>T</a:t>
            </a:r>
            <a:r>
              <a:rPr sz="2400" b="1" spc="-5" dirty="0">
                <a:latin typeface="Consolas"/>
                <a:cs typeface="Consolas"/>
              </a:rPr>
              <a:t>IM</a:t>
            </a:r>
            <a:r>
              <a:rPr sz="2400" b="1" spc="0" dirty="0">
                <a:latin typeface="Consolas"/>
                <a:cs typeface="Consolas"/>
              </a:rPr>
              <a:t>_</a:t>
            </a:r>
            <a:r>
              <a:rPr sz="2400" b="1" spc="-5" dirty="0">
                <a:latin typeface="Consolas"/>
                <a:cs typeface="Consolas"/>
              </a:rPr>
              <a:t>H</a:t>
            </a:r>
            <a:r>
              <a:rPr sz="2400" b="1" spc="0" dirty="0">
                <a:latin typeface="Consolas"/>
                <a:cs typeface="Consolas"/>
              </a:rPr>
              <a:t>an</a:t>
            </a:r>
            <a:r>
              <a:rPr sz="2400" b="1" spc="-5" dirty="0">
                <a:latin typeface="Consolas"/>
                <a:cs typeface="Consolas"/>
              </a:rPr>
              <a:t>dl</a:t>
            </a:r>
            <a:r>
              <a:rPr sz="2400" b="1" spc="0" dirty="0">
                <a:latin typeface="Consolas"/>
                <a:cs typeface="Consolas"/>
              </a:rPr>
              <a:t>e</a:t>
            </a:r>
            <a:r>
              <a:rPr sz="2400" b="1" spc="-5" dirty="0">
                <a:latin typeface="Consolas"/>
                <a:cs typeface="Consolas"/>
              </a:rPr>
              <a:t>Ty</a:t>
            </a:r>
            <a:r>
              <a:rPr sz="2400" b="1" spc="0" dirty="0">
                <a:latin typeface="Consolas"/>
                <a:cs typeface="Consolas"/>
              </a:rPr>
              <a:t>p</a:t>
            </a:r>
            <a:r>
              <a:rPr sz="2400" b="1" spc="-5" dirty="0">
                <a:latin typeface="Consolas"/>
                <a:cs typeface="Consolas"/>
              </a:rPr>
              <a:t>e</a:t>
            </a:r>
            <a:r>
              <a:rPr sz="2400" b="1" spc="0" dirty="0">
                <a:latin typeface="Consolas"/>
                <a:cs typeface="Consolas"/>
              </a:rPr>
              <a:t>De</a:t>
            </a:r>
            <a:r>
              <a:rPr sz="2400" b="1" spc="10" dirty="0">
                <a:latin typeface="Consolas"/>
                <a:cs typeface="Consolas"/>
              </a:rPr>
              <a:t>f</a:t>
            </a:r>
            <a:r>
              <a:rPr sz="2400" b="1" spc="-5" dirty="0">
                <a:latin typeface="Consolas"/>
                <a:cs typeface="Consolas"/>
              </a:rPr>
              <a:t>;</a:t>
            </a:r>
            <a:endParaRPr sz="2400">
              <a:latin typeface="Consolas"/>
              <a:cs typeface="Consolas"/>
            </a:endParaRPr>
          </a:p>
        </p:txBody>
      </p:sp>
      <p:sp>
        <p:nvSpPr>
          <p:cNvPr id="24" name="object 24"/>
          <p:cNvSpPr txBox="1"/>
          <p:nvPr/>
        </p:nvSpPr>
        <p:spPr>
          <a:xfrm>
            <a:off x="189992" y="1162674"/>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定时器句柄</a:t>
            </a:r>
            <a:endParaRPr sz="2400">
              <a:latin typeface="微软雅黑"/>
              <a:cs typeface="微软雅黑"/>
            </a:endParaRPr>
          </a:p>
        </p:txBody>
      </p:sp>
      <p:sp>
        <p:nvSpPr>
          <p:cNvPr id="25" name="object 25"/>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26" name="object 26"/>
          <p:cNvSpPr txBox="1">
            <a:spLocks noGrp="1"/>
          </p:cNvSpPr>
          <p:nvPr>
            <p:ph type="title"/>
          </p:nvPr>
        </p:nvSpPr>
        <p:spPr>
          <a:prstGeom prst="rect">
            <a:avLst/>
          </a:prstGeom>
        </p:spPr>
        <p:txBody>
          <a:bodyPr vert="horz" wrap="square" lIns="0" tIns="0" rIns="0" bIns="0" rtlCol="0">
            <a:spAutoFit/>
          </a:bodyPr>
          <a:lstStyle/>
          <a:p>
            <a:pPr marL="4236085">
              <a:lnSpc>
                <a:spcPct val="100000"/>
              </a:lnSpc>
            </a:pPr>
            <a:r>
              <a:rPr spc="-5" dirty="0">
                <a:solidFill>
                  <a:srgbClr val="252525"/>
                </a:solidFill>
              </a:rPr>
              <a:t>定时器句柄结构的组成</a:t>
            </a:r>
          </a:p>
        </p:txBody>
      </p:sp>
      <p:sp>
        <p:nvSpPr>
          <p:cNvPr id="27" name="object 27"/>
          <p:cNvSpPr txBox="1"/>
          <p:nvPr/>
        </p:nvSpPr>
        <p:spPr>
          <a:xfrm>
            <a:off x="7103491" y="3945953"/>
            <a:ext cx="2980690" cy="365760"/>
          </a:xfrm>
          <a:prstGeom prst="rect">
            <a:avLst/>
          </a:prstGeom>
        </p:spPr>
        <p:txBody>
          <a:bodyPr vert="horz" wrap="square" lIns="0" tIns="0" rIns="0" bIns="0" rtlCol="0">
            <a:spAutoFit/>
          </a:bodyPr>
          <a:lstStyle/>
          <a:p>
            <a:pPr marL="12700">
              <a:lnSpc>
                <a:spcPct val="100000"/>
              </a:lnSpc>
            </a:pPr>
            <a:r>
              <a:rPr sz="2400" b="1" dirty="0">
                <a:latin typeface="宋体"/>
                <a:cs typeface="宋体"/>
              </a:rPr>
              <a:t>保护锁是</a:t>
            </a:r>
            <a:r>
              <a:rPr sz="2400" b="1" spc="-5" dirty="0">
                <a:latin typeface="Consolas"/>
                <a:cs typeface="Consolas"/>
              </a:rPr>
              <a:t>HAL</a:t>
            </a:r>
            <a:r>
              <a:rPr sz="2400" b="1" dirty="0">
                <a:latin typeface="宋体"/>
                <a:cs typeface="宋体"/>
              </a:rPr>
              <a:t>库中提供</a:t>
            </a:r>
            <a:endParaRPr sz="2400">
              <a:latin typeface="宋体"/>
              <a:cs typeface="宋体"/>
            </a:endParaRPr>
          </a:p>
        </p:txBody>
      </p:sp>
      <p:sp>
        <p:nvSpPr>
          <p:cNvPr id="28" name="object 28"/>
          <p:cNvSpPr/>
          <p:nvPr/>
        </p:nvSpPr>
        <p:spPr>
          <a:xfrm>
            <a:off x="1242974" y="6104253"/>
            <a:ext cx="335915" cy="0"/>
          </a:xfrm>
          <a:custGeom>
            <a:avLst/>
            <a:gdLst/>
            <a:ahLst/>
            <a:cxnLst/>
            <a:rect l="l" t="t" r="r" b="b"/>
            <a:pathLst>
              <a:path w="335915">
                <a:moveTo>
                  <a:pt x="0" y="0"/>
                </a:moveTo>
                <a:lnTo>
                  <a:pt x="335399" y="0"/>
                </a:lnTo>
              </a:path>
            </a:pathLst>
          </a:custGeom>
          <a:ln w="28727">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495746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47955" y="1182486"/>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外设编程模型</a:t>
            </a:r>
            <a:endParaRPr sz="2400">
              <a:latin typeface="微软雅黑"/>
              <a:cs typeface="微软雅黑"/>
            </a:endParaRPr>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p:nvPr/>
        </p:nvSpPr>
        <p:spPr>
          <a:xfrm>
            <a:off x="3158998" y="1154994"/>
            <a:ext cx="2868930" cy="381000"/>
          </a:xfrm>
          <a:prstGeom prst="rect">
            <a:avLst/>
          </a:prstGeom>
        </p:spPr>
        <p:txBody>
          <a:bodyPr vert="horz" wrap="square" lIns="0" tIns="0" rIns="0" bIns="0" rtlCol="0">
            <a:spAutoFit/>
          </a:bodyPr>
          <a:lstStyle/>
          <a:p>
            <a:pPr marL="12700">
              <a:lnSpc>
                <a:spcPct val="100000"/>
              </a:lnSpc>
            </a:pPr>
            <a:r>
              <a:rPr sz="2800" b="1" spc="-5" dirty="0">
                <a:solidFill>
                  <a:srgbClr val="252525"/>
                </a:solidFill>
                <a:latin typeface="微软雅黑"/>
                <a:cs typeface="微软雅黑"/>
              </a:rPr>
              <a:t>三种外设编程模型</a:t>
            </a:r>
            <a:endParaRPr sz="2800">
              <a:latin typeface="微软雅黑"/>
              <a:cs typeface="微软雅黑"/>
            </a:endParaRPr>
          </a:p>
        </p:txBody>
      </p:sp>
      <p:sp>
        <p:nvSpPr>
          <p:cNvPr id="14" name="object 14"/>
          <p:cNvSpPr/>
          <p:nvPr/>
        </p:nvSpPr>
        <p:spPr>
          <a:xfrm>
            <a:off x="749808" y="4183198"/>
            <a:ext cx="1091565" cy="1870710"/>
          </a:xfrm>
          <a:custGeom>
            <a:avLst/>
            <a:gdLst/>
            <a:ahLst/>
            <a:cxnLst/>
            <a:rect l="l" t="t" r="r" b="b"/>
            <a:pathLst>
              <a:path w="1091564" h="1870710">
                <a:moveTo>
                  <a:pt x="58469" y="0"/>
                </a:moveTo>
                <a:lnTo>
                  <a:pt x="27320" y="30951"/>
                </a:lnTo>
                <a:lnTo>
                  <a:pt x="8759" y="87644"/>
                </a:lnTo>
                <a:lnTo>
                  <a:pt x="0" y="141786"/>
                </a:lnTo>
                <a:lnTo>
                  <a:pt x="0" y="1383338"/>
                </a:lnTo>
                <a:lnTo>
                  <a:pt x="2736" y="1448945"/>
                </a:lnTo>
                <a:lnTo>
                  <a:pt x="9822" y="1506751"/>
                </a:lnTo>
                <a:lnTo>
                  <a:pt x="21681" y="1556991"/>
                </a:lnTo>
                <a:lnTo>
                  <a:pt x="38732" y="1599901"/>
                </a:lnTo>
                <a:lnTo>
                  <a:pt x="61398" y="1635714"/>
                </a:lnTo>
                <a:lnTo>
                  <a:pt x="90098" y="1664667"/>
                </a:lnTo>
                <a:lnTo>
                  <a:pt x="125255" y="1686994"/>
                </a:lnTo>
                <a:lnTo>
                  <a:pt x="167288" y="1702931"/>
                </a:lnTo>
                <a:lnTo>
                  <a:pt x="216620" y="1712712"/>
                </a:lnTo>
                <a:lnTo>
                  <a:pt x="273672" y="1716573"/>
                </a:lnTo>
                <a:lnTo>
                  <a:pt x="835025" y="1719837"/>
                </a:lnTo>
                <a:lnTo>
                  <a:pt x="832738" y="1870129"/>
                </a:lnTo>
                <a:lnTo>
                  <a:pt x="1091184" y="1620193"/>
                </a:lnTo>
                <a:lnTo>
                  <a:pt x="1018067" y="1540145"/>
                </a:lnTo>
                <a:lnTo>
                  <a:pt x="842010" y="1540145"/>
                </a:lnTo>
                <a:lnTo>
                  <a:pt x="308762" y="1527077"/>
                </a:lnTo>
                <a:lnTo>
                  <a:pt x="268319" y="1524924"/>
                </a:lnTo>
                <a:lnTo>
                  <a:pt x="223075" y="1514963"/>
                </a:lnTo>
                <a:lnTo>
                  <a:pt x="188162" y="1487991"/>
                </a:lnTo>
                <a:lnTo>
                  <a:pt x="169027" y="1450750"/>
                </a:lnTo>
                <a:lnTo>
                  <a:pt x="156146" y="1394373"/>
                </a:lnTo>
                <a:lnTo>
                  <a:pt x="151126" y="1344131"/>
                </a:lnTo>
                <a:lnTo>
                  <a:pt x="138010" y="164646"/>
                </a:lnTo>
                <a:lnTo>
                  <a:pt x="133217" y="135168"/>
                </a:lnTo>
                <a:lnTo>
                  <a:pt x="121459" y="84703"/>
                </a:lnTo>
                <a:lnTo>
                  <a:pt x="107397" y="45738"/>
                </a:lnTo>
                <a:lnTo>
                  <a:pt x="83533" y="9326"/>
                </a:lnTo>
                <a:lnTo>
                  <a:pt x="66809" y="54"/>
                </a:lnTo>
                <a:lnTo>
                  <a:pt x="58469" y="0"/>
                </a:lnTo>
                <a:close/>
              </a:path>
              <a:path w="1091564" h="1870710">
                <a:moveTo>
                  <a:pt x="842010" y="1347397"/>
                </a:moveTo>
                <a:lnTo>
                  <a:pt x="842010" y="1540145"/>
                </a:lnTo>
                <a:lnTo>
                  <a:pt x="1018067" y="1540145"/>
                </a:lnTo>
                <a:lnTo>
                  <a:pt x="842010" y="1347397"/>
                </a:lnTo>
                <a:close/>
              </a:path>
            </a:pathLst>
          </a:custGeom>
          <a:solidFill>
            <a:srgbClr val="A6A6A6"/>
          </a:solidFill>
        </p:spPr>
        <p:txBody>
          <a:bodyPr wrap="square" lIns="0" tIns="0" rIns="0" bIns="0" rtlCol="0"/>
          <a:lstStyle/>
          <a:p>
            <a:endParaRPr/>
          </a:p>
        </p:txBody>
      </p:sp>
      <p:sp>
        <p:nvSpPr>
          <p:cNvPr id="15" name="object 15"/>
          <p:cNvSpPr/>
          <p:nvPr/>
        </p:nvSpPr>
        <p:spPr>
          <a:xfrm>
            <a:off x="550163" y="3869435"/>
            <a:ext cx="1330960" cy="455930"/>
          </a:xfrm>
          <a:custGeom>
            <a:avLst/>
            <a:gdLst/>
            <a:ahLst/>
            <a:cxnLst/>
            <a:rect l="l" t="t" r="r" b="b"/>
            <a:pathLst>
              <a:path w="1330960" h="455929">
                <a:moveTo>
                  <a:pt x="1223077" y="311276"/>
                </a:moveTo>
                <a:lnTo>
                  <a:pt x="1039749" y="311276"/>
                </a:lnTo>
                <a:lnTo>
                  <a:pt x="1044067" y="455675"/>
                </a:lnTo>
                <a:lnTo>
                  <a:pt x="1223077" y="311276"/>
                </a:lnTo>
                <a:close/>
              </a:path>
              <a:path w="1330960" h="455929">
                <a:moveTo>
                  <a:pt x="1044067" y="0"/>
                </a:moveTo>
                <a:lnTo>
                  <a:pt x="1044067" y="134746"/>
                </a:lnTo>
                <a:lnTo>
                  <a:pt x="0" y="138049"/>
                </a:lnTo>
                <a:lnTo>
                  <a:pt x="2197" y="336931"/>
                </a:lnTo>
                <a:lnTo>
                  <a:pt x="1039749" y="311276"/>
                </a:lnTo>
                <a:lnTo>
                  <a:pt x="1223077" y="311276"/>
                </a:lnTo>
                <a:lnTo>
                  <a:pt x="1330452" y="224662"/>
                </a:lnTo>
                <a:lnTo>
                  <a:pt x="1044067" y="0"/>
                </a:lnTo>
                <a:close/>
              </a:path>
            </a:pathLst>
          </a:custGeom>
          <a:solidFill>
            <a:srgbClr val="A6A6A6"/>
          </a:solidFill>
        </p:spPr>
        <p:txBody>
          <a:bodyPr wrap="square" lIns="0" tIns="0" rIns="0" bIns="0" rtlCol="0"/>
          <a:lstStyle/>
          <a:p>
            <a:endParaRPr/>
          </a:p>
        </p:txBody>
      </p:sp>
      <p:sp>
        <p:nvSpPr>
          <p:cNvPr id="16" name="object 16"/>
          <p:cNvSpPr/>
          <p:nvPr/>
        </p:nvSpPr>
        <p:spPr>
          <a:xfrm>
            <a:off x="787908" y="2225039"/>
            <a:ext cx="1092835" cy="1708150"/>
          </a:xfrm>
          <a:custGeom>
            <a:avLst/>
            <a:gdLst/>
            <a:ahLst/>
            <a:cxnLst/>
            <a:rect l="l" t="t" r="r" b="b"/>
            <a:pathLst>
              <a:path w="1092835" h="1708150">
                <a:moveTo>
                  <a:pt x="833882" y="0"/>
                </a:moveTo>
                <a:lnTo>
                  <a:pt x="836168" y="137287"/>
                </a:lnTo>
                <a:lnTo>
                  <a:pt x="274053" y="140208"/>
                </a:lnTo>
                <a:lnTo>
                  <a:pt x="244495" y="141317"/>
                </a:lnTo>
                <a:lnTo>
                  <a:pt x="191283" y="147530"/>
                </a:lnTo>
                <a:lnTo>
                  <a:pt x="145589" y="159250"/>
                </a:lnTo>
                <a:lnTo>
                  <a:pt x="106993" y="176692"/>
                </a:lnTo>
                <a:lnTo>
                  <a:pt x="75072" y="200073"/>
                </a:lnTo>
                <a:lnTo>
                  <a:pt x="49406" y="229609"/>
                </a:lnTo>
                <a:lnTo>
                  <a:pt x="29572" y="265518"/>
                </a:lnTo>
                <a:lnTo>
                  <a:pt x="15149" y="308014"/>
                </a:lnTo>
                <a:lnTo>
                  <a:pt x="5716" y="357315"/>
                </a:lnTo>
                <a:lnTo>
                  <a:pt x="851" y="413638"/>
                </a:lnTo>
                <a:lnTo>
                  <a:pt x="0" y="444500"/>
                </a:lnTo>
                <a:lnTo>
                  <a:pt x="0" y="1578229"/>
                </a:lnTo>
                <a:lnTo>
                  <a:pt x="8769" y="1627685"/>
                </a:lnTo>
                <a:lnTo>
                  <a:pt x="20554" y="1665162"/>
                </a:lnTo>
                <a:lnTo>
                  <a:pt x="42331" y="1699347"/>
                </a:lnTo>
                <a:lnTo>
                  <a:pt x="58548" y="1707739"/>
                </a:lnTo>
                <a:lnTo>
                  <a:pt x="66900" y="1707689"/>
                </a:lnTo>
                <a:lnTo>
                  <a:pt x="99860" y="1679762"/>
                </a:lnTo>
                <a:lnTo>
                  <a:pt x="121627" y="1630393"/>
                </a:lnTo>
                <a:lnTo>
                  <a:pt x="133401" y="1584315"/>
                </a:lnTo>
                <a:lnTo>
                  <a:pt x="149910" y="507238"/>
                </a:lnTo>
                <a:lnTo>
                  <a:pt x="151353" y="480098"/>
                </a:lnTo>
                <a:lnTo>
                  <a:pt x="156478" y="433769"/>
                </a:lnTo>
                <a:lnTo>
                  <a:pt x="169653" y="381994"/>
                </a:lnTo>
                <a:lnTo>
                  <a:pt x="189238" y="348031"/>
                </a:lnTo>
                <a:lnTo>
                  <a:pt x="224981" y="323751"/>
                </a:lnTo>
                <a:lnTo>
                  <a:pt x="271302" y="315044"/>
                </a:lnTo>
                <a:lnTo>
                  <a:pt x="843280" y="301371"/>
                </a:lnTo>
                <a:lnTo>
                  <a:pt x="1019481" y="301371"/>
                </a:lnTo>
                <a:lnTo>
                  <a:pt x="1092708" y="228219"/>
                </a:lnTo>
                <a:lnTo>
                  <a:pt x="833882" y="0"/>
                </a:lnTo>
                <a:close/>
              </a:path>
              <a:path w="1092835" h="1708150">
                <a:moveTo>
                  <a:pt x="1019481" y="301371"/>
                </a:moveTo>
                <a:lnTo>
                  <a:pt x="843280" y="301371"/>
                </a:lnTo>
                <a:lnTo>
                  <a:pt x="843280" y="477393"/>
                </a:lnTo>
                <a:lnTo>
                  <a:pt x="1019481" y="301371"/>
                </a:lnTo>
                <a:close/>
              </a:path>
            </a:pathLst>
          </a:custGeom>
          <a:solidFill>
            <a:srgbClr val="A6A6A6"/>
          </a:solidFill>
        </p:spPr>
        <p:txBody>
          <a:bodyPr wrap="square" lIns="0" tIns="0" rIns="0" bIns="0" rtlCol="0"/>
          <a:lstStyle/>
          <a:p>
            <a:endParaRPr/>
          </a:p>
        </p:txBody>
      </p:sp>
      <p:sp>
        <p:nvSpPr>
          <p:cNvPr id="17" name="object 17"/>
          <p:cNvSpPr/>
          <p:nvPr/>
        </p:nvSpPr>
        <p:spPr>
          <a:xfrm>
            <a:off x="3806190" y="1838705"/>
            <a:ext cx="8183880" cy="1202690"/>
          </a:xfrm>
          <a:custGeom>
            <a:avLst/>
            <a:gdLst/>
            <a:ahLst/>
            <a:cxnLst/>
            <a:rect l="l" t="t" r="r" b="b"/>
            <a:pathLst>
              <a:path w="8183880" h="1202689">
                <a:moveTo>
                  <a:pt x="0" y="138303"/>
                </a:moveTo>
                <a:lnTo>
                  <a:pt x="6703" y="95684"/>
                </a:lnTo>
                <a:lnTo>
                  <a:pt x="25404" y="58444"/>
                </a:lnTo>
                <a:lnTo>
                  <a:pt x="53991" y="28697"/>
                </a:lnTo>
                <a:lnTo>
                  <a:pt x="90351" y="8553"/>
                </a:lnTo>
                <a:lnTo>
                  <a:pt x="132374" y="125"/>
                </a:lnTo>
                <a:lnTo>
                  <a:pt x="8045577" y="0"/>
                </a:lnTo>
                <a:lnTo>
                  <a:pt x="8060250" y="770"/>
                </a:lnTo>
                <a:lnTo>
                  <a:pt x="8101310" y="11707"/>
                </a:lnTo>
                <a:lnTo>
                  <a:pt x="8136287" y="33938"/>
                </a:lnTo>
                <a:lnTo>
                  <a:pt x="8163068" y="65351"/>
                </a:lnTo>
                <a:lnTo>
                  <a:pt x="8179542" y="103834"/>
                </a:lnTo>
                <a:lnTo>
                  <a:pt x="8183880" y="1064133"/>
                </a:lnTo>
                <a:lnTo>
                  <a:pt x="8183109" y="1078806"/>
                </a:lnTo>
                <a:lnTo>
                  <a:pt x="8172172" y="1119866"/>
                </a:lnTo>
                <a:lnTo>
                  <a:pt x="8149941" y="1154843"/>
                </a:lnTo>
                <a:lnTo>
                  <a:pt x="8118528" y="1181624"/>
                </a:lnTo>
                <a:lnTo>
                  <a:pt x="8080045" y="1198098"/>
                </a:lnTo>
                <a:lnTo>
                  <a:pt x="138302" y="1202436"/>
                </a:lnTo>
                <a:lnTo>
                  <a:pt x="123629" y="1201665"/>
                </a:lnTo>
                <a:lnTo>
                  <a:pt x="82569" y="1190728"/>
                </a:lnTo>
                <a:lnTo>
                  <a:pt x="47592" y="1168497"/>
                </a:lnTo>
                <a:lnTo>
                  <a:pt x="20811" y="1137084"/>
                </a:lnTo>
                <a:lnTo>
                  <a:pt x="4337" y="1098601"/>
                </a:lnTo>
                <a:lnTo>
                  <a:pt x="0" y="138303"/>
                </a:lnTo>
                <a:close/>
              </a:path>
            </a:pathLst>
          </a:custGeom>
          <a:ln w="28956">
            <a:solidFill>
              <a:srgbClr val="5B9BD4"/>
            </a:solidFill>
          </a:ln>
        </p:spPr>
        <p:txBody>
          <a:bodyPr wrap="square" lIns="0" tIns="0" rIns="0" bIns="0" rtlCol="0"/>
          <a:lstStyle/>
          <a:p>
            <a:endParaRPr/>
          </a:p>
        </p:txBody>
      </p:sp>
      <p:sp>
        <p:nvSpPr>
          <p:cNvPr id="18" name="object 18"/>
          <p:cNvSpPr txBox="1"/>
          <p:nvPr/>
        </p:nvSpPr>
        <p:spPr>
          <a:xfrm>
            <a:off x="3858005" y="1998726"/>
            <a:ext cx="3332479" cy="957580"/>
          </a:xfrm>
          <a:prstGeom prst="rect">
            <a:avLst/>
          </a:prstGeom>
          <a:ln w="38100">
            <a:solidFill>
              <a:srgbClr val="FF0000"/>
            </a:solidFill>
          </a:ln>
        </p:spPr>
        <p:txBody>
          <a:bodyPr vert="horz" wrap="square" lIns="0" tIns="0" rIns="0" bIns="0" rtlCol="0">
            <a:spAutoFit/>
          </a:bodyPr>
          <a:lstStyle/>
          <a:p>
            <a:pPr marL="52705">
              <a:lnSpc>
                <a:spcPct val="100000"/>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Ba</a:t>
            </a:r>
            <a:r>
              <a:rPr sz="2400" b="1" dirty="0">
                <a:latin typeface="微软雅黑"/>
                <a:cs typeface="微软雅黑"/>
              </a:rPr>
              <a:t>s</a:t>
            </a:r>
            <a:r>
              <a:rPr sz="2400" b="1" spc="-5" dirty="0">
                <a:latin typeface="微软雅黑"/>
                <a:cs typeface="微软雅黑"/>
              </a:rPr>
              <a:t>e_</a:t>
            </a:r>
            <a:r>
              <a:rPr sz="2400" b="1" spc="-85" dirty="0">
                <a:latin typeface="微软雅黑"/>
                <a:cs typeface="微软雅黑"/>
              </a:rPr>
              <a:t>S</a:t>
            </a:r>
            <a:r>
              <a:rPr sz="2400" b="1" spc="-10" dirty="0">
                <a:latin typeface="微软雅黑"/>
                <a:cs typeface="微软雅黑"/>
              </a:rPr>
              <a:t>t</a:t>
            </a:r>
            <a:r>
              <a:rPr sz="2400" b="1" dirty="0">
                <a:latin typeface="微软雅黑"/>
                <a:cs typeface="微软雅黑"/>
              </a:rPr>
              <a:t>a</a:t>
            </a:r>
            <a:r>
              <a:rPr sz="2400" b="1" spc="60" dirty="0">
                <a:latin typeface="微软雅黑"/>
                <a:cs typeface="微软雅黑"/>
              </a:rPr>
              <a:t>r</a:t>
            </a:r>
            <a:r>
              <a:rPr sz="2400" b="1" spc="15" dirty="0">
                <a:latin typeface="微软雅黑"/>
                <a:cs typeface="微软雅黑"/>
              </a:rPr>
              <a:t>t</a:t>
            </a:r>
            <a:r>
              <a:rPr sz="2400" b="1" spc="-5" dirty="0">
                <a:latin typeface="微软雅黑"/>
                <a:cs typeface="微软雅黑"/>
              </a:rPr>
              <a:t>(</a:t>
            </a:r>
            <a:endParaRPr sz="2400">
              <a:latin typeface="微软雅黑"/>
              <a:cs typeface="微软雅黑"/>
            </a:endParaRPr>
          </a:p>
          <a:p>
            <a:pPr marL="52705" marR="3175">
              <a:lnSpc>
                <a:spcPct val="100000"/>
              </a:lnSpc>
              <a:spcBef>
                <a:spcPts val="575"/>
              </a:spcBef>
            </a:pP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L_TIM_Base_</a:t>
            </a:r>
            <a:r>
              <a:rPr sz="2400" b="1" spc="-80" dirty="0">
                <a:latin typeface="微软雅黑"/>
                <a:cs typeface="微软雅黑"/>
              </a:rPr>
              <a:t>S</a:t>
            </a:r>
            <a:r>
              <a:rPr sz="2400" b="1" spc="-10" dirty="0">
                <a:latin typeface="微软雅黑"/>
                <a:cs typeface="微软雅黑"/>
              </a:rPr>
              <a:t>t</a:t>
            </a:r>
            <a:r>
              <a:rPr sz="2400" b="1" spc="-5" dirty="0">
                <a:latin typeface="微软雅黑"/>
                <a:cs typeface="微软雅黑"/>
              </a:rPr>
              <a:t>op</a:t>
            </a:r>
            <a:r>
              <a:rPr sz="2400" b="1" dirty="0">
                <a:latin typeface="微软雅黑"/>
                <a:cs typeface="微软雅黑"/>
              </a:rPr>
              <a:t>(</a:t>
            </a:r>
            <a:endParaRPr sz="2400">
              <a:latin typeface="微软雅黑"/>
              <a:cs typeface="微软雅黑"/>
            </a:endParaRPr>
          </a:p>
        </p:txBody>
      </p:sp>
      <p:sp>
        <p:nvSpPr>
          <p:cNvPr id="19" name="object 19"/>
          <p:cNvSpPr txBox="1"/>
          <p:nvPr/>
        </p:nvSpPr>
        <p:spPr>
          <a:xfrm>
            <a:off x="7204964" y="2092060"/>
            <a:ext cx="4426585" cy="769620"/>
          </a:xfrm>
          <a:prstGeom prst="rect">
            <a:avLst/>
          </a:prstGeom>
        </p:spPr>
        <p:txBody>
          <a:bodyPr vert="horz" wrap="square" lIns="0" tIns="0" rIns="0" bIns="0" rtlCol="0">
            <a:spAutoFit/>
          </a:bodyPr>
          <a:lstStyle/>
          <a:p>
            <a:pPr marL="52069">
              <a:lnSpc>
                <a:spcPct val="100000"/>
              </a:lnSpc>
            </a:pPr>
            <a:r>
              <a:rPr sz="2400" b="1" spc="-5" dirty="0">
                <a:latin typeface="微软雅黑"/>
                <a:cs typeface="微软雅黑"/>
              </a:rPr>
              <a:t>TIM</a:t>
            </a:r>
            <a:r>
              <a:rPr sz="2400" b="1" spc="5" dirty="0">
                <a:latin typeface="微软雅黑"/>
                <a:cs typeface="微软雅黑"/>
              </a:rPr>
              <a:t>_</a:t>
            </a:r>
            <a:r>
              <a:rPr sz="2400" b="1" spc="-10" dirty="0">
                <a:latin typeface="微软雅黑"/>
                <a:cs typeface="微软雅黑"/>
              </a:rPr>
              <a:t>Ha</a:t>
            </a:r>
            <a:r>
              <a:rPr sz="2400" b="1" dirty="0">
                <a:latin typeface="微软雅黑"/>
                <a:cs typeface="微软雅黑"/>
              </a:rPr>
              <a:t>n</a:t>
            </a:r>
            <a:r>
              <a:rPr sz="2400" b="1" spc="-5" dirty="0">
                <a:latin typeface="微软雅黑"/>
                <a:cs typeface="微软雅黑"/>
              </a:rPr>
              <a:t>dl</a:t>
            </a:r>
            <a:r>
              <a:rPr sz="2400" b="1" spc="-15" dirty="0">
                <a:latin typeface="微软雅黑"/>
                <a:cs typeface="微软雅黑"/>
              </a:rPr>
              <a:t>e</a:t>
            </a:r>
            <a:r>
              <a:rPr sz="2400" b="1" spc="-125" dirty="0">
                <a:latin typeface="微软雅黑"/>
                <a:cs typeface="微软雅黑"/>
              </a:rPr>
              <a:t>T</a:t>
            </a:r>
            <a:r>
              <a:rPr sz="2400" b="1" spc="-10" dirty="0">
                <a:latin typeface="微软雅黑"/>
                <a:cs typeface="微软雅黑"/>
              </a:rPr>
              <a:t>ype</a:t>
            </a:r>
            <a:r>
              <a:rPr sz="2400" b="1" spc="-15" dirty="0">
                <a:latin typeface="微软雅黑"/>
                <a:cs typeface="微软雅黑"/>
              </a:rPr>
              <a:t>D</a:t>
            </a:r>
            <a:r>
              <a:rPr sz="2400" b="1" dirty="0">
                <a:latin typeface="微软雅黑"/>
                <a:cs typeface="微软雅黑"/>
              </a:rPr>
              <a:t>ef</a:t>
            </a:r>
            <a:r>
              <a:rPr sz="2400" b="1" spc="5" dirty="0">
                <a:latin typeface="微软雅黑"/>
                <a:cs typeface="微软雅黑"/>
              </a:rPr>
              <a:t> </a:t>
            </a:r>
            <a:r>
              <a:rPr sz="2400" b="1" spc="-10" dirty="0">
                <a:latin typeface="微软雅黑"/>
                <a:cs typeface="微软雅黑"/>
              </a:rPr>
              <a:t>*</a:t>
            </a:r>
            <a:r>
              <a:rPr sz="2400" b="1" spc="-5" dirty="0">
                <a:latin typeface="微软雅黑"/>
                <a:cs typeface="微软雅黑"/>
              </a:rPr>
              <a:t>htim</a:t>
            </a:r>
            <a:r>
              <a:rPr sz="2400" b="1" spc="20" dirty="0">
                <a:latin typeface="微软雅黑"/>
                <a:cs typeface="微软雅黑"/>
              </a:rPr>
              <a:t> </a:t>
            </a:r>
            <a:r>
              <a:rPr sz="2400" b="1" spc="-5" dirty="0">
                <a:latin typeface="微软雅黑"/>
                <a:cs typeface="微软雅黑"/>
              </a:rPr>
              <a:t>);</a:t>
            </a:r>
            <a:endParaRPr sz="2400">
              <a:latin typeface="微软雅黑"/>
              <a:cs typeface="微软雅黑"/>
            </a:endParaRPr>
          </a:p>
          <a:p>
            <a:pPr marL="12700">
              <a:lnSpc>
                <a:spcPct val="100000"/>
              </a:lnSpc>
              <a:spcBef>
                <a:spcPts val="575"/>
              </a:spcBef>
            </a:pPr>
            <a:r>
              <a:rPr sz="2400" b="1" spc="-5" dirty="0">
                <a:latin typeface="微软雅黑"/>
                <a:cs typeface="微软雅黑"/>
              </a:rPr>
              <a:t>TIM_Handle</a:t>
            </a:r>
            <a:r>
              <a:rPr sz="2400" b="1" spc="-120"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htim</a:t>
            </a:r>
            <a:r>
              <a:rPr sz="2400" b="1" spc="15" dirty="0">
                <a:latin typeface="微软雅黑"/>
                <a:cs typeface="微软雅黑"/>
              </a:rPr>
              <a:t> </a:t>
            </a:r>
            <a:r>
              <a:rPr sz="2400" b="1" dirty="0">
                <a:latin typeface="微软雅黑"/>
                <a:cs typeface="微软雅黑"/>
              </a:rPr>
              <a:t>);</a:t>
            </a:r>
            <a:endParaRPr sz="2400">
              <a:latin typeface="微软雅黑"/>
              <a:cs typeface="微软雅黑"/>
            </a:endParaRPr>
          </a:p>
        </p:txBody>
      </p:sp>
      <p:sp>
        <p:nvSpPr>
          <p:cNvPr id="20" name="object 20"/>
          <p:cNvSpPr/>
          <p:nvPr/>
        </p:nvSpPr>
        <p:spPr>
          <a:xfrm>
            <a:off x="1880616" y="1837944"/>
            <a:ext cx="1754505" cy="1202690"/>
          </a:xfrm>
          <a:custGeom>
            <a:avLst/>
            <a:gdLst/>
            <a:ahLst/>
            <a:cxnLst/>
            <a:rect l="l" t="t" r="r" b="b"/>
            <a:pathLst>
              <a:path w="1754504" h="1202689">
                <a:moveTo>
                  <a:pt x="1610741" y="0"/>
                </a:moveTo>
                <a:lnTo>
                  <a:pt x="129169" y="694"/>
                </a:lnTo>
                <a:lnTo>
                  <a:pt x="87871" y="11122"/>
                </a:lnTo>
                <a:lnTo>
                  <a:pt x="52354" y="32556"/>
                </a:lnTo>
                <a:lnTo>
                  <a:pt x="24569" y="63045"/>
                </a:lnTo>
                <a:lnTo>
                  <a:pt x="6467" y="100638"/>
                </a:lnTo>
                <a:lnTo>
                  <a:pt x="0" y="143382"/>
                </a:lnTo>
                <a:lnTo>
                  <a:pt x="683" y="1059052"/>
                </a:lnTo>
                <a:lnTo>
                  <a:pt x="6327" y="1101344"/>
                </a:lnTo>
                <a:lnTo>
                  <a:pt x="24309" y="1139005"/>
                </a:lnTo>
                <a:lnTo>
                  <a:pt x="51997" y="1169584"/>
                </a:lnTo>
                <a:lnTo>
                  <a:pt x="87438" y="1191130"/>
                </a:lnTo>
                <a:lnTo>
                  <a:pt x="128682" y="1201693"/>
                </a:lnTo>
                <a:lnTo>
                  <a:pt x="143382" y="1202435"/>
                </a:lnTo>
                <a:lnTo>
                  <a:pt x="1624954" y="1201741"/>
                </a:lnTo>
                <a:lnTo>
                  <a:pt x="1666252" y="1191313"/>
                </a:lnTo>
                <a:lnTo>
                  <a:pt x="1701769" y="1169879"/>
                </a:lnTo>
                <a:lnTo>
                  <a:pt x="1729554" y="1139390"/>
                </a:lnTo>
                <a:lnTo>
                  <a:pt x="1747656" y="1101797"/>
                </a:lnTo>
                <a:lnTo>
                  <a:pt x="1754123" y="1059052"/>
                </a:lnTo>
                <a:lnTo>
                  <a:pt x="1753440" y="143382"/>
                </a:lnTo>
                <a:lnTo>
                  <a:pt x="1747796" y="101091"/>
                </a:lnTo>
                <a:lnTo>
                  <a:pt x="1729814" y="63430"/>
                </a:lnTo>
                <a:lnTo>
                  <a:pt x="1702126" y="32851"/>
                </a:lnTo>
                <a:lnTo>
                  <a:pt x="1666685" y="11305"/>
                </a:lnTo>
                <a:lnTo>
                  <a:pt x="1625441" y="742"/>
                </a:lnTo>
                <a:lnTo>
                  <a:pt x="1610741" y="0"/>
                </a:lnTo>
                <a:close/>
              </a:path>
            </a:pathLst>
          </a:custGeom>
          <a:solidFill>
            <a:srgbClr val="EC7C30"/>
          </a:solidFill>
        </p:spPr>
        <p:txBody>
          <a:bodyPr wrap="square" lIns="0" tIns="0" rIns="0" bIns="0" rtlCol="0"/>
          <a:lstStyle/>
          <a:p>
            <a:endParaRPr/>
          </a:p>
        </p:txBody>
      </p:sp>
      <p:sp>
        <p:nvSpPr>
          <p:cNvPr id="21" name="object 21"/>
          <p:cNvSpPr txBox="1"/>
          <p:nvPr/>
        </p:nvSpPr>
        <p:spPr>
          <a:xfrm>
            <a:off x="2134616" y="2311516"/>
            <a:ext cx="1245870" cy="330200"/>
          </a:xfrm>
          <a:prstGeom prst="rect">
            <a:avLst/>
          </a:prstGeom>
        </p:spPr>
        <p:txBody>
          <a:bodyPr vert="horz" wrap="square" lIns="0" tIns="0" rIns="0" bIns="0" rtlCol="0">
            <a:spAutoFit/>
          </a:bodyPr>
          <a:lstStyle/>
          <a:p>
            <a:pPr marL="12700">
              <a:lnSpc>
                <a:spcPct val="100000"/>
              </a:lnSpc>
            </a:pPr>
            <a:r>
              <a:rPr sz="2400" b="1" dirty="0">
                <a:solidFill>
                  <a:srgbClr val="F1F1F1"/>
                </a:solidFill>
                <a:latin typeface="微软雅黑"/>
                <a:cs typeface="微软雅黑"/>
              </a:rPr>
              <a:t>轮询方式</a:t>
            </a:r>
            <a:endParaRPr sz="2400">
              <a:latin typeface="微软雅黑"/>
              <a:cs typeface="微软雅黑"/>
            </a:endParaRPr>
          </a:p>
        </p:txBody>
      </p:sp>
      <p:sp>
        <p:nvSpPr>
          <p:cNvPr id="22" name="object 22"/>
          <p:cNvSpPr/>
          <p:nvPr/>
        </p:nvSpPr>
        <p:spPr>
          <a:xfrm>
            <a:off x="1880616" y="3525011"/>
            <a:ext cx="1758950" cy="1195070"/>
          </a:xfrm>
          <a:custGeom>
            <a:avLst/>
            <a:gdLst/>
            <a:ahLst/>
            <a:cxnLst/>
            <a:rect l="l" t="t" r="r" b="b"/>
            <a:pathLst>
              <a:path w="1758950" h="1195070">
                <a:moveTo>
                  <a:pt x="1616201" y="0"/>
                </a:moveTo>
                <a:lnTo>
                  <a:pt x="129722" y="563"/>
                </a:lnTo>
                <a:lnTo>
                  <a:pt x="88295" y="10656"/>
                </a:lnTo>
                <a:lnTo>
                  <a:pt x="52632" y="31873"/>
                </a:lnTo>
                <a:lnTo>
                  <a:pt x="24710" y="62236"/>
                </a:lnTo>
                <a:lnTo>
                  <a:pt x="6507" y="99769"/>
                </a:lnTo>
                <a:lnTo>
                  <a:pt x="0" y="142494"/>
                </a:lnTo>
                <a:lnTo>
                  <a:pt x="563" y="1065093"/>
                </a:lnTo>
                <a:lnTo>
                  <a:pt x="10656" y="1106520"/>
                </a:lnTo>
                <a:lnTo>
                  <a:pt x="31873" y="1142183"/>
                </a:lnTo>
                <a:lnTo>
                  <a:pt x="62236" y="1170105"/>
                </a:lnTo>
                <a:lnTo>
                  <a:pt x="99769" y="1188308"/>
                </a:lnTo>
                <a:lnTo>
                  <a:pt x="142494" y="1194815"/>
                </a:lnTo>
                <a:lnTo>
                  <a:pt x="1628973" y="1194252"/>
                </a:lnTo>
                <a:lnTo>
                  <a:pt x="1670400" y="1184159"/>
                </a:lnTo>
                <a:lnTo>
                  <a:pt x="1706063" y="1162942"/>
                </a:lnTo>
                <a:lnTo>
                  <a:pt x="1733985" y="1132579"/>
                </a:lnTo>
                <a:lnTo>
                  <a:pt x="1752188" y="1095046"/>
                </a:lnTo>
                <a:lnTo>
                  <a:pt x="1758695" y="1052321"/>
                </a:lnTo>
                <a:lnTo>
                  <a:pt x="1758132" y="129722"/>
                </a:lnTo>
                <a:lnTo>
                  <a:pt x="1748039" y="88295"/>
                </a:lnTo>
                <a:lnTo>
                  <a:pt x="1726822" y="52632"/>
                </a:lnTo>
                <a:lnTo>
                  <a:pt x="1696459" y="24710"/>
                </a:lnTo>
                <a:lnTo>
                  <a:pt x="1658926" y="6507"/>
                </a:lnTo>
                <a:lnTo>
                  <a:pt x="1616201" y="0"/>
                </a:lnTo>
                <a:close/>
              </a:path>
            </a:pathLst>
          </a:custGeom>
          <a:solidFill>
            <a:srgbClr val="00AFEF"/>
          </a:solidFill>
        </p:spPr>
        <p:txBody>
          <a:bodyPr wrap="square" lIns="0" tIns="0" rIns="0" bIns="0" rtlCol="0"/>
          <a:lstStyle/>
          <a:p>
            <a:endParaRPr/>
          </a:p>
        </p:txBody>
      </p:sp>
      <p:sp>
        <p:nvSpPr>
          <p:cNvPr id="23" name="object 23"/>
          <p:cNvSpPr txBox="1"/>
          <p:nvPr/>
        </p:nvSpPr>
        <p:spPr>
          <a:xfrm>
            <a:off x="2138298" y="3994403"/>
            <a:ext cx="1244600" cy="330835"/>
          </a:xfrm>
          <a:prstGeom prst="rect">
            <a:avLst/>
          </a:prstGeom>
        </p:spPr>
        <p:txBody>
          <a:bodyPr vert="horz" wrap="square" lIns="0" tIns="0" rIns="0" bIns="0" rtlCol="0">
            <a:spAutoFit/>
          </a:bodyPr>
          <a:lstStyle/>
          <a:p>
            <a:pPr marL="12700">
              <a:lnSpc>
                <a:spcPct val="100000"/>
              </a:lnSpc>
            </a:pPr>
            <a:r>
              <a:rPr sz="2400" b="1" spc="-5" dirty="0">
                <a:solidFill>
                  <a:srgbClr val="F1F1F1"/>
                </a:solidFill>
                <a:latin typeface="微软雅黑"/>
                <a:cs typeface="微软雅黑"/>
              </a:rPr>
              <a:t>中断方式</a:t>
            </a:r>
            <a:endParaRPr sz="2400">
              <a:latin typeface="微软雅黑"/>
              <a:cs typeface="微软雅黑"/>
            </a:endParaRPr>
          </a:p>
        </p:txBody>
      </p:sp>
      <p:sp>
        <p:nvSpPr>
          <p:cNvPr id="24" name="object 24"/>
          <p:cNvSpPr/>
          <p:nvPr/>
        </p:nvSpPr>
        <p:spPr>
          <a:xfrm>
            <a:off x="1840992" y="5204459"/>
            <a:ext cx="1798320" cy="1181100"/>
          </a:xfrm>
          <a:custGeom>
            <a:avLst/>
            <a:gdLst/>
            <a:ahLst/>
            <a:cxnLst/>
            <a:rect l="l" t="t" r="r" b="b"/>
            <a:pathLst>
              <a:path w="1798320" h="1181100">
                <a:moveTo>
                  <a:pt x="1657477" y="0"/>
                </a:moveTo>
                <a:lnTo>
                  <a:pt x="130751" y="355"/>
                </a:lnTo>
                <a:lnTo>
                  <a:pt x="89070" y="9801"/>
                </a:lnTo>
                <a:lnTo>
                  <a:pt x="53134" y="30594"/>
                </a:lnTo>
                <a:lnTo>
                  <a:pt x="24962" y="60712"/>
                </a:lnTo>
                <a:lnTo>
                  <a:pt x="6577" y="98136"/>
                </a:lnTo>
                <a:lnTo>
                  <a:pt x="0" y="140842"/>
                </a:lnTo>
                <a:lnTo>
                  <a:pt x="352" y="1050346"/>
                </a:lnTo>
                <a:lnTo>
                  <a:pt x="9792" y="1092004"/>
                </a:lnTo>
                <a:lnTo>
                  <a:pt x="30583" y="1127938"/>
                </a:lnTo>
                <a:lnTo>
                  <a:pt x="60703" y="1156119"/>
                </a:lnTo>
                <a:lnTo>
                  <a:pt x="98130" y="1174516"/>
                </a:lnTo>
                <a:lnTo>
                  <a:pt x="140843" y="1181099"/>
                </a:lnTo>
                <a:lnTo>
                  <a:pt x="1667538" y="1180746"/>
                </a:lnTo>
                <a:lnTo>
                  <a:pt x="1709227" y="1171301"/>
                </a:lnTo>
                <a:lnTo>
                  <a:pt x="1745172" y="1150503"/>
                </a:lnTo>
                <a:lnTo>
                  <a:pt x="1773350" y="1120382"/>
                </a:lnTo>
                <a:lnTo>
                  <a:pt x="1791740" y="1082970"/>
                </a:lnTo>
                <a:lnTo>
                  <a:pt x="1798320" y="1040295"/>
                </a:lnTo>
                <a:lnTo>
                  <a:pt x="1797964" y="130751"/>
                </a:lnTo>
                <a:lnTo>
                  <a:pt x="1788518" y="89070"/>
                </a:lnTo>
                <a:lnTo>
                  <a:pt x="1767725" y="53134"/>
                </a:lnTo>
                <a:lnTo>
                  <a:pt x="1737607" y="24962"/>
                </a:lnTo>
                <a:lnTo>
                  <a:pt x="1700183" y="6577"/>
                </a:lnTo>
                <a:lnTo>
                  <a:pt x="1657477" y="0"/>
                </a:lnTo>
                <a:close/>
              </a:path>
            </a:pathLst>
          </a:custGeom>
          <a:solidFill>
            <a:srgbClr val="00AF50"/>
          </a:solidFill>
        </p:spPr>
        <p:txBody>
          <a:bodyPr wrap="square" lIns="0" tIns="0" rIns="0" bIns="0" rtlCol="0"/>
          <a:lstStyle/>
          <a:p>
            <a:endParaRPr/>
          </a:p>
        </p:txBody>
      </p:sp>
      <p:sp>
        <p:nvSpPr>
          <p:cNvPr id="25" name="object 25"/>
          <p:cNvSpPr txBox="1"/>
          <p:nvPr/>
        </p:nvSpPr>
        <p:spPr>
          <a:xfrm>
            <a:off x="2031873" y="5667338"/>
            <a:ext cx="1418590" cy="330200"/>
          </a:xfrm>
          <a:prstGeom prst="rect">
            <a:avLst/>
          </a:prstGeom>
        </p:spPr>
        <p:txBody>
          <a:bodyPr vert="horz" wrap="square" lIns="0" tIns="0" rIns="0" bIns="0" rtlCol="0">
            <a:spAutoFit/>
          </a:bodyPr>
          <a:lstStyle/>
          <a:p>
            <a:pPr marL="12700">
              <a:lnSpc>
                <a:spcPct val="100000"/>
              </a:lnSpc>
            </a:pPr>
            <a:r>
              <a:rPr sz="2400" b="1" spc="-5" dirty="0">
                <a:solidFill>
                  <a:srgbClr val="F1F1F1"/>
                </a:solidFill>
                <a:latin typeface="微软雅黑"/>
                <a:cs typeface="微软雅黑"/>
              </a:rPr>
              <a:t>DM</a:t>
            </a:r>
            <a:r>
              <a:rPr sz="2400" b="1" spc="-15" dirty="0">
                <a:solidFill>
                  <a:srgbClr val="F1F1F1"/>
                </a:solidFill>
                <a:latin typeface="微软雅黑"/>
                <a:cs typeface="微软雅黑"/>
              </a:rPr>
              <a:t>A</a:t>
            </a:r>
            <a:r>
              <a:rPr sz="2400" b="1" spc="-5" dirty="0">
                <a:solidFill>
                  <a:srgbClr val="F1F1F1"/>
                </a:solidFill>
                <a:latin typeface="微软雅黑"/>
                <a:cs typeface="微软雅黑"/>
              </a:rPr>
              <a:t>方式</a:t>
            </a:r>
            <a:endParaRPr sz="2400">
              <a:latin typeface="微软雅黑"/>
              <a:cs typeface="微软雅黑"/>
            </a:endParaRPr>
          </a:p>
        </p:txBody>
      </p:sp>
      <p:sp>
        <p:nvSpPr>
          <p:cNvPr id="26" name="object 26"/>
          <p:cNvSpPr/>
          <p:nvPr/>
        </p:nvSpPr>
        <p:spPr>
          <a:xfrm>
            <a:off x="124968" y="3422903"/>
            <a:ext cx="1339850" cy="1297305"/>
          </a:xfrm>
          <a:custGeom>
            <a:avLst/>
            <a:gdLst/>
            <a:ahLst/>
            <a:cxnLst/>
            <a:rect l="l" t="t" r="r" b="b"/>
            <a:pathLst>
              <a:path w="1339850" h="1297304">
                <a:moveTo>
                  <a:pt x="669797" y="0"/>
                </a:moveTo>
                <a:lnTo>
                  <a:pt x="614863" y="2149"/>
                </a:lnTo>
                <a:lnTo>
                  <a:pt x="561151" y="8487"/>
                </a:lnTo>
                <a:lnTo>
                  <a:pt x="508835" y="18845"/>
                </a:lnTo>
                <a:lnTo>
                  <a:pt x="458087" y="33058"/>
                </a:lnTo>
                <a:lnTo>
                  <a:pt x="409079" y="50958"/>
                </a:lnTo>
                <a:lnTo>
                  <a:pt x="361984" y="72379"/>
                </a:lnTo>
                <a:lnTo>
                  <a:pt x="316974" y="97153"/>
                </a:lnTo>
                <a:lnTo>
                  <a:pt x="274221" y="125114"/>
                </a:lnTo>
                <a:lnTo>
                  <a:pt x="233898" y="156094"/>
                </a:lnTo>
                <a:lnTo>
                  <a:pt x="196176" y="189928"/>
                </a:lnTo>
                <a:lnTo>
                  <a:pt x="161230" y="226448"/>
                </a:lnTo>
                <a:lnTo>
                  <a:pt x="129230" y="265486"/>
                </a:lnTo>
                <a:lnTo>
                  <a:pt x="100349" y="306877"/>
                </a:lnTo>
                <a:lnTo>
                  <a:pt x="74760" y="350454"/>
                </a:lnTo>
                <a:lnTo>
                  <a:pt x="52635" y="396049"/>
                </a:lnTo>
                <a:lnTo>
                  <a:pt x="34146" y="443496"/>
                </a:lnTo>
                <a:lnTo>
                  <a:pt x="19465" y="492627"/>
                </a:lnTo>
                <a:lnTo>
                  <a:pt x="8766" y="543277"/>
                </a:lnTo>
                <a:lnTo>
                  <a:pt x="2220" y="595277"/>
                </a:lnTo>
                <a:lnTo>
                  <a:pt x="0" y="648462"/>
                </a:lnTo>
                <a:lnTo>
                  <a:pt x="2220" y="701646"/>
                </a:lnTo>
                <a:lnTo>
                  <a:pt x="8766" y="753646"/>
                </a:lnTo>
                <a:lnTo>
                  <a:pt x="19465" y="804296"/>
                </a:lnTo>
                <a:lnTo>
                  <a:pt x="34146" y="853427"/>
                </a:lnTo>
                <a:lnTo>
                  <a:pt x="52635" y="900874"/>
                </a:lnTo>
                <a:lnTo>
                  <a:pt x="74760" y="946469"/>
                </a:lnTo>
                <a:lnTo>
                  <a:pt x="100349" y="990046"/>
                </a:lnTo>
                <a:lnTo>
                  <a:pt x="129230" y="1031437"/>
                </a:lnTo>
                <a:lnTo>
                  <a:pt x="161230" y="1070475"/>
                </a:lnTo>
                <a:lnTo>
                  <a:pt x="196176" y="1106995"/>
                </a:lnTo>
                <a:lnTo>
                  <a:pt x="233898" y="1140829"/>
                </a:lnTo>
                <a:lnTo>
                  <a:pt x="274221" y="1171809"/>
                </a:lnTo>
                <a:lnTo>
                  <a:pt x="316974" y="1199770"/>
                </a:lnTo>
                <a:lnTo>
                  <a:pt x="361984" y="1224544"/>
                </a:lnTo>
                <a:lnTo>
                  <a:pt x="409079" y="1245965"/>
                </a:lnTo>
                <a:lnTo>
                  <a:pt x="458087" y="1263865"/>
                </a:lnTo>
                <a:lnTo>
                  <a:pt x="508835" y="1278078"/>
                </a:lnTo>
                <a:lnTo>
                  <a:pt x="561151" y="1288436"/>
                </a:lnTo>
                <a:lnTo>
                  <a:pt x="614863" y="1294774"/>
                </a:lnTo>
                <a:lnTo>
                  <a:pt x="669797" y="1296924"/>
                </a:lnTo>
                <a:lnTo>
                  <a:pt x="724730" y="1294774"/>
                </a:lnTo>
                <a:lnTo>
                  <a:pt x="778441" y="1288436"/>
                </a:lnTo>
                <a:lnTo>
                  <a:pt x="830756" y="1278078"/>
                </a:lnTo>
                <a:lnTo>
                  <a:pt x="881503" y="1263865"/>
                </a:lnTo>
                <a:lnTo>
                  <a:pt x="930510" y="1245965"/>
                </a:lnTo>
                <a:lnTo>
                  <a:pt x="977605" y="1224544"/>
                </a:lnTo>
                <a:lnTo>
                  <a:pt x="1022616" y="1199770"/>
                </a:lnTo>
                <a:lnTo>
                  <a:pt x="1065369" y="1171809"/>
                </a:lnTo>
                <a:lnTo>
                  <a:pt x="1105692" y="1140829"/>
                </a:lnTo>
                <a:lnTo>
                  <a:pt x="1143414" y="1106995"/>
                </a:lnTo>
                <a:lnTo>
                  <a:pt x="1178361" y="1070475"/>
                </a:lnTo>
                <a:lnTo>
                  <a:pt x="1210362" y="1031437"/>
                </a:lnTo>
                <a:lnTo>
                  <a:pt x="1239243" y="990046"/>
                </a:lnTo>
                <a:lnTo>
                  <a:pt x="1264833" y="946469"/>
                </a:lnTo>
                <a:lnTo>
                  <a:pt x="1286959" y="900874"/>
                </a:lnTo>
                <a:lnTo>
                  <a:pt x="1305448" y="853427"/>
                </a:lnTo>
                <a:lnTo>
                  <a:pt x="1320129" y="804296"/>
                </a:lnTo>
                <a:lnTo>
                  <a:pt x="1330829" y="753646"/>
                </a:lnTo>
                <a:lnTo>
                  <a:pt x="1337375" y="701646"/>
                </a:lnTo>
                <a:lnTo>
                  <a:pt x="1339595" y="648462"/>
                </a:lnTo>
                <a:lnTo>
                  <a:pt x="1337375" y="595277"/>
                </a:lnTo>
                <a:lnTo>
                  <a:pt x="1330829" y="543277"/>
                </a:lnTo>
                <a:lnTo>
                  <a:pt x="1320129" y="492627"/>
                </a:lnTo>
                <a:lnTo>
                  <a:pt x="1305448" y="443496"/>
                </a:lnTo>
                <a:lnTo>
                  <a:pt x="1286959" y="396049"/>
                </a:lnTo>
                <a:lnTo>
                  <a:pt x="1264833" y="350454"/>
                </a:lnTo>
                <a:lnTo>
                  <a:pt x="1239243" y="306877"/>
                </a:lnTo>
                <a:lnTo>
                  <a:pt x="1210362" y="265486"/>
                </a:lnTo>
                <a:lnTo>
                  <a:pt x="1178361" y="226448"/>
                </a:lnTo>
                <a:lnTo>
                  <a:pt x="1143414" y="189928"/>
                </a:lnTo>
                <a:lnTo>
                  <a:pt x="1105692" y="156094"/>
                </a:lnTo>
                <a:lnTo>
                  <a:pt x="1065369" y="125114"/>
                </a:lnTo>
                <a:lnTo>
                  <a:pt x="1022616" y="97153"/>
                </a:lnTo>
                <a:lnTo>
                  <a:pt x="977605" y="72379"/>
                </a:lnTo>
                <a:lnTo>
                  <a:pt x="930510" y="50958"/>
                </a:lnTo>
                <a:lnTo>
                  <a:pt x="881503" y="33058"/>
                </a:lnTo>
                <a:lnTo>
                  <a:pt x="830756" y="18845"/>
                </a:lnTo>
                <a:lnTo>
                  <a:pt x="778441" y="8487"/>
                </a:lnTo>
                <a:lnTo>
                  <a:pt x="724730" y="2149"/>
                </a:lnTo>
                <a:lnTo>
                  <a:pt x="669797" y="0"/>
                </a:lnTo>
                <a:close/>
              </a:path>
            </a:pathLst>
          </a:custGeom>
          <a:solidFill>
            <a:srgbClr val="5B9BD4"/>
          </a:solidFill>
        </p:spPr>
        <p:txBody>
          <a:bodyPr wrap="square" lIns="0" tIns="0" rIns="0" bIns="0" rtlCol="0"/>
          <a:lstStyle/>
          <a:p>
            <a:endParaRPr/>
          </a:p>
        </p:txBody>
      </p:sp>
      <p:sp>
        <p:nvSpPr>
          <p:cNvPr id="27" name="object 27"/>
          <p:cNvSpPr txBox="1"/>
          <p:nvPr/>
        </p:nvSpPr>
        <p:spPr>
          <a:xfrm>
            <a:off x="476504" y="3723883"/>
            <a:ext cx="635000" cy="769620"/>
          </a:xfrm>
          <a:prstGeom prst="rect">
            <a:avLst/>
          </a:prstGeom>
        </p:spPr>
        <p:txBody>
          <a:bodyPr vert="horz" wrap="square" lIns="0" tIns="0" rIns="0" bIns="0" rtlCol="0">
            <a:spAutoFit/>
          </a:bodyPr>
          <a:lstStyle/>
          <a:p>
            <a:pPr marL="12700" marR="5080">
              <a:lnSpc>
                <a:spcPct val="120000"/>
              </a:lnSpc>
            </a:pPr>
            <a:r>
              <a:rPr sz="2400" b="1" dirty="0">
                <a:solidFill>
                  <a:srgbClr val="FFFFFF"/>
                </a:solidFill>
                <a:latin typeface="微软雅黑"/>
                <a:cs typeface="微软雅黑"/>
              </a:rPr>
              <a:t>编程 模型</a:t>
            </a:r>
            <a:endParaRPr sz="2400">
              <a:latin typeface="微软雅黑"/>
              <a:cs typeface="微软雅黑"/>
            </a:endParaRPr>
          </a:p>
        </p:txBody>
      </p:sp>
      <p:sp>
        <p:nvSpPr>
          <p:cNvPr id="28" name="object 28"/>
          <p:cNvSpPr/>
          <p:nvPr/>
        </p:nvSpPr>
        <p:spPr>
          <a:xfrm>
            <a:off x="3806190" y="3525773"/>
            <a:ext cx="8183880" cy="1195070"/>
          </a:xfrm>
          <a:custGeom>
            <a:avLst/>
            <a:gdLst/>
            <a:ahLst/>
            <a:cxnLst/>
            <a:rect l="l" t="t" r="r" b="b"/>
            <a:pathLst>
              <a:path w="8183880" h="1195070">
                <a:moveTo>
                  <a:pt x="0" y="137413"/>
                </a:moveTo>
                <a:lnTo>
                  <a:pt x="6745" y="94817"/>
                </a:lnTo>
                <a:lnTo>
                  <a:pt x="25555" y="57642"/>
                </a:lnTo>
                <a:lnTo>
                  <a:pt x="54285" y="28031"/>
                </a:lnTo>
                <a:lnTo>
                  <a:pt x="90796" y="8127"/>
                </a:lnTo>
                <a:lnTo>
                  <a:pt x="132944" y="71"/>
                </a:lnTo>
                <a:lnTo>
                  <a:pt x="8046465" y="0"/>
                </a:lnTo>
                <a:lnTo>
                  <a:pt x="8061135" y="775"/>
                </a:lnTo>
                <a:lnTo>
                  <a:pt x="8102162" y="11780"/>
                </a:lnTo>
                <a:lnTo>
                  <a:pt x="8137054" y="34135"/>
                </a:lnTo>
                <a:lnTo>
                  <a:pt x="8163667" y="65697"/>
                </a:lnTo>
                <a:lnTo>
                  <a:pt x="8179859" y="104325"/>
                </a:lnTo>
                <a:lnTo>
                  <a:pt x="8183880" y="1057402"/>
                </a:lnTo>
                <a:lnTo>
                  <a:pt x="8183104" y="1072071"/>
                </a:lnTo>
                <a:lnTo>
                  <a:pt x="8172099" y="1113098"/>
                </a:lnTo>
                <a:lnTo>
                  <a:pt x="8149744" y="1147990"/>
                </a:lnTo>
                <a:lnTo>
                  <a:pt x="8118182" y="1174603"/>
                </a:lnTo>
                <a:lnTo>
                  <a:pt x="8079554" y="1190795"/>
                </a:lnTo>
                <a:lnTo>
                  <a:pt x="137413" y="1194815"/>
                </a:lnTo>
                <a:lnTo>
                  <a:pt x="122744" y="1194040"/>
                </a:lnTo>
                <a:lnTo>
                  <a:pt x="81717" y="1183035"/>
                </a:lnTo>
                <a:lnTo>
                  <a:pt x="46825" y="1160680"/>
                </a:lnTo>
                <a:lnTo>
                  <a:pt x="20212" y="1129118"/>
                </a:lnTo>
                <a:lnTo>
                  <a:pt x="4020" y="1090490"/>
                </a:lnTo>
                <a:lnTo>
                  <a:pt x="0" y="137413"/>
                </a:lnTo>
                <a:close/>
              </a:path>
            </a:pathLst>
          </a:custGeom>
          <a:ln w="28956">
            <a:solidFill>
              <a:srgbClr val="5B9BD4"/>
            </a:solidFill>
          </a:ln>
        </p:spPr>
        <p:txBody>
          <a:bodyPr wrap="square" lIns="0" tIns="0" rIns="0" bIns="0" rtlCol="0"/>
          <a:lstStyle/>
          <a:p>
            <a:endParaRPr/>
          </a:p>
        </p:txBody>
      </p:sp>
      <p:sp>
        <p:nvSpPr>
          <p:cNvPr id="29" name="object 29"/>
          <p:cNvSpPr txBox="1"/>
          <p:nvPr/>
        </p:nvSpPr>
        <p:spPr>
          <a:xfrm>
            <a:off x="3916807" y="3775191"/>
            <a:ext cx="7962900" cy="769620"/>
          </a:xfrm>
          <a:prstGeom prst="rect">
            <a:avLst/>
          </a:prstGeom>
        </p:spPr>
        <p:txBody>
          <a:bodyPr vert="horz" wrap="square" lIns="0" tIns="0" rIns="0" bIns="0" rtlCol="0">
            <a:spAutoFit/>
          </a:bodyPr>
          <a:lstStyle/>
          <a:p>
            <a:pPr marL="12700" marR="5080">
              <a:lnSpc>
                <a:spcPct val="120100"/>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L_TIM_Bas</a:t>
            </a:r>
            <a:r>
              <a:rPr sz="2400" b="1" spc="-5" dirty="0">
                <a:latin typeface="微软雅黑"/>
                <a:cs typeface="微软雅黑"/>
              </a:rPr>
              <a:t>e_</a:t>
            </a:r>
            <a:r>
              <a:rPr sz="2400" b="1" spc="-85" dirty="0">
                <a:latin typeface="微软雅黑"/>
                <a:cs typeface="微软雅黑"/>
              </a:rPr>
              <a:t>S</a:t>
            </a:r>
            <a:r>
              <a:rPr sz="2400" b="1" spc="-10" dirty="0">
                <a:latin typeface="微软雅黑"/>
                <a:cs typeface="微软雅黑"/>
              </a:rPr>
              <a:t>t</a:t>
            </a:r>
            <a:r>
              <a:rPr sz="2400" b="1" dirty="0">
                <a:latin typeface="微软雅黑"/>
                <a:cs typeface="微软雅黑"/>
              </a:rPr>
              <a:t>a</a:t>
            </a:r>
            <a:r>
              <a:rPr sz="2400" b="1" spc="60" dirty="0">
                <a:latin typeface="微软雅黑"/>
                <a:cs typeface="微软雅黑"/>
              </a:rPr>
              <a:t>r</a:t>
            </a:r>
            <a:r>
              <a:rPr sz="2400" b="1" spc="-5" dirty="0">
                <a:latin typeface="微软雅黑"/>
                <a:cs typeface="微软雅黑"/>
              </a:rPr>
              <a:t>t</a:t>
            </a:r>
            <a:r>
              <a:rPr sz="2400" b="1" dirty="0">
                <a:latin typeface="微软雅黑"/>
                <a:cs typeface="微软雅黑"/>
              </a:rPr>
              <a:t>_</a:t>
            </a:r>
            <a:r>
              <a:rPr sz="2400" b="1" spc="-5" dirty="0">
                <a:latin typeface="微软雅黑"/>
                <a:cs typeface="微软雅黑"/>
              </a:rPr>
              <a:t>I</a:t>
            </a:r>
            <a:r>
              <a:rPr sz="2400" b="1" spc="10" dirty="0">
                <a:latin typeface="微软雅黑"/>
                <a:cs typeface="微软雅黑"/>
              </a:rPr>
              <a:t>T</a:t>
            </a:r>
            <a:r>
              <a:rPr sz="2400" b="1" spc="-5" dirty="0">
                <a:latin typeface="微软雅黑"/>
                <a:cs typeface="微软雅黑"/>
              </a:rPr>
              <a:t>(TI</a:t>
            </a:r>
            <a:r>
              <a:rPr sz="2400" b="1" spc="-10" dirty="0">
                <a:latin typeface="微软雅黑"/>
                <a:cs typeface="微软雅黑"/>
              </a:rPr>
              <a:t>M_Ha</a:t>
            </a:r>
            <a:r>
              <a:rPr sz="2400" b="1" dirty="0">
                <a:latin typeface="微软雅黑"/>
                <a:cs typeface="微软雅黑"/>
              </a:rPr>
              <a:t>n</a:t>
            </a:r>
            <a:r>
              <a:rPr sz="2400" b="1" spc="-5" dirty="0">
                <a:latin typeface="微软雅黑"/>
                <a:cs typeface="微软雅黑"/>
              </a:rPr>
              <a:t>dl</a:t>
            </a:r>
            <a:r>
              <a:rPr sz="2400" b="1" spc="-15" dirty="0">
                <a:latin typeface="微软雅黑"/>
                <a:cs typeface="微软雅黑"/>
              </a:rPr>
              <a:t>e</a:t>
            </a:r>
            <a:r>
              <a:rPr sz="2400" b="1" spc="-125" dirty="0">
                <a:latin typeface="微软雅黑"/>
                <a:cs typeface="微软雅黑"/>
              </a:rPr>
              <a:t>T</a:t>
            </a:r>
            <a:r>
              <a:rPr sz="2400" b="1" spc="-5" dirty="0">
                <a:latin typeface="微软雅黑"/>
                <a:cs typeface="微软雅黑"/>
              </a:rPr>
              <a:t>ypeDe</a:t>
            </a:r>
            <a:r>
              <a:rPr sz="2400" b="1" dirty="0">
                <a:latin typeface="微软雅黑"/>
                <a:cs typeface="微软雅黑"/>
              </a:rPr>
              <a:t>f</a:t>
            </a:r>
            <a:r>
              <a:rPr sz="2400" b="1" spc="20" dirty="0">
                <a:latin typeface="微软雅黑"/>
                <a:cs typeface="微软雅黑"/>
              </a:rPr>
              <a:t> </a:t>
            </a:r>
            <a:r>
              <a:rPr sz="2400" b="1" spc="-10" dirty="0">
                <a:latin typeface="微软雅黑"/>
                <a:cs typeface="微软雅黑"/>
              </a:rPr>
              <a:t>*</a:t>
            </a:r>
            <a:r>
              <a:rPr sz="2400" b="1" spc="-5" dirty="0">
                <a:latin typeface="微软雅黑"/>
                <a:cs typeface="微软雅黑"/>
              </a:rPr>
              <a:t>h</a:t>
            </a:r>
            <a:r>
              <a:rPr sz="2400" b="1" spc="0" dirty="0">
                <a:latin typeface="微软雅黑"/>
                <a:cs typeface="微软雅黑"/>
              </a:rPr>
              <a:t>t</a:t>
            </a:r>
            <a:r>
              <a:rPr sz="2400" b="1" dirty="0">
                <a:latin typeface="微软雅黑"/>
                <a:cs typeface="微软雅黑"/>
              </a:rPr>
              <a:t>i</a:t>
            </a:r>
            <a:r>
              <a:rPr sz="2400" b="1" spc="-15" dirty="0">
                <a:latin typeface="微软雅黑"/>
                <a:cs typeface="微软雅黑"/>
              </a:rPr>
              <a:t>m</a:t>
            </a:r>
            <a:r>
              <a:rPr sz="2400" b="1" spc="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Ba</a:t>
            </a:r>
            <a:r>
              <a:rPr sz="2400" b="1" dirty="0">
                <a:latin typeface="微软雅黑"/>
                <a:cs typeface="微软雅黑"/>
              </a:rPr>
              <a:t>s</a:t>
            </a:r>
            <a:r>
              <a:rPr sz="2400" b="1" spc="-5" dirty="0">
                <a:latin typeface="微软雅黑"/>
                <a:cs typeface="微软雅黑"/>
              </a:rPr>
              <a:t>e_</a:t>
            </a:r>
            <a:r>
              <a:rPr sz="2400" b="1" spc="-85" dirty="0">
                <a:latin typeface="微软雅黑"/>
                <a:cs typeface="微软雅黑"/>
              </a:rPr>
              <a:t>S</a:t>
            </a:r>
            <a:r>
              <a:rPr sz="2400" b="1" spc="-10" dirty="0">
                <a:latin typeface="微软雅黑"/>
                <a:cs typeface="微软雅黑"/>
              </a:rPr>
              <a:t>t</a:t>
            </a:r>
            <a:r>
              <a:rPr sz="2400" b="1" spc="-5" dirty="0">
                <a:latin typeface="微软雅黑"/>
                <a:cs typeface="微软雅黑"/>
              </a:rPr>
              <a:t>op_I</a:t>
            </a:r>
            <a:r>
              <a:rPr sz="2400" b="1" spc="5" dirty="0">
                <a:latin typeface="微软雅黑"/>
                <a:cs typeface="微软雅黑"/>
              </a:rPr>
              <a:t>T</a:t>
            </a:r>
            <a:r>
              <a:rPr sz="2400" b="1" spc="-5" dirty="0">
                <a:latin typeface="微软雅黑"/>
                <a:cs typeface="微软雅黑"/>
              </a:rPr>
              <a:t>(TIM</a:t>
            </a:r>
            <a:r>
              <a:rPr sz="2400" b="1" spc="5" dirty="0">
                <a:latin typeface="微软雅黑"/>
                <a:cs typeface="微软雅黑"/>
              </a:rPr>
              <a:t>_</a:t>
            </a:r>
            <a:r>
              <a:rPr sz="2400" b="1" spc="-10" dirty="0">
                <a:latin typeface="微软雅黑"/>
                <a:cs typeface="微软雅黑"/>
              </a:rPr>
              <a:t>Ha</a:t>
            </a:r>
            <a:r>
              <a:rPr sz="2400" b="1" dirty="0">
                <a:latin typeface="微软雅黑"/>
                <a:cs typeface="微软雅黑"/>
              </a:rPr>
              <a:t>n</a:t>
            </a:r>
            <a:r>
              <a:rPr sz="2400" b="1" spc="-5" dirty="0">
                <a:latin typeface="微软雅黑"/>
                <a:cs typeface="微软雅黑"/>
              </a:rPr>
              <a:t>dl</a:t>
            </a:r>
            <a:r>
              <a:rPr sz="2400" b="1" spc="-15" dirty="0">
                <a:latin typeface="微软雅黑"/>
                <a:cs typeface="微软雅黑"/>
              </a:rPr>
              <a:t>e</a:t>
            </a:r>
            <a:r>
              <a:rPr sz="2400" b="1" spc="-125" dirty="0">
                <a:latin typeface="微软雅黑"/>
                <a:cs typeface="微软雅黑"/>
              </a:rPr>
              <a:t>T</a:t>
            </a:r>
            <a:r>
              <a:rPr sz="2400" b="1" spc="-10" dirty="0">
                <a:latin typeface="微软雅黑"/>
                <a:cs typeface="微软雅黑"/>
              </a:rPr>
              <a:t>ype</a:t>
            </a:r>
            <a:r>
              <a:rPr sz="2400" b="1" spc="-15" dirty="0">
                <a:latin typeface="微软雅黑"/>
                <a:cs typeface="微软雅黑"/>
              </a:rPr>
              <a:t>D</a:t>
            </a:r>
            <a:r>
              <a:rPr sz="2400" b="1" dirty="0">
                <a:latin typeface="微软雅黑"/>
                <a:cs typeface="微软雅黑"/>
              </a:rPr>
              <a:t>ef</a:t>
            </a:r>
            <a:r>
              <a:rPr sz="2400" b="1" spc="15" dirty="0">
                <a:latin typeface="微软雅黑"/>
                <a:cs typeface="微软雅黑"/>
              </a:rPr>
              <a:t> </a:t>
            </a:r>
            <a:r>
              <a:rPr sz="2400" b="1" spc="-10" dirty="0">
                <a:latin typeface="微软雅黑"/>
                <a:cs typeface="微软雅黑"/>
              </a:rPr>
              <a:t>*</a:t>
            </a:r>
            <a:r>
              <a:rPr sz="2400" b="1" spc="-5" dirty="0">
                <a:latin typeface="微软雅黑"/>
                <a:cs typeface="微软雅黑"/>
              </a:rPr>
              <a:t>hti</a:t>
            </a:r>
            <a:r>
              <a:rPr sz="2400" b="1" spc="-15" dirty="0">
                <a:latin typeface="微软雅黑"/>
                <a:cs typeface="微软雅黑"/>
              </a:rPr>
              <a:t>m</a:t>
            </a:r>
            <a:r>
              <a:rPr sz="2400" b="1" spc="-5" dirty="0">
                <a:latin typeface="微软雅黑"/>
                <a:cs typeface="微软雅黑"/>
              </a:rPr>
              <a:t>);</a:t>
            </a:r>
            <a:endParaRPr sz="2400">
              <a:latin typeface="微软雅黑"/>
              <a:cs typeface="微软雅黑"/>
            </a:endParaRPr>
          </a:p>
        </p:txBody>
      </p:sp>
      <p:sp>
        <p:nvSpPr>
          <p:cNvPr id="30" name="object 30"/>
          <p:cNvSpPr/>
          <p:nvPr/>
        </p:nvSpPr>
        <p:spPr>
          <a:xfrm>
            <a:off x="3806190" y="5205221"/>
            <a:ext cx="8183880" cy="1193800"/>
          </a:xfrm>
          <a:custGeom>
            <a:avLst/>
            <a:gdLst/>
            <a:ahLst/>
            <a:cxnLst/>
            <a:rect l="l" t="t" r="r" b="b"/>
            <a:pathLst>
              <a:path w="8183880" h="1193800">
                <a:moveTo>
                  <a:pt x="0" y="137286"/>
                </a:moveTo>
                <a:lnTo>
                  <a:pt x="6745" y="94665"/>
                </a:lnTo>
                <a:lnTo>
                  <a:pt x="25556" y="57496"/>
                </a:lnTo>
                <a:lnTo>
                  <a:pt x="54297" y="27915"/>
                </a:lnTo>
                <a:lnTo>
                  <a:pt x="90831" y="8059"/>
                </a:lnTo>
                <a:lnTo>
                  <a:pt x="133022" y="64"/>
                </a:lnTo>
                <a:lnTo>
                  <a:pt x="8046592" y="0"/>
                </a:lnTo>
                <a:lnTo>
                  <a:pt x="8061274" y="775"/>
                </a:lnTo>
                <a:lnTo>
                  <a:pt x="8102315" y="11780"/>
                </a:lnTo>
                <a:lnTo>
                  <a:pt x="8137192" y="34138"/>
                </a:lnTo>
                <a:lnTo>
                  <a:pt x="8163769" y="65714"/>
                </a:lnTo>
                <a:lnTo>
                  <a:pt x="8179908" y="104372"/>
                </a:lnTo>
                <a:lnTo>
                  <a:pt x="8183880" y="1056004"/>
                </a:lnTo>
                <a:lnTo>
                  <a:pt x="8183104" y="1070686"/>
                </a:lnTo>
                <a:lnTo>
                  <a:pt x="8172099" y="1111727"/>
                </a:lnTo>
                <a:lnTo>
                  <a:pt x="8149741" y="1146604"/>
                </a:lnTo>
                <a:lnTo>
                  <a:pt x="8118165" y="1173181"/>
                </a:lnTo>
                <a:lnTo>
                  <a:pt x="8079507" y="1189320"/>
                </a:lnTo>
                <a:lnTo>
                  <a:pt x="137287" y="1193291"/>
                </a:lnTo>
                <a:lnTo>
                  <a:pt x="122605" y="1192516"/>
                </a:lnTo>
                <a:lnTo>
                  <a:pt x="81564" y="1181511"/>
                </a:lnTo>
                <a:lnTo>
                  <a:pt x="46687" y="1159153"/>
                </a:lnTo>
                <a:lnTo>
                  <a:pt x="20110" y="1127577"/>
                </a:lnTo>
                <a:lnTo>
                  <a:pt x="3971" y="1088919"/>
                </a:lnTo>
                <a:lnTo>
                  <a:pt x="0" y="137286"/>
                </a:lnTo>
                <a:close/>
              </a:path>
            </a:pathLst>
          </a:custGeom>
          <a:ln w="28956">
            <a:solidFill>
              <a:srgbClr val="5B9BD4"/>
            </a:solidFill>
          </a:ln>
        </p:spPr>
        <p:txBody>
          <a:bodyPr wrap="square" lIns="0" tIns="0" rIns="0" bIns="0" rtlCol="0"/>
          <a:lstStyle/>
          <a:p>
            <a:endParaRPr/>
          </a:p>
        </p:txBody>
      </p:sp>
      <p:sp>
        <p:nvSpPr>
          <p:cNvPr id="31" name="object 31"/>
          <p:cNvSpPr txBox="1"/>
          <p:nvPr/>
        </p:nvSpPr>
        <p:spPr>
          <a:xfrm>
            <a:off x="3916807" y="5454283"/>
            <a:ext cx="7291705"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Ba</a:t>
            </a:r>
            <a:r>
              <a:rPr sz="2400" b="1" dirty="0">
                <a:latin typeface="微软雅黑"/>
                <a:cs typeface="微软雅黑"/>
              </a:rPr>
              <a:t>s</a:t>
            </a:r>
            <a:r>
              <a:rPr sz="2400" b="1" spc="-5" dirty="0">
                <a:latin typeface="微软雅黑"/>
                <a:cs typeface="微软雅黑"/>
              </a:rPr>
              <a:t>e_</a:t>
            </a:r>
            <a:r>
              <a:rPr sz="2400" b="1" spc="-85" dirty="0">
                <a:latin typeface="微软雅黑"/>
                <a:cs typeface="微软雅黑"/>
              </a:rPr>
              <a:t>S</a:t>
            </a:r>
            <a:r>
              <a:rPr sz="2400" b="1" spc="-10" dirty="0">
                <a:latin typeface="微软雅黑"/>
                <a:cs typeface="微软雅黑"/>
              </a:rPr>
              <a:t>t</a:t>
            </a:r>
            <a:r>
              <a:rPr sz="2400" b="1" dirty="0">
                <a:latin typeface="微软雅黑"/>
                <a:cs typeface="微软雅黑"/>
              </a:rPr>
              <a:t>a</a:t>
            </a:r>
            <a:r>
              <a:rPr sz="2400" b="1" spc="60" dirty="0">
                <a:latin typeface="微软雅黑"/>
                <a:cs typeface="微软雅黑"/>
              </a:rPr>
              <a:t>r</a:t>
            </a:r>
            <a:r>
              <a:rPr sz="2400" b="1" spc="-5" dirty="0">
                <a:latin typeface="微软雅黑"/>
                <a:cs typeface="微软雅黑"/>
              </a:rPr>
              <a:t>t</a:t>
            </a:r>
            <a:r>
              <a:rPr sz="2400" b="1" dirty="0">
                <a:latin typeface="微软雅黑"/>
                <a:cs typeface="微软雅黑"/>
              </a:rPr>
              <a:t>_</a:t>
            </a:r>
            <a:r>
              <a:rPr sz="2400" b="1" spc="-5" dirty="0">
                <a:latin typeface="微软雅黑"/>
                <a:cs typeface="微软雅黑"/>
              </a:rPr>
              <a:t>DM</a:t>
            </a:r>
            <a:r>
              <a:rPr sz="2400" b="1" spc="0" dirty="0">
                <a:latin typeface="微软雅黑"/>
                <a:cs typeface="微软雅黑"/>
              </a:rPr>
              <a:t>A</a:t>
            </a:r>
            <a:r>
              <a:rPr sz="2400" b="1" spc="-5" dirty="0">
                <a:latin typeface="微软雅黑"/>
                <a:cs typeface="微软雅黑"/>
              </a:rPr>
              <a:t>(TIM</a:t>
            </a:r>
            <a:r>
              <a:rPr sz="2400" b="1" spc="5" dirty="0">
                <a:latin typeface="微软雅黑"/>
                <a:cs typeface="微软雅黑"/>
              </a:rPr>
              <a:t>_</a:t>
            </a:r>
            <a:r>
              <a:rPr sz="2400" b="1" spc="-10" dirty="0">
                <a:latin typeface="微软雅黑"/>
                <a:cs typeface="微软雅黑"/>
              </a:rPr>
              <a:t>Handl</a:t>
            </a:r>
            <a:r>
              <a:rPr sz="2400" b="1" spc="-15" dirty="0">
                <a:latin typeface="微软雅黑"/>
                <a:cs typeface="微软雅黑"/>
              </a:rPr>
              <a:t>e</a:t>
            </a:r>
            <a:r>
              <a:rPr sz="2400" b="1" spc="-125" dirty="0">
                <a:latin typeface="微软雅黑"/>
                <a:cs typeface="微软雅黑"/>
              </a:rPr>
              <a:t>T</a:t>
            </a:r>
            <a:r>
              <a:rPr sz="2400" b="1" spc="-10" dirty="0">
                <a:latin typeface="微软雅黑"/>
                <a:cs typeface="微软雅黑"/>
              </a:rPr>
              <a:t>ype</a:t>
            </a:r>
            <a:r>
              <a:rPr sz="2400" b="1" spc="-15" dirty="0">
                <a:latin typeface="微软雅黑"/>
                <a:cs typeface="微软雅黑"/>
              </a:rPr>
              <a:t>D</a:t>
            </a:r>
            <a:r>
              <a:rPr sz="2400" b="1" dirty="0">
                <a:latin typeface="微软雅黑"/>
                <a:cs typeface="微软雅黑"/>
              </a:rPr>
              <a:t>ef</a:t>
            </a:r>
            <a:endParaRPr sz="2400">
              <a:latin typeface="微软雅黑"/>
              <a:cs typeface="微软雅黑"/>
            </a:endParaRPr>
          </a:p>
        </p:txBody>
      </p:sp>
      <p:sp>
        <p:nvSpPr>
          <p:cNvPr id="32" name="object 32"/>
          <p:cNvSpPr txBox="1"/>
          <p:nvPr/>
        </p:nvSpPr>
        <p:spPr>
          <a:xfrm>
            <a:off x="3916807" y="5893195"/>
            <a:ext cx="6271260" cy="330200"/>
          </a:xfrm>
          <a:prstGeom prst="rect">
            <a:avLst/>
          </a:prstGeom>
        </p:spPr>
        <p:txBody>
          <a:bodyPr vert="horz" wrap="square" lIns="0" tIns="0" rIns="0" bIns="0" rtlCol="0">
            <a:spAutoFit/>
          </a:bodyPr>
          <a:lstStyle/>
          <a:p>
            <a:pPr marL="12700">
              <a:lnSpc>
                <a:spcPct val="100000"/>
              </a:lnSpc>
            </a:pPr>
            <a:r>
              <a:rPr sz="2400" b="1" spc="-10" dirty="0">
                <a:latin typeface="微软雅黑"/>
                <a:cs typeface="微软雅黑"/>
              </a:rPr>
              <a:t>*</a:t>
            </a:r>
            <a:r>
              <a:rPr sz="2400" b="1" spc="-5" dirty="0">
                <a:latin typeface="微软雅黑"/>
                <a:cs typeface="微软雅黑"/>
              </a:rPr>
              <a:t>hti</a:t>
            </a:r>
            <a:r>
              <a:rPr sz="2400" b="1" spc="-15" dirty="0">
                <a:latin typeface="微软雅黑"/>
                <a:cs typeface="微软雅黑"/>
              </a:rPr>
              <a:t>m</a:t>
            </a:r>
            <a:r>
              <a:rPr sz="2400" b="1" spc="-5" dirty="0">
                <a:latin typeface="微软雅黑"/>
                <a:cs typeface="微软雅黑"/>
              </a:rPr>
              <a:t>,</a:t>
            </a:r>
            <a:r>
              <a:rPr sz="2400" b="1" spc="20" dirty="0">
                <a:latin typeface="微软雅黑"/>
                <a:cs typeface="微软雅黑"/>
              </a:rPr>
              <a:t> </a:t>
            </a:r>
            <a:r>
              <a:rPr sz="2400" b="1" spc="-5" dirty="0">
                <a:latin typeface="微软雅黑"/>
                <a:cs typeface="微软雅黑"/>
              </a:rPr>
              <a:t>ui</a:t>
            </a:r>
            <a:r>
              <a:rPr sz="2400" b="1" dirty="0">
                <a:latin typeface="微软雅黑"/>
                <a:cs typeface="微软雅黑"/>
              </a:rPr>
              <a:t>n</a:t>
            </a:r>
            <a:r>
              <a:rPr sz="2400" b="1" spc="-10" dirty="0">
                <a:latin typeface="微软雅黑"/>
                <a:cs typeface="微软雅黑"/>
              </a:rPr>
              <a:t>t3</a:t>
            </a:r>
            <a:r>
              <a:rPr sz="2400" b="1" spc="-15" dirty="0">
                <a:latin typeface="微软雅黑"/>
                <a:cs typeface="微软雅黑"/>
              </a:rPr>
              <a:t>2</a:t>
            </a:r>
            <a:r>
              <a:rPr sz="2400" b="1" spc="-5" dirty="0">
                <a:latin typeface="微软雅黑"/>
                <a:cs typeface="微软雅黑"/>
              </a:rPr>
              <a:t>_</a:t>
            </a:r>
            <a:r>
              <a:rPr sz="2400" b="1" dirty="0">
                <a:latin typeface="微软雅黑"/>
                <a:cs typeface="微软雅黑"/>
              </a:rPr>
              <a:t>t </a:t>
            </a:r>
            <a:r>
              <a:rPr sz="2400" b="1" spc="-10" dirty="0">
                <a:latin typeface="微软雅黑"/>
                <a:cs typeface="微软雅黑"/>
              </a:rPr>
              <a:t>*</a:t>
            </a:r>
            <a:r>
              <a:rPr sz="2400" b="1" spc="-5" dirty="0">
                <a:latin typeface="微软雅黑"/>
                <a:cs typeface="微软雅黑"/>
              </a:rPr>
              <a:t>pDat</a:t>
            </a:r>
            <a:r>
              <a:rPr sz="2400" b="1" spc="0" dirty="0">
                <a:latin typeface="微软雅黑"/>
                <a:cs typeface="微软雅黑"/>
              </a:rPr>
              <a:t>a</a:t>
            </a:r>
            <a:r>
              <a:rPr sz="2400" b="1" spc="-5" dirty="0">
                <a:latin typeface="微软雅黑"/>
                <a:cs typeface="微软雅黑"/>
              </a:rPr>
              <a:t>,</a:t>
            </a:r>
            <a:r>
              <a:rPr sz="2400" b="1" dirty="0">
                <a:latin typeface="微软雅黑"/>
                <a:cs typeface="微软雅黑"/>
              </a:rPr>
              <a:t> </a:t>
            </a:r>
            <a:r>
              <a:rPr sz="2400" b="1" spc="5" dirty="0">
                <a:latin typeface="微软雅黑"/>
                <a:cs typeface="微软雅黑"/>
              </a:rPr>
              <a:t>u</a:t>
            </a:r>
            <a:r>
              <a:rPr sz="2400" b="1" spc="-5" dirty="0">
                <a:latin typeface="微软雅黑"/>
                <a:cs typeface="微软雅黑"/>
              </a:rPr>
              <a:t>int16_t </a:t>
            </a:r>
            <a:r>
              <a:rPr sz="2400" b="1" spc="-15" dirty="0">
                <a:latin typeface="微软雅黑"/>
                <a:cs typeface="微软雅黑"/>
              </a:rPr>
              <a:t>L</a:t>
            </a:r>
            <a:r>
              <a:rPr sz="2400" b="1" spc="-5" dirty="0">
                <a:latin typeface="微软雅黑"/>
                <a:cs typeface="微软雅黑"/>
              </a:rPr>
              <a:t>ength);</a:t>
            </a:r>
            <a:endParaRPr sz="2400">
              <a:latin typeface="微软雅黑"/>
              <a:cs typeface="微软雅黑"/>
            </a:endParaRPr>
          </a:p>
        </p:txBody>
      </p:sp>
      <p:sp>
        <p:nvSpPr>
          <p:cNvPr id="33" name="object 33"/>
          <p:cNvSpPr/>
          <p:nvPr/>
        </p:nvSpPr>
        <p:spPr>
          <a:xfrm>
            <a:off x="6553961" y="788669"/>
            <a:ext cx="5436235" cy="937260"/>
          </a:xfrm>
          <a:custGeom>
            <a:avLst/>
            <a:gdLst/>
            <a:ahLst/>
            <a:cxnLst/>
            <a:rect l="l" t="t" r="r" b="b"/>
            <a:pathLst>
              <a:path w="5436234" h="937260">
                <a:moveTo>
                  <a:pt x="5279898" y="0"/>
                </a:moveTo>
                <a:lnTo>
                  <a:pt x="150363" y="107"/>
                </a:lnTo>
                <a:lnTo>
                  <a:pt x="107978" y="7596"/>
                </a:lnTo>
                <a:lnTo>
                  <a:pt x="70365" y="25703"/>
                </a:lnTo>
                <a:lnTo>
                  <a:pt x="39177" y="52773"/>
                </a:lnTo>
                <a:lnTo>
                  <a:pt x="16069" y="87154"/>
                </a:lnTo>
                <a:lnTo>
                  <a:pt x="2693" y="127191"/>
                </a:lnTo>
                <a:lnTo>
                  <a:pt x="0" y="156209"/>
                </a:lnTo>
                <a:lnTo>
                  <a:pt x="107" y="786896"/>
                </a:lnTo>
                <a:lnTo>
                  <a:pt x="7596" y="829281"/>
                </a:lnTo>
                <a:lnTo>
                  <a:pt x="25703" y="866894"/>
                </a:lnTo>
                <a:lnTo>
                  <a:pt x="52773" y="898082"/>
                </a:lnTo>
                <a:lnTo>
                  <a:pt x="87154" y="921190"/>
                </a:lnTo>
                <a:lnTo>
                  <a:pt x="127191" y="934566"/>
                </a:lnTo>
                <a:lnTo>
                  <a:pt x="156210" y="937259"/>
                </a:lnTo>
                <a:lnTo>
                  <a:pt x="5285744" y="937152"/>
                </a:lnTo>
                <a:lnTo>
                  <a:pt x="5328129" y="929663"/>
                </a:lnTo>
                <a:lnTo>
                  <a:pt x="5365742" y="911556"/>
                </a:lnTo>
                <a:lnTo>
                  <a:pt x="5396930" y="884486"/>
                </a:lnTo>
                <a:lnTo>
                  <a:pt x="5420038" y="850105"/>
                </a:lnTo>
                <a:lnTo>
                  <a:pt x="5433414" y="810068"/>
                </a:lnTo>
                <a:lnTo>
                  <a:pt x="5436108" y="781050"/>
                </a:lnTo>
                <a:lnTo>
                  <a:pt x="5436000" y="150363"/>
                </a:lnTo>
                <a:lnTo>
                  <a:pt x="5428511" y="107978"/>
                </a:lnTo>
                <a:lnTo>
                  <a:pt x="5410404" y="70365"/>
                </a:lnTo>
                <a:lnTo>
                  <a:pt x="5383334" y="39177"/>
                </a:lnTo>
                <a:lnTo>
                  <a:pt x="5348953" y="16069"/>
                </a:lnTo>
                <a:lnTo>
                  <a:pt x="5308916" y="2693"/>
                </a:lnTo>
                <a:lnTo>
                  <a:pt x="5279898" y="0"/>
                </a:lnTo>
                <a:close/>
              </a:path>
            </a:pathLst>
          </a:custGeom>
          <a:solidFill>
            <a:srgbClr val="FFFFC7"/>
          </a:solidFill>
        </p:spPr>
        <p:txBody>
          <a:bodyPr wrap="square" lIns="0" tIns="0" rIns="0" bIns="0" rtlCol="0"/>
          <a:lstStyle/>
          <a:p>
            <a:endParaRPr/>
          </a:p>
        </p:txBody>
      </p:sp>
      <p:sp>
        <p:nvSpPr>
          <p:cNvPr id="34" name="object 34"/>
          <p:cNvSpPr/>
          <p:nvPr/>
        </p:nvSpPr>
        <p:spPr>
          <a:xfrm>
            <a:off x="6553961" y="788669"/>
            <a:ext cx="5436235" cy="937260"/>
          </a:xfrm>
          <a:custGeom>
            <a:avLst/>
            <a:gdLst/>
            <a:ahLst/>
            <a:cxnLst/>
            <a:rect l="l" t="t" r="r" b="b"/>
            <a:pathLst>
              <a:path w="5436234" h="937260">
                <a:moveTo>
                  <a:pt x="0" y="156209"/>
                </a:moveTo>
                <a:lnTo>
                  <a:pt x="5968" y="113319"/>
                </a:lnTo>
                <a:lnTo>
                  <a:pt x="22772" y="74983"/>
                </a:lnTo>
                <a:lnTo>
                  <a:pt x="48757" y="42856"/>
                </a:lnTo>
                <a:lnTo>
                  <a:pt x="82270" y="18589"/>
                </a:lnTo>
                <a:lnTo>
                  <a:pt x="121658" y="3838"/>
                </a:lnTo>
                <a:lnTo>
                  <a:pt x="906018" y="0"/>
                </a:lnTo>
                <a:lnTo>
                  <a:pt x="2265045" y="0"/>
                </a:lnTo>
                <a:lnTo>
                  <a:pt x="5279898" y="0"/>
                </a:lnTo>
                <a:lnTo>
                  <a:pt x="5294598" y="683"/>
                </a:lnTo>
                <a:lnTo>
                  <a:pt x="5336154" y="10447"/>
                </a:lnTo>
                <a:lnTo>
                  <a:pt x="5372604" y="30495"/>
                </a:lnTo>
                <a:lnTo>
                  <a:pt x="5402295" y="59173"/>
                </a:lnTo>
                <a:lnTo>
                  <a:pt x="5423573" y="94828"/>
                </a:lnTo>
                <a:lnTo>
                  <a:pt x="5434785" y="135807"/>
                </a:lnTo>
                <a:lnTo>
                  <a:pt x="5436108" y="546734"/>
                </a:lnTo>
                <a:lnTo>
                  <a:pt x="5436108" y="781050"/>
                </a:lnTo>
                <a:lnTo>
                  <a:pt x="5435424" y="795750"/>
                </a:lnTo>
                <a:lnTo>
                  <a:pt x="5433414" y="810068"/>
                </a:lnTo>
                <a:lnTo>
                  <a:pt x="5420038" y="850105"/>
                </a:lnTo>
                <a:lnTo>
                  <a:pt x="5396930" y="884486"/>
                </a:lnTo>
                <a:lnTo>
                  <a:pt x="5365742" y="911556"/>
                </a:lnTo>
                <a:lnTo>
                  <a:pt x="5328129" y="929663"/>
                </a:lnTo>
                <a:lnTo>
                  <a:pt x="5285744" y="937152"/>
                </a:lnTo>
                <a:lnTo>
                  <a:pt x="2265045" y="937259"/>
                </a:lnTo>
                <a:lnTo>
                  <a:pt x="1523238" y="937259"/>
                </a:lnTo>
                <a:lnTo>
                  <a:pt x="906018" y="937259"/>
                </a:lnTo>
                <a:lnTo>
                  <a:pt x="156210" y="937259"/>
                </a:lnTo>
                <a:lnTo>
                  <a:pt x="141509" y="936576"/>
                </a:lnTo>
                <a:lnTo>
                  <a:pt x="99953" y="926812"/>
                </a:lnTo>
                <a:lnTo>
                  <a:pt x="63503" y="906764"/>
                </a:lnTo>
                <a:lnTo>
                  <a:pt x="33812" y="878086"/>
                </a:lnTo>
                <a:lnTo>
                  <a:pt x="12534" y="842431"/>
                </a:lnTo>
                <a:lnTo>
                  <a:pt x="1322" y="801452"/>
                </a:lnTo>
                <a:lnTo>
                  <a:pt x="0" y="781050"/>
                </a:lnTo>
                <a:lnTo>
                  <a:pt x="0" y="546734"/>
                </a:lnTo>
                <a:lnTo>
                  <a:pt x="0" y="156209"/>
                </a:lnTo>
                <a:close/>
              </a:path>
            </a:pathLst>
          </a:custGeom>
          <a:ln w="28956">
            <a:solidFill>
              <a:srgbClr val="000000"/>
            </a:solidFill>
          </a:ln>
        </p:spPr>
        <p:txBody>
          <a:bodyPr wrap="square" lIns="0" tIns="0" rIns="0" bIns="0" rtlCol="0"/>
          <a:lstStyle/>
          <a:p>
            <a:endParaRPr/>
          </a:p>
        </p:txBody>
      </p:sp>
      <p:sp>
        <p:nvSpPr>
          <p:cNvPr id="35" name="object 35"/>
          <p:cNvSpPr txBox="1">
            <a:spLocks noGrp="1"/>
          </p:cNvSpPr>
          <p:nvPr>
            <p:ph type="title"/>
          </p:nvPr>
        </p:nvSpPr>
        <p:spPr>
          <a:xfrm>
            <a:off x="6677914" y="909256"/>
            <a:ext cx="5094605" cy="731520"/>
          </a:xfrm>
          <a:prstGeom prst="rect">
            <a:avLst/>
          </a:prstGeom>
        </p:spPr>
        <p:txBody>
          <a:bodyPr vert="horz" wrap="square" lIns="0" tIns="0" rIns="0" bIns="0" rtlCol="0">
            <a:spAutoFit/>
          </a:bodyPr>
          <a:lstStyle/>
          <a:p>
            <a:pPr marL="12700" marR="5080">
              <a:lnSpc>
                <a:spcPct val="100000"/>
              </a:lnSpc>
            </a:pPr>
            <a:r>
              <a:rPr sz="2400" dirty="0">
                <a:latin typeface="宋体"/>
                <a:cs typeface="宋体"/>
              </a:rPr>
              <a:t>特点</a:t>
            </a:r>
            <a:r>
              <a:rPr sz="2400" spc="-5" dirty="0">
                <a:latin typeface="Consolas"/>
                <a:cs typeface="Consolas"/>
              </a:rPr>
              <a:t>1</a:t>
            </a:r>
            <a:r>
              <a:rPr sz="2400" dirty="0">
                <a:latin typeface="宋体"/>
                <a:cs typeface="宋体"/>
              </a:rPr>
              <a:t>：以后缀区分编程模型 特点</a:t>
            </a:r>
            <a:r>
              <a:rPr sz="2400" spc="-5" dirty="0">
                <a:latin typeface="Consolas"/>
                <a:cs typeface="Consolas"/>
              </a:rPr>
              <a:t>2</a:t>
            </a:r>
            <a:r>
              <a:rPr sz="2400" dirty="0">
                <a:latin typeface="宋体"/>
                <a:cs typeface="宋体"/>
              </a:rPr>
              <a:t>：入口参数均为外设句柄的指针</a:t>
            </a:r>
            <a:endParaRPr sz="2400">
              <a:latin typeface="宋体"/>
              <a:cs typeface="宋体"/>
            </a:endParaRPr>
          </a:p>
        </p:txBody>
      </p:sp>
      <p:sp>
        <p:nvSpPr>
          <p:cNvPr id="36" name="object 36"/>
          <p:cNvSpPr/>
          <p:nvPr/>
        </p:nvSpPr>
        <p:spPr>
          <a:xfrm>
            <a:off x="3867150" y="3641597"/>
            <a:ext cx="3606165" cy="957580"/>
          </a:xfrm>
          <a:custGeom>
            <a:avLst/>
            <a:gdLst/>
            <a:ahLst/>
            <a:cxnLst/>
            <a:rect l="l" t="t" r="r" b="b"/>
            <a:pathLst>
              <a:path w="3606165" h="957579">
                <a:moveTo>
                  <a:pt x="0" y="957071"/>
                </a:moveTo>
                <a:lnTo>
                  <a:pt x="3605784" y="957071"/>
                </a:lnTo>
                <a:lnTo>
                  <a:pt x="3605784" y="0"/>
                </a:lnTo>
                <a:lnTo>
                  <a:pt x="0" y="0"/>
                </a:lnTo>
                <a:lnTo>
                  <a:pt x="0" y="957071"/>
                </a:lnTo>
                <a:close/>
              </a:path>
            </a:pathLst>
          </a:custGeom>
          <a:ln w="38100">
            <a:solidFill>
              <a:srgbClr val="FF0000"/>
            </a:solidFill>
          </a:ln>
        </p:spPr>
        <p:txBody>
          <a:bodyPr wrap="square" lIns="0" tIns="0" rIns="0" bIns="0" rtlCol="0"/>
          <a:lstStyle/>
          <a:p>
            <a:endParaRPr/>
          </a:p>
        </p:txBody>
      </p:sp>
      <p:sp>
        <p:nvSpPr>
          <p:cNvPr id="37" name="object 37"/>
          <p:cNvSpPr/>
          <p:nvPr/>
        </p:nvSpPr>
        <p:spPr>
          <a:xfrm>
            <a:off x="3867150" y="5305805"/>
            <a:ext cx="4086225" cy="541020"/>
          </a:xfrm>
          <a:custGeom>
            <a:avLst/>
            <a:gdLst/>
            <a:ahLst/>
            <a:cxnLst/>
            <a:rect l="l" t="t" r="r" b="b"/>
            <a:pathLst>
              <a:path w="4086225" h="541020">
                <a:moveTo>
                  <a:pt x="0" y="541020"/>
                </a:moveTo>
                <a:lnTo>
                  <a:pt x="4085844" y="541020"/>
                </a:lnTo>
                <a:lnTo>
                  <a:pt x="4085844" y="0"/>
                </a:lnTo>
                <a:lnTo>
                  <a:pt x="0" y="0"/>
                </a:lnTo>
                <a:lnTo>
                  <a:pt x="0" y="541020"/>
                </a:lnTo>
                <a:close/>
              </a:path>
            </a:pathLst>
          </a:custGeom>
          <a:ln w="38100">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1906357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a:spLocks noGrp="1"/>
          </p:cNvSpPr>
          <p:nvPr>
            <p:ph type="title"/>
          </p:nvPr>
        </p:nvSpPr>
        <p:spPr>
          <a:xfrm>
            <a:off x="0" y="664239"/>
            <a:ext cx="10515600" cy="1325563"/>
          </a:xfrm>
          <a:prstGeom prst="rect">
            <a:avLst/>
          </a:prstGeom>
        </p:spPr>
        <p:txBody>
          <a:bodyPr vert="horz" wrap="square" lIns="0" tIns="0" rIns="0" bIns="0" rtlCol="0">
            <a:spAutoFit/>
          </a:bodyPr>
          <a:lstStyle/>
          <a:p>
            <a:pPr>
              <a:lnSpc>
                <a:spcPct val="100000"/>
              </a:lnSpc>
            </a:pPr>
            <a:r>
              <a:rPr sz="2400" dirty="0">
                <a:solidFill>
                  <a:srgbClr val="FFFFFF"/>
                </a:solidFill>
              </a:rPr>
              <a:t>通用接口函数</a:t>
            </a:r>
            <a:endParaRPr sz="2400" dirty="0"/>
          </a:p>
        </p:txBody>
      </p:sp>
      <p:sp>
        <p:nvSpPr>
          <p:cNvPr id="10" name="object 10"/>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1" name="object 11"/>
          <p:cNvSpPr/>
          <p:nvPr/>
        </p:nvSpPr>
        <p:spPr>
          <a:xfrm>
            <a:off x="2253995" y="3061716"/>
            <a:ext cx="7554595" cy="0"/>
          </a:xfrm>
          <a:custGeom>
            <a:avLst/>
            <a:gdLst/>
            <a:ahLst/>
            <a:cxnLst/>
            <a:rect l="l" t="t" r="r" b="b"/>
            <a:pathLst>
              <a:path w="7554595">
                <a:moveTo>
                  <a:pt x="0" y="0"/>
                </a:moveTo>
                <a:lnTo>
                  <a:pt x="7554340" y="0"/>
                </a:lnTo>
              </a:path>
            </a:pathLst>
          </a:custGeom>
          <a:ln w="57912">
            <a:solidFill>
              <a:srgbClr val="7E7E7E"/>
            </a:solidFill>
          </a:ln>
        </p:spPr>
        <p:txBody>
          <a:bodyPr wrap="square" lIns="0" tIns="0" rIns="0" bIns="0" rtlCol="0"/>
          <a:lstStyle/>
          <a:p>
            <a:endParaRPr/>
          </a:p>
        </p:txBody>
      </p:sp>
      <p:sp>
        <p:nvSpPr>
          <p:cNvPr id="12" name="object 12"/>
          <p:cNvSpPr/>
          <p:nvPr/>
        </p:nvSpPr>
        <p:spPr>
          <a:xfrm>
            <a:off x="2123847" y="3061716"/>
            <a:ext cx="260350" cy="812165"/>
          </a:xfrm>
          <a:custGeom>
            <a:avLst/>
            <a:gdLst/>
            <a:ahLst/>
            <a:cxnLst/>
            <a:rect l="l" t="t" r="r" b="b"/>
            <a:pathLst>
              <a:path w="260350" h="812164">
                <a:moveTo>
                  <a:pt x="32617" y="552937"/>
                </a:moveTo>
                <a:lnTo>
                  <a:pt x="20552" y="554651"/>
                </a:lnTo>
                <a:lnTo>
                  <a:pt x="7086" y="561299"/>
                </a:lnTo>
                <a:lnTo>
                  <a:pt x="1226" y="571629"/>
                </a:lnTo>
                <a:lnTo>
                  <a:pt x="0" y="583390"/>
                </a:lnTo>
                <a:lnTo>
                  <a:pt x="3783" y="594995"/>
                </a:lnTo>
                <a:lnTo>
                  <a:pt x="130148" y="811657"/>
                </a:lnTo>
                <a:lnTo>
                  <a:pt x="163629" y="754253"/>
                </a:lnTo>
                <a:lnTo>
                  <a:pt x="101192" y="754253"/>
                </a:lnTo>
                <a:lnTo>
                  <a:pt x="101192" y="647589"/>
                </a:lnTo>
                <a:lnTo>
                  <a:pt x="50882" y="561781"/>
                </a:lnTo>
                <a:lnTo>
                  <a:pt x="42866" y="555525"/>
                </a:lnTo>
                <a:lnTo>
                  <a:pt x="32617" y="552937"/>
                </a:lnTo>
                <a:close/>
              </a:path>
              <a:path w="260350" h="812164">
                <a:moveTo>
                  <a:pt x="101192" y="647589"/>
                </a:moveTo>
                <a:lnTo>
                  <a:pt x="101192" y="754253"/>
                </a:lnTo>
                <a:lnTo>
                  <a:pt x="159104" y="754253"/>
                </a:lnTo>
                <a:lnTo>
                  <a:pt x="159104" y="739648"/>
                </a:lnTo>
                <a:lnTo>
                  <a:pt x="105129" y="739648"/>
                </a:lnTo>
                <a:lnTo>
                  <a:pt x="130085" y="696867"/>
                </a:lnTo>
                <a:lnTo>
                  <a:pt x="101192" y="647589"/>
                </a:lnTo>
                <a:close/>
              </a:path>
              <a:path w="260350" h="812164">
                <a:moveTo>
                  <a:pt x="237340" y="552109"/>
                </a:moveTo>
                <a:lnTo>
                  <a:pt x="225518" y="552138"/>
                </a:lnTo>
                <a:lnTo>
                  <a:pt x="214729" y="556878"/>
                </a:lnTo>
                <a:lnTo>
                  <a:pt x="206475" y="565912"/>
                </a:lnTo>
                <a:lnTo>
                  <a:pt x="159104" y="647119"/>
                </a:lnTo>
                <a:lnTo>
                  <a:pt x="159104" y="754253"/>
                </a:lnTo>
                <a:lnTo>
                  <a:pt x="163629" y="754253"/>
                </a:lnTo>
                <a:lnTo>
                  <a:pt x="256513" y="594995"/>
                </a:lnTo>
                <a:lnTo>
                  <a:pt x="258263" y="591453"/>
                </a:lnTo>
                <a:lnTo>
                  <a:pt x="260164" y="581237"/>
                </a:lnTo>
                <a:lnTo>
                  <a:pt x="257572" y="570772"/>
                </a:lnTo>
                <a:lnTo>
                  <a:pt x="250095" y="560812"/>
                </a:lnTo>
                <a:lnTo>
                  <a:pt x="237340" y="552109"/>
                </a:lnTo>
                <a:close/>
              </a:path>
              <a:path w="260350" h="812164">
                <a:moveTo>
                  <a:pt x="130085" y="696867"/>
                </a:moveTo>
                <a:lnTo>
                  <a:pt x="105129" y="739648"/>
                </a:lnTo>
                <a:lnTo>
                  <a:pt x="155167" y="739648"/>
                </a:lnTo>
                <a:lnTo>
                  <a:pt x="130085" y="696867"/>
                </a:lnTo>
                <a:close/>
              </a:path>
              <a:path w="260350" h="812164">
                <a:moveTo>
                  <a:pt x="159104" y="647119"/>
                </a:moveTo>
                <a:lnTo>
                  <a:pt x="130085" y="696867"/>
                </a:lnTo>
                <a:lnTo>
                  <a:pt x="155167" y="739648"/>
                </a:lnTo>
                <a:lnTo>
                  <a:pt x="159104" y="739648"/>
                </a:lnTo>
                <a:lnTo>
                  <a:pt x="159104" y="647119"/>
                </a:lnTo>
                <a:close/>
              </a:path>
              <a:path w="260350" h="812164">
                <a:moveTo>
                  <a:pt x="159104" y="0"/>
                </a:moveTo>
                <a:lnTo>
                  <a:pt x="101192" y="0"/>
                </a:lnTo>
                <a:lnTo>
                  <a:pt x="101192" y="647589"/>
                </a:lnTo>
                <a:lnTo>
                  <a:pt x="130085" y="696867"/>
                </a:lnTo>
                <a:lnTo>
                  <a:pt x="159104" y="647119"/>
                </a:lnTo>
                <a:lnTo>
                  <a:pt x="159104" y="0"/>
                </a:lnTo>
                <a:close/>
              </a:path>
            </a:pathLst>
          </a:custGeom>
          <a:solidFill>
            <a:srgbClr val="7E7E7E"/>
          </a:solidFill>
        </p:spPr>
        <p:txBody>
          <a:bodyPr wrap="square" lIns="0" tIns="0" rIns="0" bIns="0" rtlCol="0"/>
          <a:lstStyle/>
          <a:p>
            <a:endParaRPr/>
          </a:p>
        </p:txBody>
      </p:sp>
      <p:sp>
        <p:nvSpPr>
          <p:cNvPr id="13" name="object 13"/>
          <p:cNvSpPr/>
          <p:nvPr/>
        </p:nvSpPr>
        <p:spPr>
          <a:xfrm>
            <a:off x="4667403" y="3061716"/>
            <a:ext cx="260350" cy="812165"/>
          </a:xfrm>
          <a:custGeom>
            <a:avLst/>
            <a:gdLst/>
            <a:ahLst/>
            <a:cxnLst/>
            <a:rect l="l" t="t" r="r" b="b"/>
            <a:pathLst>
              <a:path w="260350" h="812164">
                <a:moveTo>
                  <a:pt x="32617" y="552937"/>
                </a:moveTo>
                <a:lnTo>
                  <a:pt x="20552" y="554651"/>
                </a:lnTo>
                <a:lnTo>
                  <a:pt x="7086" y="561299"/>
                </a:lnTo>
                <a:lnTo>
                  <a:pt x="1226" y="571629"/>
                </a:lnTo>
                <a:lnTo>
                  <a:pt x="0" y="583390"/>
                </a:lnTo>
                <a:lnTo>
                  <a:pt x="3783" y="594995"/>
                </a:lnTo>
                <a:lnTo>
                  <a:pt x="130148" y="811657"/>
                </a:lnTo>
                <a:lnTo>
                  <a:pt x="163629" y="754253"/>
                </a:lnTo>
                <a:lnTo>
                  <a:pt x="101192" y="754253"/>
                </a:lnTo>
                <a:lnTo>
                  <a:pt x="101192" y="647589"/>
                </a:lnTo>
                <a:lnTo>
                  <a:pt x="50882" y="561781"/>
                </a:lnTo>
                <a:lnTo>
                  <a:pt x="42866" y="555525"/>
                </a:lnTo>
                <a:lnTo>
                  <a:pt x="32617" y="552937"/>
                </a:lnTo>
                <a:close/>
              </a:path>
              <a:path w="260350" h="812164">
                <a:moveTo>
                  <a:pt x="101192" y="647589"/>
                </a:moveTo>
                <a:lnTo>
                  <a:pt x="101192" y="754253"/>
                </a:lnTo>
                <a:lnTo>
                  <a:pt x="159104" y="754253"/>
                </a:lnTo>
                <a:lnTo>
                  <a:pt x="159104" y="739648"/>
                </a:lnTo>
                <a:lnTo>
                  <a:pt x="105129" y="739648"/>
                </a:lnTo>
                <a:lnTo>
                  <a:pt x="130085" y="696867"/>
                </a:lnTo>
                <a:lnTo>
                  <a:pt x="101192" y="647589"/>
                </a:lnTo>
                <a:close/>
              </a:path>
              <a:path w="260350" h="812164">
                <a:moveTo>
                  <a:pt x="237340" y="552109"/>
                </a:moveTo>
                <a:lnTo>
                  <a:pt x="225518" y="552138"/>
                </a:lnTo>
                <a:lnTo>
                  <a:pt x="214729" y="556878"/>
                </a:lnTo>
                <a:lnTo>
                  <a:pt x="206475" y="565912"/>
                </a:lnTo>
                <a:lnTo>
                  <a:pt x="159104" y="647119"/>
                </a:lnTo>
                <a:lnTo>
                  <a:pt x="159104" y="754253"/>
                </a:lnTo>
                <a:lnTo>
                  <a:pt x="163629" y="754253"/>
                </a:lnTo>
                <a:lnTo>
                  <a:pt x="256513" y="594995"/>
                </a:lnTo>
                <a:lnTo>
                  <a:pt x="258263" y="591453"/>
                </a:lnTo>
                <a:lnTo>
                  <a:pt x="260164" y="581237"/>
                </a:lnTo>
                <a:lnTo>
                  <a:pt x="257572" y="570772"/>
                </a:lnTo>
                <a:lnTo>
                  <a:pt x="250095" y="560812"/>
                </a:lnTo>
                <a:lnTo>
                  <a:pt x="237340" y="552109"/>
                </a:lnTo>
                <a:close/>
              </a:path>
              <a:path w="260350" h="812164">
                <a:moveTo>
                  <a:pt x="130085" y="696867"/>
                </a:moveTo>
                <a:lnTo>
                  <a:pt x="105129" y="739648"/>
                </a:lnTo>
                <a:lnTo>
                  <a:pt x="155167" y="739648"/>
                </a:lnTo>
                <a:lnTo>
                  <a:pt x="130085" y="696867"/>
                </a:lnTo>
                <a:close/>
              </a:path>
              <a:path w="260350" h="812164">
                <a:moveTo>
                  <a:pt x="159104" y="647119"/>
                </a:moveTo>
                <a:lnTo>
                  <a:pt x="130085" y="696867"/>
                </a:lnTo>
                <a:lnTo>
                  <a:pt x="155167" y="739648"/>
                </a:lnTo>
                <a:lnTo>
                  <a:pt x="159104" y="739648"/>
                </a:lnTo>
                <a:lnTo>
                  <a:pt x="159104" y="647119"/>
                </a:lnTo>
                <a:close/>
              </a:path>
              <a:path w="260350" h="812164">
                <a:moveTo>
                  <a:pt x="159104" y="0"/>
                </a:moveTo>
                <a:lnTo>
                  <a:pt x="101192" y="0"/>
                </a:lnTo>
                <a:lnTo>
                  <a:pt x="101192" y="647589"/>
                </a:lnTo>
                <a:lnTo>
                  <a:pt x="130085" y="696867"/>
                </a:lnTo>
                <a:lnTo>
                  <a:pt x="159104" y="647119"/>
                </a:lnTo>
                <a:lnTo>
                  <a:pt x="159104" y="0"/>
                </a:lnTo>
                <a:close/>
              </a:path>
            </a:pathLst>
          </a:custGeom>
          <a:solidFill>
            <a:srgbClr val="7E7E7E"/>
          </a:solidFill>
        </p:spPr>
        <p:txBody>
          <a:bodyPr wrap="square" lIns="0" tIns="0" rIns="0" bIns="0" rtlCol="0"/>
          <a:lstStyle/>
          <a:p>
            <a:endParaRPr/>
          </a:p>
        </p:txBody>
      </p:sp>
      <p:sp>
        <p:nvSpPr>
          <p:cNvPr id="14" name="object 14"/>
          <p:cNvSpPr/>
          <p:nvPr/>
        </p:nvSpPr>
        <p:spPr>
          <a:xfrm>
            <a:off x="7313066" y="3061716"/>
            <a:ext cx="260350" cy="812165"/>
          </a:xfrm>
          <a:custGeom>
            <a:avLst/>
            <a:gdLst/>
            <a:ahLst/>
            <a:cxnLst/>
            <a:rect l="l" t="t" r="r" b="b"/>
            <a:pathLst>
              <a:path w="260350" h="812164">
                <a:moveTo>
                  <a:pt x="32617" y="552937"/>
                </a:moveTo>
                <a:lnTo>
                  <a:pt x="20552" y="554651"/>
                </a:lnTo>
                <a:lnTo>
                  <a:pt x="7086" y="561299"/>
                </a:lnTo>
                <a:lnTo>
                  <a:pt x="1226" y="571629"/>
                </a:lnTo>
                <a:lnTo>
                  <a:pt x="0" y="583390"/>
                </a:lnTo>
                <a:lnTo>
                  <a:pt x="3783" y="594995"/>
                </a:lnTo>
                <a:lnTo>
                  <a:pt x="130148" y="811657"/>
                </a:lnTo>
                <a:lnTo>
                  <a:pt x="163629" y="754253"/>
                </a:lnTo>
                <a:lnTo>
                  <a:pt x="101192" y="754253"/>
                </a:lnTo>
                <a:lnTo>
                  <a:pt x="101192" y="647589"/>
                </a:lnTo>
                <a:lnTo>
                  <a:pt x="50882" y="561781"/>
                </a:lnTo>
                <a:lnTo>
                  <a:pt x="42866" y="555525"/>
                </a:lnTo>
                <a:lnTo>
                  <a:pt x="32617" y="552937"/>
                </a:lnTo>
                <a:close/>
              </a:path>
              <a:path w="260350" h="812164">
                <a:moveTo>
                  <a:pt x="101192" y="647589"/>
                </a:moveTo>
                <a:lnTo>
                  <a:pt x="101192" y="754253"/>
                </a:lnTo>
                <a:lnTo>
                  <a:pt x="159104" y="754253"/>
                </a:lnTo>
                <a:lnTo>
                  <a:pt x="159104" y="739648"/>
                </a:lnTo>
                <a:lnTo>
                  <a:pt x="105129" y="739648"/>
                </a:lnTo>
                <a:lnTo>
                  <a:pt x="130085" y="696867"/>
                </a:lnTo>
                <a:lnTo>
                  <a:pt x="101192" y="647589"/>
                </a:lnTo>
                <a:close/>
              </a:path>
              <a:path w="260350" h="812164">
                <a:moveTo>
                  <a:pt x="237327" y="552109"/>
                </a:moveTo>
                <a:lnTo>
                  <a:pt x="225474" y="552138"/>
                </a:lnTo>
                <a:lnTo>
                  <a:pt x="214674" y="556878"/>
                </a:lnTo>
                <a:lnTo>
                  <a:pt x="206475" y="565912"/>
                </a:lnTo>
                <a:lnTo>
                  <a:pt x="159104" y="647119"/>
                </a:lnTo>
                <a:lnTo>
                  <a:pt x="159104" y="754253"/>
                </a:lnTo>
                <a:lnTo>
                  <a:pt x="163629" y="754253"/>
                </a:lnTo>
                <a:lnTo>
                  <a:pt x="256513" y="594995"/>
                </a:lnTo>
                <a:lnTo>
                  <a:pt x="258265" y="591447"/>
                </a:lnTo>
                <a:lnTo>
                  <a:pt x="260163" y="581232"/>
                </a:lnTo>
                <a:lnTo>
                  <a:pt x="257569" y="570769"/>
                </a:lnTo>
                <a:lnTo>
                  <a:pt x="250088" y="560811"/>
                </a:lnTo>
                <a:lnTo>
                  <a:pt x="237327" y="552109"/>
                </a:lnTo>
                <a:close/>
              </a:path>
              <a:path w="260350" h="812164">
                <a:moveTo>
                  <a:pt x="130085" y="696867"/>
                </a:moveTo>
                <a:lnTo>
                  <a:pt x="105129" y="739648"/>
                </a:lnTo>
                <a:lnTo>
                  <a:pt x="155167" y="739648"/>
                </a:lnTo>
                <a:lnTo>
                  <a:pt x="130085" y="696867"/>
                </a:lnTo>
                <a:close/>
              </a:path>
              <a:path w="260350" h="812164">
                <a:moveTo>
                  <a:pt x="159104" y="647119"/>
                </a:moveTo>
                <a:lnTo>
                  <a:pt x="130085" y="696867"/>
                </a:lnTo>
                <a:lnTo>
                  <a:pt x="155167" y="739648"/>
                </a:lnTo>
                <a:lnTo>
                  <a:pt x="159104" y="739648"/>
                </a:lnTo>
                <a:lnTo>
                  <a:pt x="159104" y="647119"/>
                </a:lnTo>
                <a:close/>
              </a:path>
              <a:path w="260350" h="812164">
                <a:moveTo>
                  <a:pt x="159104" y="0"/>
                </a:moveTo>
                <a:lnTo>
                  <a:pt x="101192" y="0"/>
                </a:lnTo>
                <a:lnTo>
                  <a:pt x="101192" y="647589"/>
                </a:lnTo>
                <a:lnTo>
                  <a:pt x="130085" y="696867"/>
                </a:lnTo>
                <a:lnTo>
                  <a:pt x="159104" y="647119"/>
                </a:lnTo>
                <a:lnTo>
                  <a:pt x="159104" y="0"/>
                </a:lnTo>
                <a:close/>
              </a:path>
            </a:pathLst>
          </a:custGeom>
          <a:solidFill>
            <a:srgbClr val="7E7E7E"/>
          </a:solidFill>
        </p:spPr>
        <p:txBody>
          <a:bodyPr wrap="square" lIns="0" tIns="0" rIns="0" bIns="0" rtlCol="0"/>
          <a:lstStyle/>
          <a:p>
            <a:endParaRPr/>
          </a:p>
        </p:txBody>
      </p:sp>
      <p:sp>
        <p:nvSpPr>
          <p:cNvPr id="15" name="object 15"/>
          <p:cNvSpPr/>
          <p:nvPr/>
        </p:nvSpPr>
        <p:spPr>
          <a:xfrm>
            <a:off x="9675266" y="3061716"/>
            <a:ext cx="260350" cy="812165"/>
          </a:xfrm>
          <a:custGeom>
            <a:avLst/>
            <a:gdLst/>
            <a:ahLst/>
            <a:cxnLst/>
            <a:rect l="l" t="t" r="r" b="b"/>
            <a:pathLst>
              <a:path w="260350" h="812164">
                <a:moveTo>
                  <a:pt x="32617" y="552937"/>
                </a:moveTo>
                <a:lnTo>
                  <a:pt x="20552" y="554651"/>
                </a:lnTo>
                <a:lnTo>
                  <a:pt x="7086" y="561299"/>
                </a:lnTo>
                <a:lnTo>
                  <a:pt x="1226" y="571629"/>
                </a:lnTo>
                <a:lnTo>
                  <a:pt x="0" y="583390"/>
                </a:lnTo>
                <a:lnTo>
                  <a:pt x="3783" y="594995"/>
                </a:lnTo>
                <a:lnTo>
                  <a:pt x="130148" y="811657"/>
                </a:lnTo>
                <a:lnTo>
                  <a:pt x="163629" y="754253"/>
                </a:lnTo>
                <a:lnTo>
                  <a:pt x="101192" y="754253"/>
                </a:lnTo>
                <a:lnTo>
                  <a:pt x="101192" y="647589"/>
                </a:lnTo>
                <a:lnTo>
                  <a:pt x="50882" y="561781"/>
                </a:lnTo>
                <a:lnTo>
                  <a:pt x="42866" y="555525"/>
                </a:lnTo>
                <a:lnTo>
                  <a:pt x="32617" y="552937"/>
                </a:lnTo>
                <a:close/>
              </a:path>
              <a:path w="260350" h="812164">
                <a:moveTo>
                  <a:pt x="101192" y="647589"/>
                </a:moveTo>
                <a:lnTo>
                  <a:pt x="101192" y="754253"/>
                </a:lnTo>
                <a:lnTo>
                  <a:pt x="159104" y="754253"/>
                </a:lnTo>
                <a:lnTo>
                  <a:pt x="159104" y="739648"/>
                </a:lnTo>
                <a:lnTo>
                  <a:pt x="105129" y="739648"/>
                </a:lnTo>
                <a:lnTo>
                  <a:pt x="130085" y="696867"/>
                </a:lnTo>
                <a:lnTo>
                  <a:pt x="101192" y="647589"/>
                </a:lnTo>
                <a:close/>
              </a:path>
              <a:path w="260350" h="812164">
                <a:moveTo>
                  <a:pt x="237327" y="552109"/>
                </a:moveTo>
                <a:lnTo>
                  <a:pt x="225474" y="552138"/>
                </a:lnTo>
                <a:lnTo>
                  <a:pt x="214674" y="556878"/>
                </a:lnTo>
                <a:lnTo>
                  <a:pt x="206475" y="565912"/>
                </a:lnTo>
                <a:lnTo>
                  <a:pt x="159104" y="647119"/>
                </a:lnTo>
                <a:lnTo>
                  <a:pt x="159104" y="754253"/>
                </a:lnTo>
                <a:lnTo>
                  <a:pt x="163629" y="754253"/>
                </a:lnTo>
                <a:lnTo>
                  <a:pt x="256513" y="594995"/>
                </a:lnTo>
                <a:lnTo>
                  <a:pt x="258265" y="591447"/>
                </a:lnTo>
                <a:lnTo>
                  <a:pt x="260163" y="581232"/>
                </a:lnTo>
                <a:lnTo>
                  <a:pt x="257569" y="570769"/>
                </a:lnTo>
                <a:lnTo>
                  <a:pt x="250088" y="560811"/>
                </a:lnTo>
                <a:lnTo>
                  <a:pt x="237327" y="552109"/>
                </a:lnTo>
                <a:close/>
              </a:path>
              <a:path w="260350" h="812164">
                <a:moveTo>
                  <a:pt x="130085" y="696867"/>
                </a:moveTo>
                <a:lnTo>
                  <a:pt x="105129" y="739648"/>
                </a:lnTo>
                <a:lnTo>
                  <a:pt x="155167" y="739648"/>
                </a:lnTo>
                <a:lnTo>
                  <a:pt x="130085" y="696867"/>
                </a:lnTo>
                <a:close/>
              </a:path>
              <a:path w="260350" h="812164">
                <a:moveTo>
                  <a:pt x="159104" y="647119"/>
                </a:moveTo>
                <a:lnTo>
                  <a:pt x="130085" y="696867"/>
                </a:lnTo>
                <a:lnTo>
                  <a:pt x="155167" y="739648"/>
                </a:lnTo>
                <a:lnTo>
                  <a:pt x="159104" y="739648"/>
                </a:lnTo>
                <a:lnTo>
                  <a:pt x="159104" y="647119"/>
                </a:lnTo>
                <a:close/>
              </a:path>
              <a:path w="260350" h="812164">
                <a:moveTo>
                  <a:pt x="159104" y="0"/>
                </a:moveTo>
                <a:lnTo>
                  <a:pt x="101192" y="0"/>
                </a:lnTo>
                <a:lnTo>
                  <a:pt x="101192" y="647589"/>
                </a:lnTo>
                <a:lnTo>
                  <a:pt x="130085" y="696867"/>
                </a:lnTo>
                <a:lnTo>
                  <a:pt x="159104" y="647119"/>
                </a:lnTo>
                <a:lnTo>
                  <a:pt x="159104" y="0"/>
                </a:lnTo>
                <a:close/>
              </a:path>
            </a:pathLst>
          </a:custGeom>
          <a:solidFill>
            <a:srgbClr val="7E7E7E"/>
          </a:solidFill>
        </p:spPr>
        <p:txBody>
          <a:bodyPr wrap="square" lIns="0" tIns="0" rIns="0" bIns="0" rtlCol="0"/>
          <a:lstStyle/>
          <a:p>
            <a:endParaRPr/>
          </a:p>
        </p:txBody>
      </p:sp>
      <p:sp>
        <p:nvSpPr>
          <p:cNvPr id="16" name="object 16"/>
          <p:cNvSpPr/>
          <p:nvPr/>
        </p:nvSpPr>
        <p:spPr>
          <a:xfrm>
            <a:off x="6111240" y="2540507"/>
            <a:ext cx="0" cy="520065"/>
          </a:xfrm>
          <a:custGeom>
            <a:avLst/>
            <a:gdLst/>
            <a:ahLst/>
            <a:cxnLst/>
            <a:rect l="l" t="t" r="r" b="b"/>
            <a:pathLst>
              <a:path h="520064">
                <a:moveTo>
                  <a:pt x="0" y="0"/>
                </a:moveTo>
                <a:lnTo>
                  <a:pt x="0" y="519938"/>
                </a:lnTo>
              </a:path>
            </a:pathLst>
          </a:custGeom>
          <a:ln w="57912">
            <a:solidFill>
              <a:srgbClr val="7E7E7E"/>
            </a:solidFill>
          </a:ln>
        </p:spPr>
        <p:txBody>
          <a:bodyPr wrap="square" lIns="0" tIns="0" rIns="0" bIns="0" rtlCol="0"/>
          <a:lstStyle/>
          <a:p>
            <a:endParaRPr/>
          </a:p>
        </p:txBody>
      </p:sp>
      <p:sp>
        <p:nvSpPr>
          <p:cNvPr id="17" name="object 17"/>
          <p:cNvSpPr txBox="1"/>
          <p:nvPr/>
        </p:nvSpPr>
        <p:spPr>
          <a:xfrm>
            <a:off x="1014780" y="4842686"/>
            <a:ext cx="2316480" cy="737235"/>
          </a:xfrm>
          <a:prstGeom prst="rect">
            <a:avLst/>
          </a:prstGeom>
        </p:spPr>
        <p:txBody>
          <a:bodyPr vert="horz" wrap="square" lIns="0" tIns="0" rIns="0" bIns="0" rtlCol="0">
            <a:spAutoFit/>
          </a:bodyPr>
          <a:lstStyle/>
          <a:p>
            <a:pPr marL="12700" marR="5080">
              <a:lnSpc>
                <a:spcPct val="150000"/>
              </a:lnSpc>
            </a:pPr>
            <a:r>
              <a:rPr sz="2000" b="1" dirty="0">
                <a:solidFill>
                  <a:srgbClr val="404040"/>
                </a:solidFill>
                <a:latin typeface="微软雅黑"/>
                <a:cs typeface="微软雅黑"/>
              </a:rPr>
              <a:t>根据用户配置参数完 成外设的初始化操作</a:t>
            </a:r>
            <a:endParaRPr sz="2000">
              <a:latin typeface="微软雅黑"/>
              <a:cs typeface="微软雅黑"/>
            </a:endParaRPr>
          </a:p>
        </p:txBody>
      </p:sp>
      <p:sp>
        <p:nvSpPr>
          <p:cNvPr id="18" name="object 18"/>
          <p:cNvSpPr txBox="1"/>
          <p:nvPr/>
        </p:nvSpPr>
        <p:spPr>
          <a:xfrm>
            <a:off x="3515105" y="4842686"/>
            <a:ext cx="2569845" cy="1194435"/>
          </a:xfrm>
          <a:prstGeom prst="rect">
            <a:avLst/>
          </a:prstGeom>
        </p:spPr>
        <p:txBody>
          <a:bodyPr vert="horz" wrap="square" lIns="0" tIns="0" rIns="0" bIns="0" rtlCol="0">
            <a:spAutoFit/>
          </a:bodyPr>
          <a:lstStyle/>
          <a:p>
            <a:pPr marL="12700" marR="5080">
              <a:lnSpc>
                <a:spcPct val="150000"/>
              </a:lnSpc>
            </a:pPr>
            <a:r>
              <a:rPr sz="2000" b="1" dirty="0">
                <a:solidFill>
                  <a:srgbClr val="404040"/>
                </a:solidFill>
                <a:latin typeface="微软雅黑"/>
                <a:cs typeface="微软雅黑"/>
              </a:rPr>
              <a:t>与外</a:t>
            </a:r>
            <a:r>
              <a:rPr sz="2000" b="1" spc="5" dirty="0">
                <a:solidFill>
                  <a:srgbClr val="404040"/>
                </a:solidFill>
                <a:latin typeface="微软雅黑"/>
                <a:cs typeface="微软雅黑"/>
              </a:rPr>
              <a:t>设</a:t>
            </a:r>
            <a:r>
              <a:rPr sz="2000" b="1" spc="-10" dirty="0">
                <a:solidFill>
                  <a:srgbClr val="404040"/>
                </a:solidFill>
                <a:latin typeface="微软雅黑"/>
                <a:cs typeface="微软雅黑"/>
              </a:rPr>
              <a:t>进</a:t>
            </a:r>
            <a:r>
              <a:rPr sz="2000" b="1" dirty="0">
                <a:solidFill>
                  <a:srgbClr val="404040"/>
                </a:solidFill>
                <a:latin typeface="微软雅黑"/>
                <a:cs typeface="微软雅黑"/>
              </a:rPr>
              <a:t>行</a:t>
            </a:r>
            <a:r>
              <a:rPr sz="2000" b="1" spc="-10" dirty="0">
                <a:solidFill>
                  <a:srgbClr val="404040"/>
                </a:solidFill>
                <a:latin typeface="微软雅黑"/>
                <a:cs typeface="微软雅黑"/>
              </a:rPr>
              <a:t>数</a:t>
            </a:r>
            <a:r>
              <a:rPr sz="2000" b="1" dirty="0">
                <a:solidFill>
                  <a:srgbClr val="404040"/>
                </a:solidFill>
                <a:latin typeface="微软雅黑"/>
                <a:cs typeface="微软雅黑"/>
              </a:rPr>
              <a:t>据交</a:t>
            </a:r>
            <a:r>
              <a:rPr sz="2000" b="1" spc="5" dirty="0">
                <a:solidFill>
                  <a:srgbClr val="404040"/>
                </a:solidFill>
                <a:latin typeface="微软雅黑"/>
                <a:cs typeface="微软雅黑"/>
              </a:rPr>
              <a:t>互</a:t>
            </a:r>
            <a:r>
              <a:rPr sz="2000" b="1" dirty="0">
                <a:solidFill>
                  <a:srgbClr val="404040"/>
                </a:solidFill>
                <a:latin typeface="微软雅黑"/>
                <a:cs typeface="微软雅黑"/>
              </a:rPr>
              <a:t>， 包括轮询、中断和 DM</a:t>
            </a:r>
            <a:r>
              <a:rPr sz="2000" b="1" spc="5" dirty="0">
                <a:solidFill>
                  <a:srgbClr val="404040"/>
                </a:solidFill>
                <a:latin typeface="微软雅黑"/>
                <a:cs typeface="微软雅黑"/>
              </a:rPr>
              <a:t>A</a:t>
            </a:r>
            <a:r>
              <a:rPr sz="2000" b="1" dirty="0">
                <a:solidFill>
                  <a:srgbClr val="404040"/>
                </a:solidFill>
                <a:latin typeface="微软雅黑"/>
                <a:cs typeface="微软雅黑"/>
              </a:rPr>
              <a:t>三种编程模型</a:t>
            </a:r>
            <a:endParaRPr sz="2000">
              <a:latin typeface="微软雅黑"/>
              <a:cs typeface="微软雅黑"/>
            </a:endParaRPr>
          </a:p>
        </p:txBody>
      </p:sp>
      <p:sp>
        <p:nvSpPr>
          <p:cNvPr id="19" name="object 19"/>
          <p:cNvSpPr txBox="1"/>
          <p:nvPr/>
        </p:nvSpPr>
        <p:spPr>
          <a:xfrm>
            <a:off x="6283197" y="4842686"/>
            <a:ext cx="2061845" cy="280035"/>
          </a:xfrm>
          <a:prstGeom prst="rect">
            <a:avLst/>
          </a:prstGeom>
        </p:spPr>
        <p:txBody>
          <a:bodyPr vert="horz" wrap="square" lIns="0" tIns="0" rIns="0" bIns="0" rtlCol="0">
            <a:spAutoFit/>
          </a:bodyPr>
          <a:lstStyle/>
          <a:p>
            <a:pPr marL="12700">
              <a:lnSpc>
                <a:spcPct val="100000"/>
              </a:lnSpc>
            </a:pPr>
            <a:r>
              <a:rPr sz="2000" b="1" dirty="0">
                <a:solidFill>
                  <a:srgbClr val="404040"/>
                </a:solidFill>
                <a:latin typeface="微软雅黑"/>
                <a:cs typeface="微软雅黑"/>
              </a:rPr>
              <a:t>动态配置外设参数</a:t>
            </a:r>
            <a:endParaRPr sz="2000">
              <a:latin typeface="微软雅黑"/>
              <a:cs typeface="微软雅黑"/>
            </a:endParaRPr>
          </a:p>
        </p:txBody>
      </p:sp>
      <p:sp>
        <p:nvSpPr>
          <p:cNvPr id="20" name="object 20"/>
          <p:cNvSpPr txBox="1"/>
          <p:nvPr/>
        </p:nvSpPr>
        <p:spPr>
          <a:xfrm>
            <a:off x="8835897" y="4842686"/>
            <a:ext cx="2316480" cy="737235"/>
          </a:xfrm>
          <a:prstGeom prst="rect">
            <a:avLst/>
          </a:prstGeom>
        </p:spPr>
        <p:txBody>
          <a:bodyPr vert="horz" wrap="square" lIns="0" tIns="0" rIns="0" bIns="0" rtlCol="0">
            <a:spAutoFit/>
          </a:bodyPr>
          <a:lstStyle/>
          <a:p>
            <a:pPr marL="12700" marR="5080">
              <a:lnSpc>
                <a:spcPct val="150000"/>
              </a:lnSpc>
            </a:pPr>
            <a:r>
              <a:rPr sz="2000" b="1" dirty="0">
                <a:solidFill>
                  <a:srgbClr val="404040"/>
                </a:solidFill>
                <a:latin typeface="微软雅黑"/>
                <a:cs typeface="微软雅黑"/>
              </a:rPr>
              <a:t>用于获取外设的运行 状态以及出错信息</a:t>
            </a:r>
            <a:endParaRPr sz="2000">
              <a:latin typeface="微软雅黑"/>
              <a:cs typeface="微软雅黑"/>
            </a:endParaRPr>
          </a:p>
        </p:txBody>
      </p:sp>
      <p:sp>
        <p:nvSpPr>
          <p:cNvPr id="21" name="object 21"/>
          <p:cNvSpPr/>
          <p:nvPr/>
        </p:nvSpPr>
        <p:spPr>
          <a:xfrm>
            <a:off x="3009900" y="1708404"/>
            <a:ext cx="6148070" cy="832485"/>
          </a:xfrm>
          <a:custGeom>
            <a:avLst/>
            <a:gdLst/>
            <a:ahLst/>
            <a:cxnLst/>
            <a:rect l="l" t="t" r="r" b="b"/>
            <a:pathLst>
              <a:path w="6148070" h="832485">
                <a:moveTo>
                  <a:pt x="0" y="832103"/>
                </a:moveTo>
                <a:lnTo>
                  <a:pt x="6147815" y="832103"/>
                </a:lnTo>
                <a:lnTo>
                  <a:pt x="6147815" y="0"/>
                </a:lnTo>
                <a:lnTo>
                  <a:pt x="0" y="0"/>
                </a:lnTo>
                <a:lnTo>
                  <a:pt x="0" y="832103"/>
                </a:lnTo>
                <a:close/>
              </a:path>
            </a:pathLst>
          </a:custGeom>
          <a:solidFill>
            <a:srgbClr val="09839B"/>
          </a:solidFill>
        </p:spPr>
        <p:txBody>
          <a:bodyPr wrap="square" lIns="0" tIns="0" rIns="0" bIns="0" rtlCol="0"/>
          <a:lstStyle/>
          <a:p>
            <a:endParaRPr/>
          </a:p>
        </p:txBody>
      </p:sp>
      <p:sp>
        <p:nvSpPr>
          <p:cNvPr id="22" name="object 22"/>
          <p:cNvSpPr/>
          <p:nvPr/>
        </p:nvSpPr>
        <p:spPr>
          <a:xfrm>
            <a:off x="3805428" y="1868423"/>
            <a:ext cx="4556760" cy="524510"/>
          </a:xfrm>
          <a:custGeom>
            <a:avLst/>
            <a:gdLst/>
            <a:ahLst/>
            <a:cxnLst/>
            <a:rect l="l" t="t" r="r" b="b"/>
            <a:pathLst>
              <a:path w="4556759" h="524510">
                <a:moveTo>
                  <a:pt x="0" y="524255"/>
                </a:moveTo>
                <a:lnTo>
                  <a:pt x="4556760" y="524255"/>
                </a:lnTo>
                <a:lnTo>
                  <a:pt x="4556760" y="0"/>
                </a:lnTo>
                <a:lnTo>
                  <a:pt x="0" y="0"/>
                </a:lnTo>
                <a:lnTo>
                  <a:pt x="0" y="524255"/>
                </a:lnTo>
                <a:close/>
              </a:path>
            </a:pathLst>
          </a:custGeom>
          <a:solidFill>
            <a:srgbClr val="09839B"/>
          </a:solidFill>
        </p:spPr>
        <p:txBody>
          <a:bodyPr wrap="square" lIns="0" tIns="0" rIns="0" bIns="0" rtlCol="0"/>
          <a:lstStyle/>
          <a:p>
            <a:endParaRPr/>
          </a:p>
        </p:txBody>
      </p:sp>
      <p:sp>
        <p:nvSpPr>
          <p:cNvPr id="23" name="object 23"/>
          <p:cNvSpPr txBox="1"/>
          <p:nvPr/>
        </p:nvSpPr>
        <p:spPr>
          <a:xfrm>
            <a:off x="3909186" y="1959412"/>
            <a:ext cx="4353560" cy="381000"/>
          </a:xfrm>
          <a:prstGeom prst="rect">
            <a:avLst/>
          </a:prstGeom>
        </p:spPr>
        <p:txBody>
          <a:bodyPr vert="horz" wrap="square" lIns="0" tIns="0" rIns="0" bIns="0" rtlCol="0">
            <a:spAutoFit/>
          </a:bodyPr>
          <a:lstStyle/>
          <a:p>
            <a:pPr marL="12700">
              <a:lnSpc>
                <a:spcPct val="100000"/>
              </a:lnSpc>
            </a:pPr>
            <a:r>
              <a:rPr sz="2800" b="1" spc="295" dirty="0">
                <a:solidFill>
                  <a:srgbClr val="FFFFFF"/>
                </a:solidFill>
                <a:latin typeface="微软雅黑"/>
                <a:cs typeface="微软雅黑"/>
              </a:rPr>
              <a:t>四种类型的通用接口函</a:t>
            </a:r>
            <a:r>
              <a:rPr sz="2800" b="1" spc="-5" dirty="0">
                <a:solidFill>
                  <a:srgbClr val="FFFFFF"/>
                </a:solidFill>
                <a:latin typeface="微软雅黑"/>
                <a:cs typeface="微软雅黑"/>
              </a:rPr>
              <a:t>数</a:t>
            </a:r>
            <a:r>
              <a:rPr sz="2800" b="1" spc="-535" dirty="0">
                <a:solidFill>
                  <a:srgbClr val="FFFFFF"/>
                </a:solidFill>
                <a:latin typeface="微软雅黑"/>
                <a:cs typeface="微软雅黑"/>
              </a:rPr>
              <a:t> </a:t>
            </a:r>
            <a:endParaRPr sz="2800">
              <a:latin typeface="微软雅黑"/>
              <a:cs typeface="微软雅黑"/>
            </a:endParaRPr>
          </a:p>
        </p:txBody>
      </p:sp>
      <p:sp>
        <p:nvSpPr>
          <p:cNvPr id="24" name="object 24"/>
          <p:cNvSpPr txBox="1"/>
          <p:nvPr/>
        </p:nvSpPr>
        <p:spPr>
          <a:xfrm>
            <a:off x="1001267" y="3872484"/>
            <a:ext cx="2385060" cy="721360"/>
          </a:xfrm>
          <a:prstGeom prst="rect">
            <a:avLst/>
          </a:prstGeom>
          <a:solidFill>
            <a:srgbClr val="179A44"/>
          </a:solidFill>
        </p:spPr>
        <p:txBody>
          <a:bodyPr vert="horz" wrap="square" lIns="0" tIns="0" rIns="0" bIns="0" rtlCol="0">
            <a:spAutoFit/>
          </a:bodyPr>
          <a:lstStyle/>
          <a:p>
            <a:pPr marL="429895">
              <a:lnSpc>
                <a:spcPct val="100000"/>
              </a:lnSpc>
            </a:pPr>
            <a:r>
              <a:rPr sz="2400" b="1" dirty="0">
                <a:solidFill>
                  <a:srgbClr val="FFFFFF"/>
                </a:solidFill>
                <a:latin typeface="微软雅黑"/>
                <a:cs typeface="微软雅黑"/>
              </a:rPr>
              <a:t>初始化函数</a:t>
            </a:r>
            <a:endParaRPr sz="2400">
              <a:latin typeface="微软雅黑"/>
              <a:cs typeface="微软雅黑"/>
            </a:endParaRPr>
          </a:p>
        </p:txBody>
      </p:sp>
      <p:sp>
        <p:nvSpPr>
          <p:cNvPr id="25" name="object 25"/>
          <p:cNvSpPr txBox="1"/>
          <p:nvPr/>
        </p:nvSpPr>
        <p:spPr>
          <a:xfrm>
            <a:off x="3576828" y="3872484"/>
            <a:ext cx="2383790" cy="721360"/>
          </a:xfrm>
          <a:prstGeom prst="rect">
            <a:avLst/>
          </a:prstGeom>
          <a:solidFill>
            <a:srgbClr val="F9AE3A"/>
          </a:solidFill>
        </p:spPr>
        <p:txBody>
          <a:bodyPr vert="horz" wrap="square" lIns="0" tIns="0" rIns="0" bIns="0" rtlCol="0">
            <a:spAutoFit/>
          </a:bodyPr>
          <a:lstStyle/>
          <a:p>
            <a:pPr marL="333375">
              <a:lnSpc>
                <a:spcPct val="100000"/>
              </a:lnSpc>
            </a:pPr>
            <a:r>
              <a:rPr sz="2400" b="1" spc="-5" dirty="0">
                <a:solidFill>
                  <a:srgbClr val="FFFFFF"/>
                </a:solidFill>
                <a:latin typeface="微软雅黑"/>
                <a:cs typeface="微软雅黑"/>
              </a:rPr>
              <a:t>I/</a:t>
            </a:r>
            <a:r>
              <a:rPr sz="2400" b="1" spc="10" dirty="0">
                <a:solidFill>
                  <a:srgbClr val="FFFFFF"/>
                </a:solidFill>
                <a:latin typeface="微软雅黑"/>
                <a:cs typeface="微软雅黑"/>
              </a:rPr>
              <a:t>O</a:t>
            </a:r>
            <a:r>
              <a:rPr sz="2400" b="1" dirty="0">
                <a:solidFill>
                  <a:srgbClr val="FFFFFF"/>
                </a:solidFill>
                <a:latin typeface="微软雅黑"/>
                <a:cs typeface="微软雅黑"/>
              </a:rPr>
              <a:t>操作函数</a:t>
            </a:r>
            <a:endParaRPr sz="2400">
              <a:latin typeface="微软雅黑"/>
              <a:cs typeface="微软雅黑"/>
            </a:endParaRPr>
          </a:p>
        </p:txBody>
      </p:sp>
      <p:sp>
        <p:nvSpPr>
          <p:cNvPr id="26" name="object 26"/>
          <p:cNvSpPr txBox="1"/>
          <p:nvPr/>
        </p:nvSpPr>
        <p:spPr>
          <a:xfrm>
            <a:off x="6190488" y="3872484"/>
            <a:ext cx="2385060" cy="721360"/>
          </a:xfrm>
          <a:prstGeom prst="rect">
            <a:avLst/>
          </a:prstGeom>
          <a:solidFill>
            <a:srgbClr val="EF5A23"/>
          </a:solidFill>
        </p:spPr>
        <p:txBody>
          <a:bodyPr vert="horz" wrap="square" lIns="0" tIns="0" rIns="0" bIns="0" rtlCol="0">
            <a:spAutoFit/>
          </a:bodyPr>
          <a:lstStyle/>
          <a:p>
            <a:pPr marL="629920">
              <a:lnSpc>
                <a:spcPct val="100000"/>
              </a:lnSpc>
            </a:pPr>
            <a:r>
              <a:rPr sz="2400" b="1" dirty="0">
                <a:solidFill>
                  <a:srgbClr val="FFFFFF"/>
                </a:solidFill>
                <a:latin typeface="微软雅黑"/>
                <a:cs typeface="微软雅黑"/>
              </a:rPr>
              <a:t>控制函数</a:t>
            </a:r>
            <a:endParaRPr sz="2400">
              <a:latin typeface="微软雅黑"/>
              <a:cs typeface="微软雅黑"/>
            </a:endParaRPr>
          </a:p>
        </p:txBody>
      </p:sp>
      <p:sp>
        <p:nvSpPr>
          <p:cNvPr id="27" name="object 27"/>
          <p:cNvSpPr txBox="1"/>
          <p:nvPr/>
        </p:nvSpPr>
        <p:spPr>
          <a:xfrm>
            <a:off x="8805671" y="3872484"/>
            <a:ext cx="2385060" cy="721360"/>
          </a:xfrm>
          <a:prstGeom prst="rect">
            <a:avLst/>
          </a:prstGeom>
          <a:solidFill>
            <a:srgbClr val="A261C4"/>
          </a:solidFill>
        </p:spPr>
        <p:txBody>
          <a:bodyPr vert="horz" wrap="square" lIns="0" tIns="0" rIns="0" bIns="0" rtlCol="0">
            <a:spAutoFit/>
          </a:bodyPr>
          <a:lstStyle/>
          <a:p>
            <a:pPr marL="584200">
              <a:lnSpc>
                <a:spcPct val="100000"/>
              </a:lnSpc>
            </a:pPr>
            <a:r>
              <a:rPr sz="2400" b="1" dirty="0">
                <a:solidFill>
                  <a:srgbClr val="FFFFFF"/>
                </a:solidFill>
                <a:latin typeface="微软雅黑"/>
                <a:cs typeface="微软雅黑"/>
              </a:rPr>
              <a:t>状态函数</a:t>
            </a:r>
            <a:endParaRPr sz="2400">
              <a:latin typeface="微软雅黑"/>
              <a:cs typeface="微软雅黑"/>
            </a:endParaRPr>
          </a:p>
        </p:txBody>
      </p:sp>
      <p:sp>
        <p:nvSpPr>
          <p:cNvPr id="28" name="object 28"/>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29" name="object 29"/>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Tree>
    <p:extLst>
      <p:ext uri="{BB962C8B-B14F-4D97-AF65-F5344CB8AC3E}">
        <p14:creationId xmlns:p14="http://schemas.microsoft.com/office/powerpoint/2010/main" val="4141324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612135"/>
            <a:ext cx="12192000" cy="1416050"/>
          </a:xfrm>
          <a:custGeom>
            <a:avLst/>
            <a:gdLst/>
            <a:ahLst/>
            <a:cxnLst/>
            <a:rect l="l" t="t" r="r" b="b"/>
            <a:pathLst>
              <a:path w="12192000" h="1416050">
                <a:moveTo>
                  <a:pt x="0" y="1415795"/>
                </a:moveTo>
                <a:lnTo>
                  <a:pt x="12191999" y="1415795"/>
                </a:lnTo>
                <a:lnTo>
                  <a:pt x="12192000" y="0"/>
                </a:lnTo>
                <a:lnTo>
                  <a:pt x="0" y="0"/>
                </a:lnTo>
                <a:lnTo>
                  <a:pt x="0" y="1415795"/>
                </a:lnTo>
                <a:close/>
              </a:path>
            </a:pathLst>
          </a:custGeom>
          <a:solidFill>
            <a:srgbClr val="E34A46"/>
          </a:solidFill>
        </p:spPr>
        <p:txBody>
          <a:bodyPr wrap="square" lIns="0" tIns="0" rIns="0" bIns="0" rtlCol="0"/>
          <a:lstStyle/>
          <a:p>
            <a:endParaRPr/>
          </a:p>
        </p:txBody>
      </p:sp>
      <p:sp>
        <p:nvSpPr>
          <p:cNvPr id="3" name="object 3"/>
          <p:cNvSpPr txBox="1"/>
          <p:nvPr/>
        </p:nvSpPr>
        <p:spPr>
          <a:xfrm>
            <a:off x="1423797" y="3061435"/>
            <a:ext cx="9617075" cy="923330"/>
          </a:xfrm>
          <a:prstGeom prst="rect">
            <a:avLst/>
          </a:prstGeom>
        </p:spPr>
        <p:txBody>
          <a:bodyPr vert="horz" wrap="square" lIns="0" tIns="0" rIns="0" bIns="0" rtlCol="0">
            <a:spAutoFit/>
          </a:bodyPr>
          <a:lstStyle/>
          <a:p>
            <a:pPr marL="12700">
              <a:lnSpc>
                <a:spcPct val="100000"/>
              </a:lnSpc>
              <a:tabLst>
                <a:tab pos="1623695" algn="l"/>
              </a:tabLst>
            </a:pPr>
            <a:r>
              <a:rPr sz="6000" b="1" spc="-5" dirty="0" smtClean="0">
                <a:solidFill>
                  <a:srgbClr val="FFFFFF"/>
                </a:solidFill>
                <a:latin typeface="微软雅黑"/>
                <a:cs typeface="微软雅黑"/>
              </a:rPr>
              <a:t>3</a:t>
            </a:r>
            <a:r>
              <a:rPr sz="6000" b="1" spc="-5" dirty="0">
                <a:solidFill>
                  <a:srgbClr val="FFFFFF"/>
                </a:solidFill>
                <a:latin typeface="微软雅黑"/>
                <a:cs typeface="微软雅黑"/>
              </a:rPr>
              <a:t>	定时器的定时</a:t>
            </a:r>
            <a:r>
              <a:rPr sz="6000" b="1" spc="-10" dirty="0">
                <a:solidFill>
                  <a:srgbClr val="FFFFFF"/>
                </a:solidFill>
                <a:latin typeface="微软雅黑"/>
                <a:cs typeface="微软雅黑"/>
              </a:rPr>
              <a:t>/</a:t>
            </a:r>
            <a:r>
              <a:rPr sz="6000" b="1" dirty="0">
                <a:solidFill>
                  <a:srgbClr val="FFFFFF"/>
                </a:solidFill>
                <a:latin typeface="微软雅黑"/>
                <a:cs typeface="微软雅黑"/>
              </a:rPr>
              <a:t>计数功能</a:t>
            </a:r>
            <a:endParaRPr sz="6000" dirty="0">
              <a:latin typeface="微软雅黑"/>
              <a:cs typeface="微软雅黑"/>
            </a:endParaRPr>
          </a:p>
        </p:txBody>
      </p:sp>
    </p:spTree>
    <p:extLst>
      <p:ext uri="{BB962C8B-B14F-4D97-AF65-F5344CB8AC3E}">
        <p14:creationId xmlns:p14="http://schemas.microsoft.com/office/powerpoint/2010/main" val="5477689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4295394" y="2772004"/>
            <a:ext cx="3602354"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1	</a:t>
            </a:r>
            <a:r>
              <a:rPr sz="5400" spc="-5" dirty="0">
                <a:solidFill>
                  <a:srgbClr val="FFFFFF"/>
                </a:solidFill>
              </a:rPr>
              <a:t>时基单元</a:t>
            </a:r>
            <a:endParaRPr sz="5400">
              <a:latin typeface="微软雅黑"/>
              <a:cs typeface="微软雅黑"/>
            </a:endParaRPr>
          </a:p>
        </p:txBody>
      </p:sp>
    </p:spTree>
    <p:extLst>
      <p:ext uri="{BB962C8B-B14F-4D97-AF65-F5344CB8AC3E}">
        <p14:creationId xmlns:p14="http://schemas.microsoft.com/office/powerpoint/2010/main" val="3322747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a:spLocks noGrp="1"/>
          </p:cNvSpPr>
          <p:nvPr>
            <p:ph type="title"/>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500278" y="1178295"/>
            <a:ext cx="9398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时钟源</a:t>
            </a:r>
            <a:endParaRPr sz="2400">
              <a:latin typeface="微软雅黑"/>
              <a:cs typeface="微软雅黑"/>
            </a:endParaRPr>
          </a:p>
        </p:txBody>
      </p:sp>
      <p:sp>
        <p:nvSpPr>
          <p:cNvPr id="11" name="object 11"/>
          <p:cNvSpPr/>
          <p:nvPr/>
        </p:nvSpPr>
        <p:spPr>
          <a:xfrm>
            <a:off x="4034028" y="2604516"/>
            <a:ext cx="718185" cy="2828925"/>
          </a:xfrm>
          <a:custGeom>
            <a:avLst/>
            <a:gdLst/>
            <a:ahLst/>
            <a:cxnLst/>
            <a:rect l="l" t="t" r="r" b="b"/>
            <a:pathLst>
              <a:path w="718185" h="2828925">
                <a:moveTo>
                  <a:pt x="0" y="2828544"/>
                </a:moveTo>
                <a:lnTo>
                  <a:pt x="717803" y="2828544"/>
                </a:lnTo>
                <a:lnTo>
                  <a:pt x="717803" y="0"/>
                </a:lnTo>
                <a:lnTo>
                  <a:pt x="0" y="0"/>
                </a:lnTo>
                <a:lnTo>
                  <a:pt x="0" y="2828544"/>
                </a:lnTo>
                <a:close/>
              </a:path>
            </a:pathLst>
          </a:custGeom>
          <a:solidFill>
            <a:srgbClr val="EC7C30"/>
          </a:solidFill>
        </p:spPr>
        <p:txBody>
          <a:bodyPr wrap="square" lIns="0" tIns="0" rIns="0" bIns="0" rtlCol="0"/>
          <a:lstStyle/>
          <a:p>
            <a:endParaRPr/>
          </a:p>
        </p:txBody>
      </p:sp>
      <p:sp>
        <p:nvSpPr>
          <p:cNvPr id="12" name="object 12"/>
          <p:cNvSpPr/>
          <p:nvPr/>
        </p:nvSpPr>
        <p:spPr>
          <a:xfrm>
            <a:off x="4034028" y="1845564"/>
            <a:ext cx="718185" cy="759460"/>
          </a:xfrm>
          <a:custGeom>
            <a:avLst/>
            <a:gdLst/>
            <a:ahLst/>
            <a:cxnLst/>
            <a:rect l="l" t="t" r="r" b="b"/>
            <a:pathLst>
              <a:path w="718185" h="759460">
                <a:moveTo>
                  <a:pt x="4952" y="0"/>
                </a:moveTo>
                <a:lnTo>
                  <a:pt x="0" y="758951"/>
                </a:lnTo>
                <a:lnTo>
                  <a:pt x="717804" y="758951"/>
                </a:lnTo>
                <a:lnTo>
                  <a:pt x="4952" y="0"/>
                </a:lnTo>
                <a:close/>
              </a:path>
            </a:pathLst>
          </a:custGeom>
          <a:solidFill>
            <a:srgbClr val="EC7C30"/>
          </a:solidFill>
        </p:spPr>
        <p:txBody>
          <a:bodyPr wrap="square" lIns="0" tIns="0" rIns="0" bIns="0" rtlCol="0"/>
          <a:lstStyle/>
          <a:p>
            <a:endParaRPr/>
          </a:p>
        </p:txBody>
      </p:sp>
      <p:sp>
        <p:nvSpPr>
          <p:cNvPr id="13" name="object 13"/>
          <p:cNvSpPr/>
          <p:nvPr/>
        </p:nvSpPr>
        <p:spPr>
          <a:xfrm>
            <a:off x="4034028" y="5420867"/>
            <a:ext cx="718185" cy="759460"/>
          </a:xfrm>
          <a:custGeom>
            <a:avLst/>
            <a:gdLst/>
            <a:ahLst/>
            <a:cxnLst/>
            <a:rect l="l" t="t" r="r" b="b"/>
            <a:pathLst>
              <a:path w="718185" h="759460">
                <a:moveTo>
                  <a:pt x="717804" y="0"/>
                </a:moveTo>
                <a:lnTo>
                  <a:pt x="0" y="0"/>
                </a:lnTo>
                <a:lnTo>
                  <a:pt x="0" y="758951"/>
                </a:lnTo>
                <a:lnTo>
                  <a:pt x="717804" y="0"/>
                </a:lnTo>
                <a:close/>
              </a:path>
            </a:pathLst>
          </a:custGeom>
          <a:solidFill>
            <a:srgbClr val="EC7C30"/>
          </a:solidFill>
        </p:spPr>
        <p:txBody>
          <a:bodyPr wrap="square" lIns="0" tIns="0" rIns="0" bIns="0" rtlCol="0"/>
          <a:lstStyle/>
          <a:p>
            <a:endParaRPr/>
          </a:p>
        </p:txBody>
      </p:sp>
      <p:sp>
        <p:nvSpPr>
          <p:cNvPr id="14" name="object 14"/>
          <p:cNvSpPr/>
          <p:nvPr/>
        </p:nvSpPr>
        <p:spPr>
          <a:xfrm>
            <a:off x="3092195" y="2676144"/>
            <a:ext cx="942975" cy="228600"/>
          </a:xfrm>
          <a:custGeom>
            <a:avLst/>
            <a:gdLst/>
            <a:ahLst/>
            <a:cxnLst/>
            <a:rect l="l" t="t" r="r" b="b"/>
            <a:pathLst>
              <a:path w="942975" h="228600">
                <a:moveTo>
                  <a:pt x="714120" y="0"/>
                </a:moveTo>
                <a:lnTo>
                  <a:pt x="714120" y="228600"/>
                </a:lnTo>
                <a:lnTo>
                  <a:pt x="866520" y="152400"/>
                </a:lnTo>
                <a:lnTo>
                  <a:pt x="752220" y="152400"/>
                </a:lnTo>
                <a:lnTo>
                  <a:pt x="752220" y="76200"/>
                </a:lnTo>
                <a:lnTo>
                  <a:pt x="866520" y="76200"/>
                </a:lnTo>
                <a:lnTo>
                  <a:pt x="714120" y="0"/>
                </a:lnTo>
                <a:close/>
              </a:path>
              <a:path w="942975" h="228600">
                <a:moveTo>
                  <a:pt x="714120" y="76200"/>
                </a:moveTo>
                <a:lnTo>
                  <a:pt x="0" y="76200"/>
                </a:lnTo>
                <a:lnTo>
                  <a:pt x="0" y="152400"/>
                </a:lnTo>
                <a:lnTo>
                  <a:pt x="714120" y="152400"/>
                </a:lnTo>
                <a:lnTo>
                  <a:pt x="714120" y="76200"/>
                </a:lnTo>
                <a:close/>
              </a:path>
              <a:path w="942975" h="228600">
                <a:moveTo>
                  <a:pt x="866520" y="76200"/>
                </a:moveTo>
                <a:lnTo>
                  <a:pt x="752220" y="76200"/>
                </a:lnTo>
                <a:lnTo>
                  <a:pt x="752220" y="152400"/>
                </a:lnTo>
                <a:lnTo>
                  <a:pt x="866520" y="152400"/>
                </a:lnTo>
                <a:lnTo>
                  <a:pt x="942720" y="114300"/>
                </a:lnTo>
                <a:lnTo>
                  <a:pt x="866520" y="76200"/>
                </a:lnTo>
                <a:close/>
              </a:path>
            </a:pathLst>
          </a:custGeom>
          <a:solidFill>
            <a:srgbClr val="5B9BD4"/>
          </a:solidFill>
        </p:spPr>
        <p:txBody>
          <a:bodyPr wrap="square" lIns="0" tIns="0" rIns="0" bIns="0" rtlCol="0"/>
          <a:lstStyle/>
          <a:p>
            <a:endParaRPr/>
          </a:p>
        </p:txBody>
      </p:sp>
      <p:sp>
        <p:nvSpPr>
          <p:cNvPr id="15" name="object 15"/>
          <p:cNvSpPr txBox="1"/>
          <p:nvPr/>
        </p:nvSpPr>
        <p:spPr>
          <a:xfrm>
            <a:off x="371856" y="2557272"/>
            <a:ext cx="2720340" cy="462280"/>
          </a:xfrm>
          <a:prstGeom prst="rect">
            <a:avLst/>
          </a:prstGeom>
          <a:solidFill>
            <a:srgbClr val="179A44"/>
          </a:solidFill>
        </p:spPr>
        <p:txBody>
          <a:bodyPr vert="horz" wrap="square" lIns="0" tIns="0" rIns="0" bIns="0" rtlCol="0">
            <a:spAutoFit/>
          </a:bodyPr>
          <a:lstStyle/>
          <a:p>
            <a:pPr marL="196215">
              <a:lnSpc>
                <a:spcPct val="100000"/>
              </a:lnSpc>
            </a:pPr>
            <a:r>
              <a:rPr sz="2400" b="1" spc="-5" dirty="0">
                <a:solidFill>
                  <a:srgbClr val="FFFFFF"/>
                </a:solidFill>
                <a:latin typeface="微软雅黑"/>
                <a:cs typeface="微软雅黑"/>
              </a:rPr>
              <a:t>内部时钟CK</a:t>
            </a:r>
            <a:r>
              <a:rPr sz="2400" b="1" spc="5" dirty="0">
                <a:solidFill>
                  <a:srgbClr val="FFFFFF"/>
                </a:solidFill>
                <a:latin typeface="微软雅黑"/>
                <a:cs typeface="微软雅黑"/>
              </a:rPr>
              <a:t>_</a:t>
            </a:r>
            <a:r>
              <a:rPr sz="2400" b="1" spc="-5" dirty="0">
                <a:solidFill>
                  <a:srgbClr val="FFFFFF"/>
                </a:solidFill>
                <a:latin typeface="微软雅黑"/>
                <a:cs typeface="微软雅黑"/>
              </a:rPr>
              <a:t>INT</a:t>
            </a:r>
            <a:endParaRPr sz="2400">
              <a:latin typeface="微软雅黑"/>
              <a:cs typeface="微软雅黑"/>
            </a:endParaRPr>
          </a:p>
        </p:txBody>
      </p:sp>
      <p:sp>
        <p:nvSpPr>
          <p:cNvPr id="16" name="object 16"/>
          <p:cNvSpPr/>
          <p:nvPr/>
        </p:nvSpPr>
        <p:spPr>
          <a:xfrm>
            <a:off x="3061716" y="3517391"/>
            <a:ext cx="972819" cy="228600"/>
          </a:xfrm>
          <a:custGeom>
            <a:avLst/>
            <a:gdLst/>
            <a:ahLst/>
            <a:cxnLst/>
            <a:rect l="l" t="t" r="r" b="b"/>
            <a:pathLst>
              <a:path w="972820" h="228600">
                <a:moveTo>
                  <a:pt x="743711" y="0"/>
                </a:moveTo>
                <a:lnTo>
                  <a:pt x="743711" y="228600"/>
                </a:lnTo>
                <a:lnTo>
                  <a:pt x="896111" y="152400"/>
                </a:lnTo>
                <a:lnTo>
                  <a:pt x="781811" y="152400"/>
                </a:lnTo>
                <a:lnTo>
                  <a:pt x="781811" y="76200"/>
                </a:lnTo>
                <a:lnTo>
                  <a:pt x="896111" y="76200"/>
                </a:lnTo>
                <a:lnTo>
                  <a:pt x="743711" y="0"/>
                </a:lnTo>
                <a:close/>
              </a:path>
              <a:path w="972820" h="228600">
                <a:moveTo>
                  <a:pt x="743711" y="76200"/>
                </a:moveTo>
                <a:lnTo>
                  <a:pt x="0" y="76200"/>
                </a:lnTo>
                <a:lnTo>
                  <a:pt x="0" y="152400"/>
                </a:lnTo>
                <a:lnTo>
                  <a:pt x="743711" y="152400"/>
                </a:lnTo>
                <a:lnTo>
                  <a:pt x="743711" y="76200"/>
                </a:lnTo>
                <a:close/>
              </a:path>
              <a:path w="972820" h="228600">
                <a:moveTo>
                  <a:pt x="896111" y="76200"/>
                </a:moveTo>
                <a:lnTo>
                  <a:pt x="781811" y="76200"/>
                </a:lnTo>
                <a:lnTo>
                  <a:pt x="781811" y="152400"/>
                </a:lnTo>
                <a:lnTo>
                  <a:pt x="896111" y="152400"/>
                </a:lnTo>
                <a:lnTo>
                  <a:pt x="972311" y="114300"/>
                </a:lnTo>
                <a:lnTo>
                  <a:pt x="896111" y="76200"/>
                </a:lnTo>
                <a:close/>
              </a:path>
            </a:pathLst>
          </a:custGeom>
          <a:solidFill>
            <a:srgbClr val="5B9BD4"/>
          </a:solidFill>
        </p:spPr>
        <p:txBody>
          <a:bodyPr wrap="square" lIns="0" tIns="0" rIns="0" bIns="0" rtlCol="0"/>
          <a:lstStyle/>
          <a:p>
            <a:endParaRPr/>
          </a:p>
        </p:txBody>
      </p:sp>
      <p:sp>
        <p:nvSpPr>
          <p:cNvPr id="17" name="object 17"/>
          <p:cNvSpPr txBox="1"/>
          <p:nvPr/>
        </p:nvSpPr>
        <p:spPr>
          <a:xfrm>
            <a:off x="348995" y="3412235"/>
            <a:ext cx="2720340" cy="462280"/>
          </a:xfrm>
          <a:prstGeom prst="rect">
            <a:avLst/>
          </a:prstGeom>
          <a:solidFill>
            <a:srgbClr val="F9AE3A"/>
          </a:solidFill>
        </p:spPr>
        <p:txBody>
          <a:bodyPr vert="horz" wrap="square" lIns="0" tIns="0" rIns="0" bIns="0" rtlCol="0">
            <a:spAutoFit/>
          </a:bodyPr>
          <a:lstStyle/>
          <a:p>
            <a:pPr marL="128270">
              <a:lnSpc>
                <a:spcPct val="100000"/>
              </a:lnSpc>
            </a:pPr>
            <a:r>
              <a:rPr sz="2400" b="1" dirty="0">
                <a:solidFill>
                  <a:srgbClr val="FFFFFF"/>
                </a:solidFill>
                <a:latin typeface="微软雅黑"/>
                <a:cs typeface="微软雅黑"/>
              </a:rPr>
              <a:t>外部输入引脚</a:t>
            </a:r>
            <a:r>
              <a:rPr sz="2400" b="1" spc="-5" dirty="0">
                <a:solidFill>
                  <a:srgbClr val="FFFFFF"/>
                </a:solidFill>
                <a:latin typeface="微软雅黑"/>
                <a:cs typeface="微软雅黑"/>
              </a:rPr>
              <a:t>CHx</a:t>
            </a:r>
            <a:endParaRPr sz="2400">
              <a:latin typeface="微软雅黑"/>
              <a:cs typeface="微软雅黑"/>
            </a:endParaRPr>
          </a:p>
        </p:txBody>
      </p:sp>
      <p:sp>
        <p:nvSpPr>
          <p:cNvPr id="18" name="object 18"/>
          <p:cNvSpPr txBox="1"/>
          <p:nvPr/>
        </p:nvSpPr>
        <p:spPr>
          <a:xfrm>
            <a:off x="332231" y="4245864"/>
            <a:ext cx="2720340" cy="462280"/>
          </a:xfrm>
          <a:prstGeom prst="rect">
            <a:avLst/>
          </a:prstGeom>
          <a:solidFill>
            <a:srgbClr val="EF5A23"/>
          </a:solidFill>
        </p:spPr>
        <p:txBody>
          <a:bodyPr vert="horz" wrap="square" lIns="0" tIns="0" rIns="0" bIns="0" rtlCol="0">
            <a:spAutoFit/>
          </a:bodyPr>
          <a:lstStyle/>
          <a:p>
            <a:pPr marL="90805">
              <a:lnSpc>
                <a:spcPct val="100000"/>
              </a:lnSpc>
            </a:pPr>
            <a:r>
              <a:rPr sz="2400" b="1" dirty="0">
                <a:solidFill>
                  <a:srgbClr val="FFFFFF"/>
                </a:solidFill>
                <a:latin typeface="微软雅黑"/>
                <a:cs typeface="微软雅黑"/>
              </a:rPr>
              <a:t>外部触发输入</a:t>
            </a:r>
            <a:r>
              <a:rPr sz="2400" b="1" spc="5" dirty="0">
                <a:solidFill>
                  <a:srgbClr val="FFFFFF"/>
                </a:solidFill>
                <a:latin typeface="微软雅黑"/>
                <a:cs typeface="微软雅黑"/>
              </a:rPr>
              <a:t>E</a:t>
            </a:r>
            <a:r>
              <a:rPr sz="2400" b="1" spc="-5" dirty="0">
                <a:solidFill>
                  <a:srgbClr val="FFFFFF"/>
                </a:solidFill>
                <a:latin typeface="微软雅黑"/>
                <a:cs typeface="微软雅黑"/>
              </a:rPr>
              <a:t>TR</a:t>
            </a:r>
            <a:endParaRPr sz="2400">
              <a:latin typeface="微软雅黑"/>
              <a:cs typeface="微软雅黑"/>
            </a:endParaRPr>
          </a:p>
        </p:txBody>
      </p:sp>
      <p:sp>
        <p:nvSpPr>
          <p:cNvPr id="19" name="object 19"/>
          <p:cNvSpPr/>
          <p:nvPr/>
        </p:nvSpPr>
        <p:spPr>
          <a:xfrm>
            <a:off x="3061716" y="4331208"/>
            <a:ext cx="974090" cy="228600"/>
          </a:xfrm>
          <a:custGeom>
            <a:avLst/>
            <a:gdLst/>
            <a:ahLst/>
            <a:cxnLst/>
            <a:rect l="l" t="t" r="r" b="b"/>
            <a:pathLst>
              <a:path w="974089" h="228600">
                <a:moveTo>
                  <a:pt x="744982" y="0"/>
                </a:moveTo>
                <a:lnTo>
                  <a:pt x="744982" y="228600"/>
                </a:lnTo>
                <a:lnTo>
                  <a:pt x="897382" y="152400"/>
                </a:lnTo>
                <a:lnTo>
                  <a:pt x="783082" y="152400"/>
                </a:lnTo>
                <a:lnTo>
                  <a:pt x="783082" y="76200"/>
                </a:lnTo>
                <a:lnTo>
                  <a:pt x="897382" y="76200"/>
                </a:lnTo>
                <a:lnTo>
                  <a:pt x="744982" y="0"/>
                </a:lnTo>
                <a:close/>
              </a:path>
              <a:path w="974089" h="228600">
                <a:moveTo>
                  <a:pt x="744982" y="76200"/>
                </a:moveTo>
                <a:lnTo>
                  <a:pt x="0" y="76200"/>
                </a:lnTo>
                <a:lnTo>
                  <a:pt x="0" y="152400"/>
                </a:lnTo>
                <a:lnTo>
                  <a:pt x="744982" y="152400"/>
                </a:lnTo>
                <a:lnTo>
                  <a:pt x="744982" y="76200"/>
                </a:lnTo>
                <a:close/>
              </a:path>
              <a:path w="974089" h="228600">
                <a:moveTo>
                  <a:pt x="897382" y="76200"/>
                </a:moveTo>
                <a:lnTo>
                  <a:pt x="783082" y="76200"/>
                </a:lnTo>
                <a:lnTo>
                  <a:pt x="783082" y="152400"/>
                </a:lnTo>
                <a:lnTo>
                  <a:pt x="897382" y="152400"/>
                </a:lnTo>
                <a:lnTo>
                  <a:pt x="973582" y="114300"/>
                </a:lnTo>
                <a:lnTo>
                  <a:pt x="897382" y="76200"/>
                </a:lnTo>
                <a:close/>
              </a:path>
            </a:pathLst>
          </a:custGeom>
          <a:solidFill>
            <a:srgbClr val="5B9BD4"/>
          </a:solidFill>
        </p:spPr>
        <p:txBody>
          <a:bodyPr wrap="square" lIns="0" tIns="0" rIns="0" bIns="0" rtlCol="0"/>
          <a:lstStyle/>
          <a:p>
            <a:endParaRPr/>
          </a:p>
        </p:txBody>
      </p:sp>
      <p:sp>
        <p:nvSpPr>
          <p:cNvPr id="20" name="object 20"/>
          <p:cNvSpPr txBox="1"/>
          <p:nvPr/>
        </p:nvSpPr>
        <p:spPr>
          <a:xfrm>
            <a:off x="332231" y="5071871"/>
            <a:ext cx="2720340" cy="462280"/>
          </a:xfrm>
          <a:prstGeom prst="rect">
            <a:avLst/>
          </a:prstGeom>
          <a:solidFill>
            <a:srgbClr val="A261C4"/>
          </a:solidFill>
        </p:spPr>
        <p:txBody>
          <a:bodyPr vert="horz" wrap="square" lIns="0" tIns="0" rIns="0" bIns="0" rtlCol="0">
            <a:spAutoFit/>
          </a:bodyPr>
          <a:lstStyle/>
          <a:p>
            <a:pPr marL="103505">
              <a:lnSpc>
                <a:spcPct val="100000"/>
              </a:lnSpc>
            </a:pPr>
            <a:r>
              <a:rPr sz="2400" b="1" dirty="0">
                <a:solidFill>
                  <a:srgbClr val="FFFFFF"/>
                </a:solidFill>
                <a:latin typeface="微软雅黑"/>
                <a:cs typeface="微软雅黑"/>
              </a:rPr>
              <a:t>内部触发信</a:t>
            </a:r>
            <a:r>
              <a:rPr sz="2400" b="1" spc="-10" dirty="0">
                <a:solidFill>
                  <a:srgbClr val="FFFFFF"/>
                </a:solidFill>
                <a:latin typeface="微软雅黑"/>
                <a:cs typeface="微软雅黑"/>
              </a:rPr>
              <a:t>号</a:t>
            </a:r>
            <a:r>
              <a:rPr sz="2400" b="1" spc="-5" dirty="0">
                <a:solidFill>
                  <a:srgbClr val="FFFFFF"/>
                </a:solidFill>
                <a:latin typeface="微软雅黑"/>
                <a:cs typeface="微软雅黑"/>
              </a:rPr>
              <a:t>ITRx</a:t>
            </a:r>
            <a:endParaRPr sz="2400">
              <a:latin typeface="微软雅黑"/>
              <a:cs typeface="微软雅黑"/>
            </a:endParaRPr>
          </a:p>
        </p:txBody>
      </p:sp>
      <p:sp>
        <p:nvSpPr>
          <p:cNvPr id="21" name="object 21"/>
          <p:cNvSpPr/>
          <p:nvPr/>
        </p:nvSpPr>
        <p:spPr>
          <a:xfrm>
            <a:off x="3069335" y="5157215"/>
            <a:ext cx="965200" cy="228600"/>
          </a:xfrm>
          <a:custGeom>
            <a:avLst/>
            <a:gdLst/>
            <a:ahLst/>
            <a:cxnLst/>
            <a:rect l="l" t="t" r="r" b="b"/>
            <a:pathLst>
              <a:path w="965200" h="228600">
                <a:moveTo>
                  <a:pt x="736600" y="0"/>
                </a:moveTo>
                <a:lnTo>
                  <a:pt x="736600" y="228599"/>
                </a:lnTo>
                <a:lnTo>
                  <a:pt x="889000" y="152399"/>
                </a:lnTo>
                <a:lnTo>
                  <a:pt x="774700" y="152399"/>
                </a:lnTo>
                <a:lnTo>
                  <a:pt x="774700" y="76199"/>
                </a:lnTo>
                <a:lnTo>
                  <a:pt x="889000" y="76199"/>
                </a:lnTo>
                <a:lnTo>
                  <a:pt x="736600" y="0"/>
                </a:lnTo>
                <a:close/>
              </a:path>
              <a:path w="965200" h="228600">
                <a:moveTo>
                  <a:pt x="736600" y="76199"/>
                </a:moveTo>
                <a:lnTo>
                  <a:pt x="0" y="76199"/>
                </a:lnTo>
                <a:lnTo>
                  <a:pt x="0" y="152399"/>
                </a:lnTo>
                <a:lnTo>
                  <a:pt x="736600" y="152399"/>
                </a:lnTo>
                <a:lnTo>
                  <a:pt x="736600" y="76199"/>
                </a:lnTo>
                <a:close/>
              </a:path>
              <a:path w="965200" h="228600">
                <a:moveTo>
                  <a:pt x="889000" y="76199"/>
                </a:moveTo>
                <a:lnTo>
                  <a:pt x="774700" y="76199"/>
                </a:lnTo>
                <a:lnTo>
                  <a:pt x="774700" y="152399"/>
                </a:lnTo>
                <a:lnTo>
                  <a:pt x="889000" y="152399"/>
                </a:lnTo>
                <a:lnTo>
                  <a:pt x="965200" y="114299"/>
                </a:lnTo>
                <a:lnTo>
                  <a:pt x="889000" y="76199"/>
                </a:lnTo>
                <a:close/>
              </a:path>
            </a:pathLst>
          </a:custGeom>
          <a:solidFill>
            <a:srgbClr val="5B9BD4"/>
          </a:solidFill>
        </p:spPr>
        <p:txBody>
          <a:bodyPr wrap="square" lIns="0" tIns="0" rIns="0" bIns="0" rtlCol="0"/>
          <a:lstStyle/>
          <a:p>
            <a:endParaRPr/>
          </a:p>
        </p:txBody>
      </p:sp>
      <p:sp>
        <p:nvSpPr>
          <p:cNvPr id="22" name="object 22"/>
          <p:cNvSpPr txBox="1"/>
          <p:nvPr/>
        </p:nvSpPr>
        <p:spPr>
          <a:xfrm>
            <a:off x="4180078" y="3130158"/>
            <a:ext cx="330200" cy="1854200"/>
          </a:xfrm>
          <a:prstGeom prst="rect">
            <a:avLst/>
          </a:prstGeom>
        </p:spPr>
        <p:txBody>
          <a:bodyPr vert="horz" wrap="square" lIns="0" tIns="0" rIns="0" bIns="0" rtlCol="0">
            <a:spAutoFit/>
          </a:bodyPr>
          <a:lstStyle/>
          <a:p>
            <a:pPr marL="12700" marR="5080" algn="just">
              <a:lnSpc>
                <a:spcPct val="104200"/>
              </a:lnSpc>
            </a:pPr>
            <a:r>
              <a:rPr sz="2400" b="1" dirty="0">
                <a:solidFill>
                  <a:srgbClr val="FFFFFF"/>
                </a:solidFill>
                <a:latin typeface="微软雅黑"/>
                <a:cs typeface="微软雅黑"/>
              </a:rPr>
              <a:t>时 钟 源 选 择</a:t>
            </a:r>
            <a:endParaRPr sz="2400">
              <a:latin typeface="微软雅黑"/>
              <a:cs typeface="微软雅黑"/>
            </a:endParaRPr>
          </a:p>
        </p:txBody>
      </p:sp>
      <p:sp>
        <p:nvSpPr>
          <p:cNvPr id="23" name="object 23"/>
          <p:cNvSpPr/>
          <p:nvPr/>
        </p:nvSpPr>
        <p:spPr>
          <a:xfrm>
            <a:off x="4751832" y="3884676"/>
            <a:ext cx="1184910" cy="228600"/>
          </a:xfrm>
          <a:custGeom>
            <a:avLst/>
            <a:gdLst/>
            <a:ahLst/>
            <a:cxnLst/>
            <a:rect l="l" t="t" r="r" b="b"/>
            <a:pathLst>
              <a:path w="1184910" h="228600">
                <a:moveTo>
                  <a:pt x="955801" y="0"/>
                </a:moveTo>
                <a:lnTo>
                  <a:pt x="955801" y="228600"/>
                </a:lnTo>
                <a:lnTo>
                  <a:pt x="1108202" y="152400"/>
                </a:lnTo>
                <a:lnTo>
                  <a:pt x="993901" y="152400"/>
                </a:lnTo>
                <a:lnTo>
                  <a:pt x="993901" y="76200"/>
                </a:lnTo>
                <a:lnTo>
                  <a:pt x="1108202" y="76200"/>
                </a:lnTo>
                <a:lnTo>
                  <a:pt x="955801" y="0"/>
                </a:lnTo>
                <a:close/>
              </a:path>
              <a:path w="1184910" h="228600">
                <a:moveTo>
                  <a:pt x="955801" y="76200"/>
                </a:moveTo>
                <a:lnTo>
                  <a:pt x="0" y="76200"/>
                </a:lnTo>
                <a:lnTo>
                  <a:pt x="0" y="152400"/>
                </a:lnTo>
                <a:lnTo>
                  <a:pt x="955801" y="152400"/>
                </a:lnTo>
                <a:lnTo>
                  <a:pt x="955801" y="76200"/>
                </a:lnTo>
                <a:close/>
              </a:path>
              <a:path w="1184910" h="228600">
                <a:moveTo>
                  <a:pt x="1108202" y="76200"/>
                </a:moveTo>
                <a:lnTo>
                  <a:pt x="993901" y="76200"/>
                </a:lnTo>
                <a:lnTo>
                  <a:pt x="993901" y="152400"/>
                </a:lnTo>
                <a:lnTo>
                  <a:pt x="1108202" y="152400"/>
                </a:lnTo>
                <a:lnTo>
                  <a:pt x="1184402" y="114300"/>
                </a:lnTo>
                <a:lnTo>
                  <a:pt x="1108202" y="76200"/>
                </a:lnTo>
                <a:close/>
              </a:path>
            </a:pathLst>
          </a:custGeom>
          <a:solidFill>
            <a:srgbClr val="E34A46"/>
          </a:solidFill>
        </p:spPr>
        <p:txBody>
          <a:bodyPr wrap="square" lIns="0" tIns="0" rIns="0" bIns="0" rtlCol="0"/>
          <a:lstStyle/>
          <a:p>
            <a:endParaRPr/>
          </a:p>
        </p:txBody>
      </p:sp>
      <p:sp>
        <p:nvSpPr>
          <p:cNvPr id="24" name="object 24"/>
          <p:cNvSpPr txBox="1"/>
          <p:nvPr/>
        </p:nvSpPr>
        <p:spPr>
          <a:xfrm>
            <a:off x="5961888" y="3767328"/>
            <a:ext cx="4540250" cy="462280"/>
          </a:xfrm>
          <a:prstGeom prst="rect">
            <a:avLst/>
          </a:prstGeom>
          <a:solidFill>
            <a:srgbClr val="00AFEF"/>
          </a:solidFill>
        </p:spPr>
        <p:txBody>
          <a:bodyPr vert="horz" wrap="square" lIns="0" tIns="0" rIns="0" bIns="0" rtlCol="0">
            <a:spAutoFit/>
          </a:bodyPr>
          <a:lstStyle/>
          <a:p>
            <a:pPr marL="174625">
              <a:lnSpc>
                <a:spcPct val="100000"/>
              </a:lnSpc>
            </a:pPr>
            <a:r>
              <a:rPr sz="2400" b="1" spc="-5" dirty="0">
                <a:solidFill>
                  <a:srgbClr val="FFFFFF"/>
                </a:solidFill>
                <a:latin typeface="微软雅黑"/>
                <a:cs typeface="微软雅黑"/>
              </a:rPr>
              <a:t>时基单元的预分频时</a:t>
            </a:r>
            <a:r>
              <a:rPr sz="2400" b="1" dirty="0">
                <a:solidFill>
                  <a:srgbClr val="FFFFFF"/>
                </a:solidFill>
                <a:latin typeface="微软雅黑"/>
                <a:cs typeface="微软雅黑"/>
              </a:rPr>
              <a:t>钟</a:t>
            </a:r>
            <a:r>
              <a:rPr sz="2400" b="1" spc="-5" dirty="0">
                <a:solidFill>
                  <a:srgbClr val="FFFFFF"/>
                </a:solidFill>
                <a:latin typeface="微软雅黑"/>
                <a:cs typeface="微软雅黑"/>
              </a:rPr>
              <a:t>C</a:t>
            </a:r>
            <a:r>
              <a:rPr sz="2400" b="1" spc="5" dirty="0">
                <a:solidFill>
                  <a:srgbClr val="FFFFFF"/>
                </a:solidFill>
                <a:latin typeface="微软雅黑"/>
                <a:cs typeface="微软雅黑"/>
              </a:rPr>
              <a:t>K</a:t>
            </a:r>
            <a:r>
              <a:rPr sz="2400" b="1" spc="-5" dirty="0">
                <a:solidFill>
                  <a:srgbClr val="FFFFFF"/>
                </a:solidFill>
                <a:latin typeface="微软雅黑"/>
                <a:cs typeface="微软雅黑"/>
              </a:rPr>
              <a:t>_P</a:t>
            </a:r>
            <a:r>
              <a:rPr sz="2400" b="1" spc="-10" dirty="0">
                <a:solidFill>
                  <a:srgbClr val="FFFFFF"/>
                </a:solidFill>
                <a:latin typeface="微软雅黑"/>
                <a:cs typeface="微软雅黑"/>
              </a:rPr>
              <a:t>S</a:t>
            </a:r>
            <a:r>
              <a:rPr sz="2400" b="1" dirty="0">
                <a:solidFill>
                  <a:srgbClr val="FFFFFF"/>
                </a:solidFill>
                <a:latin typeface="微软雅黑"/>
                <a:cs typeface="微软雅黑"/>
              </a:rPr>
              <a:t>C</a:t>
            </a:r>
            <a:endParaRPr sz="2400">
              <a:latin typeface="微软雅黑"/>
              <a:cs typeface="微软雅黑"/>
            </a:endParaRPr>
          </a:p>
        </p:txBody>
      </p:sp>
      <p:sp>
        <p:nvSpPr>
          <p:cNvPr id="25" name="object 25"/>
          <p:cNvSpPr/>
          <p:nvPr/>
        </p:nvSpPr>
        <p:spPr>
          <a:xfrm>
            <a:off x="5341620" y="2914350"/>
            <a:ext cx="300118" cy="337837"/>
          </a:xfrm>
          <a:prstGeom prst="rect">
            <a:avLst/>
          </a:prstGeom>
          <a:blipFill>
            <a:blip r:embed="rId4" cstate="print"/>
            <a:stretch>
              <a:fillRect/>
            </a:stretch>
          </a:blipFill>
        </p:spPr>
        <p:txBody>
          <a:bodyPr wrap="square" lIns="0" tIns="0" rIns="0" bIns="0" rtlCol="0"/>
          <a:lstStyle/>
          <a:p>
            <a:endParaRPr/>
          </a:p>
        </p:txBody>
      </p:sp>
      <p:sp>
        <p:nvSpPr>
          <p:cNvPr id="26" name="object 26"/>
          <p:cNvSpPr/>
          <p:nvPr/>
        </p:nvSpPr>
        <p:spPr>
          <a:xfrm>
            <a:off x="5344667" y="2918568"/>
            <a:ext cx="292325" cy="330599"/>
          </a:xfrm>
          <a:prstGeom prst="rect">
            <a:avLst/>
          </a:prstGeom>
          <a:blipFill>
            <a:blip r:embed="rId5" cstate="print"/>
            <a:stretch>
              <a:fillRect/>
            </a:stretch>
          </a:blipFill>
        </p:spPr>
        <p:txBody>
          <a:bodyPr wrap="square" lIns="0" tIns="0" rIns="0" bIns="0" rtlCol="0"/>
          <a:lstStyle/>
          <a:p>
            <a:endParaRPr/>
          </a:p>
        </p:txBody>
      </p:sp>
      <p:sp>
        <p:nvSpPr>
          <p:cNvPr id="27" name="object 27"/>
          <p:cNvSpPr/>
          <p:nvPr/>
        </p:nvSpPr>
        <p:spPr>
          <a:xfrm>
            <a:off x="5352288" y="2929249"/>
            <a:ext cx="278562" cy="309248"/>
          </a:xfrm>
          <a:prstGeom prst="rect">
            <a:avLst/>
          </a:prstGeom>
          <a:blipFill>
            <a:blip r:embed="rId6" cstate="print"/>
            <a:stretch>
              <a:fillRect/>
            </a:stretch>
          </a:blipFill>
        </p:spPr>
        <p:txBody>
          <a:bodyPr wrap="square" lIns="0" tIns="0" rIns="0" bIns="0" rtlCol="0"/>
          <a:lstStyle/>
          <a:p>
            <a:endParaRPr/>
          </a:p>
        </p:txBody>
      </p:sp>
      <p:sp>
        <p:nvSpPr>
          <p:cNvPr id="28" name="object 28"/>
          <p:cNvSpPr/>
          <p:nvPr/>
        </p:nvSpPr>
        <p:spPr>
          <a:xfrm>
            <a:off x="5367528" y="2920639"/>
            <a:ext cx="248099" cy="249154"/>
          </a:xfrm>
          <a:prstGeom prst="rect">
            <a:avLst/>
          </a:prstGeom>
          <a:blipFill>
            <a:blip r:embed="rId7" cstate="print"/>
            <a:stretch>
              <a:fillRect/>
            </a:stretch>
          </a:blipFill>
        </p:spPr>
        <p:txBody>
          <a:bodyPr wrap="square" lIns="0" tIns="0" rIns="0" bIns="0" rtlCol="0"/>
          <a:lstStyle/>
          <a:p>
            <a:endParaRPr/>
          </a:p>
        </p:txBody>
      </p:sp>
      <p:sp>
        <p:nvSpPr>
          <p:cNvPr id="29" name="object 29"/>
          <p:cNvSpPr txBox="1"/>
          <p:nvPr/>
        </p:nvSpPr>
        <p:spPr>
          <a:xfrm>
            <a:off x="5176265" y="2757677"/>
            <a:ext cx="6814184" cy="640080"/>
          </a:xfrm>
          <a:prstGeom prst="rect">
            <a:avLst/>
          </a:prstGeom>
          <a:ln w="38100">
            <a:solidFill>
              <a:srgbClr val="E34A46"/>
            </a:solidFill>
          </a:ln>
        </p:spPr>
        <p:txBody>
          <a:bodyPr vert="horz" wrap="square" lIns="0" tIns="0" rIns="0" bIns="0" rtlCol="0">
            <a:spAutoFit/>
          </a:bodyPr>
          <a:lstStyle/>
          <a:p>
            <a:pPr marL="816610">
              <a:lnSpc>
                <a:spcPct val="100000"/>
              </a:lnSpc>
            </a:pPr>
            <a:r>
              <a:rPr sz="2400" b="1" dirty="0">
                <a:solidFill>
                  <a:srgbClr val="FF0000"/>
                </a:solidFill>
                <a:latin typeface="微软雅黑"/>
                <a:cs typeface="微软雅黑"/>
              </a:rPr>
              <a:t>外部时钟模式</a:t>
            </a:r>
            <a:r>
              <a:rPr sz="2400" b="1" spc="-10" dirty="0">
                <a:solidFill>
                  <a:srgbClr val="FF0000"/>
                </a:solidFill>
                <a:latin typeface="微软雅黑"/>
                <a:cs typeface="微软雅黑"/>
              </a:rPr>
              <a:t>1</a:t>
            </a:r>
            <a:r>
              <a:rPr sz="2400" b="1" dirty="0">
                <a:solidFill>
                  <a:srgbClr val="FF0000"/>
                </a:solidFill>
                <a:latin typeface="微软雅黑"/>
                <a:cs typeface="微软雅黑"/>
              </a:rPr>
              <a:t>：</a:t>
            </a:r>
            <a:r>
              <a:rPr sz="2400" b="1" dirty="0">
                <a:latin typeface="微软雅黑"/>
                <a:cs typeface="微软雅黑"/>
              </a:rPr>
              <a:t>捕获/比较通道</a:t>
            </a:r>
            <a:r>
              <a:rPr sz="2400" b="1" spc="-5" dirty="0">
                <a:latin typeface="微软雅黑"/>
                <a:cs typeface="微软雅黑"/>
              </a:rPr>
              <a:t>CH1/CH2</a:t>
            </a:r>
            <a:endParaRPr sz="2400">
              <a:latin typeface="微软雅黑"/>
              <a:cs typeface="微软雅黑"/>
            </a:endParaRPr>
          </a:p>
        </p:txBody>
      </p:sp>
      <p:sp>
        <p:nvSpPr>
          <p:cNvPr id="30" name="object 30"/>
          <p:cNvSpPr/>
          <p:nvPr/>
        </p:nvSpPr>
        <p:spPr>
          <a:xfrm>
            <a:off x="5341620" y="4709622"/>
            <a:ext cx="300118" cy="337837"/>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5344667" y="4713816"/>
            <a:ext cx="292385" cy="328550"/>
          </a:xfrm>
          <a:prstGeom prst="rect">
            <a:avLst/>
          </a:prstGeom>
          <a:blipFill>
            <a:blip r:embed="rId8" cstate="print"/>
            <a:stretch>
              <a:fillRect/>
            </a:stretch>
          </a:blipFill>
        </p:spPr>
        <p:txBody>
          <a:bodyPr wrap="square" lIns="0" tIns="0" rIns="0" bIns="0" rtlCol="0"/>
          <a:lstStyle/>
          <a:p>
            <a:endParaRPr/>
          </a:p>
        </p:txBody>
      </p:sp>
      <p:sp>
        <p:nvSpPr>
          <p:cNvPr id="32" name="object 32"/>
          <p:cNvSpPr/>
          <p:nvPr/>
        </p:nvSpPr>
        <p:spPr>
          <a:xfrm>
            <a:off x="5352288" y="4724496"/>
            <a:ext cx="278629" cy="307134"/>
          </a:xfrm>
          <a:prstGeom prst="rect">
            <a:avLst/>
          </a:prstGeom>
          <a:blipFill>
            <a:blip r:embed="rId9" cstate="print"/>
            <a:stretch>
              <a:fillRect/>
            </a:stretch>
          </a:blipFill>
        </p:spPr>
        <p:txBody>
          <a:bodyPr wrap="square" lIns="0" tIns="0" rIns="0" bIns="0" rtlCol="0"/>
          <a:lstStyle/>
          <a:p>
            <a:endParaRPr/>
          </a:p>
        </p:txBody>
      </p:sp>
      <p:sp>
        <p:nvSpPr>
          <p:cNvPr id="33" name="object 33"/>
          <p:cNvSpPr/>
          <p:nvPr/>
        </p:nvSpPr>
        <p:spPr>
          <a:xfrm>
            <a:off x="5367528" y="4714387"/>
            <a:ext cx="248099" cy="249154"/>
          </a:xfrm>
          <a:prstGeom prst="rect">
            <a:avLst/>
          </a:prstGeom>
          <a:blipFill>
            <a:blip r:embed="rId10" cstate="print"/>
            <a:stretch>
              <a:fillRect/>
            </a:stretch>
          </a:blipFill>
        </p:spPr>
        <p:txBody>
          <a:bodyPr wrap="square" lIns="0" tIns="0" rIns="0" bIns="0" rtlCol="0"/>
          <a:lstStyle/>
          <a:p>
            <a:endParaRPr/>
          </a:p>
        </p:txBody>
      </p:sp>
      <p:sp>
        <p:nvSpPr>
          <p:cNvPr id="34" name="object 34"/>
          <p:cNvSpPr txBox="1"/>
          <p:nvPr/>
        </p:nvSpPr>
        <p:spPr>
          <a:xfrm>
            <a:off x="5999226" y="4729723"/>
            <a:ext cx="4755515" cy="330200"/>
          </a:xfrm>
          <a:prstGeom prst="rect">
            <a:avLst/>
          </a:prstGeom>
        </p:spPr>
        <p:txBody>
          <a:bodyPr vert="horz" wrap="square" lIns="0" tIns="0" rIns="0" bIns="0" rtlCol="0">
            <a:spAutoFit/>
          </a:bodyPr>
          <a:lstStyle/>
          <a:p>
            <a:pPr marL="12700">
              <a:lnSpc>
                <a:spcPct val="100000"/>
              </a:lnSpc>
            </a:pPr>
            <a:r>
              <a:rPr sz="2400" b="1" dirty="0">
                <a:solidFill>
                  <a:srgbClr val="FF0000"/>
                </a:solidFill>
                <a:latin typeface="微软雅黑"/>
                <a:cs typeface="微软雅黑"/>
              </a:rPr>
              <a:t>外部时钟模式</a:t>
            </a:r>
            <a:r>
              <a:rPr sz="2400" b="1" spc="-10" dirty="0">
                <a:solidFill>
                  <a:srgbClr val="FF0000"/>
                </a:solidFill>
                <a:latin typeface="微软雅黑"/>
                <a:cs typeface="微软雅黑"/>
              </a:rPr>
              <a:t>2</a:t>
            </a:r>
            <a:r>
              <a:rPr sz="2400" b="1" dirty="0">
                <a:solidFill>
                  <a:srgbClr val="FF0000"/>
                </a:solidFill>
                <a:latin typeface="微软雅黑"/>
                <a:cs typeface="微软雅黑"/>
              </a:rPr>
              <a:t>：</a:t>
            </a:r>
            <a:r>
              <a:rPr sz="2400" b="1" dirty="0">
                <a:latin typeface="微软雅黑"/>
                <a:cs typeface="微软雅黑"/>
              </a:rPr>
              <a:t>外部触发引脚</a:t>
            </a:r>
            <a:r>
              <a:rPr sz="2400" b="1" spc="5" dirty="0">
                <a:latin typeface="微软雅黑"/>
                <a:cs typeface="微软雅黑"/>
              </a:rPr>
              <a:t>E</a:t>
            </a:r>
            <a:r>
              <a:rPr sz="2400" b="1" spc="-5" dirty="0">
                <a:latin typeface="微软雅黑"/>
                <a:cs typeface="微软雅黑"/>
              </a:rPr>
              <a:t>TR</a:t>
            </a:r>
            <a:endParaRPr sz="2400">
              <a:latin typeface="微软雅黑"/>
              <a:cs typeface="微软雅黑"/>
            </a:endParaRPr>
          </a:p>
        </p:txBody>
      </p:sp>
      <p:sp>
        <p:nvSpPr>
          <p:cNvPr id="35" name="object 35"/>
          <p:cNvSpPr/>
          <p:nvPr/>
        </p:nvSpPr>
        <p:spPr>
          <a:xfrm>
            <a:off x="5176265" y="4588002"/>
            <a:ext cx="6814184" cy="640080"/>
          </a:xfrm>
          <a:custGeom>
            <a:avLst/>
            <a:gdLst/>
            <a:ahLst/>
            <a:cxnLst/>
            <a:rect l="l" t="t" r="r" b="b"/>
            <a:pathLst>
              <a:path w="6814184" h="640079">
                <a:moveTo>
                  <a:pt x="0" y="640080"/>
                </a:moveTo>
                <a:lnTo>
                  <a:pt x="6813804" y="640080"/>
                </a:lnTo>
                <a:lnTo>
                  <a:pt x="6813804" y="0"/>
                </a:lnTo>
                <a:lnTo>
                  <a:pt x="0" y="0"/>
                </a:lnTo>
                <a:lnTo>
                  <a:pt x="0" y="640080"/>
                </a:lnTo>
                <a:close/>
              </a:path>
            </a:pathLst>
          </a:custGeom>
          <a:ln w="38100">
            <a:solidFill>
              <a:srgbClr val="E34A46"/>
            </a:solidFill>
          </a:ln>
        </p:spPr>
        <p:txBody>
          <a:bodyPr wrap="square" lIns="0" tIns="0" rIns="0" bIns="0" rtlCol="0"/>
          <a:lstStyle/>
          <a:p>
            <a:endParaRPr/>
          </a:p>
        </p:txBody>
      </p:sp>
      <p:sp>
        <p:nvSpPr>
          <p:cNvPr id="36" name="object 36"/>
          <p:cNvSpPr/>
          <p:nvPr/>
        </p:nvSpPr>
        <p:spPr>
          <a:xfrm>
            <a:off x="5341620" y="5665170"/>
            <a:ext cx="300118" cy="337837"/>
          </a:xfrm>
          <a:prstGeom prst="rect">
            <a:avLst/>
          </a:prstGeom>
          <a:blipFill>
            <a:blip r:embed="rId11" cstate="print"/>
            <a:stretch>
              <a:fillRect/>
            </a:stretch>
          </a:blipFill>
        </p:spPr>
        <p:txBody>
          <a:bodyPr wrap="square" lIns="0" tIns="0" rIns="0" bIns="0" rtlCol="0"/>
          <a:lstStyle/>
          <a:p>
            <a:endParaRPr/>
          </a:p>
        </p:txBody>
      </p:sp>
      <p:sp>
        <p:nvSpPr>
          <p:cNvPr id="37" name="object 37"/>
          <p:cNvSpPr/>
          <p:nvPr/>
        </p:nvSpPr>
        <p:spPr>
          <a:xfrm>
            <a:off x="5344667" y="5669364"/>
            <a:ext cx="292385" cy="328550"/>
          </a:xfrm>
          <a:prstGeom prst="rect">
            <a:avLst/>
          </a:prstGeom>
          <a:blipFill>
            <a:blip r:embed="rId8" cstate="print"/>
            <a:stretch>
              <a:fillRect/>
            </a:stretch>
          </a:blipFill>
        </p:spPr>
        <p:txBody>
          <a:bodyPr wrap="square" lIns="0" tIns="0" rIns="0" bIns="0" rtlCol="0"/>
          <a:lstStyle/>
          <a:p>
            <a:endParaRPr/>
          </a:p>
        </p:txBody>
      </p:sp>
      <p:sp>
        <p:nvSpPr>
          <p:cNvPr id="38" name="object 38"/>
          <p:cNvSpPr/>
          <p:nvPr/>
        </p:nvSpPr>
        <p:spPr>
          <a:xfrm>
            <a:off x="5352288" y="5680044"/>
            <a:ext cx="278629" cy="307134"/>
          </a:xfrm>
          <a:prstGeom prst="rect">
            <a:avLst/>
          </a:prstGeom>
          <a:blipFill>
            <a:blip r:embed="rId12" cstate="print"/>
            <a:stretch>
              <a:fillRect/>
            </a:stretch>
          </a:blipFill>
        </p:spPr>
        <p:txBody>
          <a:bodyPr wrap="square" lIns="0" tIns="0" rIns="0" bIns="0" rtlCol="0"/>
          <a:lstStyle/>
          <a:p>
            <a:endParaRPr/>
          </a:p>
        </p:txBody>
      </p:sp>
      <p:sp>
        <p:nvSpPr>
          <p:cNvPr id="39" name="object 39"/>
          <p:cNvSpPr/>
          <p:nvPr/>
        </p:nvSpPr>
        <p:spPr>
          <a:xfrm>
            <a:off x="5367528" y="5669934"/>
            <a:ext cx="248099" cy="249154"/>
          </a:xfrm>
          <a:prstGeom prst="rect">
            <a:avLst/>
          </a:prstGeom>
          <a:blipFill>
            <a:blip r:embed="rId13" cstate="print"/>
            <a:stretch>
              <a:fillRect/>
            </a:stretch>
          </a:blipFill>
        </p:spPr>
        <p:txBody>
          <a:bodyPr wrap="square" lIns="0" tIns="0" rIns="0" bIns="0" rtlCol="0"/>
          <a:lstStyle/>
          <a:p>
            <a:endParaRPr/>
          </a:p>
        </p:txBody>
      </p:sp>
      <p:sp>
        <p:nvSpPr>
          <p:cNvPr id="40" name="object 40"/>
          <p:cNvSpPr txBox="1"/>
          <p:nvPr/>
        </p:nvSpPr>
        <p:spPr>
          <a:xfrm>
            <a:off x="5999226" y="5645698"/>
            <a:ext cx="5817235" cy="878840"/>
          </a:xfrm>
          <a:prstGeom prst="rect">
            <a:avLst/>
          </a:prstGeom>
        </p:spPr>
        <p:txBody>
          <a:bodyPr vert="horz" wrap="square" lIns="0" tIns="0" rIns="0" bIns="0" rtlCol="0">
            <a:spAutoFit/>
          </a:bodyPr>
          <a:lstStyle/>
          <a:p>
            <a:pPr marL="12700">
              <a:lnSpc>
                <a:spcPct val="100000"/>
              </a:lnSpc>
            </a:pPr>
            <a:r>
              <a:rPr sz="2400" b="1" dirty="0">
                <a:solidFill>
                  <a:srgbClr val="FF0000"/>
                </a:solidFill>
                <a:latin typeface="微软雅黑"/>
                <a:cs typeface="微软雅黑"/>
              </a:rPr>
              <a:t>内部触发输入：</a:t>
            </a:r>
            <a:r>
              <a:rPr sz="2400" b="1" dirty="0">
                <a:latin typeface="微软雅黑"/>
                <a:cs typeface="微软雅黑"/>
              </a:rPr>
              <a:t>使用一个定时器作为另一个</a:t>
            </a:r>
            <a:endParaRPr sz="2400">
              <a:latin typeface="微软雅黑"/>
              <a:cs typeface="微软雅黑"/>
            </a:endParaRPr>
          </a:p>
          <a:p>
            <a:pPr marL="2185670">
              <a:lnSpc>
                <a:spcPct val="100000"/>
              </a:lnSpc>
              <a:spcBef>
                <a:spcPts val="1440"/>
              </a:spcBef>
            </a:pPr>
            <a:r>
              <a:rPr sz="2400" b="1" dirty="0">
                <a:latin typeface="微软雅黑"/>
                <a:cs typeface="微软雅黑"/>
              </a:rPr>
              <a:t>定时器的预分频器</a:t>
            </a:r>
            <a:endParaRPr sz="2400">
              <a:latin typeface="微软雅黑"/>
              <a:cs typeface="微软雅黑"/>
            </a:endParaRPr>
          </a:p>
        </p:txBody>
      </p:sp>
      <p:sp>
        <p:nvSpPr>
          <p:cNvPr id="41" name="object 41"/>
          <p:cNvSpPr/>
          <p:nvPr/>
        </p:nvSpPr>
        <p:spPr>
          <a:xfrm>
            <a:off x="5176265" y="5540502"/>
            <a:ext cx="6814184" cy="1085215"/>
          </a:xfrm>
          <a:custGeom>
            <a:avLst/>
            <a:gdLst/>
            <a:ahLst/>
            <a:cxnLst/>
            <a:rect l="l" t="t" r="r" b="b"/>
            <a:pathLst>
              <a:path w="6814184" h="1085215">
                <a:moveTo>
                  <a:pt x="0" y="1085088"/>
                </a:moveTo>
                <a:lnTo>
                  <a:pt x="6813804" y="1085088"/>
                </a:lnTo>
                <a:lnTo>
                  <a:pt x="6813804" y="0"/>
                </a:lnTo>
                <a:lnTo>
                  <a:pt x="0" y="0"/>
                </a:lnTo>
                <a:lnTo>
                  <a:pt x="0" y="1085088"/>
                </a:lnTo>
                <a:close/>
              </a:path>
            </a:pathLst>
          </a:custGeom>
          <a:ln w="38100">
            <a:solidFill>
              <a:srgbClr val="E34A46"/>
            </a:solidFill>
          </a:ln>
        </p:spPr>
        <p:txBody>
          <a:bodyPr wrap="square" lIns="0" tIns="0" rIns="0" bIns="0" rtlCol="0"/>
          <a:lstStyle/>
          <a:p>
            <a:endParaRPr/>
          </a:p>
        </p:txBody>
      </p:sp>
      <p:sp>
        <p:nvSpPr>
          <p:cNvPr id="42" name="object 42"/>
          <p:cNvSpPr/>
          <p:nvPr/>
        </p:nvSpPr>
        <p:spPr>
          <a:xfrm>
            <a:off x="5341620" y="1481842"/>
            <a:ext cx="300076" cy="339267"/>
          </a:xfrm>
          <a:prstGeom prst="rect">
            <a:avLst/>
          </a:prstGeom>
          <a:blipFill>
            <a:blip r:embed="rId14" cstate="print"/>
            <a:stretch>
              <a:fillRect/>
            </a:stretch>
          </a:blipFill>
        </p:spPr>
        <p:txBody>
          <a:bodyPr wrap="square" lIns="0" tIns="0" rIns="0" bIns="0" rtlCol="0"/>
          <a:lstStyle/>
          <a:p>
            <a:endParaRPr/>
          </a:p>
        </p:txBody>
      </p:sp>
      <p:sp>
        <p:nvSpPr>
          <p:cNvPr id="43" name="object 43"/>
          <p:cNvSpPr/>
          <p:nvPr/>
        </p:nvSpPr>
        <p:spPr>
          <a:xfrm>
            <a:off x="5344667" y="1486008"/>
            <a:ext cx="292325" cy="330599"/>
          </a:xfrm>
          <a:prstGeom prst="rect">
            <a:avLst/>
          </a:prstGeom>
          <a:blipFill>
            <a:blip r:embed="rId5" cstate="print"/>
            <a:stretch>
              <a:fillRect/>
            </a:stretch>
          </a:blipFill>
        </p:spPr>
        <p:txBody>
          <a:bodyPr wrap="square" lIns="0" tIns="0" rIns="0" bIns="0" rtlCol="0"/>
          <a:lstStyle/>
          <a:p>
            <a:endParaRPr/>
          </a:p>
        </p:txBody>
      </p:sp>
      <p:sp>
        <p:nvSpPr>
          <p:cNvPr id="44" name="object 44"/>
          <p:cNvSpPr/>
          <p:nvPr/>
        </p:nvSpPr>
        <p:spPr>
          <a:xfrm>
            <a:off x="5352288" y="1496689"/>
            <a:ext cx="278562" cy="309248"/>
          </a:xfrm>
          <a:prstGeom prst="rect">
            <a:avLst/>
          </a:prstGeom>
          <a:blipFill>
            <a:blip r:embed="rId15" cstate="print"/>
            <a:stretch>
              <a:fillRect/>
            </a:stretch>
          </a:blipFill>
        </p:spPr>
        <p:txBody>
          <a:bodyPr wrap="square" lIns="0" tIns="0" rIns="0" bIns="0" rtlCol="0"/>
          <a:lstStyle/>
          <a:p>
            <a:endParaRPr/>
          </a:p>
        </p:txBody>
      </p:sp>
      <p:sp>
        <p:nvSpPr>
          <p:cNvPr id="45" name="object 45"/>
          <p:cNvSpPr/>
          <p:nvPr/>
        </p:nvSpPr>
        <p:spPr>
          <a:xfrm>
            <a:off x="5367528" y="1488079"/>
            <a:ext cx="248099" cy="249154"/>
          </a:xfrm>
          <a:prstGeom prst="rect">
            <a:avLst/>
          </a:prstGeom>
          <a:blipFill>
            <a:blip r:embed="rId10" cstate="print"/>
            <a:stretch>
              <a:fillRect/>
            </a:stretch>
          </a:blipFill>
        </p:spPr>
        <p:txBody>
          <a:bodyPr wrap="square" lIns="0" tIns="0" rIns="0" bIns="0" rtlCol="0"/>
          <a:lstStyle/>
          <a:p>
            <a:endParaRPr/>
          </a:p>
        </p:txBody>
      </p:sp>
      <p:sp>
        <p:nvSpPr>
          <p:cNvPr id="46" name="object 46"/>
          <p:cNvSpPr txBox="1"/>
          <p:nvPr/>
        </p:nvSpPr>
        <p:spPr>
          <a:xfrm>
            <a:off x="5999226" y="1462267"/>
            <a:ext cx="5541010" cy="330200"/>
          </a:xfrm>
          <a:prstGeom prst="rect">
            <a:avLst/>
          </a:prstGeom>
        </p:spPr>
        <p:txBody>
          <a:bodyPr vert="horz" wrap="square" lIns="0" tIns="0" rIns="0" bIns="0" rtlCol="0">
            <a:spAutoFit/>
          </a:bodyPr>
          <a:lstStyle/>
          <a:p>
            <a:pPr marL="12700">
              <a:lnSpc>
                <a:spcPct val="100000"/>
              </a:lnSpc>
            </a:pPr>
            <a:r>
              <a:rPr sz="2400" b="1" dirty="0">
                <a:solidFill>
                  <a:srgbClr val="FF0000"/>
                </a:solidFill>
                <a:latin typeface="微软雅黑"/>
                <a:cs typeface="微软雅黑"/>
              </a:rPr>
              <a:t>内部时钟：</a:t>
            </a:r>
            <a:r>
              <a:rPr sz="2400" b="1" dirty="0">
                <a:latin typeface="微软雅黑"/>
                <a:cs typeface="微软雅黑"/>
              </a:rPr>
              <a:t>来自外设总线</a:t>
            </a:r>
            <a:r>
              <a:rPr sz="2400" b="1" spc="-10" dirty="0">
                <a:latin typeface="微软雅黑"/>
                <a:cs typeface="微软雅黑"/>
              </a:rPr>
              <a:t>AP</a:t>
            </a:r>
            <a:r>
              <a:rPr sz="2400" b="1" spc="-5" dirty="0">
                <a:latin typeface="微软雅黑"/>
                <a:cs typeface="微软雅黑"/>
              </a:rPr>
              <a:t>B</a:t>
            </a:r>
            <a:r>
              <a:rPr sz="2400" b="1" dirty="0">
                <a:latin typeface="微软雅黑"/>
                <a:cs typeface="微软雅黑"/>
              </a:rPr>
              <a:t>提供的时钟</a:t>
            </a:r>
            <a:endParaRPr sz="2400">
              <a:latin typeface="微软雅黑"/>
              <a:cs typeface="微软雅黑"/>
            </a:endParaRPr>
          </a:p>
        </p:txBody>
      </p:sp>
      <p:sp>
        <p:nvSpPr>
          <p:cNvPr id="47" name="object 47"/>
          <p:cNvSpPr txBox="1"/>
          <p:nvPr/>
        </p:nvSpPr>
        <p:spPr>
          <a:xfrm>
            <a:off x="7536942" y="2011288"/>
            <a:ext cx="4219575"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C</a:t>
            </a:r>
            <a:r>
              <a:rPr sz="2400" b="1" spc="5" dirty="0">
                <a:latin typeface="微软雅黑"/>
                <a:cs typeface="微软雅黑"/>
              </a:rPr>
              <a:t>K</a:t>
            </a:r>
            <a:r>
              <a:rPr sz="2400" b="1" spc="-5" dirty="0">
                <a:latin typeface="微软雅黑"/>
                <a:cs typeface="微软雅黑"/>
              </a:rPr>
              <a:t>_I</a:t>
            </a:r>
            <a:r>
              <a:rPr sz="2400" b="1" spc="5" dirty="0">
                <a:latin typeface="微软雅黑"/>
                <a:cs typeface="微软雅黑"/>
              </a:rPr>
              <a:t>N</a:t>
            </a:r>
            <a:r>
              <a:rPr sz="2400" b="1" spc="-5" dirty="0">
                <a:latin typeface="微软雅黑"/>
                <a:cs typeface="微软雅黑"/>
              </a:rPr>
              <a:t>T</a:t>
            </a:r>
            <a:r>
              <a:rPr sz="2400" b="1" spc="5" dirty="0">
                <a:latin typeface="微软雅黑"/>
                <a:cs typeface="微软雅黑"/>
              </a:rPr>
              <a:t>(</a:t>
            </a:r>
            <a:r>
              <a:rPr sz="2400" b="1" dirty="0">
                <a:latin typeface="微软雅黑"/>
                <a:cs typeface="微软雅黑"/>
              </a:rPr>
              <a:t>定时器时钟</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15" dirty="0">
                <a:latin typeface="微软雅黑"/>
                <a:cs typeface="微软雅黑"/>
              </a:rPr>
              <a:t>L</a:t>
            </a:r>
            <a:r>
              <a:rPr sz="2400" b="1" spc="-5" dirty="0">
                <a:latin typeface="微软雅黑"/>
                <a:cs typeface="微软雅黑"/>
              </a:rPr>
              <a:t>K)</a:t>
            </a:r>
            <a:endParaRPr sz="2400">
              <a:latin typeface="微软雅黑"/>
              <a:cs typeface="微软雅黑"/>
            </a:endParaRPr>
          </a:p>
        </p:txBody>
      </p:sp>
      <p:sp>
        <p:nvSpPr>
          <p:cNvPr id="48" name="object 48"/>
          <p:cNvSpPr/>
          <p:nvPr/>
        </p:nvSpPr>
        <p:spPr>
          <a:xfrm>
            <a:off x="5176265" y="1358646"/>
            <a:ext cx="6814184" cy="1085215"/>
          </a:xfrm>
          <a:custGeom>
            <a:avLst/>
            <a:gdLst/>
            <a:ahLst/>
            <a:cxnLst/>
            <a:rect l="l" t="t" r="r" b="b"/>
            <a:pathLst>
              <a:path w="6814184" h="1085214">
                <a:moveTo>
                  <a:pt x="0" y="1085088"/>
                </a:moveTo>
                <a:lnTo>
                  <a:pt x="6813804" y="1085088"/>
                </a:lnTo>
                <a:lnTo>
                  <a:pt x="6813804" y="0"/>
                </a:lnTo>
                <a:lnTo>
                  <a:pt x="0" y="0"/>
                </a:lnTo>
                <a:lnTo>
                  <a:pt x="0" y="1085088"/>
                </a:lnTo>
                <a:close/>
              </a:path>
            </a:pathLst>
          </a:custGeom>
          <a:ln w="38100">
            <a:solidFill>
              <a:srgbClr val="E34A46"/>
            </a:solidFill>
          </a:ln>
        </p:spPr>
        <p:txBody>
          <a:bodyPr wrap="square" lIns="0" tIns="0" rIns="0" bIns="0" rtlCol="0"/>
          <a:lstStyle/>
          <a:p>
            <a:endParaRPr/>
          </a:p>
        </p:txBody>
      </p:sp>
      <p:sp>
        <p:nvSpPr>
          <p:cNvPr id="49" name="object 49"/>
          <p:cNvSpPr/>
          <p:nvPr/>
        </p:nvSpPr>
        <p:spPr>
          <a:xfrm>
            <a:off x="3879341" y="730758"/>
            <a:ext cx="1870710" cy="574040"/>
          </a:xfrm>
          <a:custGeom>
            <a:avLst/>
            <a:gdLst/>
            <a:ahLst/>
            <a:cxnLst/>
            <a:rect l="l" t="t" r="r" b="b"/>
            <a:pathLst>
              <a:path w="1870710" h="574040">
                <a:moveTo>
                  <a:pt x="1761752" y="477519"/>
                </a:moveTo>
                <a:lnTo>
                  <a:pt x="1600200" y="477519"/>
                </a:lnTo>
                <a:lnTo>
                  <a:pt x="1870456" y="573913"/>
                </a:lnTo>
                <a:lnTo>
                  <a:pt x="1761752" y="477519"/>
                </a:lnTo>
                <a:close/>
              </a:path>
              <a:path w="1870710" h="574040">
                <a:moveTo>
                  <a:pt x="1504696" y="0"/>
                </a:moveTo>
                <a:lnTo>
                  <a:pt x="933450" y="0"/>
                </a:lnTo>
                <a:lnTo>
                  <a:pt x="86177" y="450"/>
                </a:lnTo>
                <a:lnTo>
                  <a:pt x="46247" y="13685"/>
                </a:lnTo>
                <a:lnTo>
                  <a:pt x="16413" y="41987"/>
                </a:lnTo>
                <a:lnTo>
                  <a:pt x="1107" y="80926"/>
                </a:lnTo>
                <a:lnTo>
                  <a:pt x="0" y="95503"/>
                </a:lnTo>
                <a:lnTo>
                  <a:pt x="0" y="477519"/>
                </a:lnTo>
                <a:lnTo>
                  <a:pt x="13685" y="526776"/>
                </a:lnTo>
                <a:lnTo>
                  <a:pt x="41987" y="556610"/>
                </a:lnTo>
                <a:lnTo>
                  <a:pt x="80926" y="571916"/>
                </a:lnTo>
                <a:lnTo>
                  <a:pt x="95504" y="573024"/>
                </a:lnTo>
                <a:lnTo>
                  <a:pt x="1333500" y="573024"/>
                </a:lnTo>
                <a:lnTo>
                  <a:pt x="1514022" y="572573"/>
                </a:lnTo>
                <a:lnTo>
                  <a:pt x="1553952" y="559338"/>
                </a:lnTo>
                <a:lnTo>
                  <a:pt x="1583786" y="531036"/>
                </a:lnTo>
                <a:lnTo>
                  <a:pt x="1599092" y="492097"/>
                </a:lnTo>
                <a:lnTo>
                  <a:pt x="1600200" y="477519"/>
                </a:lnTo>
                <a:lnTo>
                  <a:pt x="1761752" y="477519"/>
                </a:lnTo>
                <a:lnTo>
                  <a:pt x="1600200" y="334263"/>
                </a:lnTo>
                <a:lnTo>
                  <a:pt x="1599749" y="86177"/>
                </a:lnTo>
                <a:lnTo>
                  <a:pt x="1597285" y="72019"/>
                </a:lnTo>
                <a:lnTo>
                  <a:pt x="1578535" y="34961"/>
                </a:lnTo>
                <a:lnTo>
                  <a:pt x="1546195" y="9478"/>
                </a:lnTo>
                <a:lnTo>
                  <a:pt x="1519273" y="1107"/>
                </a:lnTo>
                <a:lnTo>
                  <a:pt x="1504696" y="0"/>
                </a:lnTo>
                <a:close/>
              </a:path>
            </a:pathLst>
          </a:custGeom>
          <a:solidFill>
            <a:srgbClr val="FFFFC7"/>
          </a:solidFill>
        </p:spPr>
        <p:txBody>
          <a:bodyPr wrap="square" lIns="0" tIns="0" rIns="0" bIns="0" rtlCol="0"/>
          <a:lstStyle/>
          <a:p>
            <a:endParaRPr/>
          </a:p>
        </p:txBody>
      </p:sp>
      <p:sp>
        <p:nvSpPr>
          <p:cNvPr id="50" name="object 50"/>
          <p:cNvSpPr/>
          <p:nvPr/>
        </p:nvSpPr>
        <p:spPr>
          <a:xfrm>
            <a:off x="3879341" y="730758"/>
            <a:ext cx="1870710" cy="574040"/>
          </a:xfrm>
          <a:custGeom>
            <a:avLst/>
            <a:gdLst/>
            <a:ahLst/>
            <a:cxnLst/>
            <a:rect l="l" t="t" r="r" b="b"/>
            <a:pathLst>
              <a:path w="1870710" h="574040">
                <a:moveTo>
                  <a:pt x="0" y="95503"/>
                </a:moveTo>
                <a:lnTo>
                  <a:pt x="9478" y="54004"/>
                </a:lnTo>
                <a:lnTo>
                  <a:pt x="34961" y="21664"/>
                </a:lnTo>
                <a:lnTo>
                  <a:pt x="72019" y="2914"/>
                </a:lnTo>
                <a:lnTo>
                  <a:pt x="933450" y="0"/>
                </a:lnTo>
                <a:lnTo>
                  <a:pt x="1333500" y="0"/>
                </a:lnTo>
                <a:lnTo>
                  <a:pt x="1504696" y="0"/>
                </a:lnTo>
                <a:lnTo>
                  <a:pt x="1519273" y="1107"/>
                </a:lnTo>
                <a:lnTo>
                  <a:pt x="1558212" y="16413"/>
                </a:lnTo>
                <a:lnTo>
                  <a:pt x="1586514" y="46247"/>
                </a:lnTo>
                <a:lnTo>
                  <a:pt x="1599749" y="86177"/>
                </a:lnTo>
                <a:lnTo>
                  <a:pt x="1600200" y="334263"/>
                </a:lnTo>
                <a:lnTo>
                  <a:pt x="1870456" y="573913"/>
                </a:lnTo>
                <a:lnTo>
                  <a:pt x="1600200" y="477519"/>
                </a:lnTo>
                <a:lnTo>
                  <a:pt x="1599092" y="492097"/>
                </a:lnTo>
                <a:lnTo>
                  <a:pt x="1595877" y="505985"/>
                </a:lnTo>
                <a:lnTo>
                  <a:pt x="1575237" y="541870"/>
                </a:lnTo>
                <a:lnTo>
                  <a:pt x="1541545" y="565642"/>
                </a:lnTo>
                <a:lnTo>
                  <a:pt x="1333500" y="573024"/>
                </a:lnTo>
                <a:lnTo>
                  <a:pt x="933450" y="573024"/>
                </a:lnTo>
                <a:lnTo>
                  <a:pt x="95504" y="573024"/>
                </a:lnTo>
                <a:lnTo>
                  <a:pt x="80926" y="571916"/>
                </a:lnTo>
                <a:lnTo>
                  <a:pt x="41987" y="556610"/>
                </a:lnTo>
                <a:lnTo>
                  <a:pt x="13685" y="526776"/>
                </a:lnTo>
                <a:lnTo>
                  <a:pt x="450" y="486846"/>
                </a:lnTo>
                <a:lnTo>
                  <a:pt x="0" y="477519"/>
                </a:lnTo>
                <a:lnTo>
                  <a:pt x="0" y="334263"/>
                </a:lnTo>
                <a:lnTo>
                  <a:pt x="0" y="95503"/>
                </a:lnTo>
                <a:close/>
              </a:path>
            </a:pathLst>
          </a:custGeom>
          <a:ln w="28956">
            <a:solidFill>
              <a:srgbClr val="000000"/>
            </a:solidFill>
          </a:ln>
        </p:spPr>
        <p:txBody>
          <a:bodyPr wrap="square" lIns="0" tIns="0" rIns="0" bIns="0" rtlCol="0"/>
          <a:lstStyle/>
          <a:p>
            <a:endParaRPr/>
          </a:p>
        </p:txBody>
      </p:sp>
      <p:sp>
        <p:nvSpPr>
          <p:cNvPr id="51" name="object 51"/>
          <p:cNvSpPr txBox="1"/>
          <p:nvPr/>
        </p:nvSpPr>
        <p:spPr>
          <a:xfrm>
            <a:off x="4053078" y="851598"/>
            <a:ext cx="125095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定时模式</a:t>
            </a:r>
            <a:endParaRPr sz="2400">
              <a:latin typeface="宋体"/>
              <a:cs typeface="宋体"/>
            </a:endParaRPr>
          </a:p>
        </p:txBody>
      </p:sp>
      <p:sp>
        <p:nvSpPr>
          <p:cNvPr id="52" name="object 52"/>
          <p:cNvSpPr/>
          <p:nvPr/>
        </p:nvSpPr>
        <p:spPr>
          <a:xfrm>
            <a:off x="4647438" y="2073401"/>
            <a:ext cx="1825625" cy="629285"/>
          </a:xfrm>
          <a:custGeom>
            <a:avLst/>
            <a:gdLst/>
            <a:ahLst/>
            <a:cxnLst/>
            <a:rect l="l" t="t" r="r" b="b"/>
            <a:pathLst>
              <a:path w="1825625" h="629285">
                <a:moveTo>
                  <a:pt x="1709724" y="476250"/>
                </a:moveTo>
                <a:lnTo>
                  <a:pt x="1601724" y="476250"/>
                </a:lnTo>
                <a:lnTo>
                  <a:pt x="1825116" y="628903"/>
                </a:lnTo>
                <a:lnTo>
                  <a:pt x="1709724" y="476250"/>
                </a:lnTo>
                <a:close/>
              </a:path>
              <a:path w="1825625" h="629285">
                <a:moveTo>
                  <a:pt x="1506474" y="0"/>
                </a:moveTo>
                <a:lnTo>
                  <a:pt x="934338" y="0"/>
                </a:lnTo>
                <a:lnTo>
                  <a:pt x="86332" y="412"/>
                </a:lnTo>
                <a:lnTo>
                  <a:pt x="46339" y="13513"/>
                </a:lnTo>
                <a:lnTo>
                  <a:pt x="16449" y="41748"/>
                </a:lnTo>
                <a:lnTo>
                  <a:pt x="1110" y="80670"/>
                </a:lnTo>
                <a:lnTo>
                  <a:pt x="0" y="95250"/>
                </a:lnTo>
                <a:lnTo>
                  <a:pt x="0" y="476250"/>
                </a:lnTo>
                <a:lnTo>
                  <a:pt x="13513" y="525160"/>
                </a:lnTo>
                <a:lnTo>
                  <a:pt x="41748" y="555050"/>
                </a:lnTo>
                <a:lnTo>
                  <a:pt x="80670" y="570389"/>
                </a:lnTo>
                <a:lnTo>
                  <a:pt x="95250" y="571500"/>
                </a:lnTo>
                <a:lnTo>
                  <a:pt x="1334770" y="571500"/>
                </a:lnTo>
                <a:lnTo>
                  <a:pt x="1515391" y="571087"/>
                </a:lnTo>
                <a:lnTo>
                  <a:pt x="1555384" y="557986"/>
                </a:lnTo>
                <a:lnTo>
                  <a:pt x="1585274" y="529751"/>
                </a:lnTo>
                <a:lnTo>
                  <a:pt x="1600613" y="490829"/>
                </a:lnTo>
                <a:lnTo>
                  <a:pt x="1601724" y="476250"/>
                </a:lnTo>
                <a:lnTo>
                  <a:pt x="1709724" y="476250"/>
                </a:lnTo>
                <a:lnTo>
                  <a:pt x="1601724" y="333375"/>
                </a:lnTo>
                <a:lnTo>
                  <a:pt x="1601311" y="86332"/>
                </a:lnTo>
                <a:lnTo>
                  <a:pt x="1598900" y="72153"/>
                </a:lnTo>
                <a:lnTo>
                  <a:pt x="1580260" y="35033"/>
                </a:lnTo>
                <a:lnTo>
                  <a:pt x="1547969" y="9499"/>
                </a:lnTo>
                <a:lnTo>
                  <a:pt x="1521053" y="1110"/>
                </a:lnTo>
                <a:lnTo>
                  <a:pt x="1506474" y="0"/>
                </a:lnTo>
                <a:close/>
              </a:path>
            </a:pathLst>
          </a:custGeom>
          <a:solidFill>
            <a:srgbClr val="FFFFC7"/>
          </a:solidFill>
        </p:spPr>
        <p:txBody>
          <a:bodyPr wrap="square" lIns="0" tIns="0" rIns="0" bIns="0" rtlCol="0"/>
          <a:lstStyle/>
          <a:p>
            <a:endParaRPr/>
          </a:p>
        </p:txBody>
      </p:sp>
      <p:sp>
        <p:nvSpPr>
          <p:cNvPr id="53" name="object 53"/>
          <p:cNvSpPr/>
          <p:nvPr/>
        </p:nvSpPr>
        <p:spPr>
          <a:xfrm>
            <a:off x="4647438" y="2073401"/>
            <a:ext cx="1825625" cy="629285"/>
          </a:xfrm>
          <a:custGeom>
            <a:avLst/>
            <a:gdLst/>
            <a:ahLst/>
            <a:cxnLst/>
            <a:rect l="l" t="t" r="r" b="b"/>
            <a:pathLst>
              <a:path w="1825625" h="629285">
                <a:moveTo>
                  <a:pt x="0" y="95250"/>
                </a:moveTo>
                <a:lnTo>
                  <a:pt x="9499" y="53754"/>
                </a:lnTo>
                <a:lnTo>
                  <a:pt x="35033" y="21463"/>
                </a:lnTo>
                <a:lnTo>
                  <a:pt x="72153" y="2823"/>
                </a:lnTo>
                <a:lnTo>
                  <a:pt x="934338" y="0"/>
                </a:lnTo>
                <a:lnTo>
                  <a:pt x="1334770" y="0"/>
                </a:lnTo>
                <a:lnTo>
                  <a:pt x="1506474" y="0"/>
                </a:lnTo>
                <a:lnTo>
                  <a:pt x="1521053" y="1110"/>
                </a:lnTo>
                <a:lnTo>
                  <a:pt x="1559975" y="16449"/>
                </a:lnTo>
                <a:lnTo>
                  <a:pt x="1588210" y="46339"/>
                </a:lnTo>
                <a:lnTo>
                  <a:pt x="1601311" y="86332"/>
                </a:lnTo>
                <a:lnTo>
                  <a:pt x="1601724" y="333375"/>
                </a:lnTo>
                <a:lnTo>
                  <a:pt x="1825116" y="628903"/>
                </a:lnTo>
                <a:lnTo>
                  <a:pt x="1601724" y="476250"/>
                </a:lnTo>
                <a:lnTo>
                  <a:pt x="1600613" y="490829"/>
                </a:lnTo>
                <a:lnTo>
                  <a:pt x="1597391" y="504716"/>
                </a:lnTo>
                <a:lnTo>
                  <a:pt x="1576708" y="540570"/>
                </a:lnTo>
                <a:lnTo>
                  <a:pt x="1542956" y="564254"/>
                </a:lnTo>
                <a:lnTo>
                  <a:pt x="1334770" y="571500"/>
                </a:lnTo>
                <a:lnTo>
                  <a:pt x="934338" y="571500"/>
                </a:lnTo>
                <a:lnTo>
                  <a:pt x="95250" y="571500"/>
                </a:lnTo>
                <a:lnTo>
                  <a:pt x="80670" y="570389"/>
                </a:lnTo>
                <a:lnTo>
                  <a:pt x="41748" y="555050"/>
                </a:lnTo>
                <a:lnTo>
                  <a:pt x="13513" y="525160"/>
                </a:lnTo>
                <a:lnTo>
                  <a:pt x="412" y="485167"/>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54" name="object 54"/>
          <p:cNvSpPr txBox="1"/>
          <p:nvPr/>
        </p:nvSpPr>
        <p:spPr>
          <a:xfrm>
            <a:off x="4822316" y="2193988"/>
            <a:ext cx="125095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计数模式</a:t>
            </a:r>
            <a:endParaRPr sz="2400">
              <a:latin typeface="宋体"/>
              <a:cs typeface="宋体"/>
            </a:endParaRPr>
          </a:p>
        </p:txBody>
      </p:sp>
      <p:sp>
        <p:nvSpPr>
          <p:cNvPr id="55" name="object 55"/>
          <p:cNvSpPr/>
          <p:nvPr/>
        </p:nvSpPr>
        <p:spPr>
          <a:xfrm>
            <a:off x="10502645" y="3900678"/>
            <a:ext cx="1600200" cy="779780"/>
          </a:xfrm>
          <a:custGeom>
            <a:avLst/>
            <a:gdLst/>
            <a:ahLst/>
            <a:cxnLst/>
            <a:rect l="l" t="t" r="r" b="b"/>
            <a:pathLst>
              <a:path w="1600200" h="779779">
                <a:moveTo>
                  <a:pt x="1504950" y="0"/>
                </a:moveTo>
                <a:lnTo>
                  <a:pt x="266700" y="0"/>
                </a:lnTo>
                <a:lnTo>
                  <a:pt x="86332" y="412"/>
                </a:lnTo>
                <a:lnTo>
                  <a:pt x="46339" y="13513"/>
                </a:lnTo>
                <a:lnTo>
                  <a:pt x="16449" y="41748"/>
                </a:lnTo>
                <a:lnTo>
                  <a:pt x="1110" y="80670"/>
                </a:lnTo>
                <a:lnTo>
                  <a:pt x="0" y="95250"/>
                </a:lnTo>
                <a:lnTo>
                  <a:pt x="0" y="476250"/>
                </a:lnTo>
                <a:lnTo>
                  <a:pt x="13513" y="525160"/>
                </a:lnTo>
                <a:lnTo>
                  <a:pt x="41748" y="555050"/>
                </a:lnTo>
                <a:lnTo>
                  <a:pt x="80670" y="570389"/>
                </a:lnTo>
                <a:lnTo>
                  <a:pt x="95250" y="571500"/>
                </a:lnTo>
                <a:lnTo>
                  <a:pt x="266700" y="571500"/>
                </a:lnTo>
                <a:lnTo>
                  <a:pt x="107696" y="779399"/>
                </a:lnTo>
                <a:lnTo>
                  <a:pt x="666750" y="571500"/>
                </a:lnTo>
                <a:lnTo>
                  <a:pt x="1513867" y="571087"/>
                </a:lnTo>
                <a:lnTo>
                  <a:pt x="1528046" y="568676"/>
                </a:lnTo>
                <a:lnTo>
                  <a:pt x="1565166" y="550036"/>
                </a:lnTo>
                <a:lnTo>
                  <a:pt x="1590700" y="517745"/>
                </a:lnTo>
                <a:lnTo>
                  <a:pt x="1600200" y="476250"/>
                </a:lnTo>
                <a:lnTo>
                  <a:pt x="1600200" y="333375"/>
                </a:lnTo>
                <a:lnTo>
                  <a:pt x="1599787" y="86332"/>
                </a:lnTo>
                <a:lnTo>
                  <a:pt x="1586686" y="46339"/>
                </a:lnTo>
                <a:lnTo>
                  <a:pt x="1558451" y="16449"/>
                </a:lnTo>
                <a:lnTo>
                  <a:pt x="1519529" y="1110"/>
                </a:lnTo>
                <a:lnTo>
                  <a:pt x="1504950" y="0"/>
                </a:lnTo>
                <a:close/>
              </a:path>
            </a:pathLst>
          </a:custGeom>
          <a:solidFill>
            <a:srgbClr val="FFFFC7"/>
          </a:solidFill>
        </p:spPr>
        <p:txBody>
          <a:bodyPr wrap="square" lIns="0" tIns="0" rIns="0" bIns="0" rtlCol="0"/>
          <a:lstStyle/>
          <a:p>
            <a:endParaRPr/>
          </a:p>
        </p:txBody>
      </p:sp>
      <p:sp>
        <p:nvSpPr>
          <p:cNvPr id="56" name="object 56"/>
          <p:cNvSpPr/>
          <p:nvPr/>
        </p:nvSpPr>
        <p:spPr>
          <a:xfrm>
            <a:off x="10502645" y="3900678"/>
            <a:ext cx="1600200" cy="779780"/>
          </a:xfrm>
          <a:custGeom>
            <a:avLst/>
            <a:gdLst/>
            <a:ahLst/>
            <a:cxnLst/>
            <a:rect l="l" t="t" r="r" b="b"/>
            <a:pathLst>
              <a:path w="1600200" h="779779">
                <a:moveTo>
                  <a:pt x="0" y="95250"/>
                </a:moveTo>
                <a:lnTo>
                  <a:pt x="9499" y="53754"/>
                </a:lnTo>
                <a:lnTo>
                  <a:pt x="35033" y="21463"/>
                </a:lnTo>
                <a:lnTo>
                  <a:pt x="72153" y="2823"/>
                </a:lnTo>
                <a:lnTo>
                  <a:pt x="266700" y="0"/>
                </a:lnTo>
                <a:lnTo>
                  <a:pt x="666750" y="0"/>
                </a:lnTo>
                <a:lnTo>
                  <a:pt x="1504950" y="0"/>
                </a:lnTo>
                <a:lnTo>
                  <a:pt x="1519529" y="1110"/>
                </a:lnTo>
                <a:lnTo>
                  <a:pt x="1558451" y="16449"/>
                </a:lnTo>
                <a:lnTo>
                  <a:pt x="1586686" y="46339"/>
                </a:lnTo>
                <a:lnTo>
                  <a:pt x="1599787" y="86332"/>
                </a:lnTo>
                <a:lnTo>
                  <a:pt x="1600200" y="333375"/>
                </a:lnTo>
                <a:lnTo>
                  <a:pt x="1600200" y="476250"/>
                </a:lnTo>
                <a:lnTo>
                  <a:pt x="1599089" y="490829"/>
                </a:lnTo>
                <a:lnTo>
                  <a:pt x="1595867" y="504716"/>
                </a:lnTo>
                <a:lnTo>
                  <a:pt x="1575184" y="540570"/>
                </a:lnTo>
                <a:lnTo>
                  <a:pt x="1541432" y="564254"/>
                </a:lnTo>
                <a:lnTo>
                  <a:pt x="666750" y="571500"/>
                </a:lnTo>
                <a:lnTo>
                  <a:pt x="107696" y="779399"/>
                </a:lnTo>
                <a:lnTo>
                  <a:pt x="266700" y="571500"/>
                </a:lnTo>
                <a:lnTo>
                  <a:pt x="95250" y="571500"/>
                </a:lnTo>
                <a:lnTo>
                  <a:pt x="80670" y="570389"/>
                </a:lnTo>
                <a:lnTo>
                  <a:pt x="41748" y="555050"/>
                </a:lnTo>
                <a:lnTo>
                  <a:pt x="13513" y="525160"/>
                </a:lnTo>
                <a:lnTo>
                  <a:pt x="412" y="485167"/>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57" name="object 57"/>
          <p:cNvSpPr txBox="1"/>
          <p:nvPr/>
        </p:nvSpPr>
        <p:spPr>
          <a:xfrm>
            <a:off x="10677270" y="4021772"/>
            <a:ext cx="125095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计数模式</a:t>
            </a:r>
            <a:endParaRPr sz="2400">
              <a:latin typeface="宋体"/>
              <a:cs typeface="宋体"/>
            </a:endParaRPr>
          </a:p>
        </p:txBody>
      </p:sp>
      <p:sp>
        <p:nvSpPr>
          <p:cNvPr id="58" name="object 58"/>
          <p:cNvSpPr/>
          <p:nvPr/>
        </p:nvSpPr>
        <p:spPr>
          <a:xfrm>
            <a:off x="4330446" y="5916726"/>
            <a:ext cx="1635125" cy="829310"/>
          </a:xfrm>
          <a:custGeom>
            <a:avLst/>
            <a:gdLst/>
            <a:ahLst/>
            <a:cxnLst/>
            <a:rect l="l" t="t" r="r" b="b"/>
            <a:pathLst>
              <a:path w="1635125" h="829309">
                <a:moveTo>
                  <a:pt x="1634870" y="0"/>
                </a:moveTo>
                <a:lnTo>
                  <a:pt x="933450" y="256235"/>
                </a:lnTo>
                <a:lnTo>
                  <a:pt x="86177" y="256685"/>
                </a:lnTo>
                <a:lnTo>
                  <a:pt x="72019" y="259147"/>
                </a:lnTo>
                <a:lnTo>
                  <a:pt x="34961" y="277887"/>
                </a:lnTo>
                <a:lnTo>
                  <a:pt x="9478" y="310223"/>
                </a:lnTo>
                <a:lnTo>
                  <a:pt x="0" y="351739"/>
                </a:lnTo>
                <a:lnTo>
                  <a:pt x="0" y="494995"/>
                </a:lnTo>
                <a:lnTo>
                  <a:pt x="450" y="743086"/>
                </a:lnTo>
                <a:lnTo>
                  <a:pt x="13685" y="783028"/>
                </a:lnTo>
                <a:lnTo>
                  <a:pt x="41987" y="812854"/>
                </a:lnTo>
                <a:lnTo>
                  <a:pt x="80926" y="828150"/>
                </a:lnTo>
                <a:lnTo>
                  <a:pt x="95503" y="829257"/>
                </a:lnTo>
                <a:lnTo>
                  <a:pt x="1333500" y="829257"/>
                </a:lnTo>
                <a:lnTo>
                  <a:pt x="1514021" y="828807"/>
                </a:lnTo>
                <a:lnTo>
                  <a:pt x="1553952" y="815581"/>
                </a:lnTo>
                <a:lnTo>
                  <a:pt x="1583786" y="787287"/>
                </a:lnTo>
                <a:lnTo>
                  <a:pt x="1599092" y="748341"/>
                </a:lnTo>
                <a:lnTo>
                  <a:pt x="1600200" y="733755"/>
                </a:lnTo>
                <a:lnTo>
                  <a:pt x="1600200" y="351739"/>
                </a:lnTo>
                <a:lnTo>
                  <a:pt x="1586514" y="302465"/>
                </a:lnTo>
                <a:lnTo>
                  <a:pt x="1558212" y="272638"/>
                </a:lnTo>
                <a:lnTo>
                  <a:pt x="1519273" y="257342"/>
                </a:lnTo>
                <a:lnTo>
                  <a:pt x="1504695" y="256235"/>
                </a:lnTo>
                <a:lnTo>
                  <a:pt x="1333500" y="256235"/>
                </a:lnTo>
                <a:lnTo>
                  <a:pt x="1634870" y="0"/>
                </a:lnTo>
                <a:close/>
              </a:path>
            </a:pathLst>
          </a:custGeom>
          <a:solidFill>
            <a:srgbClr val="FFFFC7"/>
          </a:solidFill>
        </p:spPr>
        <p:txBody>
          <a:bodyPr wrap="square" lIns="0" tIns="0" rIns="0" bIns="0" rtlCol="0"/>
          <a:lstStyle/>
          <a:p>
            <a:endParaRPr/>
          </a:p>
        </p:txBody>
      </p:sp>
      <p:sp>
        <p:nvSpPr>
          <p:cNvPr id="59" name="object 59"/>
          <p:cNvSpPr/>
          <p:nvPr/>
        </p:nvSpPr>
        <p:spPr>
          <a:xfrm>
            <a:off x="4330446" y="5916726"/>
            <a:ext cx="1635125" cy="829310"/>
          </a:xfrm>
          <a:custGeom>
            <a:avLst/>
            <a:gdLst/>
            <a:ahLst/>
            <a:cxnLst/>
            <a:rect l="l" t="t" r="r" b="b"/>
            <a:pathLst>
              <a:path w="1635125" h="829309">
                <a:moveTo>
                  <a:pt x="0" y="351739"/>
                </a:moveTo>
                <a:lnTo>
                  <a:pt x="9478" y="310223"/>
                </a:lnTo>
                <a:lnTo>
                  <a:pt x="34961" y="277887"/>
                </a:lnTo>
                <a:lnTo>
                  <a:pt x="72019" y="259147"/>
                </a:lnTo>
                <a:lnTo>
                  <a:pt x="933450" y="256235"/>
                </a:lnTo>
                <a:lnTo>
                  <a:pt x="1634870" y="0"/>
                </a:lnTo>
                <a:lnTo>
                  <a:pt x="1333500" y="256235"/>
                </a:lnTo>
                <a:lnTo>
                  <a:pt x="1504695" y="256235"/>
                </a:lnTo>
                <a:lnTo>
                  <a:pt x="1519273" y="257342"/>
                </a:lnTo>
                <a:lnTo>
                  <a:pt x="1558212" y="272638"/>
                </a:lnTo>
                <a:lnTo>
                  <a:pt x="1586514" y="302465"/>
                </a:lnTo>
                <a:lnTo>
                  <a:pt x="1599749" y="342406"/>
                </a:lnTo>
                <a:lnTo>
                  <a:pt x="1600200" y="351739"/>
                </a:lnTo>
                <a:lnTo>
                  <a:pt x="1600200" y="494995"/>
                </a:lnTo>
                <a:lnTo>
                  <a:pt x="1600200" y="733755"/>
                </a:lnTo>
                <a:lnTo>
                  <a:pt x="1599092" y="748341"/>
                </a:lnTo>
                <a:lnTo>
                  <a:pt x="1583786" y="787287"/>
                </a:lnTo>
                <a:lnTo>
                  <a:pt x="1553952" y="815581"/>
                </a:lnTo>
                <a:lnTo>
                  <a:pt x="1514021" y="828807"/>
                </a:lnTo>
                <a:lnTo>
                  <a:pt x="1333500" y="829257"/>
                </a:lnTo>
                <a:lnTo>
                  <a:pt x="933450" y="829257"/>
                </a:lnTo>
                <a:lnTo>
                  <a:pt x="95503" y="829257"/>
                </a:lnTo>
                <a:lnTo>
                  <a:pt x="80926" y="828150"/>
                </a:lnTo>
                <a:lnTo>
                  <a:pt x="41987" y="812854"/>
                </a:lnTo>
                <a:lnTo>
                  <a:pt x="13685" y="783028"/>
                </a:lnTo>
                <a:lnTo>
                  <a:pt x="450" y="743086"/>
                </a:lnTo>
                <a:lnTo>
                  <a:pt x="0" y="494995"/>
                </a:lnTo>
                <a:lnTo>
                  <a:pt x="0" y="351739"/>
                </a:lnTo>
                <a:close/>
              </a:path>
            </a:pathLst>
          </a:custGeom>
          <a:ln w="28956">
            <a:solidFill>
              <a:srgbClr val="000000"/>
            </a:solidFill>
          </a:ln>
        </p:spPr>
        <p:txBody>
          <a:bodyPr wrap="square" lIns="0" tIns="0" rIns="0" bIns="0" rtlCol="0"/>
          <a:lstStyle/>
          <a:p>
            <a:endParaRPr/>
          </a:p>
        </p:txBody>
      </p:sp>
      <p:sp>
        <p:nvSpPr>
          <p:cNvPr id="60" name="object 60"/>
          <p:cNvSpPr txBox="1"/>
          <p:nvPr/>
        </p:nvSpPr>
        <p:spPr>
          <a:xfrm>
            <a:off x="4658359" y="6295631"/>
            <a:ext cx="94488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从模式</a:t>
            </a:r>
            <a:endParaRPr sz="2400">
              <a:latin typeface="宋体"/>
              <a:cs typeface="宋体"/>
            </a:endParaRPr>
          </a:p>
        </p:txBody>
      </p:sp>
    </p:spTree>
    <p:extLst>
      <p:ext uri="{BB962C8B-B14F-4D97-AF65-F5344CB8AC3E}">
        <p14:creationId xmlns:p14="http://schemas.microsoft.com/office/powerpoint/2010/main" val="3833169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p:nvPr/>
        </p:nvSpPr>
        <p:spPr>
          <a:xfrm>
            <a:off x="337515" y="1162674"/>
            <a:ext cx="124587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时基单元</a:t>
            </a:r>
            <a:endParaRPr sz="2400">
              <a:latin typeface="微软雅黑"/>
              <a:cs typeface="微软雅黑"/>
            </a:endParaRPr>
          </a:p>
        </p:txBody>
      </p:sp>
      <p:sp>
        <p:nvSpPr>
          <p:cNvPr id="10" name="object 10"/>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1" name="object 11"/>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12" name="object 12"/>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13" name="object 13"/>
          <p:cNvSpPr/>
          <p:nvPr/>
        </p:nvSpPr>
        <p:spPr>
          <a:xfrm>
            <a:off x="3614928" y="3694176"/>
            <a:ext cx="2286762" cy="602742"/>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3603497" y="3682746"/>
            <a:ext cx="2260092" cy="576071"/>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3603497" y="3682746"/>
            <a:ext cx="2260600" cy="576580"/>
          </a:xfrm>
          <a:custGeom>
            <a:avLst/>
            <a:gdLst/>
            <a:ahLst/>
            <a:cxnLst/>
            <a:rect l="l" t="t" r="r" b="b"/>
            <a:pathLst>
              <a:path w="2260600" h="576579">
                <a:moveTo>
                  <a:pt x="0" y="576071"/>
                </a:moveTo>
                <a:lnTo>
                  <a:pt x="2260092" y="576071"/>
                </a:lnTo>
                <a:lnTo>
                  <a:pt x="2260092" y="0"/>
                </a:lnTo>
                <a:lnTo>
                  <a:pt x="0" y="0"/>
                </a:lnTo>
                <a:lnTo>
                  <a:pt x="0" y="576071"/>
                </a:lnTo>
                <a:close/>
              </a:path>
            </a:pathLst>
          </a:custGeom>
          <a:ln w="25907">
            <a:solidFill>
              <a:srgbClr val="FFFFFF"/>
            </a:solidFill>
          </a:ln>
        </p:spPr>
        <p:txBody>
          <a:bodyPr wrap="square" lIns="0" tIns="0" rIns="0" bIns="0" rtlCol="0"/>
          <a:lstStyle/>
          <a:p>
            <a:endParaRPr/>
          </a:p>
        </p:txBody>
      </p:sp>
      <p:sp>
        <p:nvSpPr>
          <p:cNvPr id="16" name="object 16"/>
          <p:cNvSpPr txBox="1"/>
          <p:nvPr/>
        </p:nvSpPr>
        <p:spPr>
          <a:xfrm>
            <a:off x="3760470" y="3817228"/>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预分频计数器</a:t>
            </a:r>
            <a:endParaRPr sz="2400">
              <a:latin typeface="微软雅黑"/>
              <a:cs typeface="微软雅黑"/>
            </a:endParaRPr>
          </a:p>
        </p:txBody>
      </p:sp>
      <p:sp>
        <p:nvSpPr>
          <p:cNvPr id="17" name="object 17"/>
          <p:cNvSpPr/>
          <p:nvPr/>
        </p:nvSpPr>
        <p:spPr>
          <a:xfrm>
            <a:off x="3614928" y="4610100"/>
            <a:ext cx="2254757" cy="601218"/>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3812794" y="4766564"/>
            <a:ext cx="1817242" cy="296799"/>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3603497" y="4598670"/>
            <a:ext cx="2228088" cy="574548"/>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3603497" y="4598670"/>
            <a:ext cx="2228215" cy="574675"/>
          </a:xfrm>
          <a:custGeom>
            <a:avLst/>
            <a:gdLst/>
            <a:ahLst/>
            <a:cxnLst/>
            <a:rect l="l" t="t" r="r" b="b"/>
            <a:pathLst>
              <a:path w="2228215" h="574675">
                <a:moveTo>
                  <a:pt x="0" y="574547"/>
                </a:moveTo>
                <a:lnTo>
                  <a:pt x="2228088" y="574547"/>
                </a:lnTo>
                <a:lnTo>
                  <a:pt x="2228088" y="0"/>
                </a:lnTo>
                <a:lnTo>
                  <a:pt x="0" y="0"/>
                </a:lnTo>
                <a:lnTo>
                  <a:pt x="0" y="574547"/>
                </a:lnTo>
                <a:close/>
              </a:path>
            </a:pathLst>
          </a:custGeom>
          <a:ln w="25908">
            <a:solidFill>
              <a:srgbClr val="FFFFFF"/>
            </a:solidFill>
          </a:ln>
        </p:spPr>
        <p:txBody>
          <a:bodyPr wrap="square" lIns="0" tIns="0" rIns="0" bIns="0" rtlCol="0"/>
          <a:lstStyle/>
          <a:p>
            <a:endParaRPr/>
          </a:p>
        </p:txBody>
      </p:sp>
      <p:sp>
        <p:nvSpPr>
          <p:cNvPr id="21" name="object 21"/>
          <p:cNvSpPr txBox="1"/>
          <p:nvPr/>
        </p:nvSpPr>
        <p:spPr>
          <a:xfrm>
            <a:off x="3771646" y="4738867"/>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预分频寄存器</a:t>
            </a:r>
            <a:endParaRPr sz="2400">
              <a:latin typeface="微软雅黑"/>
              <a:cs typeface="微软雅黑"/>
            </a:endParaRPr>
          </a:p>
        </p:txBody>
      </p:sp>
      <p:sp>
        <p:nvSpPr>
          <p:cNvPr id="22" name="object 22"/>
          <p:cNvSpPr/>
          <p:nvPr/>
        </p:nvSpPr>
        <p:spPr>
          <a:xfrm>
            <a:off x="4611623" y="4245864"/>
            <a:ext cx="173990" cy="340995"/>
          </a:xfrm>
          <a:custGeom>
            <a:avLst/>
            <a:gdLst/>
            <a:ahLst/>
            <a:cxnLst/>
            <a:rect l="l" t="t" r="r" b="b"/>
            <a:pathLst>
              <a:path w="173989" h="340995">
                <a:moveTo>
                  <a:pt x="115807" y="172590"/>
                </a:moveTo>
                <a:lnTo>
                  <a:pt x="57895" y="174624"/>
                </a:lnTo>
                <a:lnTo>
                  <a:pt x="63626" y="340741"/>
                </a:lnTo>
                <a:lnTo>
                  <a:pt x="121538" y="338709"/>
                </a:lnTo>
                <a:lnTo>
                  <a:pt x="115807" y="172590"/>
                </a:lnTo>
                <a:close/>
              </a:path>
              <a:path w="173989" h="340995">
                <a:moveTo>
                  <a:pt x="80772" y="0"/>
                </a:moveTo>
                <a:lnTo>
                  <a:pt x="0" y="176656"/>
                </a:lnTo>
                <a:lnTo>
                  <a:pt x="57895" y="174624"/>
                </a:lnTo>
                <a:lnTo>
                  <a:pt x="56896" y="145669"/>
                </a:lnTo>
                <a:lnTo>
                  <a:pt x="114808" y="143637"/>
                </a:lnTo>
                <a:lnTo>
                  <a:pt x="158954" y="143637"/>
                </a:lnTo>
                <a:lnTo>
                  <a:pt x="80772" y="0"/>
                </a:lnTo>
                <a:close/>
              </a:path>
              <a:path w="173989" h="340995">
                <a:moveTo>
                  <a:pt x="114808" y="143637"/>
                </a:moveTo>
                <a:lnTo>
                  <a:pt x="56896" y="145669"/>
                </a:lnTo>
                <a:lnTo>
                  <a:pt x="57895" y="174624"/>
                </a:lnTo>
                <a:lnTo>
                  <a:pt x="115807" y="172590"/>
                </a:lnTo>
                <a:lnTo>
                  <a:pt x="114808" y="143637"/>
                </a:lnTo>
                <a:close/>
              </a:path>
              <a:path w="173989" h="340995">
                <a:moveTo>
                  <a:pt x="158954" y="143637"/>
                </a:moveTo>
                <a:lnTo>
                  <a:pt x="114808" y="143637"/>
                </a:lnTo>
                <a:lnTo>
                  <a:pt x="115807" y="172590"/>
                </a:lnTo>
                <a:lnTo>
                  <a:pt x="173609" y="170561"/>
                </a:lnTo>
                <a:lnTo>
                  <a:pt x="158954" y="143637"/>
                </a:lnTo>
                <a:close/>
              </a:path>
            </a:pathLst>
          </a:custGeom>
          <a:solidFill>
            <a:srgbClr val="FF212A"/>
          </a:solidFill>
        </p:spPr>
        <p:txBody>
          <a:bodyPr wrap="square" lIns="0" tIns="0" rIns="0" bIns="0" rtlCol="0"/>
          <a:lstStyle/>
          <a:p>
            <a:endParaRPr/>
          </a:p>
        </p:txBody>
      </p:sp>
      <p:sp>
        <p:nvSpPr>
          <p:cNvPr id="23" name="object 23"/>
          <p:cNvSpPr/>
          <p:nvPr/>
        </p:nvSpPr>
        <p:spPr>
          <a:xfrm>
            <a:off x="8386571" y="3681984"/>
            <a:ext cx="2216657" cy="602742"/>
          </a:xfrm>
          <a:prstGeom prst="rect">
            <a:avLst/>
          </a:prstGeom>
          <a:blipFill>
            <a:blip r:embed="rId9" cstate="print"/>
            <a:stretch>
              <a:fillRect/>
            </a:stretch>
          </a:blipFill>
        </p:spPr>
        <p:txBody>
          <a:bodyPr wrap="square" lIns="0" tIns="0" rIns="0" bIns="0" rtlCol="0"/>
          <a:lstStyle/>
          <a:p>
            <a:endParaRPr/>
          </a:p>
        </p:txBody>
      </p:sp>
      <p:sp>
        <p:nvSpPr>
          <p:cNvPr id="24" name="object 24"/>
          <p:cNvSpPr/>
          <p:nvPr/>
        </p:nvSpPr>
        <p:spPr>
          <a:xfrm>
            <a:off x="8375142" y="3670553"/>
            <a:ext cx="2189988" cy="576072"/>
          </a:xfrm>
          <a:prstGeom prst="rect">
            <a:avLst/>
          </a:prstGeom>
          <a:blipFill>
            <a:blip r:embed="rId10" cstate="print"/>
            <a:stretch>
              <a:fillRect/>
            </a:stretch>
          </a:blipFill>
        </p:spPr>
        <p:txBody>
          <a:bodyPr wrap="square" lIns="0" tIns="0" rIns="0" bIns="0" rtlCol="0"/>
          <a:lstStyle/>
          <a:p>
            <a:endParaRPr/>
          </a:p>
        </p:txBody>
      </p:sp>
      <p:sp>
        <p:nvSpPr>
          <p:cNvPr id="25" name="object 25"/>
          <p:cNvSpPr/>
          <p:nvPr/>
        </p:nvSpPr>
        <p:spPr>
          <a:xfrm>
            <a:off x="8375142" y="3670553"/>
            <a:ext cx="2190115" cy="576580"/>
          </a:xfrm>
          <a:custGeom>
            <a:avLst/>
            <a:gdLst/>
            <a:ahLst/>
            <a:cxnLst/>
            <a:rect l="l" t="t" r="r" b="b"/>
            <a:pathLst>
              <a:path w="2190115" h="576579">
                <a:moveTo>
                  <a:pt x="0" y="576072"/>
                </a:moveTo>
                <a:lnTo>
                  <a:pt x="2189988" y="576072"/>
                </a:lnTo>
                <a:lnTo>
                  <a:pt x="2189988" y="0"/>
                </a:lnTo>
                <a:lnTo>
                  <a:pt x="0" y="0"/>
                </a:lnTo>
                <a:lnTo>
                  <a:pt x="0" y="576072"/>
                </a:lnTo>
                <a:close/>
              </a:path>
            </a:pathLst>
          </a:custGeom>
          <a:ln w="25908">
            <a:solidFill>
              <a:srgbClr val="FFFFFF"/>
            </a:solidFill>
          </a:ln>
        </p:spPr>
        <p:txBody>
          <a:bodyPr wrap="square" lIns="0" tIns="0" rIns="0" bIns="0" rtlCol="0"/>
          <a:lstStyle/>
          <a:p>
            <a:endParaRPr/>
          </a:p>
        </p:txBody>
      </p:sp>
      <p:sp>
        <p:nvSpPr>
          <p:cNvPr id="26" name="object 26"/>
          <p:cNvSpPr txBox="1"/>
          <p:nvPr/>
        </p:nvSpPr>
        <p:spPr>
          <a:xfrm>
            <a:off x="8702420" y="3792844"/>
            <a:ext cx="15494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核心计数器</a:t>
            </a:r>
            <a:endParaRPr sz="2400">
              <a:latin typeface="微软雅黑"/>
              <a:cs typeface="微软雅黑"/>
            </a:endParaRPr>
          </a:p>
        </p:txBody>
      </p:sp>
      <p:sp>
        <p:nvSpPr>
          <p:cNvPr id="27" name="object 27"/>
          <p:cNvSpPr/>
          <p:nvPr/>
        </p:nvSpPr>
        <p:spPr>
          <a:xfrm>
            <a:off x="6505956" y="3316223"/>
            <a:ext cx="1371600" cy="679703"/>
          </a:xfrm>
          <a:prstGeom prst="rect">
            <a:avLst/>
          </a:prstGeom>
          <a:blipFill>
            <a:blip r:embed="rId11" cstate="print"/>
            <a:stretch>
              <a:fillRect/>
            </a:stretch>
          </a:blipFill>
        </p:spPr>
        <p:txBody>
          <a:bodyPr wrap="square" lIns="0" tIns="0" rIns="0" bIns="0" rtlCol="0"/>
          <a:lstStyle/>
          <a:p>
            <a:endParaRPr/>
          </a:p>
        </p:txBody>
      </p:sp>
      <p:sp>
        <p:nvSpPr>
          <p:cNvPr id="28" name="object 28"/>
          <p:cNvSpPr/>
          <p:nvPr/>
        </p:nvSpPr>
        <p:spPr>
          <a:xfrm>
            <a:off x="8412480" y="4597908"/>
            <a:ext cx="2190750" cy="602742"/>
          </a:xfrm>
          <a:prstGeom prst="rect">
            <a:avLst/>
          </a:prstGeom>
          <a:blipFill>
            <a:blip r:embed="rId12" cstate="print"/>
            <a:stretch>
              <a:fillRect/>
            </a:stretch>
          </a:blipFill>
        </p:spPr>
        <p:txBody>
          <a:bodyPr wrap="square" lIns="0" tIns="0" rIns="0" bIns="0" rtlCol="0"/>
          <a:lstStyle/>
          <a:p>
            <a:endParaRPr/>
          </a:p>
        </p:txBody>
      </p:sp>
      <p:sp>
        <p:nvSpPr>
          <p:cNvPr id="29" name="object 29"/>
          <p:cNvSpPr/>
          <p:nvPr/>
        </p:nvSpPr>
        <p:spPr>
          <a:xfrm>
            <a:off x="8613393" y="4754498"/>
            <a:ext cx="1815210" cy="294653"/>
          </a:xfrm>
          <a:prstGeom prst="rect">
            <a:avLst/>
          </a:prstGeom>
          <a:blipFill>
            <a:blip r:embed="rId13" cstate="print"/>
            <a:stretch>
              <a:fillRect/>
            </a:stretch>
          </a:blipFill>
        </p:spPr>
        <p:txBody>
          <a:bodyPr wrap="square" lIns="0" tIns="0" rIns="0" bIns="0" rtlCol="0"/>
          <a:lstStyle/>
          <a:p>
            <a:endParaRPr/>
          </a:p>
        </p:txBody>
      </p:sp>
      <p:sp>
        <p:nvSpPr>
          <p:cNvPr id="30" name="object 30"/>
          <p:cNvSpPr/>
          <p:nvPr/>
        </p:nvSpPr>
        <p:spPr>
          <a:xfrm>
            <a:off x="8401050" y="4586478"/>
            <a:ext cx="2164079" cy="576072"/>
          </a:xfrm>
          <a:prstGeom prst="rect">
            <a:avLst/>
          </a:prstGeom>
          <a:blipFill>
            <a:blip r:embed="rId14" cstate="print"/>
            <a:stretch>
              <a:fillRect/>
            </a:stretch>
          </a:blipFill>
        </p:spPr>
        <p:txBody>
          <a:bodyPr wrap="square" lIns="0" tIns="0" rIns="0" bIns="0" rtlCol="0"/>
          <a:lstStyle/>
          <a:p>
            <a:endParaRPr/>
          </a:p>
        </p:txBody>
      </p:sp>
      <p:sp>
        <p:nvSpPr>
          <p:cNvPr id="31" name="object 31"/>
          <p:cNvSpPr/>
          <p:nvPr/>
        </p:nvSpPr>
        <p:spPr>
          <a:xfrm>
            <a:off x="8401050" y="4586478"/>
            <a:ext cx="2164080" cy="576580"/>
          </a:xfrm>
          <a:custGeom>
            <a:avLst/>
            <a:gdLst/>
            <a:ahLst/>
            <a:cxnLst/>
            <a:rect l="l" t="t" r="r" b="b"/>
            <a:pathLst>
              <a:path w="2164079" h="576579">
                <a:moveTo>
                  <a:pt x="0" y="576072"/>
                </a:moveTo>
                <a:lnTo>
                  <a:pt x="2164079" y="576072"/>
                </a:lnTo>
                <a:lnTo>
                  <a:pt x="2164079" y="0"/>
                </a:lnTo>
                <a:lnTo>
                  <a:pt x="0" y="0"/>
                </a:lnTo>
                <a:lnTo>
                  <a:pt x="0" y="576072"/>
                </a:lnTo>
                <a:close/>
              </a:path>
            </a:pathLst>
          </a:custGeom>
          <a:ln w="25907">
            <a:solidFill>
              <a:srgbClr val="FFFFFF"/>
            </a:solidFill>
          </a:ln>
        </p:spPr>
        <p:txBody>
          <a:bodyPr wrap="square" lIns="0" tIns="0" rIns="0" bIns="0" rtlCol="0"/>
          <a:lstStyle/>
          <a:p>
            <a:endParaRPr/>
          </a:p>
        </p:txBody>
      </p:sp>
      <p:sp>
        <p:nvSpPr>
          <p:cNvPr id="32" name="object 32"/>
          <p:cNvSpPr txBox="1"/>
          <p:nvPr/>
        </p:nvSpPr>
        <p:spPr>
          <a:xfrm>
            <a:off x="8570721" y="4727310"/>
            <a:ext cx="1856105"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计数器寄存器</a:t>
            </a:r>
            <a:endParaRPr sz="2400">
              <a:latin typeface="微软雅黑"/>
              <a:cs typeface="微软雅黑"/>
            </a:endParaRPr>
          </a:p>
        </p:txBody>
      </p:sp>
      <p:sp>
        <p:nvSpPr>
          <p:cNvPr id="33" name="object 33"/>
          <p:cNvSpPr/>
          <p:nvPr/>
        </p:nvSpPr>
        <p:spPr>
          <a:xfrm>
            <a:off x="9387840" y="4212335"/>
            <a:ext cx="173990" cy="373380"/>
          </a:xfrm>
          <a:custGeom>
            <a:avLst/>
            <a:gdLst/>
            <a:ahLst/>
            <a:cxnLst/>
            <a:rect l="l" t="t" r="r" b="b"/>
            <a:pathLst>
              <a:path w="173990" h="373379">
                <a:moveTo>
                  <a:pt x="57911" y="199262"/>
                </a:moveTo>
                <a:lnTo>
                  <a:pt x="0" y="199262"/>
                </a:lnTo>
                <a:lnTo>
                  <a:pt x="86867" y="372999"/>
                </a:lnTo>
                <a:lnTo>
                  <a:pt x="159257" y="228219"/>
                </a:lnTo>
                <a:lnTo>
                  <a:pt x="57911" y="228219"/>
                </a:lnTo>
                <a:lnTo>
                  <a:pt x="57911" y="199262"/>
                </a:lnTo>
                <a:close/>
              </a:path>
              <a:path w="173990" h="373379">
                <a:moveTo>
                  <a:pt x="115824" y="0"/>
                </a:moveTo>
                <a:lnTo>
                  <a:pt x="57911" y="0"/>
                </a:lnTo>
                <a:lnTo>
                  <a:pt x="57911" y="228219"/>
                </a:lnTo>
                <a:lnTo>
                  <a:pt x="115824" y="228219"/>
                </a:lnTo>
                <a:lnTo>
                  <a:pt x="115824" y="0"/>
                </a:lnTo>
                <a:close/>
              </a:path>
              <a:path w="173990" h="373379">
                <a:moveTo>
                  <a:pt x="173735" y="199262"/>
                </a:moveTo>
                <a:lnTo>
                  <a:pt x="115824" y="199262"/>
                </a:lnTo>
                <a:lnTo>
                  <a:pt x="115824" y="228219"/>
                </a:lnTo>
                <a:lnTo>
                  <a:pt x="159257" y="228219"/>
                </a:lnTo>
                <a:lnTo>
                  <a:pt x="173735" y="199262"/>
                </a:lnTo>
                <a:close/>
              </a:path>
            </a:pathLst>
          </a:custGeom>
          <a:solidFill>
            <a:srgbClr val="FF212A"/>
          </a:solidFill>
        </p:spPr>
        <p:txBody>
          <a:bodyPr wrap="square" lIns="0" tIns="0" rIns="0" bIns="0" rtlCol="0"/>
          <a:lstStyle/>
          <a:p>
            <a:endParaRPr/>
          </a:p>
        </p:txBody>
      </p:sp>
      <p:sp>
        <p:nvSpPr>
          <p:cNvPr id="34" name="object 34"/>
          <p:cNvSpPr/>
          <p:nvPr/>
        </p:nvSpPr>
        <p:spPr>
          <a:xfrm>
            <a:off x="1513332" y="3834384"/>
            <a:ext cx="1746250" cy="173990"/>
          </a:xfrm>
          <a:custGeom>
            <a:avLst/>
            <a:gdLst/>
            <a:ahLst/>
            <a:cxnLst/>
            <a:rect l="l" t="t" r="r" b="b"/>
            <a:pathLst>
              <a:path w="1746250" h="173989">
                <a:moveTo>
                  <a:pt x="1572133" y="0"/>
                </a:moveTo>
                <a:lnTo>
                  <a:pt x="1572133" y="173736"/>
                </a:lnTo>
                <a:lnTo>
                  <a:pt x="1687957" y="115824"/>
                </a:lnTo>
                <a:lnTo>
                  <a:pt x="1601089" y="115824"/>
                </a:lnTo>
                <a:lnTo>
                  <a:pt x="1601089" y="57912"/>
                </a:lnTo>
                <a:lnTo>
                  <a:pt x="1687957" y="57912"/>
                </a:lnTo>
                <a:lnTo>
                  <a:pt x="1572133" y="0"/>
                </a:lnTo>
                <a:close/>
              </a:path>
              <a:path w="1746250" h="173989">
                <a:moveTo>
                  <a:pt x="1572133" y="57912"/>
                </a:moveTo>
                <a:lnTo>
                  <a:pt x="0" y="57912"/>
                </a:lnTo>
                <a:lnTo>
                  <a:pt x="0" y="115824"/>
                </a:lnTo>
                <a:lnTo>
                  <a:pt x="1572133" y="115824"/>
                </a:lnTo>
                <a:lnTo>
                  <a:pt x="1572133" y="57912"/>
                </a:lnTo>
                <a:close/>
              </a:path>
              <a:path w="1746250" h="173989">
                <a:moveTo>
                  <a:pt x="1687957" y="57912"/>
                </a:moveTo>
                <a:lnTo>
                  <a:pt x="1601089" y="57912"/>
                </a:lnTo>
                <a:lnTo>
                  <a:pt x="1601089" y="115824"/>
                </a:lnTo>
                <a:lnTo>
                  <a:pt x="1687957" y="115824"/>
                </a:lnTo>
                <a:lnTo>
                  <a:pt x="1745869" y="86868"/>
                </a:lnTo>
                <a:lnTo>
                  <a:pt x="1687957" y="57912"/>
                </a:lnTo>
                <a:close/>
              </a:path>
            </a:pathLst>
          </a:custGeom>
          <a:solidFill>
            <a:srgbClr val="EC7C30"/>
          </a:solidFill>
        </p:spPr>
        <p:txBody>
          <a:bodyPr wrap="square" lIns="0" tIns="0" rIns="0" bIns="0" rtlCol="0"/>
          <a:lstStyle/>
          <a:p>
            <a:endParaRPr/>
          </a:p>
        </p:txBody>
      </p:sp>
      <p:sp>
        <p:nvSpPr>
          <p:cNvPr id="35" name="object 35"/>
          <p:cNvSpPr/>
          <p:nvPr/>
        </p:nvSpPr>
        <p:spPr>
          <a:xfrm>
            <a:off x="6379464" y="3834384"/>
            <a:ext cx="1746250" cy="173990"/>
          </a:xfrm>
          <a:custGeom>
            <a:avLst/>
            <a:gdLst/>
            <a:ahLst/>
            <a:cxnLst/>
            <a:rect l="l" t="t" r="r" b="b"/>
            <a:pathLst>
              <a:path w="1746250" h="173989">
                <a:moveTo>
                  <a:pt x="1572133" y="0"/>
                </a:moveTo>
                <a:lnTo>
                  <a:pt x="1572133" y="173736"/>
                </a:lnTo>
                <a:lnTo>
                  <a:pt x="1687957" y="115824"/>
                </a:lnTo>
                <a:lnTo>
                  <a:pt x="1601089" y="115824"/>
                </a:lnTo>
                <a:lnTo>
                  <a:pt x="1601089" y="57912"/>
                </a:lnTo>
                <a:lnTo>
                  <a:pt x="1687957" y="57912"/>
                </a:lnTo>
                <a:lnTo>
                  <a:pt x="1572133" y="0"/>
                </a:lnTo>
                <a:close/>
              </a:path>
              <a:path w="1746250" h="173989">
                <a:moveTo>
                  <a:pt x="1572133" y="57912"/>
                </a:moveTo>
                <a:lnTo>
                  <a:pt x="0" y="57912"/>
                </a:lnTo>
                <a:lnTo>
                  <a:pt x="0" y="115824"/>
                </a:lnTo>
                <a:lnTo>
                  <a:pt x="1572133" y="115824"/>
                </a:lnTo>
                <a:lnTo>
                  <a:pt x="1572133" y="57912"/>
                </a:lnTo>
                <a:close/>
              </a:path>
              <a:path w="1746250" h="173989">
                <a:moveTo>
                  <a:pt x="1687957" y="57912"/>
                </a:moveTo>
                <a:lnTo>
                  <a:pt x="1601089" y="57912"/>
                </a:lnTo>
                <a:lnTo>
                  <a:pt x="1601089" y="115824"/>
                </a:lnTo>
                <a:lnTo>
                  <a:pt x="1687957" y="115824"/>
                </a:lnTo>
                <a:lnTo>
                  <a:pt x="1745868" y="86868"/>
                </a:lnTo>
                <a:lnTo>
                  <a:pt x="1687957" y="57912"/>
                </a:lnTo>
                <a:close/>
              </a:path>
            </a:pathLst>
          </a:custGeom>
          <a:solidFill>
            <a:srgbClr val="EC7C30"/>
          </a:solidFill>
        </p:spPr>
        <p:txBody>
          <a:bodyPr wrap="square" lIns="0" tIns="0" rIns="0" bIns="0" rtlCol="0"/>
          <a:lstStyle/>
          <a:p>
            <a:endParaRPr/>
          </a:p>
        </p:txBody>
      </p:sp>
      <p:sp>
        <p:nvSpPr>
          <p:cNvPr id="36" name="object 36"/>
          <p:cNvSpPr txBox="1"/>
          <p:nvPr/>
        </p:nvSpPr>
        <p:spPr>
          <a:xfrm>
            <a:off x="1753361" y="2784651"/>
            <a:ext cx="1297940" cy="584835"/>
          </a:xfrm>
          <a:prstGeom prst="rect">
            <a:avLst/>
          </a:prstGeom>
        </p:spPr>
        <p:txBody>
          <a:bodyPr vert="horz" wrap="square" lIns="0" tIns="0" rIns="0" bIns="0" rtlCol="0">
            <a:spAutoFit/>
          </a:bodyPr>
          <a:lstStyle/>
          <a:p>
            <a:pPr algn="ctr">
              <a:lnSpc>
                <a:spcPct val="100000"/>
              </a:lnSpc>
            </a:pPr>
            <a:r>
              <a:rPr sz="2000" b="1" dirty="0">
                <a:solidFill>
                  <a:srgbClr val="252525"/>
                </a:solidFill>
                <a:latin typeface="微软雅黑"/>
                <a:cs typeface="微软雅黑"/>
              </a:rPr>
              <a:t>预分频时钟</a:t>
            </a:r>
            <a:endParaRPr sz="2000">
              <a:latin typeface="微软雅黑"/>
              <a:cs typeface="微软雅黑"/>
            </a:endParaRPr>
          </a:p>
          <a:p>
            <a:pPr marR="31115" algn="ctr">
              <a:lnSpc>
                <a:spcPct val="100000"/>
              </a:lnSpc>
            </a:pPr>
            <a:r>
              <a:rPr sz="2000" b="1" spc="-5" dirty="0">
                <a:solidFill>
                  <a:srgbClr val="FF0000"/>
                </a:solidFill>
                <a:latin typeface="微软雅黑"/>
                <a:cs typeface="微软雅黑"/>
              </a:rPr>
              <a:t>CK_PSC</a:t>
            </a:r>
            <a:endParaRPr sz="2000">
              <a:latin typeface="微软雅黑"/>
              <a:cs typeface="微软雅黑"/>
            </a:endParaRPr>
          </a:p>
        </p:txBody>
      </p:sp>
      <p:sp>
        <p:nvSpPr>
          <p:cNvPr id="37" name="object 37"/>
          <p:cNvSpPr txBox="1"/>
          <p:nvPr/>
        </p:nvSpPr>
        <p:spPr>
          <a:xfrm>
            <a:off x="6670293" y="2787699"/>
            <a:ext cx="1043940" cy="5848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微软雅黑"/>
                <a:cs typeface="微软雅黑"/>
              </a:rPr>
              <a:t>计数时钟</a:t>
            </a:r>
            <a:endParaRPr sz="2000">
              <a:latin typeface="微软雅黑"/>
              <a:cs typeface="微软雅黑"/>
            </a:endParaRPr>
          </a:p>
          <a:p>
            <a:pPr marL="18415">
              <a:lnSpc>
                <a:spcPct val="100000"/>
              </a:lnSpc>
            </a:pPr>
            <a:r>
              <a:rPr sz="2000" b="1" spc="-5" dirty="0">
                <a:solidFill>
                  <a:srgbClr val="FF0000"/>
                </a:solidFill>
                <a:latin typeface="微软雅黑"/>
                <a:cs typeface="微软雅黑"/>
              </a:rPr>
              <a:t>CK_CNT</a:t>
            </a:r>
            <a:endParaRPr sz="2000">
              <a:latin typeface="微软雅黑"/>
              <a:cs typeface="微软雅黑"/>
            </a:endParaRPr>
          </a:p>
        </p:txBody>
      </p:sp>
      <p:sp>
        <p:nvSpPr>
          <p:cNvPr id="38" name="object 38"/>
          <p:cNvSpPr/>
          <p:nvPr/>
        </p:nvSpPr>
        <p:spPr>
          <a:xfrm>
            <a:off x="8380476" y="2284476"/>
            <a:ext cx="2355342" cy="602741"/>
          </a:xfrm>
          <a:prstGeom prst="rect">
            <a:avLst/>
          </a:prstGeom>
          <a:blipFill>
            <a:blip r:embed="rId15" cstate="print"/>
            <a:stretch>
              <a:fillRect/>
            </a:stretch>
          </a:blipFill>
        </p:spPr>
        <p:txBody>
          <a:bodyPr wrap="square" lIns="0" tIns="0" rIns="0" bIns="0" rtlCol="0"/>
          <a:lstStyle/>
          <a:p>
            <a:endParaRPr/>
          </a:p>
        </p:txBody>
      </p:sp>
      <p:sp>
        <p:nvSpPr>
          <p:cNvPr id="39" name="object 39"/>
          <p:cNvSpPr/>
          <p:nvPr/>
        </p:nvSpPr>
        <p:spPr>
          <a:xfrm>
            <a:off x="8517255" y="2441194"/>
            <a:ext cx="2093722" cy="294907"/>
          </a:xfrm>
          <a:prstGeom prst="rect">
            <a:avLst/>
          </a:prstGeom>
          <a:blipFill>
            <a:blip r:embed="rId16" cstate="print"/>
            <a:stretch>
              <a:fillRect/>
            </a:stretch>
          </a:blipFill>
        </p:spPr>
        <p:txBody>
          <a:bodyPr wrap="square" lIns="0" tIns="0" rIns="0" bIns="0" rtlCol="0"/>
          <a:lstStyle/>
          <a:p>
            <a:endParaRPr/>
          </a:p>
        </p:txBody>
      </p:sp>
      <p:sp>
        <p:nvSpPr>
          <p:cNvPr id="40" name="object 40"/>
          <p:cNvSpPr/>
          <p:nvPr/>
        </p:nvSpPr>
        <p:spPr>
          <a:xfrm>
            <a:off x="8369045" y="2273045"/>
            <a:ext cx="2328672" cy="576072"/>
          </a:xfrm>
          <a:prstGeom prst="rect">
            <a:avLst/>
          </a:prstGeom>
          <a:blipFill>
            <a:blip r:embed="rId17" cstate="print"/>
            <a:stretch>
              <a:fillRect/>
            </a:stretch>
          </a:blipFill>
        </p:spPr>
        <p:txBody>
          <a:bodyPr wrap="square" lIns="0" tIns="0" rIns="0" bIns="0" rtlCol="0"/>
          <a:lstStyle/>
          <a:p>
            <a:endParaRPr/>
          </a:p>
        </p:txBody>
      </p:sp>
      <p:sp>
        <p:nvSpPr>
          <p:cNvPr id="41" name="object 41"/>
          <p:cNvSpPr/>
          <p:nvPr/>
        </p:nvSpPr>
        <p:spPr>
          <a:xfrm>
            <a:off x="8369045" y="2273045"/>
            <a:ext cx="2329180" cy="576580"/>
          </a:xfrm>
          <a:custGeom>
            <a:avLst/>
            <a:gdLst/>
            <a:ahLst/>
            <a:cxnLst/>
            <a:rect l="l" t="t" r="r" b="b"/>
            <a:pathLst>
              <a:path w="2329179" h="576580">
                <a:moveTo>
                  <a:pt x="0" y="576072"/>
                </a:moveTo>
                <a:lnTo>
                  <a:pt x="2328672" y="576072"/>
                </a:lnTo>
                <a:lnTo>
                  <a:pt x="2328672" y="0"/>
                </a:lnTo>
                <a:lnTo>
                  <a:pt x="0" y="0"/>
                </a:lnTo>
                <a:lnTo>
                  <a:pt x="0" y="576072"/>
                </a:lnTo>
                <a:close/>
              </a:path>
            </a:pathLst>
          </a:custGeom>
          <a:ln w="25907">
            <a:solidFill>
              <a:srgbClr val="FFFFFF"/>
            </a:solidFill>
          </a:ln>
        </p:spPr>
        <p:txBody>
          <a:bodyPr wrap="square" lIns="0" tIns="0" rIns="0" bIns="0" rtlCol="0"/>
          <a:lstStyle/>
          <a:p>
            <a:endParaRPr/>
          </a:p>
        </p:txBody>
      </p:sp>
      <p:sp>
        <p:nvSpPr>
          <p:cNvPr id="42" name="object 42"/>
          <p:cNvSpPr txBox="1"/>
          <p:nvPr/>
        </p:nvSpPr>
        <p:spPr>
          <a:xfrm>
            <a:off x="8448547" y="2413380"/>
            <a:ext cx="2160270" cy="330835"/>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自动重载</a:t>
            </a:r>
            <a:r>
              <a:rPr sz="2400" b="1" dirty="0">
                <a:latin typeface="微软雅黑"/>
                <a:cs typeface="微软雅黑"/>
              </a:rPr>
              <a:t>寄存器</a:t>
            </a:r>
            <a:endParaRPr sz="2400">
              <a:latin typeface="微软雅黑"/>
              <a:cs typeface="微软雅黑"/>
            </a:endParaRPr>
          </a:p>
        </p:txBody>
      </p:sp>
      <p:sp>
        <p:nvSpPr>
          <p:cNvPr id="43" name="object 43"/>
          <p:cNvSpPr/>
          <p:nvPr/>
        </p:nvSpPr>
        <p:spPr>
          <a:xfrm>
            <a:off x="9305543" y="2887979"/>
            <a:ext cx="332740" cy="784860"/>
          </a:xfrm>
          <a:custGeom>
            <a:avLst/>
            <a:gdLst/>
            <a:ahLst/>
            <a:cxnLst/>
            <a:rect l="l" t="t" r="r" b="b"/>
            <a:pathLst>
              <a:path w="332740" h="784860">
                <a:moveTo>
                  <a:pt x="332231" y="618744"/>
                </a:moveTo>
                <a:lnTo>
                  <a:pt x="0" y="618744"/>
                </a:lnTo>
                <a:lnTo>
                  <a:pt x="166115" y="784860"/>
                </a:lnTo>
                <a:lnTo>
                  <a:pt x="332231" y="618744"/>
                </a:lnTo>
                <a:close/>
              </a:path>
              <a:path w="332740" h="784860">
                <a:moveTo>
                  <a:pt x="249174" y="0"/>
                </a:moveTo>
                <a:lnTo>
                  <a:pt x="83057" y="0"/>
                </a:lnTo>
                <a:lnTo>
                  <a:pt x="83057" y="618744"/>
                </a:lnTo>
                <a:lnTo>
                  <a:pt x="249174" y="618744"/>
                </a:lnTo>
                <a:lnTo>
                  <a:pt x="249174" y="0"/>
                </a:lnTo>
                <a:close/>
              </a:path>
            </a:pathLst>
          </a:custGeom>
          <a:solidFill>
            <a:srgbClr val="EC7C30"/>
          </a:solidFill>
        </p:spPr>
        <p:txBody>
          <a:bodyPr wrap="square" lIns="0" tIns="0" rIns="0" bIns="0" rtlCol="0"/>
          <a:lstStyle/>
          <a:p>
            <a:endParaRPr/>
          </a:p>
        </p:txBody>
      </p:sp>
      <p:sp>
        <p:nvSpPr>
          <p:cNvPr id="44" name="object 44"/>
          <p:cNvSpPr/>
          <p:nvPr/>
        </p:nvSpPr>
        <p:spPr>
          <a:xfrm>
            <a:off x="9305543" y="2887979"/>
            <a:ext cx="332740" cy="784860"/>
          </a:xfrm>
          <a:custGeom>
            <a:avLst/>
            <a:gdLst/>
            <a:ahLst/>
            <a:cxnLst/>
            <a:rect l="l" t="t" r="r" b="b"/>
            <a:pathLst>
              <a:path w="332740" h="784860">
                <a:moveTo>
                  <a:pt x="0" y="618744"/>
                </a:moveTo>
                <a:lnTo>
                  <a:pt x="83057" y="618744"/>
                </a:lnTo>
                <a:lnTo>
                  <a:pt x="83057" y="0"/>
                </a:lnTo>
                <a:lnTo>
                  <a:pt x="249174" y="0"/>
                </a:lnTo>
                <a:lnTo>
                  <a:pt x="249174" y="618744"/>
                </a:lnTo>
                <a:lnTo>
                  <a:pt x="332231" y="618744"/>
                </a:lnTo>
                <a:lnTo>
                  <a:pt x="166115" y="784860"/>
                </a:lnTo>
                <a:lnTo>
                  <a:pt x="0" y="618744"/>
                </a:lnTo>
                <a:close/>
              </a:path>
            </a:pathLst>
          </a:custGeom>
          <a:ln w="12192">
            <a:solidFill>
              <a:srgbClr val="EC7C30"/>
            </a:solidFill>
          </a:ln>
        </p:spPr>
        <p:txBody>
          <a:bodyPr wrap="square" lIns="0" tIns="0" rIns="0" bIns="0" rtlCol="0"/>
          <a:lstStyle/>
          <a:p>
            <a:endParaRPr/>
          </a:p>
        </p:txBody>
      </p:sp>
      <p:sp>
        <p:nvSpPr>
          <p:cNvPr id="45" name="object 45"/>
          <p:cNvSpPr/>
          <p:nvPr/>
        </p:nvSpPr>
        <p:spPr>
          <a:xfrm>
            <a:off x="3403853" y="3438905"/>
            <a:ext cx="2685415" cy="1963420"/>
          </a:xfrm>
          <a:custGeom>
            <a:avLst/>
            <a:gdLst/>
            <a:ahLst/>
            <a:cxnLst/>
            <a:rect l="l" t="t" r="r" b="b"/>
            <a:pathLst>
              <a:path w="2685415" h="1963420">
                <a:moveTo>
                  <a:pt x="0" y="327152"/>
                </a:moveTo>
                <a:lnTo>
                  <a:pt x="4280" y="274076"/>
                </a:lnTo>
                <a:lnTo>
                  <a:pt x="16674" y="223731"/>
                </a:lnTo>
                <a:lnTo>
                  <a:pt x="36508" y="176789"/>
                </a:lnTo>
                <a:lnTo>
                  <a:pt x="63109" y="133923"/>
                </a:lnTo>
                <a:lnTo>
                  <a:pt x="95805" y="95805"/>
                </a:lnTo>
                <a:lnTo>
                  <a:pt x="133923" y="63109"/>
                </a:lnTo>
                <a:lnTo>
                  <a:pt x="176789" y="36508"/>
                </a:lnTo>
                <a:lnTo>
                  <a:pt x="223731" y="16674"/>
                </a:lnTo>
                <a:lnTo>
                  <a:pt x="274076" y="4280"/>
                </a:lnTo>
                <a:lnTo>
                  <a:pt x="327151" y="0"/>
                </a:lnTo>
                <a:lnTo>
                  <a:pt x="2358136" y="0"/>
                </a:lnTo>
                <a:lnTo>
                  <a:pt x="2411211" y="4280"/>
                </a:lnTo>
                <a:lnTo>
                  <a:pt x="2461556" y="16674"/>
                </a:lnTo>
                <a:lnTo>
                  <a:pt x="2508498" y="36508"/>
                </a:lnTo>
                <a:lnTo>
                  <a:pt x="2551364" y="63109"/>
                </a:lnTo>
                <a:lnTo>
                  <a:pt x="2589482" y="95805"/>
                </a:lnTo>
                <a:lnTo>
                  <a:pt x="2622178" y="133923"/>
                </a:lnTo>
                <a:lnTo>
                  <a:pt x="2648779" y="176789"/>
                </a:lnTo>
                <a:lnTo>
                  <a:pt x="2668613" y="223731"/>
                </a:lnTo>
                <a:lnTo>
                  <a:pt x="2681007" y="274076"/>
                </a:lnTo>
                <a:lnTo>
                  <a:pt x="2685288" y="327152"/>
                </a:lnTo>
                <a:lnTo>
                  <a:pt x="2685288" y="1635760"/>
                </a:lnTo>
                <a:lnTo>
                  <a:pt x="2681007" y="1688835"/>
                </a:lnTo>
                <a:lnTo>
                  <a:pt x="2668613" y="1739180"/>
                </a:lnTo>
                <a:lnTo>
                  <a:pt x="2648779" y="1786122"/>
                </a:lnTo>
                <a:lnTo>
                  <a:pt x="2622178" y="1828988"/>
                </a:lnTo>
                <a:lnTo>
                  <a:pt x="2589482" y="1867106"/>
                </a:lnTo>
                <a:lnTo>
                  <a:pt x="2551364" y="1899802"/>
                </a:lnTo>
                <a:lnTo>
                  <a:pt x="2508498" y="1926403"/>
                </a:lnTo>
                <a:lnTo>
                  <a:pt x="2461556" y="1946237"/>
                </a:lnTo>
                <a:lnTo>
                  <a:pt x="2411211" y="1958631"/>
                </a:lnTo>
                <a:lnTo>
                  <a:pt x="2358136" y="1962912"/>
                </a:lnTo>
                <a:lnTo>
                  <a:pt x="327151" y="1962912"/>
                </a:lnTo>
                <a:lnTo>
                  <a:pt x="274076" y="1958631"/>
                </a:lnTo>
                <a:lnTo>
                  <a:pt x="223731" y="1946237"/>
                </a:lnTo>
                <a:lnTo>
                  <a:pt x="176789" y="1926403"/>
                </a:lnTo>
                <a:lnTo>
                  <a:pt x="133923" y="1899802"/>
                </a:lnTo>
                <a:lnTo>
                  <a:pt x="95805" y="1867106"/>
                </a:lnTo>
                <a:lnTo>
                  <a:pt x="63109" y="1828988"/>
                </a:lnTo>
                <a:lnTo>
                  <a:pt x="36508" y="1786122"/>
                </a:lnTo>
                <a:lnTo>
                  <a:pt x="16674" y="1739180"/>
                </a:lnTo>
                <a:lnTo>
                  <a:pt x="4280" y="1688835"/>
                </a:lnTo>
                <a:lnTo>
                  <a:pt x="0" y="1635760"/>
                </a:lnTo>
                <a:lnTo>
                  <a:pt x="0" y="327152"/>
                </a:lnTo>
                <a:close/>
              </a:path>
            </a:pathLst>
          </a:custGeom>
          <a:ln w="28956">
            <a:solidFill>
              <a:srgbClr val="00AFEF"/>
            </a:solidFill>
            <a:prstDash val="lgDash"/>
          </a:ln>
        </p:spPr>
        <p:txBody>
          <a:bodyPr wrap="square" lIns="0" tIns="0" rIns="0" bIns="0" rtlCol="0"/>
          <a:lstStyle/>
          <a:p>
            <a:endParaRPr/>
          </a:p>
        </p:txBody>
      </p:sp>
      <p:sp>
        <p:nvSpPr>
          <p:cNvPr id="46" name="object 46"/>
          <p:cNvSpPr/>
          <p:nvPr/>
        </p:nvSpPr>
        <p:spPr>
          <a:xfrm>
            <a:off x="8161781" y="3438905"/>
            <a:ext cx="2743200" cy="1920239"/>
          </a:xfrm>
          <a:custGeom>
            <a:avLst/>
            <a:gdLst/>
            <a:ahLst/>
            <a:cxnLst/>
            <a:rect l="l" t="t" r="r" b="b"/>
            <a:pathLst>
              <a:path w="2743200" h="1920239">
                <a:moveTo>
                  <a:pt x="0" y="320040"/>
                </a:moveTo>
                <a:lnTo>
                  <a:pt x="4187" y="268120"/>
                </a:lnTo>
                <a:lnTo>
                  <a:pt x="16312" y="218870"/>
                </a:lnTo>
                <a:lnTo>
                  <a:pt x="35716" y="172949"/>
                </a:lnTo>
                <a:lnTo>
                  <a:pt x="61740" y="131015"/>
                </a:lnTo>
                <a:lnTo>
                  <a:pt x="93725" y="93725"/>
                </a:lnTo>
                <a:lnTo>
                  <a:pt x="131015" y="61740"/>
                </a:lnTo>
                <a:lnTo>
                  <a:pt x="172949" y="35716"/>
                </a:lnTo>
                <a:lnTo>
                  <a:pt x="218870" y="16312"/>
                </a:lnTo>
                <a:lnTo>
                  <a:pt x="268120" y="4187"/>
                </a:lnTo>
                <a:lnTo>
                  <a:pt x="320040" y="0"/>
                </a:lnTo>
                <a:lnTo>
                  <a:pt x="2423160" y="0"/>
                </a:lnTo>
                <a:lnTo>
                  <a:pt x="2475079" y="4187"/>
                </a:lnTo>
                <a:lnTo>
                  <a:pt x="2524329" y="16312"/>
                </a:lnTo>
                <a:lnTo>
                  <a:pt x="2570250" y="35716"/>
                </a:lnTo>
                <a:lnTo>
                  <a:pt x="2612184" y="61740"/>
                </a:lnTo>
                <a:lnTo>
                  <a:pt x="2649474" y="93725"/>
                </a:lnTo>
                <a:lnTo>
                  <a:pt x="2681459" y="131015"/>
                </a:lnTo>
                <a:lnTo>
                  <a:pt x="2707483" y="172949"/>
                </a:lnTo>
                <a:lnTo>
                  <a:pt x="2726887" y="218870"/>
                </a:lnTo>
                <a:lnTo>
                  <a:pt x="2739012" y="268120"/>
                </a:lnTo>
                <a:lnTo>
                  <a:pt x="2743200" y="320040"/>
                </a:lnTo>
                <a:lnTo>
                  <a:pt x="2743200" y="1600200"/>
                </a:lnTo>
                <a:lnTo>
                  <a:pt x="2739012" y="1652119"/>
                </a:lnTo>
                <a:lnTo>
                  <a:pt x="2726887" y="1701369"/>
                </a:lnTo>
                <a:lnTo>
                  <a:pt x="2707483" y="1747290"/>
                </a:lnTo>
                <a:lnTo>
                  <a:pt x="2681459" y="1789224"/>
                </a:lnTo>
                <a:lnTo>
                  <a:pt x="2649474" y="1826514"/>
                </a:lnTo>
                <a:lnTo>
                  <a:pt x="2612184" y="1858499"/>
                </a:lnTo>
                <a:lnTo>
                  <a:pt x="2570250" y="1884523"/>
                </a:lnTo>
                <a:lnTo>
                  <a:pt x="2524329" y="1903927"/>
                </a:lnTo>
                <a:lnTo>
                  <a:pt x="2475079" y="1916052"/>
                </a:lnTo>
                <a:lnTo>
                  <a:pt x="2423160" y="1920240"/>
                </a:lnTo>
                <a:lnTo>
                  <a:pt x="320040" y="1920240"/>
                </a:lnTo>
                <a:lnTo>
                  <a:pt x="268120" y="1916052"/>
                </a:lnTo>
                <a:lnTo>
                  <a:pt x="218870" y="1903927"/>
                </a:lnTo>
                <a:lnTo>
                  <a:pt x="172949" y="1884523"/>
                </a:lnTo>
                <a:lnTo>
                  <a:pt x="131015" y="1858499"/>
                </a:lnTo>
                <a:lnTo>
                  <a:pt x="93725" y="1826514"/>
                </a:lnTo>
                <a:lnTo>
                  <a:pt x="61740" y="1789224"/>
                </a:lnTo>
                <a:lnTo>
                  <a:pt x="35716" y="1747290"/>
                </a:lnTo>
                <a:lnTo>
                  <a:pt x="16312" y="1701369"/>
                </a:lnTo>
                <a:lnTo>
                  <a:pt x="4187" y="1652119"/>
                </a:lnTo>
                <a:lnTo>
                  <a:pt x="0" y="1600200"/>
                </a:lnTo>
                <a:lnTo>
                  <a:pt x="0" y="320040"/>
                </a:lnTo>
                <a:close/>
              </a:path>
            </a:pathLst>
          </a:custGeom>
          <a:ln w="28956">
            <a:solidFill>
              <a:srgbClr val="00AFEF"/>
            </a:solidFill>
            <a:prstDash val="lgDash"/>
          </a:ln>
        </p:spPr>
        <p:txBody>
          <a:bodyPr wrap="square" lIns="0" tIns="0" rIns="0" bIns="0" rtlCol="0"/>
          <a:lstStyle/>
          <a:p>
            <a:endParaRPr/>
          </a:p>
        </p:txBody>
      </p:sp>
      <p:sp>
        <p:nvSpPr>
          <p:cNvPr id="47" name="object 47"/>
          <p:cNvSpPr/>
          <p:nvPr/>
        </p:nvSpPr>
        <p:spPr>
          <a:xfrm>
            <a:off x="8152638" y="2157222"/>
            <a:ext cx="2752725" cy="878205"/>
          </a:xfrm>
          <a:custGeom>
            <a:avLst/>
            <a:gdLst/>
            <a:ahLst/>
            <a:cxnLst/>
            <a:rect l="l" t="t" r="r" b="b"/>
            <a:pathLst>
              <a:path w="2752725" h="878205">
                <a:moveTo>
                  <a:pt x="0" y="146303"/>
                </a:moveTo>
                <a:lnTo>
                  <a:pt x="6352" y="103547"/>
                </a:lnTo>
                <a:lnTo>
                  <a:pt x="24152" y="65776"/>
                </a:lnTo>
                <a:lnTo>
                  <a:pt x="51517" y="34873"/>
                </a:lnTo>
                <a:lnTo>
                  <a:pt x="86562" y="12723"/>
                </a:lnTo>
                <a:lnTo>
                  <a:pt x="127403" y="1210"/>
                </a:lnTo>
                <a:lnTo>
                  <a:pt x="2606039" y="0"/>
                </a:lnTo>
                <a:lnTo>
                  <a:pt x="2620729" y="729"/>
                </a:lnTo>
                <a:lnTo>
                  <a:pt x="2662033" y="11106"/>
                </a:lnTo>
                <a:lnTo>
                  <a:pt x="2697725" y="32304"/>
                </a:lnTo>
                <a:lnTo>
                  <a:pt x="2725919" y="62439"/>
                </a:lnTo>
                <a:lnTo>
                  <a:pt x="2744732" y="99625"/>
                </a:lnTo>
                <a:lnTo>
                  <a:pt x="2752281" y="141979"/>
                </a:lnTo>
                <a:lnTo>
                  <a:pt x="2752343" y="731519"/>
                </a:lnTo>
                <a:lnTo>
                  <a:pt x="2751614" y="746209"/>
                </a:lnTo>
                <a:lnTo>
                  <a:pt x="2741237" y="787513"/>
                </a:lnTo>
                <a:lnTo>
                  <a:pt x="2720039" y="823205"/>
                </a:lnTo>
                <a:lnTo>
                  <a:pt x="2689904" y="851399"/>
                </a:lnTo>
                <a:lnTo>
                  <a:pt x="2652718" y="870212"/>
                </a:lnTo>
                <a:lnTo>
                  <a:pt x="2610364" y="877761"/>
                </a:lnTo>
                <a:lnTo>
                  <a:pt x="146303" y="877824"/>
                </a:lnTo>
                <a:lnTo>
                  <a:pt x="131614" y="877094"/>
                </a:lnTo>
                <a:lnTo>
                  <a:pt x="90310" y="866717"/>
                </a:lnTo>
                <a:lnTo>
                  <a:pt x="54618" y="845519"/>
                </a:lnTo>
                <a:lnTo>
                  <a:pt x="26424" y="815384"/>
                </a:lnTo>
                <a:lnTo>
                  <a:pt x="7611" y="778198"/>
                </a:lnTo>
                <a:lnTo>
                  <a:pt x="62" y="735844"/>
                </a:lnTo>
                <a:lnTo>
                  <a:pt x="0" y="146303"/>
                </a:lnTo>
                <a:close/>
              </a:path>
            </a:pathLst>
          </a:custGeom>
          <a:ln w="28956">
            <a:solidFill>
              <a:srgbClr val="00AFEF"/>
            </a:solidFill>
            <a:prstDash val="lgDash"/>
          </a:ln>
        </p:spPr>
        <p:txBody>
          <a:bodyPr wrap="square" lIns="0" tIns="0" rIns="0" bIns="0" rtlCol="0"/>
          <a:lstStyle/>
          <a:p>
            <a:endParaRPr/>
          </a:p>
        </p:txBody>
      </p:sp>
      <p:sp>
        <p:nvSpPr>
          <p:cNvPr id="48" name="object 48"/>
          <p:cNvSpPr txBox="1"/>
          <p:nvPr/>
        </p:nvSpPr>
        <p:spPr>
          <a:xfrm>
            <a:off x="8514588" y="1552955"/>
            <a:ext cx="2049780" cy="459105"/>
          </a:xfrm>
          <a:prstGeom prst="rect">
            <a:avLst/>
          </a:prstGeom>
          <a:solidFill>
            <a:srgbClr val="00AFEF"/>
          </a:solidFill>
          <a:ln w="12192">
            <a:solidFill>
              <a:srgbClr val="41709C"/>
            </a:solidFill>
          </a:ln>
        </p:spPr>
        <p:txBody>
          <a:bodyPr vert="horz" wrap="square" lIns="0" tIns="0" rIns="0" bIns="0" rtlCol="0">
            <a:spAutoFit/>
          </a:bodyPr>
          <a:lstStyle/>
          <a:p>
            <a:pPr marL="126364">
              <a:lnSpc>
                <a:spcPct val="100000"/>
              </a:lnSpc>
            </a:pPr>
            <a:r>
              <a:rPr sz="2400" b="1" dirty="0">
                <a:solidFill>
                  <a:srgbClr val="FFFFFF"/>
                </a:solidFill>
                <a:latin typeface="微软雅黑"/>
                <a:cs typeface="微软雅黑"/>
              </a:rPr>
              <a:t>自动重载模块</a:t>
            </a:r>
            <a:endParaRPr sz="2400">
              <a:latin typeface="微软雅黑"/>
              <a:cs typeface="微软雅黑"/>
            </a:endParaRPr>
          </a:p>
        </p:txBody>
      </p:sp>
      <p:sp>
        <p:nvSpPr>
          <p:cNvPr id="49" name="object 49"/>
          <p:cNvSpPr txBox="1">
            <a:spLocks noGrp="1"/>
          </p:cNvSpPr>
          <p:nvPr>
            <p:ph type="title"/>
          </p:nvPr>
        </p:nvSpPr>
        <p:spPr>
          <a:prstGeom prst="rect">
            <a:avLst/>
          </a:prstGeom>
        </p:spPr>
        <p:txBody>
          <a:bodyPr vert="horz" wrap="square" lIns="0" tIns="0" rIns="0" bIns="0" rtlCol="0">
            <a:spAutoFit/>
          </a:bodyPr>
          <a:lstStyle/>
          <a:p>
            <a:pPr marL="4617720">
              <a:lnSpc>
                <a:spcPts val="3354"/>
              </a:lnSpc>
            </a:pPr>
            <a:r>
              <a:rPr spc="-5" dirty="0"/>
              <a:t>时基单元功能框架</a:t>
            </a:r>
          </a:p>
        </p:txBody>
      </p:sp>
      <p:sp>
        <p:nvSpPr>
          <p:cNvPr id="50" name="object 50"/>
          <p:cNvSpPr txBox="1"/>
          <p:nvPr/>
        </p:nvSpPr>
        <p:spPr>
          <a:xfrm>
            <a:off x="8514588" y="5701284"/>
            <a:ext cx="2049780" cy="459105"/>
          </a:xfrm>
          <a:prstGeom prst="rect">
            <a:avLst/>
          </a:prstGeom>
          <a:solidFill>
            <a:srgbClr val="00AFEF"/>
          </a:solidFill>
          <a:ln w="12192">
            <a:solidFill>
              <a:srgbClr val="41709C"/>
            </a:solidFill>
          </a:ln>
        </p:spPr>
        <p:txBody>
          <a:bodyPr vert="horz" wrap="square" lIns="0" tIns="0" rIns="0" bIns="0" rtlCol="0">
            <a:spAutoFit/>
          </a:bodyPr>
          <a:lstStyle/>
          <a:p>
            <a:pPr marL="398145">
              <a:lnSpc>
                <a:spcPct val="100000"/>
              </a:lnSpc>
            </a:pPr>
            <a:r>
              <a:rPr sz="2400" b="1" dirty="0">
                <a:solidFill>
                  <a:srgbClr val="FFFFFF"/>
                </a:solidFill>
                <a:latin typeface="微软雅黑"/>
                <a:cs typeface="微软雅黑"/>
              </a:rPr>
              <a:t>计数模块</a:t>
            </a:r>
            <a:endParaRPr sz="2400">
              <a:latin typeface="微软雅黑"/>
              <a:cs typeface="微软雅黑"/>
            </a:endParaRPr>
          </a:p>
        </p:txBody>
      </p:sp>
      <p:sp>
        <p:nvSpPr>
          <p:cNvPr id="51" name="object 51"/>
          <p:cNvSpPr txBox="1"/>
          <p:nvPr/>
        </p:nvSpPr>
        <p:spPr>
          <a:xfrm>
            <a:off x="3724655" y="5663184"/>
            <a:ext cx="2049780" cy="459105"/>
          </a:xfrm>
          <a:prstGeom prst="rect">
            <a:avLst/>
          </a:prstGeom>
          <a:solidFill>
            <a:srgbClr val="00AFEF"/>
          </a:solidFill>
          <a:ln w="12192">
            <a:solidFill>
              <a:srgbClr val="41709C"/>
            </a:solidFill>
          </a:ln>
        </p:spPr>
        <p:txBody>
          <a:bodyPr vert="horz" wrap="square" lIns="0" tIns="0" rIns="0" bIns="0" rtlCol="0">
            <a:spAutoFit/>
          </a:bodyPr>
          <a:lstStyle/>
          <a:p>
            <a:pPr marL="306070">
              <a:lnSpc>
                <a:spcPct val="100000"/>
              </a:lnSpc>
            </a:pPr>
            <a:r>
              <a:rPr sz="2400" b="1" spc="-5" dirty="0">
                <a:solidFill>
                  <a:srgbClr val="FFFFFF"/>
                </a:solidFill>
                <a:latin typeface="微软雅黑"/>
                <a:cs typeface="微软雅黑"/>
              </a:rPr>
              <a:t>预分频模块</a:t>
            </a:r>
            <a:endParaRPr sz="2400">
              <a:latin typeface="微软雅黑"/>
              <a:cs typeface="微软雅黑"/>
            </a:endParaRPr>
          </a:p>
        </p:txBody>
      </p:sp>
      <p:sp>
        <p:nvSpPr>
          <p:cNvPr id="52" name="object 52"/>
          <p:cNvSpPr/>
          <p:nvPr/>
        </p:nvSpPr>
        <p:spPr>
          <a:xfrm>
            <a:off x="1423416" y="3442715"/>
            <a:ext cx="1920239" cy="406908"/>
          </a:xfrm>
          <a:prstGeom prst="rect">
            <a:avLst/>
          </a:prstGeom>
          <a:blipFill>
            <a:blip r:embed="rId18" cstate="print"/>
            <a:stretch>
              <a:fillRect/>
            </a:stretch>
          </a:blipFill>
        </p:spPr>
        <p:txBody>
          <a:bodyPr wrap="square" lIns="0" tIns="0" rIns="0" bIns="0" rtlCol="0"/>
          <a:lstStyle/>
          <a:p>
            <a:endParaRPr/>
          </a:p>
        </p:txBody>
      </p:sp>
      <p:sp>
        <p:nvSpPr>
          <p:cNvPr id="53" name="object 53"/>
          <p:cNvSpPr/>
          <p:nvPr/>
        </p:nvSpPr>
        <p:spPr>
          <a:xfrm>
            <a:off x="3039491" y="1654301"/>
            <a:ext cx="3507104" cy="1221105"/>
          </a:xfrm>
          <a:custGeom>
            <a:avLst/>
            <a:gdLst/>
            <a:ahLst/>
            <a:cxnLst/>
            <a:rect l="l" t="t" r="r" b="b"/>
            <a:pathLst>
              <a:path w="3507104" h="1221105">
                <a:moveTo>
                  <a:pt x="3506851" y="1017270"/>
                </a:moveTo>
                <a:lnTo>
                  <a:pt x="364362" y="1017270"/>
                </a:lnTo>
                <a:lnTo>
                  <a:pt x="365037" y="1033960"/>
                </a:lnTo>
                <a:lnTo>
                  <a:pt x="374732" y="1081588"/>
                </a:lnTo>
                <a:lnTo>
                  <a:pt x="394837" y="1124454"/>
                </a:lnTo>
                <a:lnTo>
                  <a:pt x="423941" y="1161145"/>
                </a:lnTo>
                <a:lnTo>
                  <a:pt x="460632" y="1190249"/>
                </a:lnTo>
                <a:lnTo>
                  <a:pt x="503498" y="1210354"/>
                </a:lnTo>
                <a:lnTo>
                  <a:pt x="551126" y="1220049"/>
                </a:lnTo>
                <a:lnTo>
                  <a:pt x="567817" y="1220724"/>
                </a:lnTo>
                <a:lnTo>
                  <a:pt x="3303397" y="1220724"/>
                </a:lnTo>
                <a:lnTo>
                  <a:pt x="3352299" y="1214812"/>
                </a:lnTo>
                <a:lnTo>
                  <a:pt x="3396909" y="1198020"/>
                </a:lnTo>
                <a:lnTo>
                  <a:pt x="3435815" y="1171759"/>
                </a:lnTo>
                <a:lnTo>
                  <a:pt x="3467604" y="1137440"/>
                </a:lnTo>
                <a:lnTo>
                  <a:pt x="3490866" y="1096476"/>
                </a:lnTo>
                <a:lnTo>
                  <a:pt x="3504188" y="1050278"/>
                </a:lnTo>
                <a:lnTo>
                  <a:pt x="3506851" y="1017270"/>
                </a:lnTo>
                <a:close/>
              </a:path>
              <a:path w="3507104" h="1221105">
                <a:moveTo>
                  <a:pt x="3303397" y="0"/>
                </a:moveTo>
                <a:lnTo>
                  <a:pt x="567817" y="0"/>
                </a:lnTo>
                <a:lnTo>
                  <a:pt x="551126" y="674"/>
                </a:lnTo>
                <a:lnTo>
                  <a:pt x="503498" y="10369"/>
                </a:lnTo>
                <a:lnTo>
                  <a:pt x="460632" y="30474"/>
                </a:lnTo>
                <a:lnTo>
                  <a:pt x="423941" y="59578"/>
                </a:lnTo>
                <a:lnTo>
                  <a:pt x="394837" y="96269"/>
                </a:lnTo>
                <a:lnTo>
                  <a:pt x="374732" y="139135"/>
                </a:lnTo>
                <a:lnTo>
                  <a:pt x="365037" y="186763"/>
                </a:lnTo>
                <a:lnTo>
                  <a:pt x="364362" y="203453"/>
                </a:lnTo>
                <a:lnTo>
                  <a:pt x="364362" y="712088"/>
                </a:lnTo>
                <a:lnTo>
                  <a:pt x="0" y="1139698"/>
                </a:lnTo>
                <a:lnTo>
                  <a:pt x="364362" y="1017270"/>
                </a:lnTo>
                <a:lnTo>
                  <a:pt x="3506851" y="1017270"/>
                </a:lnTo>
                <a:lnTo>
                  <a:pt x="3506851" y="203453"/>
                </a:lnTo>
                <a:lnTo>
                  <a:pt x="3500939" y="154551"/>
                </a:lnTo>
                <a:lnTo>
                  <a:pt x="3484147" y="109941"/>
                </a:lnTo>
                <a:lnTo>
                  <a:pt x="3457886" y="71035"/>
                </a:lnTo>
                <a:lnTo>
                  <a:pt x="3423567" y="39246"/>
                </a:lnTo>
                <a:lnTo>
                  <a:pt x="3382603" y="15984"/>
                </a:lnTo>
                <a:lnTo>
                  <a:pt x="3336405" y="2662"/>
                </a:lnTo>
                <a:lnTo>
                  <a:pt x="3320087" y="674"/>
                </a:lnTo>
                <a:lnTo>
                  <a:pt x="3303397" y="0"/>
                </a:lnTo>
                <a:close/>
              </a:path>
            </a:pathLst>
          </a:custGeom>
          <a:solidFill>
            <a:srgbClr val="FFFFC7"/>
          </a:solidFill>
        </p:spPr>
        <p:txBody>
          <a:bodyPr wrap="square" lIns="0" tIns="0" rIns="0" bIns="0" rtlCol="0"/>
          <a:lstStyle/>
          <a:p>
            <a:endParaRPr/>
          </a:p>
        </p:txBody>
      </p:sp>
      <p:sp>
        <p:nvSpPr>
          <p:cNvPr id="54" name="object 54"/>
          <p:cNvSpPr/>
          <p:nvPr/>
        </p:nvSpPr>
        <p:spPr>
          <a:xfrm>
            <a:off x="3039491" y="1654301"/>
            <a:ext cx="3507104" cy="1221105"/>
          </a:xfrm>
          <a:custGeom>
            <a:avLst/>
            <a:gdLst/>
            <a:ahLst/>
            <a:cxnLst/>
            <a:rect l="l" t="t" r="r" b="b"/>
            <a:pathLst>
              <a:path w="3507104" h="1221105">
                <a:moveTo>
                  <a:pt x="364362" y="203453"/>
                </a:moveTo>
                <a:lnTo>
                  <a:pt x="370274" y="154551"/>
                </a:lnTo>
                <a:lnTo>
                  <a:pt x="387066" y="109941"/>
                </a:lnTo>
                <a:lnTo>
                  <a:pt x="413327" y="71035"/>
                </a:lnTo>
                <a:lnTo>
                  <a:pt x="447646" y="39246"/>
                </a:lnTo>
                <a:lnTo>
                  <a:pt x="488610" y="15984"/>
                </a:lnTo>
                <a:lnTo>
                  <a:pt x="534808" y="2662"/>
                </a:lnTo>
                <a:lnTo>
                  <a:pt x="567817" y="0"/>
                </a:lnTo>
                <a:lnTo>
                  <a:pt x="888110" y="0"/>
                </a:lnTo>
                <a:lnTo>
                  <a:pt x="1673733" y="0"/>
                </a:lnTo>
                <a:lnTo>
                  <a:pt x="3303397" y="0"/>
                </a:lnTo>
                <a:lnTo>
                  <a:pt x="3320087" y="674"/>
                </a:lnTo>
                <a:lnTo>
                  <a:pt x="3367715" y="10369"/>
                </a:lnTo>
                <a:lnTo>
                  <a:pt x="3410581" y="30474"/>
                </a:lnTo>
                <a:lnTo>
                  <a:pt x="3447272" y="59578"/>
                </a:lnTo>
                <a:lnTo>
                  <a:pt x="3476376" y="96269"/>
                </a:lnTo>
                <a:lnTo>
                  <a:pt x="3496481" y="139135"/>
                </a:lnTo>
                <a:lnTo>
                  <a:pt x="3506176" y="186763"/>
                </a:lnTo>
                <a:lnTo>
                  <a:pt x="3506851" y="203453"/>
                </a:lnTo>
                <a:lnTo>
                  <a:pt x="3506851" y="712088"/>
                </a:lnTo>
                <a:lnTo>
                  <a:pt x="3506851" y="1017270"/>
                </a:lnTo>
                <a:lnTo>
                  <a:pt x="3506176" y="1033960"/>
                </a:lnTo>
                <a:lnTo>
                  <a:pt x="3504188" y="1050278"/>
                </a:lnTo>
                <a:lnTo>
                  <a:pt x="3490866" y="1096476"/>
                </a:lnTo>
                <a:lnTo>
                  <a:pt x="3467604" y="1137440"/>
                </a:lnTo>
                <a:lnTo>
                  <a:pt x="3435815" y="1171759"/>
                </a:lnTo>
                <a:lnTo>
                  <a:pt x="3396909" y="1198020"/>
                </a:lnTo>
                <a:lnTo>
                  <a:pt x="3352299" y="1214812"/>
                </a:lnTo>
                <a:lnTo>
                  <a:pt x="3303397" y="1220724"/>
                </a:lnTo>
                <a:lnTo>
                  <a:pt x="1673733" y="1220724"/>
                </a:lnTo>
                <a:lnTo>
                  <a:pt x="888110" y="1220724"/>
                </a:lnTo>
                <a:lnTo>
                  <a:pt x="567817" y="1220724"/>
                </a:lnTo>
                <a:lnTo>
                  <a:pt x="551126" y="1220049"/>
                </a:lnTo>
                <a:lnTo>
                  <a:pt x="503498" y="1210354"/>
                </a:lnTo>
                <a:lnTo>
                  <a:pt x="460632" y="1190249"/>
                </a:lnTo>
                <a:lnTo>
                  <a:pt x="423941" y="1161145"/>
                </a:lnTo>
                <a:lnTo>
                  <a:pt x="394837" y="1124454"/>
                </a:lnTo>
                <a:lnTo>
                  <a:pt x="374732" y="1081588"/>
                </a:lnTo>
                <a:lnTo>
                  <a:pt x="365037" y="1033960"/>
                </a:lnTo>
                <a:lnTo>
                  <a:pt x="364362" y="1017270"/>
                </a:lnTo>
                <a:lnTo>
                  <a:pt x="0" y="1139698"/>
                </a:lnTo>
                <a:lnTo>
                  <a:pt x="364362" y="712088"/>
                </a:lnTo>
                <a:lnTo>
                  <a:pt x="364362" y="203453"/>
                </a:lnTo>
                <a:close/>
              </a:path>
            </a:pathLst>
          </a:custGeom>
          <a:ln w="28956">
            <a:solidFill>
              <a:srgbClr val="000000"/>
            </a:solidFill>
          </a:ln>
        </p:spPr>
        <p:txBody>
          <a:bodyPr wrap="square" lIns="0" tIns="0" rIns="0" bIns="0" rtlCol="0"/>
          <a:lstStyle/>
          <a:p>
            <a:endParaRPr/>
          </a:p>
        </p:txBody>
      </p:sp>
      <p:sp>
        <p:nvSpPr>
          <p:cNvPr id="55" name="object 55"/>
          <p:cNvSpPr txBox="1"/>
          <p:nvPr/>
        </p:nvSpPr>
        <p:spPr>
          <a:xfrm>
            <a:off x="3542157" y="1746948"/>
            <a:ext cx="2782570" cy="1072515"/>
          </a:xfrm>
          <a:prstGeom prst="rect">
            <a:avLst/>
          </a:prstGeom>
        </p:spPr>
        <p:txBody>
          <a:bodyPr vert="horz" wrap="square" lIns="0" tIns="0" rIns="0" bIns="0" rtlCol="0">
            <a:spAutoFit/>
          </a:bodyPr>
          <a:lstStyle/>
          <a:p>
            <a:pPr marL="12700" marR="5080">
              <a:lnSpc>
                <a:spcPct val="100000"/>
              </a:lnSpc>
            </a:pPr>
            <a:r>
              <a:rPr sz="2400" b="1" dirty="0">
                <a:latin typeface="宋体"/>
                <a:cs typeface="宋体"/>
              </a:rPr>
              <a:t>工作在定时模式时： 内部时</a:t>
            </a:r>
            <a:r>
              <a:rPr sz="2400" b="1" spc="0" dirty="0">
                <a:latin typeface="宋体"/>
                <a:cs typeface="宋体"/>
              </a:rPr>
              <a:t>钟</a:t>
            </a:r>
            <a:r>
              <a:rPr sz="2400" b="1" spc="-5" dirty="0">
                <a:latin typeface="Consolas"/>
                <a:cs typeface="Consolas"/>
              </a:rPr>
              <a:t>CK_INT </a:t>
            </a:r>
            <a:r>
              <a:rPr sz="2400" b="1" spc="-5" dirty="0">
                <a:latin typeface="宋体"/>
                <a:cs typeface="宋体"/>
              </a:rPr>
              <a:t>定时器时</a:t>
            </a:r>
            <a:r>
              <a:rPr sz="2400" b="1" dirty="0">
                <a:latin typeface="宋体"/>
                <a:cs typeface="宋体"/>
              </a:rPr>
              <a:t>钟</a:t>
            </a:r>
            <a:r>
              <a:rPr sz="2400" b="1" spc="-5" dirty="0">
                <a:latin typeface="Consolas"/>
                <a:cs typeface="Consolas"/>
              </a:rPr>
              <a:t>TIM_CLK</a:t>
            </a:r>
            <a:endParaRPr sz="2400">
              <a:latin typeface="Consolas"/>
              <a:cs typeface="Consolas"/>
            </a:endParaRPr>
          </a:p>
        </p:txBody>
      </p:sp>
    </p:spTree>
    <p:extLst>
      <p:ext uri="{BB962C8B-B14F-4D97-AF65-F5344CB8AC3E}">
        <p14:creationId xmlns:p14="http://schemas.microsoft.com/office/powerpoint/2010/main" val="25013795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207975" y="1187693"/>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预分频模块</a:t>
            </a:r>
            <a:endParaRPr sz="2400">
              <a:latin typeface="微软雅黑"/>
              <a:cs typeface="微软雅黑"/>
            </a:endParaRPr>
          </a:p>
        </p:txBody>
      </p:sp>
      <p:sp>
        <p:nvSpPr>
          <p:cNvPr id="13" name="object 13"/>
          <p:cNvSpPr/>
          <p:nvPr/>
        </p:nvSpPr>
        <p:spPr>
          <a:xfrm>
            <a:off x="2136648" y="2040635"/>
            <a:ext cx="2286762" cy="602741"/>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2125217" y="2029205"/>
            <a:ext cx="2260092" cy="576072"/>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2125217" y="2029205"/>
            <a:ext cx="2260600" cy="576580"/>
          </a:xfrm>
          <a:custGeom>
            <a:avLst/>
            <a:gdLst/>
            <a:ahLst/>
            <a:cxnLst/>
            <a:rect l="l" t="t" r="r" b="b"/>
            <a:pathLst>
              <a:path w="2260600" h="576580">
                <a:moveTo>
                  <a:pt x="0" y="576072"/>
                </a:moveTo>
                <a:lnTo>
                  <a:pt x="2260092" y="576072"/>
                </a:lnTo>
                <a:lnTo>
                  <a:pt x="2260092" y="0"/>
                </a:lnTo>
                <a:lnTo>
                  <a:pt x="0" y="0"/>
                </a:lnTo>
                <a:lnTo>
                  <a:pt x="0" y="576072"/>
                </a:lnTo>
                <a:close/>
              </a:path>
            </a:pathLst>
          </a:custGeom>
          <a:ln w="25908">
            <a:solidFill>
              <a:srgbClr val="FFFFFF"/>
            </a:solidFill>
          </a:ln>
        </p:spPr>
        <p:txBody>
          <a:bodyPr wrap="square" lIns="0" tIns="0" rIns="0" bIns="0" rtlCol="0"/>
          <a:lstStyle/>
          <a:p>
            <a:endParaRPr/>
          </a:p>
        </p:txBody>
      </p:sp>
      <p:sp>
        <p:nvSpPr>
          <p:cNvPr id="16" name="object 16"/>
          <p:cNvSpPr txBox="1"/>
          <p:nvPr/>
        </p:nvSpPr>
        <p:spPr>
          <a:xfrm>
            <a:off x="2375154" y="2141971"/>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预分频计数器</a:t>
            </a:r>
            <a:endParaRPr sz="2400">
              <a:latin typeface="微软雅黑"/>
              <a:cs typeface="微软雅黑"/>
            </a:endParaRPr>
          </a:p>
        </p:txBody>
      </p:sp>
      <p:sp>
        <p:nvSpPr>
          <p:cNvPr id="17" name="object 17"/>
          <p:cNvSpPr/>
          <p:nvPr/>
        </p:nvSpPr>
        <p:spPr>
          <a:xfrm>
            <a:off x="2168651" y="3096767"/>
            <a:ext cx="2254757" cy="601217"/>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2367279" y="3253485"/>
            <a:ext cx="1817243" cy="296799"/>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2157222" y="3085338"/>
            <a:ext cx="2228088" cy="574548"/>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2157222" y="3085338"/>
            <a:ext cx="2228215" cy="574675"/>
          </a:xfrm>
          <a:custGeom>
            <a:avLst/>
            <a:gdLst/>
            <a:ahLst/>
            <a:cxnLst/>
            <a:rect l="l" t="t" r="r" b="b"/>
            <a:pathLst>
              <a:path w="2228215" h="574675">
                <a:moveTo>
                  <a:pt x="0" y="574548"/>
                </a:moveTo>
                <a:lnTo>
                  <a:pt x="2228088" y="574548"/>
                </a:lnTo>
                <a:lnTo>
                  <a:pt x="2228088" y="0"/>
                </a:lnTo>
                <a:lnTo>
                  <a:pt x="0" y="0"/>
                </a:lnTo>
                <a:lnTo>
                  <a:pt x="0" y="574548"/>
                </a:lnTo>
                <a:close/>
              </a:path>
            </a:pathLst>
          </a:custGeom>
          <a:ln w="25908">
            <a:solidFill>
              <a:srgbClr val="FFFFFF"/>
            </a:solidFill>
          </a:ln>
        </p:spPr>
        <p:txBody>
          <a:bodyPr wrap="square" lIns="0" tIns="0" rIns="0" bIns="0" rtlCol="0"/>
          <a:lstStyle/>
          <a:p>
            <a:endParaRPr/>
          </a:p>
        </p:txBody>
      </p:sp>
      <p:sp>
        <p:nvSpPr>
          <p:cNvPr id="21" name="object 21"/>
          <p:cNvSpPr txBox="1"/>
          <p:nvPr/>
        </p:nvSpPr>
        <p:spPr>
          <a:xfrm>
            <a:off x="2326004" y="3225535"/>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预分频寄存器</a:t>
            </a:r>
            <a:endParaRPr sz="2400">
              <a:latin typeface="微软雅黑"/>
              <a:cs typeface="微软雅黑"/>
            </a:endParaRPr>
          </a:p>
        </p:txBody>
      </p:sp>
      <p:sp>
        <p:nvSpPr>
          <p:cNvPr id="22" name="object 22"/>
          <p:cNvSpPr/>
          <p:nvPr/>
        </p:nvSpPr>
        <p:spPr>
          <a:xfrm>
            <a:off x="5194553" y="2013966"/>
            <a:ext cx="4874260" cy="565785"/>
          </a:xfrm>
          <a:custGeom>
            <a:avLst/>
            <a:gdLst/>
            <a:ahLst/>
            <a:cxnLst/>
            <a:rect l="l" t="t" r="r" b="b"/>
            <a:pathLst>
              <a:path w="4874259" h="565785">
                <a:moveTo>
                  <a:pt x="0" y="65024"/>
                </a:moveTo>
                <a:lnTo>
                  <a:pt x="13396" y="25463"/>
                </a:lnTo>
                <a:lnTo>
                  <a:pt x="47263" y="2450"/>
                </a:lnTo>
                <a:lnTo>
                  <a:pt x="4808728" y="0"/>
                </a:lnTo>
                <a:lnTo>
                  <a:pt x="4823168" y="1605"/>
                </a:lnTo>
                <a:lnTo>
                  <a:pt x="4858266" y="22879"/>
                </a:lnTo>
                <a:lnTo>
                  <a:pt x="4873656" y="61462"/>
                </a:lnTo>
                <a:lnTo>
                  <a:pt x="4873752" y="500380"/>
                </a:lnTo>
                <a:lnTo>
                  <a:pt x="4872146" y="514820"/>
                </a:lnTo>
                <a:lnTo>
                  <a:pt x="4850872" y="549918"/>
                </a:lnTo>
                <a:lnTo>
                  <a:pt x="4812289" y="565308"/>
                </a:lnTo>
                <a:lnTo>
                  <a:pt x="65024" y="565404"/>
                </a:lnTo>
                <a:lnTo>
                  <a:pt x="50583" y="563798"/>
                </a:lnTo>
                <a:lnTo>
                  <a:pt x="15485" y="542524"/>
                </a:lnTo>
                <a:lnTo>
                  <a:pt x="95" y="503941"/>
                </a:lnTo>
                <a:lnTo>
                  <a:pt x="0" y="65024"/>
                </a:lnTo>
                <a:close/>
              </a:path>
            </a:pathLst>
          </a:custGeom>
          <a:ln w="28955">
            <a:solidFill>
              <a:srgbClr val="5B9BD4"/>
            </a:solidFill>
          </a:ln>
        </p:spPr>
        <p:txBody>
          <a:bodyPr wrap="square" lIns="0" tIns="0" rIns="0" bIns="0" rtlCol="0"/>
          <a:lstStyle/>
          <a:p>
            <a:endParaRPr/>
          </a:p>
        </p:txBody>
      </p:sp>
      <p:sp>
        <p:nvSpPr>
          <p:cNvPr id="23" name="object 23"/>
          <p:cNvSpPr txBox="1"/>
          <p:nvPr/>
        </p:nvSpPr>
        <p:spPr>
          <a:xfrm>
            <a:off x="5282946" y="2167127"/>
            <a:ext cx="4217035" cy="330835"/>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对预分频时</a:t>
            </a:r>
            <a:r>
              <a:rPr sz="2400" b="1" spc="-15" dirty="0">
                <a:latin typeface="微软雅黑"/>
                <a:cs typeface="微软雅黑"/>
              </a:rPr>
              <a:t>钟</a:t>
            </a:r>
            <a:r>
              <a:rPr sz="2400" b="1" spc="-5" dirty="0">
                <a:latin typeface="微软雅黑"/>
                <a:cs typeface="微软雅黑"/>
              </a:rPr>
              <a:t>CK</a:t>
            </a:r>
            <a:r>
              <a:rPr sz="2400" b="1" spc="5" dirty="0">
                <a:latin typeface="微软雅黑"/>
                <a:cs typeface="微软雅黑"/>
              </a:rPr>
              <a:t>_</a:t>
            </a:r>
            <a:r>
              <a:rPr sz="2400" b="1" spc="-5" dirty="0">
                <a:latin typeface="微软雅黑"/>
                <a:cs typeface="微软雅黑"/>
              </a:rPr>
              <a:t>P</a:t>
            </a:r>
            <a:r>
              <a:rPr sz="2400" b="1" spc="-15" dirty="0">
                <a:latin typeface="微软雅黑"/>
                <a:cs typeface="微软雅黑"/>
              </a:rPr>
              <a:t>S</a:t>
            </a:r>
            <a:r>
              <a:rPr sz="2400" b="1" spc="5" dirty="0">
                <a:latin typeface="微软雅黑"/>
                <a:cs typeface="微软雅黑"/>
              </a:rPr>
              <a:t>C</a:t>
            </a:r>
            <a:r>
              <a:rPr sz="2400" b="1" spc="-5" dirty="0">
                <a:latin typeface="微软雅黑"/>
                <a:cs typeface="微软雅黑"/>
              </a:rPr>
              <a:t>进行分频</a:t>
            </a:r>
            <a:endParaRPr sz="2400">
              <a:latin typeface="微软雅黑"/>
              <a:cs typeface="微软雅黑"/>
            </a:endParaRPr>
          </a:p>
        </p:txBody>
      </p:sp>
      <p:sp>
        <p:nvSpPr>
          <p:cNvPr id="24" name="object 24"/>
          <p:cNvSpPr/>
          <p:nvPr/>
        </p:nvSpPr>
        <p:spPr>
          <a:xfrm>
            <a:off x="5194553" y="3089910"/>
            <a:ext cx="4874260" cy="565785"/>
          </a:xfrm>
          <a:custGeom>
            <a:avLst/>
            <a:gdLst/>
            <a:ahLst/>
            <a:cxnLst/>
            <a:rect l="l" t="t" r="r" b="b"/>
            <a:pathLst>
              <a:path w="4874259" h="565785">
                <a:moveTo>
                  <a:pt x="0" y="65024"/>
                </a:moveTo>
                <a:lnTo>
                  <a:pt x="13396" y="25463"/>
                </a:lnTo>
                <a:lnTo>
                  <a:pt x="47263" y="2450"/>
                </a:lnTo>
                <a:lnTo>
                  <a:pt x="4808728" y="0"/>
                </a:lnTo>
                <a:lnTo>
                  <a:pt x="4823168" y="1605"/>
                </a:lnTo>
                <a:lnTo>
                  <a:pt x="4858266" y="22879"/>
                </a:lnTo>
                <a:lnTo>
                  <a:pt x="4873656" y="61462"/>
                </a:lnTo>
                <a:lnTo>
                  <a:pt x="4873752" y="500379"/>
                </a:lnTo>
                <a:lnTo>
                  <a:pt x="4872146" y="514820"/>
                </a:lnTo>
                <a:lnTo>
                  <a:pt x="4850872" y="549918"/>
                </a:lnTo>
                <a:lnTo>
                  <a:pt x="4812289" y="565308"/>
                </a:lnTo>
                <a:lnTo>
                  <a:pt x="65024" y="565403"/>
                </a:lnTo>
                <a:lnTo>
                  <a:pt x="50583" y="563798"/>
                </a:lnTo>
                <a:lnTo>
                  <a:pt x="15485" y="542524"/>
                </a:lnTo>
                <a:lnTo>
                  <a:pt x="95" y="503941"/>
                </a:lnTo>
                <a:lnTo>
                  <a:pt x="0" y="65024"/>
                </a:lnTo>
                <a:close/>
              </a:path>
            </a:pathLst>
          </a:custGeom>
          <a:ln w="28956">
            <a:solidFill>
              <a:srgbClr val="5B9BD4"/>
            </a:solidFill>
          </a:ln>
        </p:spPr>
        <p:txBody>
          <a:bodyPr wrap="square" lIns="0" tIns="0" rIns="0" bIns="0" rtlCol="0"/>
          <a:lstStyle/>
          <a:p>
            <a:endParaRPr/>
          </a:p>
        </p:txBody>
      </p:sp>
      <p:sp>
        <p:nvSpPr>
          <p:cNvPr id="25" name="object 25"/>
          <p:cNvSpPr txBox="1"/>
          <p:nvPr/>
        </p:nvSpPr>
        <p:spPr>
          <a:xfrm>
            <a:off x="5282946" y="3244204"/>
            <a:ext cx="4561840"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a:t>
            </a:r>
            <a:r>
              <a:rPr sz="2400" b="1" dirty="0">
                <a:latin typeface="微软雅黑"/>
                <a:cs typeface="微软雅黑"/>
              </a:rPr>
              <a:t>Mx_PSC：设置预分频系数</a:t>
            </a:r>
            <a:r>
              <a:rPr sz="2400" b="1" spc="-10" dirty="0">
                <a:latin typeface="微软雅黑"/>
                <a:cs typeface="微软雅黑"/>
              </a:rPr>
              <a:t>PSC</a:t>
            </a:r>
            <a:endParaRPr sz="2400">
              <a:latin typeface="微软雅黑"/>
              <a:cs typeface="微软雅黑"/>
            </a:endParaRPr>
          </a:p>
        </p:txBody>
      </p:sp>
      <p:sp>
        <p:nvSpPr>
          <p:cNvPr id="26" name="object 26"/>
          <p:cNvSpPr/>
          <p:nvPr/>
        </p:nvSpPr>
        <p:spPr>
          <a:xfrm>
            <a:off x="4587240" y="2205227"/>
            <a:ext cx="407034" cy="213360"/>
          </a:xfrm>
          <a:custGeom>
            <a:avLst/>
            <a:gdLst/>
            <a:ahLst/>
            <a:cxnLst/>
            <a:rect l="l" t="t" r="r" b="b"/>
            <a:pathLst>
              <a:path w="407035" h="213360">
                <a:moveTo>
                  <a:pt x="300227" y="0"/>
                </a:moveTo>
                <a:lnTo>
                  <a:pt x="300227" y="53339"/>
                </a:lnTo>
                <a:lnTo>
                  <a:pt x="0" y="53339"/>
                </a:lnTo>
                <a:lnTo>
                  <a:pt x="0" y="160020"/>
                </a:lnTo>
                <a:lnTo>
                  <a:pt x="300227" y="160020"/>
                </a:lnTo>
                <a:lnTo>
                  <a:pt x="300227" y="213360"/>
                </a:lnTo>
                <a:lnTo>
                  <a:pt x="406908" y="106680"/>
                </a:lnTo>
                <a:lnTo>
                  <a:pt x="300227" y="0"/>
                </a:lnTo>
                <a:close/>
              </a:path>
            </a:pathLst>
          </a:custGeom>
          <a:solidFill>
            <a:srgbClr val="FF0000"/>
          </a:solidFill>
        </p:spPr>
        <p:txBody>
          <a:bodyPr wrap="square" lIns="0" tIns="0" rIns="0" bIns="0" rtlCol="0"/>
          <a:lstStyle/>
          <a:p>
            <a:endParaRPr/>
          </a:p>
        </p:txBody>
      </p:sp>
      <p:sp>
        <p:nvSpPr>
          <p:cNvPr id="27" name="object 27"/>
          <p:cNvSpPr/>
          <p:nvPr/>
        </p:nvSpPr>
        <p:spPr>
          <a:xfrm>
            <a:off x="4587240" y="2205227"/>
            <a:ext cx="407034" cy="213360"/>
          </a:xfrm>
          <a:custGeom>
            <a:avLst/>
            <a:gdLst/>
            <a:ahLst/>
            <a:cxnLst/>
            <a:rect l="l" t="t" r="r" b="b"/>
            <a:pathLst>
              <a:path w="407035" h="213360">
                <a:moveTo>
                  <a:pt x="0" y="53339"/>
                </a:moveTo>
                <a:lnTo>
                  <a:pt x="300227" y="53339"/>
                </a:lnTo>
                <a:lnTo>
                  <a:pt x="300227" y="0"/>
                </a:lnTo>
                <a:lnTo>
                  <a:pt x="406908" y="106680"/>
                </a:lnTo>
                <a:lnTo>
                  <a:pt x="300227" y="213360"/>
                </a:lnTo>
                <a:lnTo>
                  <a:pt x="300227" y="160020"/>
                </a:lnTo>
                <a:lnTo>
                  <a:pt x="0" y="160020"/>
                </a:lnTo>
                <a:lnTo>
                  <a:pt x="0" y="53339"/>
                </a:lnTo>
                <a:close/>
              </a:path>
            </a:pathLst>
          </a:custGeom>
          <a:ln w="12191">
            <a:solidFill>
              <a:srgbClr val="41709C"/>
            </a:solidFill>
          </a:ln>
        </p:spPr>
        <p:txBody>
          <a:bodyPr wrap="square" lIns="0" tIns="0" rIns="0" bIns="0" rtlCol="0"/>
          <a:lstStyle/>
          <a:p>
            <a:endParaRPr/>
          </a:p>
        </p:txBody>
      </p:sp>
      <p:sp>
        <p:nvSpPr>
          <p:cNvPr id="28" name="object 28"/>
          <p:cNvSpPr/>
          <p:nvPr/>
        </p:nvSpPr>
        <p:spPr>
          <a:xfrm>
            <a:off x="4587240" y="3265932"/>
            <a:ext cx="407034" cy="212090"/>
          </a:xfrm>
          <a:custGeom>
            <a:avLst/>
            <a:gdLst/>
            <a:ahLst/>
            <a:cxnLst/>
            <a:rect l="l" t="t" r="r" b="b"/>
            <a:pathLst>
              <a:path w="407035" h="212089">
                <a:moveTo>
                  <a:pt x="300989" y="0"/>
                </a:moveTo>
                <a:lnTo>
                  <a:pt x="300989" y="52958"/>
                </a:lnTo>
                <a:lnTo>
                  <a:pt x="0" y="52958"/>
                </a:lnTo>
                <a:lnTo>
                  <a:pt x="0" y="158876"/>
                </a:lnTo>
                <a:lnTo>
                  <a:pt x="300989" y="158876"/>
                </a:lnTo>
                <a:lnTo>
                  <a:pt x="300989" y="211835"/>
                </a:lnTo>
                <a:lnTo>
                  <a:pt x="406908" y="105917"/>
                </a:lnTo>
                <a:lnTo>
                  <a:pt x="300989" y="0"/>
                </a:lnTo>
                <a:close/>
              </a:path>
            </a:pathLst>
          </a:custGeom>
          <a:solidFill>
            <a:srgbClr val="FF0000"/>
          </a:solidFill>
        </p:spPr>
        <p:txBody>
          <a:bodyPr wrap="square" lIns="0" tIns="0" rIns="0" bIns="0" rtlCol="0"/>
          <a:lstStyle/>
          <a:p>
            <a:endParaRPr/>
          </a:p>
        </p:txBody>
      </p:sp>
      <p:sp>
        <p:nvSpPr>
          <p:cNvPr id="29" name="object 29"/>
          <p:cNvSpPr/>
          <p:nvPr/>
        </p:nvSpPr>
        <p:spPr>
          <a:xfrm>
            <a:off x="4587240" y="3265932"/>
            <a:ext cx="407034" cy="212090"/>
          </a:xfrm>
          <a:custGeom>
            <a:avLst/>
            <a:gdLst/>
            <a:ahLst/>
            <a:cxnLst/>
            <a:rect l="l" t="t" r="r" b="b"/>
            <a:pathLst>
              <a:path w="407035" h="212089">
                <a:moveTo>
                  <a:pt x="0" y="52958"/>
                </a:moveTo>
                <a:lnTo>
                  <a:pt x="300989" y="52958"/>
                </a:lnTo>
                <a:lnTo>
                  <a:pt x="300989" y="0"/>
                </a:lnTo>
                <a:lnTo>
                  <a:pt x="406908" y="105917"/>
                </a:lnTo>
                <a:lnTo>
                  <a:pt x="300989" y="211835"/>
                </a:lnTo>
                <a:lnTo>
                  <a:pt x="300989" y="158876"/>
                </a:lnTo>
                <a:lnTo>
                  <a:pt x="0" y="158876"/>
                </a:lnTo>
                <a:lnTo>
                  <a:pt x="0" y="52958"/>
                </a:lnTo>
                <a:close/>
              </a:path>
            </a:pathLst>
          </a:custGeom>
          <a:ln w="12192">
            <a:solidFill>
              <a:srgbClr val="41709C"/>
            </a:solidFill>
          </a:ln>
        </p:spPr>
        <p:txBody>
          <a:bodyPr wrap="square" lIns="0" tIns="0" rIns="0" bIns="0" rtlCol="0"/>
          <a:lstStyle/>
          <a:p>
            <a:endParaRPr/>
          </a:p>
        </p:txBody>
      </p:sp>
      <p:sp>
        <p:nvSpPr>
          <p:cNvPr id="30" name="object 30"/>
          <p:cNvSpPr/>
          <p:nvPr/>
        </p:nvSpPr>
        <p:spPr>
          <a:xfrm>
            <a:off x="579881" y="5026914"/>
            <a:ext cx="5303520" cy="1249680"/>
          </a:xfrm>
          <a:custGeom>
            <a:avLst/>
            <a:gdLst/>
            <a:ahLst/>
            <a:cxnLst/>
            <a:rect l="l" t="t" r="r" b="b"/>
            <a:pathLst>
              <a:path w="5303520" h="1249679">
                <a:moveTo>
                  <a:pt x="5095240" y="0"/>
                </a:moveTo>
                <a:lnTo>
                  <a:pt x="208280" y="0"/>
                </a:lnTo>
                <a:lnTo>
                  <a:pt x="191198" y="690"/>
                </a:lnTo>
                <a:lnTo>
                  <a:pt x="142449" y="10615"/>
                </a:lnTo>
                <a:lnTo>
                  <a:pt x="98569" y="31197"/>
                </a:lnTo>
                <a:lnTo>
                  <a:pt x="61006" y="60991"/>
                </a:lnTo>
                <a:lnTo>
                  <a:pt x="31206" y="98552"/>
                </a:lnTo>
                <a:lnTo>
                  <a:pt x="10618" y="142435"/>
                </a:lnTo>
                <a:lnTo>
                  <a:pt x="690" y="191193"/>
                </a:lnTo>
                <a:lnTo>
                  <a:pt x="0" y="208280"/>
                </a:lnTo>
                <a:lnTo>
                  <a:pt x="0" y="1041400"/>
                </a:lnTo>
                <a:lnTo>
                  <a:pt x="6053" y="1091450"/>
                </a:lnTo>
                <a:lnTo>
                  <a:pt x="23248" y="1137114"/>
                </a:lnTo>
                <a:lnTo>
                  <a:pt x="50138" y="1176943"/>
                </a:lnTo>
                <a:lnTo>
                  <a:pt x="85275" y="1209492"/>
                </a:lnTo>
                <a:lnTo>
                  <a:pt x="127210" y="1233311"/>
                </a:lnTo>
                <a:lnTo>
                  <a:pt x="174497" y="1246953"/>
                </a:lnTo>
                <a:lnTo>
                  <a:pt x="208280" y="1249680"/>
                </a:lnTo>
                <a:lnTo>
                  <a:pt x="5095240" y="1249680"/>
                </a:lnTo>
                <a:lnTo>
                  <a:pt x="5145302" y="1243626"/>
                </a:lnTo>
                <a:lnTo>
                  <a:pt x="5190970" y="1226431"/>
                </a:lnTo>
                <a:lnTo>
                  <a:pt x="5230799" y="1199541"/>
                </a:lnTo>
                <a:lnTo>
                  <a:pt x="5263343" y="1164404"/>
                </a:lnTo>
                <a:lnTo>
                  <a:pt x="5287156" y="1122469"/>
                </a:lnTo>
                <a:lnTo>
                  <a:pt x="5300794" y="1075182"/>
                </a:lnTo>
                <a:lnTo>
                  <a:pt x="5303520" y="1041400"/>
                </a:lnTo>
                <a:lnTo>
                  <a:pt x="5303520" y="208280"/>
                </a:lnTo>
                <a:lnTo>
                  <a:pt x="5297468" y="158217"/>
                </a:lnTo>
                <a:lnTo>
                  <a:pt x="5280278" y="112549"/>
                </a:lnTo>
                <a:lnTo>
                  <a:pt x="5253394" y="72720"/>
                </a:lnTo>
                <a:lnTo>
                  <a:pt x="5218261" y="40176"/>
                </a:lnTo>
                <a:lnTo>
                  <a:pt x="5176325" y="16363"/>
                </a:lnTo>
                <a:lnTo>
                  <a:pt x="5129031" y="2725"/>
                </a:lnTo>
                <a:lnTo>
                  <a:pt x="5095240" y="0"/>
                </a:lnTo>
                <a:close/>
              </a:path>
            </a:pathLst>
          </a:custGeom>
          <a:solidFill>
            <a:srgbClr val="FFFFC7"/>
          </a:solidFill>
        </p:spPr>
        <p:txBody>
          <a:bodyPr wrap="square" lIns="0" tIns="0" rIns="0" bIns="0" rtlCol="0"/>
          <a:lstStyle/>
          <a:p>
            <a:endParaRPr/>
          </a:p>
        </p:txBody>
      </p:sp>
      <p:sp>
        <p:nvSpPr>
          <p:cNvPr id="31" name="object 31"/>
          <p:cNvSpPr/>
          <p:nvPr/>
        </p:nvSpPr>
        <p:spPr>
          <a:xfrm>
            <a:off x="579881" y="5026914"/>
            <a:ext cx="5303520" cy="1249680"/>
          </a:xfrm>
          <a:custGeom>
            <a:avLst/>
            <a:gdLst/>
            <a:ahLst/>
            <a:cxnLst/>
            <a:rect l="l" t="t" r="r" b="b"/>
            <a:pathLst>
              <a:path w="5303520" h="1249679">
                <a:moveTo>
                  <a:pt x="0" y="208280"/>
                </a:moveTo>
                <a:lnTo>
                  <a:pt x="6053" y="158217"/>
                </a:lnTo>
                <a:lnTo>
                  <a:pt x="23248" y="112549"/>
                </a:lnTo>
                <a:lnTo>
                  <a:pt x="50138" y="72720"/>
                </a:lnTo>
                <a:lnTo>
                  <a:pt x="85275" y="40176"/>
                </a:lnTo>
                <a:lnTo>
                  <a:pt x="127210" y="16363"/>
                </a:lnTo>
                <a:lnTo>
                  <a:pt x="174497" y="2725"/>
                </a:lnTo>
                <a:lnTo>
                  <a:pt x="208280" y="0"/>
                </a:lnTo>
                <a:lnTo>
                  <a:pt x="883920" y="0"/>
                </a:lnTo>
                <a:lnTo>
                  <a:pt x="2209800" y="0"/>
                </a:lnTo>
                <a:lnTo>
                  <a:pt x="5095240" y="0"/>
                </a:lnTo>
                <a:lnTo>
                  <a:pt x="5112326" y="690"/>
                </a:lnTo>
                <a:lnTo>
                  <a:pt x="5161084" y="10615"/>
                </a:lnTo>
                <a:lnTo>
                  <a:pt x="5204967" y="31197"/>
                </a:lnTo>
                <a:lnTo>
                  <a:pt x="5242528" y="60991"/>
                </a:lnTo>
                <a:lnTo>
                  <a:pt x="5272322" y="98552"/>
                </a:lnTo>
                <a:lnTo>
                  <a:pt x="5292904" y="142435"/>
                </a:lnTo>
                <a:lnTo>
                  <a:pt x="5302829" y="191193"/>
                </a:lnTo>
                <a:lnTo>
                  <a:pt x="5303520" y="208280"/>
                </a:lnTo>
                <a:lnTo>
                  <a:pt x="5303520" y="520700"/>
                </a:lnTo>
                <a:lnTo>
                  <a:pt x="5303520" y="1041400"/>
                </a:lnTo>
                <a:lnTo>
                  <a:pt x="5302829" y="1058481"/>
                </a:lnTo>
                <a:lnTo>
                  <a:pt x="5292904" y="1107230"/>
                </a:lnTo>
                <a:lnTo>
                  <a:pt x="5272322" y="1151110"/>
                </a:lnTo>
                <a:lnTo>
                  <a:pt x="5242528" y="1188673"/>
                </a:lnTo>
                <a:lnTo>
                  <a:pt x="5204967" y="1218473"/>
                </a:lnTo>
                <a:lnTo>
                  <a:pt x="5161084" y="1239061"/>
                </a:lnTo>
                <a:lnTo>
                  <a:pt x="5112326" y="1248989"/>
                </a:lnTo>
                <a:lnTo>
                  <a:pt x="5095240" y="1249680"/>
                </a:lnTo>
                <a:lnTo>
                  <a:pt x="2209800" y="1249680"/>
                </a:lnTo>
                <a:lnTo>
                  <a:pt x="883920" y="1249680"/>
                </a:lnTo>
                <a:lnTo>
                  <a:pt x="208280" y="1249680"/>
                </a:lnTo>
                <a:lnTo>
                  <a:pt x="191198" y="1248989"/>
                </a:lnTo>
                <a:lnTo>
                  <a:pt x="142449" y="1239061"/>
                </a:lnTo>
                <a:lnTo>
                  <a:pt x="98569" y="1218473"/>
                </a:lnTo>
                <a:lnTo>
                  <a:pt x="61006" y="1188673"/>
                </a:lnTo>
                <a:lnTo>
                  <a:pt x="31206" y="1151110"/>
                </a:lnTo>
                <a:lnTo>
                  <a:pt x="10618" y="1107230"/>
                </a:lnTo>
                <a:lnTo>
                  <a:pt x="690" y="1058481"/>
                </a:lnTo>
                <a:lnTo>
                  <a:pt x="0" y="1041400"/>
                </a:lnTo>
                <a:lnTo>
                  <a:pt x="0" y="520700"/>
                </a:lnTo>
                <a:lnTo>
                  <a:pt x="0" y="414909"/>
                </a:lnTo>
                <a:lnTo>
                  <a:pt x="0" y="208280"/>
                </a:lnTo>
                <a:close/>
              </a:path>
            </a:pathLst>
          </a:custGeom>
          <a:ln w="28956">
            <a:solidFill>
              <a:srgbClr val="000000"/>
            </a:solidFill>
          </a:ln>
        </p:spPr>
        <p:txBody>
          <a:bodyPr wrap="square" lIns="0" tIns="0" rIns="0" bIns="0" rtlCol="0"/>
          <a:lstStyle/>
          <a:p>
            <a:endParaRPr/>
          </a:p>
        </p:txBody>
      </p:sp>
      <p:sp>
        <p:nvSpPr>
          <p:cNvPr id="32" name="object 32"/>
          <p:cNvSpPr txBox="1"/>
          <p:nvPr/>
        </p:nvSpPr>
        <p:spPr>
          <a:xfrm>
            <a:off x="719124" y="5121846"/>
            <a:ext cx="5013960" cy="1097915"/>
          </a:xfrm>
          <a:prstGeom prst="rect">
            <a:avLst/>
          </a:prstGeom>
        </p:spPr>
        <p:txBody>
          <a:bodyPr vert="horz" wrap="square" lIns="0" tIns="0" rIns="0" bIns="0" rtlCol="0">
            <a:spAutoFit/>
          </a:bodyPr>
          <a:lstStyle/>
          <a:p>
            <a:pPr marL="12700" marR="5080" algn="just">
              <a:lnSpc>
                <a:spcPct val="100000"/>
              </a:lnSpc>
            </a:pPr>
            <a:r>
              <a:rPr sz="2400" b="1" spc="-5" dirty="0">
                <a:latin typeface="Consolas"/>
                <a:cs typeface="Consolas"/>
              </a:rPr>
              <a:t>TIM_CLK</a:t>
            </a:r>
            <a:r>
              <a:rPr sz="2400" b="1" dirty="0">
                <a:latin typeface="宋体"/>
                <a:cs typeface="宋体"/>
              </a:rPr>
              <a:t>为</a:t>
            </a:r>
            <a:r>
              <a:rPr sz="2400" b="1" spc="-5" dirty="0">
                <a:latin typeface="Consolas"/>
                <a:cs typeface="Consolas"/>
              </a:rPr>
              <a:t>100MH</a:t>
            </a:r>
            <a:r>
              <a:rPr sz="2400" b="1" spc="5" dirty="0">
                <a:latin typeface="Consolas"/>
                <a:cs typeface="Consolas"/>
              </a:rPr>
              <a:t>z</a:t>
            </a:r>
            <a:r>
              <a:rPr sz="2400" b="1" dirty="0">
                <a:latin typeface="宋体"/>
                <a:cs typeface="宋体"/>
              </a:rPr>
              <a:t>，</a:t>
            </a:r>
            <a:r>
              <a:rPr sz="2400" b="1" spc="-5" dirty="0">
                <a:latin typeface="Consolas"/>
                <a:cs typeface="Consolas"/>
              </a:rPr>
              <a:t>16</a:t>
            </a:r>
            <a:r>
              <a:rPr sz="2400" b="1" spc="-5" dirty="0">
                <a:latin typeface="宋体"/>
                <a:cs typeface="宋体"/>
              </a:rPr>
              <a:t>位定</a:t>
            </a:r>
            <a:r>
              <a:rPr sz="2400" b="1" spc="5" dirty="0">
                <a:latin typeface="宋体"/>
                <a:cs typeface="宋体"/>
              </a:rPr>
              <a:t>时</a:t>
            </a:r>
            <a:r>
              <a:rPr sz="2400" b="1" spc="-5" dirty="0">
                <a:latin typeface="宋体"/>
                <a:cs typeface="宋体"/>
              </a:rPr>
              <a:t>器的</a:t>
            </a:r>
            <a:r>
              <a:rPr sz="2400" b="1" spc="-10" dirty="0">
                <a:latin typeface="宋体"/>
                <a:cs typeface="宋体"/>
              </a:rPr>
              <a:t>最</a:t>
            </a:r>
            <a:r>
              <a:rPr sz="2400" b="1" spc="-5" dirty="0">
                <a:latin typeface="宋体"/>
                <a:cs typeface="宋体"/>
              </a:rPr>
              <a:t> </a:t>
            </a:r>
            <a:r>
              <a:rPr sz="2400" b="1" dirty="0">
                <a:latin typeface="宋体"/>
                <a:cs typeface="宋体"/>
              </a:rPr>
              <a:t>大定时时间为</a:t>
            </a:r>
            <a:r>
              <a:rPr sz="2400" b="1" spc="-5" dirty="0">
                <a:latin typeface="Consolas"/>
                <a:cs typeface="Consolas"/>
              </a:rPr>
              <a:t>0.65ms</a:t>
            </a:r>
            <a:r>
              <a:rPr sz="2400" b="1" dirty="0">
                <a:latin typeface="宋体"/>
                <a:cs typeface="宋体"/>
              </a:rPr>
              <a:t>，经过预分频以 </a:t>
            </a:r>
            <a:r>
              <a:rPr sz="2400" b="1" spc="-5" dirty="0">
                <a:latin typeface="宋体"/>
                <a:cs typeface="宋体"/>
              </a:rPr>
              <a:t>后，可以降低计数时</a:t>
            </a:r>
            <a:r>
              <a:rPr sz="2400" b="1" dirty="0">
                <a:latin typeface="宋体"/>
                <a:cs typeface="宋体"/>
              </a:rPr>
              <a:t>钟</a:t>
            </a:r>
            <a:r>
              <a:rPr sz="2400" b="1" spc="-5" dirty="0">
                <a:latin typeface="Consolas"/>
                <a:cs typeface="Consolas"/>
              </a:rPr>
              <a:t>CK_CNT</a:t>
            </a:r>
            <a:r>
              <a:rPr sz="2400" b="1" spc="-5" dirty="0">
                <a:latin typeface="宋体"/>
                <a:cs typeface="宋体"/>
              </a:rPr>
              <a:t>的频率</a:t>
            </a:r>
            <a:endParaRPr sz="2400">
              <a:latin typeface="宋体"/>
              <a:cs typeface="宋体"/>
            </a:endParaRPr>
          </a:p>
        </p:txBody>
      </p:sp>
      <p:sp>
        <p:nvSpPr>
          <p:cNvPr id="33" name="object 33"/>
          <p:cNvSpPr txBox="1"/>
          <p:nvPr/>
        </p:nvSpPr>
        <p:spPr>
          <a:xfrm>
            <a:off x="950213" y="4066794"/>
            <a:ext cx="4563110" cy="638810"/>
          </a:xfrm>
          <a:prstGeom prst="rect">
            <a:avLst/>
          </a:prstGeom>
          <a:ln w="38100">
            <a:solidFill>
              <a:srgbClr val="E34A46"/>
            </a:solidFill>
          </a:ln>
        </p:spPr>
        <p:txBody>
          <a:bodyPr vert="horz" wrap="square" lIns="0" tIns="0" rIns="0" bIns="0" rtlCol="0">
            <a:spAutoFit/>
          </a:bodyPr>
          <a:lstStyle/>
          <a:p>
            <a:pPr marL="196850">
              <a:lnSpc>
                <a:spcPct val="100000"/>
              </a:lnSpc>
            </a:pPr>
            <a:r>
              <a:rPr sz="2400" b="1" dirty="0">
                <a:latin typeface="微软雅黑"/>
                <a:cs typeface="微软雅黑"/>
              </a:rPr>
              <a:t>作</a:t>
            </a:r>
            <a:r>
              <a:rPr sz="2400" b="1" spc="-5" dirty="0">
                <a:latin typeface="微软雅黑"/>
                <a:cs typeface="微软雅黑"/>
              </a:rPr>
              <a:t>用</a:t>
            </a:r>
            <a:r>
              <a:rPr sz="2400" b="1" spc="-10" dirty="0">
                <a:latin typeface="微软雅黑"/>
                <a:cs typeface="微软雅黑"/>
              </a:rPr>
              <a:t>1</a:t>
            </a:r>
            <a:r>
              <a:rPr sz="2400" b="1" dirty="0">
                <a:latin typeface="微软雅黑"/>
                <a:cs typeface="微软雅黑"/>
              </a:rPr>
              <a:t>：扩大定时器的定时范围</a:t>
            </a:r>
            <a:endParaRPr sz="2400">
              <a:latin typeface="微软雅黑"/>
              <a:cs typeface="微软雅黑"/>
            </a:endParaRPr>
          </a:p>
        </p:txBody>
      </p:sp>
      <p:sp>
        <p:nvSpPr>
          <p:cNvPr id="34" name="object 34"/>
          <p:cNvSpPr txBox="1"/>
          <p:nvPr/>
        </p:nvSpPr>
        <p:spPr>
          <a:xfrm>
            <a:off x="6796278" y="4066794"/>
            <a:ext cx="4561840" cy="638810"/>
          </a:xfrm>
          <a:prstGeom prst="rect">
            <a:avLst/>
          </a:prstGeom>
          <a:ln w="38099">
            <a:solidFill>
              <a:srgbClr val="E34A46"/>
            </a:solidFill>
          </a:ln>
        </p:spPr>
        <p:txBody>
          <a:bodyPr vert="horz" wrap="square" lIns="0" tIns="0" rIns="0" bIns="0" rtlCol="0">
            <a:spAutoFit/>
          </a:bodyPr>
          <a:lstStyle/>
          <a:p>
            <a:pPr marL="177800">
              <a:lnSpc>
                <a:spcPct val="100000"/>
              </a:lnSpc>
            </a:pPr>
            <a:r>
              <a:rPr sz="2400" b="1" dirty="0">
                <a:latin typeface="微软雅黑"/>
                <a:cs typeface="微软雅黑"/>
              </a:rPr>
              <a:t>作用</a:t>
            </a:r>
            <a:r>
              <a:rPr sz="2400" b="1" spc="-10" dirty="0">
                <a:latin typeface="微软雅黑"/>
                <a:cs typeface="微软雅黑"/>
              </a:rPr>
              <a:t>2</a:t>
            </a:r>
            <a:r>
              <a:rPr sz="2400" b="1" dirty="0">
                <a:latin typeface="微软雅黑"/>
                <a:cs typeface="微软雅黑"/>
              </a:rPr>
              <a:t>：获取精确的计数时钟</a:t>
            </a:r>
            <a:endParaRPr sz="2400">
              <a:latin typeface="微软雅黑"/>
              <a:cs typeface="微软雅黑"/>
            </a:endParaRPr>
          </a:p>
        </p:txBody>
      </p:sp>
      <p:sp>
        <p:nvSpPr>
          <p:cNvPr id="35" name="object 35"/>
          <p:cNvSpPr/>
          <p:nvPr/>
        </p:nvSpPr>
        <p:spPr>
          <a:xfrm>
            <a:off x="6424421" y="5026914"/>
            <a:ext cx="5189220" cy="1249680"/>
          </a:xfrm>
          <a:custGeom>
            <a:avLst/>
            <a:gdLst/>
            <a:ahLst/>
            <a:cxnLst/>
            <a:rect l="l" t="t" r="r" b="b"/>
            <a:pathLst>
              <a:path w="5189220" h="1249679">
                <a:moveTo>
                  <a:pt x="4980939" y="0"/>
                </a:moveTo>
                <a:lnTo>
                  <a:pt x="208279" y="0"/>
                </a:lnTo>
                <a:lnTo>
                  <a:pt x="191193" y="690"/>
                </a:lnTo>
                <a:lnTo>
                  <a:pt x="142435" y="10615"/>
                </a:lnTo>
                <a:lnTo>
                  <a:pt x="98552" y="31197"/>
                </a:lnTo>
                <a:lnTo>
                  <a:pt x="60991" y="60991"/>
                </a:lnTo>
                <a:lnTo>
                  <a:pt x="31197" y="98552"/>
                </a:lnTo>
                <a:lnTo>
                  <a:pt x="10615" y="142435"/>
                </a:lnTo>
                <a:lnTo>
                  <a:pt x="690" y="191193"/>
                </a:lnTo>
                <a:lnTo>
                  <a:pt x="0" y="208280"/>
                </a:lnTo>
                <a:lnTo>
                  <a:pt x="0" y="1041400"/>
                </a:lnTo>
                <a:lnTo>
                  <a:pt x="6051" y="1091450"/>
                </a:lnTo>
                <a:lnTo>
                  <a:pt x="23241" y="1137114"/>
                </a:lnTo>
                <a:lnTo>
                  <a:pt x="50125" y="1176943"/>
                </a:lnTo>
                <a:lnTo>
                  <a:pt x="85258" y="1209492"/>
                </a:lnTo>
                <a:lnTo>
                  <a:pt x="127194" y="1233311"/>
                </a:lnTo>
                <a:lnTo>
                  <a:pt x="174488" y="1246953"/>
                </a:lnTo>
                <a:lnTo>
                  <a:pt x="208279" y="1249680"/>
                </a:lnTo>
                <a:lnTo>
                  <a:pt x="4980939" y="1249680"/>
                </a:lnTo>
                <a:lnTo>
                  <a:pt x="5031002" y="1243626"/>
                </a:lnTo>
                <a:lnTo>
                  <a:pt x="5076670" y="1226431"/>
                </a:lnTo>
                <a:lnTo>
                  <a:pt x="5116499" y="1199541"/>
                </a:lnTo>
                <a:lnTo>
                  <a:pt x="5149043" y="1164404"/>
                </a:lnTo>
                <a:lnTo>
                  <a:pt x="5172856" y="1122469"/>
                </a:lnTo>
                <a:lnTo>
                  <a:pt x="5186494" y="1075182"/>
                </a:lnTo>
                <a:lnTo>
                  <a:pt x="5189220" y="1041400"/>
                </a:lnTo>
                <a:lnTo>
                  <a:pt x="5189220" y="208280"/>
                </a:lnTo>
                <a:lnTo>
                  <a:pt x="5183168" y="158217"/>
                </a:lnTo>
                <a:lnTo>
                  <a:pt x="5165978" y="112549"/>
                </a:lnTo>
                <a:lnTo>
                  <a:pt x="5139094" y="72720"/>
                </a:lnTo>
                <a:lnTo>
                  <a:pt x="5103961" y="40176"/>
                </a:lnTo>
                <a:lnTo>
                  <a:pt x="5062025" y="16363"/>
                </a:lnTo>
                <a:lnTo>
                  <a:pt x="5014731" y="2725"/>
                </a:lnTo>
                <a:lnTo>
                  <a:pt x="4980939" y="0"/>
                </a:lnTo>
                <a:close/>
              </a:path>
            </a:pathLst>
          </a:custGeom>
          <a:solidFill>
            <a:srgbClr val="FFFFC7"/>
          </a:solidFill>
        </p:spPr>
        <p:txBody>
          <a:bodyPr wrap="square" lIns="0" tIns="0" rIns="0" bIns="0" rtlCol="0"/>
          <a:lstStyle/>
          <a:p>
            <a:endParaRPr/>
          </a:p>
        </p:txBody>
      </p:sp>
      <p:sp>
        <p:nvSpPr>
          <p:cNvPr id="36" name="object 36"/>
          <p:cNvSpPr/>
          <p:nvPr/>
        </p:nvSpPr>
        <p:spPr>
          <a:xfrm>
            <a:off x="6424421" y="5026914"/>
            <a:ext cx="5189220" cy="1249680"/>
          </a:xfrm>
          <a:custGeom>
            <a:avLst/>
            <a:gdLst/>
            <a:ahLst/>
            <a:cxnLst/>
            <a:rect l="l" t="t" r="r" b="b"/>
            <a:pathLst>
              <a:path w="5189220" h="1249679">
                <a:moveTo>
                  <a:pt x="0" y="208280"/>
                </a:moveTo>
                <a:lnTo>
                  <a:pt x="6051" y="158217"/>
                </a:lnTo>
                <a:lnTo>
                  <a:pt x="23241" y="112549"/>
                </a:lnTo>
                <a:lnTo>
                  <a:pt x="50125" y="72720"/>
                </a:lnTo>
                <a:lnTo>
                  <a:pt x="85258" y="40176"/>
                </a:lnTo>
                <a:lnTo>
                  <a:pt x="127194" y="16363"/>
                </a:lnTo>
                <a:lnTo>
                  <a:pt x="174488" y="2725"/>
                </a:lnTo>
                <a:lnTo>
                  <a:pt x="208279" y="0"/>
                </a:lnTo>
                <a:lnTo>
                  <a:pt x="864870" y="0"/>
                </a:lnTo>
                <a:lnTo>
                  <a:pt x="2162175" y="0"/>
                </a:lnTo>
                <a:lnTo>
                  <a:pt x="4980939" y="0"/>
                </a:lnTo>
                <a:lnTo>
                  <a:pt x="4998026" y="690"/>
                </a:lnTo>
                <a:lnTo>
                  <a:pt x="5046784" y="10615"/>
                </a:lnTo>
                <a:lnTo>
                  <a:pt x="5090667" y="31197"/>
                </a:lnTo>
                <a:lnTo>
                  <a:pt x="5128228" y="60991"/>
                </a:lnTo>
                <a:lnTo>
                  <a:pt x="5158022" y="98552"/>
                </a:lnTo>
                <a:lnTo>
                  <a:pt x="5178604" y="142435"/>
                </a:lnTo>
                <a:lnTo>
                  <a:pt x="5188529" y="191193"/>
                </a:lnTo>
                <a:lnTo>
                  <a:pt x="5189220" y="208280"/>
                </a:lnTo>
                <a:lnTo>
                  <a:pt x="5189220" y="520700"/>
                </a:lnTo>
                <a:lnTo>
                  <a:pt x="5189220" y="1041400"/>
                </a:lnTo>
                <a:lnTo>
                  <a:pt x="5188529" y="1058481"/>
                </a:lnTo>
                <a:lnTo>
                  <a:pt x="5178604" y="1107230"/>
                </a:lnTo>
                <a:lnTo>
                  <a:pt x="5158022" y="1151110"/>
                </a:lnTo>
                <a:lnTo>
                  <a:pt x="5128228" y="1188673"/>
                </a:lnTo>
                <a:lnTo>
                  <a:pt x="5090667" y="1218473"/>
                </a:lnTo>
                <a:lnTo>
                  <a:pt x="5046784" y="1239061"/>
                </a:lnTo>
                <a:lnTo>
                  <a:pt x="4998026" y="1248989"/>
                </a:lnTo>
                <a:lnTo>
                  <a:pt x="4980939" y="1249680"/>
                </a:lnTo>
                <a:lnTo>
                  <a:pt x="2162175" y="1249680"/>
                </a:lnTo>
                <a:lnTo>
                  <a:pt x="864870" y="1249680"/>
                </a:lnTo>
                <a:lnTo>
                  <a:pt x="208279" y="1249680"/>
                </a:lnTo>
                <a:lnTo>
                  <a:pt x="191193" y="1248989"/>
                </a:lnTo>
                <a:lnTo>
                  <a:pt x="142435" y="1239061"/>
                </a:lnTo>
                <a:lnTo>
                  <a:pt x="98552" y="1218473"/>
                </a:lnTo>
                <a:lnTo>
                  <a:pt x="60991" y="1188673"/>
                </a:lnTo>
                <a:lnTo>
                  <a:pt x="31197" y="1151110"/>
                </a:lnTo>
                <a:lnTo>
                  <a:pt x="10615" y="1107230"/>
                </a:lnTo>
                <a:lnTo>
                  <a:pt x="690" y="1058481"/>
                </a:lnTo>
                <a:lnTo>
                  <a:pt x="0" y="1041400"/>
                </a:lnTo>
                <a:lnTo>
                  <a:pt x="0" y="520700"/>
                </a:lnTo>
                <a:lnTo>
                  <a:pt x="0" y="414909"/>
                </a:lnTo>
                <a:lnTo>
                  <a:pt x="0" y="208280"/>
                </a:lnTo>
                <a:close/>
              </a:path>
            </a:pathLst>
          </a:custGeom>
          <a:ln w="28956">
            <a:solidFill>
              <a:srgbClr val="000000"/>
            </a:solidFill>
          </a:ln>
        </p:spPr>
        <p:txBody>
          <a:bodyPr wrap="square" lIns="0" tIns="0" rIns="0" bIns="0" rtlCol="0"/>
          <a:lstStyle/>
          <a:p>
            <a:endParaRPr/>
          </a:p>
        </p:txBody>
      </p:sp>
      <p:sp>
        <p:nvSpPr>
          <p:cNvPr id="37" name="object 37"/>
          <p:cNvSpPr txBox="1"/>
          <p:nvPr/>
        </p:nvSpPr>
        <p:spPr>
          <a:xfrm>
            <a:off x="6564883" y="5121846"/>
            <a:ext cx="4794250" cy="1097915"/>
          </a:xfrm>
          <a:prstGeom prst="rect">
            <a:avLst/>
          </a:prstGeom>
        </p:spPr>
        <p:txBody>
          <a:bodyPr vert="horz" wrap="square" lIns="0" tIns="0" rIns="0" bIns="0" rtlCol="0">
            <a:spAutoFit/>
          </a:bodyPr>
          <a:lstStyle/>
          <a:p>
            <a:pPr marL="12700" marR="5080" algn="just">
              <a:lnSpc>
                <a:spcPct val="100000"/>
              </a:lnSpc>
            </a:pPr>
            <a:r>
              <a:rPr sz="2400" b="1" spc="-5" dirty="0">
                <a:latin typeface="Consolas"/>
                <a:cs typeface="Consolas"/>
              </a:rPr>
              <a:t>TIM_CLK</a:t>
            </a:r>
            <a:r>
              <a:rPr sz="2400" b="1" dirty="0">
                <a:latin typeface="宋体"/>
                <a:cs typeface="宋体"/>
              </a:rPr>
              <a:t>为</a:t>
            </a:r>
            <a:r>
              <a:rPr sz="2400" b="1" spc="-5" dirty="0">
                <a:latin typeface="Consolas"/>
                <a:cs typeface="Consolas"/>
              </a:rPr>
              <a:t>72MHz</a:t>
            </a:r>
            <a:r>
              <a:rPr sz="2400" b="1" dirty="0">
                <a:latin typeface="宋体"/>
                <a:cs typeface="宋体"/>
              </a:rPr>
              <a:t>，可以通过设置预 分频寄存器，使计数时</a:t>
            </a:r>
            <a:r>
              <a:rPr sz="2400" b="1" spc="0" dirty="0">
                <a:latin typeface="宋体"/>
                <a:cs typeface="宋体"/>
              </a:rPr>
              <a:t>钟</a:t>
            </a:r>
            <a:r>
              <a:rPr sz="2400" b="1" spc="-5" dirty="0">
                <a:latin typeface="Consolas"/>
                <a:cs typeface="Consolas"/>
              </a:rPr>
              <a:t>CK_CNT</a:t>
            </a:r>
            <a:r>
              <a:rPr sz="2400" b="1" spc="-10" dirty="0">
                <a:latin typeface="宋体"/>
                <a:cs typeface="宋体"/>
              </a:rPr>
              <a:t>变 </a:t>
            </a:r>
            <a:r>
              <a:rPr sz="2400" b="1" spc="-5" dirty="0">
                <a:latin typeface="宋体"/>
                <a:cs typeface="宋体"/>
              </a:rPr>
              <a:t>为</a:t>
            </a:r>
            <a:r>
              <a:rPr sz="2400" b="1" spc="-5" dirty="0">
                <a:latin typeface="Consolas"/>
                <a:cs typeface="Consolas"/>
              </a:rPr>
              <a:t>1MH</a:t>
            </a:r>
            <a:r>
              <a:rPr sz="2400" b="1" dirty="0">
                <a:latin typeface="Consolas"/>
                <a:cs typeface="Consolas"/>
              </a:rPr>
              <a:t>z</a:t>
            </a:r>
            <a:r>
              <a:rPr sz="2400" b="1" spc="-5" dirty="0">
                <a:latin typeface="宋体"/>
                <a:cs typeface="宋体"/>
              </a:rPr>
              <a:t>，从而获得精确的计数时钟</a:t>
            </a:r>
            <a:endParaRPr sz="2400">
              <a:latin typeface="宋体"/>
              <a:cs typeface="宋体"/>
            </a:endParaRPr>
          </a:p>
        </p:txBody>
      </p:sp>
      <p:sp>
        <p:nvSpPr>
          <p:cNvPr id="38" name="object 38"/>
          <p:cNvSpPr txBox="1"/>
          <p:nvPr/>
        </p:nvSpPr>
        <p:spPr>
          <a:xfrm>
            <a:off x="5144261" y="1141278"/>
            <a:ext cx="1800860"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预分频模块</a:t>
            </a:r>
            <a:endParaRPr sz="2800">
              <a:latin typeface="微软雅黑"/>
              <a:cs typeface="微软雅黑"/>
            </a:endParaRPr>
          </a:p>
        </p:txBody>
      </p:sp>
      <p:sp>
        <p:nvSpPr>
          <p:cNvPr id="39" name="object 39"/>
          <p:cNvSpPr/>
          <p:nvPr/>
        </p:nvSpPr>
        <p:spPr>
          <a:xfrm>
            <a:off x="9076181" y="918210"/>
            <a:ext cx="2956560" cy="934719"/>
          </a:xfrm>
          <a:custGeom>
            <a:avLst/>
            <a:gdLst/>
            <a:ahLst/>
            <a:cxnLst/>
            <a:rect l="l" t="t" r="r" b="b"/>
            <a:pathLst>
              <a:path w="2956559" h="934719">
                <a:moveTo>
                  <a:pt x="2800858" y="0"/>
                </a:moveTo>
                <a:lnTo>
                  <a:pt x="150688" y="79"/>
                </a:lnTo>
                <a:lnTo>
                  <a:pt x="108229" y="7372"/>
                </a:lnTo>
                <a:lnTo>
                  <a:pt x="70538" y="25340"/>
                </a:lnTo>
                <a:lnTo>
                  <a:pt x="39279" y="52322"/>
                </a:lnTo>
                <a:lnTo>
                  <a:pt x="16112" y="86656"/>
                </a:lnTo>
                <a:lnTo>
                  <a:pt x="2701" y="126679"/>
                </a:lnTo>
                <a:lnTo>
                  <a:pt x="0" y="155701"/>
                </a:lnTo>
                <a:lnTo>
                  <a:pt x="79" y="783523"/>
                </a:lnTo>
                <a:lnTo>
                  <a:pt x="7372" y="825982"/>
                </a:lnTo>
                <a:lnTo>
                  <a:pt x="25340" y="863673"/>
                </a:lnTo>
                <a:lnTo>
                  <a:pt x="52322" y="894932"/>
                </a:lnTo>
                <a:lnTo>
                  <a:pt x="86656" y="918099"/>
                </a:lnTo>
                <a:lnTo>
                  <a:pt x="126679" y="931510"/>
                </a:lnTo>
                <a:lnTo>
                  <a:pt x="155701" y="934212"/>
                </a:lnTo>
                <a:lnTo>
                  <a:pt x="2805871" y="934132"/>
                </a:lnTo>
                <a:lnTo>
                  <a:pt x="2848330" y="926839"/>
                </a:lnTo>
                <a:lnTo>
                  <a:pt x="2886021" y="908871"/>
                </a:lnTo>
                <a:lnTo>
                  <a:pt x="2917280" y="881889"/>
                </a:lnTo>
                <a:lnTo>
                  <a:pt x="2940447" y="847555"/>
                </a:lnTo>
                <a:lnTo>
                  <a:pt x="2953858" y="807532"/>
                </a:lnTo>
                <a:lnTo>
                  <a:pt x="2956560" y="778510"/>
                </a:lnTo>
                <a:lnTo>
                  <a:pt x="2956480" y="150688"/>
                </a:lnTo>
                <a:lnTo>
                  <a:pt x="2949187" y="108229"/>
                </a:lnTo>
                <a:lnTo>
                  <a:pt x="2931219" y="70538"/>
                </a:lnTo>
                <a:lnTo>
                  <a:pt x="2904237" y="39279"/>
                </a:lnTo>
                <a:lnTo>
                  <a:pt x="2869903" y="16112"/>
                </a:lnTo>
                <a:lnTo>
                  <a:pt x="2829880" y="2701"/>
                </a:lnTo>
                <a:lnTo>
                  <a:pt x="2800858" y="0"/>
                </a:lnTo>
                <a:close/>
              </a:path>
            </a:pathLst>
          </a:custGeom>
          <a:solidFill>
            <a:srgbClr val="FFFFC7"/>
          </a:solidFill>
        </p:spPr>
        <p:txBody>
          <a:bodyPr wrap="square" lIns="0" tIns="0" rIns="0" bIns="0" rtlCol="0"/>
          <a:lstStyle/>
          <a:p>
            <a:endParaRPr/>
          </a:p>
        </p:txBody>
      </p:sp>
      <p:sp>
        <p:nvSpPr>
          <p:cNvPr id="40" name="object 40"/>
          <p:cNvSpPr/>
          <p:nvPr/>
        </p:nvSpPr>
        <p:spPr>
          <a:xfrm>
            <a:off x="9076181" y="918210"/>
            <a:ext cx="2956560" cy="934719"/>
          </a:xfrm>
          <a:custGeom>
            <a:avLst/>
            <a:gdLst/>
            <a:ahLst/>
            <a:cxnLst/>
            <a:rect l="l" t="t" r="r" b="b"/>
            <a:pathLst>
              <a:path w="2956559" h="934719">
                <a:moveTo>
                  <a:pt x="0" y="155701"/>
                </a:moveTo>
                <a:lnTo>
                  <a:pt x="5985" y="112808"/>
                </a:lnTo>
                <a:lnTo>
                  <a:pt x="22833" y="74497"/>
                </a:lnTo>
                <a:lnTo>
                  <a:pt x="48881" y="42429"/>
                </a:lnTo>
                <a:lnTo>
                  <a:pt x="82469" y="18267"/>
                </a:lnTo>
                <a:lnTo>
                  <a:pt x="121934" y="3673"/>
                </a:lnTo>
                <a:lnTo>
                  <a:pt x="492760" y="0"/>
                </a:lnTo>
                <a:lnTo>
                  <a:pt x="1231900" y="0"/>
                </a:lnTo>
                <a:lnTo>
                  <a:pt x="2800858" y="0"/>
                </a:lnTo>
                <a:lnTo>
                  <a:pt x="2815562" y="685"/>
                </a:lnTo>
                <a:lnTo>
                  <a:pt x="2857112" y="10476"/>
                </a:lnTo>
                <a:lnTo>
                  <a:pt x="2893527" y="30575"/>
                </a:lnTo>
                <a:lnTo>
                  <a:pt x="2923144" y="59322"/>
                </a:lnTo>
                <a:lnTo>
                  <a:pt x="2944302" y="95053"/>
                </a:lnTo>
                <a:lnTo>
                  <a:pt x="2955338" y="136108"/>
                </a:lnTo>
                <a:lnTo>
                  <a:pt x="2956560" y="544956"/>
                </a:lnTo>
                <a:lnTo>
                  <a:pt x="2956560" y="778510"/>
                </a:lnTo>
                <a:lnTo>
                  <a:pt x="2955874" y="793214"/>
                </a:lnTo>
                <a:lnTo>
                  <a:pt x="2953858" y="807532"/>
                </a:lnTo>
                <a:lnTo>
                  <a:pt x="2940447" y="847555"/>
                </a:lnTo>
                <a:lnTo>
                  <a:pt x="2917280" y="881889"/>
                </a:lnTo>
                <a:lnTo>
                  <a:pt x="2886021" y="908871"/>
                </a:lnTo>
                <a:lnTo>
                  <a:pt x="2848330" y="926839"/>
                </a:lnTo>
                <a:lnTo>
                  <a:pt x="2805871" y="934132"/>
                </a:lnTo>
                <a:lnTo>
                  <a:pt x="1231900" y="934212"/>
                </a:lnTo>
                <a:lnTo>
                  <a:pt x="1034923" y="934212"/>
                </a:lnTo>
                <a:lnTo>
                  <a:pt x="492760" y="934212"/>
                </a:lnTo>
                <a:lnTo>
                  <a:pt x="155701" y="934212"/>
                </a:lnTo>
                <a:lnTo>
                  <a:pt x="140997" y="933526"/>
                </a:lnTo>
                <a:lnTo>
                  <a:pt x="99447" y="923735"/>
                </a:lnTo>
                <a:lnTo>
                  <a:pt x="63032" y="903636"/>
                </a:lnTo>
                <a:lnTo>
                  <a:pt x="33415" y="874889"/>
                </a:lnTo>
                <a:lnTo>
                  <a:pt x="12257" y="839158"/>
                </a:lnTo>
                <a:lnTo>
                  <a:pt x="1221" y="798103"/>
                </a:lnTo>
                <a:lnTo>
                  <a:pt x="0" y="778510"/>
                </a:lnTo>
                <a:lnTo>
                  <a:pt x="0" y="544956"/>
                </a:lnTo>
                <a:lnTo>
                  <a:pt x="0" y="155701"/>
                </a:lnTo>
                <a:close/>
              </a:path>
            </a:pathLst>
          </a:custGeom>
          <a:ln w="28956">
            <a:solidFill>
              <a:srgbClr val="000000"/>
            </a:solidFill>
          </a:ln>
        </p:spPr>
        <p:txBody>
          <a:bodyPr wrap="square" lIns="0" tIns="0" rIns="0" bIns="0" rtlCol="0"/>
          <a:lstStyle/>
          <a:p>
            <a:endParaRPr/>
          </a:p>
        </p:txBody>
      </p:sp>
      <p:sp>
        <p:nvSpPr>
          <p:cNvPr id="41" name="object 41"/>
          <p:cNvSpPr txBox="1">
            <a:spLocks noGrp="1"/>
          </p:cNvSpPr>
          <p:nvPr>
            <p:ph type="title"/>
          </p:nvPr>
        </p:nvSpPr>
        <p:spPr>
          <a:xfrm>
            <a:off x="9232518" y="1037526"/>
            <a:ext cx="2644140" cy="731520"/>
          </a:xfrm>
          <a:prstGeom prst="rect">
            <a:avLst/>
          </a:prstGeom>
        </p:spPr>
        <p:txBody>
          <a:bodyPr vert="horz" wrap="square" lIns="0" tIns="0" rIns="0" bIns="0" rtlCol="0">
            <a:spAutoFit/>
          </a:bodyPr>
          <a:lstStyle/>
          <a:p>
            <a:pPr marL="344805" marR="5080" indent="-332740">
              <a:lnSpc>
                <a:spcPct val="100000"/>
              </a:lnSpc>
            </a:pPr>
            <a:r>
              <a:rPr sz="2400" spc="-5" dirty="0">
                <a:latin typeface="Consolas"/>
                <a:cs typeface="Consolas"/>
              </a:rPr>
              <a:t>x</a:t>
            </a:r>
            <a:r>
              <a:rPr sz="2400" dirty="0">
                <a:latin typeface="宋体"/>
                <a:cs typeface="宋体"/>
              </a:rPr>
              <a:t>表示定时器的编号 如</a:t>
            </a:r>
            <a:r>
              <a:rPr sz="2400" spc="-5" dirty="0">
                <a:latin typeface="Consolas"/>
                <a:cs typeface="Consolas"/>
              </a:rPr>
              <a:t>TIM1</a:t>
            </a:r>
            <a:r>
              <a:rPr sz="2400" dirty="0">
                <a:latin typeface="宋体"/>
                <a:cs typeface="宋体"/>
              </a:rPr>
              <a:t>或</a:t>
            </a:r>
            <a:r>
              <a:rPr sz="2400" spc="-5" dirty="0">
                <a:latin typeface="Consolas"/>
                <a:cs typeface="Consolas"/>
              </a:rPr>
              <a:t>TIM2</a:t>
            </a:r>
            <a:endParaRPr sz="2400">
              <a:latin typeface="Consolas"/>
              <a:cs typeface="Consolas"/>
            </a:endParaRPr>
          </a:p>
        </p:txBody>
      </p:sp>
    </p:spTree>
    <p:extLst>
      <p:ext uri="{BB962C8B-B14F-4D97-AF65-F5344CB8AC3E}">
        <p14:creationId xmlns:p14="http://schemas.microsoft.com/office/powerpoint/2010/main" val="4079130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904494" y="2812542"/>
            <a:ext cx="10384790" cy="2202180"/>
          </a:xfrm>
          <a:custGeom>
            <a:avLst/>
            <a:gdLst/>
            <a:ahLst/>
            <a:cxnLst/>
            <a:rect l="l" t="t" r="r" b="b"/>
            <a:pathLst>
              <a:path w="10384790" h="2202179">
                <a:moveTo>
                  <a:pt x="0" y="2202179"/>
                </a:moveTo>
                <a:lnTo>
                  <a:pt x="10384536" y="2202179"/>
                </a:lnTo>
                <a:lnTo>
                  <a:pt x="10384536" y="0"/>
                </a:lnTo>
                <a:lnTo>
                  <a:pt x="0" y="0"/>
                </a:lnTo>
                <a:lnTo>
                  <a:pt x="0" y="2202179"/>
                </a:lnTo>
                <a:close/>
              </a:path>
            </a:pathLst>
          </a:custGeom>
          <a:ln w="38100">
            <a:solidFill>
              <a:srgbClr val="E34A46"/>
            </a:solidFill>
          </a:ln>
        </p:spPr>
        <p:txBody>
          <a:bodyPr wrap="square" lIns="0" tIns="0" rIns="0" bIns="0" rtlCol="0"/>
          <a:lstStyle/>
          <a:p>
            <a:endParaRPr/>
          </a:p>
        </p:txBody>
      </p:sp>
      <p:sp>
        <p:nvSpPr>
          <p:cNvPr id="9" name="object 9"/>
          <p:cNvSpPr/>
          <p:nvPr/>
        </p:nvSpPr>
        <p:spPr>
          <a:xfrm>
            <a:off x="5082540" y="2476500"/>
            <a:ext cx="2026920" cy="640080"/>
          </a:xfrm>
          <a:custGeom>
            <a:avLst/>
            <a:gdLst/>
            <a:ahLst/>
            <a:cxnLst/>
            <a:rect l="l" t="t" r="r" b="b"/>
            <a:pathLst>
              <a:path w="2026920" h="640080">
                <a:moveTo>
                  <a:pt x="0" y="640079"/>
                </a:moveTo>
                <a:lnTo>
                  <a:pt x="2026919" y="640079"/>
                </a:lnTo>
                <a:lnTo>
                  <a:pt x="2026919" y="0"/>
                </a:lnTo>
                <a:lnTo>
                  <a:pt x="0" y="0"/>
                </a:lnTo>
                <a:lnTo>
                  <a:pt x="0" y="640079"/>
                </a:lnTo>
                <a:close/>
              </a:path>
            </a:pathLst>
          </a:custGeom>
          <a:solidFill>
            <a:srgbClr val="E34A46"/>
          </a:solidFill>
        </p:spPr>
        <p:txBody>
          <a:bodyPr wrap="square" lIns="0" tIns="0" rIns="0" bIns="0" rtlCol="0"/>
          <a:lstStyle/>
          <a:p>
            <a:endParaRPr/>
          </a:p>
        </p:txBody>
      </p:sp>
      <p:sp>
        <p:nvSpPr>
          <p:cNvPr id="10" name="object 10"/>
          <p:cNvSpPr/>
          <p:nvPr/>
        </p:nvSpPr>
        <p:spPr>
          <a:xfrm>
            <a:off x="5082540" y="2476500"/>
            <a:ext cx="2026920" cy="640080"/>
          </a:xfrm>
          <a:custGeom>
            <a:avLst/>
            <a:gdLst/>
            <a:ahLst/>
            <a:cxnLst/>
            <a:rect l="l" t="t" r="r" b="b"/>
            <a:pathLst>
              <a:path w="2026920" h="640080">
                <a:moveTo>
                  <a:pt x="0" y="640079"/>
                </a:moveTo>
                <a:lnTo>
                  <a:pt x="2026919" y="640079"/>
                </a:lnTo>
                <a:lnTo>
                  <a:pt x="2026919" y="0"/>
                </a:lnTo>
                <a:lnTo>
                  <a:pt x="0" y="0"/>
                </a:lnTo>
                <a:lnTo>
                  <a:pt x="0" y="640079"/>
                </a:lnTo>
                <a:close/>
              </a:path>
            </a:pathLst>
          </a:custGeom>
          <a:ln w="12192">
            <a:solidFill>
              <a:srgbClr val="E34A46"/>
            </a:solidFill>
          </a:ln>
        </p:spPr>
        <p:txBody>
          <a:bodyPr wrap="square" lIns="0" tIns="0" rIns="0" bIns="0" rtlCol="0"/>
          <a:lstStyle/>
          <a:p>
            <a:endParaRPr/>
          </a:p>
        </p:txBody>
      </p:sp>
      <p:sp>
        <p:nvSpPr>
          <p:cNvPr id="11" name="object 11"/>
          <p:cNvSpPr txBox="1"/>
          <p:nvPr/>
        </p:nvSpPr>
        <p:spPr>
          <a:xfrm>
            <a:off x="1322069" y="2628067"/>
            <a:ext cx="9662160" cy="2209800"/>
          </a:xfrm>
          <a:prstGeom prst="rect">
            <a:avLst/>
          </a:prstGeom>
        </p:spPr>
        <p:txBody>
          <a:bodyPr vert="horz" wrap="square" lIns="0" tIns="0" rIns="0" bIns="0" rtlCol="0">
            <a:spAutoFit/>
          </a:bodyPr>
          <a:lstStyle/>
          <a:p>
            <a:pPr marL="12700" indent="4068445">
              <a:lnSpc>
                <a:spcPct val="100000"/>
              </a:lnSpc>
            </a:pPr>
            <a:r>
              <a:rPr sz="2800" b="1" spc="-5" dirty="0">
                <a:solidFill>
                  <a:srgbClr val="FFFFFF"/>
                </a:solidFill>
                <a:latin typeface="微软雅黑"/>
                <a:cs typeface="微软雅黑"/>
              </a:rPr>
              <a:t>工作原理</a:t>
            </a:r>
            <a:endParaRPr sz="2800">
              <a:latin typeface="微软雅黑"/>
              <a:cs typeface="微软雅黑"/>
            </a:endParaRPr>
          </a:p>
          <a:p>
            <a:pPr marL="12700" marR="5080" algn="just">
              <a:lnSpc>
                <a:spcPct val="150000"/>
              </a:lnSpc>
              <a:spcBef>
                <a:spcPts val="1435"/>
              </a:spcBef>
            </a:pPr>
            <a:r>
              <a:rPr sz="2400" b="1" dirty="0">
                <a:latin typeface="微软雅黑"/>
                <a:cs typeface="微软雅黑"/>
              </a:rPr>
              <a:t>定时器启动后，预分频计数器的初值为</a:t>
            </a:r>
            <a:r>
              <a:rPr sz="2400" b="1" spc="-10" dirty="0">
                <a:latin typeface="微软雅黑"/>
                <a:cs typeface="微软雅黑"/>
              </a:rPr>
              <a:t>0</a:t>
            </a:r>
            <a:r>
              <a:rPr sz="2400" b="1" dirty="0">
                <a:latin typeface="微软雅黑"/>
                <a:cs typeface="微软雅黑"/>
              </a:rPr>
              <a:t>，预分频时钟</a:t>
            </a:r>
            <a:r>
              <a:rPr sz="2400" b="1" spc="-5" dirty="0">
                <a:latin typeface="微软雅黑"/>
                <a:cs typeface="微软雅黑"/>
              </a:rPr>
              <a:t>C</a:t>
            </a:r>
            <a:r>
              <a:rPr sz="2400" b="1" spc="5" dirty="0">
                <a:latin typeface="微软雅黑"/>
                <a:cs typeface="微软雅黑"/>
              </a:rPr>
              <a:t>K</a:t>
            </a:r>
            <a:r>
              <a:rPr sz="2400" b="1" spc="-5" dirty="0">
                <a:latin typeface="微软雅黑"/>
                <a:cs typeface="微软雅黑"/>
              </a:rPr>
              <a:t>_PS</a:t>
            </a:r>
            <a:r>
              <a:rPr sz="2400" b="1" spc="5" dirty="0">
                <a:latin typeface="微软雅黑"/>
                <a:cs typeface="微软雅黑"/>
              </a:rPr>
              <a:t>C</a:t>
            </a:r>
            <a:r>
              <a:rPr sz="2400" b="1" dirty="0">
                <a:latin typeface="微软雅黑"/>
                <a:cs typeface="微软雅黑"/>
              </a:rPr>
              <a:t>每来一个 时钟，预分频计数器的值就加</a:t>
            </a:r>
            <a:r>
              <a:rPr sz="2400" b="1" spc="-10" dirty="0">
                <a:latin typeface="微软雅黑"/>
                <a:cs typeface="微软雅黑"/>
              </a:rPr>
              <a:t>1</a:t>
            </a:r>
            <a:r>
              <a:rPr sz="2400" b="1" dirty="0">
                <a:latin typeface="微软雅黑"/>
                <a:cs typeface="微软雅黑"/>
              </a:rPr>
              <a:t>。当计数值等于预分频寄存器所设定的预 </a:t>
            </a:r>
            <a:r>
              <a:rPr sz="2400" b="1" spc="-5" dirty="0">
                <a:latin typeface="微软雅黑"/>
                <a:cs typeface="微软雅黑"/>
              </a:rPr>
              <a:t>分频系数PS</a:t>
            </a:r>
            <a:r>
              <a:rPr sz="2400" b="1" dirty="0">
                <a:latin typeface="微软雅黑"/>
                <a:cs typeface="微软雅黑"/>
              </a:rPr>
              <a:t>C</a:t>
            </a:r>
            <a:r>
              <a:rPr sz="2400" b="1" spc="-5" dirty="0">
                <a:latin typeface="微软雅黑"/>
                <a:cs typeface="微软雅黑"/>
              </a:rPr>
              <a:t>时，预分频计数器的值将清零，开始下一轮计数。</a:t>
            </a:r>
            <a:endParaRPr sz="2400">
              <a:latin typeface="微软雅黑"/>
              <a:cs typeface="微软雅黑"/>
            </a:endParaRPr>
          </a:p>
        </p:txBody>
      </p:sp>
      <p:sp>
        <p:nvSpPr>
          <p:cNvPr id="12" name="object 12"/>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4" name="object 14"/>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6" name="object 16"/>
          <p:cNvSpPr txBox="1"/>
          <p:nvPr/>
        </p:nvSpPr>
        <p:spPr>
          <a:xfrm>
            <a:off x="207975" y="1187693"/>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预分频模块</a:t>
            </a:r>
            <a:endParaRPr sz="2400">
              <a:latin typeface="微软雅黑"/>
              <a:cs typeface="微软雅黑"/>
            </a:endParaRPr>
          </a:p>
        </p:txBody>
      </p:sp>
      <p:sp>
        <p:nvSpPr>
          <p:cNvPr id="17" name="object 17"/>
          <p:cNvSpPr txBox="1">
            <a:spLocks noGrp="1"/>
          </p:cNvSpPr>
          <p:nvPr>
            <p:ph type="title"/>
          </p:nvPr>
        </p:nvSpPr>
        <p:spPr>
          <a:prstGeom prst="rect">
            <a:avLst/>
          </a:prstGeom>
        </p:spPr>
        <p:txBody>
          <a:bodyPr vert="horz" wrap="square" lIns="0" tIns="0" rIns="0" bIns="0" rtlCol="0">
            <a:spAutoFit/>
          </a:bodyPr>
          <a:lstStyle/>
          <a:p>
            <a:pPr marL="4426585">
              <a:lnSpc>
                <a:spcPct val="100000"/>
              </a:lnSpc>
            </a:pPr>
            <a:r>
              <a:rPr spc="-5" dirty="0"/>
              <a:t>预分频模块工作原理</a:t>
            </a:r>
          </a:p>
        </p:txBody>
      </p:sp>
    </p:spTree>
    <p:extLst>
      <p:ext uri="{BB962C8B-B14F-4D97-AF65-F5344CB8AC3E}">
        <p14:creationId xmlns:p14="http://schemas.microsoft.com/office/powerpoint/2010/main" val="3152236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p:nvPr/>
        </p:nvSpPr>
        <p:spPr>
          <a:xfrm>
            <a:off x="3743325" y="5626333"/>
            <a:ext cx="8253095" cy="1160780"/>
          </a:xfrm>
          <a:prstGeom prst="rect">
            <a:avLst/>
          </a:prstGeom>
        </p:spPr>
        <p:txBody>
          <a:bodyPr vert="horz" wrap="square" lIns="0" tIns="0" rIns="0" bIns="0" rtlCol="0">
            <a:spAutoFit/>
          </a:bodyPr>
          <a:lstStyle/>
          <a:p>
            <a:pPr marL="12700">
              <a:lnSpc>
                <a:spcPct val="100000"/>
              </a:lnSpc>
              <a:tabLst>
                <a:tab pos="1988820" algn="l"/>
                <a:tab pos="4068445" algn="l"/>
              </a:tabLst>
            </a:pPr>
            <a:r>
              <a:rPr sz="2400" b="1" spc="-5" dirty="0">
                <a:latin typeface="宋体"/>
                <a:cs typeface="宋体"/>
              </a:rPr>
              <a:t>计数时</a:t>
            </a:r>
            <a:r>
              <a:rPr sz="2400" b="1" spc="-10" dirty="0">
                <a:latin typeface="宋体"/>
                <a:cs typeface="宋体"/>
              </a:rPr>
              <a:t>钟</a:t>
            </a:r>
            <a:r>
              <a:rPr sz="2400" b="1" dirty="0">
                <a:latin typeface="宋体"/>
                <a:cs typeface="宋体"/>
              </a:rPr>
              <a:t>	</a:t>
            </a:r>
            <a:r>
              <a:rPr sz="2400" b="1" spc="-5" dirty="0">
                <a:latin typeface="宋体"/>
                <a:cs typeface="宋体"/>
              </a:rPr>
              <a:t>预分频时</a:t>
            </a:r>
            <a:r>
              <a:rPr sz="2400" b="1" spc="-10" dirty="0">
                <a:latin typeface="宋体"/>
                <a:cs typeface="宋体"/>
              </a:rPr>
              <a:t>钟</a:t>
            </a:r>
            <a:r>
              <a:rPr sz="2400" b="1" dirty="0">
                <a:latin typeface="宋体"/>
                <a:cs typeface="宋体"/>
              </a:rPr>
              <a:t>	</a:t>
            </a:r>
            <a:r>
              <a:rPr sz="2400" b="1" spc="-5" dirty="0">
                <a:latin typeface="宋体"/>
                <a:cs typeface="宋体"/>
              </a:rPr>
              <a:t>预分频系数</a:t>
            </a:r>
            <a:endParaRPr sz="2400">
              <a:latin typeface="宋体"/>
              <a:cs typeface="宋体"/>
            </a:endParaRPr>
          </a:p>
          <a:p>
            <a:pPr marL="988060">
              <a:lnSpc>
                <a:spcPct val="100000"/>
              </a:lnSpc>
              <a:spcBef>
                <a:spcPts val="1500"/>
              </a:spcBef>
            </a:pPr>
            <a:r>
              <a:rPr sz="2400" b="1" spc="-5" dirty="0">
                <a:latin typeface="微软雅黑"/>
                <a:cs typeface="微软雅黑"/>
              </a:rPr>
              <a:t>C</a:t>
            </a:r>
            <a:r>
              <a:rPr sz="2400" b="1" spc="5" dirty="0">
                <a:latin typeface="微软雅黑"/>
                <a:cs typeface="微软雅黑"/>
              </a:rPr>
              <a:t>K</a:t>
            </a:r>
            <a:r>
              <a:rPr sz="2400" b="1" spc="-5" dirty="0">
                <a:latin typeface="微软雅黑"/>
                <a:cs typeface="微软雅黑"/>
              </a:rPr>
              <a:t>_</a:t>
            </a:r>
            <a:r>
              <a:rPr sz="2400" b="1" spc="5" dirty="0">
                <a:latin typeface="微软雅黑"/>
                <a:cs typeface="微软雅黑"/>
              </a:rPr>
              <a:t>C</a:t>
            </a:r>
            <a:r>
              <a:rPr sz="2400" b="1" spc="-5" dirty="0">
                <a:latin typeface="微软雅黑"/>
                <a:cs typeface="微软雅黑"/>
              </a:rPr>
              <a:t>N</a:t>
            </a:r>
            <a:r>
              <a:rPr sz="2400" b="1" dirty="0">
                <a:latin typeface="微软雅黑"/>
                <a:cs typeface="微软雅黑"/>
              </a:rPr>
              <a:t>T</a:t>
            </a:r>
            <a:r>
              <a:rPr sz="2400" b="1" spc="-30" dirty="0">
                <a:latin typeface="微软雅黑"/>
                <a:cs typeface="微软雅黑"/>
              </a:rPr>
              <a:t> </a:t>
            </a:r>
            <a:r>
              <a:rPr sz="2400" b="1" dirty="0">
                <a:latin typeface="微软雅黑"/>
                <a:cs typeface="微软雅黑"/>
              </a:rPr>
              <a:t>=</a:t>
            </a:r>
            <a:r>
              <a:rPr sz="2400" b="1" spc="-5" dirty="0">
                <a:latin typeface="微软雅黑"/>
                <a:cs typeface="微软雅黑"/>
              </a:rPr>
              <a:t> C</a:t>
            </a:r>
            <a:r>
              <a:rPr sz="2400" b="1" spc="10" dirty="0">
                <a:latin typeface="微软雅黑"/>
                <a:cs typeface="微软雅黑"/>
              </a:rPr>
              <a:t>K</a:t>
            </a:r>
            <a:r>
              <a:rPr sz="2400" b="1" spc="-5" dirty="0">
                <a:latin typeface="微软雅黑"/>
                <a:cs typeface="微软雅黑"/>
              </a:rPr>
              <a:t>_PS</a:t>
            </a:r>
            <a:r>
              <a:rPr sz="2400" b="1" dirty="0">
                <a:latin typeface="微软雅黑"/>
                <a:cs typeface="微软雅黑"/>
              </a:rPr>
              <a:t>C</a:t>
            </a:r>
            <a:r>
              <a:rPr sz="2400" b="1" spc="-20" dirty="0">
                <a:latin typeface="微软雅黑"/>
                <a:cs typeface="微软雅黑"/>
              </a:rPr>
              <a:t> </a:t>
            </a:r>
            <a:r>
              <a:rPr sz="2400" b="1" spc="-5" dirty="0">
                <a:latin typeface="微软雅黑"/>
                <a:cs typeface="微软雅黑"/>
              </a:rPr>
              <a:t>/</a:t>
            </a:r>
            <a:r>
              <a:rPr sz="2400" b="1" dirty="0">
                <a:latin typeface="微软雅黑"/>
                <a:cs typeface="微软雅黑"/>
              </a:rPr>
              <a:t> </a:t>
            </a:r>
            <a:r>
              <a:rPr sz="2400" b="1" spc="-5" dirty="0">
                <a:latin typeface="微软雅黑"/>
                <a:cs typeface="微软雅黑"/>
              </a:rPr>
              <a:t>(</a:t>
            </a:r>
            <a:r>
              <a:rPr sz="2400" b="1" dirty="0">
                <a:latin typeface="微软雅黑"/>
                <a:cs typeface="微软雅黑"/>
              </a:rPr>
              <a:t> </a:t>
            </a:r>
            <a:r>
              <a:rPr sz="2400" b="1" spc="-5" dirty="0">
                <a:latin typeface="微软雅黑"/>
                <a:cs typeface="微软雅黑"/>
              </a:rPr>
              <a:t>PS</a:t>
            </a:r>
            <a:r>
              <a:rPr sz="2400" b="1" dirty="0">
                <a:latin typeface="微软雅黑"/>
                <a:cs typeface="微软雅黑"/>
              </a:rPr>
              <a:t>C</a:t>
            </a:r>
            <a:r>
              <a:rPr sz="2400" b="1" spc="-10" dirty="0">
                <a:latin typeface="微软雅黑"/>
                <a:cs typeface="微软雅黑"/>
              </a:rPr>
              <a:t> </a:t>
            </a:r>
            <a:r>
              <a:rPr sz="2400" b="1" dirty="0">
                <a:latin typeface="微软雅黑"/>
                <a:cs typeface="微软雅黑"/>
              </a:rPr>
              <a:t>+</a:t>
            </a:r>
            <a:r>
              <a:rPr sz="2400" b="1" spc="-5" dirty="0">
                <a:latin typeface="微软雅黑"/>
                <a:cs typeface="微软雅黑"/>
              </a:rPr>
              <a:t> 1</a:t>
            </a:r>
            <a:r>
              <a:rPr sz="2400" b="1" spc="-10" dirty="0">
                <a:latin typeface="微软雅黑"/>
                <a:cs typeface="微软雅黑"/>
              </a:rPr>
              <a:t> </a:t>
            </a:r>
            <a:r>
              <a:rPr sz="2400" b="1" spc="-5" dirty="0">
                <a:latin typeface="微软雅黑"/>
                <a:cs typeface="微软雅黑"/>
              </a:rPr>
              <a:t>)</a:t>
            </a:r>
            <a:endParaRPr sz="2400">
              <a:latin typeface="微软雅黑"/>
              <a:cs typeface="微软雅黑"/>
            </a:endParaRPr>
          </a:p>
          <a:p>
            <a:pPr marL="5469255">
              <a:lnSpc>
                <a:spcPct val="100000"/>
              </a:lnSpc>
              <a:spcBef>
                <a:spcPts val="570"/>
              </a:spcBef>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5" name="object 5"/>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207975" y="1187693"/>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预分频模块</a:t>
            </a:r>
            <a:endParaRPr sz="2400">
              <a:latin typeface="微软雅黑"/>
              <a:cs typeface="微软雅黑"/>
            </a:endParaRPr>
          </a:p>
        </p:txBody>
      </p:sp>
      <p:sp>
        <p:nvSpPr>
          <p:cNvPr id="11" name="object 11"/>
          <p:cNvSpPr/>
          <p:nvPr/>
        </p:nvSpPr>
        <p:spPr>
          <a:xfrm>
            <a:off x="2165604" y="1819655"/>
            <a:ext cx="7543800" cy="3794760"/>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2151126" y="1805177"/>
            <a:ext cx="7573009" cy="3823970"/>
          </a:xfrm>
          <a:custGeom>
            <a:avLst/>
            <a:gdLst/>
            <a:ahLst/>
            <a:cxnLst/>
            <a:rect l="l" t="t" r="r" b="b"/>
            <a:pathLst>
              <a:path w="7573009" h="3823970">
                <a:moveTo>
                  <a:pt x="0" y="3823716"/>
                </a:moveTo>
                <a:lnTo>
                  <a:pt x="7572756" y="3823716"/>
                </a:lnTo>
                <a:lnTo>
                  <a:pt x="7572756" y="0"/>
                </a:lnTo>
                <a:lnTo>
                  <a:pt x="0" y="0"/>
                </a:lnTo>
                <a:lnTo>
                  <a:pt x="0" y="3823716"/>
                </a:lnTo>
                <a:close/>
              </a:path>
            </a:pathLst>
          </a:custGeom>
          <a:ln w="28955">
            <a:solidFill>
              <a:srgbClr val="5B9BD4"/>
            </a:solidFill>
          </a:ln>
        </p:spPr>
        <p:txBody>
          <a:bodyPr wrap="square" lIns="0" tIns="0" rIns="0" bIns="0" rtlCol="0"/>
          <a:lstStyle/>
          <a:p>
            <a:endParaRPr/>
          </a:p>
        </p:txBody>
      </p:sp>
      <p:sp>
        <p:nvSpPr>
          <p:cNvPr id="13" name="object 13"/>
          <p:cNvSpPr txBox="1">
            <a:spLocks noGrp="1"/>
          </p:cNvSpPr>
          <p:nvPr>
            <p:ph type="title"/>
          </p:nvPr>
        </p:nvSpPr>
        <p:spPr>
          <a:xfrm>
            <a:off x="4947665" y="1157543"/>
            <a:ext cx="2156460" cy="381000"/>
          </a:xfrm>
          <a:prstGeom prst="rect">
            <a:avLst/>
          </a:prstGeom>
        </p:spPr>
        <p:txBody>
          <a:bodyPr vert="horz" wrap="square" lIns="0" tIns="0" rIns="0" bIns="0" rtlCol="0">
            <a:spAutoFit/>
          </a:bodyPr>
          <a:lstStyle/>
          <a:p>
            <a:pPr marL="12700">
              <a:lnSpc>
                <a:spcPct val="100000"/>
              </a:lnSpc>
            </a:pPr>
            <a:r>
              <a:rPr spc="-10" dirty="0"/>
              <a:t>预分频时序图</a:t>
            </a:r>
          </a:p>
        </p:txBody>
      </p:sp>
      <p:sp>
        <p:nvSpPr>
          <p:cNvPr id="14" name="object 14"/>
          <p:cNvSpPr/>
          <p:nvPr/>
        </p:nvSpPr>
        <p:spPr>
          <a:xfrm>
            <a:off x="4146041" y="6044946"/>
            <a:ext cx="5866130" cy="567055"/>
          </a:xfrm>
          <a:custGeom>
            <a:avLst/>
            <a:gdLst/>
            <a:ahLst/>
            <a:cxnLst/>
            <a:rect l="l" t="t" r="r" b="b"/>
            <a:pathLst>
              <a:path w="5866130" h="567054">
                <a:moveTo>
                  <a:pt x="0" y="65227"/>
                </a:moveTo>
                <a:lnTo>
                  <a:pt x="13364" y="25668"/>
                </a:lnTo>
                <a:lnTo>
                  <a:pt x="47165" y="2541"/>
                </a:lnTo>
                <a:lnTo>
                  <a:pt x="5800598" y="0"/>
                </a:lnTo>
                <a:lnTo>
                  <a:pt x="5815041" y="1600"/>
                </a:lnTo>
                <a:lnTo>
                  <a:pt x="5850199" y="22813"/>
                </a:lnTo>
                <a:lnTo>
                  <a:pt x="5865759" y="61295"/>
                </a:lnTo>
                <a:lnTo>
                  <a:pt x="5865876" y="501700"/>
                </a:lnTo>
                <a:lnTo>
                  <a:pt x="5864274" y="516125"/>
                </a:lnTo>
                <a:lnTo>
                  <a:pt x="5843049" y="551256"/>
                </a:lnTo>
                <a:lnTo>
                  <a:pt x="5804533" y="566811"/>
                </a:lnTo>
                <a:lnTo>
                  <a:pt x="65278" y="566927"/>
                </a:lnTo>
                <a:lnTo>
                  <a:pt x="50834" y="565326"/>
                </a:lnTo>
                <a:lnTo>
                  <a:pt x="15676" y="544109"/>
                </a:lnTo>
                <a:lnTo>
                  <a:pt x="116" y="505631"/>
                </a:lnTo>
                <a:lnTo>
                  <a:pt x="0" y="65227"/>
                </a:lnTo>
                <a:close/>
              </a:path>
            </a:pathLst>
          </a:custGeom>
          <a:ln w="28956">
            <a:solidFill>
              <a:srgbClr val="5B9BD4"/>
            </a:solidFill>
          </a:ln>
        </p:spPr>
        <p:txBody>
          <a:bodyPr wrap="square" lIns="0" tIns="0" rIns="0" bIns="0" rtlCol="0"/>
          <a:lstStyle/>
          <a:p>
            <a:endParaRPr/>
          </a:p>
        </p:txBody>
      </p:sp>
      <p:sp>
        <p:nvSpPr>
          <p:cNvPr id="15" name="object 15"/>
          <p:cNvSpPr txBox="1"/>
          <p:nvPr/>
        </p:nvSpPr>
        <p:spPr>
          <a:xfrm>
            <a:off x="1676400" y="6124955"/>
            <a:ext cx="1582420" cy="405765"/>
          </a:xfrm>
          <a:prstGeom prst="rect">
            <a:avLst/>
          </a:prstGeom>
          <a:solidFill>
            <a:srgbClr val="E34A46"/>
          </a:solidFill>
          <a:ln w="12192">
            <a:solidFill>
              <a:srgbClr val="E34A46"/>
            </a:solidFill>
          </a:ln>
        </p:spPr>
        <p:txBody>
          <a:bodyPr vert="horz" wrap="square" lIns="0" tIns="0" rIns="0" bIns="0" rtlCol="0">
            <a:spAutoFit/>
          </a:bodyPr>
          <a:lstStyle/>
          <a:p>
            <a:pPr marL="219075">
              <a:lnSpc>
                <a:spcPct val="100000"/>
              </a:lnSpc>
            </a:pPr>
            <a:r>
              <a:rPr sz="2400" b="1" dirty="0">
                <a:solidFill>
                  <a:srgbClr val="FFFFFF"/>
                </a:solidFill>
                <a:latin typeface="微软雅黑"/>
                <a:cs typeface="微软雅黑"/>
              </a:rPr>
              <a:t>分频公式</a:t>
            </a:r>
            <a:endParaRPr sz="2400">
              <a:latin typeface="微软雅黑"/>
              <a:cs typeface="微软雅黑"/>
            </a:endParaRPr>
          </a:p>
        </p:txBody>
      </p:sp>
      <p:sp>
        <p:nvSpPr>
          <p:cNvPr id="16" name="object 16"/>
          <p:cNvSpPr/>
          <p:nvPr/>
        </p:nvSpPr>
        <p:spPr>
          <a:xfrm>
            <a:off x="3499103" y="6222491"/>
            <a:ext cx="405765" cy="212090"/>
          </a:xfrm>
          <a:custGeom>
            <a:avLst/>
            <a:gdLst/>
            <a:ahLst/>
            <a:cxnLst/>
            <a:rect l="l" t="t" r="r" b="b"/>
            <a:pathLst>
              <a:path w="405764" h="212089">
                <a:moveTo>
                  <a:pt x="299466" y="0"/>
                </a:moveTo>
                <a:lnTo>
                  <a:pt x="299466" y="52959"/>
                </a:lnTo>
                <a:lnTo>
                  <a:pt x="0" y="52959"/>
                </a:lnTo>
                <a:lnTo>
                  <a:pt x="0" y="158877"/>
                </a:lnTo>
                <a:lnTo>
                  <a:pt x="299466" y="158877"/>
                </a:lnTo>
                <a:lnTo>
                  <a:pt x="299466" y="211836"/>
                </a:lnTo>
                <a:lnTo>
                  <a:pt x="405384" y="105918"/>
                </a:lnTo>
                <a:lnTo>
                  <a:pt x="299466" y="0"/>
                </a:lnTo>
                <a:close/>
              </a:path>
            </a:pathLst>
          </a:custGeom>
          <a:solidFill>
            <a:srgbClr val="FF0000"/>
          </a:solidFill>
        </p:spPr>
        <p:txBody>
          <a:bodyPr wrap="square" lIns="0" tIns="0" rIns="0" bIns="0" rtlCol="0"/>
          <a:lstStyle/>
          <a:p>
            <a:endParaRPr/>
          </a:p>
        </p:txBody>
      </p:sp>
      <p:sp>
        <p:nvSpPr>
          <p:cNvPr id="17" name="object 17"/>
          <p:cNvSpPr/>
          <p:nvPr/>
        </p:nvSpPr>
        <p:spPr>
          <a:xfrm>
            <a:off x="3499103" y="6222491"/>
            <a:ext cx="405765" cy="212090"/>
          </a:xfrm>
          <a:custGeom>
            <a:avLst/>
            <a:gdLst/>
            <a:ahLst/>
            <a:cxnLst/>
            <a:rect l="l" t="t" r="r" b="b"/>
            <a:pathLst>
              <a:path w="405764" h="212089">
                <a:moveTo>
                  <a:pt x="0" y="52959"/>
                </a:moveTo>
                <a:lnTo>
                  <a:pt x="299466" y="52959"/>
                </a:lnTo>
                <a:lnTo>
                  <a:pt x="299466" y="0"/>
                </a:lnTo>
                <a:lnTo>
                  <a:pt x="405384" y="105918"/>
                </a:lnTo>
                <a:lnTo>
                  <a:pt x="299466" y="211836"/>
                </a:lnTo>
                <a:lnTo>
                  <a:pt x="299466" y="158877"/>
                </a:lnTo>
                <a:lnTo>
                  <a:pt x="0" y="158877"/>
                </a:lnTo>
                <a:lnTo>
                  <a:pt x="0" y="52959"/>
                </a:lnTo>
                <a:close/>
              </a:path>
            </a:pathLst>
          </a:custGeom>
          <a:ln w="12192">
            <a:solidFill>
              <a:srgbClr val="41709C"/>
            </a:solidFill>
          </a:ln>
        </p:spPr>
        <p:txBody>
          <a:bodyPr wrap="square" lIns="0" tIns="0" rIns="0" bIns="0" rtlCol="0"/>
          <a:lstStyle/>
          <a:p>
            <a:endParaRPr/>
          </a:p>
        </p:txBody>
      </p:sp>
      <p:sp>
        <p:nvSpPr>
          <p:cNvPr id="18" name="object 18"/>
          <p:cNvSpPr/>
          <p:nvPr/>
        </p:nvSpPr>
        <p:spPr>
          <a:xfrm>
            <a:off x="130302" y="2780538"/>
            <a:ext cx="2316480" cy="2065655"/>
          </a:xfrm>
          <a:custGeom>
            <a:avLst/>
            <a:gdLst/>
            <a:ahLst/>
            <a:cxnLst/>
            <a:rect l="l" t="t" r="r" b="b"/>
            <a:pathLst>
              <a:path w="2316480" h="2065654">
                <a:moveTo>
                  <a:pt x="1930400" y="1255776"/>
                </a:moveTo>
                <a:lnTo>
                  <a:pt x="1351280" y="1255776"/>
                </a:lnTo>
                <a:lnTo>
                  <a:pt x="2036318" y="2065655"/>
                </a:lnTo>
                <a:lnTo>
                  <a:pt x="1930400" y="1255776"/>
                </a:lnTo>
                <a:close/>
              </a:path>
              <a:path w="2316480" h="2065654">
                <a:moveTo>
                  <a:pt x="2107184" y="0"/>
                </a:moveTo>
                <a:lnTo>
                  <a:pt x="209295" y="0"/>
                </a:lnTo>
                <a:lnTo>
                  <a:pt x="192129" y="693"/>
                </a:lnTo>
                <a:lnTo>
                  <a:pt x="143140" y="10672"/>
                </a:lnTo>
                <a:lnTo>
                  <a:pt x="99045" y="31362"/>
                </a:lnTo>
                <a:lnTo>
                  <a:pt x="61299" y="61309"/>
                </a:lnTo>
                <a:lnTo>
                  <a:pt x="31356" y="99057"/>
                </a:lnTo>
                <a:lnTo>
                  <a:pt x="10669" y="143150"/>
                </a:lnTo>
                <a:lnTo>
                  <a:pt x="693" y="192133"/>
                </a:lnTo>
                <a:lnTo>
                  <a:pt x="0" y="209296"/>
                </a:lnTo>
                <a:lnTo>
                  <a:pt x="0" y="1046480"/>
                </a:lnTo>
                <a:lnTo>
                  <a:pt x="6082" y="1096769"/>
                </a:lnTo>
                <a:lnTo>
                  <a:pt x="23360" y="1142654"/>
                </a:lnTo>
                <a:lnTo>
                  <a:pt x="50379" y="1182679"/>
                </a:lnTo>
                <a:lnTo>
                  <a:pt x="85686" y="1215387"/>
                </a:lnTo>
                <a:lnTo>
                  <a:pt x="127826" y="1239325"/>
                </a:lnTo>
                <a:lnTo>
                  <a:pt x="175346" y="1253036"/>
                </a:lnTo>
                <a:lnTo>
                  <a:pt x="209295" y="1255776"/>
                </a:lnTo>
                <a:lnTo>
                  <a:pt x="2107184" y="1255776"/>
                </a:lnTo>
                <a:lnTo>
                  <a:pt x="2157473" y="1249692"/>
                </a:lnTo>
                <a:lnTo>
                  <a:pt x="2203358" y="1232410"/>
                </a:lnTo>
                <a:lnTo>
                  <a:pt x="2243383" y="1205387"/>
                </a:lnTo>
                <a:lnTo>
                  <a:pt x="2276091" y="1170078"/>
                </a:lnTo>
                <a:lnTo>
                  <a:pt x="2300029" y="1127938"/>
                </a:lnTo>
                <a:lnTo>
                  <a:pt x="2313740" y="1080423"/>
                </a:lnTo>
                <a:lnTo>
                  <a:pt x="2316480" y="1046480"/>
                </a:lnTo>
                <a:lnTo>
                  <a:pt x="2316480" y="209296"/>
                </a:lnTo>
                <a:lnTo>
                  <a:pt x="2310396" y="159006"/>
                </a:lnTo>
                <a:lnTo>
                  <a:pt x="2293114" y="113121"/>
                </a:lnTo>
                <a:lnTo>
                  <a:pt x="2266091" y="73096"/>
                </a:lnTo>
                <a:lnTo>
                  <a:pt x="2230782" y="40388"/>
                </a:lnTo>
                <a:lnTo>
                  <a:pt x="2188642" y="16450"/>
                </a:lnTo>
                <a:lnTo>
                  <a:pt x="2141127" y="2739"/>
                </a:lnTo>
                <a:lnTo>
                  <a:pt x="2107184" y="0"/>
                </a:lnTo>
                <a:close/>
              </a:path>
            </a:pathLst>
          </a:custGeom>
          <a:solidFill>
            <a:srgbClr val="FFFFC7"/>
          </a:solidFill>
        </p:spPr>
        <p:txBody>
          <a:bodyPr wrap="square" lIns="0" tIns="0" rIns="0" bIns="0" rtlCol="0"/>
          <a:lstStyle/>
          <a:p>
            <a:endParaRPr/>
          </a:p>
        </p:txBody>
      </p:sp>
      <p:sp>
        <p:nvSpPr>
          <p:cNvPr id="19" name="object 19"/>
          <p:cNvSpPr/>
          <p:nvPr/>
        </p:nvSpPr>
        <p:spPr>
          <a:xfrm>
            <a:off x="130302" y="2780538"/>
            <a:ext cx="2316480" cy="2065655"/>
          </a:xfrm>
          <a:custGeom>
            <a:avLst/>
            <a:gdLst/>
            <a:ahLst/>
            <a:cxnLst/>
            <a:rect l="l" t="t" r="r" b="b"/>
            <a:pathLst>
              <a:path w="2316480" h="2065654">
                <a:moveTo>
                  <a:pt x="0" y="209296"/>
                </a:moveTo>
                <a:lnTo>
                  <a:pt x="6082" y="159006"/>
                </a:lnTo>
                <a:lnTo>
                  <a:pt x="23360" y="113121"/>
                </a:lnTo>
                <a:lnTo>
                  <a:pt x="50379" y="73096"/>
                </a:lnTo>
                <a:lnTo>
                  <a:pt x="85686" y="40388"/>
                </a:lnTo>
                <a:lnTo>
                  <a:pt x="127826" y="16450"/>
                </a:lnTo>
                <a:lnTo>
                  <a:pt x="175346" y="2739"/>
                </a:lnTo>
                <a:lnTo>
                  <a:pt x="209295" y="0"/>
                </a:lnTo>
                <a:lnTo>
                  <a:pt x="1351280" y="0"/>
                </a:lnTo>
                <a:lnTo>
                  <a:pt x="1930400" y="0"/>
                </a:lnTo>
                <a:lnTo>
                  <a:pt x="2107184" y="0"/>
                </a:lnTo>
                <a:lnTo>
                  <a:pt x="2124346" y="693"/>
                </a:lnTo>
                <a:lnTo>
                  <a:pt x="2173329" y="10672"/>
                </a:lnTo>
                <a:lnTo>
                  <a:pt x="2217422" y="31362"/>
                </a:lnTo>
                <a:lnTo>
                  <a:pt x="2255170" y="61309"/>
                </a:lnTo>
                <a:lnTo>
                  <a:pt x="2285117" y="99057"/>
                </a:lnTo>
                <a:lnTo>
                  <a:pt x="2305807" y="143150"/>
                </a:lnTo>
                <a:lnTo>
                  <a:pt x="2315786" y="192133"/>
                </a:lnTo>
                <a:lnTo>
                  <a:pt x="2316480" y="209296"/>
                </a:lnTo>
                <a:lnTo>
                  <a:pt x="2316480" y="732536"/>
                </a:lnTo>
                <a:lnTo>
                  <a:pt x="2316480" y="1046480"/>
                </a:lnTo>
                <a:lnTo>
                  <a:pt x="2315786" y="1063642"/>
                </a:lnTo>
                <a:lnTo>
                  <a:pt x="2313740" y="1080423"/>
                </a:lnTo>
                <a:lnTo>
                  <a:pt x="2300029" y="1127938"/>
                </a:lnTo>
                <a:lnTo>
                  <a:pt x="2276091" y="1170078"/>
                </a:lnTo>
                <a:lnTo>
                  <a:pt x="2243383" y="1205387"/>
                </a:lnTo>
                <a:lnTo>
                  <a:pt x="2203358" y="1232410"/>
                </a:lnTo>
                <a:lnTo>
                  <a:pt x="2157473" y="1249692"/>
                </a:lnTo>
                <a:lnTo>
                  <a:pt x="2107184" y="1255776"/>
                </a:lnTo>
                <a:lnTo>
                  <a:pt x="1930400" y="1255776"/>
                </a:lnTo>
                <a:lnTo>
                  <a:pt x="2036318" y="2065655"/>
                </a:lnTo>
                <a:lnTo>
                  <a:pt x="1351280" y="1255776"/>
                </a:lnTo>
                <a:lnTo>
                  <a:pt x="209295" y="1255776"/>
                </a:lnTo>
                <a:lnTo>
                  <a:pt x="192129" y="1255082"/>
                </a:lnTo>
                <a:lnTo>
                  <a:pt x="143140" y="1245103"/>
                </a:lnTo>
                <a:lnTo>
                  <a:pt x="99045" y="1224413"/>
                </a:lnTo>
                <a:lnTo>
                  <a:pt x="61299" y="1194466"/>
                </a:lnTo>
                <a:lnTo>
                  <a:pt x="31356" y="1156718"/>
                </a:lnTo>
                <a:lnTo>
                  <a:pt x="10669" y="1112625"/>
                </a:lnTo>
                <a:lnTo>
                  <a:pt x="693" y="1063642"/>
                </a:lnTo>
                <a:lnTo>
                  <a:pt x="0" y="1046480"/>
                </a:lnTo>
                <a:lnTo>
                  <a:pt x="0" y="732536"/>
                </a:lnTo>
                <a:lnTo>
                  <a:pt x="0" y="209296"/>
                </a:lnTo>
                <a:close/>
              </a:path>
            </a:pathLst>
          </a:custGeom>
          <a:ln w="28956">
            <a:solidFill>
              <a:srgbClr val="000000"/>
            </a:solidFill>
          </a:ln>
        </p:spPr>
        <p:txBody>
          <a:bodyPr wrap="square" lIns="0" tIns="0" rIns="0" bIns="0" rtlCol="0"/>
          <a:lstStyle/>
          <a:p>
            <a:endParaRPr/>
          </a:p>
        </p:txBody>
      </p:sp>
      <p:sp>
        <p:nvSpPr>
          <p:cNvPr id="20" name="object 20"/>
          <p:cNvSpPr txBox="1"/>
          <p:nvPr/>
        </p:nvSpPr>
        <p:spPr>
          <a:xfrm>
            <a:off x="326542" y="2878264"/>
            <a:ext cx="1922145" cy="717550"/>
          </a:xfrm>
          <a:prstGeom prst="rect">
            <a:avLst/>
          </a:prstGeom>
        </p:spPr>
        <p:txBody>
          <a:bodyPr vert="horz" wrap="square" lIns="0" tIns="0" rIns="0" bIns="0" rtlCol="0">
            <a:spAutoFit/>
          </a:bodyPr>
          <a:lstStyle/>
          <a:p>
            <a:pPr marL="41275" marR="5080" indent="-29209">
              <a:lnSpc>
                <a:spcPct val="105800"/>
              </a:lnSpc>
            </a:pPr>
            <a:r>
              <a:rPr sz="2400" b="1" dirty="0">
                <a:latin typeface="宋体"/>
                <a:cs typeface="宋体"/>
              </a:rPr>
              <a:t>从</a:t>
            </a:r>
            <a:r>
              <a:rPr sz="2400" b="1" spc="-5" dirty="0">
                <a:latin typeface="Consolas"/>
                <a:cs typeface="Consolas"/>
              </a:rPr>
              <a:t>0</a:t>
            </a:r>
            <a:r>
              <a:rPr sz="2400" b="1" dirty="0">
                <a:latin typeface="宋体"/>
                <a:cs typeface="宋体"/>
              </a:rPr>
              <a:t>计数到</a:t>
            </a:r>
            <a:r>
              <a:rPr sz="2400" b="1" spc="-5" dirty="0">
                <a:latin typeface="Consolas"/>
                <a:cs typeface="Consolas"/>
              </a:rPr>
              <a:t>PSC </a:t>
            </a:r>
            <a:r>
              <a:rPr sz="2400" b="1" dirty="0">
                <a:latin typeface="宋体"/>
                <a:cs typeface="宋体"/>
              </a:rPr>
              <a:t>实际计数值为</a:t>
            </a:r>
            <a:endParaRPr sz="2400">
              <a:latin typeface="宋体"/>
              <a:cs typeface="宋体"/>
            </a:endParaRPr>
          </a:p>
        </p:txBody>
      </p:sp>
      <p:sp>
        <p:nvSpPr>
          <p:cNvPr id="21" name="object 21"/>
          <p:cNvSpPr txBox="1"/>
          <p:nvPr/>
        </p:nvSpPr>
        <p:spPr>
          <a:xfrm>
            <a:off x="853846" y="3640782"/>
            <a:ext cx="864869"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PS</a:t>
            </a:r>
            <a:r>
              <a:rPr sz="2400" b="1" spc="0" dirty="0">
                <a:latin typeface="Consolas"/>
                <a:cs typeface="Consolas"/>
              </a:rPr>
              <a:t>C</a:t>
            </a:r>
            <a:r>
              <a:rPr sz="2400" b="1" spc="-5" dirty="0">
                <a:latin typeface="Consolas"/>
                <a:cs typeface="Consolas"/>
              </a:rPr>
              <a:t>+1</a:t>
            </a:r>
            <a:endParaRPr sz="2400">
              <a:latin typeface="Consolas"/>
              <a:cs typeface="Consolas"/>
            </a:endParaRPr>
          </a:p>
        </p:txBody>
      </p:sp>
      <p:sp>
        <p:nvSpPr>
          <p:cNvPr id="22" name="object 22"/>
          <p:cNvSpPr/>
          <p:nvPr/>
        </p:nvSpPr>
        <p:spPr>
          <a:xfrm>
            <a:off x="2195322" y="4895850"/>
            <a:ext cx="1671955" cy="445134"/>
          </a:xfrm>
          <a:custGeom>
            <a:avLst/>
            <a:gdLst/>
            <a:ahLst/>
            <a:cxnLst/>
            <a:rect l="l" t="t" r="r" b="b"/>
            <a:pathLst>
              <a:path w="1671954" h="445135">
                <a:moveTo>
                  <a:pt x="0" y="445008"/>
                </a:moveTo>
                <a:lnTo>
                  <a:pt x="1671827" y="445008"/>
                </a:lnTo>
                <a:lnTo>
                  <a:pt x="1671827" y="0"/>
                </a:lnTo>
                <a:lnTo>
                  <a:pt x="0" y="0"/>
                </a:lnTo>
                <a:lnTo>
                  <a:pt x="0" y="445008"/>
                </a:lnTo>
                <a:close/>
              </a:path>
            </a:pathLst>
          </a:custGeom>
          <a:ln w="38100">
            <a:solidFill>
              <a:srgbClr val="FF0000"/>
            </a:solidFill>
          </a:ln>
        </p:spPr>
        <p:txBody>
          <a:bodyPr wrap="square" lIns="0" tIns="0" rIns="0" bIns="0" rtlCol="0"/>
          <a:lstStyle/>
          <a:p>
            <a:endParaRPr/>
          </a:p>
        </p:txBody>
      </p:sp>
      <p:sp>
        <p:nvSpPr>
          <p:cNvPr id="23" name="object 23"/>
          <p:cNvSpPr/>
          <p:nvPr/>
        </p:nvSpPr>
        <p:spPr>
          <a:xfrm>
            <a:off x="3569970" y="5505450"/>
            <a:ext cx="1870710" cy="572770"/>
          </a:xfrm>
          <a:custGeom>
            <a:avLst/>
            <a:gdLst/>
            <a:ahLst/>
            <a:cxnLst/>
            <a:rect l="l" t="t" r="r" b="b"/>
            <a:pathLst>
              <a:path w="1870710" h="572770">
                <a:moveTo>
                  <a:pt x="1761716" y="476250"/>
                </a:moveTo>
                <a:lnTo>
                  <a:pt x="1600200" y="476250"/>
                </a:lnTo>
                <a:lnTo>
                  <a:pt x="1870455" y="572439"/>
                </a:lnTo>
                <a:lnTo>
                  <a:pt x="1761716" y="476250"/>
                </a:lnTo>
                <a:close/>
              </a:path>
              <a:path w="1870710" h="572770">
                <a:moveTo>
                  <a:pt x="1504950" y="0"/>
                </a:moveTo>
                <a:lnTo>
                  <a:pt x="933450" y="0"/>
                </a:lnTo>
                <a:lnTo>
                  <a:pt x="86332" y="412"/>
                </a:lnTo>
                <a:lnTo>
                  <a:pt x="46339" y="13513"/>
                </a:lnTo>
                <a:lnTo>
                  <a:pt x="16449" y="41748"/>
                </a:lnTo>
                <a:lnTo>
                  <a:pt x="1110" y="80670"/>
                </a:lnTo>
                <a:lnTo>
                  <a:pt x="0" y="95250"/>
                </a:lnTo>
                <a:lnTo>
                  <a:pt x="0" y="476250"/>
                </a:lnTo>
                <a:lnTo>
                  <a:pt x="13513" y="525171"/>
                </a:lnTo>
                <a:lnTo>
                  <a:pt x="41748" y="555057"/>
                </a:lnTo>
                <a:lnTo>
                  <a:pt x="80670" y="570390"/>
                </a:lnTo>
                <a:lnTo>
                  <a:pt x="95250" y="571500"/>
                </a:lnTo>
                <a:lnTo>
                  <a:pt x="1333500" y="571500"/>
                </a:lnTo>
                <a:lnTo>
                  <a:pt x="1513867" y="571087"/>
                </a:lnTo>
                <a:lnTo>
                  <a:pt x="1553860" y="557992"/>
                </a:lnTo>
                <a:lnTo>
                  <a:pt x="1583750" y="529762"/>
                </a:lnTo>
                <a:lnTo>
                  <a:pt x="1599089" y="490835"/>
                </a:lnTo>
                <a:lnTo>
                  <a:pt x="1600200" y="476250"/>
                </a:lnTo>
                <a:lnTo>
                  <a:pt x="1761716" y="476250"/>
                </a:lnTo>
                <a:lnTo>
                  <a:pt x="1600200" y="333375"/>
                </a:lnTo>
                <a:lnTo>
                  <a:pt x="1599787" y="86332"/>
                </a:lnTo>
                <a:lnTo>
                  <a:pt x="1597376" y="72153"/>
                </a:lnTo>
                <a:lnTo>
                  <a:pt x="1578736" y="35033"/>
                </a:lnTo>
                <a:lnTo>
                  <a:pt x="1546445" y="9499"/>
                </a:lnTo>
                <a:lnTo>
                  <a:pt x="1519529" y="1110"/>
                </a:lnTo>
                <a:lnTo>
                  <a:pt x="1504950" y="0"/>
                </a:lnTo>
                <a:close/>
              </a:path>
            </a:pathLst>
          </a:custGeom>
          <a:solidFill>
            <a:srgbClr val="FFFFC7"/>
          </a:solidFill>
        </p:spPr>
        <p:txBody>
          <a:bodyPr wrap="square" lIns="0" tIns="0" rIns="0" bIns="0" rtlCol="0"/>
          <a:lstStyle/>
          <a:p>
            <a:endParaRPr/>
          </a:p>
        </p:txBody>
      </p:sp>
      <p:sp>
        <p:nvSpPr>
          <p:cNvPr id="24" name="object 24"/>
          <p:cNvSpPr/>
          <p:nvPr/>
        </p:nvSpPr>
        <p:spPr>
          <a:xfrm>
            <a:off x="3569970" y="5505450"/>
            <a:ext cx="1870710" cy="572770"/>
          </a:xfrm>
          <a:custGeom>
            <a:avLst/>
            <a:gdLst/>
            <a:ahLst/>
            <a:cxnLst/>
            <a:rect l="l" t="t" r="r" b="b"/>
            <a:pathLst>
              <a:path w="1870710" h="572770">
                <a:moveTo>
                  <a:pt x="0" y="95250"/>
                </a:moveTo>
                <a:lnTo>
                  <a:pt x="9499" y="53754"/>
                </a:lnTo>
                <a:lnTo>
                  <a:pt x="35033" y="21463"/>
                </a:lnTo>
                <a:lnTo>
                  <a:pt x="72153" y="2823"/>
                </a:lnTo>
                <a:lnTo>
                  <a:pt x="933450" y="0"/>
                </a:lnTo>
                <a:lnTo>
                  <a:pt x="1333500" y="0"/>
                </a:lnTo>
                <a:lnTo>
                  <a:pt x="1504950" y="0"/>
                </a:lnTo>
                <a:lnTo>
                  <a:pt x="1519529" y="1110"/>
                </a:lnTo>
                <a:lnTo>
                  <a:pt x="1558451" y="16449"/>
                </a:lnTo>
                <a:lnTo>
                  <a:pt x="1586686" y="46339"/>
                </a:lnTo>
                <a:lnTo>
                  <a:pt x="1599787" y="86332"/>
                </a:lnTo>
                <a:lnTo>
                  <a:pt x="1600200" y="333375"/>
                </a:lnTo>
                <a:lnTo>
                  <a:pt x="1870455" y="572439"/>
                </a:lnTo>
                <a:lnTo>
                  <a:pt x="1600200" y="476250"/>
                </a:lnTo>
                <a:lnTo>
                  <a:pt x="1599089" y="490835"/>
                </a:lnTo>
                <a:lnTo>
                  <a:pt x="1595867" y="504725"/>
                </a:lnTo>
                <a:lnTo>
                  <a:pt x="1575184" y="540580"/>
                </a:lnTo>
                <a:lnTo>
                  <a:pt x="1541432" y="564258"/>
                </a:lnTo>
                <a:lnTo>
                  <a:pt x="1333500" y="571500"/>
                </a:lnTo>
                <a:lnTo>
                  <a:pt x="933450" y="571500"/>
                </a:lnTo>
                <a:lnTo>
                  <a:pt x="95250" y="571500"/>
                </a:lnTo>
                <a:lnTo>
                  <a:pt x="80670" y="570390"/>
                </a:lnTo>
                <a:lnTo>
                  <a:pt x="41748" y="555057"/>
                </a:lnTo>
                <a:lnTo>
                  <a:pt x="13513" y="525171"/>
                </a:lnTo>
                <a:lnTo>
                  <a:pt x="412" y="485171"/>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25" name="object 25"/>
          <p:cNvSpPr/>
          <p:nvPr/>
        </p:nvSpPr>
        <p:spPr>
          <a:xfrm>
            <a:off x="5602985" y="5505450"/>
            <a:ext cx="1789430" cy="671195"/>
          </a:xfrm>
          <a:custGeom>
            <a:avLst/>
            <a:gdLst/>
            <a:ahLst/>
            <a:cxnLst/>
            <a:rect l="l" t="t" r="r" b="b"/>
            <a:pathLst>
              <a:path w="1789429" h="671195">
                <a:moveTo>
                  <a:pt x="1693925" y="0"/>
                </a:moveTo>
                <a:lnTo>
                  <a:pt x="1043686" y="0"/>
                </a:lnTo>
                <a:lnTo>
                  <a:pt x="86332" y="412"/>
                </a:lnTo>
                <a:lnTo>
                  <a:pt x="46339" y="13513"/>
                </a:lnTo>
                <a:lnTo>
                  <a:pt x="16449" y="41748"/>
                </a:lnTo>
                <a:lnTo>
                  <a:pt x="1110" y="80670"/>
                </a:lnTo>
                <a:lnTo>
                  <a:pt x="0" y="95250"/>
                </a:lnTo>
                <a:lnTo>
                  <a:pt x="0" y="476250"/>
                </a:lnTo>
                <a:lnTo>
                  <a:pt x="13513" y="525171"/>
                </a:lnTo>
                <a:lnTo>
                  <a:pt x="41748" y="555057"/>
                </a:lnTo>
                <a:lnTo>
                  <a:pt x="80670" y="570390"/>
                </a:lnTo>
                <a:lnTo>
                  <a:pt x="95250" y="571500"/>
                </a:lnTo>
                <a:lnTo>
                  <a:pt x="1043686" y="571500"/>
                </a:lnTo>
                <a:lnTo>
                  <a:pt x="1546352" y="670585"/>
                </a:lnTo>
                <a:lnTo>
                  <a:pt x="1490980" y="571500"/>
                </a:lnTo>
                <a:lnTo>
                  <a:pt x="1702843" y="571087"/>
                </a:lnTo>
                <a:lnTo>
                  <a:pt x="1717022" y="568678"/>
                </a:lnTo>
                <a:lnTo>
                  <a:pt x="1754142" y="550044"/>
                </a:lnTo>
                <a:lnTo>
                  <a:pt x="1779676" y="517756"/>
                </a:lnTo>
                <a:lnTo>
                  <a:pt x="1789175" y="476250"/>
                </a:lnTo>
                <a:lnTo>
                  <a:pt x="1789175" y="333375"/>
                </a:lnTo>
                <a:lnTo>
                  <a:pt x="1788763" y="86332"/>
                </a:lnTo>
                <a:lnTo>
                  <a:pt x="1775662" y="46339"/>
                </a:lnTo>
                <a:lnTo>
                  <a:pt x="1747427" y="16449"/>
                </a:lnTo>
                <a:lnTo>
                  <a:pt x="1708505" y="1110"/>
                </a:lnTo>
                <a:lnTo>
                  <a:pt x="1693925" y="0"/>
                </a:lnTo>
                <a:close/>
              </a:path>
            </a:pathLst>
          </a:custGeom>
          <a:solidFill>
            <a:srgbClr val="FFFFC7"/>
          </a:solidFill>
        </p:spPr>
        <p:txBody>
          <a:bodyPr wrap="square" lIns="0" tIns="0" rIns="0" bIns="0" rtlCol="0"/>
          <a:lstStyle/>
          <a:p>
            <a:endParaRPr/>
          </a:p>
        </p:txBody>
      </p:sp>
      <p:sp>
        <p:nvSpPr>
          <p:cNvPr id="26" name="object 26"/>
          <p:cNvSpPr/>
          <p:nvPr/>
        </p:nvSpPr>
        <p:spPr>
          <a:xfrm>
            <a:off x="5602985" y="5505450"/>
            <a:ext cx="1789430" cy="671195"/>
          </a:xfrm>
          <a:custGeom>
            <a:avLst/>
            <a:gdLst/>
            <a:ahLst/>
            <a:cxnLst/>
            <a:rect l="l" t="t" r="r" b="b"/>
            <a:pathLst>
              <a:path w="1789429" h="671195">
                <a:moveTo>
                  <a:pt x="0" y="95250"/>
                </a:moveTo>
                <a:lnTo>
                  <a:pt x="9499" y="53754"/>
                </a:lnTo>
                <a:lnTo>
                  <a:pt x="35033" y="21463"/>
                </a:lnTo>
                <a:lnTo>
                  <a:pt x="72153" y="2823"/>
                </a:lnTo>
                <a:lnTo>
                  <a:pt x="1043686" y="0"/>
                </a:lnTo>
                <a:lnTo>
                  <a:pt x="1490980" y="0"/>
                </a:lnTo>
                <a:lnTo>
                  <a:pt x="1693925" y="0"/>
                </a:lnTo>
                <a:lnTo>
                  <a:pt x="1708505" y="1110"/>
                </a:lnTo>
                <a:lnTo>
                  <a:pt x="1747427" y="16449"/>
                </a:lnTo>
                <a:lnTo>
                  <a:pt x="1775662" y="46339"/>
                </a:lnTo>
                <a:lnTo>
                  <a:pt x="1788763" y="86332"/>
                </a:lnTo>
                <a:lnTo>
                  <a:pt x="1789175" y="333375"/>
                </a:lnTo>
                <a:lnTo>
                  <a:pt x="1789175" y="476250"/>
                </a:lnTo>
                <a:lnTo>
                  <a:pt x="1788065" y="490835"/>
                </a:lnTo>
                <a:lnTo>
                  <a:pt x="1784843" y="504725"/>
                </a:lnTo>
                <a:lnTo>
                  <a:pt x="1764160" y="540580"/>
                </a:lnTo>
                <a:lnTo>
                  <a:pt x="1730408" y="564258"/>
                </a:lnTo>
                <a:lnTo>
                  <a:pt x="1490980" y="571500"/>
                </a:lnTo>
                <a:lnTo>
                  <a:pt x="1546352" y="670585"/>
                </a:lnTo>
                <a:lnTo>
                  <a:pt x="1043686" y="571500"/>
                </a:lnTo>
                <a:lnTo>
                  <a:pt x="95250" y="571500"/>
                </a:lnTo>
                <a:lnTo>
                  <a:pt x="80670" y="570390"/>
                </a:lnTo>
                <a:lnTo>
                  <a:pt x="41748" y="555057"/>
                </a:lnTo>
                <a:lnTo>
                  <a:pt x="13513" y="525171"/>
                </a:lnTo>
                <a:lnTo>
                  <a:pt x="412" y="485171"/>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27" name="object 27"/>
          <p:cNvSpPr/>
          <p:nvPr/>
        </p:nvSpPr>
        <p:spPr>
          <a:xfrm>
            <a:off x="7683245" y="5505450"/>
            <a:ext cx="1789430" cy="671195"/>
          </a:xfrm>
          <a:custGeom>
            <a:avLst/>
            <a:gdLst/>
            <a:ahLst/>
            <a:cxnLst/>
            <a:rect l="l" t="t" r="r" b="b"/>
            <a:pathLst>
              <a:path w="1789429" h="671195">
                <a:moveTo>
                  <a:pt x="1693926" y="0"/>
                </a:moveTo>
                <a:lnTo>
                  <a:pt x="298196" y="0"/>
                </a:lnTo>
                <a:lnTo>
                  <a:pt x="86332" y="412"/>
                </a:lnTo>
                <a:lnTo>
                  <a:pt x="46339" y="13513"/>
                </a:lnTo>
                <a:lnTo>
                  <a:pt x="16449" y="41748"/>
                </a:lnTo>
                <a:lnTo>
                  <a:pt x="1110" y="80670"/>
                </a:lnTo>
                <a:lnTo>
                  <a:pt x="0" y="95250"/>
                </a:lnTo>
                <a:lnTo>
                  <a:pt x="0" y="476250"/>
                </a:lnTo>
                <a:lnTo>
                  <a:pt x="13513" y="525171"/>
                </a:lnTo>
                <a:lnTo>
                  <a:pt x="41748" y="555057"/>
                </a:lnTo>
                <a:lnTo>
                  <a:pt x="80670" y="570390"/>
                </a:lnTo>
                <a:lnTo>
                  <a:pt x="95250" y="571500"/>
                </a:lnTo>
                <a:lnTo>
                  <a:pt x="298196" y="571500"/>
                </a:lnTo>
                <a:lnTo>
                  <a:pt x="827151" y="670585"/>
                </a:lnTo>
                <a:lnTo>
                  <a:pt x="745489" y="571500"/>
                </a:lnTo>
                <a:lnTo>
                  <a:pt x="1702843" y="571087"/>
                </a:lnTo>
                <a:lnTo>
                  <a:pt x="1717022" y="568678"/>
                </a:lnTo>
                <a:lnTo>
                  <a:pt x="1754142" y="550044"/>
                </a:lnTo>
                <a:lnTo>
                  <a:pt x="1779676" y="517756"/>
                </a:lnTo>
                <a:lnTo>
                  <a:pt x="1789176" y="476250"/>
                </a:lnTo>
                <a:lnTo>
                  <a:pt x="1789176" y="333375"/>
                </a:lnTo>
                <a:lnTo>
                  <a:pt x="1788763" y="86332"/>
                </a:lnTo>
                <a:lnTo>
                  <a:pt x="1775662" y="46339"/>
                </a:lnTo>
                <a:lnTo>
                  <a:pt x="1747427" y="16449"/>
                </a:lnTo>
                <a:lnTo>
                  <a:pt x="1708505" y="1110"/>
                </a:lnTo>
                <a:lnTo>
                  <a:pt x="1693926" y="0"/>
                </a:lnTo>
                <a:close/>
              </a:path>
            </a:pathLst>
          </a:custGeom>
          <a:solidFill>
            <a:srgbClr val="FFFFC7"/>
          </a:solidFill>
        </p:spPr>
        <p:txBody>
          <a:bodyPr wrap="square" lIns="0" tIns="0" rIns="0" bIns="0" rtlCol="0"/>
          <a:lstStyle/>
          <a:p>
            <a:endParaRPr/>
          </a:p>
        </p:txBody>
      </p:sp>
      <p:sp>
        <p:nvSpPr>
          <p:cNvPr id="28" name="object 28"/>
          <p:cNvSpPr/>
          <p:nvPr/>
        </p:nvSpPr>
        <p:spPr>
          <a:xfrm>
            <a:off x="7683245" y="5505450"/>
            <a:ext cx="1789430" cy="671195"/>
          </a:xfrm>
          <a:custGeom>
            <a:avLst/>
            <a:gdLst/>
            <a:ahLst/>
            <a:cxnLst/>
            <a:rect l="l" t="t" r="r" b="b"/>
            <a:pathLst>
              <a:path w="1789429" h="671195">
                <a:moveTo>
                  <a:pt x="0" y="95250"/>
                </a:moveTo>
                <a:lnTo>
                  <a:pt x="9499" y="53754"/>
                </a:lnTo>
                <a:lnTo>
                  <a:pt x="35033" y="21463"/>
                </a:lnTo>
                <a:lnTo>
                  <a:pt x="72153" y="2823"/>
                </a:lnTo>
                <a:lnTo>
                  <a:pt x="298196" y="0"/>
                </a:lnTo>
                <a:lnTo>
                  <a:pt x="745489" y="0"/>
                </a:lnTo>
                <a:lnTo>
                  <a:pt x="1693926" y="0"/>
                </a:lnTo>
                <a:lnTo>
                  <a:pt x="1708505" y="1110"/>
                </a:lnTo>
                <a:lnTo>
                  <a:pt x="1747427" y="16449"/>
                </a:lnTo>
                <a:lnTo>
                  <a:pt x="1775662" y="46339"/>
                </a:lnTo>
                <a:lnTo>
                  <a:pt x="1788763" y="86332"/>
                </a:lnTo>
                <a:lnTo>
                  <a:pt x="1789176" y="333375"/>
                </a:lnTo>
                <a:lnTo>
                  <a:pt x="1789176" y="476250"/>
                </a:lnTo>
                <a:lnTo>
                  <a:pt x="1788065" y="490835"/>
                </a:lnTo>
                <a:lnTo>
                  <a:pt x="1784843" y="504725"/>
                </a:lnTo>
                <a:lnTo>
                  <a:pt x="1764160" y="540580"/>
                </a:lnTo>
                <a:lnTo>
                  <a:pt x="1730408" y="564258"/>
                </a:lnTo>
                <a:lnTo>
                  <a:pt x="745489" y="571500"/>
                </a:lnTo>
                <a:lnTo>
                  <a:pt x="827151" y="670585"/>
                </a:lnTo>
                <a:lnTo>
                  <a:pt x="298196" y="571500"/>
                </a:lnTo>
                <a:lnTo>
                  <a:pt x="95250" y="571500"/>
                </a:lnTo>
                <a:lnTo>
                  <a:pt x="80670" y="570390"/>
                </a:lnTo>
                <a:lnTo>
                  <a:pt x="41748" y="555057"/>
                </a:lnTo>
                <a:lnTo>
                  <a:pt x="13513" y="525171"/>
                </a:lnTo>
                <a:lnTo>
                  <a:pt x="412" y="485171"/>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29" name="object 29"/>
          <p:cNvSpPr/>
          <p:nvPr/>
        </p:nvSpPr>
        <p:spPr>
          <a:xfrm>
            <a:off x="6931914" y="3923538"/>
            <a:ext cx="431800" cy="403860"/>
          </a:xfrm>
          <a:custGeom>
            <a:avLst/>
            <a:gdLst/>
            <a:ahLst/>
            <a:cxnLst/>
            <a:rect l="l" t="t" r="r" b="b"/>
            <a:pathLst>
              <a:path w="431800" h="403860">
                <a:moveTo>
                  <a:pt x="0" y="403860"/>
                </a:moveTo>
                <a:lnTo>
                  <a:pt x="431292" y="403860"/>
                </a:lnTo>
                <a:lnTo>
                  <a:pt x="431292" y="0"/>
                </a:lnTo>
                <a:lnTo>
                  <a:pt x="0" y="0"/>
                </a:lnTo>
                <a:lnTo>
                  <a:pt x="0" y="403860"/>
                </a:lnTo>
                <a:close/>
              </a:path>
            </a:pathLst>
          </a:custGeom>
          <a:ln w="38100">
            <a:solidFill>
              <a:srgbClr val="FF0000"/>
            </a:solidFill>
          </a:ln>
        </p:spPr>
        <p:txBody>
          <a:bodyPr wrap="square" lIns="0" tIns="0" rIns="0" bIns="0" rtlCol="0"/>
          <a:lstStyle/>
          <a:p>
            <a:endParaRPr/>
          </a:p>
        </p:txBody>
      </p:sp>
      <p:sp>
        <p:nvSpPr>
          <p:cNvPr id="30" name="object 30"/>
          <p:cNvSpPr/>
          <p:nvPr/>
        </p:nvSpPr>
        <p:spPr>
          <a:xfrm>
            <a:off x="9847326" y="3717797"/>
            <a:ext cx="2074545" cy="792480"/>
          </a:xfrm>
          <a:custGeom>
            <a:avLst/>
            <a:gdLst/>
            <a:ahLst/>
            <a:cxnLst/>
            <a:rect l="l" t="t" r="r" b="b"/>
            <a:pathLst>
              <a:path w="2074545" h="792479">
                <a:moveTo>
                  <a:pt x="1942083" y="0"/>
                </a:moveTo>
                <a:lnTo>
                  <a:pt x="1209928" y="0"/>
                </a:lnTo>
                <a:lnTo>
                  <a:pt x="121655" y="406"/>
                </a:lnTo>
                <a:lnTo>
                  <a:pt x="80291" y="10555"/>
                </a:lnTo>
                <a:lnTo>
                  <a:pt x="45211" y="32616"/>
                </a:lnTo>
                <a:lnTo>
                  <a:pt x="18732" y="64275"/>
                </a:lnTo>
                <a:lnTo>
                  <a:pt x="3168" y="103216"/>
                </a:lnTo>
                <a:lnTo>
                  <a:pt x="0" y="132079"/>
                </a:lnTo>
                <a:lnTo>
                  <a:pt x="0" y="660400"/>
                </a:lnTo>
                <a:lnTo>
                  <a:pt x="5734" y="698984"/>
                </a:lnTo>
                <a:lnTo>
                  <a:pt x="24082" y="736416"/>
                </a:lnTo>
                <a:lnTo>
                  <a:pt x="52799" y="766019"/>
                </a:lnTo>
                <a:lnTo>
                  <a:pt x="89570" y="785479"/>
                </a:lnTo>
                <a:lnTo>
                  <a:pt x="132079" y="792479"/>
                </a:lnTo>
                <a:lnTo>
                  <a:pt x="1728470" y="792479"/>
                </a:lnTo>
                <a:lnTo>
                  <a:pt x="1952508" y="792073"/>
                </a:lnTo>
                <a:lnTo>
                  <a:pt x="1993872" y="781924"/>
                </a:lnTo>
                <a:lnTo>
                  <a:pt x="2028952" y="759863"/>
                </a:lnTo>
                <a:lnTo>
                  <a:pt x="2055431" y="728204"/>
                </a:lnTo>
                <a:lnTo>
                  <a:pt x="2070995" y="689263"/>
                </a:lnTo>
                <a:lnTo>
                  <a:pt x="2074164" y="660400"/>
                </a:lnTo>
                <a:lnTo>
                  <a:pt x="2074164" y="462279"/>
                </a:lnTo>
                <a:lnTo>
                  <a:pt x="2073757" y="121655"/>
                </a:lnTo>
                <a:lnTo>
                  <a:pt x="2063608" y="80291"/>
                </a:lnTo>
                <a:lnTo>
                  <a:pt x="2041547" y="45211"/>
                </a:lnTo>
                <a:lnTo>
                  <a:pt x="2009888" y="18732"/>
                </a:lnTo>
                <a:lnTo>
                  <a:pt x="1970947" y="3168"/>
                </a:lnTo>
                <a:lnTo>
                  <a:pt x="1942083" y="0"/>
                </a:lnTo>
                <a:close/>
              </a:path>
            </a:pathLst>
          </a:custGeom>
          <a:solidFill>
            <a:srgbClr val="FFFFC7"/>
          </a:solidFill>
        </p:spPr>
        <p:txBody>
          <a:bodyPr wrap="square" lIns="0" tIns="0" rIns="0" bIns="0" rtlCol="0"/>
          <a:lstStyle/>
          <a:p>
            <a:endParaRPr/>
          </a:p>
        </p:txBody>
      </p:sp>
      <p:sp>
        <p:nvSpPr>
          <p:cNvPr id="31" name="object 31"/>
          <p:cNvSpPr/>
          <p:nvPr/>
        </p:nvSpPr>
        <p:spPr>
          <a:xfrm>
            <a:off x="9847326" y="3717797"/>
            <a:ext cx="2074545" cy="792480"/>
          </a:xfrm>
          <a:custGeom>
            <a:avLst/>
            <a:gdLst/>
            <a:ahLst/>
            <a:cxnLst/>
            <a:rect l="l" t="t" r="r" b="b"/>
            <a:pathLst>
              <a:path w="2074545" h="792479">
                <a:moveTo>
                  <a:pt x="0" y="132079"/>
                </a:moveTo>
                <a:lnTo>
                  <a:pt x="7000" y="89570"/>
                </a:lnTo>
                <a:lnTo>
                  <a:pt x="26460" y="52799"/>
                </a:lnTo>
                <a:lnTo>
                  <a:pt x="56063" y="24082"/>
                </a:lnTo>
                <a:lnTo>
                  <a:pt x="93495" y="5734"/>
                </a:lnTo>
                <a:lnTo>
                  <a:pt x="1209928" y="0"/>
                </a:lnTo>
                <a:lnTo>
                  <a:pt x="1728470" y="0"/>
                </a:lnTo>
                <a:lnTo>
                  <a:pt x="1942083" y="0"/>
                </a:lnTo>
                <a:lnTo>
                  <a:pt x="1956748" y="806"/>
                </a:lnTo>
                <a:lnTo>
                  <a:pt x="1997602" y="12217"/>
                </a:lnTo>
                <a:lnTo>
                  <a:pt x="2031946" y="35315"/>
                </a:lnTo>
                <a:lnTo>
                  <a:pt x="2057464" y="67785"/>
                </a:lnTo>
                <a:lnTo>
                  <a:pt x="2071841" y="107311"/>
                </a:lnTo>
                <a:lnTo>
                  <a:pt x="2074164" y="462279"/>
                </a:lnTo>
                <a:lnTo>
                  <a:pt x="2074164" y="494410"/>
                </a:lnTo>
                <a:lnTo>
                  <a:pt x="2074164" y="660400"/>
                </a:lnTo>
                <a:lnTo>
                  <a:pt x="2073357" y="675064"/>
                </a:lnTo>
                <a:lnTo>
                  <a:pt x="2070995" y="689263"/>
                </a:lnTo>
                <a:lnTo>
                  <a:pt x="2055431" y="728204"/>
                </a:lnTo>
                <a:lnTo>
                  <a:pt x="2028952" y="759863"/>
                </a:lnTo>
                <a:lnTo>
                  <a:pt x="1993872" y="781924"/>
                </a:lnTo>
                <a:lnTo>
                  <a:pt x="1952508" y="792073"/>
                </a:lnTo>
                <a:lnTo>
                  <a:pt x="1728470" y="792479"/>
                </a:lnTo>
                <a:lnTo>
                  <a:pt x="1209928" y="792479"/>
                </a:lnTo>
                <a:lnTo>
                  <a:pt x="132079" y="792479"/>
                </a:lnTo>
                <a:lnTo>
                  <a:pt x="117415" y="791673"/>
                </a:lnTo>
                <a:lnTo>
                  <a:pt x="76561" y="780262"/>
                </a:lnTo>
                <a:lnTo>
                  <a:pt x="42217" y="757164"/>
                </a:lnTo>
                <a:lnTo>
                  <a:pt x="16699" y="724694"/>
                </a:lnTo>
                <a:lnTo>
                  <a:pt x="2322" y="685168"/>
                </a:lnTo>
                <a:lnTo>
                  <a:pt x="0" y="660400"/>
                </a:lnTo>
                <a:lnTo>
                  <a:pt x="0" y="462279"/>
                </a:lnTo>
                <a:lnTo>
                  <a:pt x="0" y="132079"/>
                </a:lnTo>
                <a:close/>
              </a:path>
            </a:pathLst>
          </a:custGeom>
          <a:ln w="28956">
            <a:solidFill>
              <a:srgbClr val="000000"/>
            </a:solidFill>
          </a:ln>
        </p:spPr>
        <p:txBody>
          <a:bodyPr wrap="square" lIns="0" tIns="0" rIns="0" bIns="0" rtlCol="0"/>
          <a:lstStyle/>
          <a:p>
            <a:endParaRPr/>
          </a:p>
        </p:txBody>
      </p:sp>
      <p:sp>
        <p:nvSpPr>
          <p:cNvPr id="32" name="object 32"/>
          <p:cNvSpPr txBox="1"/>
          <p:nvPr/>
        </p:nvSpPr>
        <p:spPr>
          <a:xfrm>
            <a:off x="10106025" y="3787195"/>
            <a:ext cx="1557020" cy="711200"/>
          </a:xfrm>
          <a:prstGeom prst="rect">
            <a:avLst/>
          </a:prstGeom>
        </p:spPr>
        <p:txBody>
          <a:bodyPr vert="horz" wrap="square" lIns="0" tIns="0" rIns="0" bIns="0" rtlCol="0">
            <a:spAutoFit/>
          </a:bodyPr>
          <a:lstStyle/>
          <a:p>
            <a:pPr marL="12700">
              <a:lnSpc>
                <a:spcPts val="2795"/>
              </a:lnSpc>
            </a:pPr>
            <a:r>
              <a:rPr sz="2400" b="1" spc="-5" dirty="0">
                <a:latin typeface="宋体"/>
                <a:cs typeface="宋体"/>
              </a:rPr>
              <a:t>假设预分频</a:t>
            </a:r>
            <a:endParaRPr sz="2400">
              <a:latin typeface="宋体"/>
              <a:cs typeface="宋体"/>
            </a:endParaRPr>
          </a:p>
          <a:p>
            <a:pPr marL="53340">
              <a:lnSpc>
                <a:spcPts val="2795"/>
              </a:lnSpc>
            </a:pPr>
            <a:r>
              <a:rPr sz="2400" b="1" dirty="0">
                <a:latin typeface="宋体"/>
                <a:cs typeface="宋体"/>
              </a:rPr>
              <a:t>系数</a:t>
            </a:r>
            <a:r>
              <a:rPr sz="2400" b="1" spc="-5" dirty="0">
                <a:latin typeface="Consolas"/>
                <a:cs typeface="Consolas"/>
              </a:rPr>
              <a:t>PSC=3</a:t>
            </a:r>
            <a:endParaRPr sz="2400">
              <a:latin typeface="Consolas"/>
              <a:cs typeface="Consolas"/>
            </a:endParaRPr>
          </a:p>
        </p:txBody>
      </p:sp>
    </p:spTree>
    <p:extLst>
      <p:ext uri="{BB962C8B-B14F-4D97-AF65-F5344CB8AC3E}">
        <p14:creationId xmlns:p14="http://schemas.microsoft.com/office/powerpoint/2010/main" val="3871218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374395" y="1187693"/>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计数模块</a:t>
            </a:r>
            <a:endParaRPr sz="2400">
              <a:latin typeface="微软雅黑"/>
              <a:cs typeface="微软雅黑"/>
            </a:endParaRPr>
          </a:p>
        </p:txBody>
      </p:sp>
      <p:sp>
        <p:nvSpPr>
          <p:cNvPr id="13" name="object 13"/>
          <p:cNvSpPr/>
          <p:nvPr/>
        </p:nvSpPr>
        <p:spPr>
          <a:xfrm>
            <a:off x="1559052" y="3119627"/>
            <a:ext cx="2286762" cy="602742"/>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547622" y="3108198"/>
            <a:ext cx="2260091" cy="576071"/>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1547622" y="3108198"/>
            <a:ext cx="2260600" cy="576580"/>
          </a:xfrm>
          <a:custGeom>
            <a:avLst/>
            <a:gdLst/>
            <a:ahLst/>
            <a:cxnLst/>
            <a:rect l="l" t="t" r="r" b="b"/>
            <a:pathLst>
              <a:path w="2260600" h="576579">
                <a:moveTo>
                  <a:pt x="0" y="576071"/>
                </a:moveTo>
                <a:lnTo>
                  <a:pt x="2260091" y="576071"/>
                </a:lnTo>
                <a:lnTo>
                  <a:pt x="2260091" y="0"/>
                </a:lnTo>
                <a:lnTo>
                  <a:pt x="0" y="0"/>
                </a:lnTo>
                <a:lnTo>
                  <a:pt x="0" y="576071"/>
                </a:lnTo>
                <a:close/>
              </a:path>
            </a:pathLst>
          </a:custGeom>
          <a:ln w="25908">
            <a:solidFill>
              <a:srgbClr val="FFFFFF"/>
            </a:solidFill>
          </a:ln>
        </p:spPr>
        <p:txBody>
          <a:bodyPr wrap="square" lIns="0" tIns="0" rIns="0" bIns="0" rtlCol="0"/>
          <a:lstStyle/>
          <a:p>
            <a:endParaRPr/>
          </a:p>
        </p:txBody>
      </p:sp>
      <p:sp>
        <p:nvSpPr>
          <p:cNvPr id="16" name="object 16"/>
          <p:cNvSpPr txBox="1"/>
          <p:nvPr/>
        </p:nvSpPr>
        <p:spPr>
          <a:xfrm>
            <a:off x="1955673" y="3221598"/>
            <a:ext cx="15494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核心计数器</a:t>
            </a:r>
            <a:endParaRPr sz="2400">
              <a:latin typeface="微软雅黑"/>
              <a:cs typeface="微软雅黑"/>
            </a:endParaRPr>
          </a:p>
        </p:txBody>
      </p:sp>
      <p:sp>
        <p:nvSpPr>
          <p:cNvPr id="17" name="object 17"/>
          <p:cNvSpPr/>
          <p:nvPr/>
        </p:nvSpPr>
        <p:spPr>
          <a:xfrm>
            <a:off x="1572767" y="4175759"/>
            <a:ext cx="2254758" cy="602742"/>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1772285" y="4332478"/>
            <a:ext cx="1815211" cy="294651"/>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1561338" y="4164329"/>
            <a:ext cx="2228088" cy="576072"/>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1561338" y="4164329"/>
            <a:ext cx="2228215" cy="576580"/>
          </a:xfrm>
          <a:custGeom>
            <a:avLst/>
            <a:gdLst/>
            <a:ahLst/>
            <a:cxnLst/>
            <a:rect l="l" t="t" r="r" b="b"/>
            <a:pathLst>
              <a:path w="2228215" h="576579">
                <a:moveTo>
                  <a:pt x="0" y="576072"/>
                </a:moveTo>
                <a:lnTo>
                  <a:pt x="2228088" y="576072"/>
                </a:lnTo>
                <a:lnTo>
                  <a:pt x="2228088" y="0"/>
                </a:lnTo>
                <a:lnTo>
                  <a:pt x="0" y="0"/>
                </a:lnTo>
                <a:lnTo>
                  <a:pt x="0" y="576072"/>
                </a:lnTo>
                <a:close/>
              </a:path>
            </a:pathLst>
          </a:custGeom>
          <a:ln w="25908">
            <a:solidFill>
              <a:srgbClr val="FFFFFF"/>
            </a:solidFill>
          </a:ln>
        </p:spPr>
        <p:txBody>
          <a:bodyPr wrap="square" lIns="0" tIns="0" rIns="0" bIns="0" rtlCol="0"/>
          <a:lstStyle/>
          <a:p>
            <a:endParaRPr/>
          </a:p>
        </p:txBody>
      </p:sp>
      <p:sp>
        <p:nvSpPr>
          <p:cNvPr id="21" name="object 21"/>
          <p:cNvSpPr txBox="1"/>
          <p:nvPr/>
        </p:nvSpPr>
        <p:spPr>
          <a:xfrm>
            <a:off x="1728977" y="4305162"/>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计数器寄存器</a:t>
            </a:r>
            <a:endParaRPr sz="2400">
              <a:latin typeface="微软雅黑"/>
              <a:cs typeface="微软雅黑"/>
            </a:endParaRPr>
          </a:p>
        </p:txBody>
      </p:sp>
      <p:sp>
        <p:nvSpPr>
          <p:cNvPr id="22" name="object 22"/>
          <p:cNvSpPr/>
          <p:nvPr/>
        </p:nvSpPr>
        <p:spPr>
          <a:xfrm>
            <a:off x="4639817" y="3092957"/>
            <a:ext cx="6924040" cy="565785"/>
          </a:xfrm>
          <a:custGeom>
            <a:avLst/>
            <a:gdLst/>
            <a:ahLst/>
            <a:cxnLst/>
            <a:rect l="l" t="t" r="r" b="b"/>
            <a:pathLst>
              <a:path w="6924040" h="565785">
                <a:moveTo>
                  <a:pt x="0" y="65024"/>
                </a:moveTo>
                <a:lnTo>
                  <a:pt x="13396" y="25463"/>
                </a:lnTo>
                <a:lnTo>
                  <a:pt x="47263" y="2450"/>
                </a:lnTo>
                <a:lnTo>
                  <a:pt x="6858508" y="0"/>
                </a:lnTo>
                <a:lnTo>
                  <a:pt x="6872948" y="1605"/>
                </a:lnTo>
                <a:lnTo>
                  <a:pt x="6908046" y="22879"/>
                </a:lnTo>
                <a:lnTo>
                  <a:pt x="6923436" y="61462"/>
                </a:lnTo>
                <a:lnTo>
                  <a:pt x="6923532" y="500379"/>
                </a:lnTo>
                <a:lnTo>
                  <a:pt x="6921926" y="514820"/>
                </a:lnTo>
                <a:lnTo>
                  <a:pt x="6900652" y="549918"/>
                </a:lnTo>
                <a:lnTo>
                  <a:pt x="6862069" y="565308"/>
                </a:lnTo>
                <a:lnTo>
                  <a:pt x="65024" y="565403"/>
                </a:lnTo>
                <a:lnTo>
                  <a:pt x="50583" y="563798"/>
                </a:lnTo>
                <a:lnTo>
                  <a:pt x="15485" y="542524"/>
                </a:lnTo>
                <a:lnTo>
                  <a:pt x="95" y="503941"/>
                </a:lnTo>
                <a:lnTo>
                  <a:pt x="0" y="65024"/>
                </a:lnTo>
                <a:close/>
              </a:path>
            </a:pathLst>
          </a:custGeom>
          <a:ln w="28956">
            <a:solidFill>
              <a:srgbClr val="5B9BD4"/>
            </a:solidFill>
          </a:ln>
        </p:spPr>
        <p:txBody>
          <a:bodyPr wrap="square" lIns="0" tIns="0" rIns="0" bIns="0" rtlCol="0"/>
          <a:lstStyle/>
          <a:p>
            <a:endParaRPr/>
          </a:p>
        </p:txBody>
      </p:sp>
      <p:sp>
        <p:nvSpPr>
          <p:cNvPr id="23" name="object 23"/>
          <p:cNvSpPr txBox="1"/>
          <p:nvPr/>
        </p:nvSpPr>
        <p:spPr>
          <a:xfrm>
            <a:off x="4729098" y="3246627"/>
            <a:ext cx="4589145" cy="330835"/>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对计数时</a:t>
            </a:r>
            <a:r>
              <a:rPr sz="2400" b="1" spc="-10" dirty="0">
                <a:latin typeface="微软雅黑"/>
                <a:cs typeface="微软雅黑"/>
              </a:rPr>
              <a:t>钟</a:t>
            </a:r>
            <a:r>
              <a:rPr sz="2400" b="1" dirty="0">
                <a:latin typeface="微软雅黑"/>
                <a:cs typeface="微软雅黑"/>
              </a:rPr>
              <a:t>CK_CNT</a:t>
            </a:r>
            <a:r>
              <a:rPr sz="2400" b="1" spc="-5" dirty="0">
                <a:latin typeface="微软雅黑"/>
                <a:cs typeface="微软雅黑"/>
              </a:rPr>
              <a:t>进行二次计数</a:t>
            </a:r>
            <a:endParaRPr sz="2400">
              <a:latin typeface="微软雅黑"/>
              <a:cs typeface="微软雅黑"/>
            </a:endParaRPr>
          </a:p>
        </p:txBody>
      </p:sp>
      <p:sp>
        <p:nvSpPr>
          <p:cNvPr id="24" name="object 24"/>
          <p:cNvSpPr/>
          <p:nvPr/>
        </p:nvSpPr>
        <p:spPr>
          <a:xfrm>
            <a:off x="4639817" y="4173473"/>
            <a:ext cx="7091680" cy="567055"/>
          </a:xfrm>
          <a:custGeom>
            <a:avLst/>
            <a:gdLst/>
            <a:ahLst/>
            <a:cxnLst/>
            <a:rect l="l" t="t" r="r" b="b"/>
            <a:pathLst>
              <a:path w="7091680" h="567054">
                <a:moveTo>
                  <a:pt x="0" y="65277"/>
                </a:moveTo>
                <a:lnTo>
                  <a:pt x="13354" y="25696"/>
                </a:lnTo>
                <a:lnTo>
                  <a:pt x="47133" y="2551"/>
                </a:lnTo>
                <a:lnTo>
                  <a:pt x="7025894" y="0"/>
                </a:lnTo>
                <a:lnTo>
                  <a:pt x="7040331" y="1600"/>
                </a:lnTo>
                <a:lnTo>
                  <a:pt x="7075481" y="22810"/>
                </a:lnTo>
                <a:lnTo>
                  <a:pt x="7091053" y="61302"/>
                </a:lnTo>
                <a:lnTo>
                  <a:pt x="7091172" y="501650"/>
                </a:lnTo>
                <a:lnTo>
                  <a:pt x="7089571" y="516087"/>
                </a:lnTo>
                <a:lnTo>
                  <a:pt x="7068361" y="551237"/>
                </a:lnTo>
                <a:lnTo>
                  <a:pt x="7029869" y="566809"/>
                </a:lnTo>
                <a:lnTo>
                  <a:pt x="65278" y="566927"/>
                </a:lnTo>
                <a:lnTo>
                  <a:pt x="50840" y="565327"/>
                </a:lnTo>
                <a:lnTo>
                  <a:pt x="15690" y="544117"/>
                </a:lnTo>
                <a:lnTo>
                  <a:pt x="118" y="505625"/>
                </a:lnTo>
                <a:lnTo>
                  <a:pt x="0" y="65277"/>
                </a:lnTo>
                <a:close/>
              </a:path>
            </a:pathLst>
          </a:custGeom>
          <a:ln w="28955">
            <a:solidFill>
              <a:srgbClr val="5B9BD4"/>
            </a:solidFill>
          </a:ln>
        </p:spPr>
        <p:txBody>
          <a:bodyPr wrap="square" lIns="0" tIns="0" rIns="0" bIns="0" rtlCol="0"/>
          <a:lstStyle/>
          <a:p>
            <a:endParaRPr/>
          </a:p>
        </p:txBody>
      </p:sp>
      <p:sp>
        <p:nvSpPr>
          <p:cNvPr id="25" name="object 25"/>
          <p:cNvSpPr txBox="1"/>
          <p:nvPr/>
        </p:nvSpPr>
        <p:spPr>
          <a:xfrm>
            <a:off x="4729098" y="4328159"/>
            <a:ext cx="6784975" cy="330835"/>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TIMx_</a:t>
            </a:r>
            <a:r>
              <a:rPr sz="2400" b="1" spc="5" dirty="0">
                <a:latin typeface="微软雅黑"/>
                <a:cs typeface="微软雅黑"/>
              </a:rPr>
              <a:t>C</a:t>
            </a:r>
            <a:r>
              <a:rPr sz="2400" b="1" spc="-5" dirty="0">
                <a:latin typeface="微软雅黑"/>
                <a:cs typeface="微软雅黑"/>
              </a:rPr>
              <a:t>N</a:t>
            </a:r>
            <a:r>
              <a:rPr sz="2400" b="1" dirty="0">
                <a:latin typeface="微软雅黑"/>
                <a:cs typeface="微软雅黑"/>
              </a:rPr>
              <a:t>T</a:t>
            </a:r>
            <a:r>
              <a:rPr sz="2400" b="1" spc="-5" dirty="0">
                <a:latin typeface="微软雅黑"/>
                <a:cs typeface="微软雅黑"/>
              </a:rPr>
              <a:t>：存放核心计数器运行时的当前计数值</a:t>
            </a:r>
            <a:endParaRPr sz="2400">
              <a:latin typeface="微软雅黑"/>
              <a:cs typeface="微软雅黑"/>
            </a:endParaRPr>
          </a:p>
        </p:txBody>
      </p:sp>
      <p:sp>
        <p:nvSpPr>
          <p:cNvPr id="26" name="object 26"/>
          <p:cNvSpPr/>
          <p:nvPr/>
        </p:nvSpPr>
        <p:spPr>
          <a:xfrm>
            <a:off x="3989832" y="3284220"/>
            <a:ext cx="407034" cy="213360"/>
          </a:xfrm>
          <a:custGeom>
            <a:avLst/>
            <a:gdLst/>
            <a:ahLst/>
            <a:cxnLst/>
            <a:rect l="l" t="t" r="r" b="b"/>
            <a:pathLst>
              <a:path w="407035" h="213360">
                <a:moveTo>
                  <a:pt x="300227" y="0"/>
                </a:moveTo>
                <a:lnTo>
                  <a:pt x="300227" y="53339"/>
                </a:lnTo>
                <a:lnTo>
                  <a:pt x="0" y="53339"/>
                </a:lnTo>
                <a:lnTo>
                  <a:pt x="0" y="160019"/>
                </a:lnTo>
                <a:lnTo>
                  <a:pt x="300227" y="160019"/>
                </a:lnTo>
                <a:lnTo>
                  <a:pt x="300227" y="213359"/>
                </a:lnTo>
                <a:lnTo>
                  <a:pt x="406907" y="106679"/>
                </a:lnTo>
                <a:lnTo>
                  <a:pt x="300227" y="0"/>
                </a:lnTo>
                <a:close/>
              </a:path>
            </a:pathLst>
          </a:custGeom>
          <a:solidFill>
            <a:srgbClr val="FF0000"/>
          </a:solidFill>
        </p:spPr>
        <p:txBody>
          <a:bodyPr wrap="square" lIns="0" tIns="0" rIns="0" bIns="0" rtlCol="0"/>
          <a:lstStyle/>
          <a:p>
            <a:endParaRPr/>
          </a:p>
        </p:txBody>
      </p:sp>
      <p:sp>
        <p:nvSpPr>
          <p:cNvPr id="27" name="object 27"/>
          <p:cNvSpPr/>
          <p:nvPr/>
        </p:nvSpPr>
        <p:spPr>
          <a:xfrm>
            <a:off x="3989832" y="3284220"/>
            <a:ext cx="407034" cy="213360"/>
          </a:xfrm>
          <a:custGeom>
            <a:avLst/>
            <a:gdLst/>
            <a:ahLst/>
            <a:cxnLst/>
            <a:rect l="l" t="t" r="r" b="b"/>
            <a:pathLst>
              <a:path w="407035" h="213360">
                <a:moveTo>
                  <a:pt x="0" y="53339"/>
                </a:moveTo>
                <a:lnTo>
                  <a:pt x="300227" y="53339"/>
                </a:lnTo>
                <a:lnTo>
                  <a:pt x="300227" y="0"/>
                </a:lnTo>
                <a:lnTo>
                  <a:pt x="406907" y="106679"/>
                </a:lnTo>
                <a:lnTo>
                  <a:pt x="300227" y="213359"/>
                </a:lnTo>
                <a:lnTo>
                  <a:pt x="300227" y="160019"/>
                </a:lnTo>
                <a:lnTo>
                  <a:pt x="0" y="160019"/>
                </a:lnTo>
                <a:lnTo>
                  <a:pt x="0" y="53339"/>
                </a:lnTo>
                <a:close/>
              </a:path>
            </a:pathLst>
          </a:custGeom>
          <a:ln w="12192">
            <a:solidFill>
              <a:srgbClr val="41709C"/>
            </a:solidFill>
          </a:ln>
        </p:spPr>
        <p:txBody>
          <a:bodyPr wrap="square" lIns="0" tIns="0" rIns="0" bIns="0" rtlCol="0"/>
          <a:lstStyle/>
          <a:p>
            <a:endParaRPr/>
          </a:p>
        </p:txBody>
      </p:sp>
      <p:sp>
        <p:nvSpPr>
          <p:cNvPr id="28" name="object 28"/>
          <p:cNvSpPr/>
          <p:nvPr/>
        </p:nvSpPr>
        <p:spPr>
          <a:xfrm>
            <a:off x="3989832" y="4344923"/>
            <a:ext cx="407034" cy="213360"/>
          </a:xfrm>
          <a:custGeom>
            <a:avLst/>
            <a:gdLst/>
            <a:ahLst/>
            <a:cxnLst/>
            <a:rect l="l" t="t" r="r" b="b"/>
            <a:pathLst>
              <a:path w="407035" h="213360">
                <a:moveTo>
                  <a:pt x="300227" y="0"/>
                </a:moveTo>
                <a:lnTo>
                  <a:pt x="300227" y="53339"/>
                </a:lnTo>
                <a:lnTo>
                  <a:pt x="0" y="53339"/>
                </a:lnTo>
                <a:lnTo>
                  <a:pt x="0" y="160019"/>
                </a:lnTo>
                <a:lnTo>
                  <a:pt x="300227" y="160019"/>
                </a:lnTo>
                <a:lnTo>
                  <a:pt x="300227" y="213359"/>
                </a:lnTo>
                <a:lnTo>
                  <a:pt x="406907" y="106680"/>
                </a:lnTo>
                <a:lnTo>
                  <a:pt x="300227" y="0"/>
                </a:lnTo>
                <a:close/>
              </a:path>
            </a:pathLst>
          </a:custGeom>
          <a:solidFill>
            <a:srgbClr val="FF0000"/>
          </a:solidFill>
        </p:spPr>
        <p:txBody>
          <a:bodyPr wrap="square" lIns="0" tIns="0" rIns="0" bIns="0" rtlCol="0"/>
          <a:lstStyle/>
          <a:p>
            <a:endParaRPr/>
          </a:p>
        </p:txBody>
      </p:sp>
      <p:sp>
        <p:nvSpPr>
          <p:cNvPr id="29" name="object 29"/>
          <p:cNvSpPr/>
          <p:nvPr/>
        </p:nvSpPr>
        <p:spPr>
          <a:xfrm>
            <a:off x="3989832" y="4344923"/>
            <a:ext cx="407034" cy="213360"/>
          </a:xfrm>
          <a:custGeom>
            <a:avLst/>
            <a:gdLst/>
            <a:ahLst/>
            <a:cxnLst/>
            <a:rect l="l" t="t" r="r" b="b"/>
            <a:pathLst>
              <a:path w="407035" h="213360">
                <a:moveTo>
                  <a:pt x="0" y="53339"/>
                </a:moveTo>
                <a:lnTo>
                  <a:pt x="300227" y="53339"/>
                </a:lnTo>
                <a:lnTo>
                  <a:pt x="300227" y="0"/>
                </a:lnTo>
                <a:lnTo>
                  <a:pt x="406907" y="106680"/>
                </a:lnTo>
                <a:lnTo>
                  <a:pt x="300227" y="213359"/>
                </a:lnTo>
                <a:lnTo>
                  <a:pt x="300227" y="160019"/>
                </a:lnTo>
                <a:lnTo>
                  <a:pt x="0" y="160019"/>
                </a:lnTo>
                <a:lnTo>
                  <a:pt x="0" y="53339"/>
                </a:lnTo>
                <a:close/>
              </a:path>
            </a:pathLst>
          </a:custGeom>
          <a:ln w="12192">
            <a:solidFill>
              <a:srgbClr val="41709C"/>
            </a:solidFill>
          </a:ln>
        </p:spPr>
        <p:txBody>
          <a:bodyPr wrap="square" lIns="0" tIns="0" rIns="0" bIns="0" rtlCol="0"/>
          <a:lstStyle/>
          <a:p>
            <a:endParaRPr/>
          </a:p>
        </p:txBody>
      </p:sp>
      <p:sp>
        <p:nvSpPr>
          <p:cNvPr id="30" name="object 30"/>
          <p:cNvSpPr txBox="1">
            <a:spLocks noGrp="1"/>
          </p:cNvSpPr>
          <p:nvPr>
            <p:ph type="title"/>
          </p:nvPr>
        </p:nvSpPr>
        <p:spPr>
          <a:prstGeom prst="rect">
            <a:avLst/>
          </a:prstGeom>
        </p:spPr>
        <p:txBody>
          <a:bodyPr vert="horz" wrap="square" lIns="0" tIns="0" rIns="0" bIns="0" rtlCol="0">
            <a:spAutoFit/>
          </a:bodyPr>
          <a:lstStyle/>
          <a:p>
            <a:pPr marL="5333365">
              <a:lnSpc>
                <a:spcPct val="100000"/>
              </a:lnSpc>
            </a:pPr>
            <a:r>
              <a:rPr spc="-5" dirty="0"/>
              <a:t>计数模块</a:t>
            </a:r>
          </a:p>
        </p:txBody>
      </p:sp>
    </p:spTree>
    <p:extLst>
      <p:ext uri="{BB962C8B-B14F-4D97-AF65-F5344CB8AC3E}">
        <p14:creationId xmlns:p14="http://schemas.microsoft.com/office/powerpoint/2010/main" val="3169179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46431" y="1165722"/>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自动重载模块</a:t>
            </a:r>
            <a:endParaRPr sz="2400">
              <a:latin typeface="微软雅黑"/>
              <a:cs typeface="微软雅黑"/>
            </a:endParaRPr>
          </a:p>
        </p:txBody>
      </p:sp>
      <p:sp>
        <p:nvSpPr>
          <p:cNvPr id="13" name="object 13"/>
          <p:cNvSpPr/>
          <p:nvPr/>
        </p:nvSpPr>
        <p:spPr>
          <a:xfrm>
            <a:off x="1438655" y="3813047"/>
            <a:ext cx="2286762" cy="601218"/>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427225" y="3801617"/>
            <a:ext cx="2260092" cy="574548"/>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1427225" y="3801617"/>
            <a:ext cx="2260600" cy="574675"/>
          </a:xfrm>
          <a:custGeom>
            <a:avLst/>
            <a:gdLst/>
            <a:ahLst/>
            <a:cxnLst/>
            <a:rect l="l" t="t" r="r" b="b"/>
            <a:pathLst>
              <a:path w="2260600" h="574675">
                <a:moveTo>
                  <a:pt x="0" y="574547"/>
                </a:moveTo>
                <a:lnTo>
                  <a:pt x="2260092" y="574547"/>
                </a:lnTo>
                <a:lnTo>
                  <a:pt x="2260092" y="0"/>
                </a:lnTo>
                <a:lnTo>
                  <a:pt x="0" y="0"/>
                </a:lnTo>
                <a:lnTo>
                  <a:pt x="0" y="574547"/>
                </a:lnTo>
                <a:close/>
              </a:path>
            </a:pathLst>
          </a:custGeom>
          <a:ln w="25908">
            <a:solidFill>
              <a:srgbClr val="FFFFFF"/>
            </a:solidFill>
          </a:ln>
        </p:spPr>
        <p:txBody>
          <a:bodyPr wrap="square" lIns="0" tIns="0" rIns="0" bIns="0" rtlCol="0"/>
          <a:lstStyle/>
          <a:p>
            <a:endParaRPr/>
          </a:p>
        </p:txBody>
      </p:sp>
      <p:sp>
        <p:nvSpPr>
          <p:cNvPr id="16" name="object 16"/>
          <p:cNvSpPr txBox="1"/>
          <p:nvPr/>
        </p:nvSpPr>
        <p:spPr>
          <a:xfrm>
            <a:off x="1641475" y="3935719"/>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递增计数模式</a:t>
            </a:r>
            <a:endParaRPr sz="2400">
              <a:latin typeface="微软雅黑"/>
              <a:cs typeface="微软雅黑"/>
            </a:endParaRPr>
          </a:p>
        </p:txBody>
      </p:sp>
      <p:sp>
        <p:nvSpPr>
          <p:cNvPr id="17" name="object 17"/>
          <p:cNvSpPr/>
          <p:nvPr/>
        </p:nvSpPr>
        <p:spPr>
          <a:xfrm>
            <a:off x="1452372" y="4869179"/>
            <a:ext cx="2254757" cy="601218"/>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1651126" y="5023992"/>
            <a:ext cx="1814553" cy="297385"/>
          </a:xfrm>
          <a:prstGeom prst="rect">
            <a:avLst/>
          </a:prstGeom>
          <a:blipFill>
            <a:blip r:embed="rId7" cstate="print"/>
            <a:stretch>
              <a:fillRect/>
            </a:stretch>
          </a:blipFill>
        </p:spPr>
        <p:txBody>
          <a:bodyPr wrap="square" lIns="0" tIns="0" rIns="0" bIns="0" rtlCol="0"/>
          <a:lstStyle/>
          <a:p>
            <a:endParaRPr/>
          </a:p>
        </p:txBody>
      </p:sp>
      <p:sp>
        <p:nvSpPr>
          <p:cNvPr id="19" name="object 19"/>
          <p:cNvSpPr/>
          <p:nvPr/>
        </p:nvSpPr>
        <p:spPr>
          <a:xfrm>
            <a:off x="1440941" y="4857750"/>
            <a:ext cx="2228088" cy="574547"/>
          </a:xfrm>
          <a:prstGeom prst="rect">
            <a:avLst/>
          </a:prstGeom>
          <a:blipFill>
            <a:blip r:embed="rId8" cstate="print"/>
            <a:stretch>
              <a:fillRect/>
            </a:stretch>
          </a:blipFill>
        </p:spPr>
        <p:txBody>
          <a:bodyPr wrap="square" lIns="0" tIns="0" rIns="0" bIns="0" rtlCol="0"/>
          <a:lstStyle/>
          <a:p>
            <a:endParaRPr/>
          </a:p>
        </p:txBody>
      </p:sp>
      <p:sp>
        <p:nvSpPr>
          <p:cNvPr id="20" name="object 20"/>
          <p:cNvSpPr/>
          <p:nvPr/>
        </p:nvSpPr>
        <p:spPr>
          <a:xfrm>
            <a:off x="1440941" y="4857750"/>
            <a:ext cx="2228215" cy="574675"/>
          </a:xfrm>
          <a:custGeom>
            <a:avLst/>
            <a:gdLst/>
            <a:ahLst/>
            <a:cxnLst/>
            <a:rect l="l" t="t" r="r" b="b"/>
            <a:pathLst>
              <a:path w="2228215" h="574675">
                <a:moveTo>
                  <a:pt x="0" y="574547"/>
                </a:moveTo>
                <a:lnTo>
                  <a:pt x="2228088" y="574547"/>
                </a:lnTo>
                <a:lnTo>
                  <a:pt x="2228088" y="0"/>
                </a:lnTo>
                <a:lnTo>
                  <a:pt x="0" y="0"/>
                </a:lnTo>
                <a:lnTo>
                  <a:pt x="0" y="574547"/>
                </a:lnTo>
                <a:close/>
              </a:path>
            </a:pathLst>
          </a:custGeom>
          <a:ln w="25908">
            <a:solidFill>
              <a:srgbClr val="FFFFFF"/>
            </a:solidFill>
          </a:ln>
        </p:spPr>
        <p:txBody>
          <a:bodyPr wrap="square" lIns="0" tIns="0" rIns="0" bIns="0" rtlCol="0"/>
          <a:lstStyle/>
          <a:p>
            <a:endParaRPr/>
          </a:p>
        </p:txBody>
      </p:sp>
      <p:sp>
        <p:nvSpPr>
          <p:cNvPr id="21" name="object 21"/>
          <p:cNvSpPr txBox="1"/>
          <p:nvPr/>
        </p:nvSpPr>
        <p:spPr>
          <a:xfrm>
            <a:off x="1608582" y="4997947"/>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递减计数模式</a:t>
            </a:r>
            <a:endParaRPr sz="2400">
              <a:latin typeface="微软雅黑"/>
              <a:cs typeface="微软雅黑"/>
            </a:endParaRPr>
          </a:p>
        </p:txBody>
      </p:sp>
      <p:sp>
        <p:nvSpPr>
          <p:cNvPr id="22" name="object 22"/>
          <p:cNvSpPr/>
          <p:nvPr/>
        </p:nvSpPr>
        <p:spPr>
          <a:xfrm>
            <a:off x="4519421" y="3784853"/>
            <a:ext cx="6204585" cy="567055"/>
          </a:xfrm>
          <a:custGeom>
            <a:avLst/>
            <a:gdLst/>
            <a:ahLst/>
            <a:cxnLst/>
            <a:rect l="l" t="t" r="r" b="b"/>
            <a:pathLst>
              <a:path w="6204584" h="567054">
                <a:moveTo>
                  <a:pt x="0" y="65278"/>
                </a:moveTo>
                <a:lnTo>
                  <a:pt x="13354" y="25696"/>
                </a:lnTo>
                <a:lnTo>
                  <a:pt x="47133" y="2551"/>
                </a:lnTo>
                <a:lnTo>
                  <a:pt x="6138926" y="0"/>
                </a:lnTo>
                <a:lnTo>
                  <a:pt x="6153363" y="1600"/>
                </a:lnTo>
                <a:lnTo>
                  <a:pt x="6188513" y="22810"/>
                </a:lnTo>
                <a:lnTo>
                  <a:pt x="6204085" y="61302"/>
                </a:lnTo>
                <a:lnTo>
                  <a:pt x="6204204" y="501650"/>
                </a:lnTo>
                <a:lnTo>
                  <a:pt x="6202603" y="516087"/>
                </a:lnTo>
                <a:lnTo>
                  <a:pt x="6181393" y="551237"/>
                </a:lnTo>
                <a:lnTo>
                  <a:pt x="6142901" y="566809"/>
                </a:lnTo>
                <a:lnTo>
                  <a:pt x="65277" y="566928"/>
                </a:lnTo>
                <a:lnTo>
                  <a:pt x="50840" y="565327"/>
                </a:lnTo>
                <a:lnTo>
                  <a:pt x="15690" y="544117"/>
                </a:lnTo>
                <a:lnTo>
                  <a:pt x="118" y="505625"/>
                </a:lnTo>
                <a:lnTo>
                  <a:pt x="0" y="65278"/>
                </a:lnTo>
                <a:close/>
              </a:path>
            </a:pathLst>
          </a:custGeom>
          <a:ln w="28956">
            <a:solidFill>
              <a:srgbClr val="5B9BD4"/>
            </a:solidFill>
          </a:ln>
        </p:spPr>
        <p:txBody>
          <a:bodyPr wrap="square" lIns="0" tIns="0" rIns="0" bIns="0" rtlCol="0"/>
          <a:lstStyle/>
          <a:p>
            <a:endParaRPr/>
          </a:p>
        </p:txBody>
      </p:sp>
      <p:sp>
        <p:nvSpPr>
          <p:cNvPr id="23" name="object 23"/>
          <p:cNvSpPr txBox="1"/>
          <p:nvPr/>
        </p:nvSpPr>
        <p:spPr>
          <a:xfrm>
            <a:off x="4608703" y="3940037"/>
            <a:ext cx="5870575"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a:t>
            </a:r>
            <a:r>
              <a:rPr sz="2400" b="1" dirty="0">
                <a:latin typeface="微软雅黑"/>
                <a:cs typeface="微软雅黑"/>
              </a:rPr>
              <a:t>Mx_A</a:t>
            </a:r>
            <a:r>
              <a:rPr sz="2400" b="1" spc="5" dirty="0">
                <a:latin typeface="微软雅黑"/>
                <a:cs typeface="微软雅黑"/>
              </a:rPr>
              <a:t>R</a:t>
            </a:r>
            <a:r>
              <a:rPr sz="2400" b="1" dirty="0">
                <a:latin typeface="微软雅黑"/>
                <a:cs typeface="微软雅黑"/>
              </a:rPr>
              <a:t>R的值作为核心计数器的计数终值</a:t>
            </a:r>
            <a:endParaRPr sz="2400">
              <a:latin typeface="微软雅黑"/>
              <a:cs typeface="微软雅黑"/>
            </a:endParaRPr>
          </a:p>
        </p:txBody>
      </p:sp>
      <p:sp>
        <p:nvSpPr>
          <p:cNvPr id="24" name="object 24"/>
          <p:cNvSpPr/>
          <p:nvPr/>
        </p:nvSpPr>
        <p:spPr>
          <a:xfrm>
            <a:off x="4519421" y="4866894"/>
            <a:ext cx="6204585" cy="565785"/>
          </a:xfrm>
          <a:custGeom>
            <a:avLst/>
            <a:gdLst/>
            <a:ahLst/>
            <a:cxnLst/>
            <a:rect l="l" t="t" r="r" b="b"/>
            <a:pathLst>
              <a:path w="6204584" h="565785">
                <a:moveTo>
                  <a:pt x="0" y="65023"/>
                </a:moveTo>
                <a:lnTo>
                  <a:pt x="13396" y="25463"/>
                </a:lnTo>
                <a:lnTo>
                  <a:pt x="47263" y="2450"/>
                </a:lnTo>
                <a:lnTo>
                  <a:pt x="6139180" y="0"/>
                </a:lnTo>
                <a:lnTo>
                  <a:pt x="6153620" y="1605"/>
                </a:lnTo>
                <a:lnTo>
                  <a:pt x="6188718" y="22879"/>
                </a:lnTo>
                <a:lnTo>
                  <a:pt x="6204108" y="61462"/>
                </a:lnTo>
                <a:lnTo>
                  <a:pt x="6204204" y="500379"/>
                </a:lnTo>
                <a:lnTo>
                  <a:pt x="6202598" y="514820"/>
                </a:lnTo>
                <a:lnTo>
                  <a:pt x="6181324" y="549918"/>
                </a:lnTo>
                <a:lnTo>
                  <a:pt x="6142741" y="565308"/>
                </a:lnTo>
                <a:lnTo>
                  <a:pt x="65024" y="565403"/>
                </a:lnTo>
                <a:lnTo>
                  <a:pt x="50583" y="563798"/>
                </a:lnTo>
                <a:lnTo>
                  <a:pt x="15485" y="542524"/>
                </a:lnTo>
                <a:lnTo>
                  <a:pt x="95" y="503941"/>
                </a:lnTo>
                <a:lnTo>
                  <a:pt x="0" y="65023"/>
                </a:lnTo>
                <a:close/>
              </a:path>
            </a:pathLst>
          </a:custGeom>
          <a:ln w="28956">
            <a:solidFill>
              <a:srgbClr val="5B9BD4"/>
            </a:solidFill>
          </a:ln>
        </p:spPr>
        <p:txBody>
          <a:bodyPr wrap="square" lIns="0" tIns="0" rIns="0" bIns="0" rtlCol="0"/>
          <a:lstStyle/>
          <a:p>
            <a:endParaRPr/>
          </a:p>
        </p:txBody>
      </p:sp>
      <p:sp>
        <p:nvSpPr>
          <p:cNvPr id="25" name="object 25"/>
          <p:cNvSpPr txBox="1"/>
          <p:nvPr/>
        </p:nvSpPr>
        <p:spPr>
          <a:xfrm>
            <a:off x="4608703" y="5021442"/>
            <a:ext cx="5870575"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a:t>
            </a:r>
            <a:r>
              <a:rPr sz="2400" b="1" dirty="0">
                <a:latin typeface="微软雅黑"/>
                <a:cs typeface="微软雅黑"/>
              </a:rPr>
              <a:t>Mx_A</a:t>
            </a:r>
            <a:r>
              <a:rPr sz="2400" b="1" spc="5" dirty="0">
                <a:latin typeface="微软雅黑"/>
                <a:cs typeface="微软雅黑"/>
              </a:rPr>
              <a:t>R</a:t>
            </a:r>
            <a:r>
              <a:rPr sz="2400" b="1" dirty="0">
                <a:latin typeface="微软雅黑"/>
                <a:cs typeface="微软雅黑"/>
              </a:rPr>
              <a:t>R的值作为核心计数器的计数初值</a:t>
            </a:r>
            <a:endParaRPr sz="2400">
              <a:latin typeface="微软雅黑"/>
              <a:cs typeface="微软雅黑"/>
            </a:endParaRPr>
          </a:p>
        </p:txBody>
      </p:sp>
      <p:sp>
        <p:nvSpPr>
          <p:cNvPr id="26" name="object 26"/>
          <p:cNvSpPr/>
          <p:nvPr/>
        </p:nvSpPr>
        <p:spPr>
          <a:xfrm>
            <a:off x="3869435" y="3977640"/>
            <a:ext cx="407034" cy="212090"/>
          </a:xfrm>
          <a:custGeom>
            <a:avLst/>
            <a:gdLst/>
            <a:ahLst/>
            <a:cxnLst/>
            <a:rect l="l" t="t" r="r" b="b"/>
            <a:pathLst>
              <a:path w="407035" h="212089">
                <a:moveTo>
                  <a:pt x="300989" y="0"/>
                </a:moveTo>
                <a:lnTo>
                  <a:pt x="300989" y="52959"/>
                </a:lnTo>
                <a:lnTo>
                  <a:pt x="0" y="52959"/>
                </a:lnTo>
                <a:lnTo>
                  <a:pt x="0" y="158877"/>
                </a:lnTo>
                <a:lnTo>
                  <a:pt x="300989" y="158877"/>
                </a:lnTo>
                <a:lnTo>
                  <a:pt x="300989" y="211836"/>
                </a:lnTo>
                <a:lnTo>
                  <a:pt x="406908" y="105918"/>
                </a:lnTo>
                <a:lnTo>
                  <a:pt x="300989" y="0"/>
                </a:lnTo>
                <a:close/>
              </a:path>
            </a:pathLst>
          </a:custGeom>
          <a:solidFill>
            <a:srgbClr val="FF0000"/>
          </a:solidFill>
        </p:spPr>
        <p:txBody>
          <a:bodyPr wrap="square" lIns="0" tIns="0" rIns="0" bIns="0" rtlCol="0"/>
          <a:lstStyle/>
          <a:p>
            <a:endParaRPr/>
          </a:p>
        </p:txBody>
      </p:sp>
      <p:sp>
        <p:nvSpPr>
          <p:cNvPr id="27" name="object 27"/>
          <p:cNvSpPr/>
          <p:nvPr/>
        </p:nvSpPr>
        <p:spPr>
          <a:xfrm>
            <a:off x="3869435" y="3977640"/>
            <a:ext cx="407034" cy="212090"/>
          </a:xfrm>
          <a:custGeom>
            <a:avLst/>
            <a:gdLst/>
            <a:ahLst/>
            <a:cxnLst/>
            <a:rect l="l" t="t" r="r" b="b"/>
            <a:pathLst>
              <a:path w="407035" h="212089">
                <a:moveTo>
                  <a:pt x="0" y="52959"/>
                </a:moveTo>
                <a:lnTo>
                  <a:pt x="300989" y="52959"/>
                </a:lnTo>
                <a:lnTo>
                  <a:pt x="300989" y="0"/>
                </a:lnTo>
                <a:lnTo>
                  <a:pt x="406908" y="105918"/>
                </a:lnTo>
                <a:lnTo>
                  <a:pt x="300989" y="211836"/>
                </a:lnTo>
                <a:lnTo>
                  <a:pt x="300989" y="158877"/>
                </a:lnTo>
                <a:lnTo>
                  <a:pt x="0" y="158877"/>
                </a:lnTo>
                <a:lnTo>
                  <a:pt x="0" y="52959"/>
                </a:lnTo>
                <a:close/>
              </a:path>
            </a:pathLst>
          </a:custGeom>
          <a:ln w="12192">
            <a:solidFill>
              <a:srgbClr val="41709C"/>
            </a:solidFill>
          </a:ln>
        </p:spPr>
        <p:txBody>
          <a:bodyPr wrap="square" lIns="0" tIns="0" rIns="0" bIns="0" rtlCol="0"/>
          <a:lstStyle/>
          <a:p>
            <a:endParaRPr/>
          </a:p>
        </p:txBody>
      </p:sp>
      <p:sp>
        <p:nvSpPr>
          <p:cNvPr id="28" name="object 28"/>
          <p:cNvSpPr/>
          <p:nvPr/>
        </p:nvSpPr>
        <p:spPr>
          <a:xfrm>
            <a:off x="3869435" y="5038344"/>
            <a:ext cx="407034" cy="212090"/>
          </a:xfrm>
          <a:custGeom>
            <a:avLst/>
            <a:gdLst/>
            <a:ahLst/>
            <a:cxnLst/>
            <a:rect l="l" t="t" r="r" b="b"/>
            <a:pathLst>
              <a:path w="407035" h="212089">
                <a:moveTo>
                  <a:pt x="300989" y="0"/>
                </a:moveTo>
                <a:lnTo>
                  <a:pt x="300989" y="52958"/>
                </a:lnTo>
                <a:lnTo>
                  <a:pt x="0" y="52958"/>
                </a:lnTo>
                <a:lnTo>
                  <a:pt x="0" y="158876"/>
                </a:lnTo>
                <a:lnTo>
                  <a:pt x="300989" y="158876"/>
                </a:lnTo>
                <a:lnTo>
                  <a:pt x="300989" y="211835"/>
                </a:lnTo>
                <a:lnTo>
                  <a:pt x="406908" y="105917"/>
                </a:lnTo>
                <a:lnTo>
                  <a:pt x="300989" y="0"/>
                </a:lnTo>
                <a:close/>
              </a:path>
            </a:pathLst>
          </a:custGeom>
          <a:solidFill>
            <a:srgbClr val="FF0000"/>
          </a:solidFill>
        </p:spPr>
        <p:txBody>
          <a:bodyPr wrap="square" lIns="0" tIns="0" rIns="0" bIns="0" rtlCol="0"/>
          <a:lstStyle/>
          <a:p>
            <a:endParaRPr/>
          </a:p>
        </p:txBody>
      </p:sp>
      <p:sp>
        <p:nvSpPr>
          <p:cNvPr id="29" name="object 29"/>
          <p:cNvSpPr/>
          <p:nvPr/>
        </p:nvSpPr>
        <p:spPr>
          <a:xfrm>
            <a:off x="3869435" y="5038344"/>
            <a:ext cx="407034" cy="212090"/>
          </a:xfrm>
          <a:custGeom>
            <a:avLst/>
            <a:gdLst/>
            <a:ahLst/>
            <a:cxnLst/>
            <a:rect l="l" t="t" r="r" b="b"/>
            <a:pathLst>
              <a:path w="407035" h="212089">
                <a:moveTo>
                  <a:pt x="0" y="52958"/>
                </a:moveTo>
                <a:lnTo>
                  <a:pt x="300989" y="52958"/>
                </a:lnTo>
                <a:lnTo>
                  <a:pt x="300989" y="0"/>
                </a:lnTo>
                <a:lnTo>
                  <a:pt x="406908" y="105917"/>
                </a:lnTo>
                <a:lnTo>
                  <a:pt x="300989" y="211835"/>
                </a:lnTo>
                <a:lnTo>
                  <a:pt x="300989" y="158876"/>
                </a:lnTo>
                <a:lnTo>
                  <a:pt x="0" y="158876"/>
                </a:lnTo>
                <a:lnTo>
                  <a:pt x="0" y="52958"/>
                </a:lnTo>
                <a:close/>
              </a:path>
            </a:pathLst>
          </a:custGeom>
          <a:ln w="12192">
            <a:solidFill>
              <a:srgbClr val="41709C"/>
            </a:solidFill>
          </a:ln>
        </p:spPr>
        <p:txBody>
          <a:bodyPr wrap="square" lIns="0" tIns="0" rIns="0" bIns="0" rtlCol="0"/>
          <a:lstStyle/>
          <a:p>
            <a:endParaRPr/>
          </a:p>
        </p:txBody>
      </p:sp>
      <p:sp>
        <p:nvSpPr>
          <p:cNvPr id="30" name="object 30"/>
          <p:cNvSpPr txBox="1"/>
          <p:nvPr/>
        </p:nvSpPr>
        <p:spPr>
          <a:xfrm>
            <a:off x="2009394" y="2468117"/>
            <a:ext cx="8174990" cy="696595"/>
          </a:xfrm>
          <a:prstGeom prst="rect">
            <a:avLst/>
          </a:prstGeom>
          <a:ln w="38100">
            <a:solidFill>
              <a:srgbClr val="E34A46"/>
            </a:solidFill>
          </a:ln>
        </p:spPr>
        <p:txBody>
          <a:bodyPr vert="horz" wrap="square" lIns="0" tIns="0" rIns="0" bIns="0" rtlCol="0">
            <a:spAutoFit/>
          </a:bodyPr>
          <a:lstStyle/>
          <a:p>
            <a:pPr marL="324485">
              <a:lnSpc>
                <a:spcPct val="100000"/>
              </a:lnSpc>
            </a:pPr>
            <a:r>
              <a:rPr sz="2800" b="1" spc="-5" dirty="0">
                <a:latin typeface="微软雅黑"/>
                <a:cs typeface="微软雅黑"/>
              </a:rPr>
              <a:t>自动重载模块由自动重载寄存</a:t>
            </a:r>
            <a:r>
              <a:rPr sz="2800" b="1" dirty="0">
                <a:latin typeface="微软雅黑"/>
                <a:cs typeface="微软雅黑"/>
              </a:rPr>
              <a:t>器</a:t>
            </a:r>
            <a:r>
              <a:rPr sz="2800" b="1" spc="-10" dirty="0">
                <a:latin typeface="微软雅黑"/>
                <a:cs typeface="微软雅黑"/>
              </a:rPr>
              <a:t>TI</a:t>
            </a:r>
            <a:r>
              <a:rPr sz="2800" b="1" spc="-5" dirty="0">
                <a:latin typeface="微软雅黑"/>
                <a:cs typeface="微软雅黑"/>
              </a:rPr>
              <a:t>Mx_</a:t>
            </a:r>
            <a:r>
              <a:rPr sz="2800" b="1" spc="-20" dirty="0">
                <a:latin typeface="微软雅黑"/>
                <a:cs typeface="微软雅黑"/>
              </a:rPr>
              <a:t>A</a:t>
            </a:r>
            <a:r>
              <a:rPr sz="2800" b="1" spc="-10" dirty="0">
                <a:latin typeface="微软雅黑"/>
                <a:cs typeface="微软雅黑"/>
              </a:rPr>
              <a:t>R</a:t>
            </a:r>
            <a:r>
              <a:rPr sz="2800" b="1" spc="0" dirty="0">
                <a:latin typeface="微软雅黑"/>
                <a:cs typeface="微软雅黑"/>
              </a:rPr>
              <a:t>R</a:t>
            </a:r>
            <a:r>
              <a:rPr sz="2800" b="1" spc="-5" dirty="0">
                <a:latin typeface="微软雅黑"/>
                <a:cs typeface="微软雅黑"/>
              </a:rPr>
              <a:t>组成</a:t>
            </a:r>
            <a:endParaRPr sz="2800">
              <a:latin typeface="微软雅黑"/>
              <a:cs typeface="微软雅黑"/>
            </a:endParaRPr>
          </a:p>
        </p:txBody>
      </p:sp>
      <p:sp>
        <p:nvSpPr>
          <p:cNvPr id="31" name="object 31"/>
          <p:cNvSpPr txBox="1">
            <a:spLocks noGrp="1"/>
          </p:cNvSpPr>
          <p:nvPr>
            <p:ph type="title"/>
          </p:nvPr>
        </p:nvSpPr>
        <p:spPr>
          <a:prstGeom prst="rect">
            <a:avLst/>
          </a:prstGeom>
        </p:spPr>
        <p:txBody>
          <a:bodyPr vert="horz" wrap="square" lIns="0" tIns="0" rIns="0" bIns="0" rtlCol="0">
            <a:spAutoFit/>
          </a:bodyPr>
          <a:lstStyle/>
          <a:p>
            <a:pPr marL="4954270">
              <a:lnSpc>
                <a:spcPct val="100000"/>
              </a:lnSpc>
            </a:pPr>
            <a:r>
              <a:rPr spc="-5" dirty="0"/>
              <a:t>自动重载模块</a:t>
            </a:r>
          </a:p>
        </p:txBody>
      </p:sp>
    </p:spTree>
    <p:extLst>
      <p:ext uri="{BB962C8B-B14F-4D97-AF65-F5344CB8AC3E}">
        <p14:creationId xmlns:p14="http://schemas.microsoft.com/office/powerpoint/2010/main" val="1232317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352145" y="1165722"/>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计数模式</a:t>
            </a:r>
            <a:endParaRPr sz="2400">
              <a:latin typeface="微软雅黑"/>
              <a:cs typeface="微软雅黑"/>
            </a:endParaRPr>
          </a:p>
        </p:txBody>
      </p:sp>
      <p:sp>
        <p:nvSpPr>
          <p:cNvPr id="13" name="object 13"/>
          <p:cNvSpPr/>
          <p:nvPr/>
        </p:nvSpPr>
        <p:spPr>
          <a:xfrm>
            <a:off x="941832" y="2825495"/>
            <a:ext cx="10788396" cy="3451859"/>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927353" y="2811017"/>
            <a:ext cx="10817860" cy="3481070"/>
          </a:xfrm>
          <a:custGeom>
            <a:avLst/>
            <a:gdLst/>
            <a:ahLst/>
            <a:cxnLst/>
            <a:rect l="l" t="t" r="r" b="b"/>
            <a:pathLst>
              <a:path w="10817860" h="3481070">
                <a:moveTo>
                  <a:pt x="0" y="3480816"/>
                </a:moveTo>
                <a:lnTo>
                  <a:pt x="10817352" y="3480816"/>
                </a:lnTo>
                <a:lnTo>
                  <a:pt x="10817352" y="0"/>
                </a:lnTo>
                <a:lnTo>
                  <a:pt x="0" y="0"/>
                </a:lnTo>
                <a:lnTo>
                  <a:pt x="0" y="3480816"/>
                </a:lnTo>
                <a:close/>
              </a:path>
            </a:pathLst>
          </a:custGeom>
          <a:ln w="28956">
            <a:solidFill>
              <a:srgbClr val="5B9BD4"/>
            </a:solidFill>
          </a:ln>
        </p:spPr>
        <p:txBody>
          <a:bodyPr wrap="square" lIns="0" tIns="0" rIns="0" bIns="0" rtlCol="0"/>
          <a:lstStyle/>
          <a:p>
            <a:endParaRPr/>
          </a:p>
        </p:txBody>
      </p:sp>
      <p:sp>
        <p:nvSpPr>
          <p:cNvPr id="15" name="object 15"/>
          <p:cNvSpPr/>
          <p:nvPr/>
        </p:nvSpPr>
        <p:spPr>
          <a:xfrm>
            <a:off x="2423922" y="1957577"/>
            <a:ext cx="1824355" cy="746760"/>
          </a:xfrm>
          <a:custGeom>
            <a:avLst/>
            <a:gdLst/>
            <a:ahLst/>
            <a:cxnLst/>
            <a:rect l="l" t="t" r="r" b="b"/>
            <a:pathLst>
              <a:path w="1824354" h="746760">
                <a:moveTo>
                  <a:pt x="1699767" y="0"/>
                </a:moveTo>
                <a:lnTo>
                  <a:pt x="304038" y="0"/>
                </a:lnTo>
                <a:lnTo>
                  <a:pt x="111839" y="632"/>
                </a:lnTo>
                <a:lnTo>
                  <a:pt x="71000" y="12045"/>
                </a:lnTo>
                <a:lnTo>
                  <a:pt x="37153" y="35781"/>
                </a:lnTo>
                <a:lnTo>
                  <a:pt x="12903" y="69236"/>
                </a:lnTo>
                <a:lnTo>
                  <a:pt x="854" y="109805"/>
                </a:lnTo>
                <a:lnTo>
                  <a:pt x="0" y="124460"/>
                </a:lnTo>
                <a:lnTo>
                  <a:pt x="0" y="311150"/>
                </a:lnTo>
                <a:lnTo>
                  <a:pt x="632" y="634920"/>
                </a:lnTo>
                <a:lnTo>
                  <a:pt x="12045" y="675759"/>
                </a:lnTo>
                <a:lnTo>
                  <a:pt x="35781" y="709606"/>
                </a:lnTo>
                <a:lnTo>
                  <a:pt x="69236" y="733856"/>
                </a:lnTo>
                <a:lnTo>
                  <a:pt x="109805" y="745905"/>
                </a:lnTo>
                <a:lnTo>
                  <a:pt x="124459" y="746760"/>
                </a:lnTo>
                <a:lnTo>
                  <a:pt x="760094" y="746760"/>
                </a:lnTo>
                <a:lnTo>
                  <a:pt x="1712388" y="746127"/>
                </a:lnTo>
                <a:lnTo>
                  <a:pt x="1753227" y="734714"/>
                </a:lnTo>
                <a:lnTo>
                  <a:pt x="1787074" y="710978"/>
                </a:lnTo>
                <a:lnTo>
                  <a:pt x="1811324" y="677523"/>
                </a:lnTo>
                <a:lnTo>
                  <a:pt x="1823373" y="636954"/>
                </a:lnTo>
                <a:lnTo>
                  <a:pt x="1824227" y="622300"/>
                </a:lnTo>
                <a:lnTo>
                  <a:pt x="1824227" y="124460"/>
                </a:lnTo>
                <a:lnTo>
                  <a:pt x="1817484" y="83965"/>
                </a:lnTo>
                <a:lnTo>
                  <a:pt x="1797567" y="47498"/>
                </a:lnTo>
                <a:lnTo>
                  <a:pt x="1767062" y="19759"/>
                </a:lnTo>
                <a:lnTo>
                  <a:pt x="1728574" y="3354"/>
                </a:lnTo>
                <a:lnTo>
                  <a:pt x="1699767" y="0"/>
                </a:lnTo>
                <a:close/>
              </a:path>
            </a:pathLst>
          </a:custGeom>
          <a:solidFill>
            <a:srgbClr val="FFFFC7"/>
          </a:solidFill>
        </p:spPr>
        <p:txBody>
          <a:bodyPr wrap="square" lIns="0" tIns="0" rIns="0" bIns="0" rtlCol="0"/>
          <a:lstStyle/>
          <a:p>
            <a:endParaRPr/>
          </a:p>
        </p:txBody>
      </p:sp>
      <p:sp>
        <p:nvSpPr>
          <p:cNvPr id="16" name="object 16"/>
          <p:cNvSpPr/>
          <p:nvPr/>
        </p:nvSpPr>
        <p:spPr>
          <a:xfrm>
            <a:off x="2423922" y="1957577"/>
            <a:ext cx="1824355" cy="746760"/>
          </a:xfrm>
          <a:custGeom>
            <a:avLst/>
            <a:gdLst/>
            <a:ahLst/>
            <a:cxnLst/>
            <a:rect l="l" t="t" r="r" b="b"/>
            <a:pathLst>
              <a:path w="1824354" h="746760">
                <a:moveTo>
                  <a:pt x="0" y="124460"/>
                </a:moveTo>
                <a:lnTo>
                  <a:pt x="7402" y="82097"/>
                </a:lnTo>
                <a:lnTo>
                  <a:pt x="27875" y="45981"/>
                </a:lnTo>
                <a:lnTo>
                  <a:pt x="58812" y="18716"/>
                </a:lnTo>
                <a:lnTo>
                  <a:pt x="97610" y="2906"/>
                </a:lnTo>
                <a:lnTo>
                  <a:pt x="304038" y="0"/>
                </a:lnTo>
                <a:lnTo>
                  <a:pt x="760094" y="0"/>
                </a:lnTo>
                <a:lnTo>
                  <a:pt x="1699767" y="0"/>
                </a:lnTo>
                <a:lnTo>
                  <a:pt x="1714422" y="854"/>
                </a:lnTo>
                <a:lnTo>
                  <a:pt x="1754991" y="12903"/>
                </a:lnTo>
                <a:lnTo>
                  <a:pt x="1788446" y="37153"/>
                </a:lnTo>
                <a:lnTo>
                  <a:pt x="1812182" y="71000"/>
                </a:lnTo>
                <a:lnTo>
                  <a:pt x="1823595" y="111839"/>
                </a:lnTo>
                <a:lnTo>
                  <a:pt x="1824227" y="124460"/>
                </a:lnTo>
                <a:lnTo>
                  <a:pt x="1824227" y="311150"/>
                </a:lnTo>
                <a:lnTo>
                  <a:pt x="1824227" y="622300"/>
                </a:lnTo>
                <a:lnTo>
                  <a:pt x="1823373" y="636954"/>
                </a:lnTo>
                <a:lnTo>
                  <a:pt x="1811324" y="677523"/>
                </a:lnTo>
                <a:lnTo>
                  <a:pt x="1787074" y="710978"/>
                </a:lnTo>
                <a:lnTo>
                  <a:pt x="1753227" y="734714"/>
                </a:lnTo>
                <a:lnTo>
                  <a:pt x="1712388" y="746127"/>
                </a:lnTo>
                <a:lnTo>
                  <a:pt x="760094" y="746760"/>
                </a:lnTo>
                <a:lnTo>
                  <a:pt x="304038" y="746760"/>
                </a:lnTo>
                <a:lnTo>
                  <a:pt x="124459" y="746760"/>
                </a:lnTo>
                <a:lnTo>
                  <a:pt x="109805" y="745905"/>
                </a:lnTo>
                <a:lnTo>
                  <a:pt x="69236" y="733856"/>
                </a:lnTo>
                <a:lnTo>
                  <a:pt x="35781" y="709606"/>
                </a:lnTo>
                <a:lnTo>
                  <a:pt x="12045" y="675759"/>
                </a:lnTo>
                <a:lnTo>
                  <a:pt x="632" y="634920"/>
                </a:lnTo>
                <a:lnTo>
                  <a:pt x="0" y="311150"/>
                </a:lnTo>
                <a:lnTo>
                  <a:pt x="0" y="247904"/>
                </a:lnTo>
                <a:lnTo>
                  <a:pt x="0" y="124460"/>
                </a:lnTo>
                <a:close/>
              </a:path>
            </a:pathLst>
          </a:custGeom>
          <a:ln w="28956">
            <a:solidFill>
              <a:srgbClr val="000000"/>
            </a:solidFill>
          </a:ln>
        </p:spPr>
        <p:txBody>
          <a:bodyPr wrap="square" lIns="0" tIns="0" rIns="0" bIns="0" rtlCol="0"/>
          <a:lstStyle/>
          <a:p>
            <a:endParaRPr/>
          </a:p>
        </p:txBody>
      </p:sp>
      <p:sp>
        <p:nvSpPr>
          <p:cNvPr id="17" name="object 17"/>
          <p:cNvSpPr txBox="1"/>
          <p:nvPr/>
        </p:nvSpPr>
        <p:spPr>
          <a:xfrm>
            <a:off x="2538476" y="2014293"/>
            <a:ext cx="1539240" cy="695960"/>
          </a:xfrm>
          <a:prstGeom prst="rect">
            <a:avLst/>
          </a:prstGeom>
        </p:spPr>
        <p:txBody>
          <a:bodyPr vert="horz" wrap="square" lIns="0" tIns="0" rIns="0" bIns="0" rtlCol="0">
            <a:spAutoFit/>
          </a:bodyPr>
          <a:lstStyle/>
          <a:p>
            <a:pPr marL="12700">
              <a:lnSpc>
                <a:spcPct val="100000"/>
              </a:lnSpc>
              <a:tabLst>
                <a:tab pos="347345" algn="l"/>
              </a:tabLst>
            </a:pPr>
            <a:r>
              <a:rPr sz="2400" b="1" dirty="0">
                <a:latin typeface="Consolas"/>
                <a:cs typeface="Consolas"/>
              </a:rPr>
              <a:t>0	→</a:t>
            </a:r>
            <a:r>
              <a:rPr sz="2400" b="1" spc="5" dirty="0">
                <a:latin typeface="Consolas"/>
                <a:cs typeface="Consolas"/>
              </a:rPr>
              <a:t> </a:t>
            </a:r>
            <a:r>
              <a:rPr sz="2400" b="1" dirty="0">
                <a:latin typeface="Consolas"/>
                <a:cs typeface="Consolas"/>
              </a:rPr>
              <a:t>A</a:t>
            </a:r>
            <a:r>
              <a:rPr sz="2400" b="1" spc="5" dirty="0">
                <a:latin typeface="Consolas"/>
                <a:cs typeface="Consolas"/>
              </a:rPr>
              <a:t>RR</a:t>
            </a:r>
            <a:r>
              <a:rPr sz="2400" b="1" spc="0" dirty="0">
                <a:latin typeface="Consolas"/>
                <a:cs typeface="Consolas"/>
              </a:rPr>
              <a:t>-</a:t>
            </a:r>
            <a:r>
              <a:rPr sz="2400" b="1" spc="-5" dirty="0">
                <a:latin typeface="Consolas"/>
                <a:cs typeface="Consolas"/>
              </a:rPr>
              <a:t>1</a:t>
            </a:r>
            <a:endParaRPr sz="2400">
              <a:latin typeface="Consolas"/>
              <a:cs typeface="Consolas"/>
            </a:endParaRPr>
          </a:p>
          <a:p>
            <a:pPr marL="12700">
              <a:lnSpc>
                <a:spcPct val="100000"/>
              </a:lnSpc>
            </a:pPr>
            <a:r>
              <a:rPr sz="2400" b="1" dirty="0">
                <a:latin typeface="Consolas"/>
                <a:cs typeface="Consolas"/>
              </a:rPr>
              <a:t>ARR</a:t>
            </a:r>
            <a:r>
              <a:rPr sz="2400" b="1" spc="5" dirty="0">
                <a:latin typeface="Consolas"/>
                <a:cs typeface="Consolas"/>
              </a:rPr>
              <a:t> </a:t>
            </a:r>
            <a:r>
              <a:rPr sz="2400" b="1" dirty="0">
                <a:latin typeface="Consolas"/>
                <a:cs typeface="Consolas"/>
              </a:rPr>
              <a:t>→</a:t>
            </a:r>
            <a:r>
              <a:rPr sz="2400" b="1" spc="5" dirty="0">
                <a:latin typeface="Consolas"/>
                <a:cs typeface="Consolas"/>
              </a:rPr>
              <a:t> </a:t>
            </a:r>
            <a:r>
              <a:rPr sz="2400" b="1" dirty="0">
                <a:latin typeface="Consolas"/>
                <a:cs typeface="Consolas"/>
              </a:rPr>
              <a:t>1</a:t>
            </a:r>
            <a:endParaRPr sz="2400">
              <a:latin typeface="Consolas"/>
              <a:cs typeface="Consolas"/>
            </a:endParaRPr>
          </a:p>
        </p:txBody>
      </p:sp>
      <p:sp>
        <p:nvSpPr>
          <p:cNvPr id="18" name="object 18"/>
          <p:cNvSpPr/>
          <p:nvPr/>
        </p:nvSpPr>
        <p:spPr>
          <a:xfrm>
            <a:off x="6194297" y="1957577"/>
            <a:ext cx="1824355" cy="746760"/>
          </a:xfrm>
          <a:custGeom>
            <a:avLst/>
            <a:gdLst/>
            <a:ahLst/>
            <a:cxnLst/>
            <a:rect l="l" t="t" r="r" b="b"/>
            <a:pathLst>
              <a:path w="1824354" h="746760">
                <a:moveTo>
                  <a:pt x="1699768" y="0"/>
                </a:moveTo>
                <a:lnTo>
                  <a:pt x="304038" y="0"/>
                </a:lnTo>
                <a:lnTo>
                  <a:pt x="111839" y="632"/>
                </a:lnTo>
                <a:lnTo>
                  <a:pt x="71000" y="12045"/>
                </a:lnTo>
                <a:lnTo>
                  <a:pt x="37153" y="35781"/>
                </a:lnTo>
                <a:lnTo>
                  <a:pt x="12903" y="69236"/>
                </a:lnTo>
                <a:lnTo>
                  <a:pt x="854" y="109805"/>
                </a:lnTo>
                <a:lnTo>
                  <a:pt x="0" y="124460"/>
                </a:lnTo>
                <a:lnTo>
                  <a:pt x="0" y="311150"/>
                </a:lnTo>
                <a:lnTo>
                  <a:pt x="632" y="634920"/>
                </a:lnTo>
                <a:lnTo>
                  <a:pt x="12045" y="675759"/>
                </a:lnTo>
                <a:lnTo>
                  <a:pt x="35781" y="709606"/>
                </a:lnTo>
                <a:lnTo>
                  <a:pt x="69236" y="733856"/>
                </a:lnTo>
                <a:lnTo>
                  <a:pt x="109805" y="745905"/>
                </a:lnTo>
                <a:lnTo>
                  <a:pt x="124460" y="746760"/>
                </a:lnTo>
                <a:lnTo>
                  <a:pt x="760095" y="746760"/>
                </a:lnTo>
                <a:lnTo>
                  <a:pt x="1712388" y="746127"/>
                </a:lnTo>
                <a:lnTo>
                  <a:pt x="1753227" y="734714"/>
                </a:lnTo>
                <a:lnTo>
                  <a:pt x="1787074" y="710978"/>
                </a:lnTo>
                <a:lnTo>
                  <a:pt x="1811324" y="677523"/>
                </a:lnTo>
                <a:lnTo>
                  <a:pt x="1823373" y="636954"/>
                </a:lnTo>
                <a:lnTo>
                  <a:pt x="1824227" y="622300"/>
                </a:lnTo>
                <a:lnTo>
                  <a:pt x="1824227" y="124460"/>
                </a:lnTo>
                <a:lnTo>
                  <a:pt x="1817484" y="83965"/>
                </a:lnTo>
                <a:lnTo>
                  <a:pt x="1797567" y="47498"/>
                </a:lnTo>
                <a:lnTo>
                  <a:pt x="1767062" y="19759"/>
                </a:lnTo>
                <a:lnTo>
                  <a:pt x="1728574" y="3354"/>
                </a:lnTo>
                <a:lnTo>
                  <a:pt x="1699768" y="0"/>
                </a:lnTo>
                <a:close/>
              </a:path>
            </a:pathLst>
          </a:custGeom>
          <a:solidFill>
            <a:srgbClr val="FFFFC7"/>
          </a:solidFill>
        </p:spPr>
        <p:txBody>
          <a:bodyPr wrap="square" lIns="0" tIns="0" rIns="0" bIns="0" rtlCol="0"/>
          <a:lstStyle/>
          <a:p>
            <a:endParaRPr/>
          </a:p>
        </p:txBody>
      </p:sp>
      <p:sp>
        <p:nvSpPr>
          <p:cNvPr id="19" name="object 19"/>
          <p:cNvSpPr/>
          <p:nvPr/>
        </p:nvSpPr>
        <p:spPr>
          <a:xfrm>
            <a:off x="6194297" y="1957577"/>
            <a:ext cx="1824355" cy="746760"/>
          </a:xfrm>
          <a:custGeom>
            <a:avLst/>
            <a:gdLst/>
            <a:ahLst/>
            <a:cxnLst/>
            <a:rect l="l" t="t" r="r" b="b"/>
            <a:pathLst>
              <a:path w="1824354" h="746760">
                <a:moveTo>
                  <a:pt x="0" y="124460"/>
                </a:moveTo>
                <a:lnTo>
                  <a:pt x="7402" y="82097"/>
                </a:lnTo>
                <a:lnTo>
                  <a:pt x="27875" y="45981"/>
                </a:lnTo>
                <a:lnTo>
                  <a:pt x="58812" y="18716"/>
                </a:lnTo>
                <a:lnTo>
                  <a:pt x="97610" y="2906"/>
                </a:lnTo>
                <a:lnTo>
                  <a:pt x="304038" y="0"/>
                </a:lnTo>
                <a:lnTo>
                  <a:pt x="760095" y="0"/>
                </a:lnTo>
                <a:lnTo>
                  <a:pt x="1699768" y="0"/>
                </a:lnTo>
                <a:lnTo>
                  <a:pt x="1714422" y="854"/>
                </a:lnTo>
                <a:lnTo>
                  <a:pt x="1754991" y="12903"/>
                </a:lnTo>
                <a:lnTo>
                  <a:pt x="1788446" y="37153"/>
                </a:lnTo>
                <a:lnTo>
                  <a:pt x="1812182" y="71000"/>
                </a:lnTo>
                <a:lnTo>
                  <a:pt x="1823595" y="111839"/>
                </a:lnTo>
                <a:lnTo>
                  <a:pt x="1824227" y="124460"/>
                </a:lnTo>
                <a:lnTo>
                  <a:pt x="1824227" y="311150"/>
                </a:lnTo>
                <a:lnTo>
                  <a:pt x="1824227" y="622300"/>
                </a:lnTo>
                <a:lnTo>
                  <a:pt x="1823373" y="636954"/>
                </a:lnTo>
                <a:lnTo>
                  <a:pt x="1811324" y="677523"/>
                </a:lnTo>
                <a:lnTo>
                  <a:pt x="1787074" y="710978"/>
                </a:lnTo>
                <a:lnTo>
                  <a:pt x="1753227" y="734714"/>
                </a:lnTo>
                <a:lnTo>
                  <a:pt x="1712388" y="746127"/>
                </a:lnTo>
                <a:lnTo>
                  <a:pt x="760095" y="746760"/>
                </a:lnTo>
                <a:lnTo>
                  <a:pt x="304038" y="746760"/>
                </a:lnTo>
                <a:lnTo>
                  <a:pt x="124460" y="746760"/>
                </a:lnTo>
                <a:lnTo>
                  <a:pt x="109805" y="745905"/>
                </a:lnTo>
                <a:lnTo>
                  <a:pt x="69236" y="733856"/>
                </a:lnTo>
                <a:lnTo>
                  <a:pt x="35781" y="709606"/>
                </a:lnTo>
                <a:lnTo>
                  <a:pt x="12045" y="675759"/>
                </a:lnTo>
                <a:lnTo>
                  <a:pt x="632" y="634920"/>
                </a:lnTo>
                <a:lnTo>
                  <a:pt x="0" y="311150"/>
                </a:lnTo>
                <a:lnTo>
                  <a:pt x="0" y="247904"/>
                </a:lnTo>
                <a:lnTo>
                  <a:pt x="0" y="124460"/>
                </a:lnTo>
                <a:close/>
              </a:path>
            </a:pathLst>
          </a:custGeom>
          <a:ln w="28956">
            <a:solidFill>
              <a:srgbClr val="000000"/>
            </a:solidFill>
          </a:ln>
        </p:spPr>
        <p:txBody>
          <a:bodyPr wrap="square" lIns="0" tIns="0" rIns="0" bIns="0" rtlCol="0"/>
          <a:lstStyle/>
          <a:p>
            <a:endParaRPr/>
          </a:p>
        </p:txBody>
      </p:sp>
      <p:sp>
        <p:nvSpPr>
          <p:cNvPr id="20" name="object 20"/>
          <p:cNvSpPr txBox="1"/>
          <p:nvPr/>
        </p:nvSpPr>
        <p:spPr>
          <a:xfrm>
            <a:off x="6504813" y="2197173"/>
            <a:ext cx="1201420" cy="330200"/>
          </a:xfrm>
          <a:prstGeom prst="rect">
            <a:avLst/>
          </a:prstGeom>
        </p:spPr>
        <p:txBody>
          <a:bodyPr vert="horz" wrap="square" lIns="0" tIns="0" rIns="0" bIns="0" rtlCol="0">
            <a:spAutoFit/>
          </a:bodyPr>
          <a:lstStyle/>
          <a:p>
            <a:pPr marL="12700">
              <a:lnSpc>
                <a:spcPct val="100000"/>
              </a:lnSpc>
              <a:tabLst>
                <a:tab pos="347345" algn="l"/>
              </a:tabLst>
            </a:pPr>
            <a:r>
              <a:rPr sz="2400" b="1" dirty="0">
                <a:latin typeface="Consolas"/>
                <a:cs typeface="Consolas"/>
              </a:rPr>
              <a:t>0	→</a:t>
            </a:r>
            <a:r>
              <a:rPr sz="2400" b="1" spc="5" dirty="0">
                <a:latin typeface="Consolas"/>
                <a:cs typeface="Consolas"/>
              </a:rPr>
              <a:t> </a:t>
            </a:r>
            <a:r>
              <a:rPr sz="2400" b="1" dirty="0">
                <a:latin typeface="Consolas"/>
                <a:cs typeface="Consolas"/>
              </a:rPr>
              <a:t>A</a:t>
            </a:r>
            <a:r>
              <a:rPr sz="2400" b="1" spc="5" dirty="0">
                <a:latin typeface="Consolas"/>
                <a:cs typeface="Consolas"/>
              </a:rPr>
              <a:t>R</a:t>
            </a:r>
            <a:r>
              <a:rPr sz="2400" b="1" dirty="0">
                <a:latin typeface="Consolas"/>
                <a:cs typeface="Consolas"/>
              </a:rPr>
              <a:t>R</a:t>
            </a:r>
            <a:endParaRPr sz="2400">
              <a:latin typeface="Consolas"/>
              <a:cs typeface="Consolas"/>
            </a:endParaRPr>
          </a:p>
        </p:txBody>
      </p:sp>
      <p:sp>
        <p:nvSpPr>
          <p:cNvPr id="21" name="object 21"/>
          <p:cNvSpPr/>
          <p:nvPr/>
        </p:nvSpPr>
        <p:spPr>
          <a:xfrm>
            <a:off x="8952738" y="1957577"/>
            <a:ext cx="1824355" cy="746760"/>
          </a:xfrm>
          <a:custGeom>
            <a:avLst/>
            <a:gdLst/>
            <a:ahLst/>
            <a:cxnLst/>
            <a:rect l="l" t="t" r="r" b="b"/>
            <a:pathLst>
              <a:path w="1824354" h="746760">
                <a:moveTo>
                  <a:pt x="1699767" y="0"/>
                </a:moveTo>
                <a:lnTo>
                  <a:pt x="304037" y="0"/>
                </a:lnTo>
                <a:lnTo>
                  <a:pt x="111839" y="632"/>
                </a:lnTo>
                <a:lnTo>
                  <a:pt x="71000" y="12045"/>
                </a:lnTo>
                <a:lnTo>
                  <a:pt x="37153" y="35781"/>
                </a:lnTo>
                <a:lnTo>
                  <a:pt x="12903" y="69236"/>
                </a:lnTo>
                <a:lnTo>
                  <a:pt x="854" y="109805"/>
                </a:lnTo>
                <a:lnTo>
                  <a:pt x="0" y="124460"/>
                </a:lnTo>
                <a:lnTo>
                  <a:pt x="0" y="311150"/>
                </a:lnTo>
                <a:lnTo>
                  <a:pt x="632" y="634920"/>
                </a:lnTo>
                <a:lnTo>
                  <a:pt x="12045" y="675759"/>
                </a:lnTo>
                <a:lnTo>
                  <a:pt x="35781" y="709606"/>
                </a:lnTo>
                <a:lnTo>
                  <a:pt x="69236" y="733856"/>
                </a:lnTo>
                <a:lnTo>
                  <a:pt x="109805" y="745905"/>
                </a:lnTo>
                <a:lnTo>
                  <a:pt x="124459" y="746760"/>
                </a:lnTo>
                <a:lnTo>
                  <a:pt x="760094" y="746760"/>
                </a:lnTo>
                <a:lnTo>
                  <a:pt x="1712388" y="746127"/>
                </a:lnTo>
                <a:lnTo>
                  <a:pt x="1753227" y="734714"/>
                </a:lnTo>
                <a:lnTo>
                  <a:pt x="1787074" y="710978"/>
                </a:lnTo>
                <a:lnTo>
                  <a:pt x="1811324" y="677523"/>
                </a:lnTo>
                <a:lnTo>
                  <a:pt x="1823373" y="636954"/>
                </a:lnTo>
                <a:lnTo>
                  <a:pt x="1824227" y="622300"/>
                </a:lnTo>
                <a:lnTo>
                  <a:pt x="1824227" y="124460"/>
                </a:lnTo>
                <a:lnTo>
                  <a:pt x="1817484" y="83965"/>
                </a:lnTo>
                <a:lnTo>
                  <a:pt x="1797567" y="47498"/>
                </a:lnTo>
                <a:lnTo>
                  <a:pt x="1767062" y="19759"/>
                </a:lnTo>
                <a:lnTo>
                  <a:pt x="1728574" y="3354"/>
                </a:lnTo>
                <a:lnTo>
                  <a:pt x="1699767" y="0"/>
                </a:lnTo>
                <a:close/>
              </a:path>
            </a:pathLst>
          </a:custGeom>
          <a:solidFill>
            <a:srgbClr val="FFFFC7"/>
          </a:solidFill>
        </p:spPr>
        <p:txBody>
          <a:bodyPr wrap="square" lIns="0" tIns="0" rIns="0" bIns="0" rtlCol="0"/>
          <a:lstStyle/>
          <a:p>
            <a:endParaRPr/>
          </a:p>
        </p:txBody>
      </p:sp>
      <p:sp>
        <p:nvSpPr>
          <p:cNvPr id="22" name="object 22"/>
          <p:cNvSpPr/>
          <p:nvPr/>
        </p:nvSpPr>
        <p:spPr>
          <a:xfrm>
            <a:off x="8952738" y="1957577"/>
            <a:ext cx="1824355" cy="746760"/>
          </a:xfrm>
          <a:custGeom>
            <a:avLst/>
            <a:gdLst/>
            <a:ahLst/>
            <a:cxnLst/>
            <a:rect l="l" t="t" r="r" b="b"/>
            <a:pathLst>
              <a:path w="1824354" h="746760">
                <a:moveTo>
                  <a:pt x="0" y="124460"/>
                </a:moveTo>
                <a:lnTo>
                  <a:pt x="7402" y="82097"/>
                </a:lnTo>
                <a:lnTo>
                  <a:pt x="27875" y="45981"/>
                </a:lnTo>
                <a:lnTo>
                  <a:pt x="58812" y="18716"/>
                </a:lnTo>
                <a:lnTo>
                  <a:pt x="97610" y="2906"/>
                </a:lnTo>
                <a:lnTo>
                  <a:pt x="304037" y="0"/>
                </a:lnTo>
                <a:lnTo>
                  <a:pt x="760094" y="0"/>
                </a:lnTo>
                <a:lnTo>
                  <a:pt x="1699767" y="0"/>
                </a:lnTo>
                <a:lnTo>
                  <a:pt x="1714422" y="854"/>
                </a:lnTo>
                <a:lnTo>
                  <a:pt x="1754991" y="12903"/>
                </a:lnTo>
                <a:lnTo>
                  <a:pt x="1788446" y="37153"/>
                </a:lnTo>
                <a:lnTo>
                  <a:pt x="1812182" y="71000"/>
                </a:lnTo>
                <a:lnTo>
                  <a:pt x="1823595" y="111839"/>
                </a:lnTo>
                <a:lnTo>
                  <a:pt x="1824227" y="124460"/>
                </a:lnTo>
                <a:lnTo>
                  <a:pt x="1824227" y="311150"/>
                </a:lnTo>
                <a:lnTo>
                  <a:pt x="1824227" y="622300"/>
                </a:lnTo>
                <a:lnTo>
                  <a:pt x="1823373" y="636954"/>
                </a:lnTo>
                <a:lnTo>
                  <a:pt x="1811324" y="677523"/>
                </a:lnTo>
                <a:lnTo>
                  <a:pt x="1787074" y="710978"/>
                </a:lnTo>
                <a:lnTo>
                  <a:pt x="1753227" y="734714"/>
                </a:lnTo>
                <a:lnTo>
                  <a:pt x="1712388" y="746127"/>
                </a:lnTo>
                <a:lnTo>
                  <a:pt x="760094" y="746760"/>
                </a:lnTo>
                <a:lnTo>
                  <a:pt x="304037" y="746760"/>
                </a:lnTo>
                <a:lnTo>
                  <a:pt x="124459" y="746760"/>
                </a:lnTo>
                <a:lnTo>
                  <a:pt x="109805" y="745905"/>
                </a:lnTo>
                <a:lnTo>
                  <a:pt x="69236" y="733856"/>
                </a:lnTo>
                <a:lnTo>
                  <a:pt x="35781" y="709606"/>
                </a:lnTo>
                <a:lnTo>
                  <a:pt x="12045" y="675759"/>
                </a:lnTo>
                <a:lnTo>
                  <a:pt x="632" y="634920"/>
                </a:lnTo>
                <a:lnTo>
                  <a:pt x="0" y="311150"/>
                </a:lnTo>
                <a:lnTo>
                  <a:pt x="0" y="247904"/>
                </a:lnTo>
                <a:lnTo>
                  <a:pt x="0" y="124460"/>
                </a:lnTo>
                <a:close/>
              </a:path>
            </a:pathLst>
          </a:custGeom>
          <a:ln w="28956">
            <a:solidFill>
              <a:srgbClr val="000000"/>
            </a:solidFill>
          </a:ln>
        </p:spPr>
        <p:txBody>
          <a:bodyPr wrap="square" lIns="0" tIns="0" rIns="0" bIns="0" rtlCol="0"/>
          <a:lstStyle/>
          <a:p>
            <a:endParaRPr/>
          </a:p>
        </p:txBody>
      </p:sp>
      <p:sp>
        <p:nvSpPr>
          <p:cNvPr id="23" name="object 23"/>
          <p:cNvSpPr txBox="1"/>
          <p:nvPr/>
        </p:nvSpPr>
        <p:spPr>
          <a:xfrm>
            <a:off x="9263253" y="2197173"/>
            <a:ext cx="1201420" cy="330200"/>
          </a:xfrm>
          <a:prstGeom prst="rect">
            <a:avLst/>
          </a:prstGeom>
        </p:spPr>
        <p:txBody>
          <a:bodyPr vert="horz" wrap="square" lIns="0" tIns="0" rIns="0" bIns="0" rtlCol="0">
            <a:spAutoFit/>
          </a:bodyPr>
          <a:lstStyle/>
          <a:p>
            <a:pPr marL="12700">
              <a:lnSpc>
                <a:spcPct val="100000"/>
              </a:lnSpc>
            </a:pPr>
            <a:r>
              <a:rPr sz="2400" b="1" dirty="0">
                <a:latin typeface="Consolas"/>
                <a:cs typeface="Consolas"/>
              </a:rPr>
              <a:t>ARR</a:t>
            </a:r>
            <a:r>
              <a:rPr sz="2400" b="1" spc="5" dirty="0">
                <a:latin typeface="Consolas"/>
                <a:cs typeface="Consolas"/>
              </a:rPr>
              <a:t> </a:t>
            </a:r>
            <a:r>
              <a:rPr sz="2400" b="1" dirty="0">
                <a:latin typeface="Consolas"/>
                <a:cs typeface="Consolas"/>
              </a:rPr>
              <a:t>→</a:t>
            </a:r>
            <a:r>
              <a:rPr sz="2400" b="1" spc="5" dirty="0">
                <a:latin typeface="Consolas"/>
                <a:cs typeface="Consolas"/>
              </a:rPr>
              <a:t> </a:t>
            </a:r>
            <a:r>
              <a:rPr sz="2400" b="1" dirty="0">
                <a:latin typeface="Consolas"/>
                <a:cs typeface="Consolas"/>
              </a:rPr>
              <a:t>0</a:t>
            </a:r>
            <a:endParaRPr sz="2400">
              <a:latin typeface="Consolas"/>
              <a:cs typeface="Consolas"/>
            </a:endParaRPr>
          </a:p>
        </p:txBody>
      </p:sp>
      <p:sp>
        <p:nvSpPr>
          <p:cNvPr id="24" name="object 24"/>
          <p:cNvSpPr txBox="1">
            <a:spLocks noGrp="1"/>
          </p:cNvSpPr>
          <p:nvPr>
            <p:ph type="title"/>
          </p:nvPr>
        </p:nvSpPr>
        <p:spPr>
          <a:prstGeom prst="rect">
            <a:avLst/>
          </a:prstGeom>
        </p:spPr>
        <p:txBody>
          <a:bodyPr vert="horz" wrap="square" lIns="0" tIns="0" rIns="0" bIns="0" rtlCol="0">
            <a:spAutoFit/>
          </a:bodyPr>
          <a:lstStyle/>
          <a:p>
            <a:pPr marL="4263390">
              <a:lnSpc>
                <a:spcPct val="100000"/>
              </a:lnSpc>
            </a:pPr>
            <a:r>
              <a:rPr spc="-5" dirty="0"/>
              <a:t>定时器的三种计数模式</a:t>
            </a:r>
          </a:p>
        </p:txBody>
      </p:sp>
      <p:sp>
        <p:nvSpPr>
          <p:cNvPr id="25" name="object 25"/>
          <p:cNvSpPr/>
          <p:nvPr/>
        </p:nvSpPr>
        <p:spPr>
          <a:xfrm>
            <a:off x="1623822" y="3086861"/>
            <a:ext cx="881380" cy="459105"/>
          </a:xfrm>
          <a:custGeom>
            <a:avLst/>
            <a:gdLst/>
            <a:ahLst/>
            <a:cxnLst/>
            <a:rect l="l" t="t" r="r" b="b"/>
            <a:pathLst>
              <a:path w="881380" h="459104">
                <a:moveTo>
                  <a:pt x="804417" y="0"/>
                </a:moveTo>
                <a:lnTo>
                  <a:pt x="513841" y="0"/>
                </a:lnTo>
                <a:lnTo>
                  <a:pt x="68915" y="368"/>
                </a:lnTo>
                <a:lnTo>
                  <a:pt x="30130" y="15664"/>
                </a:lnTo>
                <a:lnTo>
                  <a:pt x="5334" y="48384"/>
                </a:lnTo>
                <a:lnTo>
                  <a:pt x="0" y="76453"/>
                </a:lnTo>
                <a:lnTo>
                  <a:pt x="0" y="382270"/>
                </a:lnTo>
                <a:lnTo>
                  <a:pt x="15664" y="428593"/>
                </a:lnTo>
                <a:lnTo>
                  <a:pt x="48384" y="453389"/>
                </a:lnTo>
                <a:lnTo>
                  <a:pt x="76453" y="458724"/>
                </a:lnTo>
                <a:lnTo>
                  <a:pt x="734060" y="458724"/>
                </a:lnTo>
                <a:lnTo>
                  <a:pt x="811956" y="458355"/>
                </a:lnTo>
                <a:lnTo>
                  <a:pt x="850741" y="443059"/>
                </a:lnTo>
                <a:lnTo>
                  <a:pt x="875537" y="410339"/>
                </a:lnTo>
                <a:lnTo>
                  <a:pt x="880872" y="382270"/>
                </a:lnTo>
                <a:lnTo>
                  <a:pt x="880872" y="267588"/>
                </a:lnTo>
                <a:lnTo>
                  <a:pt x="880503" y="68915"/>
                </a:lnTo>
                <a:lnTo>
                  <a:pt x="865207" y="30130"/>
                </a:lnTo>
                <a:lnTo>
                  <a:pt x="832487" y="5334"/>
                </a:lnTo>
                <a:lnTo>
                  <a:pt x="804417" y="0"/>
                </a:lnTo>
                <a:close/>
              </a:path>
            </a:pathLst>
          </a:custGeom>
          <a:solidFill>
            <a:srgbClr val="FFFFC7"/>
          </a:solidFill>
        </p:spPr>
        <p:txBody>
          <a:bodyPr wrap="square" lIns="0" tIns="0" rIns="0" bIns="0" rtlCol="0"/>
          <a:lstStyle/>
          <a:p>
            <a:endParaRPr/>
          </a:p>
        </p:txBody>
      </p:sp>
      <p:sp>
        <p:nvSpPr>
          <p:cNvPr id="26" name="object 26"/>
          <p:cNvSpPr/>
          <p:nvPr/>
        </p:nvSpPr>
        <p:spPr>
          <a:xfrm>
            <a:off x="1623822" y="3086861"/>
            <a:ext cx="881380" cy="459105"/>
          </a:xfrm>
          <a:custGeom>
            <a:avLst/>
            <a:gdLst/>
            <a:ahLst/>
            <a:cxnLst/>
            <a:rect l="l" t="t" r="r" b="b"/>
            <a:pathLst>
              <a:path w="881380" h="459104">
                <a:moveTo>
                  <a:pt x="0" y="76453"/>
                </a:moveTo>
                <a:lnTo>
                  <a:pt x="11617" y="35969"/>
                </a:lnTo>
                <a:lnTo>
                  <a:pt x="41847" y="8287"/>
                </a:lnTo>
                <a:lnTo>
                  <a:pt x="513841" y="0"/>
                </a:lnTo>
                <a:lnTo>
                  <a:pt x="734060" y="0"/>
                </a:lnTo>
                <a:lnTo>
                  <a:pt x="804417" y="0"/>
                </a:lnTo>
                <a:lnTo>
                  <a:pt x="818906" y="1376"/>
                </a:lnTo>
                <a:lnTo>
                  <a:pt x="855894" y="19968"/>
                </a:lnTo>
                <a:lnTo>
                  <a:pt x="877769" y="54860"/>
                </a:lnTo>
                <a:lnTo>
                  <a:pt x="880872" y="267588"/>
                </a:lnTo>
                <a:lnTo>
                  <a:pt x="880872" y="382270"/>
                </a:lnTo>
                <a:lnTo>
                  <a:pt x="879495" y="396758"/>
                </a:lnTo>
                <a:lnTo>
                  <a:pt x="875537" y="410339"/>
                </a:lnTo>
                <a:lnTo>
                  <a:pt x="850741" y="443059"/>
                </a:lnTo>
                <a:lnTo>
                  <a:pt x="811956" y="458355"/>
                </a:lnTo>
                <a:lnTo>
                  <a:pt x="734060" y="458724"/>
                </a:lnTo>
                <a:lnTo>
                  <a:pt x="607186" y="458724"/>
                </a:lnTo>
                <a:lnTo>
                  <a:pt x="513841" y="458724"/>
                </a:lnTo>
                <a:lnTo>
                  <a:pt x="76453" y="458724"/>
                </a:lnTo>
                <a:lnTo>
                  <a:pt x="61965" y="457347"/>
                </a:lnTo>
                <a:lnTo>
                  <a:pt x="24977" y="438755"/>
                </a:lnTo>
                <a:lnTo>
                  <a:pt x="3102" y="403863"/>
                </a:lnTo>
                <a:lnTo>
                  <a:pt x="0" y="382270"/>
                </a:lnTo>
                <a:lnTo>
                  <a:pt x="0" y="267588"/>
                </a:lnTo>
                <a:lnTo>
                  <a:pt x="0" y="76453"/>
                </a:lnTo>
                <a:close/>
              </a:path>
            </a:pathLst>
          </a:custGeom>
          <a:ln w="28956">
            <a:solidFill>
              <a:srgbClr val="000000"/>
            </a:solidFill>
          </a:ln>
        </p:spPr>
        <p:txBody>
          <a:bodyPr wrap="square" lIns="0" tIns="0" rIns="0" bIns="0" rtlCol="0"/>
          <a:lstStyle/>
          <a:p>
            <a:endParaRPr/>
          </a:p>
        </p:txBody>
      </p:sp>
      <p:sp>
        <p:nvSpPr>
          <p:cNvPr id="27" name="object 27"/>
          <p:cNvSpPr txBox="1"/>
          <p:nvPr/>
        </p:nvSpPr>
        <p:spPr>
          <a:xfrm>
            <a:off x="1737614" y="3163752"/>
            <a:ext cx="612775" cy="305435"/>
          </a:xfrm>
          <a:prstGeom prst="rect">
            <a:avLst/>
          </a:prstGeom>
        </p:spPr>
        <p:txBody>
          <a:bodyPr vert="horz" wrap="square" lIns="0" tIns="0" rIns="0" bIns="0" rtlCol="0">
            <a:spAutoFit/>
          </a:bodyPr>
          <a:lstStyle/>
          <a:p>
            <a:pPr>
              <a:lnSpc>
                <a:spcPts val="2740"/>
              </a:lnSpc>
            </a:pPr>
            <a:r>
              <a:rPr sz="2400" b="1" spc="-5" dirty="0">
                <a:latin typeface="宋体"/>
                <a:cs typeface="宋体"/>
              </a:rPr>
              <a:t>上溢</a:t>
            </a:r>
            <a:endParaRPr sz="2400">
              <a:latin typeface="宋体"/>
              <a:cs typeface="宋体"/>
            </a:endParaRPr>
          </a:p>
        </p:txBody>
      </p:sp>
      <p:sp>
        <p:nvSpPr>
          <p:cNvPr id="28" name="object 28"/>
          <p:cNvSpPr/>
          <p:nvPr/>
        </p:nvSpPr>
        <p:spPr>
          <a:xfrm>
            <a:off x="1983485" y="5615178"/>
            <a:ext cx="881380" cy="459105"/>
          </a:xfrm>
          <a:custGeom>
            <a:avLst/>
            <a:gdLst/>
            <a:ahLst/>
            <a:cxnLst/>
            <a:rect l="l" t="t" r="r" b="b"/>
            <a:pathLst>
              <a:path w="881380" h="459104">
                <a:moveTo>
                  <a:pt x="804418" y="0"/>
                </a:moveTo>
                <a:lnTo>
                  <a:pt x="513841" y="0"/>
                </a:lnTo>
                <a:lnTo>
                  <a:pt x="68915" y="367"/>
                </a:lnTo>
                <a:lnTo>
                  <a:pt x="30130" y="15645"/>
                </a:lnTo>
                <a:lnTo>
                  <a:pt x="5334" y="48358"/>
                </a:lnTo>
                <a:lnTo>
                  <a:pt x="0" y="76454"/>
                </a:lnTo>
                <a:lnTo>
                  <a:pt x="0" y="382270"/>
                </a:lnTo>
                <a:lnTo>
                  <a:pt x="15664" y="428620"/>
                </a:lnTo>
                <a:lnTo>
                  <a:pt x="48384" y="453397"/>
                </a:lnTo>
                <a:lnTo>
                  <a:pt x="76453" y="458724"/>
                </a:lnTo>
                <a:lnTo>
                  <a:pt x="734059" y="458724"/>
                </a:lnTo>
                <a:lnTo>
                  <a:pt x="811956" y="458356"/>
                </a:lnTo>
                <a:lnTo>
                  <a:pt x="850741" y="443078"/>
                </a:lnTo>
                <a:lnTo>
                  <a:pt x="875537" y="410365"/>
                </a:lnTo>
                <a:lnTo>
                  <a:pt x="880871" y="382270"/>
                </a:lnTo>
                <a:lnTo>
                  <a:pt x="880871" y="267589"/>
                </a:lnTo>
                <a:lnTo>
                  <a:pt x="880503" y="68905"/>
                </a:lnTo>
                <a:lnTo>
                  <a:pt x="865207" y="30103"/>
                </a:lnTo>
                <a:lnTo>
                  <a:pt x="832487" y="5326"/>
                </a:lnTo>
                <a:lnTo>
                  <a:pt x="804418" y="0"/>
                </a:lnTo>
                <a:close/>
              </a:path>
            </a:pathLst>
          </a:custGeom>
          <a:solidFill>
            <a:srgbClr val="FFFFC7"/>
          </a:solidFill>
        </p:spPr>
        <p:txBody>
          <a:bodyPr wrap="square" lIns="0" tIns="0" rIns="0" bIns="0" rtlCol="0"/>
          <a:lstStyle/>
          <a:p>
            <a:endParaRPr/>
          </a:p>
        </p:txBody>
      </p:sp>
      <p:sp>
        <p:nvSpPr>
          <p:cNvPr id="29" name="object 29"/>
          <p:cNvSpPr/>
          <p:nvPr/>
        </p:nvSpPr>
        <p:spPr>
          <a:xfrm>
            <a:off x="1983485" y="5615178"/>
            <a:ext cx="881380" cy="459105"/>
          </a:xfrm>
          <a:custGeom>
            <a:avLst/>
            <a:gdLst/>
            <a:ahLst/>
            <a:cxnLst/>
            <a:rect l="l" t="t" r="r" b="b"/>
            <a:pathLst>
              <a:path w="881380" h="459104">
                <a:moveTo>
                  <a:pt x="0" y="76454"/>
                </a:moveTo>
                <a:lnTo>
                  <a:pt x="11617" y="35941"/>
                </a:lnTo>
                <a:lnTo>
                  <a:pt x="41847" y="8275"/>
                </a:lnTo>
                <a:lnTo>
                  <a:pt x="513841" y="0"/>
                </a:lnTo>
                <a:lnTo>
                  <a:pt x="734059" y="0"/>
                </a:lnTo>
                <a:lnTo>
                  <a:pt x="804418" y="0"/>
                </a:lnTo>
                <a:lnTo>
                  <a:pt x="818906" y="1374"/>
                </a:lnTo>
                <a:lnTo>
                  <a:pt x="855894" y="19946"/>
                </a:lnTo>
                <a:lnTo>
                  <a:pt x="877769" y="54838"/>
                </a:lnTo>
                <a:lnTo>
                  <a:pt x="880871" y="267589"/>
                </a:lnTo>
                <a:lnTo>
                  <a:pt x="880871" y="382270"/>
                </a:lnTo>
                <a:lnTo>
                  <a:pt x="879495" y="396776"/>
                </a:lnTo>
                <a:lnTo>
                  <a:pt x="875537" y="410365"/>
                </a:lnTo>
                <a:lnTo>
                  <a:pt x="850741" y="443078"/>
                </a:lnTo>
                <a:lnTo>
                  <a:pt x="811956" y="458356"/>
                </a:lnTo>
                <a:lnTo>
                  <a:pt x="734059" y="458724"/>
                </a:lnTo>
                <a:lnTo>
                  <a:pt x="607187" y="458724"/>
                </a:lnTo>
                <a:lnTo>
                  <a:pt x="513841" y="458724"/>
                </a:lnTo>
                <a:lnTo>
                  <a:pt x="76453" y="458724"/>
                </a:lnTo>
                <a:lnTo>
                  <a:pt x="61965" y="457349"/>
                </a:lnTo>
                <a:lnTo>
                  <a:pt x="24977" y="438777"/>
                </a:lnTo>
                <a:lnTo>
                  <a:pt x="3102" y="403885"/>
                </a:lnTo>
                <a:lnTo>
                  <a:pt x="0" y="382270"/>
                </a:lnTo>
                <a:lnTo>
                  <a:pt x="0" y="267589"/>
                </a:lnTo>
                <a:lnTo>
                  <a:pt x="0" y="76454"/>
                </a:lnTo>
                <a:close/>
              </a:path>
            </a:pathLst>
          </a:custGeom>
          <a:ln w="28955">
            <a:solidFill>
              <a:srgbClr val="000000"/>
            </a:solidFill>
          </a:ln>
        </p:spPr>
        <p:txBody>
          <a:bodyPr wrap="square" lIns="0" tIns="0" rIns="0" bIns="0" rtlCol="0"/>
          <a:lstStyle/>
          <a:p>
            <a:endParaRPr/>
          </a:p>
        </p:txBody>
      </p:sp>
      <p:sp>
        <p:nvSpPr>
          <p:cNvPr id="30" name="object 30"/>
          <p:cNvSpPr txBox="1"/>
          <p:nvPr/>
        </p:nvSpPr>
        <p:spPr>
          <a:xfrm>
            <a:off x="2096770" y="5693244"/>
            <a:ext cx="612775" cy="304800"/>
          </a:xfrm>
          <a:prstGeom prst="rect">
            <a:avLst/>
          </a:prstGeom>
        </p:spPr>
        <p:txBody>
          <a:bodyPr vert="horz" wrap="square" lIns="0" tIns="0" rIns="0" bIns="0" rtlCol="0">
            <a:spAutoFit/>
          </a:bodyPr>
          <a:lstStyle/>
          <a:p>
            <a:pPr>
              <a:lnSpc>
                <a:spcPts val="2735"/>
              </a:lnSpc>
            </a:pPr>
            <a:r>
              <a:rPr sz="2400" b="1" dirty="0">
                <a:latin typeface="宋体"/>
                <a:cs typeface="宋体"/>
              </a:rPr>
              <a:t>下溢</a:t>
            </a:r>
            <a:endParaRPr sz="2400">
              <a:latin typeface="宋体"/>
              <a:cs typeface="宋体"/>
            </a:endParaRPr>
          </a:p>
        </p:txBody>
      </p:sp>
      <p:sp>
        <p:nvSpPr>
          <p:cNvPr id="31" name="object 31"/>
          <p:cNvSpPr/>
          <p:nvPr/>
        </p:nvSpPr>
        <p:spPr>
          <a:xfrm>
            <a:off x="9185909" y="5615178"/>
            <a:ext cx="881380" cy="459105"/>
          </a:xfrm>
          <a:custGeom>
            <a:avLst/>
            <a:gdLst/>
            <a:ahLst/>
            <a:cxnLst/>
            <a:rect l="l" t="t" r="r" b="b"/>
            <a:pathLst>
              <a:path w="881379" h="459104">
                <a:moveTo>
                  <a:pt x="804418" y="0"/>
                </a:moveTo>
                <a:lnTo>
                  <a:pt x="513842" y="0"/>
                </a:lnTo>
                <a:lnTo>
                  <a:pt x="68915" y="367"/>
                </a:lnTo>
                <a:lnTo>
                  <a:pt x="30130" y="15645"/>
                </a:lnTo>
                <a:lnTo>
                  <a:pt x="5334" y="48358"/>
                </a:lnTo>
                <a:lnTo>
                  <a:pt x="0" y="76454"/>
                </a:lnTo>
                <a:lnTo>
                  <a:pt x="0" y="382270"/>
                </a:lnTo>
                <a:lnTo>
                  <a:pt x="15664" y="428620"/>
                </a:lnTo>
                <a:lnTo>
                  <a:pt x="48384" y="453397"/>
                </a:lnTo>
                <a:lnTo>
                  <a:pt x="76454" y="458724"/>
                </a:lnTo>
                <a:lnTo>
                  <a:pt x="734060" y="458724"/>
                </a:lnTo>
                <a:lnTo>
                  <a:pt x="811956" y="458356"/>
                </a:lnTo>
                <a:lnTo>
                  <a:pt x="850741" y="443078"/>
                </a:lnTo>
                <a:lnTo>
                  <a:pt x="875537" y="410365"/>
                </a:lnTo>
                <a:lnTo>
                  <a:pt x="880872" y="382270"/>
                </a:lnTo>
                <a:lnTo>
                  <a:pt x="880872" y="267589"/>
                </a:lnTo>
                <a:lnTo>
                  <a:pt x="880503" y="68905"/>
                </a:lnTo>
                <a:lnTo>
                  <a:pt x="865207" y="30103"/>
                </a:lnTo>
                <a:lnTo>
                  <a:pt x="832487" y="5326"/>
                </a:lnTo>
                <a:lnTo>
                  <a:pt x="804418" y="0"/>
                </a:lnTo>
                <a:close/>
              </a:path>
            </a:pathLst>
          </a:custGeom>
          <a:solidFill>
            <a:srgbClr val="FFFFC7"/>
          </a:solidFill>
        </p:spPr>
        <p:txBody>
          <a:bodyPr wrap="square" lIns="0" tIns="0" rIns="0" bIns="0" rtlCol="0"/>
          <a:lstStyle/>
          <a:p>
            <a:endParaRPr/>
          </a:p>
        </p:txBody>
      </p:sp>
      <p:sp>
        <p:nvSpPr>
          <p:cNvPr id="32" name="object 32"/>
          <p:cNvSpPr/>
          <p:nvPr/>
        </p:nvSpPr>
        <p:spPr>
          <a:xfrm>
            <a:off x="9185909" y="5615178"/>
            <a:ext cx="881380" cy="459105"/>
          </a:xfrm>
          <a:custGeom>
            <a:avLst/>
            <a:gdLst/>
            <a:ahLst/>
            <a:cxnLst/>
            <a:rect l="l" t="t" r="r" b="b"/>
            <a:pathLst>
              <a:path w="881379" h="459104">
                <a:moveTo>
                  <a:pt x="0" y="76454"/>
                </a:moveTo>
                <a:lnTo>
                  <a:pt x="11617" y="35941"/>
                </a:lnTo>
                <a:lnTo>
                  <a:pt x="41847" y="8275"/>
                </a:lnTo>
                <a:lnTo>
                  <a:pt x="513842" y="0"/>
                </a:lnTo>
                <a:lnTo>
                  <a:pt x="734060" y="0"/>
                </a:lnTo>
                <a:lnTo>
                  <a:pt x="804418" y="0"/>
                </a:lnTo>
                <a:lnTo>
                  <a:pt x="818906" y="1374"/>
                </a:lnTo>
                <a:lnTo>
                  <a:pt x="855894" y="19946"/>
                </a:lnTo>
                <a:lnTo>
                  <a:pt x="877769" y="54838"/>
                </a:lnTo>
                <a:lnTo>
                  <a:pt x="880872" y="267589"/>
                </a:lnTo>
                <a:lnTo>
                  <a:pt x="880872" y="382270"/>
                </a:lnTo>
                <a:lnTo>
                  <a:pt x="879495" y="396776"/>
                </a:lnTo>
                <a:lnTo>
                  <a:pt x="875537" y="410365"/>
                </a:lnTo>
                <a:lnTo>
                  <a:pt x="850741" y="443078"/>
                </a:lnTo>
                <a:lnTo>
                  <a:pt x="811956" y="458356"/>
                </a:lnTo>
                <a:lnTo>
                  <a:pt x="734060" y="458724"/>
                </a:lnTo>
                <a:lnTo>
                  <a:pt x="607187" y="458724"/>
                </a:lnTo>
                <a:lnTo>
                  <a:pt x="513842" y="458724"/>
                </a:lnTo>
                <a:lnTo>
                  <a:pt x="76454" y="458724"/>
                </a:lnTo>
                <a:lnTo>
                  <a:pt x="61965" y="457349"/>
                </a:lnTo>
                <a:lnTo>
                  <a:pt x="24977" y="438777"/>
                </a:lnTo>
                <a:lnTo>
                  <a:pt x="3102" y="403885"/>
                </a:lnTo>
                <a:lnTo>
                  <a:pt x="0" y="382270"/>
                </a:lnTo>
                <a:lnTo>
                  <a:pt x="0" y="267589"/>
                </a:lnTo>
                <a:lnTo>
                  <a:pt x="0" y="76454"/>
                </a:lnTo>
                <a:close/>
              </a:path>
            </a:pathLst>
          </a:custGeom>
          <a:ln w="28956">
            <a:solidFill>
              <a:srgbClr val="000000"/>
            </a:solidFill>
          </a:ln>
        </p:spPr>
        <p:txBody>
          <a:bodyPr wrap="square" lIns="0" tIns="0" rIns="0" bIns="0" rtlCol="0"/>
          <a:lstStyle/>
          <a:p>
            <a:endParaRPr/>
          </a:p>
        </p:txBody>
      </p:sp>
      <p:sp>
        <p:nvSpPr>
          <p:cNvPr id="33" name="object 33"/>
          <p:cNvSpPr txBox="1"/>
          <p:nvPr/>
        </p:nvSpPr>
        <p:spPr>
          <a:xfrm>
            <a:off x="9299702" y="5693244"/>
            <a:ext cx="612775" cy="304800"/>
          </a:xfrm>
          <a:prstGeom prst="rect">
            <a:avLst/>
          </a:prstGeom>
        </p:spPr>
        <p:txBody>
          <a:bodyPr vert="horz" wrap="square" lIns="0" tIns="0" rIns="0" bIns="0" rtlCol="0">
            <a:spAutoFit/>
          </a:bodyPr>
          <a:lstStyle/>
          <a:p>
            <a:pPr>
              <a:lnSpc>
                <a:spcPts val="2735"/>
              </a:lnSpc>
            </a:pPr>
            <a:r>
              <a:rPr sz="2400" b="1" dirty="0">
                <a:latin typeface="宋体"/>
                <a:cs typeface="宋体"/>
              </a:rPr>
              <a:t>下溢</a:t>
            </a:r>
            <a:endParaRPr sz="2400">
              <a:latin typeface="宋体"/>
              <a:cs typeface="宋体"/>
            </a:endParaRPr>
          </a:p>
        </p:txBody>
      </p:sp>
      <p:sp>
        <p:nvSpPr>
          <p:cNvPr id="34" name="object 34"/>
          <p:cNvSpPr/>
          <p:nvPr/>
        </p:nvSpPr>
        <p:spPr>
          <a:xfrm>
            <a:off x="5656326" y="3086861"/>
            <a:ext cx="881380" cy="459105"/>
          </a:xfrm>
          <a:custGeom>
            <a:avLst/>
            <a:gdLst/>
            <a:ahLst/>
            <a:cxnLst/>
            <a:rect l="l" t="t" r="r" b="b"/>
            <a:pathLst>
              <a:path w="881379" h="459104">
                <a:moveTo>
                  <a:pt x="804418" y="0"/>
                </a:moveTo>
                <a:lnTo>
                  <a:pt x="513841" y="0"/>
                </a:lnTo>
                <a:lnTo>
                  <a:pt x="68915" y="368"/>
                </a:lnTo>
                <a:lnTo>
                  <a:pt x="30130" y="15664"/>
                </a:lnTo>
                <a:lnTo>
                  <a:pt x="5334" y="48384"/>
                </a:lnTo>
                <a:lnTo>
                  <a:pt x="0" y="76453"/>
                </a:lnTo>
                <a:lnTo>
                  <a:pt x="0" y="382270"/>
                </a:lnTo>
                <a:lnTo>
                  <a:pt x="15664" y="428593"/>
                </a:lnTo>
                <a:lnTo>
                  <a:pt x="48384" y="453389"/>
                </a:lnTo>
                <a:lnTo>
                  <a:pt x="76453" y="458724"/>
                </a:lnTo>
                <a:lnTo>
                  <a:pt x="734060" y="458724"/>
                </a:lnTo>
                <a:lnTo>
                  <a:pt x="811956" y="458355"/>
                </a:lnTo>
                <a:lnTo>
                  <a:pt x="850741" y="443059"/>
                </a:lnTo>
                <a:lnTo>
                  <a:pt x="875537" y="410339"/>
                </a:lnTo>
                <a:lnTo>
                  <a:pt x="880872" y="382270"/>
                </a:lnTo>
                <a:lnTo>
                  <a:pt x="880872" y="267588"/>
                </a:lnTo>
                <a:lnTo>
                  <a:pt x="880503" y="68915"/>
                </a:lnTo>
                <a:lnTo>
                  <a:pt x="865207" y="30130"/>
                </a:lnTo>
                <a:lnTo>
                  <a:pt x="832487" y="5334"/>
                </a:lnTo>
                <a:lnTo>
                  <a:pt x="804418" y="0"/>
                </a:lnTo>
                <a:close/>
              </a:path>
            </a:pathLst>
          </a:custGeom>
          <a:solidFill>
            <a:srgbClr val="FFFFC7"/>
          </a:solidFill>
        </p:spPr>
        <p:txBody>
          <a:bodyPr wrap="square" lIns="0" tIns="0" rIns="0" bIns="0" rtlCol="0"/>
          <a:lstStyle/>
          <a:p>
            <a:endParaRPr/>
          </a:p>
        </p:txBody>
      </p:sp>
      <p:sp>
        <p:nvSpPr>
          <p:cNvPr id="35" name="object 35"/>
          <p:cNvSpPr/>
          <p:nvPr/>
        </p:nvSpPr>
        <p:spPr>
          <a:xfrm>
            <a:off x="5656326" y="3086861"/>
            <a:ext cx="881380" cy="459105"/>
          </a:xfrm>
          <a:custGeom>
            <a:avLst/>
            <a:gdLst/>
            <a:ahLst/>
            <a:cxnLst/>
            <a:rect l="l" t="t" r="r" b="b"/>
            <a:pathLst>
              <a:path w="881379" h="459104">
                <a:moveTo>
                  <a:pt x="0" y="76453"/>
                </a:moveTo>
                <a:lnTo>
                  <a:pt x="11617" y="35969"/>
                </a:lnTo>
                <a:lnTo>
                  <a:pt x="41847" y="8287"/>
                </a:lnTo>
                <a:lnTo>
                  <a:pt x="513841" y="0"/>
                </a:lnTo>
                <a:lnTo>
                  <a:pt x="734060" y="0"/>
                </a:lnTo>
                <a:lnTo>
                  <a:pt x="804418" y="0"/>
                </a:lnTo>
                <a:lnTo>
                  <a:pt x="818906" y="1376"/>
                </a:lnTo>
                <a:lnTo>
                  <a:pt x="855894" y="19968"/>
                </a:lnTo>
                <a:lnTo>
                  <a:pt x="877769" y="54860"/>
                </a:lnTo>
                <a:lnTo>
                  <a:pt x="880872" y="267588"/>
                </a:lnTo>
                <a:lnTo>
                  <a:pt x="880872" y="382270"/>
                </a:lnTo>
                <a:lnTo>
                  <a:pt x="879495" y="396758"/>
                </a:lnTo>
                <a:lnTo>
                  <a:pt x="875537" y="410339"/>
                </a:lnTo>
                <a:lnTo>
                  <a:pt x="850741" y="443059"/>
                </a:lnTo>
                <a:lnTo>
                  <a:pt x="811956" y="458355"/>
                </a:lnTo>
                <a:lnTo>
                  <a:pt x="734060" y="458724"/>
                </a:lnTo>
                <a:lnTo>
                  <a:pt x="607187" y="458724"/>
                </a:lnTo>
                <a:lnTo>
                  <a:pt x="513841" y="458724"/>
                </a:lnTo>
                <a:lnTo>
                  <a:pt x="76453" y="458724"/>
                </a:lnTo>
                <a:lnTo>
                  <a:pt x="61965" y="457347"/>
                </a:lnTo>
                <a:lnTo>
                  <a:pt x="24977" y="438755"/>
                </a:lnTo>
                <a:lnTo>
                  <a:pt x="3102" y="403863"/>
                </a:lnTo>
                <a:lnTo>
                  <a:pt x="0" y="382270"/>
                </a:lnTo>
                <a:lnTo>
                  <a:pt x="0" y="267588"/>
                </a:lnTo>
                <a:lnTo>
                  <a:pt x="0" y="76453"/>
                </a:lnTo>
                <a:close/>
              </a:path>
            </a:pathLst>
          </a:custGeom>
          <a:ln w="28956">
            <a:solidFill>
              <a:srgbClr val="000000"/>
            </a:solidFill>
          </a:ln>
        </p:spPr>
        <p:txBody>
          <a:bodyPr wrap="square" lIns="0" tIns="0" rIns="0" bIns="0" rtlCol="0"/>
          <a:lstStyle/>
          <a:p>
            <a:endParaRPr/>
          </a:p>
        </p:txBody>
      </p:sp>
      <p:sp>
        <p:nvSpPr>
          <p:cNvPr id="36" name="object 36"/>
          <p:cNvSpPr txBox="1"/>
          <p:nvPr/>
        </p:nvSpPr>
        <p:spPr>
          <a:xfrm>
            <a:off x="5770117" y="3163752"/>
            <a:ext cx="612775" cy="305435"/>
          </a:xfrm>
          <a:prstGeom prst="rect">
            <a:avLst/>
          </a:prstGeom>
        </p:spPr>
        <p:txBody>
          <a:bodyPr vert="horz" wrap="square" lIns="0" tIns="0" rIns="0" bIns="0" rtlCol="0">
            <a:spAutoFit/>
          </a:bodyPr>
          <a:lstStyle/>
          <a:p>
            <a:pPr>
              <a:lnSpc>
                <a:spcPts val="2740"/>
              </a:lnSpc>
            </a:pPr>
            <a:r>
              <a:rPr sz="2400" b="1" spc="-5" dirty="0">
                <a:latin typeface="宋体"/>
                <a:cs typeface="宋体"/>
              </a:rPr>
              <a:t>上溢</a:t>
            </a:r>
            <a:endParaRPr sz="2400">
              <a:latin typeface="宋体"/>
              <a:cs typeface="宋体"/>
            </a:endParaRPr>
          </a:p>
        </p:txBody>
      </p:sp>
    </p:spTree>
    <p:extLst>
      <p:ext uri="{BB962C8B-B14F-4D97-AF65-F5344CB8AC3E}">
        <p14:creationId xmlns:p14="http://schemas.microsoft.com/office/powerpoint/2010/main" val="122810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a:spLocks noGrp="1"/>
          </p:cNvSpPr>
          <p:nvPr>
            <p:ph type="title"/>
          </p:nvPr>
        </p:nvSpPr>
        <p:spPr>
          <a:xfrm>
            <a:off x="93617" y="640469"/>
            <a:ext cx="10515600" cy="1325563"/>
          </a:xfrm>
          <a:prstGeom prst="rect">
            <a:avLst/>
          </a:prstGeom>
        </p:spPr>
        <p:txBody>
          <a:bodyPr vert="horz" wrap="square" lIns="0" tIns="0" rIns="0" bIns="0" rtlCol="0">
            <a:spAutoFit/>
          </a:bodyPr>
          <a:lstStyle/>
          <a:p>
            <a:pPr marL="315595">
              <a:lnSpc>
                <a:spcPct val="100000"/>
              </a:lnSpc>
            </a:pPr>
            <a:r>
              <a:rPr sz="2400" dirty="0">
                <a:solidFill>
                  <a:srgbClr val="FFFFFF"/>
                </a:solidFill>
              </a:rPr>
              <a:t>计数模式</a:t>
            </a:r>
            <a:endParaRPr sz="2400" dirty="0"/>
          </a:p>
        </p:txBody>
      </p:sp>
      <p:sp>
        <p:nvSpPr>
          <p:cNvPr id="14" name="object 14"/>
          <p:cNvSpPr txBox="1"/>
          <p:nvPr/>
        </p:nvSpPr>
        <p:spPr>
          <a:xfrm>
            <a:off x="2979166" y="1172393"/>
            <a:ext cx="6525259"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溢出</a:t>
            </a:r>
            <a:r>
              <a:rPr sz="2800" b="1" spc="-10" dirty="0">
                <a:latin typeface="微软雅黑"/>
                <a:cs typeface="微软雅黑"/>
              </a:rPr>
              <a:t>值CN</a:t>
            </a:r>
            <a:r>
              <a:rPr sz="2800" b="1" spc="0" dirty="0">
                <a:latin typeface="微软雅黑"/>
                <a:cs typeface="微软雅黑"/>
              </a:rPr>
              <a:t>T</a:t>
            </a:r>
            <a:r>
              <a:rPr sz="2800" b="1" spc="-5" dirty="0">
                <a:latin typeface="微软雅黑"/>
                <a:cs typeface="微软雅黑"/>
              </a:rPr>
              <a:t>与自动重载值AR</a:t>
            </a:r>
            <a:r>
              <a:rPr sz="2800" b="1" dirty="0">
                <a:latin typeface="微软雅黑"/>
                <a:cs typeface="微软雅黑"/>
              </a:rPr>
              <a:t>R</a:t>
            </a:r>
            <a:r>
              <a:rPr sz="2800" b="1" spc="-5" dirty="0">
                <a:latin typeface="微软雅黑"/>
                <a:cs typeface="微软雅黑"/>
              </a:rPr>
              <a:t>的关系列表</a:t>
            </a:r>
            <a:endParaRPr sz="2800">
              <a:latin typeface="微软雅黑"/>
              <a:cs typeface="微软雅黑"/>
            </a:endParaRPr>
          </a:p>
        </p:txBody>
      </p:sp>
      <p:graphicFrame>
        <p:nvGraphicFramePr>
          <p:cNvPr id="13" name="object 13"/>
          <p:cNvGraphicFramePr>
            <a:graphicFrameLocks noGrp="1"/>
          </p:cNvGraphicFramePr>
          <p:nvPr/>
        </p:nvGraphicFramePr>
        <p:xfrm>
          <a:off x="710768" y="2319210"/>
          <a:ext cx="10741900" cy="3981577"/>
        </p:xfrm>
        <a:graphic>
          <a:graphicData uri="http://schemas.openxmlformats.org/drawingml/2006/table">
            <a:tbl>
              <a:tblPr firstRow="1" bandRow="1">
                <a:tableStyleId>{2D5ABB26-0587-4C30-8999-92F81FD0307C}</a:tableStyleId>
              </a:tblPr>
              <a:tblGrid>
                <a:gridCol w="586346">
                  <a:extLst>
                    <a:ext uri="{9D8B030D-6E8A-4147-A177-3AD203B41FA5}">
                      <a16:colId xmlns:a16="http://schemas.microsoft.com/office/drawing/2014/main" val="20000"/>
                    </a:ext>
                  </a:extLst>
                </a:gridCol>
                <a:gridCol w="3937508">
                  <a:extLst>
                    <a:ext uri="{9D8B030D-6E8A-4147-A177-3AD203B41FA5}">
                      <a16:colId xmlns:a16="http://schemas.microsoft.com/office/drawing/2014/main" val="20001"/>
                    </a:ext>
                  </a:extLst>
                </a:gridCol>
                <a:gridCol w="3109087">
                  <a:extLst>
                    <a:ext uri="{9D8B030D-6E8A-4147-A177-3AD203B41FA5}">
                      <a16:colId xmlns:a16="http://schemas.microsoft.com/office/drawing/2014/main" val="20002"/>
                    </a:ext>
                  </a:extLst>
                </a:gridCol>
                <a:gridCol w="2874645">
                  <a:extLst>
                    <a:ext uri="{9D8B030D-6E8A-4147-A177-3AD203B41FA5}">
                      <a16:colId xmlns:a16="http://schemas.microsoft.com/office/drawing/2014/main" val="20003"/>
                    </a:ext>
                  </a:extLst>
                </a:gridCol>
                <a:gridCol w="234314">
                  <a:extLst>
                    <a:ext uri="{9D8B030D-6E8A-4147-A177-3AD203B41FA5}">
                      <a16:colId xmlns:a16="http://schemas.microsoft.com/office/drawing/2014/main" val="20004"/>
                    </a:ext>
                  </a:extLst>
                </a:gridCol>
              </a:tblGrid>
              <a:tr h="700151">
                <a:tc gridSpan="2">
                  <a:txBody>
                    <a:bodyPr/>
                    <a:lstStyle/>
                    <a:p>
                      <a:pPr algn="ctr">
                        <a:lnSpc>
                          <a:spcPct val="100000"/>
                        </a:lnSpc>
                      </a:pPr>
                      <a:r>
                        <a:rPr sz="2400" b="1" dirty="0">
                          <a:solidFill>
                            <a:srgbClr val="FFFFFF"/>
                          </a:solidFill>
                          <a:latin typeface="微软雅黑"/>
                          <a:cs typeface="微软雅黑"/>
                        </a:rPr>
                        <a:t>计数模式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tc>
                  <a:txBody>
                    <a:bodyPr/>
                    <a:lstStyle/>
                    <a:p>
                      <a:pPr marL="626745">
                        <a:lnSpc>
                          <a:spcPct val="100000"/>
                        </a:lnSpc>
                      </a:pPr>
                      <a:r>
                        <a:rPr sz="2400" b="1" dirty="0">
                          <a:solidFill>
                            <a:srgbClr val="FFFFFF"/>
                          </a:solidFill>
                          <a:latin typeface="微软雅黑"/>
                          <a:cs typeface="微软雅黑"/>
                        </a:rPr>
                        <a:t>计数器溢出值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gridSpan="2">
                  <a:txBody>
                    <a:bodyPr/>
                    <a:lstStyle/>
                    <a:p>
                      <a:pPr marL="626745">
                        <a:lnSpc>
                          <a:spcPct val="100000"/>
                        </a:lnSpc>
                      </a:pPr>
                      <a:r>
                        <a:rPr sz="2400" b="1" dirty="0">
                          <a:solidFill>
                            <a:srgbClr val="FFFFFF"/>
                          </a:solidFill>
                          <a:latin typeface="微软雅黑"/>
                          <a:cs typeface="微软雅黑"/>
                        </a:rPr>
                        <a:t>计数器重载值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29412">
                <a:tc gridSpan="2">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solidFill>
                      <a:srgbClr val="EAEEF7"/>
                    </a:solidFill>
                  </a:tcPr>
                </a:tc>
                <a:tc hMerge="1">
                  <a:txBody>
                    <a:bodyPr/>
                    <a:lstStyle/>
                    <a:p>
                      <a:endParaRPr/>
                    </a:p>
                  </a:txBody>
                  <a:tcPr marL="0" marR="0" marT="0" marB="0"/>
                </a:tc>
                <a:tc>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38100">
                      <a:solidFill>
                        <a:srgbClr val="FF0000"/>
                      </a:solidFill>
                      <a:prstDash val="solid"/>
                    </a:lnB>
                    <a:solidFill>
                      <a:srgbClr val="EAEEF7"/>
                    </a:solidFill>
                  </a:tcPr>
                </a:tc>
                <a:tc gridSpan="2">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solidFill>
                      <a:srgbClr val="EAEEF7"/>
                    </a:solidFill>
                  </a:tcPr>
                </a:tc>
                <a:tc hMerge="1">
                  <a:txBody>
                    <a:bodyPr/>
                    <a:lstStyle/>
                    <a:p>
                      <a:endParaRPr/>
                    </a:p>
                  </a:txBody>
                  <a:tcPr marL="0" marR="0" marT="0" marB="0"/>
                </a:tc>
                <a:extLst>
                  <a:ext uri="{0D108BD9-81ED-4DB2-BD59-A6C34878D82A}">
                    <a16:rowId xmlns:a16="http://schemas.microsoft.com/office/drawing/2014/main" val="10001"/>
                  </a:ext>
                </a:extLst>
              </a:tr>
              <a:tr h="449580">
                <a:tc>
                  <a:txBody>
                    <a:bodyPr/>
                    <a:lstStyle/>
                    <a:p>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solidFill>
                      <a:srgbClr val="EAEEF7"/>
                    </a:solidFill>
                  </a:tcPr>
                </a:tc>
                <a:tc>
                  <a:txBody>
                    <a:bodyPr/>
                    <a:lstStyle/>
                    <a:p>
                      <a:pPr marL="1047115">
                        <a:lnSpc>
                          <a:spcPct val="100000"/>
                        </a:lnSpc>
                      </a:pPr>
                      <a:r>
                        <a:rPr sz="2400" b="1" dirty="0">
                          <a:latin typeface="微软雅黑"/>
                          <a:cs typeface="微软雅黑"/>
                        </a:rPr>
                        <a:t>递增计数</a:t>
                      </a:r>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lnT w="38100">
                      <a:solidFill>
                        <a:srgbClr val="FF0000"/>
                      </a:solidFill>
                      <a:prstDash val="solid"/>
                    </a:lnT>
                    <a:lnB w="38100">
                      <a:solidFill>
                        <a:srgbClr val="FF0000"/>
                      </a:solidFill>
                      <a:prstDash val="solid"/>
                    </a:lnB>
                    <a:solidFill>
                      <a:srgbClr val="EAEEF7"/>
                    </a:solidFill>
                  </a:tcPr>
                </a:tc>
                <a:tc>
                  <a:txBody>
                    <a:bodyPr/>
                    <a:lstStyle/>
                    <a:p>
                      <a:pPr marL="283210">
                        <a:lnSpc>
                          <a:spcPct val="100000"/>
                        </a:lnSpc>
                      </a:pPr>
                      <a:r>
                        <a:rPr sz="2400" b="1" spc="-5" dirty="0">
                          <a:latin typeface="微软雅黑"/>
                          <a:cs typeface="微软雅黑"/>
                        </a:rPr>
                        <a:t>C</a:t>
                      </a:r>
                      <a:r>
                        <a:rPr sz="2400" b="1" spc="10" dirty="0">
                          <a:latin typeface="微软雅黑"/>
                          <a:cs typeface="微软雅黑"/>
                        </a:rPr>
                        <a:t>N</a:t>
                      </a:r>
                      <a:r>
                        <a:rPr sz="2400" b="1" dirty="0">
                          <a:latin typeface="微软雅黑"/>
                          <a:cs typeface="微软雅黑"/>
                        </a:rPr>
                        <a:t>T</a:t>
                      </a:r>
                      <a:r>
                        <a:rPr sz="2400" b="1" spc="-5"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ARR</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38100">
                      <a:solidFill>
                        <a:srgbClr val="FF0000"/>
                      </a:solidFill>
                      <a:prstDash val="solid"/>
                    </a:lnT>
                    <a:lnB w="38100">
                      <a:solidFill>
                        <a:srgbClr val="FF0000"/>
                      </a:solidFill>
                      <a:prstDash val="solid"/>
                    </a:lnB>
                    <a:solidFill>
                      <a:srgbClr val="EAEEF7"/>
                    </a:solidFill>
                  </a:tcPr>
                </a:tc>
                <a:tc>
                  <a:txBody>
                    <a:bodyPr/>
                    <a:lstStyle/>
                    <a:p>
                      <a:pPr marL="283845">
                        <a:lnSpc>
                          <a:spcPct val="100000"/>
                        </a:lnSpc>
                      </a:pPr>
                      <a:r>
                        <a:rPr sz="2400" b="1" dirty="0">
                          <a:latin typeface="微软雅黑"/>
                          <a:cs typeface="微软雅黑"/>
                        </a:rPr>
                        <a:t>CNT</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0</a:t>
                      </a:r>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lnB w="38100">
                      <a:solidFill>
                        <a:srgbClr val="FF0000"/>
                      </a:solidFill>
                      <a:prstDash val="solid"/>
                    </a:lnB>
                    <a:solidFill>
                      <a:srgbClr val="EAEEF7"/>
                    </a:solidFill>
                  </a:tcPr>
                </a:tc>
                <a:tc>
                  <a:txBody>
                    <a:bodyPr/>
                    <a:lstStyle/>
                    <a:p>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solidFill>
                      <a:srgbClr val="EAEEF7"/>
                    </a:solidFill>
                  </a:tcPr>
                </a:tc>
                <a:extLst>
                  <a:ext uri="{0D108BD9-81ED-4DB2-BD59-A6C34878D82A}">
                    <a16:rowId xmlns:a16="http://schemas.microsoft.com/office/drawing/2014/main" val="10002"/>
                  </a:ext>
                </a:extLst>
              </a:tr>
              <a:tr h="121157">
                <a:tc gridSpan="2">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solidFill>
                      <a:srgbClr val="EAEEF7"/>
                    </a:solidFill>
                  </a:tcPr>
                </a:tc>
                <a:tc hMerge="1">
                  <a:txBody>
                    <a:bodyPr/>
                    <a:lstStyle/>
                    <a:p>
                      <a:endParaRPr/>
                    </a:p>
                  </a:txBody>
                  <a:tcPr marL="0" marR="0" marT="0" marB="0"/>
                </a:tc>
                <a:tc>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38100">
                      <a:solidFill>
                        <a:srgbClr val="FF0000"/>
                      </a:solidFill>
                      <a:prstDash val="solid"/>
                    </a:lnT>
                    <a:lnB w="28575">
                      <a:solidFill>
                        <a:srgbClr val="000000"/>
                      </a:solidFill>
                      <a:prstDash val="solid"/>
                    </a:lnB>
                    <a:solidFill>
                      <a:srgbClr val="EAEEF7"/>
                    </a:solidFill>
                  </a:tcPr>
                </a:tc>
                <a:tc gridSpan="2">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38100" cap="flat" cmpd="sng" algn="ctr">
                      <a:solidFill>
                        <a:srgbClr val="FF0000"/>
                      </a:solidFill>
                      <a:prstDash val="solid"/>
                      <a:round/>
                      <a:headEnd type="none" w="med" len="med"/>
                      <a:tailEnd type="none" w="med" len="med"/>
                    </a:lnT>
                    <a:lnB w="28575">
                      <a:solidFill>
                        <a:srgbClr val="000000"/>
                      </a:solidFill>
                      <a:prstDash val="solid"/>
                    </a:lnB>
                    <a:solidFill>
                      <a:srgbClr val="EAEEF7"/>
                    </a:solidFill>
                  </a:tcPr>
                </a:tc>
                <a:tc hMerge="1">
                  <a:txBody>
                    <a:bodyPr/>
                    <a:lstStyle/>
                    <a:p>
                      <a:endParaRPr/>
                    </a:p>
                  </a:txBody>
                  <a:tcPr marL="0" marR="0" marT="0" marB="0"/>
                </a:tc>
                <a:extLst>
                  <a:ext uri="{0D108BD9-81ED-4DB2-BD59-A6C34878D82A}">
                    <a16:rowId xmlns:a16="http://schemas.microsoft.com/office/drawing/2014/main" val="10003"/>
                  </a:ext>
                </a:extLst>
              </a:tr>
              <a:tr h="700151">
                <a:tc gridSpan="2">
                  <a:txBody>
                    <a:bodyPr/>
                    <a:lstStyle/>
                    <a:p>
                      <a:pPr algn="ctr">
                        <a:lnSpc>
                          <a:spcPct val="100000"/>
                        </a:lnSpc>
                      </a:pPr>
                      <a:r>
                        <a:rPr sz="2400" b="1" dirty="0">
                          <a:latin typeface="微软雅黑"/>
                          <a:cs typeface="微软雅黑"/>
                        </a:rPr>
                        <a:t>递减计数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a:txBody>
                    <a:bodyPr/>
                    <a:lstStyle/>
                    <a:p>
                      <a:pPr marL="283210">
                        <a:lnSpc>
                          <a:spcPct val="100000"/>
                        </a:lnSpc>
                      </a:pPr>
                      <a:r>
                        <a:rPr sz="2400" b="1" spc="-5" dirty="0">
                          <a:latin typeface="微软雅黑"/>
                          <a:cs typeface="微软雅黑"/>
                        </a:rPr>
                        <a:t>C</a:t>
                      </a:r>
                      <a:r>
                        <a:rPr sz="2400" b="1" spc="10" dirty="0">
                          <a:latin typeface="微软雅黑"/>
                          <a:cs typeface="微软雅黑"/>
                        </a:rPr>
                        <a:t>N</a:t>
                      </a:r>
                      <a:r>
                        <a:rPr sz="2400" b="1" dirty="0">
                          <a:latin typeface="微软雅黑"/>
                          <a:cs typeface="微软雅黑"/>
                        </a:rPr>
                        <a:t>T</a:t>
                      </a:r>
                      <a:r>
                        <a:rPr sz="2400" b="1" spc="-5"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0</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gridSpan="2">
                  <a:txBody>
                    <a:bodyPr/>
                    <a:lstStyle/>
                    <a:p>
                      <a:pPr marL="283845">
                        <a:lnSpc>
                          <a:spcPct val="100000"/>
                        </a:lnSpc>
                      </a:pPr>
                      <a:r>
                        <a:rPr sz="2400" b="1" dirty="0">
                          <a:latin typeface="微软雅黑"/>
                          <a:cs typeface="微软雅黑"/>
                        </a:rPr>
                        <a:t>CNT</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ARR</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r h="700024">
                <a:tc rowSpan="2" gridSpan="2">
                  <a:txBody>
                    <a:bodyPr/>
                    <a:lstStyle/>
                    <a:p>
                      <a:pPr marL="1333500">
                        <a:lnSpc>
                          <a:spcPct val="100000"/>
                        </a:lnSpc>
                      </a:pPr>
                      <a:r>
                        <a:rPr sz="2400" b="1" dirty="0">
                          <a:latin typeface="微软雅黑"/>
                          <a:cs typeface="微软雅黑"/>
                        </a:rPr>
                        <a:t>中心对齐计数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rowSpan="2" hMerge="1">
                  <a:txBody>
                    <a:bodyPr/>
                    <a:lstStyle/>
                    <a:p>
                      <a:endParaRPr/>
                    </a:p>
                  </a:txBody>
                  <a:tcPr marL="0" marR="0" marT="0" marB="0"/>
                </a:tc>
                <a:tc>
                  <a:txBody>
                    <a:bodyPr/>
                    <a:lstStyle/>
                    <a:p>
                      <a:pPr marL="283210">
                        <a:lnSpc>
                          <a:spcPct val="100000"/>
                        </a:lnSpc>
                      </a:pPr>
                      <a:r>
                        <a:rPr sz="2400" b="1" spc="-5" dirty="0">
                          <a:latin typeface="微软雅黑"/>
                          <a:cs typeface="微软雅黑"/>
                        </a:rPr>
                        <a:t>C</a:t>
                      </a:r>
                      <a:r>
                        <a:rPr sz="2400" b="1" spc="10" dirty="0">
                          <a:latin typeface="微软雅黑"/>
                          <a:cs typeface="微软雅黑"/>
                        </a:rPr>
                        <a:t>N</a:t>
                      </a:r>
                      <a:r>
                        <a:rPr sz="2400" b="1" dirty="0">
                          <a:latin typeface="微软雅黑"/>
                          <a:cs typeface="微软雅黑"/>
                        </a:rPr>
                        <a:t>T</a:t>
                      </a:r>
                      <a:r>
                        <a:rPr sz="2400" b="1" spc="-5"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AR</a:t>
                      </a:r>
                      <a:r>
                        <a:rPr sz="2400" b="1" spc="-10" dirty="0">
                          <a:latin typeface="微软雅黑"/>
                          <a:cs typeface="微软雅黑"/>
                        </a:rPr>
                        <a:t>R</a:t>
                      </a:r>
                      <a:r>
                        <a:rPr sz="2400" b="1" spc="-5" dirty="0">
                          <a:latin typeface="微软雅黑"/>
                          <a:cs typeface="微软雅黑"/>
                        </a:rPr>
                        <a:t>-</a:t>
                      </a:r>
                      <a:r>
                        <a:rPr sz="2400" b="1" dirty="0">
                          <a:latin typeface="微软雅黑"/>
                          <a:cs typeface="微软雅黑"/>
                        </a:rPr>
                        <a:t>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gridSpan="2">
                  <a:txBody>
                    <a:bodyPr/>
                    <a:lstStyle/>
                    <a:p>
                      <a:pPr marL="283845">
                        <a:lnSpc>
                          <a:spcPct val="100000"/>
                        </a:lnSpc>
                      </a:pPr>
                      <a:r>
                        <a:rPr sz="2400" b="1" dirty="0">
                          <a:latin typeface="微软雅黑"/>
                          <a:cs typeface="微软雅黑"/>
                        </a:rPr>
                        <a:t>CNT</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ARR</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hMerge="1">
                  <a:txBody>
                    <a:bodyPr/>
                    <a:lstStyle/>
                    <a:p>
                      <a:endParaRPr/>
                    </a:p>
                  </a:txBody>
                  <a:tcPr marL="0" marR="0" marT="0" marB="0"/>
                </a:tc>
                <a:extLst>
                  <a:ext uri="{0D108BD9-81ED-4DB2-BD59-A6C34878D82A}">
                    <a16:rowId xmlns:a16="http://schemas.microsoft.com/office/drawing/2014/main" val="10005"/>
                  </a:ext>
                </a:extLst>
              </a:tr>
              <a:tr h="700151">
                <a:tc gridSpan="2" vMerge="1">
                  <a:txBody>
                    <a:bodyPr/>
                    <a:lstStyle/>
                    <a:p>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hMerge="1" vMerge="1">
                  <a:txBody>
                    <a:bodyPr/>
                    <a:lstStyle/>
                    <a:p>
                      <a:endParaRPr/>
                    </a:p>
                  </a:txBody>
                  <a:tcPr marL="0" marR="0" marT="0" marB="0"/>
                </a:tc>
                <a:tc>
                  <a:txBody>
                    <a:bodyPr/>
                    <a:lstStyle/>
                    <a:p>
                      <a:pPr marL="283210">
                        <a:lnSpc>
                          <a:spcPct val="100000"/>
                        </a:lnSpc>
                      </a:pPr>
                      <a:r>
                        <a:rPr sz="2400" b="1" spc="-5" dirty="0">
                          <a:latin typeface="微软雅黑"/>
                          <a:cs typeface="微软雅黑"/>
                        </a:rPr>
                        <a:t>C</a:t>
                      </a:r>
                      <a:r>
                        <a:rPr sz="2400" b="1" spc="10" dirty="0">
                          <a:latin typeface="微软雅黑"/>
                          <a:cs typeface="微软雅黑"/>
                        </a:rPr>
                        <a:t>N</a:t>
                      </a:r>
                      <a:r>
                        <a:rPr sz="2400" b="1" dirty="0">
                          <a:latin typeface="微软雅黑"/>
                          <a:cs typeface="微软雅黑"/>
                        </a:rPr>
                        <a:t>T</a:t>
                      </a:r>
                      <a:r>
                        <a:rPr sz="2400" b="1" spc="-5"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gridSpan="2">
                  <a:txBody>
                    <a:bodyPr/>
                    <a:lstStyle/>
                    <a:p>
                      <a:pPr marL="283845">
                        <a:lnSpc>
                          <a:spcPct val="100000"/>
                        </a:lnSpc>
                      </a:pPr>
                      <a:r>
                        <a:rPr sz="2400" b="1" dirty="0">
                          <a:latin typeface="微软雅黑"/>
                          <a:cs typeface="微软雅黑"/>
                        </a:rPr>
                        <a:t>CNT</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0</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8636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51331" y="716280"/>
            <a:ext cx="10689336" cy="597103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86334" y="351281"/>
            <a:ext cx="3171825" cy="746760"/>
          </a:xfrm>
          <a:custGeom>
            <a:avLst/>
            <a:gdLst/>
            <a:ahLst/>
            <a:cxnLst/>
            <a:rect l="l" t="t" r="r" b="b"/>
            <a:pathLst>
              <a:path w="3171825" h="746760">
                <a:moveTo>
                  <a:pt x="3046983" y="0"/>
                </a:moveTo>
                <a:lnTo>
                  <a:pt x="528574" y="0"/>
                </a:lnTo>
                <a:lnTo>
                  <a:pt x="111835" y="632"/>
                </a:lnTo>
                <a:lnTo>
                  <a:pt x="70989" y="12045"/>
                </a:lnTo>
                <a:lnTo>
                  <a:pt x="37144" y="35781"/>
                </a:lnTo>
                <a:lnTo>
                  <a:pt x="12898" y="69236"/>
                </a:lnTo>
                <a:lnTo>
                  <a:pt x="854" y="109805"/>
                </a:lnTo>
                <a:lnTo>
                  <a:pt x="0" y="124460"/>
                </a:lnTo>
                <a:lnTo>
                  <a:pt x="0" y="311150"/>
                </a:lnTo>
                <a:lnTo>
                  <a:pt x="632" y="634920"/>
                </a:lnTo>
                <a:lnTo>
                  <a:pt x="12041" y="675759"/>
                </a:lnTo>
                <a:lnTo>
                  <a:pt x="35772" y="709606"/>
                </a:lnTo>
                <a:lnTo>
                  <a:pt x="69225" y="733856"/>
                </a:lnTo>
                <a:lnTo>
                  <a:pt x="109801" y="745905"/>
                </a:lnTo>
                <a:lnTo>
                  <a:pt x="124459" y="746760"/>
                </a:lnTo>
                <a:lnTo>
                  <a:pt x="1321435" y="746760"/>
                </a:lnTo>
                <a:lnTo>
                  <a:pt x="3059604" y="746127"/>
                </a:lnTo>
                <a:lnTo>
                  <a:pt x="3100443" y="734714"/>
                </a:lnTo>
                <a:lnTo>
                  <a:pt x="3134290" y="710978"/>
                </a:lnTo>
                <a:lnTo>
                  <a:pt x="3158540" y="677523"/>
                </a:lnTo>
                <a:lnTo>
                  <a:pt x="3170589" y="636954"/>
                </a:lnTo>
                <a:lnTo>
                  <a:pt x="3171443" y="622300"/>
                </a:lnTo>
                <a:lnTo>
                  <a:pt x="3171443" y="124460"/>
                </a:lnTo>
                <a:lnTo>
                  <a:pt x="3164700" y="83965"/>
                </a:lnTo>
                <a:lnTo>
                  <a:pt x="3144783" y="47498"/>
                </a:lnTo>
                <a:lnTo>
                  <a:pt x="3114278" y="19759"/>
                </a:lnTo>
                <a:lnTo>
                  <a:pt x="3075790" y="3354"/>
                </a:lnTo>
                <a:lnTo>
                  <a:pt x="3046983" y="0"/>
                </a:lnTo>
                <a:close/>
              </a:path>
            </a:pathLst>
          </a:custGeom>
          <a:solidFill>
            <a:srgbClr val="FFFFC7"/>
          </a:solidFill>
        </p:spPr>
        <p:txBody>
          <a:bodyPr wrap="square" lIns="0" tIns="0" rIns="0" bIns="0" rtlCol="0"/>
          <a:lstStyle/>
          <a:p>
            <a:endParaRPr/>
          </a:p>
        </p:txBody>
      </p:sp>
      <p:sp>
        <p:nvSpPr>
          <p:cNvPr id="4" name="object 4"/>
          <p:cNvSpPr/>
          <p:nvPr/>
        </p:nvSpPr>
        <p:spPr>
          <a:xfrm>
            <a:off x="386334" y="351281"/>
            <a:ext cx="3171825" cy="746760"/>
          </a:xfrm>
          <a:custGeom>
            <a:avLst/>
            <a:gdLst/>
            <a:ahLst/>
            <a:cxnLst/>
            <a:rect l="l" t="t" r="r" b="b"/>
            <a:pathLst>
              <a:path w="3171825" h="746760">
                <a:moveTo>
                  <a:pt x="0" y="124460"/>
                </a:moveTo>
                <a:lnTo>
                  <a:pt x="7400" y="82097"/>
                </a:lnTo>
                <a:lnTo>
                  <a:pt x="27867" y="45981"/>
                </a:lnTo>
                <a:lnTo>
                  <a:pt x="58801" y="18716"/>
                </a:lnTo>
                <a:lnTo>
                  <a:pt x="97602" y="2906"/>
                </a:lnTo>
                <a:lnTo>
                  <a:pt x="528574" y="0"/>
                </a:lnTo>
                <a:lnTo>
                  <a:pt x="1321435" y="0"/>
                </a:lnTo>
                <a:lnTo>
                  <a:pt x="3046983" y="0"/>
                </a:lnTo>
                <a:lnTo>
                  <a:pt x="3061638" y="854"/>
                </a:lnTo>
                <a:lnTo>
                  <a:pt x="3102207" y="12903"/>
                </a:lnTo>
                <a:lnTo>
                  <a:pt x="3135662" y="37153"/>
                </a:lnTo>
                <a:lnTo>
                  <a:pt x="3159398" y="71000"/>
                </a:lnTo>
                <a:lnTo>
                  <a:pt x="3170811" y="111839"/>
                </a:lnTo>
                <a:lnTo>
                  <a:pt x="3171443" y="124460"/>
                </a:lnTo>
                <a:lnTo>
                  <a:pt x="3171443" y="311150"/>
                </a:lnTo>
                <a:lnTo>
                  <a:pt x="3171443" y="622300"/>
                </a:lnTo>
                <a:lnTo>
                  <a:pt x="3170589" y="636954"/>
                </a:lnTo>
                <a:lnTo>
                  <a:pt x="3158540" y="677523"/>
                </a:lnTo>
                <a:lnTo>
                  <a:pt x="3134290" y="710978"/>
                </a:lnTo>
                <a:lnTo>
                  <a:pt x="3100443" y="734714"/>
                </a:lnTo>
                <a:lnTo>
                  <a:pt x="3059604" y="746127"/>
                </a:lnTo>
                <a:lnTo>
                  <a:pt x="1321435" y="746760"/>
                </a:lnTo>
                <a:lnTo>
                  <a:pt x="528574" y="746760"/>
                </a:lnTo>
                <a:lnTo>
                  <a:pt x="124459" y="746760"/>
                </a:lnTo>
                <a:lnTo>
                  <a:pt x="109801" y="745905"/>
                </a:lnTo>
                <a:lnTo>
                  <a:pt x="69225" y="733856"/>
                </a:lnTo>
                <a:lnTo>
                  <a:pt x="35772" y="709606"/>
                </a:lnTo>
                <a:lnTo>
                  <a:pt x="12041" y="675759"/>
                </a:lnTo>
                <a:lnTo>
                  <a:pt x="632" y="634920"/>
                </a:lnTo>
                <a:lnTo>
                  <a:pt x="0" y="311150"/>
                </a:lnTo>
                <a:lnTo>
                  <a:pt x="0" y="247904"/>
                </a:lnTo>
                <a:lnTo>
                  <a:pt x="0" y="124460"/>
                </a:lnTo>
                <a:close/>
              </a:path>
            </a:pathLst>
          </a:custGeom>
          <a:ln w="28956">
            <a:solidFill>
              <a:srgbClr val="000000"/>
            </a:solidFill>
          </a:ln>
        </p:spPr>
        <p:txBody>
          <a:bodyPr wrap="square" lIns="0" tIns="0" rIns="0" bIns="0" rtlCol="0"/>
          <a:lstStyle/>
          <a:p>
            <a:endParaRPr/>
          </a:p>
        </p:txBody>
      </p:sp>
      <p:sp>
        <p:nvSpPr>
          <p:cNvPr id="5" name="object 5"/>
          <p:cNvSpPr/>
          <p:nvPr/>
        </p:nvSpPr>
        <p:spPr>
          <a:xfrm>
            <a:off x="535686" y="1672589"/>
            <a:ext cx="2073910" cy="1186180"/>
          </a:xfrm>
          <a:custGeom>
            <a:avLst/>
            <a:gdLst/>
            <a:ahLst/>
            <a:cxnLst/>
            <a:rect l="l" t="t" r="r" b="b"/>
            <a:pathLst>
              <a:path w="2073910" h="1186180">
                <a:moveTo>
                  <a:pt x="1603756" y="0"/>
                </a:moveTo>
                <a:lnTo>
                  <a:pt x="197612" y="0"/>
                </a:lnTo>
                <a:lnTo>
                  <a:pt x="181405" y="655"/>
                </a:lnTo>
                <a:lnTo>
                  <a:pt x="135154" y="10078"/>
                </a:lnTo>
                <a:lnTo>
                  <a:pt x="93521" y="29617"/>
                </a:lnTo>
                <a:lnTo>
                  <a:pt x="57881" y="57896"/>
                </a:lnTo>
                <a:lnTo>
                  <a:pt x="29608" y="93538"/>
                </a:lnTo>
                <a:lnTo>
                  <a:pt x="10075" y="135168"/>
                </a:lnTo>
                <a:lnTo>
                  <a:pt x="655" y="181410"/>
                </a:lnTo>
                <a:lnTo>
                  <a:pt x="0" y="197612"/>
                </a:lnTo>
                <a:lnTo>
                  <a:pt x="0" y="988060"/>
                </a:lnTo>
                <a:lnTo>
                  <a:pt x="5743" y="1035533"/>
                </a:lnTo>
                <a:lnTo>
                  <a:pt x="22058" y="1078854"/>
                </a:lnTo>
                <a:lnTo>
                  <a:pt x="47571" y="1116645"/>
                </a:lnTo>
                <a:lnTo>
                  <a:pt x="80907" y="1147531"/>
                </a:lnTo>
                <a:lnTo>
                  <a:pt x="120695" y="1170136"/>
                </a:lnTo>
                <a:lnTo>
                  <a:pt x="165560" y="1183084"/>
                </a:lnTo>
                <a:lnTo>
                  <a:pt x="197612" y="1185672"/>
                </a:lnTo>
                <a:lnTo>
                  <a:pt x="1603756" y="1185672"/>
                </a:lnTo>
                <a:lnTo>
                  <a:pt x="1651229" y="1179926"/>
                </a:lnTo>
                <a:lnTo>
                  <a:pt x="1694550" y="1163606"/>
                </a:lnTo>
                <a:lnTo>
                  <a:pt x="1732341" y="1138088"/>
                </a:lnTo>
                <a:lnTo>
                  <a:pt x="1763227" y="1104747"/>
                </a:lnTo>
                <a:lnTo>
                  <a:pt x="1785832" y="1064960"/>
                </a:lnTo>
                <a:lnTo>
                  <a:pt x="1798780" y="1020102"/>
                </a:lnTo>
                <a:lnTo>
                  <a:pt x="1801368" y="988060"/>
                </a:lnTo>
                <a:lnTo>
                  <a:pt x="1968161" y="988060"/>
                </a:lnTo>
                <a:lnTo>
                  <a:pt x="1801368" y="691642"/>
                </a:lnTo>
                <a:lnTo>
                  <a:pt x="1801368" y="197612"/>
                </a:lnTo>
                <a:lnTo>
                  <a:pt x="1800712" y="181410"/>
                </a:lnTo>
                <a:lnTo>
                  <a:pt x="1791289" y="135168"/>
                </a:lnTo>
                <a:lnTo>
                  <a:pt x="1771750" y="93538"/>
                </a:lnTo>
                <a:lnTo>
                  <a:pt x="1743471" y="57896"/>
                </a:lnTo>
                <a:lnTo>
                  <a:pt x="1707829" y="29617"/>
                </a:lnTo>
                <a:lnTo>
                  <a:pt x="1666199" y="10078"/>
                </a:lnTo>
                <a:lnTo>
                  <a:pt x="1619957" y="655"/>
                </a:lnTo>
                <a:lnTo>
                  <a:pt x="1603756" y="0"/>
                </a:lnTo>
                <a:close/>
              </a:path>
              <a:path w="2073910" h="1186180">
                <a:moveTo>
                  <a:pt x="1968161" y="988060"/>
                </a:moveTo>
                <a:lnTo>
                  <a:pt x="1801368" y="988060"/>
                </a:lnTo>
                <a:lnTo>
                  <a:pt x="2073783" y="1175765"/>
                </a:lnTo>
                <a:lnTo>
                  <a:pt x="1968161" y="988060"/>
                </a:lnTo>
                <a:close/>
              </a:path>
            </a:pathLst>
          </a:custGeom>
          <a:solidFill>
            <a:srgbClr val="FFFFC7"/>
          </a:solidFill>
        </p:spPr>
        <p:txBody>
          <a:bodyPr wrap="square" lIns="0" tIns="0" rIns="0" bIns="0" rtlCol="0"/>
          <a:lstStyle/>
          <a:p>
            <a:endParaRPr/>
          </a:p>
        </p:txBody>
      </p:sp>
      <p:sp>
        <p:nvSpPr>
          <p:cNvPr id="6" name="object 6"/>
          <p:cNvSpPr/>
          <p:nvPr/>
        </p:nvSpPr>
        <p:spPr>
          <a:xfrm>
            <a:off x="535686" y="1672589"/>
            <a:ext cx="2073910" cy="1186180"/>
          </a:xfrm>
          <a:custGeom>
            <a:avLst/>
            <a:gdLst/>
            <a:ahLst/>
            <a:cxnLst/>
            <a:rect l="l" t="t" r="r" b="b"/>
            <a:pathLst>
              <a:path w="2073910" h="1186180">
                <a:moveTo>
                  <a:pt x="0" y="197612"/>
                </a:moveTo>
                <a:lnTo>
                  <a:pt x="5743" y="150138"/>
                </a:lnTo>
                <a:lnTo>
                  <a:pt x="22058" y="106817"/>
                </a:lnTo>
                <a:lnTo>
                  <a:pt x="47571" y="69026"/>
                </a:lnTo>
                <a:lnTo>
                  <a:pt x="80907" y="38140"/>
                </a:lnTo>
                <a:lnTo>
                  <a:pt x="120695" y="15535"/>
                </a:lnTo>
                <a:lnTo>
                  <a:pt x="165560" y="2587"/>
                </a:lnTo>
                <a:lnTo>
                  <a:pt x="197612" y="0"/>
                </a:lnTo>
                <a:lnTo>
                  <a:pt x="1050798" y="0"/>
                </a:lnTo>
                <a:lnTo>
                  <a:pt x="1501139" y="0"/>
                </a:lnTo>
                <a:lnTo>
                  <a:pt x="1603756" y="0"/>
                </a:lnTo>
                <a:lnTo>
                  <a:pt x="1619957" y="655"/>
                </a:lnTo>
                <a:lnTo>
                  <a:pt x="1666199" y="10078"/>
                </a:lnTo>
                <a:lnTo>
                  <a:pt x="1707829" y="29617"/>
                </a:lnTo>
                <a:lnTo>
                  <a:pt x="1743471" y="57896"/>
                </a:lnTo>
                <a:lnTo>
                  <a:pt x="1771750" y="93538"/>
                </a:lnTo>
                <a:lnTo>
                  <a:pt x="1791289" y="135168"/>
                </a:lnTo>
                <a:lnTo>
                  <a:pt x="1800712" y="181410"/>
                </a:lnTo>
                <a:lnTo>
                  <a:pt x="1801368" y="197612"/>
                </a:lnTo>
                <a:lnTo>
                  <a:pt x="1801368" y="691642"/>
                </a:lnTo>
                <a:lnTo>
                  <a:pt x="2073783" y="1175765"/>
                </a:lnTo>
                <a:lnTo>
                  <a:pt x="1801368" y="988060"/>
                </a:lnTo>
                <a:lnTo>
                  <a:pt x="1800712" y="1004261"/>
                </a:lnTo>
                <a:lnTo>
                  <a:pt x="1798780" y="1020102"/>
                </a:lnTo>
                <a:lnTo>
                  <a:pt x="1785832" y="1064960"/>
                </a:lnTo>
                <a:lnTo>
                  <a:pt x="1763227" y="1104747"/>
                </a:lnTo>
                <a:lnTo>
                  <a:pt x="1732341" y="1138088"/>
                </a:lnTo>
                <a:lnTo>
                  <a:pt x="1694550" y="1163606"/>
                </a:lnTo>
                <a:lnTo>
                  <a:pt x="1651229" y="1179926"/>
                </a:lnTo>
                <a:lnTo>
                  <a:pt x="1603756" y="1185672"/>
                </a:lnTo>
                <a:lnTo>
                  <a:pt x="1501139" y="1185672"/>
                </a:lnTo>
                <a:lnTo>
                  <a:pt x="1050798" y="1185672"/>
                </a:lnTo>
                <a:lnTo>
                  <a:pt x="197612" y="1185672"/>
                </a:lnTo>
                <a:lnTo>
                  <a:pt x="181405" y="1185016"/>
                </a:lnTo>
                <a:lnTo>
                  <a:pt x="135154" y="1175593"/>
                </a:lnTo>
                <a:lnTo>
                  <a:pt x="93521" y="1156054"/>
                </a:lnTo>
                <a:lnTo>
                  <a:pt x="57881" y="1127775"/>
                </a:lnTo>
                <a:lnTo>
                  <a:pt x="29608" y="1092133"/>
                </a:lnTo>
                <a:lnTo>
                  <a:pt x="10075" y="1050503"/>
                </a:lnTo>
                <a:lnTo>
                  <a:pt x="655" y="1004261"/>
                </a:lnTo>
                <a:lnTo>
                  <a:pt x="0" y="988060"/>
                </a:lnTo>
                <a:lnTo>
                  <a:pt x="0" y="691642"/>
                </a:lnTo>
                <a:lnTo>
                  <a:pt x="0" y="197612"/>
                </a:lnTo>
                <a:close/>
              </a:path>
            </a:pathLst>
          </a:custGeom>
          <a:ln w="28956">
            <a:solidFill>
              <a:srgbClr val="000000"/>
            </a:solidFill>
          </a:ln>
        </p:spPr>
        <p:txBody>
          <a:bodyPr wrap="square" lIns="0" tIns="0" rIns="0" bIns="0" rtlCol="0"/>
          <a:lstStyle/>
          <a:p>
            <a:endParaRPr/>
          </a:p>
        </p:txBody>
      </p:sp>
      <p:sp>
        <p:nvSpPr>
          <p:cNvPr id="7" name="object 7"/>
          <p:cNvSpPr txBox="1"/>
          <p:nvPr/>
        </p:nvSpPr>
        <p:spPr>
          <a:xfrm>
            <a:off x="543864" y="376110"/>
            <a:ext cx="2854325" cy="2419985"/>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PSC</a:t>
            </a:r>
            <a:r>
              <a:rPr sz="2400" b="1" spc="20" dirty="0">
                <a:latin typeface="Consolas"/>
                <a:cs typeface="Consolas"/>
              </a:rPr>
              <a:t> </a:t>
            </a:r>
            <a:r>
              <a:rPr sz="2400" b="1" spc="-5" dirty="0">
                <a:latin typeface="Consolas"/>
                <a:cs typeface="Consolas"/>
              </a:rPr>
              <a:t>=</a:t>
            </a:r>
            <a:r>
              <a:rPr sz="2400" b="1" dirty="0">
                <a:latin typeface="Consolas"/>
                <a:cs typeface="Consolas"/>
              </a:rPr>
              <a:t> 1</a:t>
            </a:r>
            <a:r>
              <a:rPr sz="2400" b="1" dirty="0">
                <a:latin typeface="宋体"/>
                <a:cs typeface="宋体"/>
              </a:rPr>
              <a:t>，</a:t>
            </a:r>
            <a:r>
              <a:rPr sz="2400" b="1" spc="-5" dirty="0">
                <a:latin typeface="Consolas"/>
                <a:cs typeface="Consolas"/>
              </a:rPr>
              <a:t>ARR</a:t>
            </a:r>
            <a:r>
              <a:rPr sz="2400" b="1" spc="30" dirty="0">
                <a:latin typeface="Consolas"/>
                <a:cs typeface="Consolas"/>
              </a:rPr>
              <a:t> </a:t>
            </a:r>
            <a:r>
              <a:rPr sz="2400" b="1" spc="-5" dirty="0">
                <a:latin typeface="Consolas"/>
                <a:cs typeface="Consolas"/>
              </a:rPr>
              <a:t>=</a:t>
            </a:r>
            <a:r>
              <a:rPr sz="2400" b="1" dirty="0">
                <a:latin typeface="Consolas"/>
                <a:cs typeface="Consolas"/>
              </a:rPr>
              <a:t> </a:t>
            </a:r>
            <a:r>
              <a:rPr sz="2400" b="1" spc="-5" dirty="0">
                <a:latin typeface="Consolas"/>
                <a:cs typeface="Consolas"/>
              </a:rPr>
              <a:t>36</a:t>
            </a:r>
            <a:endParaRPr sz="2400">
              <a:latin typeface="Consolas"/>
              <a:cs typeface="Consolas"/>
            </a:endParaRPr>
          </a:p>
          <a:p>
            <a:pPr marL="71755">
              <a:lnSpc>
                <a:spcPct val="100000"/>
              </a:lnSpc>
            </a:pPr>
            <a:r>
              <a:rPr sz="2400" b="1" spc="-5" dirty="0">
                <a:latin typeface="宋体"/>
                <a:cs typeface="宋体"/>
              </a:rPr>
              <a:t>递增计数</a:t>
            </a:r>
            <a:r>
              <a:rPr sz="2400" b="1" dirty="0">
                <a:latin typeface="宋体"/>
                <a:cs typeface="宋体"/>
              </a:rPr>
              <a:t>，</a:t>
            </a:r>
            <a:r>
              <a:rPr sz="2400" b="1" dirty="0">
                <a:latin typeface="Consolas"/>
                <a:cs typeface="Consolas"/>
              </a:rPr>
              <a:t>CNT</a:t>
            </a:r>
            <a:r>
              <a:rPr sz="2400" b="1" spc="15" dirty="0">
                <a:latin typeface="Consolas"/>
                <a:cs typeface="Consolas"/>
              </a:rPr>
              <a:t> </a:t>
            </a:r>
            <a:r>
              <a:rPr sz="2400" b="1" dirty="0">
                <a:latin typeface="Consolas"/>
                <a:cs typeface="Consolas"/>
              </a:rPr>
              <a:t>=</a:t>
            </a:r>
            <a:r>
              <a:rPr sz="2400" b="1" spc="5" dirty="0">
                <a:latin typeface="Consolas"/>
                <a:cs typeface="Consolas"/>
              </a:rPr>
              <a:t> </a:t>
            </a:r>
            <a:r>
              <a:rPr sz="2400" b="1" dirty="0">
                <a:latin typeface="Consolas"/>
                <a:cs typeface="Consolas"/>
              </a:rPr>
              <a:t>0</a:t>
            </a:r>
            <a:endParaRPr sz="2400">
              <a:latin typeface="Consolas"/>
              <a:cs typeface="Consolas"/>
            </a:endParaRPr>
          </a:p>
          <a:p>
            <a:pPr>
              <a:lnSpc>
                <a:spcPct val="100000"/>
              </a:lnSpc>
            </a:pPr>
            <a:endParaRPr sz="2700">
              <a:latin typeface="Times New Roman"/>
              <a:cs typeface="Times New Roman"/>
            </a:endParaRPr>
          </a:p>
          <a:p>
            <a:pPr marR="1063625" algn="ctr">
              <a:lnSpc>
                <a:spcPct val="100000"/>
              </a:lnSpc>
              <a:spcBef>
                <a:spcPts val="1789"/>
              </a:spcBef>
            </a:pPr>
            <a:r>
              <a:rPr sz="2400" b="1" spc="-5" dirty="0">
                <a:latin typeface="Consolas"/>
                <a:cs typeface="Consolas"/>
              </a:rPr>
              <a:t>PSC</a:t>
            </a:r>
            <a:r>
              <a:rPr sz="2400" b="1" spc="10" dirty="0">
                <a:latin typeface="Consolas"/>
                <a:cs typeface="Consolas"/>
              </a:rPr>
              <a:t> </a:t>
            </a:r>
            <a:r>
              <a:rPr sz="2400" b="1" spc="-5" dirty="0">
                <a:latin typeface="Consolas"/>
                <a:cs typeface="Consolas"/>
              </a:rPr>
              <a:t>=</a:t>
            </a:r>
            <a:r>
              <a:rPr sz="2400" b="1" spc="10" dirty="0">
                <a:latin typeface="Consolas"/>
                <a:cs typeface="Consolas"/>
              </a:rPr>
              <a:t> </a:t>
            </a:r>
            <a:r>
              <a:rPr sz="2400" b="1" spc="-5" dirty="0">
                <a:latin typeface="Consolas"/>
                <a:cs typeface="Consolas"/>
              </a:rPr>
              <a:t>1</a:t>
            </a:r>
            <a:endParaRPr sz="2400">
              <a:latin typeface="Consolas"/>
              <a:cs typeface="Consolas"/>
            </a:endParaRPr>
          </a:p>
          <a:p>
            <a:pPr marR="1061720" algn="ctr">
              <a:lnSpc>
                <a:spcPct val="100000"/>
              </a:lnSpc>
              <a:spcBef>
                <a:spcPts val="35"/>
              </a:spcBef>
            </a:pPr>
            <a:r>
              <a:rPr sz="2400" b="1" dirty="0">
                <a:latin typeface="宋体"/>
                <a:cs typeface="宋体"/>
              </a:rPr>
              <a:t>对</a:t>
            </a:r>
            <a:r>
              <a:rPr sz="2400" b="1" spc="-5" dirty="0">
                <a:latin typeface="Consolas"/>
                <a:cs typeface="Consolas"/>
              </a:rPr>
              <a:t>CK_PSC</a:t>
            </a:r>
            <a:endParaRPr sz="2400">
              <a:latin typeface="Consolas"/>
              <a:cs typeface="Consolas"/>
            </a:endParaRPr>
          </a:p>
          <a:p>
            <a:pPr marR="1061720" algn="ctr">
              <a:lnSpc>
                <a:spcPts val="2840"/>
              </a:lnSpc>
            </a:pPr>
            <a:r>
              <a:rPr sz="2400" b="1" spc="-5" dirty="0">
                <a:latin typeface="宋体"/>
                <a:cs typeface="宋体"/>
              </a:rPr>
              <a:t>两分频</a:t>
            </a:r>
            <a:endParaRPr sz="2400">
              <a:latin typeface="宋体"/>
              <a:cs typeface="宋体"/>
            </a:endParaRPr>
          </a:p>
        </p:txBody>
      </p:sp>
      <p:sp>
        <p:nvSpPr>
          <p:cNvPr id="8" name="object 8"/>
          <p:cNvSpPr/>
          <p:nvPr/>
        </p:nvSpPr>
        <p:spPr>
          <a:xfrm>
            <a:off x="84581" y="3960748"/>
            <a:ext cx="2252980" cy="1462405"/>
          </a:xfrm>
          <a:custGeom>
            <a:avLst/>
            <a:gdLst/>
            <a:ahLst/>
            <a:cxnLst/>
            <a:rect l="l" t="t" r="r" b="b"/>
            <a:pathLst>
              <a:path w="2252980" h="1462404">
                <a:moveTo>
                  <a:pt x="2042922" y="205105"/>
                </a:moveTo>
                <a:lnTo>
                  <a:pt x="209550" y="205105"/>
                </a:lnTo>
                <a:lnTo>
                  <a:pt x="192363" y="205799"/>
                </a:lnTo>
                <a:lnTo>
                  <a:pt x="143314" y="215791"/>
                </a:lnTo>
                <a:lnTo>
                  <a:pt x="99166" y="236508"/>
                </a:lnTo>
                <a:lnTo>
                  <a:pt x="61374" y="266493"/>
                </a:lnTo>
                <a:lnTo>
                  <a:pt x="31394" y="304288"/>
                </a:lnTo>
                <a:lnTo>
                  <a:pt x="10682" y="348434"/>
                </a:lnTo>
                <a:lnTo>
                  <a:pt x="694" y="397473"/>
                </a:lnTo>
                <a:lnTo>
                  <a:pt x="0" y="414655"/>
                </a:lnTo>
                <a:lnTo>
                  <a:pt x="0" y="1252855"/>
                </a:lnTo>
                <a:lnTo>
                  <a:pt x="6089" y="1303201"/>
                </a:lnTo>
                <a:lnTo>
                  <a:pt x="23388" y="1349140"/>
                </a:lnTo>
                <a:lnTo>
                  <a:pt x="50441" y="1389213"/>
                </a:lnTo>
                <a:lnTo>
                  <a:pt x="85790" y="1421964"/>
                </a:lnTo>
                <a:lnTo>
                  <a:pt x="127982" y="1445932"/>
                </a:lnTo>
                <a:lnTo>
                  <a:pt x="175558" y="1459661"/>
                </a:lnTo>
                <a:lnTo>
                  <a:pt x="209550" y="1462405"/>
                </a:lnTo>
                <a:lnTo>
                  <a:pt x="2042922" y="1462405"/>
                </a:lnTo>
                <a:lnTo>
                  <a:pt x="2093268" y="1456312"/>
                </a:lnTo>
                <a:lnTo>
                  <a:pt x="2139207" y="1439008"/>
                </a:lnTo>
                <a:lnTo>
                  <a:pt x="2179280" y="1411951"/>
                </a:lnTo>
                <a:lnTo>
                  <a:pt x="2212031" y="1376597"/>
                </a:lnTo>
                <a:lnTo>
                  <a:pt x="2235999" y="1334406"/>
                </a:lnTo>
                <a:lnTo>
                  <a:pt x="2249728" y="1286836"/>
                </a:lnTo>
                <a:lnTo>
                  <a:pt x="2252472" y="1252855"/>
                </a:lnTo>
                <a:lnTo>
                  <a:pt x="2252472" y="414655"/>
                </a:lnTo>
                <a:lnTo>
                  <a:pt x="2246379" y="364308"/>
                </a:lnTo>
                <a:lnTo>
                  <a:pt x="2229075" y="318369"/>
                </a:lnTo>
                <a:lnTo>
                  <a:pt x="2202018" y="278296"/>
                </a:lnTo>
                <a:lnTo>
                  <a:pt x="2166664" y="245545"/>
                </a:lnTo>
                <a:lnTo>
                  <a:pt x="2124473" y="221577"/>
                </a:lnTo>
                <a:lnTo>
                  <a:pt x="2076903" y="207848"/>
                </a:lnTo>
                <a:lnTo>
                  <a:pt x="2042922" y="205105"/>
                </a:lnTo>
                <a:close/>
              </a:path>
              <a:path w="2252980" h="1462404">
                <a:moveTo>
                  <a:pt x="1989582" y="0"/>
                </a:moveTo>
                <a:lnTo>
                  <a:pt x="1313942" y="205105"/>
                </a:lnTo>
                <a:lnTo>
                  <a:pt x="1877060" y="205105"/>
                </a:lnTo>
                <a:lnTo>
                  <a:pt x="1989582" y="0"/>
                </a:lnTo>
                <a:close/>
              </a:path>
            </a:pathLst>
          </a:custGeom>
          <a:solidFill>
            <a:srgbClr val="FFFFC7"/>
          </a:solidFill>
        </p:spPr>
        <p:txBody>
          <a:bodyPr wrap="square" lIns="0" tIns="0" rIns="0" bIns="0" rtlCol="0"/>
          <a:lstStyle/>
          <a:p>
            <a:endParaRPr/>
          </a:p>
        </p:txBody>
      </p:sp>
      <p:sp>
        <p:nvSpPr>
          <p:cNvPr id="9" name="object 9"/>
          <p:cNvSpPr/>
          <p:nvPr/>
        </p:nvSpPr>
        <p:spPr>
          <a:xfrm>
            <a:off x="84581" y="3960748"/>
            <a:ext cx="2252980" cy="1462405"/>
          </a:xfrm>
          <a:custGeom>
            <a:avLst/>
            <a:gdLst/>
            <a:ahLst/>
            <a:cxnLst/>
            <a:rect l="l" t="t" r="r" b="b"/>
            <a:pathLst>
              <a:path w="2252980" h="1462404">
                <a:moveTo>
                  <a:pt x="0" y="414655"/>
                </a:moveTo>
                <a:lnTo>
                  <a:pt x="6089" y="364308"/>
                </a:lnTo>
                <a:lnTo>
                  <a:pt x="23388" y="318369"/>
                </a:lnTo>
                <a:lnTo>
                  <a:pt x="50441" y="278296"/>
                </a:lnTo>
                <a:lnTo>
                  <a:pt x="85790" y="245545"/>
                </a:lnTo>
                <a:lnTo>
                  <a:pt x="127982" y="221577"/>
                </a:lnTo>
                <a:lnTo>
                  <a:pt x="175558" y="207848"/>
                </a:lnTo>
                <a:lnTo>
                  <a:pt x="209550" y="205105"/>
                </a:lnTo>
                <a:lnTo>
                  <a:pt x="1313942" y="205105"/>
                </a:lnTo>
                <a:lnTo>
                  <a:pt x="1989582" y="0"/>
                </a:lnTo>
                <a:lnTo>
                  <a:pt x="1877060" y="205105"/>
                </a:lnTo>
                <a:lnTo>
                  <a:pt x="2042922" y="205105"/>
                </a:lnTo>
                <a:lnTo>
                  <a:pt x="2060103" y="205799"/>
                </a:lnTo>
                <a:lnTo>
                  <a:pt x="2109142" y="215791"/>
                </a:lnTo>
                <a:lnTo>
                  <a:pt x="2153288" y="236508"/>
                </a:lnTo>
                <a:lnTo>
                  <a:pt x="2191083" y="266493"/>
                </a:lnTo>
                <a:lnTo>
                  <a:pt x="2221068" y="304288"/>
                </a:lnTo>
                <a:lnTo>
                  <a:pt x="2241785" y="348434"/>
                </a:lnTo>
                <a:lnTo>
                  <a:pt x="2251777" y="397473"/>
                </a:lnTo>
                <a:lnTo>
                  <a:pt x="2252472" y="414655"/>
                </a:lnTo>
                <a:lnTo>
                  <a:pt x="2252472" y="728980"/>
                </a:lnTo>
                <a:lnTo>
                  <a:pt x="2252472" y="1252855"/>
                </a:lnTo>
                <a:lnTo>
                  <a:pt x="2251777" y="1270036"/>
                </a:lnTo>
                <a:lnTo>
                  <a:pt x="2241785" y="1319075"/>
                </a:lnTo>
                <a:lnTo>
                  <a:pt x="2221068" y="1363221"/>
                </a:lnTo>
                <a:lnTo>
                  <a:pt x="2191083" y="1401016"/>
                </a:lnTo>
                <a:lnTo>
                  <a:pt x="2153288" y="1431001"/>
                </a:lnTo>
                <a:lnTo>
                  <a:pt x="2109142" y="1451718"/>
                </a:lnTo>
                <a:lnTo>
                  <a:pt x="2060103" y="1461710"/>
                </a:lnTo>
                <a:lnTo>
                  <a:pt x="2042922" y="1462405"/>
                </a:lnTo>
                <a:lnTo>
                  <a:pt x="1877060" y="1462405"/>
                </a:lnTo>
                <a:lnTo>
                  <a:pt x="1313942" y="1462405"/>
                </a:lnTo>
                <a:lnTo>
                  <a:pt x="209550" y="1462405"/>
                </a:lnTo>
                <a:lnTo>
                  <a:pt x="192363" y="1461710"/>
                </a:lnTo>
                <a:lnTo>
                  <a:pt x="143314" y="1451718"/>
                </a:lnTo>
                <a:lnTo>
                  <a:pt x="99166" y="1431001"/>
                </a:lnTo>
                <a:lnTo>
                  <a:pt x="61374" y="1401016"/>
                </a:lnTo>
                <a:lnTo>
                  <a:pt x="31394" y="1363221"/>
                </a:lnTo>
                <a:lnTo>
                  <a:pt x="10682" y="1319075"/>
                </a:lnTo>
                <a:lnTo>
                  <a:pt x="694" y="1270036"/>
                </a:lnTo>
                <a:lnTo>
                  <a:pt x="0" y="1252855"/>
                </a:lnTo>
                <a:lnTo>
                  <a:pt x="0" y="728980"/>
                </a:lnTo>
                <a:lnTo>
                  <a:pt x="0" y="414655"/>
                </a:lnTo>
                <a:close/>
              </a:path>
            </a:pathLst>
          </a:custGeom>
          <a:ln w="28956">
            <a:solidFill>
              <a:srgbClr val="000000"/>
            </a:solidFill>
          </a:ln>
        </p:spPr>
        <p:txBody>
          <a:bodyPr wrap="square" lIns="0" tIns="0" rIns="0" bIns="0" rtlCol="0"/>
          <a:lstStyle/>
          <a:p>
            <a:endParaRPr/>
          </a:p>
        </p:txBody>
      </p:sp>
      <p:sp>
        <p:nvSpPr>
          <p:cNvPr id="10" name="object 10"/>
          <p:cNvSpPr txBox="1"/>
          <p:nvPr/>
        </p:nvSpPr>
        <p:spPr>
          <a:xfrm>
            <a:off x="249427" y="4264088"/>
            <a:ext cx="1921510" cy="1092835"/>
          </a:xfrm>
          <a:prstGeom prst="rect">
            <a:avLst/>
          </a:prstGeom>
        </p:spPr>
        <p:txBody>
          <a:bodyPr vert="horz" wrap="square" lIns="0" tIns="0" rIns="0" bIns="0" rtlCol="0">
            <a:spAutoFit/>
          </a:bodyPr>
          <a:lstStyle/>
          <a:p>
            <a:pPr marL="12700" marR="5080" algn="ctr">
              <a:lnSpc>
                <a:spcPct val="99400"/>
              </a:lnSpc>
            </a:pPr>
            <a:r>
              <a:rPr sz="2400" b="1" dirty="0">
                <a:latin typeface="宋体"/>
                <a:cs typeface="宋体"/>
              </a:rPr>
              <a:t>从</a:t>
            </a:r>
            <a:r>
              <a:rPr sz="2400" b="1" spc="-5" dirty="0">
                <a:latin typeface="Consolas"/>
                <a:cs typeface="Consolas"/>
              </a:rPr>
              <a:t>0</a:t>
            </a:r>
            <a:r>
              <a:rPr sz="2400" b="1" dirty="0">
                <a:latin typeface="宋体"/>
                <a:cs typeface="宋体"/>
              </a:rPr>
              <a:t>计数到</a:t>
            </a:r>
            <a:r>
              <a:rPr sz="2400" b="1" spc="-5" dirty="0">
                <a:latin typeface="Consolas"/>
                <a:cs typeface="Consolas"/>
              </a:rPr>
              <a:t>ARR </a:t>
            </a:r>
            <a:r>
              <a:rPr sz="2400" b="1" dirty="0">
                <a:latin typeface="宋体"/>
                <a:cs typeface="宋体"/>
              </a:rPr>
              <a:t>实际计数值为 </a:t>
            </a:r>
            <a:r>
              <a:rPr sz="2400" b="1" dirty="0">
                <a:latin typeface="Consolas"/>
                <a:cs typeface="Consolas"/>
              </a:rPr>
              <a:t>AR</a:t>
            </a:r>
            <a:r>
              <a:rPr sz="2400" b="1" spc="5" dirty="0">
                <a:latin typeface="Consolas"/>
                <a:cs typeface="Consolas"/>
              </a:rPr>
              <a:t>R</a:t>
            </a:r>
            <a:r>
              <a:rPr sz="2400" b="1" dirty="0">
                <a:latin typeface="Consolas"/>
                <a:cs typeface="Consolas"/>
              </a:rPr>
              <a:t>+1</a:t>
            </a:r>
            <a:endParaRPr sz="2400">
              <a:latin typeface="Consolas"/>
              <a:cs typeface="Consolas"/>
            </a:endParaRPr>
          </a:p>
        </p:txBody>
      </p:sp>
      <p:sp>
        <p:nvSpPr>
          <p:cNvPr id="11" name="object 11"/>
          <p:cNvSpPr/>
          <p:nvPr/>
        </p:nvSpPr>
        <p:spPr>
          <a:xfrm>
            <a:off x="2547366" y="2900933"/>
            <a:ext cx="1203960" cy="449580"/>
          </a:xfrm>
          <a:custGeom>
            <a:avLst/>
            <a:gdLst/>
            <a:ahLst/>
            <a:cxnLst/>
            <a:rect l="l" t="t" r="r" b="b"/>
            <a:pathLst>
              <a:path w="1203960" h="449579">
                <a:moveTo>
                  <a:pt x="0" y="449579"/>
                </a:moveTo>
                <a:lnTo>
                  <a:pt x="1203959" y="449579"/>
                </a:lnTo>
                <a:lnTo>
                  <a:pt x="1203959" y="0"/>
                </a:lnTo>
                <a:lnTo>
                  <a:pt x="0" y="0"/>
                </a:lnTo>
                <a:lnTo>
                  <a:pt x="0" y="449579"/>
                </a:lnTo>
                <a:close/>
              </a:path>
            </a:pathLst>
          </a:custGeom>
          <a:ln w="38100">
            <a:solidFill>
              <a:srgbClr val="FF0000"/>
            </a:solidFill>
          </a:ln>
        </p:spPr>
        <p:txBody>
          <a:bodyPr wrap="square" lIns="0" tIns="0" rIns="0" bIns="0" rtlCol="0"/>
          <a:lstStyle/>
          <a:p>
            <a:endParaRPr/>
          </a:p>
        </p:txBody>
      </p:sp>
      <p:sp>
        <p:nvSpPr>
          <p:cNvPr id="12" name="object 12"/>
          <p:cNvSpPr/>
          <p:nvPr/>
        </p:nvSpPr>
        <p:spPr>
          <a:xfrm>
            <a:off x="1968245" y="3489197"/>
            <a:ext cx="1801495" cy="449580"/>
          </a:xfrm>
          <a:custGeom>
            <a:avLst/>
            <a:gdLst/>
            <a:ahLst/>
            <a:cxnLst/>
            <a:rect l="l" t="t" r="r" b="b"/>
            <a:pathLst>
              <a:path w="1801495" h="449579">
                <a:moveTo>
                  <a:pt x="0" y="449579"/>
                </a:moveTo>
                <a:lnTo>
                  <a:pt x="1801368" y="449579"/>
                </a:lnTo>
                <a:lnTo>
                  <a:pt x="1801368" y="0"/>
                </a:lnTo>
                <a:lnTo>
                  <a:pt x="0" y="0"/>
                </a:lnTo>
                <a:lnTo>
                  <a:pt x="0" y="449579"/>
                </a:lnTo>
                <a:close/>
              </a:path>
            </a:pathLst>
          </a:custGeom>
          <a:ln w="38099">
            <a:solidFill>
              <a:srgbClr val="FF0000"/>
            </a:solidFill>
          </a:ln>
        </p:spPr>
        <p:txBody>
          <a:bodyPr wrap="square" lIns="0" tIns="0" rIns="0" bIns="0" rtlCol="0"/>
          <a:lstStyle/>
          <a:p>
            <a:endParaRPr/>
          </a:p>
        </p:txBody>
      </p:sp>
      <p:sp>
        <p:nvSpPr>
          <p:cNvPr id="13" name="object 13"/>
          <p:cNvSpPr/>
          <p:nvPr/>
        </p:nvSpPr>
        <p:spPr>
          <a:xfrm>
            <a:off x="6870954" y="4205478"/>
            <a:ext cx="878205" cy="2354580"/>
          </a:xfrm>
          <a:custGeom>
            <a:avLst/>
            <a:gdLst/>
            <a:ahLst/>
            <a:cxnLst/>
            <a:rect l="l" t="t" r="r" b="b"/>
            <a:pathLst>
              <a:path w="878204" h="2354579">
                <a:moveTo>
                  <a:pt x="0" y="2354580"/>
                </a:moveTo>
                <a:lnTo>
                  <a:pt x="877824" y="2354580"/>
                </a:lnTo>
                <a:lnTo>
                  <a:pt x="877824" y="0"/>
                </a:lnTo>
                <a:lnTo>
                  <a:pt x="0" y="0"/>
                </a:lnTo>
                <a:lnTo>
                  <a:pt x="0" y="2354580"/>
                </a:lnTo>
                <a:close/>
              </a:path>
            </a:pathLst>
          </a:custGeom>
          <a:ln w="38100">
            <a:solidFill>
              <a:srgbClr val="FF0000"/>
            </a:solidFill>
          </a:ln>
        </p:spPr>
        <p:txBody>
          <a:bodyPr wrap="square" lIns="0" tIns="0" rIns="0" bIns="0" rtlCol="0"/>
          <a:lstStyle/>
          <a:p>
            <a:endParaRPr/>
          </a:p>
        </p:txBody>
      </p:sp>
      <p:sp>
        <p:nvSpPr>
          <p:cNvPr id="14" name="object 14"/>
          <p:cNvSpPr/>
          <p:nvPr/>
        </p:nvSpPr>
        <p:spPr>
          <a:xfrm>
            <a:off x="7793990" y="4082034"/>
            <a:ext cx="1931670" cy="589280"/>
          </a:xfrm>
          <a:custGeom>
            <a:avLst/>
            <a:gdLst/>
            <a:ahLst/>
            <a:cxnLst/>
            <a:rect l="l" t="t" r="r" b="b"/>
            <a:pathLst>
              <a:path w="1931670" h="589279">
                <a:moveTo>
                  <a:pt x="1835150" y="0"/>
                </a:moveTo>
                <a:lnTo>
                  <a:pt x="600455" y="0"/>
                </a:lnTo>
                <a:lnTo>
                  <a:pt x="419958" y="572"/>
                </a:lnTo>
                <a:lnTo>
                  <a:pt x="380179" y="14177"/>
                </a:lnTo>
                <a:lnTo>
                  <a:pt x="350538" y="42650"/>
                </a:lnTo>
                <a:lnTo>
                  <a:pt x="335361" y="81665"/>
                </a:lnTo>
                <a:lnTo>
                  <a:pt x="334263" y="96266"/>
                </a:lnTo>
                <a:lnTo>
                  <a:pt x="334263" y="336931"/>
                </a:lnTo>
                <a:lnTo>
                  <a:pt x="0" y="588899"/>
                </a:lnTo>
                <a:lnTo>
                  <a:pt x="334263" y="481330"/>
                </a:lnTo>
                <a:lnTo>
                  <a:pt x="1931415" y="481330"/>
                </a:lnTo>
                <a:lnTo>
                  <a:pt x="1931415" y="336931"/>
                </a:lnTo>
                <a:lnTo>
                  <a:pt x="1930843" y="85694"/>
                </a:lnTo>
                <a:lnTo>
                  <a:pt x="1917238" y="45915"/>
                </a:lnTo>
                <a:lnTo>
                  <a:pt x="1888765" y="16274"/>
                </a:lnTo>
                <a:lnTo>
                  <a:pt x="1849750" y="1097"/>
                </a:lnTo>
                <a:lnTo>
                  <a:pt x="1835150" y="0"/>
                </a:lnTo>
                <a:close/>
              </a:path>
              <a:path w="1931670" h="589279">
                <a:moveTo>
                  <a:pt x="1931415" y="481330"/>
                </a:moveTo>
                <a:lnTo>
                  <a:pt x="334263" y="481330"/>
                </a:lnTo>
                <a:lnTo>
                  <a:pt x="334836" y="491901"/>
                </a:lnTo>
                <a:lnTo>
                  <a:pt x="348441" y="531680"/>
                </a:lnTo>
                <a:lnTo>
                  <a:pt x="376914" y="561321"/>
                </a:lnTo>
                <a:lnTo>
                  <a:pt x="415929" y="576498"/>
                </a:lnTo>
                <a:lnTo>
                  <a:pt x="430529" y="577596"/>
                </a:lnTo>
                <a:lnTo>
                  <a:pt x="999743" y="577596"/>
                </a:lnTo>
                <a:lnTo>
                  <a:pt x="1845721" y="577023"/>
                </a:lnTo>
                <a:lnTo>
                  <a:pt x="1885500" y="563418"/>
                </a:lnTo>
                <a:lnTo>
                  <a:pt x="1915141" y="534945"/>
                </a:lnTo>
                <a:lnTo>
                  <a:pt x="1930318" y="495930"/>
                </a:lnTo>
                <a:lnTo>
                  <a:pt x="1931415" y="481330"/>
                </a:lnTo>
                <a:close/>
              </a:path>
            </a:pathLst>
          </a:custGeom>
          <a:solidFill>
            <a:srgbClr val="FFFFC7"/>
          </a:solidFill>
        </p:spPr>
        <p:txBody>
          <a:bodyPr wrap="square" lIns="0" tIns="0" rIns="0" bIns="0" rtlCol="0"/>
          <a:lstStyle/>
          <a:p>
            <a:endParaRPr/>
          </a:p>
        </p:txBody>
      </p:sp>
      <p:sp>
        <p:nvSpPr>
          <p:cNvPr id="15" name="object 15"/>
          <p:cNvSpPr/>
          <p:nvPr/>
        </p:nvSpPr>
        <p:spPr>
          <a:xfrm>
            <a:off x="7793990" y="4082034"/>
            <a:ext cx="1931670" cy="589280"/>
          </a:xfrm>
          <a:custGeom>
            <a:avLst/>
            <a:gdLst/>
            <a:ahLst/>
            <a:cxnLst/>
            <a:rect l="l" t="t" r="r" b="b"/>
            <a:pathLst>
              <a:path w="1931670" h="589279">
                <a:moveTo>
                  <a:pt x="334263" y="96266"/>
                </a:moveTo>
                <a:lnTo>
                  <a:pt x="343658" y="54697"/>
                </a:lnTo>
                <a:lnTo>
                  <a:pt x="368959" y="22230"/>
                </a:lnTo>
                <a:lnTo>
                  <a:pt x="405839" y="3188"/>
                </a:lnTo>
                <a:lnTo>
                  <a:pt x="600455" y="0"/>
                </a:lnTo>
                <a:lnTo>
                  <a:pt x="999743" y="0"/>
                </a:lnTo>
                <a:lnTo>
                  <a:pt x="1835150" y="0"/>
                </a:lnTo>
                <a:lnTo>
                  <a:pt x="1849750" y="1097"/>
                </a:lnTo>
                <a:lnTo>
                  <a:pt x="1888765" y="16274"/>
                </a:lnTo>
                <a:lnTo>
                  <a:pt x="1917238" y="45915"/>
                </a:lnTo>
                <a:lnTo>
                  <a:pt x="1930843" y="85694"/>
                </a:lnTo>
                <a:lnTo>
                  <a:pt x="1931415" y="336931"/>
                </a:lnTo>
                <a:lnTo>
                  <a:pt x="1931415" y="481330"/>
                </a:lnTo>
                <a:lnTo>
                  <a:pt x="1930318" y="495930"/>
                </a:lnTo>
                <a:lnTo>
                  <a:pt x="1927133" y="509839"/>
                </a:lnTo>
                <a:lnTo>
                  <a:pt x="1906654" y="545821"/>
                </a:lnTo>
                <a:lnTo>
                  <a:pt x="1873153" y="569819"/>
                </a:lnTo>
                <a:lnTo>
                  <a:pt x="999743" y="577596"/>
                </a:lnTo>
                <a:lnTo>
                  <a:pt x="600455" y="577596"/>
                </a:lnTo>
                <a:lnTo>
                  <a:pt x="430529" y="577596"/>
                </a:lnTo>
                <a:lnTo>
                  <a:pt x="415929" y="576498"/>
                </a:lnTo>
                <a:lnTo>
                  <a:pt x="376914" y="561321"/>
                </a:lnTo>
                <a:lnTo>
                  <a:pt x="348441" y="531680"/>
                </a:lnTo>
                <a:lnTo>
                  <a:pt x="334836" y="491901"/>
                </a:lnTo>
                <a:lnTo>
                  <a:pt x="334263" y="481330"/>
                </a:lnTo>
                <a:lnTo>
                  <a:pt x="0" y="588899"/>
                </a:lnTo>
                <a:lnTo>
                  <a:pt x="334263" y="336931"/>
                </a:lnTo>
                <a:lnTo>
                  <a:pt x="334263" y="96266"/>
                </a:lnTo>
                <a:close/>
              </a:path>
            </a:pathLst>
          </a:custGeom>
          <a:ln w="28956">
            <a:solidFill>
              <a:srgbClr val="000000"/>
            </a:solidFill>
          </a:ln>
        </p:spPr>
        <p:txBody>
          <a:bodyPr wrap="square" lIns="0" tIns="0" rIns="0" bIns="0" rtlCol="0"/>
          <a:lstStyle/>
          <a:p>
            <a:endParaRPr/>
          </a:p>
        </p:txBody>
      </p:sp>
      <p:sp>
        <p:nvSpPr>
          <p:cNvPr id="16" name="object 16"/>
          <p:cNvSpPr txBox="1"/>
          <p:nvPr/>
        </p:nvSpPr>
        <p:spPr>
          <a:xfrm>
            <a:off x="8300973" y="4205922"/>
            <a:ext cx="125095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上溢事件</a:t>
            </a:r>
            <a:endParaRPr sz="2400">
              <a:latin typeface="宋体"/>
              <a:cs typeface="宋体"/>
            </a:endParaRPr>
          </a:p>
        </p:txBody>
      </p:sp>
      <p:sp>
        <p:nvSpPr>
          <p:cNvPr id="17" name="object 17"/>
          <p:cNvSpPr txBox="1">
            <a:spLocks noGrp="1"/>
          </p:cNvSpPr>
          <p:nvPr>
            <p:ph type="title"/>
          </p:nvPr>
        </p:nvSpPr>
        <p:spPr>
          <a:xfrm>
            <a:off x="5368544" y="178119"/>
            <a:ext cx="2156460" cy="381000"/>
          </a:xfrm>
          <a:prstGeom prst="rect">
            <a:avLst/>
          </a:prstGeom>
        </p:spPr>
        <p:txBody>
          <a:bodyPr vert="horz" wrap="square" lIns="0" tIns="0" rIns="0" bIns="0" rtlCol="0">
            <a:spAutoFit/>
          </a:bodyPr>
          <a:lstStyle/>
          <a:p>
            <a:pPr marL="12700">
              <a:lnSpc>
                <a:spcPct val="100000"/>
              </a:lnSpc>
            </a:pPr>
            <a:r>
              <a:rPr spc="-10" dirty="0"/>
              <a:t>定时器时序图</a:t>
            </a:r>
          </a:p>
        </p:txBody>
      </p:sp>
      <p:sp>
        <p:nvSpPr>
          <p:cNvPr id="18" name="object 18"/>
          <p:cNvSpPr/>
          <p:nvPr/>
        </p:nvSpPr>
        <p:spPr>
          <a:xfrm>
            <a:off x="7797800" y="5729478"/>
            <a:ext cx="3224530" cy="576580"/>
          </a:xfrm>
          <a:custGeom>
            <a:avLst/>
            <a:gdLst/>
            <a:ahLst/>
            <a:cxnLst/>
            <a:rect l="l" t="t" r="r" b="b"/>
            <a:pathLst>
              <a:path w="3224529" h="576579">
                <a:moveTo>
                  <a:pt x="3224529" y="480060"/>
                </a:moveTo>
                <a:lnTo>
                  <a:pt x="330453" y="480060"/>
                </a:lnTo>
                <a:lnTo>
                  <a:pt x="330983" y="490212"/>
                </a:lnTo>
                <a:lnTo>
                  <a:pt x="344457" y="530036"/>
                </a:lnTo>
                <a:lnTo>
                  <a:pt x="372865" y="559745"/>
                </a:lnTo>
                <a:lnTo>
                  <a:pt x="411863" y="574970"/>
                </a:lnTo>
                <a:lnTo>
                  <a:pt x="426466" y="576072"/>
                </a:lnTo>
                <a:lnTo>
                  <a:pt x="1536319" y="576072"/>
                </a:lnTo>
                <a:lnTo>
                  <a:pt x="3138681" y="575541"/>
                </a:lnTo>
                <a:lnTo>
                  <a:pt x="3178522" y="562053"/>
                </a:lnTo>
                <a:lnTo>
                  <a:pt x="3208220" y="533633"/>
                </a:lnTo>
                <a:lnTo>
                  <a:pt x="3223430" y="494647"/>
                </a:lnTo>
                <a:lnTo>
                  <a:pt x="3224529" y="480060"/>
                </a:lnTo>
                <a:close/>
              </a:path>
              <a:path w="3224529" h="576579">
                <a:moveTo>
                  <a:pt x="3128518" y="0"/>
                </a:moveTo>
                <a:lnTo>
                  <a:pt x="812800" y="0"/>
                </a:lnTo>
                <a:lnTo>
                  <a:pt x="416302" y="530"/>
                </a:lnTo>
                <a:lnTo>
                  <a:pt x="376461" y="14018"/>
                </a:lnTo>
                <a:lnTo>
                  <a:pt x="346763" y="42438"/>
                </a:lnTo>
                <a:lnTo>
                  <a:pt x="331553" y="81424"/>
                </a:lnTo>
                <a:lnTo>
                  <a:pt x="330453" y="96012"/>
                </a:lnTo>
                <a:lnTo>
                  <a:pt x="330453" y="336042"/>
                </a:lnTo>
                <a:lnTo>
                  <a:pt x="0" y="518655"/>
                </a:lnTo>
                <a:lnTo>
                  <a:pt x="330453" y="480060"/>
                </a:lnTo>
                <a:lnTo>
                  <a:pt x="3224529" y="480060"/>
                </a:lnTo>
                <a:lnTo>
                  <a:pt x="3224529" y="336042"/>
                </a:lnTo>
                <a:lnTo>
                  <a:pt x="3224000" y="85859"/>
                </a:lnTo>
                <a:lnTo>
                  <a:pt x="3210526" y="46035"/>
                </a:lnTo>
                <a:lnTo>
                  <a:pt x="3182118" y="16326"/>
                </a:lnTo>
                <a:lnTo>
                  <a:pt x="3143120" y="1101"/>
                </a:lnTo>
                <a:lnTo>
                  <a:pt x="3128518" y="0"/>
                </a:lnTo>
                <a:close/>
              </a:path>
            </a:pathLst>
          </a:custGeom>
          <a:solidFill>
            <a:srgbClr val="FFFFC7"/>
          </a:solidFill>
        </p:spPr>
        <p:txBody>
          <a:bodyPr wrap="square" lIns="0" tIns="0" rIns="0" bIns="0" rtlCol="0"/>
          <a:lstStyle/>
          <a:p>
            <a:endParaRPr/>
          </a:p>
        </p:txBody>
      </p:sp>
      <p:sp>
        <p:nvSpPr>
          <p:cNvPr id="19" name="object 19"/>
          <p:cNvSpPr/>
          <p:nvPr/>
        </p:nvSpPr>
        <p:spPr>
          <a:xfrm>
            <a:off x="7797800" y="5729478"/>
            <a:ext cx="3224530" cy="576580"/>
          </a:xfrm>
          <a:custGeom>
            <a:avLst/>
            <a:gdLst/>
            <a:ahLst/>
            <a:cxnLst/>
            <a:rect l="l" t="t" r="r" b="b"/>
            <a:pathLst>
              <a:path w="3224529" h="576579">
                <a:moveTo>
                  <a:pt x="330453" y="96012"/>
                </a:moveTo>
                <a:lnTo>
                  <a:pt x="339869" y="54475"/>
                </a:lnTo>
                <a:lnTo>
                  <a:pt x="365220" y="22048"/>
                </a:lnTo>
                <a:lnTo>
                  <a:pt x="402163" y="3097"/>
                </a:lnTo>
                <a:lnTo>
                  <a:pt x="812800" y="0"/>
                </a:lnTo>
                <a:lnTo>
                  <a:pt x="1536319" y="0"/>
                </a:lnTo>
                <a:lnTo>
                  <a:pt x="3128518" y="0"/>
                </a:lnTo>
                <a:lnTo>
                  <a:pt x="3143120" y="1101"/>
                </a:lnTo>
                <a:lnTo>
                  <a:pt x="3182118" y="16326"/>
                </a:lnTo>
                <a:lnTo>
                  <a:pt x="3210526" y="46035"/>
                </a:lnTo>
                <a:lnTo>
                  <a:pt x="3224000" y="85859"/>
                </a:lnTo>
                <a:lnTo>
                  <a:pt x="3224529" y="336042"/>
                </a:lnTo>
                <a:lnTo>
                  <a:pt x="3224529" y="480060"/>
                </a:lnTo>
                <a:lnTo>
                  <a:pt x="3223430" y="494647"/>
                </a:lnTo>
                <a:lnTo>
                  <a:pt x="3220238" y="508547"/>
                </a:lnTo>
                <a:lnTo>
                  <a:pt x="3199716" y="544496"/>
                </a:lnTo>
                <a:lnTo>
                  <a:pt x="3166155" y="568424"/>
                </a:lnTo>
                <a:lnTo>
                  <a:pt x="1536319" y="576072"/>
                </a:lnTo>
                <a:lnTo>
                  <a:pt x="812800" y="576072"/>
                </a:lnTo>
                <a:lnTo>
                  <a:pt x="426466" y="576072"/>
                </a:lnTo>
                <a:lnTo>
                  <a:pt x="411863" y="574970"/>
                </a:lnTo>
                <a:lnTo>
                  <a:pt x="372865" y="559745"/>
                </a:lnTo>
                <a:lnTo>
                  <a:pt x="344457" y="530036"/>
                </a:lnTo>
                <a:lnTo>
                  <a:pt x="330983" y="490212"/>
                </a:lnTo>
                <a:lnTo>
                  <a:pt x="330453" y="480060"/>
                </a:lnTo>
                <a:lnTo>
                  <a:pt x="0" y="518655"/>
                </a:lnTo>
                <a:lnTo>
                  <a:pt x="330453" y="336042"/>
                </a:lnTo>
                <a:lnTo>
                  <a:pt x="330453" y="96012"/>
                </a:lnTo>
                <a:close/>
              </a:path>
            </a:pathLst>
          </a:custGeom>
          <a:ln w="28956">
            <a:solidFill>
              <a:srgbClr val="000000"/>
            </a:solidFill>
          </a:ln>
        </p:spPr>
        <p:txBody>
          <a:bodyPr wrap="square" lIns="0" tIns="0" rIns="0" bIns="0" rtlCol="0"/>
          <a:lstStyle/>
          <a:p>
            <a:endParaRPr/>
          </a:p>
        </p:txBody>
      </p:sp>
      <p:sp>
        <p:nvSpPr>
          <p:cNvPr id="20" name="object 20"/>
          <p:cNvSpPr txBox="1"/>
          <p:nvPr/>
        </p:nvSpPr>
        <p:spPr>
          <a:xfrm>
            <a:off x="8254365" y="5853366"/>
            <a:ext cx="2644140" cy="365760"/>
          </a:xfrm>
          <a:prstGeom prst="rect">
            <a:avLst/>
          </a:prstGeom>
        </p:spPr>
        <p:txBody>
          <a:bodyPr vert="horz" wrap="square" lIns="0" tIns="0" rIns="0" bIns="0" rtlCol="0">
            <a:spAutoFit/>
          </a:bodyPr>
          <a:lstStyle/>
          <a:p>
            <a:pPr marL="12700">
              <a:lnSpc>
                <a:spcPct val="100000"/>
              </a:lnSpc>
            </a:pPr>
            <a:r>
              <a:rPr sz="2400" b="1" dirty="0">
                <a:latin typeface="宋体"/>
                <a:cs typeface="宋体"/>
              </a:rPr>
              <a:t>更新中断</a:t>
            </a:r>
            <a:r>
              <a:rPr sz="2400" b="1" spc="-5" dirty="0">
                <a:latin typeface="Consolas"/>
                <a:cs typeface="Consolas"/>
              </a:rPr>
              <a:t>/</a:t>
            </a:r>
            <a:r>
              <a:rPr sz="2400" b="1" dirty="0">
                <a:latin typeface="宋体"/>
                <a:cs typeface="宋体"/>
              </a:rPr>
              <a:t>定时中断</a:t>
            </a:r>
            <a:endParaRPr sz="2400">
              <a:latin typeface="宋体"/>
              <a:cs typeface="宋体"/>
            </a:endParaRPr>
          </a:p>
        </p:txBody>
      </p:sp>
    </p:spTree>
    <p:extLst>
      <p:ext uri="{BB962C8B-B14F-4D97-AF65-F5344CB8AC3E}">
        <p14:creationId xmlns:p14="http://schemas.microsoft.com/office/powerpoint/2010/main" val="381413748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p:nvPr/>
        </p:nvSpPr>
        <p:spPr>
          <a:xfrm>
            <a:off x="33934" y="1165722"/>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定时时间公式</a:t>
            </a:r>
            <a:endParaRPr sz="2400">
              <a:latin typeface="微软雅黑"/>
              <a:cs typeface="微软雅黑"/>
            </a:endParaRPr>
          </a:p>
        </p:txBody>
      </p:sp>
      <p:sp>
        <p:nvSpPr>
          <p:cNvPr id="13" name="object 13"/>
          <p:cNvSpPr/>
          <p:nvPr/>
        </p:nvSpPr>
        <p:spPr>
          <a:xfrm>
            <a:off x="2100833" y="4813553"/>
            <a:ext cx="7992109" cy="1405255"/>
          </a:xfrm>
          <a:custGeom>
            <a:avLst/>
            <a:gdLst/>
            <a:ahLst/>
            <a:cxnLst/>
            <a:rect l="l" t="t" r="r" b="b"/>
            <a:pathLst>
              <a:path w="7992109" h="1405254">
                <a:moveTo>
                  <a:pt x="0" y="1405128"/>
                </a:moveTo>
                <a:lnTo>
                  <a:pt x="7991856" y="1405128"/>
                </a:lnTo>
                <a:lnTo>
                  <a:pt x="7991856" y="0"/>
                </a:lnTo>
                <a:lnTo>
                  <a:pt x="0" y="0"/>
                </a:lnTo>
                <a:lnTo>
                  <a:pt x="0" y="1405128"/>
                </a:lnTo>
                <a:close/>
              </a:path>
            </a:pathLst>
          </a:custGeom>
          <a:ln w="38100">
            <a:solidFill>
              <a:srgbClr val="E34A46"/>
            </a:solidFill>
          </a:ln>
        </p:spPr>
        <p:txBody>
          <a:bodyPr wrap="square" lIns="0" tIns="0" rIns="0" bIns="0" rtlCol="0"/>
          <a:lstStyle/>
          <a:p>
            <a:endParaRPr/>
          </a:p>
        </p:txBody>
      </p:sp>
      <p:sp>
        <p:nvSpPr>
          <p:cNvPr id="14" name="object 14"/>
          <p:cNvSpPr/>
          <p:nvPr/>
        </p:nvSpPr>
        <p:spPr>
          <a:xfrm>
            <a:off x="4890389" y="5612765"/>
            <a:ext cx="3535679" cy="0"/>
          </a:xfrm>
          <a:custGeom>
            <a:avLst/>
            <a:gdLst/>
            <a:ahLst/>
            <a:cxnLst/>
            <a:rect l="l" t="t" r="r" b="b"/>
            <a:pathLst>
              <a:path w="3535679">
                <a:moveTo>
                  <a:pt x="0" y="0"/>
                </a:moveTo>
                <a:lnTo>
                  <a:pt x="3535680" y="0"/>
                </a:lnTo>
              </a:path>
            </a:pathLst>
          </a:custGeom>
          <a:ln w="22859">
            <a:solidFill>
              <a:srgbClr val="000000"/>
            </a:solidFill>
          </a:ln>
        </p:spPr>
        <p:txBody>
          <a:bodyPr wrap="square" lIns="0" tIns="0" rIns="0" bIns="0" rtlCol="0"/>
          <a:lstStyle/>
          <a:p>
            <a:endParaRPr/>
          </a:p>
        </p:txBody>
      </p:sp>
      <p:sp>
        <p:nvSpPr>
          <p:cNvPr id="15" name="object 15"/>
          <p:cNvSpPr/>
          <p:nvPr/>
        </p:nvSpPr>
        <p:spPr>
          <a:xfrm>
            <a:off x="4921659" y="5180076"/>
            <a:ext cx="1592580" cy="328930"/>
          </a:xfrm>
          <a:custGeom>
            <a:avLst/>
            <a:gdLst/>
            <a:ahLst/>
            <a:cxnLst/>
            <a:rect l="l" t="t" r="r" b="b"/>
            <a:pathLst>
              <a:path w="1592579" h="328929">
                <a:moveTo>
                  <a:pt x="1487268" y="0"/>
                </a:moveTo>
                <a:lnTo>
                  <a:pt x="1487468" y="15058"/>
                </a:lnTo>
                <a:lnTo>
                  <a:pt x="1499304" y="20360"/>
                </a:lnTo>
                <a:lnTo>
                  <a:pt x="1510118" y="26957"/>
                </a:lnTo>
                <a:lnTo>
                  <a:pt x="1536587" y="54858"/>
                </a:lnTo>
                <a:lnTo>
                  <a:pt x="1554787" y="98689"/>
                </a:lnTo>
                <a:lnTo>
                  <a:pt x="1560892" y="137184"/>
                </a:lnTo>
                <a:lnTo>
                  <a:pt x="1562045" y="167228"/>
                </a:lnTo>
                <a:lnTo>
                  <a:pt x="1561586" y="181372"/>
                </a:lnTo>
                <a:lnTo>
                  <a:pt x="1556618" y="220458"/>
                </a:lnTo>
                <a:lnTo>
                  <a:pt x="1540960" y="266134"/>
                </a:lnTo>
                <a:lnTo>
                  <a:pt x="1516698" y="296813"/>
                </a:lnTo>
                <a:lnTo>
                  <a:pt x="1483077" y="315595"/>
                </a:lnTo>
                <a:lnTo>
                  <a:pt x="1492664" y="327401"/>
                </a:lnTo>
                <a:lnTo>
                  <a:pt x="1535010" y="304845"/>
                </a:lnTo>
                <a:lnTo>
                  <a:pt x="1562265" y="274576"/>
                </a:lnTo>
                <a:lnTo>
                  <a:pt x="1580136" y="239828"/>
                </a:lnTo>
                <a:lnTo>
                  <a:pt x="1590818" y="189583"/>
                </a:lnTo>
                <a:lnTo>
                  <a:pt x="1592139" y="160404"/>
                </a:lnTo>
                <a:lnTo>
                  <a:pt x="1591613" y="147274"/>
                </a:lnTo>
                <a:lnTo>
                  <a:pt x="1582438" y="97813"/>
                </a:lnTo>
                <a:lnTo>
                  <a:pt x="1567231" y="62425"/>
                </a:lnTo>
                <a:lnTo>
                  <a:pt x="1543511" y="30879"/>
                </a:lnTo>
                <a:lnTo>
                  <a:pt x="1512167" y="9147"/>
                </a:lnTo>
                <a:lnTo>
                  <a:pt x="1500117" y="4037"/>
                </a:lnTo>
                <a:lnTo>
                  <a:pt x="1487268" y="0"/>
                </a:lnTo>
                <a:close/>
              </a:path>
              <a:path w="1592579" h="328929">
                <a:moveTo>
                  <a:pt x="104873" y="0"/>
                </a:moveTo>
                <a:lnTo>
                  <a:pt x="66953" y="16821"/>
                </a:lnTo>
                <a:lnTo>
                  <a:pt x="38676" y="42951"/>
                </a:lnTo>
                <a:lnTo>
                  <a:pt x="16354" y="78272"/>
                </a:lnTo>
                <a:lnTo>
                  <a:pt x="2989" y="126049"/>
                </a:lnTo>
                <a:lnTo>
                  <a:pt x="0" y="168635"/>
                </a:lnTo>
                <a:lnTo>
                  <a:pt x="513" y="181791"/>
                </a:lnTo>
                <a:lnTo>
                  <a:pt x="9605" y="231345"/>
                </a:lnTo>
                <a:lnTo>
                  <a:pt x="24770" y="266700"/>
                </a:lnTo>
                <a:lnTo>
                  <a:pt x="48435" y="298155"/>
                </a:lnTo>
                <a:lnTo>
                  <a:pt x="79831" y="319807"/>
                </a:lnTo>
                <a:lnTo>
                  <a:pt x="104873" y="328930"/>
                </a:lnTo>
                <a:lnTo>
                  <a:pt x="104443" y="313989"/>
                </a:lnTo>
                <a:lnTo>
                  <a:pt x="92738" y="308667"/>
                </a:lnTo>
                <a:lnTo>
                  <a:pt x="82026" y="302016"/>
                </a:lnTo>
                <a:lnTo>
                  <a:pt x="55680" y="273853"/>
                </a:lnTo>
                <a:lnTo>
                  <a:pt x="37298" y="229354"/>
                </a:lnTo>
                <a:lnTo>
                  <a:pt x="31121" y="190860"/>
                </a:lnTo>
                <a:lnTo>
                  <a:pt x="29945" y="161524"/>
                </a:lnTo>
                <a:lnTo>
                  <a:pt x="30299" y="147407"/>
                </a:lnTo>
                <a:lnTo>
                  <a:pt x="35129" y="108262"/>
                </a:lnTo>
                <a:lnTo>
                  <a:pt x="51078" y="62276"/>
                </a:lnTo>
                <a:lnTo>
                  <a:pt x="75455" y="31954"/>
                </a:lnTo>
                <a:lnTo>
                  <a:pt x="109445" y="13335"/>
                </a:lnTo>
                <a:lnTo>
                  <a:pt x="104873" y="0"/>
                </a:lnTo>
                <a:close/>
              </a:path>
            </a:pathLst>
          </a:custGeom>
          <a:solidFill>
            <a:srgbClr val="000000"/>
          </a:solidFill>
        </p:spPr>
        <p:txBody>
          <a:bodyPr wrap="square" lIns="0" tIns="0" rIns="0" bIns="0" rtlCol="0"/>
          <a:lstStyle/>
          <a:p>
            <a:endParaRPr/>
          </a:p>
        </p:txBody>
      </p:sp>
      <p:sp>
        <p:nvSpPr>
          <p:cNvPr id="16" name="object 16"/>
          <p:cNvSpPr txBox="1"/>
          <p:nvPr/>
        </p:nvSpPr>
        <p:spPr>
          <a:xfrm>
            <a:off x="5026278" y="5158051"/>
            <a:ext cx="1385570" cy="430887"/>
          </a:xfrm>
          <a:prstGeom prst="rect">
            <a:avLst/>
          </a:prstGeom>
        </p:spPr>
        <p:txBody>
          <a:bodyPr vert="horz" wrap="square" lIns="0" tIns="0" rIns="0" bIns="0" rtlCol="0">
            <a:spAutoFit/>
          </a:bodyPr>
          <a:lstStyle/>
          <a:p>
            <a:pPr marL="12700"/>
            <a:r>
              <a:rPr lang="zh-CN" altLang="en-US" sz="2800" spc="60" dirty="0">
                <a:latin typeface="Cambria Math"/>
                <a:cs typeface="Cambria Math"/>
              </a:rPr>
              <a:t>𝐀𝐑𝐑 </a:t>
            </a:r>
            <a:r>
              <a:rPr lang="en-US" altLang="zh-CN" sz="2800" spc="60" dirty="0" smtClean="0">
                <a:latin typeface="Cambria Math"/>
                <a:cs typeface="Cambria Math"/>
              </a:rPr>
              <a:t>+</a:t>
            </a:r>
            <a:r>
              <a:rPr sz="2800" spc="-5" dirty="0" smtClean="0">
                <a:latin typeface="Cambria Math"/>
                <a:cs typeface="Cambria Math"/>
              </a:rPr>
              <a:t>𝟏</a:t>
            </a:r>
            <a:endParaRPr sz="2800" dirty="0">
              <a:latin typeface="Cambria Math"/>
              <a:cs typeface="Cambria Math"/>
            </a:endParaRPr>
          </a:p>
        </p:txBody>
      </p:sp>
      <p:sp>
        <p:nvSpPr>
          <p:cNvPr id="17" name="object 17"/>
          <p:cNvSpPr/>
          <p:nvPr/>
        </p:nvSpPr>
        <p:spPr>
          <a:xfrm>
            <a:off x="6905907" y="5180076"/>
            <a:ext cx="1489075" cy="328930"/>
          </a:xfrm>
          <a:custGeom>
            <a:avLst/>
            <a:gdLst/>
            <a:ahLst/>
            <a:cxnLst/>
            <a:rect l="l" t="t" r="r" b="b"/>
            <a:pathLst>
              <a:path w="1489075" h="328929">
                <a:moveTo>
                  <a:pt x="1383636" y="0"/>
                </a:moveTo>
                <a:lnTo>
                  <a:pt x="1383836" y="15058"/>
                </a:lnTo>
                <a:lnTo>
                  <a:pt x="1395672" y="20360"/>
                </a:lnTo>
                <a:lnTo>
                  <a:pt x="1406486" y="26957"/>
                </a:lnTo>
                <a:lnTo>
                  <a:pt x="1432955" y="54858"/>
                </a:lnTo>
                <a:lnTo>
                  <a:pt x="1451155" y="98689"/>
                </a:lnTo>
                <a:lnTo>
                  <a:pt x="1457260" y="137184"/>
                </a:lnTo>
                <a:lnTo>
                  <a:pt x="1458413" y="167228"/>
                </a:lnTo>
                <a:lnTo>
                  <a:pt x="1457954" y="181372"/>
                </a:lnTo>
                <a:lnTo>
                  <a:pt x="1452986" y="220458"/>
                </a:lnTo>
                <a:lnTo>
                  <a:pt x="1437328" y="266134"/>
                </a:lnTo>
                <a:lnTo>
                  <a:pt x="1413066" y="296813"/>
                </a:lnTo>
                <a:lnTo>
                  <a:pt x="1379445" y="315595"/>
                </a:lnTo>
                <a:lnTo>
                  <a:pt x="1389032" y="327401"/>
                </a:lnTo>
                <a:lnTo>
                  <a:pt x="1431378" y="304845"/>
                </a:lnTo>
                <a:lnTo>
                  <a:pt x="1458633" y="274576"/>
                </a:lnTo>
                <a:lnTo>
                  <a:pt x="1476504" y="239828"/>
                </a:lnTo>
                <a:lnTo>
                  <a:pt x="1487186" y="189583"/>
                </a:lnTo>
                <a:lnTo>
                  <a:pt x="1488507" y="160404"/>
                </a:lnTo>
                <a:lnTo>
                  <a:pt x="1487981" y="147274"/>
                </a:lnTo>
                <a:lnTo>
                  <a:pt x="1478806" y="97813"/>
                </a:lnTo>
                <a:lnTo>
                  <a:pt x="1463599" y="62425"/>
                </a:lnTo>
                <a:lnTo>
                  <a:pt x="1439879" y="30879"/>
                </a:lnTo>
                <a:lnTo>
                  <a:pt x="1408535" y="9147"/>
                </a:lnTo>
                <a:lnTo>
                  <a:pt x="1396485" y="4037"/>
                </a:lnTo>
                <a:lnTo>
                  <a:pt x="1383636" y="0"/>
                </a:lnTo>
                <a:close/>
              </a:path>
              <a:path w="1489075" h="328929">
                <a:moveTo>
                  <a:pt x="104873" y="0"/>
                </a:moveTo>
                <a:lnTo>
                  <a:pt x="66953" y="16821"/>
                </a:lnTo>
                <a:lnTo>
                  <a:pt x="38676" y="42951"/>
                </a:lnTo>
                <a:lnTo>
                  <a:pt x="16354" y="78272"/>
                </a:lnTo>
                <a:lnTo>
                  <a:pt x="2989" y="126049"/>
                </a:lnTo>
                <a:lnTo>
                  <a:pt x="0" y="168635"/>
                </a:lnTo>
                <a:lnTo>
                  <a:pt x="513" y="181791"/>
                </a:lnTo>
                <a:lnTo>
                  <a:pt x="9605" y="231345"/>
                </a:lnTo>
                <a:lnTo>
                  <a:pt x="24770" y="266700"/>
                </a:lnTo>
                <a:lnTo>
                  <a:pt x="48435" y="298155"/>
                </a:lnTo>
                <a:lnTo>
                  <a:pt x="79831" y="319807"/>
                </a:lnTo>
                <a:lnTo>
                  <a:pt x="104873" y="328930"/>
                </a:lnTo>
                <a:lnTo>
                  <a:pt x="104443" y="313989"/>
                </a:lnTo>
                <a:lnTo>
                  <a:pt x="92738" y="308667"/>
                </a:lnTo>
                <a:lnTo>
                  <a:pt x="82026" y="302016"/>
                </a:lnTo>
                <a:lnTo>
                  <a:pt x="55680" y="273853"/>
                </a:lnTo>
                <a:lnTo>
                  <a:pt x="37298" y="229354"/>
                </a:lnTo>
                <a:lnTo>
                  <a:pt x="31121" y="190860"/>
                </a:lnTo>
                <a:lnTo>
                  <a:pt x="29945" y="161524"/>
                </a:lnTo>
                <a:lnTo>
                  <a:pt x="30299" y="147407"/>
                </a:lnTo>
                <a:lnTo>
                  <a:pt x="35129" y="108262"/>
                </a:lnTo>
                <a:lnTo>
                  <a:pt x="51078" y="62276"/>
                </a:lnTo>
                <a:lnTo>
                  <a:pt x="75455" y="31954"/>
                </a:lnTo>
                <a:lnTo>
                  <a:pt x="109445" y="13335"/>
                </a:lnTo>
                <a:lnTo>
                  <a:pt x="104873" y="0"/>
                </a:lnTo>
                <a:close/>
              </a:path>
            </a:pathLst>
          </a:custGeom>
          <a:solidFill>
            <a:srgbClr val="000000"/>
          </a:solidFill>
        </p:spPr>
        <p:txBody>
          <a:bodyPr wrap="square" lIns="0" tIns="0" rIns="0" bIns="0" rtlCol="0"/>
          <a:lstStyle/>
          <a:p>
            <a:endParaRPr/>
          </a:p>
        </p:txBody>
      </p:sp>
      <p:sp>
        <p:nvSpPr>
          <p:cNvPr id="18" name="object 18"/>
          <p:cNvSpPr txBox="1"/>
          <p:nvPr/>
        </p:nvSpPr>
        <p:spPr>
          <a:xfrm>
            <a:off x="6613017" y="5158051"/>
            <a:ext cx="1970405" cy="430887"/>
          </a:xfrm>
          <a:prstGeom prst="rect">
            <a:avLst/>
          </a:prstGeom>
        </p:spPr>
        <p:txBody>
          <a:bodyPr vert="horz" wrap="square" lIns="0" tIns="0" rIns="0" bIns="0" rtlCol="0">
            <a:spAutoFit/>
          </a:bodyPr>
          <a:lstStyle/>
          <a:p>
            <a:pPr marL="12700">
              <a:tabLst>
                <a:tab pos="410209" algn="l"/>
              </a:tabLst>
            </a:pPr>
            <a:r>
              <a:rPr sz="2800" spc="-5" dirty="0">
                <a:latin typeface="Cambria Math"/>
                <a:cs typeface="Cambria Math"/>
              </a:rPr>
              <a:t>∗	</a:t>
            </a:r>
            <a:r>
              <a:rPr lang="zh-CN" altLang="en-US" sz="2800" spc="-5" dirty="0" smtClean="0">
                <a:latin typeface="Cambria Math"/>
                <a:cs typeface="Cambria Math"/>
              </a:rPr>
              <a:t>𝐏𝐒</a:t>
            </a:r>
            <a:r>
              <a:rPr lang="en-US" altLang="zh-CN" sz="2800" spc="-5" dirty="0" smtClean="0">
                <a:latin typeface="Cambria Math"/>
                <a:cs typeface="Cambria Math"/>
              </a:rPr>
              <a:t>C</a:t>
            </a:r>
            <a:r>
              <a:rPr sz="2800" spc="-5" dirty="0" smtClean="0">
                <a:latin typeface="Cambria Math"/>
                <a:cs typeface="Cambria Math"/>
              </a:rPr>
              <a:t>+</a:t>
            </a:r>
            <a:r>
              <a:rPr sz="2800" spc="5" dirty="0" smtClean="0">
                <a:latin typeface="Cambria Math"/>
                <a:cs typeface="Cambria Math"/>
              </a:rPr>
              <a:t> </a:t>
            </a:r>
            <a:r>
              <a:rPr sz="2800" spc="-5" dirty="0">
                <a:latin typeface="Cambria Math"/>
                <a:cs typeface="Cambria Math"/>
              </a:rPr>
              <a:t>𝟏</a:t>
            </a:r>
            <a:endParaRPr sz="2800" dirty="0">
              <a:latin typeface="Cambria Math"/>
              <a:cs typeface="Cambria Math"/>
            </a:endParaRPr>
          </a:p>
        </p:txBody>
      </p:sp>
      <p:sp>
        <p:nvSpPr>
          <p:cNvPr id="19" name="object 19"/>
          <p:cNvSpPr txBox="1"/>
          <p:nvPr/>
        </p:nvSpPr>
        <p:spPr>
          <a:xfrm>
            <a:off x="5549010" y="5664374"/>
            <a:ext cx="2219960" cy="430887"/>
          </a:xfrm>
          <a:prstGeom prst="rect">
            <a:avLst/>
          </a:prstGeom>
        </p:spPr>
        <p:txBody>
          <a:bodyPr vert="horz" wrap="square" lIns="0" tIns="0" rIns="0" bIns="0" rtlCol="0">
            <a:spAutoFit/>
          </a:bodyPr>
          <a:lstStyle/>
          <a:p>
            <a:pPr marL="12700"/>
            <a:r>
              <a:rPr lang="zh-CN" altLang="en-US" sz="2800" spc="-5" dirty="0" smtClean="0">
                <a:latin typeface="Cambria Math"/>
                <a:cs typeface="Cambria Math"/>
              </a:rPr>
              <a:t>𝐓𝐈𝐌</a:t>
            </a:r>
            <a:r>
              <a:rPr lang="en-US" altLang="zh-CN" sz="2800" spc="-5" dirty="0">
                <a:latin typeface="Cambria Math"/>
                <a:cs typeface="Cambria Math"/>
              </a:rPr>
              <a:t>_</a:t>
            </a:r>
            <a:r>
              <a:rPr lang="zh-CN" altLang="en-US" sz="2800" spc="-5" dirty="0">
                <a:latin typeface="Cambria Math"/>
                <a:cs typeface="Cambria Math"/>
              </a:rPr>
              <a:t>𝐂𝐋𝐊</a:t>
            </a:r>
            <a:r>
              <a:rPr lang="en-US" altLang="zh-CN" sz="2800" spc="-5" dirty="0">
                <a:latin typeface="Cambria Math"/>
                <a:cs typeface="Cambria Math"/>
              </a:rPr>
              <a:t>(</a:t>
            </a:r>
            <a:r>
              <a:rPr lang="zh-CN" altLang="en-US" sz="2800" spc="-5" dirty="0">
                <a:latin typeface="Cambria Math"/>
                <a:cs typeface="Cambria Math"/>
              </a:rPr>
              <a:t>𝐇𝐳</a:t>
            </a:r>
            <a:r>
              <a:rPr lang="en-US" altLang="zh-CN" sz="2800" spc="-5" dirty="0">
                <a:latin typeface="Cambria Math"/>
                <a:cs typeface="Cambria Math"/>
              </a:rPr>
              <a:t>)</a:t>
            </a:r>
            <a:endParaRPr sz="2800" dirty="0">
              <a:latin typeface="Cambria Math"/>
              <a:cs typeface="Cambria Math"/>
            </a:endParaRPr>
          </a:p>
        </p:txBody>
      </p:sp>
      <p:sp>
        <p:nvSpPr>
          <p:cNvPr id="20" name="object 20"/>
          <p:cNvSpPr txBox="1"/>
          <p:nvPr/>
        </p:nvSpPr>
        <p:spPr>
          <a:xfrm>
            <a:off x="3485134" y="5385053"/>
            <a:ext cx="1101090" cy="462280"/>
          </a:xfrm>
          <a:prstGeom prst="rect">
            <a:avLst/>
          </a:prstGeom>
        </p:spPr>
        <p:txBody>
          <a:bodyPr vert="horz" wrap="square" lIns="0" tIns="0" rIns="0" bIns="0" rtlCol="0">
            <a:spAutoFit/>
          </a:bodyPr>
          <a:lstStyle/>
          <a:p>
            <a:pPr marL="12700">
              <a:lnSpc>
                <a:spcPct val="100000"/>
              </a:lnSpc>
              <a:tabLst>
                <a:tab pos="885190" algn="l"/>
              </a:tabLst>
            </a:pPr>
            <a:r>
              <a:rPr sz="2800" b="1" spc="-5" dirty="0">
                <a:latin typeface="Times New Roman"/>
                <a:cs typeface="Times New Roman"/>
              </a:rPr>
              <a:t>T</a:t>
            </a:r>
            <a:r>
              <a:rPr sz="2800" b="1" spc="-55" dirty="0">
                <a:latin typeface="Times New Roman"/>
                <a:cs typeface="Times New Roman"/>
              </a:rPr>
              <a:t> </a:t>
            </a:r>
            <a:r>
              <a:rPr sz="2800" b="1" spc="-5" dirty="0">
                <a:latin typeface="Times New Roman"/>
                <a:cs typeface="Times New Roman"/>
              </a:rPr>
              <a:t>(s)</a:t>
            </a:r>
            <a:r>
              <a:rPr sz="2800" b="1" dirty="0">
                <a:latin typeface="Times New Roman"/>
                <a:cs typeface="Times New Roman"/>
              </a:rPr>
              <a:t>	</a:t>
            </a:r>
            <a:r>
              <a:rPr sz="2800" b="1" spc="-5" dirty="0">
                <a:latin typeface="Times New Roman"/>
                <a:cs typeface="Times New Roman"/>
              </a:rPr>
              <a:t>=</a:t>
            </a:r>
            <a:endParaRPr sz="2800">
              <a:latin typeface="Times New Roman"/>
              <a:cs typeface="Times New Roman"/>
            </a:endParaRPr>
          </a:p>
        </p:txBody>
      </p:sp>
      <p:sp>
        <p:nvSpPr>
          <p:cNvPr id="21" name="object 21"/>
          <p:cNvSpPr txBox="1"/>
          <p:nvPr/>
        </p:nvSpPr>
        <p:spPr>
          <a:xfrm>
            <a:off x="3833621" y="1728977"/>
            <a:ext cx="4526280" cy="1135380"/>
          </a:xfrm>
          <a:prstGeom prst="rect">
            <a:avLst/>
          </a:prstGeom>
          <a:ln w="38100">
            <a:solidFill>
              <a:srgbClr val="C71F1F"/>
            </a:solidFill>
          </a:ln>
        </p:spPr>
        <p:txBody>
          <a:bodyPr vert="horz" wrap="square" lIns="0" tIns="0" rIns="0" bIns="0" rtlCol="0">
            <a:spAutoFit/>
          </a:bodyPr>
          <a:lstStyle/>
          <a:p>
            <a:pPr marL="198120" marR="187960" indent="-3175">
              <a:lnSpc>
                <a:spcPct val="150000"/>
              </a:lnSpc>
            </a:pPr>
            <a:r>
              <a:rPr sz="2400" b="1" dirty="0">
                <a:latin typeface="微软雅黑"/>
                <a:cs typeface="微软雅黑"/>
              </a:rPr>
              <a:t>定时时间</a:t>
            </a:r>
            <a:r>
              <a:rPr sz="2400" b="1" spc="-10" dirty="0">
                <a:latin typeface="微软雅黑"/>
                <a:cs typeface="微软雅黑"/>
              </a:rPr>
              <a:t> </a:t>
            </a:r>
            <a:r>
              <a:rPr sz="2400" b="1" dirty="0">
                <a:latin typeface="微软雅黑"/>
                <a:cs typeface="微软雅黑"/>
              </a:rPr>
              <a:t>= 计数值</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a:t>
            </a:r>
            <a:r>
              <a:rPr sz="2400" b="1" dirty="0">
                <a:latin typeface="微软雅黑"/>
                <a:cs typeface="微软雅黑"/>
              </a:rPr>
              <a:t>计数时间 定时时间</a:t>
            </a:r>
            <a:r>
              <a:rPr sz="2400" b="1" spc="-10" dirty="0">
                <a:latin typeface="微软雅黑"/>
                <a:cs typeface="微软雅黑"/>
              </a:rPr>
              <a:t> </a:t>
            </a:r>
            <a:r>
              <a:rPr sz="2400" b="1" dirty="0">
                <a:latin typeface="微软雅黑"/>
                <a:cs typeface="微软雅黑"/>
              </a:rPr>
              <a:t>= 计数值</a:t>
            </a:r>
            <a:r>
              <a:rPr sz="2400" b="1" spc="-10" dirty="0">
                <a:latin typeface="微软雅黑"/>
                <a:cs typeface="微软雅黑"/>
              </a:rPr>
              <a:t> </a:t>
            </a:r>
            <a:r>
              <a:rPr sz="2400" b="1" spc="-5" dirty="0">
                <a:latin typeface="微软雅黑"/>
                <a:cs typeface="微软雅黑"/>
              </a:rPr>
              <a:t>/ </a:t>
            </a:r>
            <a:r>
              <a:rPr sz="2400" b="1" dirty="0">
                <a:latin typeface="微软雅黑"/>
                <a:cs typeface="微软雅黑"/>
              </a:rPr>
              <a:t>时钟频率</a:t>
            </a:r>
            <a:endParaRPr sz="2400">
              <a:latin typeface="微软雅黑"/>
              <a:cs typeface="微软雅黑"/>
            </a:endParaRPr>
          </a:p>
        </p:txBody>
      </p:sp>
      <p:sp>
        <p:nvSpPr>
          <p:cNvPr id="22" name="object 22"/>
          <p:cNvSpPr/>
          <p:nvPr/>
        </p:nvSpPr>
        <p:spPr>
          <a:xfrm>
            <a:off x="2990088" y="3998976"/>
            <a:ext cx="398145" cy="591820"/>
          </a:xfrm>
          <a:custGeom>
            <a:avLst/>
            <a:gdLst/>
            <a:ahLst/>
            <a:cxnLst/>
            <a:rect l="l" t="t" r="r" b="b"/>
            <a:pathLst>
              <a:path w="398145" h="591820">
                <a:moveTo>
                  <a:pt x="397763" y="392430"/>
                </a:moveTo>
                <a:lnTo>
                  <a:pt x="0" y="392430"/>
                </a:lnTo>
                <a:lnTo>
                  <a:pt x="198881" y="591312"/>
                </a:lnTo>
                <a:lnTo>
                  <a:pt x="397763" y="392430"/>
                </a:lnTo>
                <a:close/>
              </a:path>
              <a:path w="398145" h="591820">
                <a:moveTo>
                  <a:pt x="298323" y="0"/>
                </a:moveTo>
                <a:lnTo>
                  <a:pt x="99441" y="0"/>
                </a:lnTo>
                <a:lnTo>
                  <a:pt x="99441" y="392430"/>
                </a:lnTo>
                <a:lnTo>
                  <a:pt x="298323" y="392430"/>
                </a:lnTo>
                <a:lnTo>
                  <a:pt x="298323" y="0"/>
                </a:lnTo>
                <a:close/>
              </a:path>
            </a:pathLst>
          </a:custGeom>
          <a:solidFill>
            <a:srgbClr val="FF0000"/>
          </a:solidFill>
        </p:spPr>
        <p:txBody>
          <a:bodyPr wrap="square" lIns="0" tIns="0" rIns="0" bIns="0" rtlCol="0"/>
          <a:lstStyle/>
          <a:p>
            <a:endParaRPr/>
          </a:p>
        </p:txBody>
      </p:sp>
      <p:sp>
        <p:nvSpPr>
          <p:cNvPr id="23" name="object 23"/>
          <p:cNvSpPr/>
          <p:nvPr/>
        </p:nvSpPr>
        <p:spPr>
          <a:xfrm>
            <a:off x="2990088" y="3998976"/>
            <a:ext cx="398145" cy="591820"/>
          </a:xfrm>
          <a:custGeom>
            <a:avLst/>
            <a:gdLst/>
            <a:ahLst/>
            <a:cxnLst/>
            <a:rect l="l" t="t" r="r" b="b"/>
            <a:pathLst>
              <a:path w="398145" h="591820">
                <a:moveTo>
                  <a:pt x="0" y="392430"/>
                </a:moveTo>
                <a:lnTo>
                  <a:pt x="99441" y="392430"/>
                </a:lnTo>
                <a:lnTo>
                  <a:pt x="99441" y="0"/>
                </a:lnTo>
                <a:lnTo>
                  <a:pt x="298323" y="0"/>
                </a:lnTo>
                <a:lnTo>
                  <a:pt x="298323" y="392430"/>
                </a:lnTo>
                <a:lnTo>
                  <a:pt x="397763" y="392430"/>
                </a:lnTo>
                <a:lnTo>
                  <a:pt x="198881" y="591312"/>
                </a:lnTo>
                <a:lnTo>
                  <a:pt x="0" y="392430"/>
                </a:lnTo>
                <a:close/>
              </a:path>
            </a:pathLst>
          </a:custGeom>
          <a:ln w="12192">
            <a:solidFill>
              <a:srgbClr val="41709C"/>
            </a:solidFill>
          </a:ln>
        </p:spPr>
        <p:txBody>
          <a:bodyPr wrap="square" lIns="0" tIns="0" rIns="0" bIns="0" rtlCol="0"/>
          <a:lstStyle/>
          <a:p>
            <a:endParaRPr/>
          </a:p>
        </p:txBody>
      </p:sp>
      <p:sp>
        <p:nvSpPr>
          <p:cNvPr id="24" name="object 24"/>
          <p:cNvSpPr/>
          <p:nvPr/>
        </p:nvSpPr>
        <p:spPr>
          <a:xfrm>
            <a:off x="8868156" y="3998976"/>
            <a:ext cx="399415" cy="591820"/>
          </a:xfrm>
          <a:custGeom>
            <a:avLst/>
            <a:gdLst/>
            <a:ahLst/>
            <a:cxnLst/>
            <a:rect l="l" t="t" r="r" b="b"/>
            <a:pathLst>
              <a:path w="399415" h="591820">
                <a:moveTo>
                  <a:pt x="399288" y="391668"/>
                </a:moveTo>
                <a:lnTo>
                  <a:pt x="0" y="391668"/>
                </a:lnTo>
                <a:lnTo>
                  <a:pt x="199644" y="591312"/>
                </a:lnTo>
                <a:lnTo>
                  <a:pt x="399288" y="391668"/>
                </a:lnTo>
                <a:close/>
              </a:path>
              <a:path w="399415" h="591820">
                <a:moveTo>
                  <a:pt x="299466" y="0"/>
                </a:moveTo>
                <a:lnTo>
                  <a:pt x="99822" y="0"/>
                </a:lnTo>
                <a:lnTo>
                  <a:pt x="99822" y="391668"/>
                </a:lnTo>
                <a:lnTo>
                  <a:pt x="299466" y="391668"/>
                </a:lnTo>
                <a:lnTo>
                  <a:pt x="299466" y="0"/>
                </a:lnTo>
                <a:close/>
              </a:path>
            </a:pathLst>
          </a:custGeom>
          <a:solidFill>
            <a:srgbClr val="FF0000"/>
          </a:solidFill>
        </p:spPr>
        <p:txBody>
          <a:bodyPr wrap="square" lIns="0" tIns="0" rIns="0" bIns="0" rtlCol="0"/>
          <a:lstStyle/>
          <a:p>
            <a:endParaRPr/>
          </a:p>
        </p:txBody>
      </p:sp>
      <p:sp>
        <p:nvSpPr>
          <p:cNvPr id="25" name="object 25"/>
          <p:cNvSpPr/>
          <p:nvPr/>
        </p:nvSpPr>
        <p:spPr>
          <a:xfrm>
            <a:off x="8868156" y="3998976"/>
            <a:ext cx="399415" cy="591820"/>
          </a:xfrm>
          <a:custGeom>
            <a:avLst/>
            <a:gdLst/>
            <a:ahLst/>
            <a:cxnLst/>
            <a:rect l="l" t="t" r="r" b="b"/>
            <a:pathLst>
              <a:path w="399415" h="591820">
                <a:moveTo>
                  <a:pt x="0" y="391668"/>
                </a:moveTo>
                <a:lnTo>
                  <a:pt x="99822" y="391668"/>
                </a:lnTo>
                <a:lnTo>
                  <a:pt x="99822" y="0"/>
                </a:lnTo>
                <a:lnTo>
                  <a:pt x="299466" y="0"/>
                </a:lnTo>
                <a:lnTo>
                  <a:pt x="299466" y="391668"/>
                </a:lnTo>
                <a:lnTo>
                  <a:pt x="399288" y="391668"/>
                </a:lnTo>
                <a:lnTo>
                  <a:pt x="199644" y="591312"/>
                </a:lnTo>
                <a:lnTo>
                  <a:pt x="0" y="391668"/>
                </a:lnTo>
                <a:close/>
              </a:path>
            </a:pathLst>
          </a:custGeom>
          <a:ln w="12192">
            <a:solidFill>
              <a:srgbClr val="41709C"/>
            </a:solidFill>
          </a:ln>
        </p:spPr>
        <p:txBody>
          <a:bodyPr wrap="square" lIns="0" tIns="0" rIns="0" bIns="0" rtlCol="0"/>
          <a:lstStyle/>
          <a:p>
            <a:endParaRPr/>
          </a:p>
        </p:txBody>
      </p:sp>
      <p:sp>
        <p:nvSpPr>
          <p:cNvPr id="26" name="object 26"/>
          <p:cNvSpPr/>
          <p:nvPr/>
        </p:nvSpPr>
        <p:spPr>
          <a:xfrm>
            <a:off x="942594" y="2000250"/>
            <a:ext cx="1630680" cy="1097280"/>
          </a:xfrm>
          <a:custGeom>
            <a:avLst/>
            <a:gdLst/>
            <a:ahLst/>
            <a:cxnLst/>
            <a:rect l="l" t="t" r="r" b="b"/>
            <a:pathLst>
              <a:path w="1630680" h="1097280">
                <a:moveTo>
                  <a:pt x="1490472" y="0"/>
                </a:moveTo>
                <a:lnTo>
                  <a:pt x="271780" y="0"/>
                </a:lnTo>
                <a:lnTo>
                  <a:pt x="131159" y="287"/>
                </a:lnTo>
                <a:lnTo>
                  <a:pt x="89404" y="9483"/>
                </a:lnTo>
                <a:lnTo>
                  <a:pt x="53362" y="30117"/>
                </a:lnTo>
                <a:lnTo>
                  <a:pt x="25082" y="60145"/>
                </a:lnTo>
                <a:lnTo>
                  <a:pt x="6611" y="97523"/>
                </a:lnTo>
                <a:lnTo>
                  <a:pt x="0" y="140208"/>
                </a:lnTo>
                <a:lnTo>
                  <a:pt x="0" y="701039"/>
                </a:lnTo>
                <a:lnTo>
                  <a:pt x="9488" y="751859"/>
                </a:lnTo>
                <a:lnTo>
                  <a:pt x="30129" y="787901"/>
                </a:lnTo>
                <a:lnTo>
                  <a:pt x="60161" y="816176"/>
                </a:lnTo>
                <a:lnTo>
                  <a:pt x="97537" y="834639"/>
                </a:lnTo>
                <a:lnTo>
                  <a:pt x="140208" y="841248"/>
                </a:lnTo>
                <a:lnTo>
                  <a:pt x="271780" y="841248"/>
                </a:lnTo>
                <a:lnTo>
                  <a:pt x="151701" y="1096772"/>
                </a:lnTo>
                <a:lnTo>
                  <a:pt x="679450" y="841248"/>
                </a:lnTo>
                <a:lnTo>
                  <a:pt x="1499524" y="840960"/>
                </a:lnTo>
                <a:lnTo>
                  <a:pt x="1513956" y="839292"/>
                </a:lnTo>
                <a:lnTo>
                  <a:pt x="1554042" y="826056"/>
                </a:lnTo>
                <a:lnTo>
                  <a:pt x="1587722" y="802064"/>
                </a:lnTo>
                <a:lnTo>
                  <a:pt x="1612953" y="769359"/>
                </a:lnTo>
                <a:lnTo>
                  <a:pt x="1627692" y="729985"/>
                </a:lnTo>
                <a:lnTo>
                  <a:pt x="1630680" y="701039"/>
                </a:lnTo>
                <a:lnTo>
                  <a:pt x="1630680" y="490727"/>
                </a:lnTo>
                <a:lnTo>
                  <a:pt x="1630392" y="131155"/>
                </a:lnTo>
                <a:lnTo>
                  <a:pt x="1621196" y="89388"/>
                </a:lnTo>
                <a:lnTo>
                  <a:pt x="1600562" y="53346"/>
                </a:lnTo>
                <a:lnTo>
                  <a:pt x="1570534" y="25071"/>
                </a:lnTo>
                <a:lnTo>
                  <a:pt x="1533156" y="6608"/>
                </a:lnTo>
                <a:lnTo>
                  <a:pt x="1505163" y="759"/>
                </a:lnTo>
                <a:lnTo>
                  <a:pt x="1490472" y="0"/>
                </a:lnTo>
                <a:close/>
              </a:path>
            </a:pathLst>
          </a:custGeom>
          <a:solidFill>
            <a:srgbClr val="FFFFC7"/>
          </a:solidFill>
        </p:spPr>
        <p:txBody>
          <a:bodyPr wrap="square" lIns="0" tIns="0" rIns="0" bIns="0" rtlCol="0"/>
          <a:lstStyle/>
          <a:p>
            <a:endParaRPr/>
          </a:p>
        </p:txBody>
      </p:sp>
      <p:sp>
        <p:nvSpPr>
          <p:cNvPr id="27" name="object 27"/>
          <p:cNvSpPr/>
          <p:nvPr/>
        </p:nvSpPr>
        <p:spPr>
          <a:xfrm>
            <a:off x="942594" y="2000250"/>
            <a:ext cx="1630680" cy="1097280"/>
          </a:xfrm>
          <a:custGeom>
            <a:avLst/>
            <a:gdLst/>
            <a:ahLst/>
            <a:cxnLst/>
            <a:rect l="l" t="t" r="r" b="b"/>
            <a:pathLst>
              <a:path w="1630680" h="1097280">
                <a:moveTo>
                  <a:pt x="0" y="140208"/>
                </a:moveTo>
                <a:lnTo>
                  <a:pt x="6611" y="97523"/>
                </a:lnTo>
                <a:lnTo>
                  <a:pt x="25082" y="60145"/>
                </a:lnTo>
                <a:lnTo>
                  <a:pt x="53362" y="30117"/>
                </a:lnTo>
                <a:lnTo>
                  <a:pt x="89404" y="9483"/>
                </a:lnTo>
                <a:lnTo>
                  <a:pt x="131159" y="287"/>
                </a:lnTo>
                <a:lnTo>
                  <a:pt x="271780" y="0"/>
                </a:lnTo>
                <a:lnTo>
                  <a:pt x="679450" y="0"/>
                </a:lnTo>
                <a:lnTo>
                  <a:pt x="1490472" y="0"/>
                </a:lnTo>
                <a:lnTo>
                  <a:pt x="1505163" y="759"/>
                </a:lnTo>
                <a:lnTo>
                  <a:pt x="1546306" y="11546"/>
                </a:lnTo>
                <a:lnTo>
                  <a:pt x="1581461" y="33507"/>
                </a:lnTo>
                <a:lnTo>
                  <a:pt x="1608585" y="64598"/>
                </a:lnTo>
                <a:lnTo>
                  <a:pt x="1625633" y="102775"/>
                </a:lnTo>
                <a:lnTo>
                  <a:pt x="1630680" y="490727"/>
                </a:lnTo>
                <a:lnTo>
                  <a:pt x="1630680" y="701039"/>
                </a:lnTo>
                <a:lnTo>
                  <a:pt x="1629920" y="715731"/>
                </a:lnTo>
                <a:lnTo>
                  <a:pt x="1627692" y="729985"/>
                </a:lnTo>
                <a:lnTo>
                  <a:pt x="1612953" y="769359"/>
                </a:lnTo>
                <a:lnTo>
                  <a:pt x="1587722" y="802064"/>
                </a:lnTo>
                <a:lnTo>
                  <a:pt x="1554042" y="826056"/>
                </a:lnTo>
                <a:lnTo>
                  <a:pt x="1513956" y="839292"/>
                </a:lnTo>
                <a:lnTo>
                  <a:pt x="679450" y="841248"/>
                </a:lnTo>
                <a:lnTo>
                  <a:pt x="151701" y="1096772"/>
                </a:lnTo>
                <a:lnTo>
                  <a:pt x="271780" y="841248"/>
                </a:lnTo>
                <a:lnTo>
                  <a:pt x="140208" y="841248"/>
                </a:lnTo>
                <a:lnTo>
                  <a:pt x="125522" y="840488"/>
                </a:lnTo>
                <a:lnTo>
                  <a:pt x="84389" y="829701"/>
                </a:lnTo>
                <a:lnTo>
                  <a:pt x="49233" y="807740"/>
                </a:lnTo>
                <a:lnTo>
                  <a:pt x="22104" y="776649"/>
                </a:lnTo>
                <a:lnTo>
                  <a:pt x="5049" y="738472"/>
                </a:lnTo>
                <a:lnTo>
                  <a:pt x="0" y="701039"/>
                </a:lnTo>
                <a:lnTo>
                  <a:pt x="0" y="490727"/>
                </a:lnTo>
                <a:lnTo>
                  <a:pt x="0" y="140208"/>
                </a:lnTo>
                <a:close/>
              </a:path>
            </a:pathLst>
          </a:custGeom>
          <a:ln w="28956">
            <a:solidFill>
              <a:srgbClr val="000000"/>
            </a:solidFill>
          </a:ln>
        </p:spPr>
        <p:txBody>
          <a:bodyPr wrap="square" lIns="0" tIns="0" rIns="0" bIns="0" rtlCol="0"/>
          <a:lstStyle/>
          <a:p>
            <a:endParaRPr/>
          </a:p>
        </p:txBody>
      </p:sp>
      <p:sp>
        <p:nvSpPr>
          <p:cNvPr id="29" name="object 29"/>
          <p:cNvSpPr txBox="1"/>
          <p:nvPr/>
        </p:nvSpPr>
        <p:spPr>
          <a:xfrm>
            <a:off x="6355079" y="3209544"/>
            <a:ext cx="5425440" cy="462280"/>
          </a:xfrm>
          <a:prstGeom prst="rect">
            <a:avLst/>
          </a:prstGeom>
          <a:solidFill>
            <a:srgbClr val="00AFEF"/>
          </a:solidFill>
          <a:ln w="9144">
            <a:solidFill>
              <a:srgbClr val="0066FF"/>
            </a:solidFill>
          </a:ln>
        </p:spPr>
        <p:txBody>
          <a:bodyPr vert="horz" wrap="square" lIns="0" tIns="0" rIns="0" bIns="0" rtlCol="0">
            <a:spAutoFit/>
          </a:bodyPr>
          <a:lstStyle/>
          <a:p>
            <a:pPr marL="1463675">
              <a:lnSpc>
                <a:spcPct val="100000"/>
              </a:lnSpc>
            </a:pPr>
            <a:r>
              <a:rPr sz="2400" b="1" spc="-5" dirty="0">
                <a:solidFill>
                  <a:srgbClr val="FFFFFF"/>
                </a:solidFill>
                <a:latin typeface="微软雅黑"/>
                <a:cs typeface="微软雅黑"/>
              </a:rPr>
              <a:t>计数</a:t>
            </a:r>
            <a:r>
              <a:rPr sz="2400" b="1" dirty="0">
                <a:solidFill>
                  <a:srgbClr val="FFFFFF"/>
                </a:solidFill>
                <a:latin typeface="微软雅黑"/>
                <a:cs typeface="微软雅黑"/>
              </a:rPr>
              <a:t>值</a:t>
            </a:r>
            <a:r>
              <a:rPr sz="2400" b="1" spc="-10" dirty="0">
                <a:solidFill>
                  <a:srgbClr val="FFFFFF"/>
                </a:solidFill>
                <a:latin typeface="微软雅黑"/>
                <a:cs typeface="微软雅黑"/>
              </a:rPr>
              <a:t> </a:t>
            </a:r>
            <a:r>
              <a:rPr sz="2400" b="1" dirty="0">
                <a:solidFill>
                  <a:srgbClr val="FFFFFF"/>
                </a:solidFill>
                <a:latin typeface="微软雅黑"/>
                <a:cs typeface="微软雅黑"/>
              </a:rPr>
              <a:t>= ARR</a:t>
            </a:r>
            <a:r>
              <a:rPr sz="2400" b="1" spc="-15" dirty="0">
                <a:solidFill>
                  <a:srgbClr val="FFFFFF"/>
                </a:solidFill>
                <a:latin typeface="微软雅黑"/>
                <a:cs typeface="微软雅黑"/>
              </a:rPr>
              <a:t> </a:t>
            </a:r>
            <a:r>
              <a:rPr sz="2400" b="1" spc="-5" dirty="0">
                <a:solidFill>
                  <a:srgbClr val="FFFFFF"/>
                </a:solidFill>
                <a:latin typeface="微软雅黑"/>
                <a:cs typeface="微软雅黑"/>
              </a:rPr>
              <a:t>+1</a:t>
            </a:r>
            <a:endParaRPr sz="2400">
              <a:latin typeface="微软雅黑"/>
              <a:cs typeface="微软雅黑"/>
            </a:endParaRPr>
          </a:p>
        </p:txBody>
      </p:sp>
      <p:sp>
        <p:nvSpPr>
          <p:cNvPr id="30" name="object 30"/>
          <p:cNvSpPr txBox="1"/>
          <p:nvPr/>
        </p:nvSpPr>
        <p:spPr>
          <a:xfrm>
            <a:off x="1132738" y="2094031"/>
            <a:ext cx="1250950" cy="706755"/>
          </a:xfrm>
          <a:prstGeom prst="rect">
            <a:avLst/>
          </a:prstGeom>
        </p:spPr>
        <p:txBody>
          <a:bodyPr vert="horz" wrap="square" lIns="0" tIns="0" rIns="0" bIns="0" rtlCol="0">
            <a:spAutoFit/>
          </a:bodyPr>
          <a:lstStyle/>
          <a:p>
            <a:pPr algn="ctr">
              <a:lnSpc>
                <a:spcPts val="2780"/>
              </a:lnSpc>
            </a:pPr>
            <a:r>
              <a:rPr sz="2400" b="1" spc="-5" dirty="0">
                <a:latin typeface="宋体"/>
                <a:cs typeface="宋体"/>
              </a:rPr>
              <a:t>计数时钟</a:t>
            </a:r>
            <a:endParaRPr sz="2400">
              <a:latin typeface="宋体"/>
              <a:cs typeface="宋体"/>
            </a:endParaRPr>
          </a:p>
          <a:p>
            <a:pPr algn="ctr">
              <a:lnSpc>
                <a:spcPts val="2780"/>
              </a:lnSpc>
            </a:pPr>
            <a:r>
              <a:rPr sz="2400" b="1" spc="-5" dirty="0">
                <a:latin typeface="Consolas"/>
                <a:cs typeface="Consolas"/>
              </a:rPr>
              <a:t>CK</a:t>
            </a:r>
            <a:r>
              <a:rPr sz="2400" b="1" spc="0" dirty="0">
                <a:latin typeface="Consolas"/>
                <a:cs typeface="Consolas"/>
              </a:rPr>
              <a:t>_</a:t>
            </a:r>
            <a:r>
              <a:rPr sz="2400" b="1" spc="-5" dirty="0">
                <a:latin typeface="Consolas"/>
                <a:cs typeface="Consolas"/>
              </a:rPr>
              <a:t>CNT</a:t>
            </a:r>
            <a:endParaRPr sz="2400">
              <a:latin typeface="Consolas"/>
              <a:cs typeface="Consolas"/>
            </a:endParaRPr>
          </a:p>
        </p:txBody>
      </p:sp>
      <p:sp>
        <p:nvSpPr>
          <p:cNvPr id="31" name="object 31"/>
          <p:cNvSpPr/>
          <p:nvPr/>
        </p:nvSpPr>
        <p:spPr>
          <a:xfrm>
            <a:off x="371093" y="3783203"/>
            <a:ext cx="1987550" cy="1464945"/>
          </a:xfrm>
          <a:custGeom>
            <a:avLst/>
            <a:gdLst/>
            <a:ahLst/>
            <a:cxnLst/>
            <a:rect l="l" t="t" r="r" b="b"/>
            <a:pathLst>
              <a:path w="1987550" h="1464945">
                <a:moveTo>
                  <a:pt x="1781048" y="227203"/>
                </a:moveTo>
                <a:lnTo>
                  <a:pt x="206248" y="227203"/>
                </a:lnTo>
                <a:lnTo>
                  <a:pt x="189332" y="227886"/>
                </a:lnTo>
                <a:lnTo>
                  <a:pt x="141058" y="237716"/>
                </a:lnTo>
                <a:lnTo>
                  <a:pt x="97605" y="258100"/>
                </a:lnTo>
                <a:lnTo>
                  <a:pt x="60409" y="287607"/>
                </a:lnTo>
                <a:lnTo>
                  <a:pt x="30901" y="324803"/>
                </a:lnTo>
                <a:lnTo>
                  <a:pt x="10514" y="368256"/>
                </a:lnTo>
                <a:lnTo>
                  <a:pt x="683" y="416533"/>
                </a:lnTo>
                <a:lnTo>
                  <a:pt x="0" y="433451"/>
                </a:lnTo>
                <a:lnTo>
                  <a:pt x="0" y="1258443"/>
                </a:lnTo>
                <a:lnTo>
                  <a:pt x="5994" y="1308010"/>
                </a:lnTo>
                <a:lnTo>
                  <a:pt x="23021" y="1353230"/>
                </a:lnTo>
                <a:lnTo>
                  <a:pt x="49648" y="1392671"/>
                </a:lnTo>
                <a:lnTo>
                  <a:pt x="84441" y="1424900"/>
                </a:lnTo>
                <a:lnTo>
                  <a:pt x="125967" y="1448484"/>
                </a:lnTo>
                <a:lnTo>
                  <a:pt x="172793" y="1461991"/>
                </a:lnTo>
                <a:lnTo>
                  <a:pt x="206248" y="1464691"/>
                </a:lnTo>
                <a:lnTo>
                  <a:pt x="1781048" y="1464691"/>
                </a:lnTo>
                <a:lnTo>
                  <a:pt x="1830615" y="1458697"/>
                </a:lnTo>
                <a:lnTo>
                  <a:pt x="1875835" y="1441672"/>
                </a:lnTo>
                <a:lnTo>
                  <a:pt x="1915276" y="1415047"/>
                </a:lnTo>
                <a:lnTo>
                  <a:pt x="1947505" y="1380255"/>
                </a:lnTo>
                <a:lnTo>
                  <a:pt x="1971089" y="1338728"/>
                </a:lnTo>
                <a:lnTo>
                  <a:pt x="1984596" y="1291900"/>
                </a:lnTo>
                <a:lnTo>
                  <a:pt x="1987295" y="1258443"/>
                </a:lnTo>
                <a:lnTo>
                  <a:pt x="1987295" y="433451"/>
                </a:lnTo>
                <a:lnTo>
                  <a:pt x="1981302" y="383883"/>
                </a:lnTo>
                <a:lnTo>
                  <a:pt x="1964277" y="338663"/>
                </a:lnTo>
                <a:lnTo>
                  <a:pt x="1937652" y="299222"/>
                </a:lnTo>
                <a:lnTo>
                  <a:pt x="1902860" y="266993"/>
                </a:lnTo>
                <a:lnTo>
                  <a:pt x="1861333" y="243409"/>
                </a:lnTo>
                <a:lnTo>
                  <a:pt x="1814505" y="229902"/>
                </a:lnTo>
                <a:lnTo>
                  <a:pt x="1781048" y="227203"/>
                </a:lnTo>
                <a:close/>
              </a:path>
              <a:path w="1987550" h="1464945">
                <a:moveTo>
                  <a:pt x="1762379" y="0"/>
                </a:moveTo>
                <a:lnTo>
                  <a:pt x="1159256" y="227203"/>
                </a:lnTo>
                <a:lnTo>
                  <a:pt x="1656080" y="227203"/>
                </a:lnTo>
                <a:lnTo>
                  <a:pt x="1762379" y="0"/>
                </a:lnTo>
                <a:close/>
              </a:path>
            </a:pathLst>
          </a:custGeom>
          <a:solidFill>
            <a:srgbClr val="FFFFC7"/>
          </a:solidFill>
        </p:spPr>
        <p:txBody>
          <a:bodyPr wrap="square" lIns="0" tIns="0" rIns="0" bIns="0" rtlCol="0"/>
          <a:lstStyle/>
          <a:p>
            <a:endParaRPr/>
          </a:p>
        </p:txBody>
      </p:sp>
      <p:sp>
        <p:nvSpPr>
          <p:cNvPr id="32" name="object 32"/>
          <p:cNvSpPr/>
          <p:nvPr/>
        </p:nvSpPr>
        <p:spPr>
          <a:xfrm>
            <a:off x="371093" y="3783203"/>
            <a:ext cx="1987550" cy="1464945"/>
          </a:xfrm>
          <a:custGeom>
            <a:avLst/>
            <a:gdLst/>
            <a:ahLst/>
            <a:cxnLst/>
            <a:rect l="l" t="t" r="r" b="b"/>
            <a:pathLst>
              <a:path w="1987550" h="1464945">
                <a:moveTo>
                  <a:pt x="0" y="433451"/>
                </a:moveTo>
                <a:lnTo>
                  <a:pt x="5994" y="383883"/>
                </a:lnTo>
                <a:lnTo>
                  <a:pt x="23021" y="338663"/>
                </a:lnTo>
                <a:lnTo>
                  <a:pt x="49648" y="299222"/>
                </a:lnTo>
                <a:lnTo>
                  <a:pt x="84441" y="266993"/>
                </a:lnTo>
                <a:lnTo>
                  <a:pt x="125967" y="243409"/>
                </a:lnTo>
                <a:lnTo>
                  <a:pt x="172793" y="229902"/>
                </a:lnTo>
                <a:lnTo>
                  <a:pt x="206248" y="227203"/>
                </a:lnTo>
                <a:lnTo>
                  <a:pt x="1159256" y="227203"/>
                </a:lnTo>
                <a:lnTo>
                  <a:pt x="1762379" y="0"/>
                </a:lnTo>
                <a:lnTo>
                  <a:pt x="1656080" y="227203"/>
                </a:lnTo>
                <a:lnTo>
                  <a:pt x="1781048" y="227203"/>
                </a:lnTo>
                <a:lnTo>
                  <a:pt x="1797965" y="227886"/>
                </a:lnTo>
                <a:lnTo>
                  <a:pt x="1846242" y="237716"/>
                </a:lnTo>
                <a:lnTo>
                  <a:pt x="1889695" y="258100"/>
                </a:lnTo>
                <a:lnTo>
                  <a:pt x="1926891" y="287607"/>
                </a:lnTo>
                <a:lnTo>
                  <a:pt x="1956398" y="324803"/>
                </a:lnTo>
                <a:lnTo>
                  <a:pt x="1976782" y="368256"/>
                </a:lnTo>
                <a:lnTo>
                  <a:pt x="1986612" y="416533"/>
                </a:lnTo>
                <a:lnTo>
                  <a:pt x="1987295" y="433451"/>
                </a:lnTo>
                <a:lnTo>
                  <a:pt x="1987295" y="742823"/>
                </a:lnTo>
                <a:lnTo>
                  <a:pt x="1987295" y="1258443"/>
                </a:lnTo>
                <a:lnTo>
                  <a:pt x="1986612" y="1275360"/>
                </a:lnTo>
                <a:lnTo>
                  <a:pt x="1976782" y="1323637"/>
                </a:lnTo>
                <a:lnTo>
                  <a:pt x="1956398" y="1367090"/>
                </a:lnTo>
                <a:lnTo>
                  <a:pt x="1926891" y="1404286"/>
                </a:lnTo>
                <a:lnTo>
                  <a:pt x="1889695" y="1433793"/>
                </a:lnTo>
                <a:lnTo>
                  <a:pt x="1846242" y="1454177"/>
                </a:lnTo>
                <a:lnTo>
                  <a:pt x="1797965" y="1464007"/>
                </a:lnTo>
                <a:lnTo>
                  <a:pt x="1781048" y="1464691"/>
                </a:lnTo>
                <a:lnTo>
                  <a:pt x="1656080" y="1464691"/>
                </a:lnTo>
                <a:lnTo>
                  <a:pt x="1159256" y="1464691"/>
                </a:lnTo>
                <a:lnTo>
                  <a:pt x="206248" y="1464691"/>
                </a:lnTo>
                <a:lnTo>
                  <a:pt x="189332" y="1464007"/>
                </a:lnTo>
                <a:lnTo>
                  <a:pt x="141058" y="1454177"/>
                </a:lnTo>
                <a:lnTo>
                  <a:pt x="97605" y="1433793"/>
                </a:lnTo>
                <a:lnTo>
                  <a:pt x="60409" y="1404286"/>
                </a:lnTo>
                <a:lnTo>
                  <a:pt x="30901" y="1367090"/>
                </a:lnTo>
                <a:lnTo>
                  <a:pt x="10514" y="1323637"/>
                </a:lnTo>
                <a:lnTo>
                  <a:pt x="683" y="1275360"/>
                </a:lnTo>
                <a:lnTo>
                  <a:pt x="0" y="1258443"/>
                </a:lnTo>
                <a:lnTo>
                  <a:pt x="0" y="742823"/>
                </a:lnTo>
                <a:lnTo>
                  <a:pt x="0" y="433451"/>
                </a:lnTo>
                <a:close/>
              </a:path>
            </a:pathLst>
          </a:custGeom>
          <a:ln w="28956">
            <a:solidFill>
              <a:srgbClr val="000000"/>
            </a:solidFill>
          </a:ln>
        </p:spPr>
        <p:txBody>
          <a:bodyPr wrap="square" lIns="0" tIns="0" rIns="0" bIns="0" rtlCol="0"/>
          <a:lstStyle/>
          <a:p>
            <a:endParaRPr/>
          </a:p>
        </p:txBody>
      </p:sp>
      <p:sp>
        <p:nvSpPr>
          <p:cNvPr id="33" name="object 33"/>
          <p:cNvSpPr txBox="1"/>
          <p:nvPr/>
        </p:nvSpPr>
        <p:spPr>
          <a:xfrm>
            <a:off x="432003" y="4119689"/>
            <a:ext cx="1863725"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定时器时钟，</a:t>
            </a:r>
            <a:endParaRPr sz="2400">
              <a:latin typeface="宋体"/>
              <a:cs typeface="宋体"/>
            </a:endParaRPr>
          </a:p>
        </p:txBody>
      </p:sp>
      <p:sp>
        <p:nvSpPr>
          <p:cNvPr id="34" name="object 34"/>
          <p:cNvSpPr txBox="1"/>
          <p:nvPr/>
        </p:nvSpPr>
        <p:spPr>
          <a:xfrm>
            <a:off x="464007" y="4485187"/>
            <a:ext cx="1644650" cy="711200"/>
          </a:xfrm>
          <a:prstGeom prst="rect">
            <a:avLst/>
          </a:prstGeom>
        </p:spPr>
        <p:txBody>
          <a:bodyPr vert="horz" wrap="square" lIns="0" tIns="0" rIns="0" bIns="0" rtlCol="0">
            <a:spAutoFit/>
          </a:bodyPr>
          <a:lstStyle/>
          <a:p>
            <a:pPr marL="55244">
              <a:lnSpc>
                <a:spcPts val="2795"/>
              </a:lnSpc>
            </a:pPr>
            <a:r>
              <a:rPr sz="2400" b="1" spc="-5" dirty="0">
                <a:latin typeface="宋体"/>
                <a:cs typeface="宋体"/>
              </a:rPr>
              <a:t>等于预分频</a:t>
            </a:r>
            <a:endParaRPr sz="2400">
              <a:latin typeface="宋体"/>
              <a:cs typeface="宋体"/>
            </a:endParaRPr>
          </a:p>
          <a:p>
            <a:pPr marL="12700">
              <a:lnSpc>
                <a:spcPts val="2795"/>
              </a:lnSpc>
            </a:pPr>
            <a:r>
              <a:rPr sz="2400" b="1" dirty="0">
                <a:latin typeface="宋体"/>
                <a:cs typeface="宋体"/>
              </a:rPr>
              <a:t>时钟</a:t>
            </a:r>
            <a:r>
              <a:rPr sz="2400" b="1" spc="-5" dirty="0">
                <a:latin typeface="Consolas"/>
                <a:cs typeface="Consolas"/>
              </a:rPr>
              <a:t>CK_PSC</a:t>
            </a:r>
            <a:endParaRPr sz="2400">
              <a:latin typeface="Consolas"/>
              <a:cs typeface="Consolas"/>
            </a:endParaRPr>
          </a:p>
        </p:txBody>
      </p:sp>
      <p:sp>
        <p:nvSpPr>
          <p:cNvPr id="35" name="object 35"/>
          <p:cNvSpPr/>
          <p:nvPr/>
        </p:nvSpPr>
        <p:spPr>
          <a:xfrm>
            <a:off x="4051553" y="4504182"/>
            <a:ext cx="1882139" cy="615950"/>
          </a:xfrm>
          <a:custGeom>
            <a:avLst/>
            <a:gdLst/>
            <a:ahLst/>
            <a:cxnLst/>
            <a:rect l="l" t="t" r="r" b="b"/>
            <a:pathLst>
              <a:path w="1882139" h="615950">
                <a:moveTo>
                  <a:pt x="1805178" y="0"/>
                </a:moveTo>
                <a:lnTo>
                  <a:pt x="1097915" y="0"/>
                </a:lnTo>
                <a:lnTo>
                  <a:pt x="68586" y="449"/>
                </a:lnTo>
                <a:lnTo>
                  <a:pt x="29924" y="16017"/>
                </a:lnTo>
                <a:lnTo>
                  <a:pt x="5289" y="48838"/>
                </a:lnTo>
                <a:lnTo>
                  <a:pt x="0" y="76962"/>
                </a:lnTo>
                <a:lnTo>
                  <a:pt x="0" y="384810"/>
                </a:lnTo>
                <a:lnTo>
                  <a:pt x="16017" y="431847"/>
                </a:lnTo>
                <a:lnTo>
                  <a:pt x="48838" y="456482"/>
                </a:lnTo>
                <a:lnTo>
                  <a:pt x="76962" y="461772"/>
                </a:lnTo>
                <a:lnTo>
                  <a:pt x="1097915" y="461772"/>
                </a:lnTo>
                <a:lnTo>
                  <a:pt x="1626489" y="615950"/>
                </a:lnTo>
                <a:lnTo>
                  <a:pt x="1568450" y="461772"/>
                </a:lnTo>
                <a:lnTo>
                  <a:pt x="1813553" y="461322"/>
                </a:lnTo>
                <a:lnTo>
                  <a:pt x="1827581" y="458467"/>
                </a:lnTo>
                <a:lnTo>
                  <a:pt x="1862320" y="436397"/>
                </a:lnTo>
                <a:lnTo>
                  <a:pt x="1880775" y="399329"/>
                </a:lnTo>
                <a:lnTo>
                  <a:pt x="1882140" y="384810"/>
                </a:lnTo>
                <a:lnTo>
                  <a:pt x="1882140" y="269367"/>
                </a:lnTo>
                <a:lnTo>
                  <a:pt x="1881690" y="68586"/>
                </a:lnTo>
                <a:lnTo>
                  <a:pt x="1866122" y="29924"/>
                </a:lnTo>
                <a:lnTo>
                  <a:pt x="1833301" y="5289"/>
                </a:lnTo>
                <a:lnTo>
                  <a:pt x="1819697" y="1364"/>
                </a:lnTo>
                <a:lnTo>
                  <a:pt x="1805178" y="0"/>
                </a:lnTo>
                <a:close/>
              </a:path>
            </a:pathLst>
          </a:custGeom>
          <a:solidFill>
            <a:srgbClr val="FFFFC7"/>
          </a:solidFill>
        </p:spPr>
        <p:txBody>
          <a:bodyPr wrap="square" lIns="0" tIns="0" rIns="0" bIns="0" rtlCol="0"/>
          <a:lstStyle/>
          <a:p>
            <a:endParaRPr/>
          </a:p>
        </p:txBody>
      </p:sp>
      <p:sp>
        <p:nvSpPr>
          <p:cNvPr id="36" name="object 36"/>
          <p:cNvSpPr/>
          <p:nvPr/>
        </p:nvSpPr>
        <p:spPr>
          <a:xfrm>
            <a:off x="4051553" y="4504182"/>
            <a:ext cx="1882139" cy="615950"/>
          </a:xfrm>
          <a:custGeom>
            <a:avLst/>
            <a:gdLst/>
            <a:ahLst/>
            <a:cxnLst/>
            <a:rect l="l" t="t" r="r" b="b"/>
            <a:pathLst>
              <a:path w="1882139" h="615950">
                <a:moveTo>
                  <a:pt x="0" y="76962"/>
                </a:moveTo>
                <a:lnTo>
                  <a:pt x="11524" y="36398"/>
                </a:lnTo>
                <a:lnTo>
                  <a:pt x="41587" y="8576"/>
                </a:lnTo>
                <a:lnTo>
                  <a:pt x="1097915" y="0"/>
                </a:lnTo>
                <a:lnTo>
                  <a:pt x="1568450" y="0"/>
                </a:lnTo>
                <a:lnTo>
                  <a:pt x="1805178" y="0"/>
                </a:lnTo>
                <a:lnTo>
                  <a:pt x="1819697" y="1364"/>
                </a:lnTo>
                <a:lnTo>
                  <a:pt x="1856765" y="19819"/>
                </a:lnTo>
                <a:lnTo>
                  <a:pt x="1878835" y="54558"/>
                </a:lnTo>
                <a:lnTo>
                  <a:pt x="1882140" y="269367"/>
                </a:lnTo>
                <a:lnTo>
                  <a:pt x="1882140" y="384810"/>
                </a:lnTo>
                <a:lnTo>
                  <a:pt x="1880775" y="399329"/>
                </a:lnTo>
                <a:lnTo>
                  <a:pt x="1876850" y="412933"/>
                </a:lnTo>
                <a:lnTo>
                  <a:pt x="1852215" y="445754"/>
                </a:lnTo>
                <a:lnTo>
                  <a:pt x="1813553" y="461322"/>
                </a:lnTo>
                <a:lnTo>
                  <a:pt x="1568450" y="461772"/>
                </a:lnTo>
                <a:lnTo>
                  <a:pt x="1626489" y="615950"/>
                </a:lnTo>
                <a:lnTo>
                  <a:pt x="1097915" y="461772"/>
                </a:lnTo>
                <a:lnTo>
                  <a:pt x="76962" y="461772"/>
                </a:lnTo>
                <a:lnTo>
                  <a:pt x="62442" y="460407"/>
                </a:lnTo>
                <a:lnTo>
                  <a:pt x="25374" y="441952"/>
                </a:lnTo>
                <a:lnTo>
                  <a:pt x="3304" y="407213"/>
                </a:lnTo>
                <a:lnTo>
                  <a:pt x="0" y="384810"/>
                </a:lnTo>
                <a:lnTo>
                  <a:pt x="0" y="269367"/>
                </a:lnTo>
                <a:lnTo>
                  <a:pt x="0" y="76962"/>
                </a:lnTo>
                <a:close/>
              </a:path>
            </a:pathLst>
          </a:custGeom>
          <a:ln w="28956">
            <a:solidFill>
              <a:srgbClr val="000000"/>
            </a:solidFill>
          </a:ln>
        </p:spPr>
        <p:txBody>
          <a:bodyPr wrap="square" lIns="0" tIns="0" rIns="0" bIns="0" rtlCol="0"/>
          <a:lstStyle/>
          <a:p>
            <a:endParaRPr/>
          </a:p>
        </p:txBody>
      </p:sp>
      <p:sp>
        <p:nvSpPr>
          <p:cNvPr id="37" name="object 37"/>
          <p:cNvSpPr txBox="1"/>
          <p:nvPr/>
        </p:nvSpPr>
        <p:spPr>
          <a:xfrm>
            <a:off x="4213352" y="4570158"/>
            <a:ext cx="155702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自动重载值</a:t>
            </a:r>
            <a:endParaRPr sz="2400">
              <a:latin typeface="宋体"/>
              <a:cs typeface="宋体"/>
            </a:endParaRPr>
          </a:p>
        </p:txBody>
      </p:sp>
      <p:sp>
        <p:nvSpPr>
          <p:cNvPr id="38" name="object 38"/>
          <p:cNvSpPr/>
          <p:nvPr/>
        </p:nvSpPr>
        <p:spPr>
          <a:xfrm>
            <a:off x="6355841" y="4496561"/>
            <a:ext cx="1880870" cy="681990"/>
          </a:xfrm>
          <a:custGeom>
            <a:avLst/>
            <a:gdLst/>
            <a:ahLst/>
            <a:cxnLst/>
            <a:rect l="l" t="t" r="r" b="b"/>
            <a:pathLst>
              <a:path w="1880870" h="681989">
                <a:moveTo>
                  <a:pt x="1803654" y="0"/>
                </a:moveTo>
                <a:lnTo>
                  <a:pt x="1097026" y="0"/>
                </a:lnTo>
                <a:lnTo>
                  <a:pt x="68586" y="449"/>
                </a:lnTo>
                <a:lnTo>
                  <a:pt x="29924" y="16017"/>
                </a:lnTo>
                <a:lnTo>
                  <a:pt x="5289" y="48838"/>
                </a:lnTo>
                <a:lnTo>
                  <a:pt x="0" y="76962"/>
                </a:lnTo>
                <a:lnTo>
                  <a:pt x="0" y="384810"/>
                </a:lnTo>
                <a:lnTo>
                  <a:pt x="16017" y="431847"/>
                </a:lnTo>
                <a:lnTo>
                  <a:pt x="48838" y="456482"/>
                </a:lnTo>
                <a:lnTo>
                  <a:pt x="76962" y="461771"/>
                </a:lnTo>
                <a:lnTo>
                  <a:pt x="1097026" y="461771"/>
                </a:lnTo>
                <a:lnTo>
                  <a:pt x="1012698" y="681989"/>
                </a:lnTo>
                <a:lnTo>
                  <a:pt x="1567180" y="461771"/>
                </a:lnTo>
                <a:lnTo>
                  <a:pt x="1812029" y="461322"/>
                </a:lnTo>
                <a:lnTo>
                  <a:pt x="1826057" y="458467"/>
                </a:lnTo>
                <a:lnTo>
                  <a:pt x="1860796" y="436397"/>
                </a:lnTo>
                <a:lnTo>
                  <a:pt x="1879251" y="399329"/>
                </a:lnTo>
                <a:lnTo>
                  <a:pt x="1880615" y="384810"/>
                </a:lnTo>
                <a:lnTo>
                  <a:pt x="1880615" y="269367"/>
                </a:lnTo>
                <a:lnTo>
                  <a:pt x="1880166" y="68586"/>
                </a:lnTo>
                <a:lnTo>
                  <a:pt x="1864598" y="29924"/>
                </a:lnTo>
                <a:lnTo>
                  <a:pt x="1831777" y="5289"/>
                </a:lnTo>
                <a:lnTo>
                  <a:pt x="1818173" y="1364"/>
                </a:lnTo>
                <a:lnTo>
                  <a:pt x="1803654" y="0"/>
                </a:lnTo>
                <a:close/>
              </a:path>
            </a:pathLst>
          </a:custGeom>
          <a:solidFill>
            <a:srgbClr val="FFFFC7"/>
          </a:solidFill>
        </p:spPr>
        <p:txBody>
          <a:bodyPr wrap="square" lIns="0" tIns="0" rIns="0" bIns="0" rtlCol="0"/>
          <a:lstStyle/>
          <a:p>
            <a:endParaRPr/>
          </a:p>
        </p:txBody>
      </p:sp>
      <p:sp>
        <p:nvSpPr>
          <p:cNvPr id="39" name="object 39"/>
          <p:cNvSpPr/>
          <p:nvPr/>
        </p:nvSpPr>
        <p:spPr>
          <a:xfrm>
            <a:off x="6355841" y="4496561"/>
            <a:ext cx="1880870" cy="681990"/>
          </a:xfrm>
          <a:custGeom>
            <a:avLst/>
            <a:gdLst/>
            <a:ahLst/>
            <a:cxnLst/>
            <a:rect l="l" t="t" r="r" b="b"/>
            <a:pathLst>
              <a:path w="1880870" h="681989">
                <a:moveTo>
                  <a:pt x="0" y="76962"/>
                </a:moveTo>
                <a:lnTo>
                  <a:pt x="11524" y="36398"/>
                </a:lnTo>
                <a:lnTo>
                  <a:pt x="41587" y="8576"/>
                </a:lnTo>
                <a:lnTo>
                  <a:pt x="1097026" y="0"/>
                </a:lnTo>
                <a:lnTo>
                  <a:pt x="1567180" y="0"/>
                </a:lnTo>
                <a:lnTo>
                  <a:pt x="1803654" y="0"/>
                </a:lnTo>
                <a:lnTo>
                  <a:pt x="1818173" y="1364"/>
                </a:lnTo>
                <a:lnTo>
                  <a:pt x="1855241" y="19819"/>
                </a:lnTo>
                <a:lnTo>
                  <a:pt x="1877311" y="54558"/>
                </a:lnTo>
                <a:lnTo>
                  <a:pt x="1880615" y="269367"/>
                </a:lnTo>
                <a:lnTo>
                  <a:pt x="1880615" y="384810"/>
                </a:lnTo>
                <a:lnTo>
                  <a:pt x="1879251" y="399329"/>
                </a:lnTo>
                <a:lnTo>
                  <a:pt x="1875326" y="412933"/>
                </a:lnTo>
                <a:lnTo>
                  <a:pt x="1850691" y="445754"/>
                </a:lnTo>
                <a:lnTo>
                  <a:pt x="1812029" y="461322"/>
                </a:lnTo>
                <a:lnTo>
                  <a:pt x="1567180" y="461771"/>
                </a:lnTo>
                <a:lnTo>
                  <a:pt x="1012698" y="681989"/>
                </a:lnTo>
                <a:lnTo>
                  <a:pt x="1097026" y="461771"/>
                </a:lnTo>
                <a:lnTo>
                  <a:pt x="76962" y="461771"/>
                </a:lnTo>
                <a:lnTo>
                  <a:pt x="62442" y="460407"/>
                </a:lnTo>
                <a:lnTo>
                  <a:pt x="25374" y="441952"/>
                </a:lnTo>
                <a:lnTo>
                  <a:pt x="3304" y="407213"/>
                </a:lnTo>
                <a:lnTo>
                  <a:pt x="0" y="384810"/>
                </a:lnTo>
                <a:lnTo>
                  <a:pt x="0" y="269367"/>
                </a:lnTo>
                <a:lnTo>
                  <a:pt x="0" y="76962"/>
                </a:lnTo>
                <a:close/>
              </a:path>
            </a:pathLst>
          </a:custGeom>
          <a:ln w="28956">
            <a:solidFill>
              <a:srgbClr val="000000"/>
            </a:solidFill>
          </a:ln>
        </p:spPr>
        <p:txBody>
          <a:bodyPr wrap="square" lIns="0" tIns="0" rIns="0" bIns="0" rtlCol="0"/>
          <a:lstStyle/>
          <a:p>
            <a:endParaRPr/>
          </a:p>
        </p:txBody>
      </p:sp>
      <p:sp>
        <p:nvSpPr>
          <p:cNvPr id="40" name="object 40"/>
          <p:cNvSpPr txBox="1"/>
          <p:nvPr/>
        </p:nvSpPr>
        <p:spPr>
          <a:xfrm>
            <a:off x="6516751" y="4563427"/>
            <a:ext cx="155702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预分频系数</a:t>
            </a:r>
            <a:endParaRPr sz="2400">
              <a:latin typeface="宋体"/>
              <a:cs typeface="宋体"/>
            </a:endParaRPr>
          </a:p>
        </p:txBody>
      </p:sp>
      <p:sp>
        <p:nvSpPr>
          <p:cNvPr id="41" name="object 41"/>
          <p:cNvSpPr/>
          <p:nvPr/>
        </p:nvSpPr>
        <p:spPr>
          <a:xfrm>
            <a:off x="3406902" y="5971285"/>
            <a:ext cx="2183130" cy="477520"/>
          </a:xfrm>
          <a:custGeom>
            <a:avLst/>
            <a:gdLst/>
            <a:ahLst/>
            <a:cxnLst/>
            <a:rect l="l" t="t" r="r" b="b"/>
            <a:pathLst>
              <a:path w="2183129" h="477520">
                <a:moveTo>
                  <a:pt x="1805177" y="15747"/>
                </a:moveTo>
                <a:lnTo>
                  <a:pt x="1097914" y="15747"/>
                </a:lnTo>
                <a:lnTo>
                  <a:pt x="68586" y="16197"/>
                </a:lnTo>
                <a:lnTo>
                  <a:pt x="29924" y="31777"/>
                </a:lnTo>
                <a:lnTo>
                  <a:pt x="5289" y="64601"/>
                </a:lnTo>
                <a:lnTo>
                  <a:pt x="0" y="92709"/>
                </a:lnTo>
                <a:lnTo>
                  <a:pt x="0" y="208152"/>
                </a:lnTo>
                <a:lnTo>
                  <a:pt x="449" y="408926"/>
                </a:lnTo>
                <a:lnTo>
                  <a:pt x="16017" y="447579"/>
                </a:lnTo>
                <a:lnTo>
                  <a:pt x="48838" y="472226"/>
                </a:lnTo>
                <a:lnTo>
                  <a:pt x="76962" y="477519"/>
                </a:lnTo>
                <a:lnTo>
                  <a:pt x="1568450" y="477519"/>
                </a:lnTo>
                <a:lnTo>
                  <a:pt x="1813553" y="477070"/>
                </a:lnTo>
                <a:lnTo>
                  <a:pt x="1852215" y="461490"/>
                </a:lnTo>
                <a:lnTo>
                  <a:pt x="1876850" y="428666"/>
                </a:lnTo>
                <a:lnTo>
                  <a:pt x="1882139" y="400557"/>
                </a:lnTo>
                <a:lnTo>
                  <a:pt x="1882139" y="208152"/>
                </a:lnTo>
                <a:lnTo>
                  <a:pt x="2048859" y="92709"/>
                </a:lnTo>
                <a:lnTo>
                  <a:pt x="1882139" y="92709"/>
                </a:lnTo>
                <a:lnTo>
                  <a:pt x="1881690" y="84341"/>
                </a:lnTo>
                <a:lnTo>
                  <a:pt x="1878835" y="70320"/>
                </a:lnTo>
                <a:lnTo>
                  <a:pt x="1856765" y="35580"/>
                </a:lnTo>
                <a:lnTo>
                  <a:pt x="1819697" y="17113"/>
                </a:lnTo>
                <a:lnTo>
                  <a:pt x="1805177" y="15747"/>
                </a:lnTo>
                <a:close/>
              </a:path>
              <a:path w="2183129" h="477520">
                <a:moveTo>
                  <a:pt x="2182749" y="0"/>
                </a:moveTo>
                <a:lnTo>
                  <a:pt x="1882139" y="92709"/>
                </a:lnTo>
                <a:lnTo>
                  <a:pt x="2048859" y="92709"/>
                </a:lnTo>
                <a:lnTo>
                  <a:pt x="2182749" y="0"/>
                </a:lnTo>
                <a:close/>
              </a:path>
            </a:pathLst>
          </a:custGeom>
          <a:solidFill>
            <a:srgbClr val="FFFFC7"/>
          </a:solidFill>
        </p:spPr>
        <p:txBody>
          <a:bodyPr wrap="square" lIns="0" tIns="0" rIns="0" bIns="0" rtlCol="0"/>
          <a:lstStyle/>
          <a:p>
            <a:endParaRPr/>
          </a:p>
        </p:txBody>
      </p:sp>
      <p:sp>
        <p:nvSpPr>
          <p:cNvPr id="42" name="object 42"/>
          <p:cNvSpPr/>
          <p:nvPr/>
        </p:nvSpPr>
        <p:spPr>
          <a:xfrm>
            <a:off x="3406902" y="5971285"/>
            <a:ext cx="2183130" cy="477520"/>
          </a:xfrm>
          <a:custGeom>
            <a:avLst/>
            <a:gdLst/>
            <a:ahLst/>
            <a:cxnLst/>
            <a:rect l="l" t="t" r="r" b="b"/>
            <a:pathLst>
              <a:path w="2183129" h="477520">
                <a:moveTo>
                  <a:pt x="0" y="92709"/>
                </a:moveTo>
                <a:lnTo>
                  <a:pt x="11524" y="52163"/>
                </a:lnTo>
                <a:lnTo>
                  <a:pt x="41587" y="24332"/>
                </a:lnTo>
                <a:lnTo>
                  <a:pt x="1097914" y="15747"/>
                </a:lnTo>
                <a:lnTo>
                  <a:pt x="1568450" y="15747"/>
                </a:lnTo>
                <a:lnTo>
                  <a:pt x="1805177" y="15747"/>
                </a:lnTo>
                <a:lnTo>
                  <a:pt x="1819697" y="17113"/>
                </a:lnTo>
                <a:lnTo>
                  <a:pt x="1856765" y="35580"/>
                </a:lnTo>
                <a:lnTo>
                  <a:pt x="1878835" y="70320"/>
                </a:lnTo>
                <a:lnTo>
                  <a:pt x="1882139" y="92709"/>
                </a:lnTo>
                <a:lnTo>
                  <a:pt x="2182749" y="0"/>
                </a:lnTo>
                <a:lnTo>
                  <a:pt x="1882139" y="208152"/>
                </a:lnTo>
                <a:lnTo>
                  <a:pt x="1882139" y="400557"/>
                </a:lnTo>
                <a:lnTo>
                  <a:pt x="1880775" y="415066"/>
                </a:lnTo>
                <a:lnTo>
                  <a:pt x="1862320" y="452129"/>
                </a:lnTo>
                <a:lnTo>
                  <a:pt x="1827581" y="474212"/>
                </a:lnTo>
                <a:lnTo>
                  <a:pt x="1568450" y="477519"/>
                </a:lnTo>
                <a:lnTo>
                  <a:pt x="1097914" y="477519"/>
                </a:lnTo>
                <a:lnTo>
                  <a:pt x="76962" y="477519"/>
                </a:lnTo>
                <a:lnTo>
                  <a:pt x="62442" y="476154"/>
                </a:lnTo>
                <a:lnTo>
                  <a:pt x="25374" y="457687"/>
                </a:lnTo>
                <a:lnTo>
                  <a:pt x="3304" y="422947"/>
                </a:lnTo>
                <a:lnTo>
                  <a:pt x="0" y="208152"/>
                </a:lnTo>
                <a:lnTo>
                  <a:pt x="0" y="92709"/>
                </a:lnTo>
                <a:close/>
              </a:path>
            </a:pathLst>
          </a:custGeom>
          <a:ln w="28956">
            <a:solidFill>
              <a:srgbClr val="000000"/>
            </a:solidFill>
          </a:ln>
        </p:spPr>
        <p:txBody>
          <a:bodyPr wrap="square" lIns="0" tIns="0" rIns="0" bIns="0" rtlCol="0"/>
          <a:lstStyle/>
          <a:p>
            <a:endParaRPr/>
          </a:p>
        </p:txBody>
      </p:sp>
      <p:sp>
        <p:nvSpPr>
          <p:cNvPr id="43" name="object 43"/>
          <p:cNvSpPr txBox="1"/>
          <p:nvPr/>
        </p:nvSpPr>
        <p:spPr>
          <a:xfrm>
            <a:off x="3567810" y="6053315"/>
            <a:ext cx="155702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定时器时钟</a:t>
            </a:r>
            <a:endParaRPr sz="2400" dirty="0">
              <a:latin typeface="宋体"/>
              <a:cs typeface="宋体"/>
            </a:endParaRPr>
          </a:p>
        </p:txBody>
      </p:sp>
      <p:sp>
        <p:nvSpPr>
          <p:cNvPr id="44" name="object 44"/>
          <p:cNvSpPr txBox="1">
            <a:spLocks noGrp="1"/>
          </p:cNvSpPr>
          <p:nvPr>
            <p:ph type="title"/>
          </p:nvPr>
        </p:nvSpPr>
        <p:spPr>
          <a:prstGeom prst="rect">
            <a:avLst/>
          </a:prstGeom>
        </p:spPr>
        <p:txBody>
          <a:bodyPr vert="horz" wrap="square" lIns="0" tIns="0" rIns="0" bIns="0" rtlCol="0">
            <a:spAutoFit/>
          </a:bodyPr>
          <a:lstStyle/>
          <a:p>
            <a:pPr marL="4239260">
              <a:lnSpc>
                <a:spcPct val="100000"/>
              </a:lnSpc>
            </a:pPr>
            <a:r>
              <a:rPr spc="-5" dirty="0"/>
              <a:t>定时器的定时时间公式</a:t>
            </a:r>
          </a:p>
        </p:txBody>
      </p:sp>
      <p:sp>
        <p:nvSpPr>
          <p:cNvPr id="45" name="object 45"/>
          <p:cNvSpPr/>
          <p:nvPr/>
        </p:nvSpPr>
        <p:spPr>
          <a:xfrm>
            <a:off x="7018781" y="5662421"/>
            <a:ext cx="779145" cy="462280"/>
          </a:xfrm>
          <a:custGeom>
            <a:avLst/>
            <a:gdLst/>
            <a:ahLst/>
            <a:cxnLst/>
            <a:rect l="l" t="t" r="r" b="b"/>
            <a:pathLst>
              <a:path w="779145" h="462279">
                <a:moveTo>
                  <a:pt x="0" y="461771"/>
                </a:moveTo>
                <a:lnTo>
                  <a:pt x="778764" y="461771"/>
                </a:lnTo>
                <a:lnTo>
                  <a:pt x="778764" y="0"/>
                </a:lnTo>
                <a:lnTo>
                  <a:pt x="0" y="0"/>
                </a:lnTo>
                <a:lnTo>
                  <a:pt x="0" y="461771"/>
                </a:lnTo>
                <a:close/>
              </a:path>
            </a:pathLst>
          </a:custGeom>
          <a:ln w="38099">
            <a:solidFill>
              <a:srgbClr val="FF0000"/>
            </a:solidFill>
          </a:ln>
        </p:spPr>
        <p:txBody>
          <a:bodyPr wrap="square" lIns="0" tIns="0" rIns="0" bIns="0" rtlCol="0"/>
          <a:lstStyle/>
          <a:p>
            <a:endParaRPr/>
          </a:p>
        </p:txBody>
      </p:sp>
      <p:graphicFrame>
        <p:nvGraphicFramePr>
          <p:cNvPr id="28" name="object 28"/>
          <p:cNvGraphicFramePr>
            <a:graphicFrameLocks noGrp="1"/>
          </p:cNvGraphicFramePr>
          <p:nvPr/>
        </p:nvGraphicFramePr>
        <p:xfrm>
          <a:off x="306324" y="3102864"/>
          <a:ext cx="5577075" cy="1193292"/>
        </p:xfrm>
        <a:graphic>
          <a:graphicData uri="http://schemas.openxmlformats.org/drawingml/2006/table">
            <a:tbl>
              <a:tblPr firstRow="1" bandRow="1">
                <a:tableStyleId>{2D5ABB26-0587-4C30-8999-92F81FD0307C}</a:tableStyleId>
              </a:tblPr>
              <a:tblGrid>
                <a:gridCol w="150113">
                  <a:extLst>
                    <a:ext uri="{9D8B030D-6E8A-4147-A177-3AD203B41FA5}">
                      <a16:colId xmlns:a16="http://schemas.microsoft.com/office/drawing/2014/main" val="20000"/>
                    </a:ext>
                  </a:extLst>
                </a:gridCol>
                <a:gridCol w="1393698">
                  <a:extLst>
                    <a:ext uri="{9D8B030D-6E8A-4147-A177-3AD203B41FA5}">
                      <a16:colId xmlns:a16="http://schemas.microsoft.com/office/drawing/2014/main" val="20001"/>
                    </a:ext>
                  </a:extLst>
                </a:gridCol>
                <a:gridCol w="291083">
                  <a:extLst>
                    <a:ext uri="{9D8B030D-6E8A-4147-A177-3AD203B41FA5}">
                      <a16:colId xmlns:a16="http://schemas.microsoft.com/office/drawing/2014/main" val="20002"/>
                    </a:ext>
                  </a:extLst>
                </a:gridCol>
                <a:gridCol w="1469135">
                  <a:extLst>
                    <a:ext uri="{9D8B030D-6E8A-4147-A177-3AD203B41FA5}">
                      <a16:colId xmlns:a16="http://schemas.microsoft.com/office/drawing/2014/main" val="20003"/>
                    </a:ext>
                  </a:extLst>
                </a:gridCol>
                <a:gridCol w="2273046">
                  <a:extLst>
                    <a:ext uri="{9D8B030D-6E8A-4147-A177-3AD203B41FA5}">
                      <a16:colId xmlns:a16="http://schemas.microsoft.com/office/drawing/2014/main" val="20004"/>
                    </a:ext>
                  </a:extLst>
                </a:gridCol>
              </a:tblGrid>
              <a:tr h="86867">
                <a:tc rowSpan="2">
                  <a:txBody>
                    <a:bodyPr/>
                    <a:lstStyle/>
                    <a:p>
                      <a:endParaRPr sz="2400">
                        <a:latin typeface="微软雅黑"/>
                        <a:cs typeface="微软雅黑"/>
                      </a:endParaRPr>
                    </a:p>
                  </a:txBody>
                  <a:tcPr marL="0" marR="0" marT="0" marB="0">
                    <a:lnL w="38100">
                      <a:solidFill>
                        <a:srgbClr val="FF0000"/>
                      </a:solidFill>
                      <a:prstDash val="solid"/>
                    </a:lnL>
                    <a:lnR w="9144">
                      <a:solidFill>
                        <a:srgbClr val="0066FF"/>
                      </a:solidFill>
                      <a:prstDash val="solid"/>
                    </a:lnR>
                    <a:lnT w="38100">
                      <a:solidFill>
                        <a:srgbClr val="FF0000"/>
                      </a:solidFill>
                      <a:prstDash val="solid"/>
                    </a:lnT>
                  </a:tcPr>
                </a:tc>
                <a:tc>
                  <a:txBody>
                    <a:bodyPr/>
                    <a:lstStyle/>
                    <a:p>
                      <a:endParaRPr sz="2400">
                        <a:latin typeface="微软雅黑"/>
                        <a:cs typeface="微软雅黑"/>
                      </a:endParaRPr>
                    </a:p>
                  </a:txBody>
                  <a:tcPr marL="0" marR="0" marT="0" marB="0">
                    <a:lnL w="9144" cap="flat" cmpd="sng" algn="ctr">
                      <a:solidFill>
                        <a:srgbClr val="0066FF"/>
                      </a:solidFill>
                      <a:prstDash val="solid"/>
                      <a:round/>
                      <a:headEnd type="none" w="med" len="med"/>
                      <a:tailEnd type="none" w="med" len="med"/>
                    </a:lnL>
                    <a:lnR w="38100">
                      <a:solidFill>
                        <a:srgbClr val="FF0000"/>
                      </a:solidFill>
                      <a:prstDash val="solid"/>
                    </a:lnR>
                    <a:lnT w="38100">
                      <a:solidFill>
                        <a:srgbClr val="FF0000"/>
                      </a:solidFill>
                      <a:prstDash val="solid"/>
                    </a:lnT>
                    <a:lnB w="9144">
                      <a:solidFill>
                        <a:srgbClr val="0066FF"/>
                      </a:solidFill>
                      <a:prstDash val="solid"/>
                    </a:lnB>
                  </a:tcPr>
                </a:tc>
                <a:tc>
                  <a:txBody>
                    <a:bodyPr/>
                    <a:lstStyle/>
                    <a:p>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B w="9144">
                      <a:solidFill>
                        <a:srgbClr val="0066FF"/>
                      </a:solidFill>
                      <a:prstDash val="solid"/>
                    </a:lnB>
                  </a:tcPr>
                </a:tc>
                <a:tc>
                  <a:txBody>
                    <a:bodyPr/>
                    <a:lstStyle/>
                    <a:p>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T w="38100">
                      <a:solidFill>
                        <a:srgbClr val="FF0000"/>
                      </a:solidFill>
                      <a:prstDash val="solid"/>
                    </a:lnT>
                    <a:lnB w="9144">
                      <a:solidFill>
                        <a:srgbClr val="0066FF"/>
                      </a:solidFill>
                      <a:prstDash val="solid"/>
                    </a:lnB>
                  </a:tcPr>
                </a:tc>
                <a:tc>
                  <a:txBody>
                    <a:bodyPr/>
                    <a:lstStyle/>
                    <a:p>
                      <a:endParaRPr sz="2400">
                        <a:latin typeface="微软雅黑"/>
                        <a:cs typeface="微软雅黑"/>
                      </a:endParaRPr>
                    </a:p>
                  </a:txBody>
                  <a:tcPr marL="0" marR="0" marT="0" marB="0">
                    <a:lnL w="38100">
                      <a:solidFill>
                        <a:srgbClr val="FF0000"/>
                      </a:solidFill>
                      <a:prstDash val="solid"/>
                    </a:lnL>
                    <a:lnB w="9144">
                      <a:solidFill>
                        <a:srgbClr val="0066FF"/>
                      </a:solidFill>
                      <a:prstDash val="solid"/>
                    </a:lnB>
                  </a:tcPr>
                </a:tc>
                <a:extLst>
                  <a:ext uri="{0D108BD9-81ED-4DB2-BD59-A6C34878D82A}">
                    <a16:rowId xmlns:a16="http://schemas.microsoft.com/office/drawing/2014/main" val="10000"/>
                  </a:ext>
                </a:extLst>
              </a:tr>
              <a:tr h="461772">
                <a:tc vMerge="1">
                  <a:txBody>
                    <a:bodyPr/>
                    <a:lstStyle/>
                    <a:p>
                      <a:endParaRPr/>
                    </a:p>
                  </a:txBody>
                  <a:tcPr marL="0" marR="0" marT="0" marB="0">
                    <a:lnL w="38100">
                      <a:solidFill>
                        <a:srgbClr val="FF0000"/>
                      </a:solidFill>
                      <a:prstDash val="solid"/>
                    </a:lnL>
                    <a:lnR w="9144">
                      <a:solidFill>
                        <a:srgbClr val="0066FF"/>
                      </a:solidFill>
                      <a:prstDash val="solid"/>
                    </a:lnR>
                    <a:lnT w="38100">
                      <a:solidFill>
                        <a:srgbClr val="FF0000"/>
                      </a:solidFill>
                      <a:prstDash val="solid"/>
                    </a:lnT>
                  </a:tcPr>
                </a:tc>
                <a:tc>
                  <a:txBody>
                    <a:bodyPr/>
                    <a:lstStyle/>
                    <a:p>
                      <a:pPr marL="124460">
                        <a:lnSpc>
                          <a:spcPct val="100000"/>
                        </a:lnSpc>
                      </a:pPr>
                      <a:r>
                        <a:rPr sz="2400" b="1" dirty="0">
                          <a:solidFill>
                            <a:srgbClr val="FFFFFF"/>
                          </a:solidFill>
                          <a:latin typeface="微软雅黑"/>
                          <a:cs typeface="微软雅黑"/>
                        </a:rPr>
                        <a:t>时钟频率</a:t>
                      </a:r>
                      <a:endParaRPr sz="2400">
                        <a:latin typeface="微软雅黑"/>
                        <a:cs typeface="微软雅黑"/>
                      </a:endParaRPr>
                    </a:p>
                  </a:txBody>
                  <a:tcPr marL="0" marR="0" marT="0" marB="0">
                    <a:lnL w="9144">
                      <a:solidFill>
                        <a:srgbClr val="0066FF"/>
                      </a:solidFill>
                      <a:prstDash val="solid"/>
                    </a:lnL>
                    <a:lnR w="38100">
                      <a:solidFill>
                        <a:srgbClr val="FF0000"/>
                      </a:solidFill>
                      <a:prstDash val="solid"/>
                    </a:lnR>
                    <a:lnT w="9144">
                      <a:solidFill>
                        <a:srgbClr val="0066FF"/>
                      </a:solidFill>
                      <a:prstDash val="solid"/>
                    </a:lnT>
                    <a:lnB w="9144">
                      <a:solidFill>
                        <a:srgbClr val="0066FF"/>
                      </a:solidFill>
                      <a:prstDash val="solid"/>
                    </a:lnB>
                    <a:solidFill>
                      <a:srgbClr val="00AFEF"/>
                    </a:solidFill>
                  </a:tcPr>
                </a:tc>
                <a:tc>
                  <a:txBody>
                    <a:bodyPr/>
                    <a:lstStyle/>
                    <a:p>
                      <a:pPr marL="25400">
                        <a:lnSpc>
                          <a:spcPct val="100000"/>
                        </a:lnSpc>
                      </a:pPr>
                      <a:r>
                        <a:rPr sz="2400" b="1" dirty="0">
                          <a:solidFill>
                            <a:srgbClr val="FFFFFF"/>
                          </a:solidFill>
                          <a:latin typeface="微软雅黑"/>
                          <a:cs typeface="微软雅黑"/>
                        </a:rPr>
                        <a:t>=</a:t>
                      </a:r>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T w="9144">
                      <a:solidFill>
                        <a:srgbClr val="0066FF"/>
                      </a:solidFill>
                      <a:prstDash val="solid"/>
                    </a:lnT>
                    <a:lnB w="9144">
                      <a:solidFill>
                        <a:srgbClr val="0066FF"/>
                      </a:solidFill>
                      <a:prstDash val="solid"/>
                    </a:lnB>
                    <a:solidFill>
                      <a:srgbClr val="00AFEF"/>
                    </a:solidFill>
                  </a:tcPr>
                </a:tc>
                <a:tc>
                  <a:txBody>
                    <a:bodyPr/>
                    <a:lstStyle/>
                    <a:p>
                      <a:pPr marL="57150">
                        <a:lnSpc>
                          <a:spcPct val="100000"/>
                        </a:lnSpc>
                      </a:pPr>
                      <a:r>
                        <a:rPr sz="2400" b="1" spc="-5" dirty="0">
                          <a:solidFill>
                            <a:srgbClr val="FFFFFF"/>
                          </a:solidFill>
                          <a:latin typeface="微软雅黑"/>
                          <a:cs typeface="微软雅黑"/>
                        </a:rPr>
                        <a:t>T</a:t>
                      </a:r>
                      <a:r>
                        <a:rPr sz="2400" b="1" spc="-15" dirty="0">
                          <a:solidFill>
                            <a:srgbClr val="FFFFFF"/>
                          </a:solidFill>
                          <a:latin typeface="微软雅黑"/>
                          <a:cs typeface="微软雅黑"/>
                        </a:rPr>
                        <a:t>I</a:t>
                      </a:r>
                      <a:r>
                        <a:rPr sz="2400" b="1" spc="-5" dirty="0">
                          <a:solidFill>
                            <a:srgbClr val="FFFFFF"/>
                          </a:solidFill>
                          <a:latin typeface="微软雅黑"/>
                          <a:cs typeface="微软雅黑"/>
                        </a:rPr>
                        <a:t>M_CLK</a:t>
                      </a:r>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T w="9144">
                      <a:solidFill>
                        <a:srgbClr val="0066FF"/>
                      </a:solidFill>
                      <a:prstDash val="solid"/>
                    </a:lnT>
                    <a:lnB w="9144">
                      <a:solidFill>
                        <a:srgbClr val="0066FF"/>
                      </a:solidFill>
                      <a:prstDash val="solid"/>
                    </a:lnB>
                    <a:solidFill>
                      <a:srgbClr val="00AFEF"/>
                    </a:solidFill>
                  </a:tcPr>
                </a:tc>
                <a:tc>
                  <a:txBody>
                    <a:bodyPr/>
                    <a:lstStyle/>
                    <a:p>
                      <a:pPr marL="3175">
                        <a:lnSpc>
                          <a:spcPct val="100000"/>
                        </a:lnSpc>
                      </a:pPr>
                      <a:r>
                        <a:rPr sz="2400" b="1" dirty="0">
                          <a:solidFill>
                            <a:srgbClr val="FFFFFF"/>
                          </a:solidFill>
                          <a:latin typeface="微软雅黑"/>
                          <a:cs typeface="微软雅黑"/>
                        </a:rPr>
                        <a:t>/</a:t>
                      </a:r>
                      <a:r>
                        <a:rPr sz="2400" b="1" spc="5" dirty="0">
                          <a:solidFill>
                            <a:srgbClr val="FFFFFF"/>
                          </a:solidFill>
                          <a:latin typeface="微软雅黑"/>
                          <a:cs typeface="微软雅黑"/>
                        </a:rPr>
                        <a:t> </a:t>
                      </a:r>
                      <a:r>
                        <a:rPr sz="2400" b="1" dirty="0">
                          <a:solidFill>
                            <a:srgbClr val="FFFFFF"/>
                          </a:solidFill>
                          <a:latin typeface="微软雅黑"/>
                          <a:cs typeface="微软雅黑"/>
                        </a:rPr>
                        <a:t>（</a:t>
                      </a:r>
                      <a:r>
                        <a:rPr sz="2400" b="1" spc="-10" dirty="0">
                          <a:solidFill>
                            <a:srgbClr val="FFFFFF"/>
                          </a:solidFill>
                          <a:latin typeface="微软雅黑"/>
                          <a:cs typeface="微软雅黑"/>
                        </a:rPr>
                        <a:t> </a:t>
                      </a:r>
                      <a:r>
                        <a:rPr sz="2400" b="1" spc="-5" dirty="0">
                          <a:solidFill>
                            <a:srgbClr val="FFFFFF"/>
                          </a:solidFill>
                          <a:latin typeface="微软雅黑"/>
                          <a:cs typeface="微软雅黑"/>
                        </a:rPr>
                        <a:t>P</a:t>
                      </a:r>
                      <a:r>
                        <a:rPr sz="2400" b="1" spc="-10" dirty="0">
                          <a:solidFill>
                            <a:srgbClr val="FFFFFF"/>
                          </a:solidFill>
                          <a:latin typeface="微软雅黑"/>
                          <a:cs typeface="微软雅黑"/>
                        </a:rPr>
                        <a:t>S</a:t>
                      </a:r>
                      <a:r>
                        <a:rPr sz="2400" b="1" dirty="0">
                          <a:solidFill>
                            <a:srgbClr val="FFFFFF"/>
                          </a:solidFill>
                          <a:latin typeface="微软雅黑"/>
                          <a:cs typeface="微软雅黑"/>
                        </a:rPr>
                        <a:t>C</a:t>
                      </a:r>
                      <a:r>
                        <a:rPr sz="2400" b="1" spc="5" dirty="0">
                          <a:solidFill>
                            <a:srgbClr val="FFFFFF"/>
                          </a:solidFill>
                          <a:latin typeface="微软雅黑"/>
                          <a:cs typeface="微软雅黑"/>
                        </a:rPr>
                        <a:t> </a:t>
                      </a:r>
                      <a:r>
                        <a:rPr sz="2400" b="1" dirty="0">
                          <a:solidFill>
                            <a:srgbClr val="FFFFFF"/>
                          </a:solidFill>
                          <a:latin typeface="微软雅黑"/>
                          <a:cs typeface="微软雅黑"/>
                        </a:rPr>
                        <a:t>+</a:t>
                      </a:r>
                      <a:r>
                        <a:rPr sz="2400" b="1" spc="-5" dirty="0">
                          <a:solidFill>
                            <a:srgbClr val="FFFFFF"/>
                          </a:solidFill>
                          <a:latin typeface="微软雅黑"/>
                          <a:cs typeface="微软雅黑"/>
                        </a:rPr>
                        <a:t> </a:t>
                      </a:r>
                      <a:r>
                        <a:rPr sz="2400" b="1" dirty="0">
                          <a:solidFill>
                            <a:srgbClr val="FFFFFF"/>
                          </a:solidFill>
                          <a:latin typeface="微软雅黑"/>
                          <a:cs typeface="微软雅黑"/>
                        </a:rPr>
                        <a:t>1</a:t>
                      </a:r>
                      <a:r>
                        <a:rPr sz="2400" b="1" spc="-5" dirty="0">
                          <a:solidFill>
                            <a:srgbClr val="FFFFFF"/>
                          </a:solidFill>
                          <a:latin typeface="微软雅黑"/>
                          <a:cs typeface="微软雅黑"/>
                        </a:rPr>
                        <a:t> </a:t>
                      </a:r>
                      <a:r>
                        <a:rPr sz="2400" b="1" dirty="0">
                          <a:solidFill>
                            <a:srgbClr val="FFFFFF"/>
                          </a:solidFill>
                          <a:latin typeface="微软雅黑"/>
                          <a:cs typeface="微软雅黑"/>
                        </a:rPr>
                        <a:t>）</a:t>
                      </a:r>
                      <a:endParaRPr sz="2400">
                        <a:latin typeface="微软雅黑"/>
                        <a:cs typeface="微软雅黑"/>
                      </a:endParaRPr>
                    </a:p>
                  </a:txBody>
                  <a:tcPr marL="0" marR="0" marT="0" marB="0">
                    <a:lnL w="38100">
                      <a:solidFill>
                        <a:srgbClr val="FF0000"/>
                      </a:solidFill>
                      <a:prstDash val="solid"/>
                    </a:lnL>
                    <a:lnR w="9144">
                      <a:solidFill>
                        <a:srgbClr val="0066FF"/>
                      </a:solidFill>
                      <a:prstDash val="solid"/>
                    </a:lnR>
                    <a:lnT w="9144">
                      <a:solidFill>
                        <a:srgbClr val="0066FF"/>
                      </a:solidFill>
                      <a:prstDash val="solid"/>
                    </a:lnT>
                    <a:lnB w="9144">
                      <a:solidFill>
                        <a:srgbClr val="0066FF"/>
                      </a:solidFill>
                      <a:prstDash val="solid"/>
                    </a:lnB>
                    <a:solidFill>
                      <a:srgbClr val="00AFEF"/>
                    </a:solidFill>
                  </a:tcPr>
                </a:tc>
                <a:extLst>
                  <a:ext uri="{0D108BD9-81ED-4DB2-BD59-A6C34878D82A}">
                    <a16:rowId xmlns:a16="http://schemas.microsoft.com/office/drawing/2014/main" val="10001"/>
                  </a:ext>
                </a:extLst>
              </a:tr>
              <a:tr h="106680">
                <a:tc gridSpan="2">
                  <a:txBody>
                    <a:bodyPr/>
                    <a:lstStyle/>
                    <a:p>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B w="38100">
                      <a:solidFill>
                        <a:srgbClr val="FF0000"/>
                      </a:solidFill>
                      <a:prstDash val="solid"/>
                    </a:lnB>
                  </a:tcPr>
                </a:tc>
                <a:tc hMerge="1">
                  <a:txBody>
                    <a:bodyPr/>
                    <a:lstStyle/>
                    <a:p>
                      <a:endParaRPr/>
                    </a:p>
                  </a:txBody>
                  <a:tcPr marL="0" marR="0" marT="0" marB="0"/>
                </a:tc>
                <a:tc>
                  <a:txBody>
                    <a:bodyPr/>
                    <a:lstStyle/>
                    <a:p>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T w="9144">
                      <a:solidFill>
                        <a:srgbClr val="0066FF"/>
                      </a:solidFill>
                      <a:prstDash val="solid"/>
                    </a:lnT>
                  </a:tcPr>
                </a:tc>
                <a:tc>
                  <a:txBody>
                    <a:bodyPr/>
                    <a:lstStyle/>
                    <a:p>
                      <a:endParaRPr sz="2400">
                        <a:latin typeface="微软雅黑"/>
                        <a:cs typeface="微软雅黑"/>
                      </a:endParaRPr>
                    </a:p>
                  </a:txBody>
                  <a:tcPr marL="0" marR="0" marT="0" marB="0">
                    <a:lnL w="38100">
                      <a:solidFill>
                        <a:srgbClr val="FF0000"/>
                      </a:solidFill>
                      <a:prstDash val="solid"/>
                    </a:lnL>
                    <a:lnR w="38100">
                      <a:solidFill>
                        <a:srgbClr val="FF0000"/>
                      </a:solidFill>
                      <a:prstDash val="solid"/>
                    </a:lnR>
                    <a:lnT w="9144">
                      <a:solidFill>
                        <a:srgbClr val="0066FF"/>
                      </a:solidFill>
                      <a:prstDash val="solid"/>
                    </a:lnT>
                    <a:lnB w="38100">
                      <a:solidFill>
                        <a:srgbClr val="FF0000"/>
                      </a:solidFill>
                      <a:prstDash val="solid"/>
                    </a:lnB>
                  </a:tcPr>
                </a:tc>
                <a:tc>
                  <a:txBody>
                    <a:bodyPr/>
                    <a:lstStyle/>
                    <a:p>
                      <a:endParaRPr sz="2400">
                        <a:latin typeface="微软雅黑"/>
                        <a:cs typeface="微软雅黑"/>
                      </a:endParaRPr>
                    </a:p>
                  </a:txBody>
                  <a:tcPr marL="0" marR="0" marT="0" marB="0">
                    <a:lnL w="38100">
                      <a:solidFill>
                        <a:srgbClr val="FF0000"/>
                      </a:solidFill>
                      <a:prstDash val="solid"/>
                    </a:lnL>
                    <a:lnT w="9144">
                      <a:solidFill>
                        <a:srgbClr val="0066FF"/>
                      </a:solidFill>
                      <a:prstDash val="solid"/>
                    </a:lnT>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832448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a:spLocks noGrp="1"/>
          </p:cNvSpPr>
          <p:nvPr>
            <p:ph type="title"/>
          </p:nvPr>
        </p:nvSpPr>
        <p:spPr>
          <a:xfrm>
            <a:off x="35904" y="639230"/>
            <a:ext cx="10515600" cy="1325563"/>
          </a:xfrm>
          <a:prstGeom prst="rect">
            <a:avLst/>
          </a:prstGeom>
        </p:spPr>
        <p:txBody>
          <a:bodyPr vert="horz" wrap="square" lIns="0" tIns="0" rIns="0" bIns="0" rtlCol="0">
            <a:spAutoFit/>
          </a:bodyPr>
          <a:lstStyle/>
          <a:p>
            <a:pPr marL="162560">
              <a:lnSpc>
                <a:spcPct val="100000"/>
              </a:lnSpc>
            </a:pPr>
            <a:r>
              <a:rPr sz="2400" dirty="0">
                <a:solidFill>
                  <a:srgbClr val="FFFFFF"/>
                </a:solidFill>
              </a:rPr>
              <a:t>相关寄存器</a:t>
            </a:r>
            <a:endParaRPr sz="2400" dirty="0"/>
          </a:p>
        </p:txBody>
      </p:sp>
      <p:sp>
        <p:nvSpPr>
          <p:cNvPr id="13" name="object 13"/>
          <p:cNvSpPr/>
          <p:nvPr/>
        </p:nvSpPr>
        <p:spPr>
          <a:xfrm>
            <a:off x="1377696" y="3971362"/>
            <a:ext cx="1092835" cy="1870710"/>
          </a:xfrm>
          <a:custGeom>
            <a:avLst/>
            <a:gdLst/>
            <a:ahLst/>
            <a:cxnLst/>
            <a:rect l="l" t="t" r="r" b="b"/>
            <a:pathLst>
              <a:path w="1092835" h="1870710">
                <a:moveTo>
                  <a:pt x="58542" y="0"/>
                </a:moveTo>
                <a:lnTo>
                  <a:pt x="27340" y="30951"/>
                </a:lnTo>
                <a:lnTo>
                  <a:pt x="8758" y="87644"/>
                </a:lnTo>
                <a:lnTo>
                  <a:pt x="0" y="141786"/>
                </a:lnTo>
                <a:lnTo>
                  <a:pt x="0" y="1383338"/>
                </a:lnTo>
                <a:lnTo>
                  <a:pt x="2725" y="1448933"/>
                </a:lnTo>
                <a:lnTo>
                  <a:pt x="9812" y="1506732"/>
                </a:lnTo>
                <a:lnTo>
                  <a:pt x="21681" y="1556969"/>
                </a:lnTo>
                <a:lnTo>
                  <a:pt x="38754" y="1599879"/>
                </a:lnTo>
                <a:lnTo>
                  <a:pt x="61452" y="1635695"/>
                </a:lnTo>
                <a:lnTo>
                  <a:pt x="90196" y="1664652"/>
                </a:lnTo>
                <a:lnTo>
                  <a:pt x="125408" y="1686985"/>
                </a:lnTo>
                <a:lnTo>
                  <a:pt x="167509" y="1702926"/>
                </a:lnTo>
                <a:lnTo>
                  <a:pt x="216921" y="1712711"/>
                </a:lnTo>
                <a:lnTo>
                  <a:pt x="274066" y="1716573"/>
                </a:lnTo>
                <a:lnTo>
                  <a:pt x="836167" y="1719837"/>
                </a:lnTo>
                <a:lnTo>
                  <a:pt x="833881" y="1870129"/>
                </a:lnTo>
                <a:lnTo>
                  <a:pt x="1092708" y="1620193"/>
                </a:lnTo>
                <a:lnTo>
                  <a:pt x="1019551" y="1540183"/>
                </a:lnTo>
                <a:lnTo>
                  <a:pt x="843279" y="1540183"/>
                </a:lnTo>
                <a:lnTo>
                  <a:pt x="309245" y="1527102"/>
                </a:lnTo>
                <a:lnTo>
                  <a:pt x="268713" y="1524933"/>
                </a:lnTo>
                <a:lnTo>
                  <a:pt x="223387" y="1514955"/>
                </a:lnTo>
                <a:lnTo>
                  <a:pt x="188420" y="1487973"/>
                </a:lnTo>
                <a:lnTo>
                  <a:pt x="169253" y="1450732"/>
                </a:lnTo>
                <a:lnTo>
                  <a:pt x="156338" y="1394360"/>
                </a:lnTo>
                <a:lnTo>
                  <a:pt x="151293" y="1344126"/>
                </a:lnTo>
                <a:lnTo>
                  <a:pt x="138175" y="164646"/>
                </a:lnTo>
                <a:lnTo>
                  <a:pt x="133386" y="135168"/>
                </a:lnTo>
                <a:lnTo>
                  <a:pt x="121625" y="84703"/>
                </a:lnTo>
                <a:lnTo>
                  <a:pt x="107549" y="45738"/>
                </a:lnTo>
                <a:lnTo>
                  <a:pt x="83649" y="9326"/>
                </a:lnTo>
                <a:lnTo>
                  <a:pt x="66897" y="54"/>
                </a:lnTo>
                <a:lnTo>
                  <a:pt x="58542" y="0"/>
                </a:lnTo>
                <a:close/>
              </a:path>
              <a:path w="1092835" h="1870710">
                <a:moveTo>
                  <a:pt x="843279" y="1347397"/>
                </a:moveTo>
                <a:lnTo>
                  <a:pt x="843279" y="1540183"/>
                </a:lnTo>
                <a:lnTo>
                  <a:pt x="1019551" y="1540183"/>
                </a:lnTo>
                <a:lnTo>
                  <a:pt x="843279" y="1347397"/>
                </a:lnTo>
                <a:close/>
              </a:path>
            </a:pathLst>
          </a:custGeom>
          <a:solidFill>
            <a:srgbClr val="A6A6A6"/>
          </a:solidFill>
        </p:spPr>
        <p:txBody>
          <a:bodyPr wrap="square" lIns="0" tIns="0" rIns="0" bIns="0" rtlCol="0"/>
          <a:lstStyle/>
          <a:p>
            <a:endParaRPr/>
          </a:p>
        </p:txBody>
      </p:sp>
      <p:sp>
        <p:nvSpPr>
          <p:cNvPr id="14" name="object 14"/>
          <p:cNvSpPr/>
          <p:nvPr/>
        </p:nvSpPr>
        <p:spPr>
          <a:xfrm>
            <a:off x="1178052" y="3657600"/>
            <a:ext cx="1330960" cy="455930"/>
          </a:xfrm>
          <a:custGeom>
            <a:avLst/>
            <a:gdLst/>
            <a:ahLst/>
            <a:cxnLst/>
            <a:rect l="l" t="t" r="r" b="b"/>
            <a:pathLst>
              <a:path w="1330960" h="455929">
                <a:moveTo>
                  <a:pt x="1223077" y="311276"/>
                </a:moveTo>
                <a:lnTo>
                  <a:pt x="1039748" y="311276"/>
                </a:lnTo>
                <a:lnTo>
                  <a:pt x="1044066" y="455675"/>
                </a:lnTo>
                <a:lnTo>
                  <a:pt x="1223077" y="311276"/>
                </a:lnTo>
                <a:close/>
              </a:path>
              <a:path w="1330960" h="455929">
                <a:moveTo>
                  <a:pt x="1044066" y="0"/>
                </a:moveTo>
                <a:lnTo>
                  <a:pt x="1044066" y="134747"/>
                </a:lnTo>
                <a:lnTo>
                  <a:pt x="0" y="138049"/>
                </a:lnTo>
                <a:lnTo>
                  <a:pt x="2197" y="336931"/>
                </a:lnTo>
                <a:lnTo>
                  <a:pt x="1039748" y="311276"/>
                </a:lnTo>
                <a:lnTo>
                  <a:pt x="1223077" y="311276"/>
                </a:lnTo>
                <a:lnTo>
                  <a:pt x="1330452" y="224662"/>
                </a:lnTo>
                <a:lnTo>
                  <a:pt x="1044066" y="0"/>
                </a:lnTo>
                <a:close/>
              </a:path>
            </a:pathLst>
          </a:custGeom>
          <a:solidFill>
            <a:srgbClr val="A6A6A6"/>
          </a:solidFill>
        </p:spPr>
        <p:txBody>
          <a:bodyPr wrap="square" lIns="0" tIns="0" rIns="0" bIns="0" rtlCol="0"/>
          <a:lstStyle/>
          <a:p>
            <a:endParaRPr/>
          </a:p>
        </p:txBody>
      </p:sp>
      <p:sp>
        <p:nvSpPr>
          <p:cNvPr id="15" name="object 15"/>
          <p:cNvSpPr/>
          <p:nvPr/>
        </p:nvSpPr>
        <p:spPr>
          <a:xfrm>
            <a:off x="1415796" y="2013204"/>
            <a:ext cx="1092835" cy="1706880"/>
          </a:xfrm>
          <a:custGeom>
            <a:avLst/>
            <a:gdLst/>
            <a:ahLst/>
            <a:cxnLst/>
            <a:rect l="l" t="t" r="r" b="b"/>
            <a:pathLst>
              <a:path w="1092835" h="1706879">
                <a:moveTo>
                  <a:pt x="833881" y="0"/>
                </a:moveTo>
                <a:lnTo>
                  <a:pt x="836167" y="137160"/>
                </a:lnTo>
                <a:lnTo>
                  <a:pt x="274066" y="140081"/>
                </a:lnTo>
                <a:lnTo>
                  <a:pt x="244501" y="141190"/>
                </a:lnTo>
                <a:lnTo>
                  <a:pt x="191275" y="147402"/>
                </a:lnTo>
                <a:lnTo>
                  <a:pt x="145571" y="159119"/>
                </a:lnTo>
                <a:lnTo>
                  <a:pt x="106967" y="176554"/>
                </a:lnTo>
                <a:lnTo>
                  <a:pt x="75042" y="199923"/>
                </a:lnTo>
                <a:lnTo>
                  <a:pt x="49373" y="229440"/>
                </a:lnTo>
                <a:lnTo>
                  <a:pt x="29541" y="265321"/>
                </a:lnTo>
                <a:lnTo>
                  <a:pt x="15122" y="307780"/>
                </a:lnTo>
                <a:lnTo>
                  <a:pt x="5672" y="357261"/>
                </a:lnTo>
                <a:lnTo>
                  <a:pt x="844" y="413293"/>
                </a:lnTo>
                <a:lnTo>
                  <a:pt x="0" y="444119"/>
                </a:lnTo>
                <a:lnTo>
                  <a:pt x="0" y="1576959"/>
                </a:lnTo>
                <a:lnTo>
                  <a:pt x="8758" y="1626346"/>
                </a:lnTo>
                <a:lnTo>
                  <a:pt x="20539" y="1663769"/>
                </a:lnTo>
                <a:lnTo>
                  <a:pt x="42320" y="1697898"/>
                </a:lnTo>
                <a:lnTo>
                  <a:pt x="58542" y="1706269"/>
                </a:lnTo>
                <a:lnTo>
                  <a:pt x="66897" y="1706213"/>
                </a:lnTo>
                <a:lnTo>
                  <a:pt x="99864" y="1678288"/>
                </a:lnTo>
                <a:lnTo>
                  <a:pt x="121625" y="1628948"/>
                </a:lnTo>
                <a:lnTo>
                  <a:pt x="133386" y="1582900"/>
                </a:lnTo>
                <a:lnTo>
                  <a:pt x="149859" y="506730"/>
                </a:lnTo>
                <a:lnTo>
                  <a:pt x="151316" y="479614"/>
                </a:lnTo>
                <a:lnTo>
                  <a:pt x="156462" y="433328"/>
                </a:lnTo>
                <a:lnTo>
                  <a:pt x="169662" y="381610"/>
                </a:lnTo>
                <a:lnTo>
                  <a:pt x="189268" y="347695"/>
                </a:lnTo>
                <a:lnTo>
                  <a:pt x="225050" y="323461"/>
                </a:lnTo>
                <a:lnTo>
                  <a:pt x="271436" y="314780"/>
                </a:lnTo>
                <a:lnTo>
                  <a:pt x="843279" y="301117"/>
                </a:lnTo>
                <a:lnTo>
                  <a:pt x="1019533" y="301117"/>
                </a:lnTo>
                <a:lnTo>
                  <a:pt x="1092708" y="228092"/>
                </a:lnTo>
                <a:lnTo>
                  <a:pt x="833881" y="0"/>
                </a:lnTo>
                <a:close/>
              </a:path>
              <a:path w="1092835" h="1706879">
                <a:moveTo>
                  <a:pt x="1019533" y="301117"/>
                </a:moveTo>
                <a:lnTo>
                  <a:pt x="843279" y="301117"/>
                </a:lnTo>
                <a:lnTo>
                  <a:pt x="843279" y="477012"/>
                </a:lnTo>
                <a:lnTo>
                  <a:pt x="1019533" y="301117"/>
                </a:lnTo>
                <a:close/>
              </a:path>
            </a:pathLst>
          </a:custGeom>
          <a:solidFill>
            <a:srgbClr val="A6A6A6"/>
          </a:solidFill>
        </p:spPr>
        <p:txBody>
          <a:bodyPr wrap="square" lIns="0" tIns="0" rIns="0" bIns="0" rtlCol="0"/>
          <a:lstStyle/>
          <a:p>
            <a:endParaRPr/>
          </a:p>
        </p:txBody>
      </p:sp>
      <p:sp>
        <p:nvSpPr>
          <p:cNvPr id="16" name="object 16"/>
          <p:cNvSpPr/>
          <p:nvPr/>
        </p:nvSpPr>
        <p:spPr>
          <a:xfrm>
            <a:off x="4027170" y="1456182"/>
            <a:ext cx="6385560" cy="1506220"/>
          </a:xfrm>
          <a:custGeom>
            <a:avLst/>
            <a:gdLst/>
            <a:ahLst/>
            <a:cxnLst/>
            <a:rect l="l" t="t" r="r" b="b"/>
            <a:pathLst>
              <a:path w="6385559" h="1506220">
                <a:moveTo>
                  <a:pt x="0" y="173227"/>
                </a:moveTo>
                <a:lnTo>
                  <a:pt x="5406" y="130142"/>
                </a:lnTo>
                <a:lnTo>
                  <a:pt x="20729" y="91018"/>
                </a:lnTo>
                <a:lnTo>
                  <a:pt x="44625" y="57200"/>
                </a:lnTo>
                <a:lnTo>
                  <a:pt x="75749" y="30031"/>
                </a:lnTo>
                <a:lnTo>
                  <a:pt x="112756" y="10858"/>
                </a:lnTo>
                <a:lnTo>
                  <a:pt x="154303" y="1023"/>
                </a:lnTo>
                <a:lnTo>
                  <a:pt x="6212332" y="0"/>
                </a:lnTo>
                <a:lnTo>
                  <a:pt x="6227051" y="617"/>
                </a:lnTo>
                <a:lnTo>
                  <a:pt x="6268965" y="9478"/>
                </a:lnTo>
                <a:lnTo>
                  <a:pt x="6306470" y="27808"/>
                </a:lnTo>
                <a:lnTo>
                  <a:pt x="6338221" y="54263"/>
                </a:lnTo>
                <a:lnTo>
                  <a:pt x="6362874" y="87497"/>
                </a:lnTo>
                <a:lnTo>
                  <a:pt x="6379084" y="126167"/>
                </a:lnTo>
                <a:lnTo>
                  <a:pt x="6385507" y="168929"/>
                </a:lnTo>
                <a:lnTo>
                  <a:pt x="6385559" y="1332483"/>
                </a:lnTo>
                <a:lnTo>
                  <a:pt x="6384942" y="1347203"/>
                </a:lnTo>
                <a:lnTo>
                  <a:pt x="6376081" y="1389117"/>
                </a:lnTo>
                <a:lnTo>
                  <a:pt x="6357751" y="1426622"/>
                </a:lnTo>
                <a:lnTo>
                  <a:pt x="6331296" y="1458373"/>
                </a:lnTo>
                <a:lnTo>
                  <a:pt x="6298062" y="1483026"/>
                </a:lnTo>
                <a:lnTo>
                  <a:pt x="6259392" y="1499236"/>
                </a:lnTo>
                <a:lnTo>
                  <a:pt x="6216630" y="1505659"/>
                </a:lnTo>
                <a:lnTo>
                  <a:pt x="173227" y="1505712"/>
                </a:lnTo>
                <a:lnTo>
                  <a:pt x="158508" y="1505094"/>
                </a:lnTo>
                <a:lnTo>
                  <a:pt x="116594" y="1496233"/>
                </a:lnTo>
                <a:lnTo>
                  <a:pt x="79089" y="1477903"/>
                </a:lnTo>
                <a:lnTo>
                  <a:pt x="47338" y="1451448"/>
                </a:lnTo>
                <a:lnTo>
                  <a:pt x="22685" y="1418214"/>
                </a:lnTo>
                <a:lnTo>
                  <a:pt x="6475" y="1379544"/>
                </a:lnTo>
                <a:lnTo>
                  <a:pt x="52" y="1336782"/>
                </a:lnTo>
                <a:lnTo>
                  <a:pt x="0" y="173227"/>
                </a:lnTo>
                <a:close/>
              </a:path>
            </a:pathLst>
          </a:custGeom>
          <a:ln w="28955">
            <a:solidFill>
              <a:srgbClr val="5B9BD4"/>
            </a:solidFill>
          </a:ln>
        </p:spPr>
        <p:txBody>
          <a:bodyPr wrap="square" lIns="0" tIns="0" rIns="0" bIns="0" rtlCol="0"/>
          <a:lstStyle/>
          <a:p>
            <a:endParaRPr/>
          </a:p>
        </p:txBody>
      </p:sp>
      <p:sp>
        <p:nvSpPr>
          <p:cNvPr id="17" name="object 17"/>
          <p:cNvSpPr txBox="1"/>
          <p:nvPr/>
        </p:nvSpPr>
        <p:spPr>
          <a:xfrm>
            <a:off x="4148454" y="1640330"/>
            <a:ext cx="6108065" cy="1209040"/>
          </a:xfrm>
          <a:prstGeom prst="rect">
            <a:avLst/>
          </a:prstGeom>
        </p:spPr>
        <p:txBody>
          <a:bodyPr vert="horz" wrap="square" lIns="0" tIns="0" rIns="0" bIns="0" rtlCol="0">
            <a:spAutoFit/>
          </a:bodyPr>
          <a:lstStyle/>
          <a:p>
            <a:pPr marL="12700">
              <a:lnSpc>
                <a:spcPct val="100000"/>
              </a:lnSpc>
            </a:pPr>
            <a:r>
              <a:rPr sz="2400" b="1" spc="-5" dirty="0">
                <a:solidFill>
                  <a:srgbClr val="FF0000"/>
                </a:solidFill>
                <a:latin typeface="微软雅黑"/>
                <a:cs typeface="微软雅黑"/>
              </a:rPr>
              <a:t>TIMx_P</a:t>
            </a:r>
            <a:r>
              <a:rPr sz="2400" b="1" spc="-10" dirty="0">
                <a:solidFill>
                  <a:srgbClr val="FF0000"/>
                </a:solidFill>
                <a:latin typeface="微软雅黑"/>
                <a:cs typeface="微软雅黑"/>
              </a:rPr>
              <a:t>S</a:t>
            </a:r>
            <a:r>
              <a:rPr sz="2400" b="1" dirty="0">
                <a:solidFill>
                  <a:srgbClr val="FF0000"/>
                </a:solidFill>
                <a:latin typeface="微软雅黑"/>
                <a:cs typeface="微软雅黑"/>
              </a:rPr>
              <a:t>C</a:t>
            </a:r>
            <a:r>
              <a:rPr sz="2400" b="1" spc="-5" dirty="0">
                <a:solidFill>
                  <a:srgbClr val="FF0000"/>
                </a:solidFill>
                <a:latin typeface="微软雅黑"/>
                <a:cs typeface="微软雅黑"/>
              </a:rPr>
              <a:t>：</a:t>
            </a:r>
            <a:r>
              <a:rPr sz="2400" b="1" spc="-5" dirty="0">
                <a:latin typeface="微软雅黑"/>
                <a:cs typeface="微软雅黑"/>
              </a:rPr>
              <a:t>设置预分频系数，将预分频时钟</a:t>
            </a:r>
            <a:endParaRPr sz="2400">
              <a:latin typeface="微软雅黑"/>
              <a:cs typeface="微软雅黑"/>
            </a:endParaRPr>
          </a:p>
          <a:p>
            <a:pPr marL="12700" marR="161290">
              <a:lnSpc>
                <a:spcPct val="120000"/>
              </a:lnSpc>
            </a:pPr>
            <a:r>
              <a:rPr sz="2400" b="1" dirty="0">
                <a:latin typeface="微软雅黑"/>
                <a:cs typeface="微软雅黑"/>
              </a:rPr>
              <a:t>（</a:t>
            </a:r>
            <a:r>
              <a:rPr sz="2400" b="1" spc="-5" dirty="0">
                <a:latin typeface="微软雅黑"/>
                <a:cs typeface="微软雅黑"/>
              </a:rPr>
              <a:t>C</a:t>
            </a:r>
            <a:r>
              <a:rPr sz="2400" b="1" spc="10" dirty="0">
                <a:latin typeface="微软雅黑"/>
                <a:cs typeface="微软雅黑"/>
              </a:rPr>
              <a:t>K</a:t>
            </a:r>
            <a:r>
              <a:rPr sz="2400" b="1" spc="-5" dirty="0">
                <a:latin typeface="微软雅黑"/>
                <a:cs typeface="微软雅黑"/>
              </a:rPr>
              <a:t>_PS</a:t>
            </a:r>
            <a:r>
              <a:rPr sz="2400" b="1" dirty="0">
                <a:latin typeface="微软雅黑"/>
                <a:cs typeface="微软雅黑"/>
              </a:rPr>
              <a:t>C）进行</a:t>
            </a:r>
            <a:r>
              <a:rPr sz="2400" b="1" spc="-10" dirty="0">
                <a:latin typeface="微软雅黑"/>
                <a:cs typeface="微软雅黑"/>
              </a:rPr>
              <a:t>1</a:t>
            </a:r>
            <a:r>
              <a:rPr sz="2400" b="1" dirty="0">
                <a:latin typeface="微软雅黑"/>
                <a:cs typeface="微软雅黑"/>
              </a:rPr>
              <a:t>～</a:t>
            </a:r>
            <a:r>
              <a:rPr sz="2400" b="1" spc="-10" dirty="0">
                <a:latin typeface="微软雅黑"/>
                <a:cs typeface="微软雅黑"/>
              </a:rPr>
              <a:t>65536</a:t>
            </a:r>
            <a:r>
              <a:rPr sz="2400" b="1" dirty="0">
                <a:latin typeface="微软雅黑"/>
                <a:cs typeface="微软雅黑"/>
              </a:rPr>
              <a:t>之间的任意值分 频，得到计数时钟</a:t>
            </a:r>
            <a:r>
              <a:rPr sz="2400" b="1" spc="5" dirty="0">
                <a:latin typeface="微软雅黑"/>
                <a:cs typeface="微软雅黑"/>
              </a:rPr>
              <a:t>（</a:t>
            </a:r>
            <a:r>
              <a:rPr sz="2400" b="1" dirty="0">
                <a:latin typeface="微软雅黑"/>
                <a:cs typeface="微软雅黑"/>
              </a:rPr>
              <a:t>CK_CNT）</a:t>
            </a:r>
            <a:endParaRPr sz="2400">
              <a:latin typeface="微软雅黑"/>
              <a:cs typeface="微软雅黑"/>
            </a:endParaRPr>
          </a:p>
        </p:txBody>
      </p:sp>
      <p:sp>
        <p:nvSpPr>
          <p:cNvPr id="18" name="object 18"/>
          <p:cNvSpPr/>
          <p:nvPr/>
        </p:nvSpPr>
        <p:spPr>
          <a:xfrm>
            <a:off x="2508504" y="1626107"/>
            <a:ext cx="1518285" cy="1202690"/>
          </a:xfrm>
          <a:custGeom>
            <a:avLst/>
            <a:gdLst/>
            <a:ahLst/>
            <a:cxnLst/>
            <a:rect l="l" t="t" r="r" b="b"/>
            <a:pathLst>
              <a:path w="1518285" h="1202689">
                <a:moveTo>
                  <a:pt x="1374520" y="0"/>
                </a:moveTo>
                <a:lnTo>
                  <a:pt x="129169" y="694"/>
                </a:lnTo>
                <a:lnTo>
                  <a:pt x="87871" y="11122"/>
                </a:lnTo>
                <a:lnTo>
                  <a:pt x="52354" y="32556"/>
                </a:lnTo>
                <a:lnTo>
                  <a:pt x="24569" y="63045"/>
                </a:lnTo>
                <a:lnTo>
                  <a:pt x="6467" y="100638"/>
                </a:lnTo>
                <a:lnTo>
                  <a:pt x="0" y="143382"/>
                </a:lnTo>
                <a:lnTo>
                  <a:pt x="683" y="1059052"/>
                </a:lnTo>
                <a:lnTo>
                  <a:pt x="6327" y="1101344"/>
                </a:lnTo>
                <a:lnTo>
                  <a:pt x="24309" y="1139005"/>
                </a:lnTo>
                <a:lnTo>
                  <a:pt x="51997" y="1169584"/>
                </a:lnTo>
                <a:lnTo>
                  <a:pt x="87438" y="1191130"/>
                </a:lnTo>
                <a:lnTo>
                  <a:pt x="128682" y="1201693"/>
                </a:lnTo>
                <a:lnTo>
                  <a:pt x="143382" y="1202436"/>
                </a:lnTo>
                <a:lnTo>
                  <a:pt x="1388734" y="1201741"/>
                </a:lnTo>
                <a:lnTo>
                  <a:pt x="1430032" y="1191313"/>
                </a:lnTo>
                <a:lnTo>
                  <a:pt x="1465549" y="1169879"/>
                </a:lnTo>
                <a:lnTo>
                  <a:pt x="1493334" y="1139390"/>
                </a:lnTo>
                <a:lnTo>
                  <a:pt x="1511436" y="1101797"/>
                </a:lnTo>
                <a:lnTo>
                  <a:pt x="1517904" y="1059052"/>
                </a:lnTo>
                <a:lnTo>
                  <a:pt x="1517220" y="143382"/>
                </a:lnTo>
                <a:lnTo>
                  <a:pt x="1511576" y="101091"/>
                </a:lnTo>
                <a:lnTo>
                  <a:pt x="1493594" y="63430"/>
                </a:lnTo>
                <a:lnTo>
                  <a:pt x="1465906" y="32851"/>
                </a:lnTo>
                <a:lnTo>
                  <a:pt x="1430465" y="11305"/>
                </a:lnTo>
                <a:lnTo>
                  <a:pt x="1389221" y="742"/>
                </a:lnTo>
                <a:lnTo>
                  <a:pt x="1374520" y="0"/>
                </a:lnTo>
                <a:close/>
              </a:path>
            </a:pathLst>
          </a:custGeom>
          <a:solidFill>
            <a:srgbClr val="EC7C30"/>
          </a:solidFill>
        </p:spPr>
        <p:txBody>
          <a:bodyPr wrap="square" lIns="0" tIns="0" rIns="0" bIns="0" rtlCol="0"/>
          <a:lstStyle/>
          <a:p>
            <a:endParaRPr/>
          </a:p>
        </p:txBody>
      </p:sp>
      <p:sp>
        <p:nvSpPr>
          <p:cNvPr id="19" name="object 19"/>
          <p:cNvSpPr txBox="1"/>
          <p:nvPr/>
        </p:nvSpPr>
        <p:spPr>
          <a:xfrm>
            <a:off x="2797810" y="1879589"/>
            <a:ext cx="939800" cy="769620"/>
          </a:xfrm>
          <a:prstGeom prst="rect">
            <a:avLst/>
          </a:prstGeom>
        </p:spPr>
        <p:txBody>
          <a:bodyPr vert="horz" wrap="square" lIns="0" tIns="0" rIns="0" bIns="0" rtlCol="0">
            <a:spAutoFit/>
          </a:bodyPr>
          <a:lstStyle/>
          <a:p>
            <a:pPr marL="12700" marR="5080">
              <a:lnSpc>
                <a:spcPct val="120000"/>
              </a:lnSpc>
            </a:pPr>
            <a:r>
              <a:rPr sz="2400" b="1" dirty="0">
                <a:solidFill>
                  <a:srgbClr val="F1F1F1"/>
                </a:solidFill>
                <a:latin typeface="微软雅黑"/>
                <a:cs typeface="微软雅黑"/>
              </a:rPr>
              <a:t>预分频 寄存器</a:t>
            </a:r>
            <a:endParaRPr sz="2400">
              <a:latin typeface="微软雅黑"/>
              <a:cs typeface="微软雅黑"/>
            </a:endParaRPr>
          </a:p>
        </p:txBody>
      </p:sp>
      <p:sp>
        <p:nvSpPr>
          <p:cNvPr id="20" name="object 20"/>
          <p:cNvSpPr/>
          <p:nvPr/>
        </p:nvSpPr>
        <p:spPr>
          <a:xfrm>
            <a:off x="4033265" y="3153917"/>
            <a:ext cx="6385560" cy="1511935"/>
          </a:xfrm>
          <a:custGeom>
            <a:avLst/>
            <a:gdLst/>
            <a:ahLst/>
            <a:cxnLst/>
            <a:rect l="l" t="t" r="r" b="b"/>
            <a:pathLst>
              <a:path w="6385559" h="1511935">
                <a:moveTo>
                  <a:pt x="0" y="173990"/>
                </a:moveTo>
                <a:lnTo>
                  <a:pt x="5378" y="130867"/>
                </a:lnTo>
                <a:lnTo>
                  <a:pt x="20629" y="91703"/>
                </a:lnTo>
                <a:lnTo>
                  <a:pt x="44426" y="57822"/>
                </a:lnTo>
                <a:lnTo>
                  <a:pt x="75441" y="30553"/>
                </a:lnTo>
                <a:lnTo>
                  <a:pt x="112349" y="11221"/>
                </a:lnTo>
                <a:lnTo>
                  <a:pt x="153822" y="1154"/>
                </a:lnTo>
                <a:lnTo>
                  <a:pt x="6211570" y="0"/>
                </a:lnTo>
                <a:lnTo>
                  <a:pt x="6226301" y="613"/>
                </a:lnTo>
                <a:lnTo>
                  <a:pt x="6268252" y="9430"/>
                </a:lnTo>
                <a:lnTo>
                  <a:pt x="6305803" y="27677"/>
                </a:lnTo>
                <a:lnTo>
                  <a:pt x="6337627" y="54028"/>
                </a:lnTo>
                <a:lnTo>
                  <a:pt x="6362398" y="87155"/>
                </a:lnTo>
                <a:lnTo>
                  <a:pt x="6378788" y="125732"/>
                </a:lnTo>
                <a:lnTo>
                  <a:pt x="6385473" y="168432"/>
                </a:lnTo>
                <a:lnTo>
                  <a:pt x="6385560" y="1337818"/>
                </a:lnTo>
                <a:lnTo>
                  <a:pt x="6384946" y="1352549"/>
                </a:lnTo>
                <a:lnTo>
                  <a:pt x="6376129" y="1394500"/>
                </a:lnTo>
                <a:lnTo>
                  <a:pt x="6357882" y="1432051"/>
                </a:lnTo>
                <a:lnTo>
                  <a:pt x="6331531" y="1463875"/>
                </a:lnTo>
                <a:lnTo>
                  <a:pt x="6298404" y="1488646"/>
                </a:lnTo>
                <a:lnTo>
                  <a:pt x="6259827" y="1505036"/>
                </a:lnTo>
                <a:lnTo>
                  <a:pt x="6217127" y="1511721"/>
                </a:lnTo>
                <a:lnTo>
                  <a:pt x="173989" y="1511808"/>
                </a:lnTo>
                <a:lnTo>
                  <a:pt x="159258" y="1511194"/>
                </a:lnTo>
                <a:lnTo>
                  <a:pt x="117307" y="1502377"/>
                </a:lnTo>
                <a:lnTo>
                  <a:pt x="79756" y="1484130"/>
                </a:lnTo>
                <a:lnTo>
                  <a:pt x="47932" y="1457779"/>
                </a:lnTo>
                <a:lnTo>
                  <a:pt x="23161" y="1424652"/>
                </a:lnTo>
                <a:lnTo>
                  <a:pt x="6771" y="1386075"/>
                </a:lnTo>
                <a:lnTo>
                  <a:pt x="86" y="1343375"/>
                </a:lnTo>
                <a:lnTo>
                  <a:pt x="0" y="173990"/>
                </a:lnTo>
                <a:close/>
              </a:path>
            </a:pathLst>
          </a:custGeom>
          <a:ln w="28956">
            <a:solidFill>
              <a:srgbClr val="5B9BD4"/>
            </a:solidFill>
          </a:ln>
        </p:spPr>
        <p:txBody>
          <a:bodyPr wrap="square" lIns="0" tIns="0" rIns="0" bIns="0" rtlCol="0"/>
          <a:lstStyle/>
          <a:p>
            <a:endParaRPr/>
          </a:p>
        </p:txBody>
      </p:sp>
      <p:sp>
        <p:nvSpPr>
          <p:cNvPr id="21" name="object 21"/>
          <p:cNvSpPr txBox="1"/>
          <p:nvPr/>
        </p:nvSpPr>
        <p:spPr>
          <a:xfrm>
            <a:off x="4153661" y="3342375"/>
            <a:ext cx="6121400" cy="1208405"/>
          </a:xfrm>
          <a:prstGeom prst="rect">
            <a:avLst/>
          </a:prstGeom>
        </p:spPr>
        <p:txBody>
          <a:bodyPr vert="horz" wrap="square" lIns="0" tIns="0" rIns="0" bIns="0" rtlCol="0">
            <a:spAutoFit/>
          </a:bodyPr>
          <a:lstStyle/>
          <a:p>
            <a:pPr marL="12700" marR="5080">
              <a:lnSpc>
                <a:spcPct val="120000"/>
              </a:lnSpc>
            </a:pPr>
            <a:r>
              <a:rPr sz="2400" b="1" spc="-5" dirty="0">
                <a:solidFill>
                  <a:srgbClr val="FF0000"/>
                </a:solidFill>
                <a:latin typeface="微软雅黑"/>
                <a:cs typeface="微软雅黑"/>
              </a:rPr>
              <a:t>TIMx</a:t>
            </a:r>
            <a:r>
              <a:rPr sz="2400" b="1" spc="5" dirty="0">
                <a:solidFill>
                  <a:srgbClr val="FF0000"/>
                </a:solidFill>
                <a:latin typeface="微软雅黑"/>
                <a:cs typeface="微软雅黑"/>
              </a:rPr>
              <a:t>_</a:t>
            </a:r>
            <a:r>
              <a:rPr sz="2400" b="1" spc="-5" dirty="0">
                <a:solidFill>
                  <a:srgbClr val="FF0000"/>
                </a:solidFill>
                <a:latin typeface="微软雅黑"/>
                <a:cs typeface="微软雅黑"/>
              </a:rPr>
              <a:t>C</a:t>
            </a:r>
            <a:r>
              <a:rPr sz="2400" b="1" spc="5" dirty="0">
                <a:solidFill>
                  <a:srgbClr val="FF0000"/>
                </a:solidFill>
                <a:latin typeface="微软雅黑"/>
                <a:cs typeface="微软雅黑"/>
              </a:rPr>
              <a:t>N</a:t>
            </a:r>
            <a:r>
              <a:rPr sz="2400" b="1" dirty="0">
                <a:solidFill>
                  <a:srgbClr val="FF0000"/>
                </a:solidFill>
                <a:latin typeface="微软雅黑"/>
                <a:cs typeface="微软雅黑"/>
              </a:rPr>
              <a:t>T</a:t>
            </a:r>
            <a:r>
              <a:rPr sz="2400" b="1" spc="-30" dirty="0">
                <a:solidFill>
                  <a:srgbClr val="FF0000"/>
                </a:solidFill>
                <a:latin typeface="微软雅黑"/>
                <a:cs typeface="微软雅黑"/>
              </a:rPr>
              <a:t> </a:t>
            </a:r>
            <a:r>
              <a:rPr sz="2400" b="1" dirty="0">
                <a:solidFill>
                  <a:srgbClr val="FF0000"/>
                </a:solidFill>
                <a:latin typeface="微软雅黑"/>
                <a:cs typeface="微软雅黑"/>
              </a:rPr>
              <a:t>：</a:t>
            </a:r>
            <a:r>
              <a:rPr sz="2400" b="1" dirty="0">
                <a:latin typeface="微软雅黑"/>
                <a:cs typeface="微软雅黑"/>
              </a:rPr>
              <a:t>存放核心计数器运行时的当前 计数值，便于用户实时掌握核心计数器的当前 </a:t>
            </a:r>
            <a:r>
              <a:rPr sz="2400" b="1" spc="-5" dirty="0">
                <a:latin typeface="微软雅黑"/>
                <a:cs typeface="微软雅黑"/>
              </a:rPr>
              <a:t>计数值。芯片复位后，默认值</a:t>
            </a:r>
            <a:r>
              <a:rPr sz="2400" b="1" dirty="0">
                <a:latin typeface="微软雅黑"/>
                <a:cs typeface="微软雅黑"/>
              </a:rPr>
              <a:t>为</a:t>
            </a:r>
            <a:r>
              <a:rPr sz="2400" b="1" spc="-10" dirty="0">
                <a:latin typeface="微软雅黑"/>
                <a:cs typeface="微软雅黑"/>
              </a:rPr>
              <a:t>0</a:t>
            </a:r>
            <a:r>
              <a:rPr sz="2400" b="1" dirty="0">
                <a:latin typeface="微软雅黑"/>
                <a:cs typeface="微软雅黑"/>
              </a:rPr>
              <a:t>。</a:t>
            </a:r>
            <a:endParaRPr sz="2400">
              <a:latin typeface="微软雅黑"/>
              <a:cs typeface="微软雅黑"/>
            </a:endParaRPr>
          </a:p>
        </p:txBody>
      </p:sp>
      <p:sp>
        <p:nvSpPr>
          <p:cNvPr id="22" name="object 22"/>
          <p:cNvSpPr/>
          <p:nvPr/>
        </p:nvSpPr>
        <p:spPr>
          <a:xfrm>
            <a:off x="2508504" y="3313176"/>
            <a:ext cx="1518285" cy="1193800"/>
          </a:xfrm>
          <a:custGeom>
            <a:avLst/>
            <a:gdLst/>
            <a:ahLst/>
            <a:cxnLst/>
            <a:rect l="l" t="t" r="r" b="b"/>
            <a:pathLst>
              <a:path w="1518285" h="1193800">
                <a:moveTo>
                  <a:pt x="1375663" y="0"/>
                </a:moveTo>
                <a:lnTo>
                  <a:pt x="129878" y="528"/>
                </a:lnTo>
                <a:lnTo>
                  <a:pt x="88410" y="10521"/>
                </a:lnTo>
                <a:lnTo>
                  <a:pt x="52705" y="31672"/>
                </a:lnTo>
                <a:lnTo>
                  <a:pt x="24746" y="61997"/>
                </a:lnTo>
                <a:lnTo>
                  <a:pt x="6517" y="99514"/>
                </a:lnTo>
                <a:lnTo>
                  <a:pt x="0" y="142239"/>
                </a:lnTo>
                <a:lnTo>
                  <a:pt x="528" y="1063413"/>
                </a:lnTo>
                <a:lnTo>
                  <a:pt x="10521" y="1104881"/>
                </a:lnTo>
                <a:lnTo>
                  <a:pt x="31672" y="1140586"/>
                </a:lnTo>
                <a:lnTo>
                  <a:pt x="61997" y="1168545"/>
                </a:lnTo>
                <a:lnTo>
                  <a:pt x="99514" y="1186774"/>
                </a:lnTo>
                <a:lnTo>
                  <a:pt x="142239" y="1193292"/>
                </a:lnTo>
                <a:lnTo>
                  <a:pt x="1388025" y="1192763"/>
                </a:lnTo>
                <a:lnTo>
                  <a:pt x="1429493" y="1182770"/>
                </a:lnTo>
                <a:lnTo>
                  <a:pt x="1465198" y="1161619"/>
                </a:lnTo>
                <a:lnTo>
                  <a:pt x="1493157" y="1131294"/>
                </a:lnTo>
                <a:lnTo>
                  <a:pt x="1511386" y="1093777"/>
                </a:lnTo>
                <a:lnTo>
                  <a:pt x="1517904" y="1051052"/>
                </a:lnTo>
                <a:lnTo>
                  <a:pt x="1517375" y="129878"/>
                </a:lnTo>
                <a:lnTo>
                  <a:pt x="1507382" y="88410"/>
                </a:lnTo>
                <a:lnTo>
                  <a:pt x="1486231" y="52705"/>
                </a:lnTo>
                <a:lnTo>
                  <a:pt x="1455906" y="24746"/>
                </a:lnTo>
                <a:lnTo>
                  <a:pt x="1418389" y="6517"/>
                </a:lnTo>
                <a:lnTo>
                  <a:pt x="1375663" y="0"/>
                </a:lnTo>
                <a:close/>
              </a:path>
            </a:pathLst>
          </a:custGeom>
          <a:solidFill>
            <a:srgbClr val="00AFEF"/>
          </a:solidFill>
        </p:spPr>
        <p:txBody>
          <a:bodyPr wrap="square" lIns="0" tIns="0" rIns="0" bIns="0" rtlCol="0"/>
          <a:lstStyle/>
          <a:p>
            <a:endParaRPr/>
          </a:p>
        </p:txBody>
      </p:sp>
      <p:sp>
        <p:nvSpPr>
          <p:cNvPr id="23" name="object 23"/>
          <p:cNvSpPr txBox="1"/>
          <p:nvPr/>
        </p:nvSpPr>
        <p:spPr>
          <a:xfrm>
            <a:off x="2798191" y="3562720"/>
            <a:ext cx="939800" cy="769620"/>
          </a:xfrm>
          <a:prstGeom prst="rect">
            <a:avLst/>
          </a:prstGeom>
        </p:spPr>
        <p:txBody>
          <a:bodyPr vert="horz" wrap="square" lIns="0" tIns="0" rIns="0" bIns="0" rtlCol="0">
            <a:spAutoFit/>
          </a:bodyPr>
          <a:lstStyle/>
          <a:p>
            <a:pPr marL="12700">
              <a:lnSpc>
                <a:spcPct val="100000"/>
              </a:lnSpc>
            </a:pPr>
            <a:r>
              <a:rPr sz="2400" b="1" dirty="0">
                <a:solidFill>
                  <a:srgbClr val="F1F1F1"/>
                </a:solidFill>
                <a:latin typeface="微软雅黑"/>
                <a:cs typeface="微软雅黑"/>
              </a:rPr>
              <a:t>计数器</a:t>
            </a:r>
            <a:endParaRPr sz="2400">
              <a:latin typeface="微软雅黑"/>
              <a:cs typeface="微软雅黑"/>
            </a:endParaRPr>
          </a:p>
          <a:p>
            <a:pPr marL="12700">
              <a:lnSpc>
                <a:spcPct val="100000"/>
              </a:lnSpc>
              <a:spcBef>
                <a:spcPts val="575"/>
              </a:spcBef>
            </a:pPr>
            <a:r>
              <a:rPr sz="2400" b="1" spc="-5" dirty="0">
                <a:solidFill>
                  <a:srgbClr val="F1F1F1"/>
                </a:solidFill>
                <a:latin typeface="微软雅黑"/>
                <a:cs typeface="微软雅黑"/>
              </a:rPr>
              <a:t>寄存器</a:t>
            </a:r>
            <a:endParaRPr sz="2400">
              <a:latin typeface="微软雅黑"/>
              <a:cs typeface="微软雅黑"/>
            </a:endParaRPr>
          </a:p>
        </p:txBody>
      </p:sp>
      <p:sp>
        <p:nvSpPr>
          <p:cNvPr id="24" name="object 24"/>
          <p:cNvSpPr/>
          <p:nvPr/>
        </p:nvSpPr>
        <p:spPr>
          <a:xfrm>
            <a:off x="4027170" y="4903470"/>
            <a:ext cx="6381115" cy="1464945"/>
          </a:xfrm>
          <a:custGeom>
            <a:avLst/>
            <a:gdLst/>
            <a:ahLst/>
            <a:cxnLst/>
            <a:rect l="l" t="t" r="r" b="b"/>
            <a:pathLst>
              <a:path w="6381115" h="1464945">
                <a:moveTo>
                  <a:pt x="0" y="168528"/>
                </a:moveTo>
                <a:lnTo>
                  <a:pt x="5547" y="125474"/>
                </a:lnTo>
                <a:lnTo>
                  <a:pt x="21245" y="86542"/>
                </a:lnTo>
                <a:lnTo>
                  <a:pt x="45676" y="53150"/>
                </a:lnTo>
                <a:lnTo>
                  <a:pt x="77426" y="26713"/>
                </a:lnTo>
                <a:lnTo>
                  <a:pt x="115077" y="8649"/>
                </a:lnTo>
                <a:lnTo>
                  <a:pt x="157213" y="373"/>
                </a:lnTo>
                <a:lnTo>
                  <a:pt x="6212458" y="0"/>
                </a:lnTo>
                <a:lnTo>
                  <a:pt x="6227181" y="633"/>
                </a:lnTo>
                <a:lnTo>
                  <a:pt x="6269018" y="9722"/>
                </a:lnTo>
                <a:lnTo>
                  <a:pt x="6306261" y="28488"/>
                </a:lnTo>
                <a:lnTo>
                  <a:pt x="6337492" y="55516"/>
                </a:lnTo>
                <a:lnTo>
                  <a:pt x="6361295" y="89390"/>
                </a:lnTo>
                <a:lnTo>
                  <a:pt x="6376254" y="128694"/>
                </a:lnTo>
                <a:lnTo>
                  <a:pt x="6380987" y="1296060"/>
                </a:lnTo>
                <a:lnTo>
                  <a:pt x="6380354" y="1310779"/>
                </a:lnTo>
                <a:lnTo>
                  <a:pt x="6371264" y="1352611"/>
                </a:lnTo>
                <a:lnTo>
                  <a:pt x="6352495" y="1389849"/>
                </a:lnTo>
                <a:lnTo>
                  <a:pt x="6325463" y="1421078"/>
                </a:lnTo>
                <a:lnTo>
                  <a:pt x="6291585" y="1444878"/>
                </a:lnTo>
                <a:lnTo>
                  <a:pt x="6252277" y="1459834"/>
                </a:lnTo>
                <a:lnTo>
                  <a:pt x="168528" y="1464563"/>
                </a:lnTo>
                <a:lnTo>
                  <a:pt x="153805" y="1463930"/>
                </a:lnTo>
                <a:lnTo>
                  <a:pt x="111965" y="1454840"/>
                </a:lnTo>
                <a:lnTo>
                  <a:pt x="74720" y="1436072"/>
                </a:lnTo>
                <a:lnTo>
                  <a:pt x="43488" y="1409043"/>
                </a:lnTo>
                <a:lnTo>
                  <a:pt x="19685" y="1375169"/>
                </a:lnTo>
                <a:lnTo>
                  <a:pt x="4729" y="1335868"/>
                </a:lnTo>
                <a:lnTo>
                  <a:pt x="0" y="168528"/>
                </a:lnTo>
                <a:close/>
              </a:path>
            </a:pathLst>
          </a:custGeom>
          <a:ln w="28956">
            <a:solidFill>
              <a:srgbClr val="5B9BD4"/>
            </a:solidFill>
          </a:ln>
        </p:spPr>
        <p:txBody>
          <a:bodyPr wrap="square" lIns="0" tIns="0" rIns="0" bIns="0" rtlCol="0"/>
          <a:lstStyle/>
          <a:p>
            <a:endParaRPr/>
          </a:p>
        </p:txBody>
      </p:sp>
      <p:sp>
        <p:nvSpPr>
          <p:cNvPr id="25" name="object 25"/>
          <p:cNvSpPr txBox="1"/>
          <p:nvPr/>
        </p:nvSpPr>
        <p:spPr>
          <a:xfrm>
            <a:off x="4147184" y="5068051"/>
            <a:ext cx="6121400" cy="1208405"/>
          </a:xfrm>
          <a:prstGeom prst="rect">
            <a:avLst/>
          </a:prstGeom>
        </p:spPr>
        <p:txBody>
          <a:bodyPr vert="horz" wrap="square" lIns="0" tIns="0" rIns="0" bIns="0" rtlCol="0">
            <a:spAutoFit/>
          </a:bodyPr>
          <a:lstStyle/>
          <a:p>
            <a:pPr marL="12700" marR="5080">
              <a:lnSpc>
                <a:spcPct val="120000"/>
              </a:lnSpc>
            </a:pPr>
            <a:r>
              <a:rPr sz="2400" b="1" spc="-5" dirty="0">
                <a:solidFill>
                  <a:srgbClr val="FF0000"/>
                </a:solidFill>
                <a:latin typeface="微软雅黑"/>
                <a:cs typeface="微软雅黑"/>
              </a:rPr>
              <a:t>TIMx</a:t>
            </a:r>
            <a:r>
              <a:rPr sz="2400" b="1" spc="5" dirty="0">
                <a:solidFill>
                  <a:srgbClr val="FF0000"/>
                </a:solidFill>
                <a:latin typeface="微软雅黑"/>
                <a:cs typeface="微软雅黑"/>
              </a:rPr>
              <a:t>_</a:t>
            </a:r>
            <a:r>
              <a:rPr sz="2400" b="1" dirty="0">
                <a:solidFill>
                  <a:srgbClr val="FF0000"/>
                </a:solidFill>
                <a:latin typeface="微软雅黑"/>
                <a:cs typeface="微软雅黑"/>
              </a:rPr>
              <a:t>AR</a:t>
            </a:r>
            <a:r>
              <a:rPr sz="2400" b="1" spc="5" dirty="0">
                <a:solidFill>
                  <a:srgbClr val="FF0000"/>
                </a:solidFill>
                <a:latin typeface="微软雅黑"/>
                <a:cs typeface="微软雅黑"/>
              </a:rPr>
              <a:t>R</a:t>
            </a:r>
            <a:r>
              <a:rPr sz="2400" b="1" dirty="0">
                <a:solidFill>
                  <a:srgbClr val="FF0000"/>
                </a:solidFill>
                <a:latin typeface="微软雅黑"/>
                <a:cs typeface="微软雅黑"/>
              </a:rPr>
              <a:t>：</a:t>
            </a:r>
            <a:r>
              <a:rPr sz="2400" b="1" dirty="0">
                <a:latin typeface="微软雅黑"/>
                <a:cs typeface="微软雅黑"/>
              </a:rPr>
              <a:t>为计数器设置计数边界或重载 值。比如计数器递增计数时，记到多少发生溢 出；递减计数时，从多少开始往下计数</a:t>
            </a:r>
            <a:endParaRPr sz="2400">
              <a:latin typeface="微软雅黑"/>
              <a:cs typeface="微软雅黑"/>
            </a:endParaRPr>
          </a:p>
        </p:txBody>
      </p:sp>
      <p:sp>
        <p:nvSpPr>
          <p:cNvPr id="26" name="object 26"/>
          <p:cNvSpPr/>
          <p:nvPr/>
        </p:nvSpPr>
        <p:spPr>
          <a:xfrm>
            <a:off x="2470404" y="4991100"/>
            <a:ext cx="1556385" cy="1181100"/>
          </a:xfrm>
          <a:custGeom>
            <a:avLst/>
            <a:gdLst/>
            <a:ahLst/>
            <a:cxnLst/>
            <a:rect l="l" t="t" r="r" b="b"/>
            <a:pathLst>
              <a:path w="1556385" h="1181100">
                <a:moveTo>
                  <a:pt x="1415160" y="0"/>
                </a:moveTo>
                <a:lnTo>
                  <a:pt x="130751" y="355"/>
                </a:lnTo>
                <a:lnTo>
                  <a:pt x="89070" y="9801"/>
                </a:lnTo>
                <a:lnTo>
                  <a:pt x="53134" y="30594"/>
                </a:lnTo>
                <a:lnTo>
                  <a:pt x="24962" y="60712"/>
                </a:lnTo>
                <a:lnTo>
                  <a:pt x="6577" y="98136"/>
                </a:lnTo>
                <a:lnTo>
                  <a:pt x="0" y="140843"/>
                </a:lnTo>
                <a:lnTo>
                  <a:pt x="352" y="1050346"/>
                </a:lnTo>
                <a:lnTo>
                  <a:pt x="9792" y="1092004"/>
                </a:lnTo>
                <a:lnTo>
                  <a:pt x="30583" y="1127938"/>
                </a:lnTo>
                <a:lnTo>
                  <a:pt x="60703" y="1156119"/>
                </a:lnTo>
                <a:lnTo>
                  <a:pt x="98130" y="1174516"/>
                </a:lnTo>
                <a:lnTo>
                  <a:pt x="140843" y="1181100"/>
                </a:lnTo>
                <a:lnTo>
                  <a:pt x="1425222" y="1180746"/>
                </a:lnTo>
                <a:lnTo>
                  <a:pt x="1466911" y="1171301"/>
                </a:lnTo>
                <a:lnTo>
                  <a:pt x="1502856" y="1150503"/>
                </a:lnTo>
                <a:lnTo>
                  <a:pt x="1531034" y="1120382"/>
                </a:lnTo>
                <a:lnTo>
                  <a:pt x="1549424" y="1082970"/>
                </a:lnTo>
                <a:lnTo>
                  <a:pt x="1556004" y="1040295"/>
                </a:lnTo>
                <a:lnTo>
                  <a:pt x="1555648" y="130751"/>
                </a:lnTo>
                <a:lnTo>
                  <a:pt x="1546202" y="89070"/>
                </a:lnTo>
                <a:lnTo>
                  <a:pt x="1525409" y="53134"/>
                </a:lnTo>
                <a:lnTo>
                  <a:pt x="1495291" y="24962"/>
                </a:lnTo>
                <a:lnTo>
                  <a:pt x="1457867" y="6577"/>
                </a:lnTo>
                <a:lnTo>
                  <a:pt x="1415160" y="0"/>
                </a:lnTo>
                <a:close/>
              </a:path>
            </a:pathLst>
          </a:custGeom>
          <a:solidFill>
            <a:srgbClr val="00AF50"/>
          </a:solidFill>
        </p:spPr>
        <p:txBody>
          <a:bodyPr wrap="square" lIns="0" tIns="0" rIns="0" bIns="0" rtlCol="0"/>
          <a:lstStyle/>
          <a:p>
            <a:endParaRPr/>
          </a:p>
        </p:txBody>
      </p:sp>
      <p:sp>
        <p:nvSpPr>
          <p:cNvPr id="27" name="object 27"/>
          <p:cNvSpPr txBox="1"/>
          <p:nvPr/>
        </p:nvSpPr>
        <p:spPr>
          <a:xfrm>
            <a:off x="2626232" y="5235437"/>
            <a:ext cx="1244600" cy="769620"/>
          </a:xfrm>
          <a:prstGeom prst="rect">
            <a:avLst/>
          </a:prstGeom>
        </p:spPr>
        <p:txBody>
          <a:bodyPr vert="horz" wrap="square" lIns="0" tIns="0" rIns="0" bIns="0" rtlCol="0">
            <a:spAutoFit/>
          </a:bodyPr>
          <a:lstStyle/>
          <a:p>
            <a:pPr marL="165100" marR="5080" indent="-152400">
              <a:lnSpc>
                <a:spcPct val="120000"/>
              </a:lnSpc>
            </a:pPr>
            <a:r>
              <a:rPr sz="2400" b="1" dirty="0">
                <a:solidFill>
                  <a:srgbClr val="F1F1F1"/>
                </a:solidFill>
                <a:latin typeface="微软雅黑"/>
                <a:cs typeface="微软雅黑"/>
              </a:rPr>
              <a:t>自动重载 寄存器</a:t>
            </a:r>
            <a:endParaRPr sz="2400">
              <a:latin typeface="微软雅黑"/>
              <a:cs typeface="微软雅黑"/>
            </a:endParaRPr>
          </a:p>
        </p:txBody>
      </p:sp>
      <p:sp>
        <p:nvSpPr>
          <p:cNvPr id="28" name="object 28"/>
          <p:cNvSpPr/>
          <p:nvPr/>
        </p:nvSpPr>
        <p:spPr>
          <a:xfrm>
            <a:off x="816863" y="3313176"/>
            <a:ext cx="1191895" cy="1193800"/>
          </a:xfrm>
          <a:custGeom>
            <a:avLst/>
            <a:gdLst/>
            <a:ahLst/>
            <a:cxnLst/>
            <a:rect l="l" t="t" r="r" b="b"/>
            <a:pathLst>
              <a:path w="1191895" h="1193800">
                <a:moveTo>
                  <a:pt x="595884" y="0"/>
                </a:moveTo>
                <a:lnTo>
                  <a:pt x="547012" y="1977"/>
                </a:lnTo>
                <a:lnTo>
                  <a:pt x="499229" y="7807"/>
                </a:lnTo>
                <a:lnTo>
                  <a:pt x="452687" y="17337"/>
                </a:lnTo>
                <a:lnTo>
                  <a:pt x="407539" y="30412"/>
                </a:lnTo>
                <a:lnTo>
                  <a:pt x="363940" y="46880"/>
                </a:lnTo>
                <a:lnTo>
                  <a:pt x="322042" y="66587"/>
                </a:lnTo>
                <a:lnTo>
                  <a:pt x="281998" y="89380"/>
                </a:lnTo>
                <a:lnTo>
                  <a:pt x="243963" y="115104"/>
                </a:lnTo>
                <a:lnTo>
                  <a:pt x="208090" y="143607"/>
                </a:lnTo>
                <a:lnTo>
                  <a:pt x="174531" y="174736"/>
                </a:lnTo>
                <a:lnTo>
                  <a:pt x="143440" y="208336"/>
                </a:lnTo>
                <a:lnTo>
                  <a:pt x="114971" y="244254"/>
                </a:lnTo>
                <a:lnTo>
                  <a:pt x="89277" y="282337"/>
                </a:lnTo>
                <a:lnTo>
                  <a:pt x="66511" y="322432"/>
                </a:lnTo>
                <a:lnTo>
                  <a:pt x="46827" y="364384"/>
                </a:lnTo>
                <a:lnTo>
                  <a:pt x="30378" y="408041"/>
                </a:lnTo>
                <a:lnTo>
                  <a:pt x="17318" y="453249"/>
                </a:lnTo>
                <a:lnTo>
                  <a:pt x="7799" y="499855"/>
                </a:lnTo>
                <a:lnTo>
                  <a:pt x="1975" y="547705"/>
                </a:lnTo>
                <a:lnTo>
                  <a:pt x="0" y="596646"/>
                </a:lnTo>
                <a:lnTo>
                  <a:pt x="1975" y="645586"/>
                </a:lnTo>
                <a:lnTo>
                  <a:pt x="7799" y="693436"/>
                </a:lnTo>
                <a:lnTo>
                  <a:pt x="17318" y="740042"/>
                </a:lnTo>
                <a:lnTo>
                  <a:pt x="30378" y="785250"/>
                </a:lnTo>
                <a:lnTo>
                  <a:pt x="46827" y="828907"/>
                </a:lnTo>
                <a:lnTo>
                  <a:pt x="66511" y="870859"/>
                </a:lnTo>
                <a:lnTo>
                  <a:pt x="89277" y="910954"/>
                </a:lnTo>
                <a:lnTo>
                  <a:pt x="114971" y="949037"/>
                </a:lnTo>
                <a:lnTo>
                  <a:pt x="143440" y="984955"/>
                </a:lnTo>
                <a:lnTo>
                  <a:pt x="174531" y="1018555"/>
                </a:lnTo>
                <a:lnTo>
                  <a:pt x="208090" y="1049684"/>
                </a:lnTo>
                <a:lnTo>
                  <a:pt x="243963" y="1078187"/>
                </a:lnTo>
                <a:lnTo>
                  <a:pt x="281998" y="1103911"/>
                </a:lnTo>
                <a:lnTo>
                  <a:pt x="322042" y="1126704"/>
                </a:lnTo>
                <a:lnTo>
                  <a:pt x="363940" y="1146411"/>
                </a:lnTo>
                <a:lnTo>
                  <a:pt x="407539" y="1162879"/>
                </a:lnTo>
                <a:lnTo>
                  <a:pt x="452687" y="1175954"/>
                </a:lnTo>
                <a:lnTo>
                  <a:pt x="499229" y="1185484"/>
                </a:lnTo>
                <a:lnTo>
                  <a:pt x="547012" y="1191314"/>
                </a:lnTo>
                <a:lnTo>
                  <a:pt x="595884" y="1193292"/>
                </a:lnTo>
                <a:lnTo>
                  <a:pt x="644750" y="1191314"/>
                </a:lnTo>
                <a:lnTo>
                  <a:pt x="692529" y="1185484"/>
                </a:lnTo>
                <a:lnTo>
                  <a:pt x="739068" y="1175954"/>
                </a:lnTo>
                <a:lnTo>
                  <a:pt x="784213" y="1162879"/>
                </a:lnTo>
                <a:lnTo>
                  <a:pt x="827811" y="1146411"/>
                </a:lnTo>
                <a:lnTo>
                  <a:pt x="869709" y="1126704"/>
                </a:lnTo>
                <a:lnTo>
                  <a:pt x="909752" y="1103911"/>
                </a:lnTo>
                <a:lnTo>
                  <a:pt x="947787" y="1078187"/>
                </a:lnTo>
                <a:lnTo>
                  <a:pt x="983662" y="1049684"/>
                </a:lnTo>
                <a:lnTo>
                  <a:pt x="1017222" y="1018555"/>
                </a:lnTo>
                <a:lnTo>
                  <a:pt x="1048314" y="984955"/>
                </a:lnTo>
                <a:lnTo>
                  <a:pt x="1076785" y="949037"/>
                </a:lnTo>
                <a:lnTo>
                  <a:pt x="1102481" y="910954"/>
                </a:lnTo>
                <a:lnTo>
                  <a:pt x="1125248" y="870859"/>
                </a:lnTo>
                <a:lnTo>
                  <a:pt x="1144934" y="828907"/>
                </a:lnTo>
                <a:lnTo>
                  <a:pt x="1161385" y="785250"/>
                </a:lnTo>
                <a:lnTo>
                  <a:pt x="1174447" y="740042"/>
                </a:lnTo>
                <a:lnTo>
                  <a:pt x="1183967" y="693436"/>
                </a:lnTo>
                <a:lnTo>
                  <a:pt x="1189792" y="645586"/>
                </a:lnTo>
                <a:lnTo>
                  <a:pt x="1191768" y="596646"/>
                </a:lnTo>
                <a:lnTo>
                  <a:pt x="1189792" y="547705"/>
                </a:lnTo>
                <a:lnTo>
                  <a:pt x="1183967" y="499855"/>
                </a:lnTo>
                <a:lnTo>
                  <a:pt x="1174447" y="453249"/>
                </a:lnTo>
                <a:lnTo>
                  <a:pt x="1161385" y="408041"/>
                </a:lnTo>
                <a:lnTo>
                  <a:pt x="1144934" y="364384"/>
                </a:lnTo>
                <a:lnTo>
                  <a:pt x="1125248" y="322432"/>
                </a:lnTo>
                <a:lnTo>
                  <a:pt x="1102481" y="282337"/>
                </a:lnTo>
                <a:lnTo>
                  <a:pt x="1076785" y="244254"/>
                </a:lnTo>
                <a:lnTo>
                  <a:pt x="1048314" y="208336"/>
                </a:lnTo>
                <a:lnTo>
                  <a:pt x="1017222" y="174736"/>
                </a:lnTo>
                <a:lnTo>
                  <a:pt x="983662" y="143607"/>
                </a:lnTo>
                <a:lnTo>
                  <a:pt x="947787" y="115104"/>
                </a:lnTo>
                <a:lnTo>
                  <a:pt x="909752" y="89380"/>
                </a:lnTo>
                <a:lnTo>
                  <a:pt x="869709" y="66587"/>
                </a:lnTo>
                <a:lnTo>
                  <a:pt x="827811" y="46880"/>
                </a:lnTo>
                <a:lnTo>
                  <a:pt x="784213" y="30412"/>
                </a:lnTo>
                <a:lnTo>
                  <a:pt x="739068" y="17337"/>
                </a:lnTo>
                <a:lnTo>
                  <a:pt x="692529" y="7807"/>
                </a:lnTo>
                <a:lnTo>
                  <a:pt x="644750" y="1977"/>
                </a:lnTo>
                <a:lnTo>
                  <a:pt x="595884" y="0"/>
                </a:lnTo>
                <a:close/>
              </a:path>
            </a:pathLst>
          </a:custGeom>
          <a:solidFill>
            <a:srgbClr val="5B9BD4"/>
          </a:solidFill>
        </p:spPr>
        <p:txBody>
          <a:bodyPr wrap="square" lIns="0" tIns="0" rIns="0" bIns="0" rtlCol="0"/>
          <a:lstStyle/>
          <a:p>
            <a:endParaRPr/>
          </a:p>
        </p:txBody>
      </p:sp>
      <p:sp>
        <p:nvSpPr>
          <p:cNvPr id="29" name="object 29"/>
          <p:cNvSpPr txBox="1"/>
          <p:nvPr/>
        </p:nvSpPr>
        <p:spPr>
          <a:xfrm>
            <a:off x="1078483" y="3544708"/>
            <a:ext cx="668655" cy="810260"/>
          </a:xfrm>
          <a:prstGeom prst="rect">
            <a:avLst/>
          </a:prstGeom>
        </p:spPr>
        <p:txBody>
          <a:bodyPr vert="horz" wrap="square" lIns="0" tIns="0" rIns="0" bIns="0" rtlCol="0">
            <a:spAutoFit/>
          </a:bodyPr>
          <a:lstStyle/>
          <a:p>
            <a:pPr marL="172085" marR="5080" indent="-160020">
              <a:lnSpc>
                <a:spcPct val="121600"/>
              </a:lnSpc>
            </a:pPr>
            <a:r>
              <a:rPr sz="2500" b="1" spc="25" dirty="0">
                <a:solidFill>
                  <a:srgbClr val="FFFFFF"/>
                </a:solidFill>
                <a:latin typeface="微软雅黑"/>
                <a:cs typeface="微软雅黑"/>
              </a:rPr>
              <a:t>寄存 器</a:t>
            </a:r>
            <a:endParaRPr sz="2500">
              <a:latin typeface="微软雅黑"/>
              <a:cs typeface="微软雅黑"/>
            </a:endParaRPr>
          </a:p>
        </p:txBody>
      </p:sp>
      <p:sp>
        <p:nvSpPr>
          <p:cNvPr id="30" name="object 30"/>
          <p:cNvSpPr txBox="1"/>
          <p:nvPr/>
        </p:nvSpPr>
        <p:spPr>
          <a:xfrm>
            <a:off x="10529316" y="1996439"/>
            <a:ext cx="878205" cy="462280"/>
          </a:xfrm>
          <a:prstGeom prst="rect">
            <a:avLst/>
          </a:prstGeom>
          <a:solidFill>
            <a:srgbClr val="EC7C30"/>
          </a:solidFill>
        </p:spPr>
        <p:txBody>
          <a:bodyPr vert="horz" wrap="square" lIns="0" tIns="0" rIns="0" bIns="0" rtlCol="0">
            <a:spAutoFit/>
          </a:bodyPr>
          <a:lstStyle/>
          <a:p>
            <a:pPr marL="92710">
              <a:lnSpc>
                <a:spcPct val="100000"/>
              </a:lnSpc>
            </a:pPr>
            <a:r>
              <a:rPr sz="2400" b="1" spc="-10" dirty="0">
                <a:solidFill>
                  <a:srgbClr val="FFFFFF"/>
                </a:solidFill>
                <a:latin typeface="微软雅黑"/>
                <a:cs typeface="微软雅黑"/>
              </a:rPr>
              <a:t>PSC</a:t>
            </a:r>
            <a:endParaRPr sz="2400">
              <a:latin typeface="微软雅黑"/>
              <a:cs typeface="微软雅黑"/>
            </a:endParaRPr>
          </a:p>
        </p:txBody>
      </p:sp>
      <p:sp>
        <p:nvSpPr>
          <p:cNvPr id="31" name="object 31"/>
          <p:cNvSpPr txBox="1"/>
          <p:nvPr/>
        </p:nvSpPr>
        <p:spPr>
          <a:xfrm>
            <a:off x="10529316" y="3715511"/>
            <a:ext cx="878205" cy="462280"/>
          </a:xfrm>
          <a:prstGeom prst="rect">
            <a:avLst/>
          </a:prstGeom>
          <a:solidFill>
            <a:srgbClr val="00AFEF"/>
          </a:solidFill>
        </p:spPr>
        <p:txBody>
          <a:bodyPr vert="horz" wrap="square" lIns="0" tIns="0" rIns="0" bIns="0" rtlCol="0">
            <a:spAutoFit/>
          </a:bodyPr>
          <a:lstStyle/>
          <a:p>
            <a:pPr marL="92710">
              <a:lnSpc>
                <a:spcPct val="100000"/>
              </a:lnSpc>
            </a:pPr>
            <a:r>
              <a:rPr sz="2400" b="1" dirty="0">
                <a:solidFill>
                  <a:srgbClr val="FFFFFF"/>
                </a:solidFill>
                <a:latin typeface="微软雅黑"/>
                <a:cs typeface="微软雅黑"/>
              </a:rPr>
              <a:t>CNT</a:t>
            </a:r>
            <a:endParaRPr sz="2400">
              <a:latin typeface="微软雅黑"/>
              <a:cs typeface="微软雅黑"/>
            </a:endParaRPr>
          </a:p>
        </p:txBody>
      </p:sp>
      <p:sp>
        <p:nvSpPr>
          <p:cNvPr id="32" name="object 32"/>
          <p:cNvSpPr txBox="1"/>
          <p:nvPr/>
        </p:nvSpPr>
        <p:spPr>
          <a:xfrm>
            <a:off x="10529316" y="5410200"/>
            <a:ext cx="878205" cy="498475"/>
          </a:xfrm>
          <a:prstGeom prst="rect">
            <a:avLst/>
          </a:prstGeom>
          <a:solidFill>
            <a:srgbClr val="00AF50"/>
          </a:solidFill>
        </p:spPr>
        <p:txBody>
          <a:bodyPr vert="horz" wrap="square" lIns="0" tIns="0" rIns="0" bIns="0" rtlCol="0">
            <a:spAutoFit/>
          </a:bodyPr>
          <a:lstStyle/>
          <a:p>
            <a:pPr marL="111760">
              <a:lnSpc>
                <a:spcPct val="100000"/>
              </a:lnSpc>
            </a:pPr>
            <a:r>
              <a:rPr sz="2400" b="1" dirty="0">
                <a:solidFill>
                  <a:srgbClr val="F1F1F1"/>
                </a:solidFill>
                <a:latin typeface="微软雅黑"/>
                <a:cs typeface="微软雅黑"/>
              </a:rPr>
              <a:t>ARR</a:t>
            </a:r>
            <a:endParaRPr sz="2400">
              <a:latin typeface="微软雅黑"/>
              <a:cs typeface="微软雅黑"/>
            </a:endParaRPr>
          </a:p>
        </p:txBody>
      </p:sp>
    </p:spTree>
    <p:extLst>
      <p:ext uri="{BB962C8B-B14F-4D97-AF65-F5344CB8AC3E}">
        <p14:creationId xmlns:p14="http://schemas.microsoft.com/office/powerpoint/2010/main" val="34700584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3609594" y="2772004"/>
            <a:ext cx="4972685"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2	</a:t>
            </a:r>
            <a:r>
              <a:rPr sz="5400" spc="-5" dirty="0">
                <a:solidFill>
                  <a:srgbClr val="FFFFFF"/>
                </a:solidFill>
              </a:rPr>
              <a:t>外部脉冲计数</a:t>
            </a:r>
            <a:endParaRPr sz="5400">
              <a:latin typeface="微软雅黑"/>
              <a:cs typeface="微软雅黑"/>
            </a:endParaRPr>
          </a:p>
        </p:txBody>
      </p:sp>
    </p:spTree>
    <p:extLst>
      <p:ext uri="{BB962C8B-B14F-4D97-AF65-F5344CB8AC3E}">
        <p14:creationId xmlns:p14="http://schemas.microsoft.com/office/powerpoint/2010/main" val="1989994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500278" y="1178295"/>
            <a:ext cx="9398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时钟源</a:t>
            </a:r>
            <a:endParaRPr sz="2400">
              <a:latin typeface="微软雅黑"/>
              <a:cs typeface="微软雅黑"/>
            </a:endParaRPr>
          </a:p>
        </p:txBody>
      </p:sp>
      <p:sp>
        <p:nvSpPr>
          <p:cNvPr id="11" name="object 11"/>
          <p:cNvSpPr/>
          <p:nvPr/>
        </p:nvSpPr>
        <p:spPr>
          <a:xfrm>
            <a:off x="4034028" y="1845564"/>
            <a:ext cx="718185" cy="759460"/>
          </a:xfrm>
          <a:custGeom>
            <a:avLst/>
            <a:gdLst/>
            <a:ahLst/>
            <a:cxnLst/>
            <a:rect l="l" t="t" r="r" b="b"/>
            <a:pathLst>
              <a:path w="718185" h="759460">
                <a:moveTo>
                  <a:pt x="4952" y="0"/>
                </a:moveTo>
                <a:lnTo>
                  <a:pt x="0" y="758951"/>
                </a:lnTo>
                <a:lnTo>
                  <a:pt x="717804" y="758951"/>
                </a:lnTo>
                <a:lnTo>
                  <a:pt x="4952" y="0"/>
                </a:lnTo>
                <a:close/>
              </a:path>
            </a:pathLst>
          </a:custGeom>
          <a:solidFill>
            <a:srgbClr val="EC7C30"/>
          </a:solidFill>
        </p:spPr>
        <p:txBody>
          <a:bodyPr wrap="square" lIns="0" tIns="0" rIns="0" bIns="0" rtlCol="0"/>
          <a:lstStyle/>
          <a:p>
            <a:endParaRPr/>
          </a:p>
        </p:txBody>
      </p:sp>
      <p:sp>
        <p:nvSpPr>
          <p:cNvPr id="12" name="object 12"/>
          <p:cNvSpPr/>
          <p:nvPr/>
        </p:nvSpPr>
        <p:spPr>
          <a:xfrm>
            <a:off x="4034028" y="5420867"/>
            <a:ext cx="718185" cy="759460"/>
          </a:xfrm>
          <a:custGeom>
            <a:avLst/>
            <a:gdLst/>
            <a:ahLst/>
            <a:cxnLst/>
            <a:rect l="l" t="t" r="r" b="b"/>
            <a:pathLst>
              <a:path w="718185" h="759460">
                <a:moveTo>
                  <a:pt x="717804" y="0"/>
                </a:moveTo>
                <a:lnTo>
                  <a:pt x="0" y="0"/>
                </a:lnTo>
                <a:lnTo>
                  <a:pt x="0" y="758951"/>
                </a:lnTo>
                <a:lnTo>
                  <a:pt x="717804" y="0"/>
                </a:lnTo>
                <a:close/>
              </a:path>
            </a:pathLst>
          </a:custGeom>
          <a:solidFill>
            <a:srgbClr val="EC7C30"/>
          </a:solidFill>
        </p:spPr>
        <p:txBody>
          <a:bodyPr wrap="square" lIns="0" tIns="0" rIns="0" bIns="0" rtlCol="0"/>
          <a:lstStyle/>
          <a:p>
            <a:endParaRPr/>
          </a:p>
        </p:txBody>
      </p:sp>
      <p:sp>
        <p:nvSpPr>
          <p:cNvPr id="13" name="object 13"/>
          <p:cNvSpPr/>
          <p:nvPr/>
        </p:nvSpPr>
        <p:spPr>
          <a:xfrm>
            <a:off x="3092195" y="2676144"/>
            <a:ext cx="942975" cy="228600"/>
          </a:xfrm>
          <a:custGeom>
            <a:avLst/>
            <a:gdLst/>
            <a:ahLst/>
            <a:cxnLst/>
            <a:rect l="l" t="t" r="r" b="b"/>
            <a:pathLst>
              <a:path w="942975" h="228600">
                <a:moveTo>
                  <a:pt x="714120" y="0"/>
                </a:moveTo>
                <a:lnTo>
                  <a:pt x="714120" y="228600"/>
                </a:lnTo>
                <a:lnTo>
                  <a:pt x="866520" y="152400"/>
                </a:lnTo>
                <a:lnTo>
                  <a:pt x="752220" y="152400"/>
                </a:lnTo>
                <a:lnTo>
                  <a:pt x="752220" y="76200"/>
                </a:lnTo>
                <a:lnTo>
                  <a:pt x="866520" y="76200"/>
                </a:lnTo>
                <a:lnTo>
                  <a:pt x="714120" y="0"/>
                </a:lnTo>
                <a:close/>
              </a:path>
              <a:path w="942975" h="228600">
                <a:moveTo>
                  <a:pt x="714120" y="76200"/>
                </a:moveTo>
                <a:lnTo>
                  <a:pt x="0" y="76200"/>
                </a:lnTo>
                <a:lnTo>
                  <a:pt x="0" y="152400"/>
                </a:lnTo>
                <a:lnTo>
                  <a:pt x="714120" y="152400"/>
                </a:lnTo>
                <a:lnTo>
                  <a:pt x="714120" y="76200"/>
                </a:lnTo>
                <a:close/>
              </a:path>
              <a:path w="942975" h="228600">
                <a:moveTo>
                  <a:pt x="866520" y="76200"/>
                </a:moveTo>
                <a:lnTo>
                  <a:pt x="752220" y="76200"/>
                </a:lnTo>
                <a:lnTo>
                  <a:pt x="752220" y="152400"/>
                </a:lnTo>
                <a:lnTo>
                  <a:pt x="866520" y="152400"/>
                </a:lnTo>
                <a:lnTo>
                  <a:pt x="942720" y="114300"/>
                </a:lnTo>
                <a:lnTo>
                  <a:pt x="866520" y="76200"/>
                </a:lnTo>
                <a:close/>
              </a:path>
            </a:pathLst>
          </a:custGeom>
          <a:solidFill>
            <a:srgbClr val="5B9BD4"/>
          </a:solidFill>
        </p:spPr>
        <p:txBody>
          <a:bodyPr wrap="square" lIns="0" tIns="0" rIns="0" bIns="0" rtlCol="0"/>
          <a:lstStyle/>
          <a:p>
            <a:endParaRPr/>
          </a:p>
        </p:txBody>
      </p:sp>
      <p:sp>
        <p:nvSpPr>
          <p:cNvPr id="14" name="object 14"/>
          <p:cNvSpPr txBox="1"/>
          <p:nvPr/>
        </p:nvSpPr>
        <p:spPr>
          <a:xfrm>
            <a:off x="371856" y="2557272"/>
            <a:ext cx="2720340" cy="462280"/>
          </a:xfrm>
          <a:prstGeom prst="rect">
            <a:avLst/>
          </a:prstGeom>
          <a:solidFill>
            <a:srgbClr val="179A44"/>
          </a:solidFill>
        </p:spPr>
        <p:txBody>
          <a:bodyPr vert="horz" wrap="square" lIns="0" tIns="0" rIns="0" bIns="0" rtlCol="0">
            <a:spAutoFit/>
          </a:bodyPr>
          <a:lstStyle/>
          <a:p>
            <a:pPr marL="196215">
              <a:lnSpc>
                <a:spcPct val="100000"/>
              </a:lnSpc>
            </a:pPr>
            <a:r>
              <a:rPr sz="2400" b="1" spc="-5" dirty="0">
                <a:solidFill>
                  <a:srgbClr val="FFFFFF"/>
                </a:solidFill>
                <a:latin typeface="微软雅黑"/>
                <a:cs typeface="微软雅黑"/>
              </a:rPr>
              <a:t>内部时钟CK</a:t>
            </a:r>
            <a:r>
              <a:rPr sz="2400" b="1" spc="5" dirty="0">
                <a:solidFill>
                  <a:srgbClr val="FFFFFF"/>
                </a:solidFill>
                <a:latin typeface="微软雅黑"/>
                <a:cs typeface="微软雅黑"/>
              </a:rPr>
              <a:t>_</a:t>
            </a:r>
            <a:r>
              <a:rPr sz="2400" b="1" spc="-5" dirty="0">
                <a:solidFill>
                  <a:srgbClr val="FFFFFF"/>
                </a:solidFill>
                <a:latin typeface="微软雅黑"/>
                <a:cs typeface="微软雅黑"/>
              </a:rPr>
              <a:t>INT</a:t>
            </a:r>
            <a:endParaRPr sz="2400">
              <a:latin typeface="微软雅黑"/>
              <a:cs typeface="微软雅黑"/>
            </a:endParaRPr>
          </a:p>
        </p:txBody>
      </p:sp>
      <p:sp>
        <p:nvSpPr>
          <p:cNvPr id="15" name="object 15"/>
          <p:cNvSpPr/>
          <p:nvPr/>
        </p:nvSpPr>
        <p:spPr>
          <a:xfrm>
            <a:off x="3061716" y="3517391"/>
            <a:ext cx="972819" cy="228600"/>
          </a:xfrm>
          <a:custGeom>
            <a:avLst/>
            <a:gdLst/>
            <a:ahLst/>
            <a:cxnLst/>
            <a:rect l="l" t="t" r="r" b="b"/>
            <a:pathLst>
              <a:path w="972820" h="228600">
                <a:moveTo>
                  <a:pt x="743711" y="0"/>
                </a:moveTo>
                <a:lnTo>
                  <a:pt x="743711" y="228600"/>
                </a:lnTo>
                <a:lnTo>
                  <a:pt x="896111" y="152400"/>
                </a:lnTo>
                <a:lnTo>
                  <a:pt x="781811" y="152400"/>
                </a:lnTo>
                <a:lnTo>
                  <a:pt x="781811" y="76200"/>
                </a:lnTo>
                <a:lnTo>
                  <a:pt x="896111" y="76200"/>
                </a:lnTo>
                <a:lnTo>
                  <a:pt x="743711" y="0"/>
                </a:lnTo>
                <a:close/>
              </a:path>
              <a:path w="972820" h="228600">
                <a:moveTo>
                  <a:pt x="743711" y="76200"/>
                </a:moveTo>
                <a:lnTo>
                  <a:pt x="0" y="76200"/>
                </a:lnTo>
                <a:lnTo>
                  <a:pt x="0" y="152400"/>
                </a:lnTo>
                <a:lnTo>
                  <a:pt x="743711" y="152400"/>
                </a:lnTo>
                <a:lnTo>
                  <a:pt x="743711" y="76200"/>
                </a:lnTo>
                <a:close/>
              </a:path>
              <a:path w="972820" h="228600">
                <a:moveTo>
                  <a:pt x="896111" y="76200"/>
                </a:moveTo>
                <a:lnTo>
                  <a:pt x="781811" y="76200"/>
                </a:lnTo>
                <a:lnTo>
                  <a:pt x="781811" y="152400"/>
                </a:lnTo>
                <a:lnTo>
                  <a:pt x="896111" y="152400"/>
                </a:lnTo>
                <a:lnTo>
                  <a:pt x="972311" y="114300"/>
                </a:lnTo>
                <a:lnTo>
                  <a:pt x="896111" y="76200"/>
                </a:lnTo>
                <a:close/>
              </a:path>
            </a:pathLst>
          </a:custGeom>
          <a:solidFill>
            <a:srgbClr val="5B9BD4"/>
          </a:solidFill>
        </p:spPr>
        <p:txBody>
          <a:bodyPr wrap="square" lIns="0" tIns="0" rIns="0" bIns="0" rtlCol="0"/>
          <a:lstStyle/>
          <a:p>
            <a:endParaRPr/>
          </a:p>
        </p:txBody>
      </p:sp>
      <p:sp>
        <p:nvSpPr>
          <p:cNvPr id="16" name="object 16"/>
          <p:cNvSpPr txBox="1"/>
          <p:nvPr/>
        </p:nvSpPr>
        <p:spPr>
          <a:xfrm>
            <a:off x="348995" y="3412235"/>
            <a:ext cx="2720340" cy="462280"/>
          </a:xfrm>
          <a:prstGeom prst="rect">
            <a:avLst/>
          </a:prstGeom>
          <a:solidFill>
            <a:srgbClr val="F9AE3A"/>
          </a:solidFill>
        </p:spPr>
        <p:txBody>
          <a:bodyPr vert="horz" wrap="square" lIns="0" tIns="0" rIns="0" bIns="0" rtlCol="0">
            <a:spAutoFit/>
          </a:bodyPr>
          <a:lstStyle/>
          <a:p>
            <a:pPr marL="128270">
              <a:lnSpc>
                <a:spcPct val="100000"/>
              </a:lnSpc>
            </a:pPr>
            <a:r>
              <a:rPr sz="2400" b="1" dirty="0">
                <a:solidFill>
                  <a:srgbClr val="FFFFFF"/>
                </a:solidFill>
                <a:latin typeface="微软雅黑"/>
                <a:cs typeface="微软雅黑"/>
              </a:rPr>
              <a:t>外部输入引脚</a:t>
            </a:r>
            <a:r>
              <a:rPr sz="2400" b="1" spc="-5" dirty="0">
                <a:solidFill>
                  <a:srgbClr val="FFFFFF"/>
                </a:solidFill>
                <a:latin typeface="微软雅黑"/>
                <a:cs typeface="微软雅黑"/>
              </a:rPr>
              <a:t>CHx</a:t>
            </a:r>
            <a:endParaRPr sz="2400">
              <a:latin typeface="微软雅黑"/>
              <a:cs typeface="微软雅黑"/>
            </a:endParaRPr>
          </a:p>
        </p:txBody>
      </p:sp>
      <p:sp>
        <p:nvSpPr>
          <p:cNvPr id="17" name="object 17"/>
          <p:cNvSpPr txBox="1"/>
          <p:nvPr/>
        </p:nvSpPr>
        <p:spPr>
          <a:xfrm>
            <a:off x="332231" y="4245864"/>
            <a:ext cx="2720340" cy="462280"/>
          </a:xfrm>
          <a:prstGeom prst="rect">
            <a:avLst/>
          </a:prstGeom>
          <a:solidFill>
            <a:srgbClr val="EF5A23"/>
          </a:solidFill>
        </p:spPr>
        <p:txBody>
          <a:bodyPr vert="horz" wrap="square" lIns="0" tIns="0" rIns="0" bIns="0" rtlCol="0">
            <a:spAutoFit/>
          </a:bodyPr>
          <a:lstStyle/>
          <a:p>
            <a:pPr marL="90805">
              <a:lnSpc>
                <a:spcPct val="100000"/>
              </a:lnSpc>
            </a:pPr>
            <a:r>
              <a:rPr sz="2400" b="1" dirty="0">
                <a:solidFill>
                  <a:srgbClr val="FFFFFF"/>
                </a:solidFill>
                <a:latin typeface="微软雅黑"/>
                <a:cs typeface="微软雅黑"/>
              </a:rPr>
              <a:t>外部触发输入</a:t>
            </a:r>
            <a:r>
              <a:rPr sz="2400" b="1" spc="5" dirty="0">
                <a:solidFill>
                  <a:srgbClr val="FFFFFF"/>
                </a:solidFill>
                <a:latin typeface="微软雅黑"/>
                <a:cs typeface="微软雅黑"/>
              </a:rPr>
              <a:t>E</a:t>
            </a:r>
            <a:r>
              <a:rPr sz="2400" b="1" spc="-5" dirty="0">
                <a:solidFill>
                  <a:srgbClr val="FFFFFF"/>
                </a:solidFill>
                <a:latin typeface="微软雅黑"/>
                <a:cs typeface="微软雅黑"/>
              </a:rPr>
              <a:t>TR</a:t>
            </a:r>
            <a:endParaRPr sz="2400">
              <a:latin typeface="微软雅黑"/>
              <a:cs typeface="微软雅黑"/>
            </a:endParaRPr>
          </a:p>
        </p:txBody>
      </p:sp>
      <p:sp>
        <p:nvSpPr>
          <p:cNvPr id="18" name="object 18"/>
          <p:cNvSpPr/>
          <p:nvPr/>
        </p:nvSpPr>
        <p:spPr>
          <a:xfrm>
            <a:off x="3061716" y="4331208"/>
            <a:ext cx="974090" cy="228600"/>
          </a:xfrm>
          <a:custGeom>
            <a:avLst/>
            <a:gdLst/>
            <a:ahLst/>
            <a:cxnLst/>
            <a:rect l="l" t="t" r="r" b="b"/>
            <a:pathLst>
              <a:path w="974089" h="228600">
                <a:moveTo>
                  <a:pt x="744982" y="0"/>
                </a:moveTo>
                <a:lnTo>
                  <a:pt x="744982" y="228600"/>
                </a:lnTo>
                <a:lnTo>
                  <a:pt x="897382" y="152400"/>
                </a:lnTo>
                <a:lnTo>
                  <a:pt x="783082" y="152400"/>
                </a:lnTo>
                <a:lnTo>
                  <a:pt x="783082" y="76200"/>
                </a:lnTo>
                <a:lnTo>
                  <a:pt x="897382" y="76200"/>
                </a:lnTo>
                <a:lnTo>
                  <a:pt x="744982" y="0"/>
                </a:lnTo>
                <a:close/>
              </a:path>
              <a:path w="974089" h="228600">
                <a:moveTo>
                  <a:pt x="744982" y="76200"/>
                </a:moveTo>
                <a:lnTo>
                  <a:pt x="0" y="76200"/>
                </a:lnTo>
                <a:lnTo>
                  <a:pt x="0" y="152400"/>
                </a:lnTo>
                <a:lnTo>
                  <a:pt x="744982" y="152400"/>
                </a:lnTo>
                <a:lnTo>
                  <a:pt x="744982" y="76200"/>
                </a:lnTo>
                <a:close/>
              </a:path>
              <a:path w="974089" h="228600">
                <a:moveTo>
                  <a:pt x="897382" y="76200"/>
                </a:moveTo>
                <a:lnTo>
                  <a:pt x="783082" y="76200"/>
                </a:lnTo>
                <a:lnTo>
                  <a:pt x="783082" y="152400"/>
                </a:lnTo>
                <a:lnTo>
                  <a:pt x="897382" y="152400"/>
                </a:lnTo>
                <a:lnTo>
                  <a:pt x="973582" y="114300"/>
                </a:lnTo>
                <a:lnTo>
                  <a:pt x="897382" y="76200"/>
                </a:lnTo>
                <a:close/>
              </a:path>
            </a:pathLst>
          </a:custGeom>
          <a:solidFill>
            <a:srgbClr val="5B9BD4"/>
          </a:solidFill>
        </p:spPr>
        <p:txBody>
          <a:bodyPr wrap="square" lIns="0" tIns="0" rIns="0" bIns="0" rtlCol="0"/>
          <a:lstStyle/>
          <a:p>
            <a:endParaRPr/>
          </a:p>
        </p:txBody>
      </p:sp>
      <p:sp>
        <p:nvSpPr>
          <p:cNvPr id="19" name="object 19"/>
          <p:cNvSpPr txBox="1"/>
          <p:nvPr/>
        </p:nvSpPr>
        <p:spPr>
          <a:xfrm>
            <a:off x="332231" y="5071871"/>
            <a:ext cx="2720340" cy="462280"/>
          </a:xfrm>
          <a:prstGeom prst="rect">
            <a:avLst/>
          </a:prstGeom>
          <a:solidFill>
            <a:srgbClr val="A261C4"/>
          </a:solidFill>
        </p:spPr>
        <p:txBody>
          <a:bodyPr vert="horz" wrap="square" lIns="0" tIns="0" rIns="0" bIns="0" rtlCol="0">
            <a:spAutoFit/>
          </a:bodyPr>
          <a:lstStyle/>
          <a:p>
            <a:pPr marL="103505">
              <a:lnSpc>
                <a:spcPct val="100000"/>
              </a:lnSpc>
            </a:pPr>
            <a:r>
              <a:rPr sz="2400" b="1" dirty="0">
                <a:solidFill>
                  <a:srgbClr val="FFFFFF"/>
                </a:solidFill>
                <a:latin typeface="微软雅黑"/>
                <a:cs typeface="微软雅黑"/>
              </a:rPr>
              <a:t>内部触发信</a:t>
            </a:r>
            <a:r>
              <a:rPr sz="2400" b="1" spc="-10" dirty="0">
                <a:solidFill>
                  <a:srgbClr val="FFFFFF"/>
                </a:solidFill>
                <a:latin typeface="微软雅黑"/>
                <a:cs typeface="微软雅黑"/>
              </a:rPr>
              <a:t>号</a:t>
            </a:r>
            <a:r>
              <a:rPr sz="2400" b="1" spc="-5" dirty="0">
                <a:solidFill>
                  <a:srgbClr val="FFFFFF"/>
                </a:solidFill>
                <a:latin typeface="微软雅黑"/>
                <a:cs typeface="微软雅黑"/>
              </a:rPr>
              <a:t>ITRx</a:t>
            </a:r>
            <a:endParaRPr sz="2400">
              <a:latin typeface="微软雅黑"/>
              <a:cs typeface="微软雅黑"/>
            </a:endParaRPr>
          </a:p>
        </p:txBody>
      </p:sp>
      <p:sp>
        <p:nvSpPr>
          <p:cNvPr id="20" name="object 20"/>
          <p:cNvSpPr/>
          <p:nvPr/>
        </p:nvSpPr>
        <p:spPr>
          <a:xfrm>
            <a:off x="3069335" y="5157215"/>
            <a:ext cx="965200" cy="228600"/>
          </a:xfrm>
          <a:custGeom>
            <a:avLst/>
            <a:gdLst/>
            <a:ahLst/>
            <a:cxnLst/>
            <a:rect l="l" t="t" r="r" b="b"/>
            <a:pathLst>
              <a:path w="965200" h="228600">
                <a:moveTo>
                  <a:pt x="736600" y="0"/>
                </a:moveTo>
                <a:lnTo>
                  <a:pt x="736600" y="228599"/>
                </a:lnTo>
                <a:lnTo>
                  <a:pt x="889000" y="152399"/>
                </a:lnTo>
                <a:lnTo>
                  <a:pt x="774700" y="152399"/>
                </a:lnTo>
                <a:lnTo>
                  <a:pt x="774700" y="76199"/>
                </a:lnTo>
                <a:lnTo>
                  <a:pt x="889000" y="76199"/>
                </a:lnTo>
                <a:lnTo>
                  <a:pt x="736600" y="0"/>
                </a:lnTo>
                <a:close/>
              </a:path>
              <a:path w="965200" h="228600">
                <a:moveTo>
                  <a:pt x="736600" y="76199"/>
                </a:moveTo>
                <a:lnTo>
                  <a:pt x="0" y="76199"/>
                </a:lnTo>
                <a:lnTo>
                  <a:pt x="0" y="152399"/>
                </a:lnTo>
                <a:lnTo>
                  <a:pt x="736600" y="152399"/>
                </a:lnTo>
                <a:lnTo>
                  <a:pt x="736600" y="76199"/>
                </a:lnTo>
                <a:close/>
              </a:path>
              <a:path w="965200" h="228600">
                <a:moveTo>
                  <a:pt x="889000" y="76199"/>
                </a:moveTo>
                <a:lnTo>
                  <a:pt x="774700" y="76199"/>
                </a:lnTo>
                <a:lnTo>
                  <a:pt x="774700" y="152399"/>
                </a:lnTo>
                <a:lnTo>
                  <a:pt x="889000" y="152399"/>
                </a:lnTo>
                <a:lnTo>
                  <a:pt x="965200" y="114299"/>
                </a:lnTo>
                <a:lnTo>
                  <a:pt x="889000" y="76199"/>
                </a:lnTo>
                <a:close/>
              </a:path>
            </a:pathLst>
          </a:custGeom>
          <a:solidFill>
            <a:srgbClr val="5B9BD4"/>
          </a:solidFill>
        </p:spPr>
        <p:txBody>
          <a:bodyPr wrap="square" lIns="0" tIns="0" rIns="0" bIns="0" rtlCol="0"/>
          <a:lstStyle/>
          <a:p>
            <a:endParaRPr/>
          </a:p>
        </p:txBody>
      </p:sp>
      <p:sp>
        <p:nvSpPr>
          <p:cNvPr id="21" name="object 21"/>
          <p:cNvSpPr txBox="1"/>
          <p:nvPr/>
        </p:nvSpPr>
        <p:spPr>
          <a:xfrm>
            <a:off x="4034028" y="2604516"/>
            <a:ext cx="718185" cy="2828925"/>
          </a:xfrm>
          <a:prstGeom prst="rect">
            <a:avLst/>
          </a:prstGeom>
          <a:solidFill>
            <a:srgbClr val="EC7C30"/>
          </a:solidFill>
        </p:spPr>
        <p:txBody>
          <a:bodyPr vert="horz" wrap="square" lIns="0" tIns="0" rIns="0" bIns="0" rtlCol="0">
            <a:spAutoFit/>
          </a:bodyPr>
          <a:lstStyle/>
          <a:p>
            <a:pPr marL="158750" marR="246379" algn="just">
              <a:lnSpc>
                <a:spcPct val="104200"/>
              </a:lnSpc>
            </a:pPr>
            <a:r>
              <a:rPr sz="2400" b="1" dirty="0">
                <a:solidFill>
                  <a:srgbClr val="FFFFFF"/>
                </a:solidFill>
                <a:latin typeface="微软雅黑"/>
                <a:cs typeface="微软雅黑"/>
              </a:rPr>
              <a:t>时 钟 源 选 择</a:t>
            </a:r>
            <a:endParaRPr sz="2400">
              <a:latin typeface="微软雅黑"/>
              <a:cs typeface="微软雅黑"/>
            </a:endParaRPr>
          </a:p>
        </p:txBody>
      </p:sp>
      <p:sp>
        <p:nvSpPr>
          <p:cNvPr id="22" name="object 22"/>
          <p:cNvSpPr/>
          <p:nvPr/>
        </p:nvSpPr>
        <p:spPr>
          <a:xfrm>
            <a:off x="4751832" y="3884676"/>
            <a:ext cx="1184910" cy="228600"/>
          </a:xfrm>
          <a:custGeom>
            <a:avLst/>
            <a:gdLst/>
            <a:ahLst/>
            <a:cxnLst/>
            <a:rect l="l" t="t" r="r" b="b"/>
            <a:pathLst>
              <a:path w="1184910" h="228600">
                <a:moveTo>
                  <a:pt x="955801" y="0"/>
                </a:moveTo>
                <a:lnTo>
                  <a:pt x="955801" y="228600"/>
                </a:lnTo>
                <a:lnTo>
                  <a:pt x="1108202" y="152400"/>
                </a:lnTo>
                <a:lnTo>
                  <a:pt x="993901" y="152400"/>
                </a:lnTo>
                <a:lnTo>
                  <a:pt x="993901" y="76200"/>
                </a:lnTo>
                <a:lnTo>
                  <a:pt x="1108202" y="76200"/>
                </a:lnTo>
                <a:lnTo>
                  <a:pt x="955801" y="0"/>
                </a:lnTo>
                <a:close/>
              </a:path>
              <a:path w="1184910" h="228600">
                <a:moveTo>
                  <a:pt x="955801" y="76200"/>
                </a:moveTo>
                <a:lnTo>
                  <a:pt x="0" y="76200"/>
                </a:lnTo>
                <a:lnTo>
                  <a:pt x="0" y="152400"/>
                </a:lnTo>
                <a:lnTo>
                  <a:pt x="955801" y="152400"/>
                </a:lnTo>
                <a:lnTo>
                  <a:pt x="955801" y="76200"/>
                </a:lnTo>
                <a:close/>
              </a:path>
              <a:path w="1184910" h="228600">
                <a:moveTo>
                  <a:pt x="1108202" y="76200"/>
                </a:moveTo>
                <a:lnTo>
                  <a:pt x="993901" y="76200"/>
                </a:lnTo>
                <a:lnTo>
                  <a:pt x="993901" y="152400"/>
                </a:lnTo>
                <a:lnTo>
                  <a:pt x="1108202" y="152400"/>
                </a:lnTo>
                <a:lnTo>
                  <a:pt x="1184402" y="114300"/>
                </a:lnTo>
                <a:lnTo>
                  <a:pt x="1108202" y="76200"/>
                </a:lnTo>
                <a:close/>
              </a:path>
            </a:pathLst>
          </a:custGeom>
          <a:solidFill>
            <a:srgbClr val="E34A46"/>
          </a:solidFill>
        </p:spPr>
        <p:txBody>
          <a:bodyPr wrap="square" lIns="0" tIns="0" rIns="0" bIns="0" rtlCol="0"/>
          <a:lstStyle/>
          <a:p>
            <a:endParaRPr/>
          </a:p>
        </p:txBody>
      </p:sp>
      <p:sp>
        <p:nvSpPr>
          <p:cNvPr id="23" name="object 23"/>
          <p:cNvSpPr txBox="1"/>
          <p:nvPr/>
        </p:nvSpPr>
        <p:spPr>
          <a:xfrm>
            <a:off x="5961888" y="3767328"/>
            <a:ext cx="4540250" cy="462280"/>
          </a:xfrm>
          <a:prstGeom prst="rect">
            <a:avLst/>
          </a:prstGeom>
          <a:solidFill>
            <a:srgbClr val="00AFEF"/>
          </a:solidFill>
        </p:spPr>
        <p:txBody>
          <a:bodyPr vert="horz" wrap="square" lIns="0" tIns="0" rIns="0" bIns="0" rtlCol="0">
            <a:spAutoFit/>
          </a:bodyPr>
          <a:lstStyle/>
          <a:p>
            <a:pPr marL="174625">
              <a:lnSpc>
                <a:spcPct val="100000"/>
              </a:lnSpc>
            </a:pPr>
            <a:r>
              <a:rPr sz="2400" b="1" spc="-5" dirty="0">
                <a:solidFill>
                  <a:srgbClr val="FFFFFF"/>
                </a:solidFill>
                <a:latin typeface="微软雅黑"/>
                <a:cs typeface="微软雅黑"/>
              </a:rPr>
              <a:t>时基单元的预分频时</a:t>
            </a:r>
            <a:r>
              <a:rPr sz="2400" b="1" dirty="0">
                <a:solidFill>
                  <a:srgbClr val="FFFFFF"/>
                </a:solidFill>
                <a:latin typeface="微软雅黑"/>
                <a:cs typeface="微软雅黑"/>
              </a:rPr>
              <a:t>钟</a:t>
            </a:r>
            <a:r>
              <a:rPr sz="2400" b="1" spc="-5" dirty="0">
                <a:solidFill>
                  <a:srgbClr val="FFFFFF"/>
                </a:solidFill>
                <a:latin typeface="微软雅黑"/>
                <a:cs typeface="微软雅黑"/>
              </a:rPr>
              <a:t>C</a:t>
            </a:r>
            <a:r>
              <a:rPr sz="2400" b="1" spc="5" dirty="0">
                <a:solidFill>
                  <a:srgbClr val="FFFFFF"/>
                </a:solidFill>
                <a:latin typeface="微软雅黑"/>
                <a:cs typeface="微软雅黑"/>
              </a:rPr>
              <a:t>K</a:t>
            </a:r>
            <a:r>
              <a:rPr sz="2400" b="1" spc="-5" dirty="0">
                <a:solidFill>
                  <a:srgbClr val="FFFFFF"/>
                </a:solidFill>
                <a:latin typeface="微软雅黑"/>
                <a:cs typeface="微软雅黑"/>
              </a:rPr>
              <a:t>_P</a:t>
            </a:r>
            <a:r>
              <a:rPr sz="2400" b="1" spc="-10" dirty="0">
                <a:solidFill>
                  <a:srgbClr val="FFFFFF"/>
                </a:solidFill>
                <a:latin typeface="微软雅黑"/>
                <a:cs typeface="微软雅黑"/>
              </a:rPr>
              <a:t>S</a:t>
            </a:r>
            <a:r>
              <a:rPr sz="2400" b="1" dirty="0">
                <a:solidFill>
                  <a:srgbClr val="FFFFFF"/>
                </a:solidFill>
                <a:latin typeface="微软雅黑"/>
                <a:cs typeface="微软雅黑"/>
              </a:rPr>
              <a:t>C</a:t>
            </a:r>
            <a:endParaRPr sz="2400">
              <a:latin typeface="微软雅黑"/>
              <a:cs typeface="微软雅黑"/>
            </a:endParaRPr>
          </a:p>
        </p:txBody>
      </p:sp>
      <p:sp>
        <p:nvSpPr>
          <p:cNvPr id="24" name="object 24"/>
          <p:cNvSpPr/>
          <p:nvPr/>
        </p:nvSpPr>
        <p:spPr>
          <a:xfrm>
            <a:off x="5367528" y="2179782"/>
            <a:ext cx="300118" cy="337837"/>
          </a:xfrm>
          <a:prstGeom prst="rect">
            <a:avLst/>
          </a:prstGeom>
          <a:blipFill>
            <a:blip r:embed="rId4" cstate="print"/>
            <a:stretch>
              <a:fillRect/>
            </a:stretch>
          </a:blipFill>
        </p:spPr>
        <p:txBody>
          <a:bodyPr wrap="square" lIns="0" tIns="0" rIns="0" bIns="0" rtlCol="0"/>
          <a:lstStyle/>
          <a:p>
            <a:endParaRPr/>
          </a:p>
        </p:txBody>
      </p:sp>
      <p:sp>
        <p:nvSpPr>
          <p:cNvPr id="25" name="object 25"/>
          <p:cNvSpPr/>
          <p:nvPr/>
        </p:nvSpPr>
        <p:spPr>
          <a:xfrm>
            <a:off x="5370576" y="2183996"/>
            <a:ext cx="293853" cy="329079"/>
          </a:xfrm>
          <a:prstGeom prst="rect">
            <a:avLst/>
          </a:prstGeom>
          <a:blipFill>
            <a:blip r:embed="rId5" cstate="print"/>
            <a:stretch>
              <a:fillRect/>
            </a:stretch>
          </a:blipFill>
        </p:spPr>
        <p:txBody>
          <a:bodyPr wrap="square" lIns="0" tIns="0" rIns="0" bIns="0" rtlCol="0"/>
          <a:lstStyle/>
          <a:p>
            <a:endParaRPr/>
          </a:p>
        </p:txBody>
      </p:sp>
      <p:sp>
        <p:nvSpPr>
          <p:cNvPr id="26" name="object 26"/>
          <p:cNvSpPr/>
          <p:nvPr/>
        </p:nvSpPr>
        <p:spPr>
          <a:xfrm>
            <a:off x="5378196" y="2194656"/>
            <a:ext cx="278629" cy="307134"/>
          </a:xfrm>
          <a:prstGeom prst="rect">
            <a:avLst/>
          </a:prstGeom>
          <a:blipFill>
            <a:blip r:embed="rId6" cstate="print"/>
            <a:stretch>
              <a:fillRect/>
            </a:stretch>
          </a:blipFill>
        </p:spPr>
        <p:txBody>
          <a:bodyPr wrap="square" lIns="0" tIns="0" rIns="0" bIns="0" rtlCol="0"/>
          <a:lstStyle/>
          <a:p>
            <a:endParaRPr/>
          </a:p>
        </p:txBody>
      </p:sp>
      <p:sp>
        <p:nvSpPr>
          <p:cNvPr id="27" name="object 27"/>
          <p:cNvSpPr/>
          <p:nvPr/>
        </p:nvSpPr>
        <p:spPr>
          <a:xfrm>
            <a:off x="5393435" y="2184547"/>
            <a:ext cx="248099" cy="249154"/>
          </a:xfrm>
          <a:prstGeom prst="rect">
            <a:avLst/>
          </a:prstGeom>
          <a:blipFill>
            <a:blip r:embed="rId7" cstate="print"/>
            <a:stretch>
              <a:fillRect/>
            </a:stretch>
          </a:blipFill>
        </p:spPr>
        <p:txBody>
          <a:bodyPr wrap="square" lIns="0" tIns="0" rIns="0" bIns="0" rtlCol="0"/>
          <a:lstStyle/>
          <a:p>
            <a:endParaRPr/>
          </a:p>
        </p:txBody>
      </p:sp>
      <p:sp>
        <p:nvSpPr>
          <p:cNvPr id="28" name="object 28"/>
          <p:cNvSpPr/>
          <p:nvPr/>
        </p:nvSpPr>
        <p:spPr>
          <a:xfrm>
            <a:off x="5176265" y="2026157"/>
            <a:ext cx="6006465" cy="1254760"/>
          </a:xfrm>
          <a:custGeom>
            <a:avLst/>
            <a:gdLst/>
            <a:ahLst/>
            <a:cxnLst/>
            <a:rect l="l" t="t" r="r" b="b"/>
            <a:pathLst>
              <a:path w="6006465" h="1254760">
                <a:moveTo>
                  <a:pt x="0" y="1254252"/>
                </a:moveTo>
                <a:lnTo>
                  <a:pt x="6006084" y="1254252"/>
                </a:lnTo>
                <a:lnTo>
                  <a:pt x="6006084" y="0"/>
                </a:lnTo>
                <a:lnTo>
                  <a:pt x="0" y="0"/>
                </a:lnTo>
                <a:lnTo>
                  <a:pt x="0" y="1254252"/>
                </a:lnTo>
                <a:close/>
              </a:path>
            </a:pathLst>
          </a:custGeom>
          <a:ln w="38100">
            <a:solidFill>
              <a:srgbClr val="E34A46"/>
            </a:solidFill>
          </a:ln>
        </p:spPr>
        <p:txBody>
          <a:bodyPr wrap="square" lIns="0" tIns="0" rIns="0" bIns="0" rtlCol="0"/>
          <a:lstStyle/>
          <a:p>
            <a:endParaRPr/>
          </a:p>
        </p:txBody>
      </p:sp>
      <p:sp>
        <p:nvSpPr>
          <p:cNvPr id="29" name="object 29"/>
          <p:cNvSpPr/>
          <p:nvPr/>
        </p:nvSpPr>
        <p:spPr>
          <a:xfrm>
            <a:off x="5384291" y="5061666"/>
            <a:ext cx="300118" cy="337837"/>
          </a:xfrm>
          <a:prstGeom prst="rect">
            <a:avLst/>
          </a:prstGeom>
          <a:blipFill>
            <a:blip r:embed="rId8" cstate="print"/>
            <a:stretch>
              <a:fillRect/>
            </a:stretch>
          </a:blipFill>
        </p:spPr>
        <p:txBody>
          <a:bodyPr wrap="square" lIns="0" tIns="0" rIns="0" bIns="0" rtlCol="0"/>
          <a:lstStyle/>
          <a:p>
            <a:endParaRPr/>
          </a:p>
        </p:txBody>
      </p:sp>
      <p:sp>
        <p:nvSpPr>
          <p:cNvPr id="30" name="object 30"/>
          <p:cNvSpPr/>
          <p:nvPr/>
        </p:nvSpPr>
        <p:spPr>
          <a:xfrm>
            <a:off x="5387340" y="5065860"/>
            <a:ext cx="292385" cy="328550"/>
          </a:xfrm>
          <a:prstGeom prst="rect">
            <a:avLst/>
          </a:prstGeom>
          <a:blipFill>
            <a:blip r:embed="rId9" cstate="print"/>
            <a:stretch>
              <a:fillRect/>
            </a:stretch>
          </a:blipFill>
        </p:spPr>
        <p:txBody>
          <a:bodyPr wrap="square" lIns="0" tIns="0" rIns="0" bIns="0" rtlCol="0"/>
          <a:lstStyle/>
          <a:p>
            <a:endParaRPr/>
          </a:p>
        </p:txBody>
      </p:sp>
      <p:sp>
        <p:nvSpPr>
          <p:cNvPr id="31" name="object 31"/>
          <p:cNvSpPr/>
          <p:nvPr/>
        </p:nvSpPr>
        <p:spPr>
          <a:xfrm>
            <a:off x="5394959" y="5076540"/>
            <a:ext cx="278629" cy="307134"/>
          </a:xfrm>
          <a:prstGeom prst="rect">
            <a:avLst/>
          </a:prstGeom>
          <a:blipFill>
            <a:blip r:embed="rId10" cstate="print"/>
            <a:stretch>
              <a:fillRect/>
            </a:stretch>
          </a:blipFill>
        </p:spPr>
        <p:txBody>
          <a:bodyPr wrap="square" lIns="0" tIns="0" rIns="0" bIns="0" rtlCol="0"/>
          <a:lstStyle/>
          <a:p>
            <a:endParaRPr/>
          </a:p>
        </p:txBody>
      </p:sp>
      <p:sp>
        <p:nvSpPr>
          <p:cNvPr id="32" name="object 32"/>
          <p:cNvSpPr/>
          <p:nvPr/>
        </p:nvSpPr>
        <p:spPr>
          <a:xfrm>
            <a:off x="5410200" y="5066431"/>
            <a:ext cx="248099" cy="249154"/>
          </a:xfrm>
          <a:prstGeom prst="rect">
            <a:avLst/>
          </a:prstGeom>
          <a:blipFill>
            <a:blip r:embed="rId7" cstate="print"/>
            <a:stretch>
              <a:fillRect/>
            </a:stretch>
          </a:blipFill>
        </p:spPr>
        <p:txBody>
          <a:bodyPr wrap="square" lIns="0" tIns="0" rIns="0" bIns="0" rtlCol="0"/>
          <a:lstStyle/>
          <a:p>
            <a:endParaRPr/>
          </a:p>
        </p:txBody>
      </p:sp>
      <p:sp>
        <p:nvSpPr>
          <p:cNvPr id="33" name="object 33"/>
          <p:cNvSpPr/>
          <p:nvPr/>
        </p:nvSpPr>
        <p:spPr>
          <a:xfrm>
            <a:off x="5193029" y="4909565"/>
            <a:ext cx="6006465" cy="1254760"/>
          </a:xfrm>
          <a:custGeom>
            <a:avLst/>
            <a:gdLst/>
            <a:ahLst/>
            <a:cxnLst/>
            <a:rect l="l" t="t" r="r" b="b"/>
            <a:pathLst>
              <a:path w="6006465" h="1254760">
                <a:moveTo>
                  <a:pt x="0" y="1254252"/>
                </a:moveTo>
                <a:lnTo>
                  <a:pt x="6006083" y="1254252"/>
                </a:lnTo>
                <a:lnTo>
                  <a:pt x="6006083" y="0"/>
                </a:lnTo>
                <a:lnTo>
                  <a:pt x="0" y="0"/>
                </a:lnTo>
                <a:lnTo>
                  <a:pt x="0" y="1254252"/>
                </a:lnTo>
                <a:close/>
              </a:path>
            </a:pathLst>
          </a:custGeom>
          <a:ln w="38100">
            <a:solidFill>
              <a:srgbClr val="E34A46"/>
            </a:solidFill>
          </a:ln>
        </p:spPr>
        <p:txBody>
          <a:bodyPr wrap="square" lIns="0" tIns="0" rIns="0" bIns="0" rtlCol="0"/>
          <a:lstStyle/>
          <a:p>
            <a:endParaRPr/>
          </a:p>
        </p:txBody>
      </p:sp>
      <p:sp>
        <p:nvSpPr>
          <p:cNvPr id="34" name="object 3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35" name="object 3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36" name="object 36"/>
          <p:cNvSpPr/>
          <p:nvPr/>
        </p:nvSpPr>
        <p:spPr>
          <a:xfrm>
            <a:off x="7395209" y="1529333"/>
            <a:ext cx="1600200" cy="573405"/>
          </a:xfrm>
          <a:custGeom>
            <a:avLst/>
            <a:gdLst/>
            <a:ahLst/>
            <a:cxnLst/>
            <a:rect l="l" t="t" r="r" b="b"/>
            <a:pathLst>
              <a:path w="1600200" h="573405">
                <a:moveTo>
                  <a:pt x="1504696" y="0"/>
                </a:moveTo>
                <a:lnTo>
                  <a:pt x="933450" y="0"/>
                </a:lnTo>
                <a:lnTo>
                  <a:pt x="86177" y="450"/>
                </a:lnTo>
                <a:lnTo>
                  <a:pt x="46247" y="13685"/>
                </a:lnTo>
                <a:lnTo>
                  <a:pt x="16413" y="41987"/>
                </a:lnTo>
                <a:lnTo>
                  <a:pt x="1107" y="80926"/>
                </a:lnTo>
                <a:lnTo>
                  <a:pt x="0" y="95503"/>
                </a:lnTo>
                <a:lnTo>
                  <a:pt x="0" y="477519"/>
                </a:lnTo>
                <a:lnTo>
                  <a:pt x="13685" y="526776"/>
                </a:lnTo>
                <a:lnTo>
                  <a:pt x="41987" y="556610"/>
                </a:lnTo>
                <a:lnTo>
                  <a:pt x="80926" y="571916"/>
                </a:lnTo>
                <a:lnTo>
                  <a:pt x="95504" y="573024"/>
                </a:lnTo>
                <a:lnTo>
                  <a:pt x="1333500" y="573024"/>
                </a:lnTo>
                <a:lnTo>
                  <a:pt x="1514022" y="572573"/>
                </a:lnTo>
                <a:lnTo>
                  <a:pt x="1553952" y="559338"/>
                </a:lnTo>
                <a:lnTo>
                  <a:pt x="1583786" y="531036"/>
                </a:lnTo>
                <a:lnTo>
                  <a:pt x="1599092" y="492097"/>
                </a:lnTo>
                <a:lnTo>
                  <a:pt x="1600200" y="477519"/>
                </a:lnTo>
                <a:lnTo>
                  <a:pt x="1600200" y="334263"/>
                </a:lnTo>
                <a:lnTo>
                  <a:pt x="1599749" y="86177"/>
                </a:lnTo>
                <a:lnTo>
                  <a:pt x="1586514" y="46247"/>
                </a:lnTo>
                <a:lnTo>
                  <a:pt x="1558212" y="16413"/>
                </a:lnTo>
                <a:lnTo>
                  <a:pt x="1519273" y="1107"/>
                </a:lnTo>
                <a:lnTo>
                  <a:pt x="1504696" y="0"/>
                </a:lnTo>
                <a:close/>
              </a:path>
            </a:pathLst>
          </a:custGeom>
          <a:solidFill>
            <a:srgbClr val="FFFFC7"/>
          </a:solidFill>
        </p:spPr>
        <p:txBody>
          <a:bodyPr wrap="square" lIns="0" tIns="0" rIns="0" bIns="0" rtlCol="0"/>
          <a:lstStyle/>
          <a:p>
            <a:endParaRPr/>
          </a:p>
        </p:txBody>
      </p:sp>
      <p:sp>
        <p:nvSpPr>
          <p:cNvPr id="37" name="object 37"/>
          <p:cNvSpPr/>
          <p:nvPr/>
        </p:nvSpPr>
        <p:spPr>
          <a:xfrm>
            <a:off x="7395209" y="1529333"/>
            <a:ext cx="1600200" cy="573405"/>
          </a:xfrm>
          <a:custGeom>
            <a:avLst/>
            <a:gdLst/>
            <a:ahLst/>
            <a:cxnLst/>
            <a:rect l="l" t="t" r="r" b="b"/>
            <a:pathLst>
              <a:path w="1600200" h="573405">
                <a:moveTo>
                  <a:pt x="0" y="95503"/>
                </a:moveTo>
                <a:lnTo>
                  <a:pt x="9478" y="54004"/>
                </a:lnTo>
                <a:lnTo>
                  <a:pt x="34961" y="21664"/>
                </a:lnTo>
                <a:lnTo>
                  <a:pt x="72019" y="2914"/>
                </a:lnTo>
                <a:lnTo>
                  <a:pt x="933450" y="0"/>
                </a:lnTo>
                <a:lnTo>
                  <a:pt x="1333500" y="0"/>
                </a:lnTo>
                <a:lnTo>
                  <a:pt x="1504696" y="0"/>
                </a:lnTo>
                <a:lnTo>
                  <a:pt x="1519273" y="1107"/>
                </a:lnTo>
                <a:lnTo>
                  <a:pt x="1558212" y="16413"/>
                </a:lnTo>
                <a:lnTo>
                  <a:pt x="1586514" y="46247"/>
                </a:lnTo>
                <a:lnTo>
                  <a:pt x="1599749" y="86177"/>
                </a:lnTo>
                <a:lnTo>
                  <a:pt x="1600200" y="334263"/>
                </a:lnTo>
                <a:lnTo>
                  <a:pt x="1600200" y="477519"/>
                </a:lnTo>
                <a:lnTo>
                  <a:pt x="1599092" y="492097"/>
                </a:lnTo>
                <a:lnTo>
                  <a:pt x="1595877" y="505985"/>
                </a:lnTo>
                <a:lnTo>
                  <a:pt x="1575237" y="541870"/>
                </a:lnTo>
                <a:lnTo>
                  <a:pt x="1541545" y="565642"/>
                </a:lnTo>
                <a:lnTo>
                  <a:pt x="1333500" y="573024"/>
                </a:lnTo>
                <a:lnTo>
                  <a:pt x="1056513" y="573024"/>
                </a:lnTo>
                <a:lnTo>
                  <a:pt x="933450" y="573024"/>
                </a:lnTo>
                <a:lnTo>
                  <a:pt x="95504" y="573024"/>
                </a:lnTo>
                <a:lnTo>
                  <a:pt x="80926" y="571916"/>
                </a:lnTo>
                <a:lnTo>
                  <a:pt x="41987" y="556610"/>
                </a:lnTo>
                <a:lnTo>
                  <a:pt x="13685" y="526776"/>
                </a:lnTo>
                <a:lnTo>
                  <a:pt x="450" y="486846"/>
                </a:lnTo>
                <a:lnTo>
                  <a:pt x="0" y="477519"/>
                </a:lnTo>
                <a:lnTo>
                  <a:pt x="0" y="334263"/>
                </a:lnTo>
                <a:lnTo>
                  <a:pt x="0" y="95503"/>
                </a:lnTo>
                <a:close/>
              </a:path>
            </a:pathLst>
          </a:custGeom>
          <a:ln w="28956">
            <a:solidFill>
              <a:srgbClr val="000000"/>
            </a:solidFill>
          </a:ln>
        </p:spPr>
        <p:txBody>
          <a:bodyPr wrap="square" lIns="0" tIns="0" rIns="0" bIns="0" rtlCol="0"/>
          <a:lstStyle/>
          <a:p>
            <a:endParaRPr/>
          </a:p>
        </p:txBody>
      </p:sp>
      <p:sp>
        <p:nvSpPr>
          <p:cNvPr id="38" name="object 38"/>
          <p:cNvSpPr txBox="1"/>
          <p:nvPr/>
        </p:nvSpPr>
        <p:spPr>
          <a:xfrm>
            <a:off x="5812663" y="1650809"/>
            <a:ext cx="5235575" cy="1414780"/>
          </a:xfrm>
          <a:prstGeom prst="rect">
            <a:avLst/>
          </a:prstGeom>
        </p:spPr>
        <p:txBody>
          <a:bodyPr vert="horz" wrap="square" lIns="0" tIns="0" rIns="0" bIns="0" rtlCol="0">
            <a:spAutoFit/>
          </a:bodyPr>
          <a:lstStyle/>
          <a:p>
            <a:pPr marL="12700" marR="5080" indent="1757680">
              <a:lnSpc>
                <a:spcPct val="145800"/>
              </a:lnSpc>
            </a:pPr>
            <a:r>
              <a:rPr sz="2400" b="1" dirty="0">
                <a:latin typeface="宋体"/>
                <a:cs typeface="宋体"/>
              </a:rPr>
              <a:t>计数模式 </a:t>
            </a:r>
            <a:r>
              <a:rPr sz="2400" b="1" spc="-5" dirty="0">
                <a:solidFill>
                  <a:srgbClr val="FF0000"/>
                </a:solidFill>
                <a:latin typeface="微软雅黑"/>
                <a:cs typeface="微软雅黑"/>
              </a:rPr>
              <a:t>外部时钟模式</a:t>
            </a:r>
            <a:r>
              <a:rPr sz="2400" b="1" spc="-10" dirty="0">
                <a:solidFill>
                  <a:srgbClr val="FF0000"/>
                </a:solidFill>
                <a:latin typeface="微软雅黑"/>
                <a:cs typeface="微软雅黑"/>
              </a:rPr>
              <a:t>1</a:t>
            </a:r>
            <a:r>
              <a:rPr sz="2400" b="1" spc="-5" dirty="0">
                <a:solidFill>
                  <a:srgbClr val="FF0000"/>
                </a:solidFill>
                <a:latin typeface="微软雅黑"/>
                <a:cs typeface="微软雅黑"/>
              </a:rPr>
              <a:t>：</a:t>
            </a:r>
            <a:r>
              <a:rPr sz="2400" b="1" spc="-5" dirty="0">
                <a:latin typeface="微软雅黑"/>
                <a:cs typeface="微软雅黑"/>
              </a:rPr>
              <a:t>对来自捕</a:t>
            </a:r>
            <a:r>
              <a:rPr sz="2400" b="1" dirty="0">
                <a:latin typeface="微软雅黑"/>
                <a:cs typeface="微软雅黑"/>
              </a:rPr>
              <a:t>获/</a:t>
            </a:r>
            <a:r>
              <a:rPr sz="2400" b="1" spc="-5" dirty="0">
                <a:latin typeface="微软雅黑"/>
                <a:cs typeface="微软雅黑"/>
              </a:rPr>
              <a:t>比较通道 CH1/CH</a:t>
            </a:r>
            <a:r>
              <a:rPr sz="2400" b="1" dirty="0">
                <a:latin typeface="微软雅黑"/>
                <a:cs typeface="微软雅黑"/>
              </a:rPr>
              <a:t>2的外部脉冲信号进行计数</a:t>
            </a:r>
            <a:endParaRPr sz="2400">
              <a:latin typeface="微软雅黑"/>
              <a:cs typeface="微软雅黑"/>
            </a:endParaRPr>
          </a:p>
        </p:txBody>
      </p:sp>
      <p:sp>
        <p:nvSpPr>
          <p:cNvPr id="39" name="object 39"/>
          <p:cNvSpPr/>
          <p:nvPr/>
        </p:nvSpPr>
        <p:spPr>
          <a:xfrm>
            <a:off x="7395209" y="4437126"/>
            <a:ext cx="1600200" cy="573405"/>
          </a:xfrm>
          <a:custGeom>
            <a:avLst/>
            <a:gdLst/>
            <a:ahLst/>
            <a:cxnLst/>
            <a:rect l="l" t="t" r="r" b="b"/>
            <a:pathLst>
              <a:path w="1600200" h="573404">
                <a:moveTo>
                  <a:pt x="1504696" y="0"/>
                </a:moveTo>
                <a:lnTo>
                  <a:pt x="933450" y="0"/>
                </a:lnTo>
                <a:lnTo>
                  <a:pt x="86177" y="450"/>
                </a:lnTo>
                <a:lnTo>
                  <a:pt x="46247" y="13685"/>
                </a:lnTo>
                <a:lnTo>
                  <a:pt x="16413" y="41987"/>
                </a:lnTo>
                <a:lnTo>
                  <a:pt x="1107" y="80926"/>
                </a:lnTo>
                <a:lnTo>
                  <a:pt x="0" y="95504"/>
                </a:lnTo>
                <a:lnTo>
                  <a:pt x="0" y="477519"/>
                </a:lnTo>
                <a:lnTo>
                  <a:pt x="13685" y="526776"/>
                </a:lnTo>
                <a:lnTo>
                  <a:pt x="41987" y="556610"/>
                </a:lnTo>
                <a:lnTo>
                  <a:pt x="80926" y="571916"/>
                </a:lnTo>
                <a:lnTo>
                  <a:pt x="95504" y="573024"/>
                </a:lnTo>
                <a:lnTo>
                  <a:pt x="1333500" y="573024"/>
                </a:lnTo>
                <a:lnTo>
                  <a:pt x="1514022" y="572573"/>
                </a:lnTo>
                <a:lnTo>
                  <a:pt x="1553952" y="559338"/>
                </a:lnTo>
                <a:lnTo>
                  <a:pt x="1583786" y="531036"/>
                </a:lnTo>
                <a:lnTo>
                  <a:pt x="1599092" y="492097"/>
                </a:lnTo>
                <a:lnTo>
                  <a:pt x="1600200" y="477519"/>
                </a:lnTo>
                <a:lnTo>
                  <a:pt x="1600200" y="334263"/>
                </a:lnTo>
                <a:lnTo>
                  <a:pt x="1599749" y="86177"/>
                </a:lnTo>
                <a:lnTo>
                  <a:pt x="1586514" y="46247"/>
                </a:lnTo>
                <a:lnTo>
                  <a:pt x="1558212" y="16413"/>
                </a:lnTo>
                <a:lnTo>
                  <a:pt x="1519273" y="1107"/>
                </a:lnTo>
                <a:lnTo>
                  <a:pt x="1504696" y="0"/>
                </a:lnTo>
                <a:close/>
              </a:path>
            </a:pathLst>
          </a:custGeom>
          <a:solidFill>
            <a:srgbClr val="FFFFC7"/>
          </a:solidFill>
        </p:spPr>
        <p:txBody>
          <a:bodyPr wrap="square" lIns="0" tIns="0" rIns="0" bIns="0" rtlCol="0"/>
          <a:lstStyle/>
          <a:p>
            <a:endParaRPr/>
          </a:p>
        </p:txBody>
      </p:sp>
      <p:sp>
        <p:nvSpPr>
          <p:cNvPr id="40" name="object 40"/>
          <p:cNvSpPr/>
          <p:nvPr/>
        </p:nvSpPr>
        <p:spPr>
          <a:xfrm>
            <a:off x="7395209" y="4437126"/>
            <a:ext cx="1600200" cy="573405"/>
          </a:xfrm>
          <a:custGeom>
            <a:avLst/>
            <a:gdLst/>
            <a:ahLst/>
            <a:cxnLst/>
            <a:rect l="l" t="t" r="r" b="b"/>
            <a:pathLst>
              <a:path w="1600200" h="573404">
                <a:moveTo>
                  <a:pt x="0" y="95504"/>
                </a:moveTo>
                <a:lnTo>
                  <a:pt x="9478" y="54004"/>
                </a:lnTo>
                <a:lnTo>
                  <a:pt x="34961" y="21664"/>
                </a:lnTo>
                <a:lnTo>
                  <a:pt x="72019" y="2914"/>
                </a:lnTo>
                <a:lnTo>
                  <a:pt x="933450" y="0"/>
                </a:lnTo>
                <a:lnTo>
                  <a:pt x="1333500" y="0"/>
                </a:lnTo>
                <a:lnTo>
                  <a:pt x="1504696" y="0"/>
                </a:lnTo>
                <a:lnTo>
                  <a:pt x="1519273" y="1107"/>
                </a:lnTo>
                <a:lnTo>
                  <a:pt x="1558212" y="16413"/>
                </a:lnTo>
                <a:lnTo>
                  <a:pt x="1586514" y="46247"/>
                </a:lnTo>
                <a:lnTo>
                  <a:pt x="1599749" y="86177"/>
                </a:lnTo>
                <a:lnTo>
                  <a:pt x="1600200" y="334263"/>
                </a:lnTo>
                <a:lnTo>
                  <a:pt x="1600200" y="477519"/>
                </a:lnTo>
                <a:lnTo>
                  <a:pt x="1599092" y="492097"/>
                </a:lnTo>
                <a:lnTo>
                  <a:pt x="1595877" y="505985"/>
                </a:lnTo>
                <a:lnTo>
                  <a:pt x="1575237" y="541870"/>
                </a:lnTo>
                <a:lnTo>
                  <a:pt x="1541545" y="565642"/>
                </a:lnTo>
                <a:lnTo>
                  <a:pt x="1333500" y="573024"/>
                </a:lnTo>
                <a:lnTo>
                  <a:pt x="1056513" y="573024"/>
                </a:lnTo>
                <a:lnTo>
                  <a:pt x="933450" y="573024"/>
                </a:lnTo>
                <a:lnTo>
                  <a:pt x="95504" y="573024"/>
                </a:lnTo>
                <a:lnTo>
                  <a:pt x="80926" y="571916"/>
                </a:lnTo>
                <a:lnTo>
                  <a:pt x="41987" y="556610"/>
                </a:lnTo>
                <a:lnTo>
                  <a:pt x="13685" y="526776"/>
                </a:lnTo>
                <a:lnTo>
                  <a:pt x="450" y="486846"/>
                </a:lnTo>
                <a:lnTo>
                  <a:pt x="0" y="477519"/>
                </a:lnTo>
                <a:lnTo>
                  <a:pt x="0" y="334263"/>
                </a:lnTo>
                <a:lnTo>
                  <a:pt x="0" y="95504"/>
                </a:lnTo>
                <a:close/>
              </a:path>
            </a:pathLst>
          </a:custGeom>
          <a:ln w="28956">
            <a:solidFill>
              <a:srgbClr val="000000"/>
            </a:solidFill>
          </a:ln>
        </p:spPr>
        <p:txBody>
          <a:bodyPr wrap="square" lIns="0" tIns="0" rIns="0" bIns="0" rtlCol="0"/>
          <a:lstStyle/>
          <a:p>
            <a:endParaRPr/>
          </a:p>
        </p:txBody>
      </p:sp>
      <p:sp>
        <p:nvSpPr>
          <p:cNvPr id="41" name="object 41"/>
          <p:cNvSpPr txBox="1"/>
          <p:nvPr/>
        </p:nvSpPr>
        <p:spPr>
          <a:xfrm>
            <a:off x="5829046" y="4558601"/>
            <a:ext cx="5090160" cy="1389380"/>
          </a:xfrm>
          <a:prstGeom prst="rect">
            <a:avLst/>
          </a:prstGeom>
        </p:spPr>
        <p:txBody>
          <a:bodyPr vert="horz" wrap="square" lIns="0" tIns="0" rIns="0" bIns="0" rtlCol="0">
            <a:spAutoFit/>
          </a:bodyPr>
          <a:lstStyle/>
          <a:p>
            <a:pPr marL="12700" marR="5080" indent="1741170">
              <a:lnSpc>
                <a:spcPct val="142400"/>
              </a:lnSpc>
            </a:pPr>
            <a:r>
              <a:rPr sz="2400" b="1" dirty="0">
                <a:latin typeface="宋体"/>
                <a:cs typeface="宋体"/>
              </a:rPr>
              <a:t>计数模式 </a:t>
            </a:r>
            <a:r>
              <a:rPr sz="2400" b="1" dirty="0">
                <a:solidFill>
                  <a:srgbClr val="FF0000"/>
                </a:solidFill>
                <a:latin typeface="微软雅黑"/>
                <a:cs typeface="微软雅黑"/>
              </a:rPr>
              <a:t>外部时钟模式</a:t>
            </a:r>
            <a:r>
              <a:rPr sz="2400" b="1" spc="-10" dirty="0">
                <a:solidFill>
                  <a:srgbClr val="FF0000"/>
                </a:solidFill>
                <a:latin typeface="微软雅黑"/>
                <a:cs typeface="微软雅黑"/>
              </a:rPr>
              <a:t>2</a:t>
            </a:r>
            <a:r>
              <a:rPr sz="2400" b="1" dirty="0">
                <a:solidFill>
                  <a:srgbClr val="FF0000"/>
                </a:solidFill>
                <a:latin typeface="微软雅黑"/>
                <a:cs typeface="微软雅黑"/>
              </a:rPr>
              <a:t>：</a:t>
            </a:r>
            <a:r>
              <a:rPr sz="2400" b="1" dirty="0">
                <a:latin typeface="微软雅黑"/>
                <a:cs typeface="微软雅黑"/>
              </a:rPr>
              <a:t>对来自外部触发引脚 </a:t>
            </a:r>
            <a:r>
              <a:rPr sz="2400" b="1" spc="5" dirty="0">
                <a:latin typeface="微软雅黑"/>
                <a:cs typeface="微软雅黑"/>
              </a:rPr>
              <a:t>E</a:t>
            </a:r>
            <a:r>
              <a:rPr sz="2400" b="1" spc="-5" dirty="0">
                <a:latin typeface="微软雅黑"/>
                <a:cs typeface="微软雅黑"/>
              </a:rPr>
              <a:t>T</a:t>
            </a:r>
            <a:r>
              <a:rPr sz="2400" b="1" spc="5" dirty="0">
                <a:latin typeface="微软雅黑"/>
                <a:cs typeface="微软雅黑"/>
              </a:rPr>
              <a:t>R</a:t>
            </a:r>
            <a:r>
              <a:rPr sz="2400" b="1" dirty="0">
                <a:latin typeface="微软雅黑"/>
                <a:cs typeface="微软雅黑"/>
              </a:rPr>
              <a:t>的外部脉冲信号进行计数</a:t>
            </a:r>
            <a:endParaRPr sz="2400">
              <a:latin typeface="微软雅黑"/>
              <a:cs typeface="微软雅黑"/>
            </a:endParaRPr>
          </a:p>
        </p:txBody>
      </p:sp>
      <p:sp>
        <p:nvSpPr>
          <p:cNvPr id="42" name="object 42"/>
          <p:cNvSpPr txBox="1">
            <a:spLocks noGrp="1"/>
          </p:cNvSpPr>
          <p:nvPr>
            <p:ph type="title"/>
          </p:nvPr>
        </p:nvSpPr>
        <p:spPr>
          <a:prstGeom prst="rect">
            <a:avLst/>
          </a:prstGeom>
        </p:spPr>
        <p:txBody>
          <a:bodyPr vert="horz" wrap="square" lIns="0" tIns="0" rIns="0" bIns="0" rtlCol="0">
            <a:spAutoFit/>
          </a:bodyPr>
          <a:lstStyle/>
          <a:p>
            <a:pPr marL="3718560">
              <a:lnSpc>
                <a:spcPct val="100000"/>
              </a:lnSpc>
            </a:pPr>
            <a:r>
              <a:rPr spc="-5" dirty="0"/>
              <a:t>时基单元的四种时钟源</a:t>
            </a:r>
          </a:p>
        </p:txBody>
      </p:sp>
    </p:spTree>
    <p:extLst>
      <p:ext uri="{BB962C8B-B14F-4D97-AF65-F5344CB8AC3E}">
        <p14:creationId xmlns:p14="http://schemas.microsoft.com/office/powerpoint/2010/main" val="1155653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277469" y="1162674"/>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内部结构</a:t>
            </a:r>
            <a:endParaRPr sz="2400">
              <a:latin typeface="微软雅黑"/>
              <a:cs typeface="微软雅黑"/>
            </a:endParaRPr>
          </a:p>
        </p:txBody>
      </p:sp>
      <p:sp>
        <p:nvSpPr>
          <p:cNvPr id="11" name="object 11"/>
          <p:cNvSpPr/>
          <p:nvPr/>
        </p:nvSpPr>
        <p:spPr>
          <a:xfrm>
            <a:off x="838200" y="2154935"/>
            <a:ext cx="10515600" cy="3998976"/>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823722" y="2140457"/>
            <a:ext cx="10544810" cy="4028440"/>
          </a:xfrm>
          <a:custGeom>
            <a:avLst/>
            <a:gdLst/>
            <a:ahLst/>
            <a:cxnLst/>
            <a:rect l="l" t="t" r="r" b="b"/>
            <a:pathLst>
              <a:path w="10544810" h="4028440">
                <a:moveTo>
                  <a:pt x="0" y="4027932"/>
                </a:moveTo>
                <a:lnTo>
                  <a:pt x="10544556" y="4027932"/>
                </a:lnTo>
                <a:lnTo>
                  <a:pt x="10544556" y="0"/>
                </a:lnTo>
                <a:lnTo>
                  <a:pt x="0" y="0"/>
                </a:lnTo>
                <a:lnTo>
                  <a:pt x="0" y="4027932"/>
                </a:lnTo>
                <a:close/>
              </a:path>
            </a:pathLst>
          </a:custGeom>
          <a:ln w="28956">
            <a:solidFill>
              <a:srgbClr val="5B9BD4"/>
            </a:solidFill>
          </a:ln>
        </p:spPr>
        <p:txBody>
          <a:bodyPr wrap="square" lIns="0" tIns="0" rIns="0" bIns="0" rtlCol="0"/>
          <a:lstStyle/>
          <a:p>
            <a:endParaRPr/>
          </a:p>
        </p:txBody>
      </p:sp>
      <p:sp>
        <p:nvSpPr>
          <p:cNvPr id="13" name="object 13"/>
          <p:cNvSpPr/>
          <p:nvPr/>
        </p:nvSpPr>
        <p:spPr>
          <a:xfrm>
            <a:off x="1415033" y="2876550"/>
            <a:ext cx="1911350" cy="571500"/>
          </a:xfrm>
          <a:custGeom>
            <a:avLst/>
            <a:gdLst/>
            <a:ahLst/>
            <a:cxnLst/>
            <a:rect l="l" t="t" r="r" b="b"/>
            <a:pathLst>
              <a:path w="1911350" h="571500">
                <a:moveTo>
                  <a:pt x="1815846" y="0"/>
                </a:moveTo>
                <a:lnTo>
                  <a:pt x="1114805" y="0"/>
                </a:lnTo>
                <a:lnTo>
                  <a:pt x="86332" y="412"/>
                </a:lnTo>
                <a:lnTo>
                  <a:pt x="46339" y="13513"/>
                </a:lnTo>
                <a:lnTo>
                  <a:pt x="16449" y="41748"/>
                </a:lnTo>
                <a:lnTo>
                  <a:pt x="1110" y="80670"/>
                </a:lnTo>
                <a:lnTo>
                  <a:pt x="0" y="95250"/>
                </a:lnTo>
                <a:lnTo>
                  <a:pt x="0" y="476250"/>
                </a:lnTo>
                <a:lnTo>
                  <a:pt x="13513" y="525160"/>
                </a:lnTo>
                <a:lnTo>
                  <a:pt x="41748" y="555050"/>
                </a:lnTo>
                <a:lnTo>
                  <a:pt x="80670" y="570389"/>
                </a:lnTo>
                <a:lnTo>
                  <a:pt x="95250" y="571500"/>
                </a:lnTo>
                <a:lnTo>
                  <a:pt x="1592580" y="571500"/>
                </a:lnTo>
                <a:lnTo>
                  <a:pt x="1824763" y="571087"/>
                </a:lnTo>
                <a:lnTo>
                  <a:pt x="1864756" y="557986"/>
                </a:lnTo>
                <a:lnTo>
                  <a:pt x="1894646" y="529751"/>
                </a:lnTo>
                <a:lnTo>
                  <a:pt x="1909985" y="490829"/>
                </a:lnTo>
                <a:lnTo>
                  <a:pt x="1911095" y="476250"/>
                </a:lnTo>
                <a:lnTo>
                  <a:pt x="1911095" y="333375"/>
                </a:lnTo>
                <a:lnTo>
                  <a:pt x="1910683" y="86332"/>
                </a:lnTo>
                <a:lnTo>
                  <a:pt x="1897582" y="46339"/>
                </a:lnTo>
                <a:lnTo>
                  <a:pt x="1869347" y="16449"/>
                </a:lnTo>
                <a:lnTo>
                  <a:pt x="1830425" y="1110"/>
                </a:lnTo>
                <a:lnTo>
                  <a:pt x="1815846" y="0"/>
                </a:lnTo>
                <a:close/>
              </a:path>
            </a:pathLst>
          </a:custGeom>
          <a:solidFill>
            <a:srgbClr val="FFFFC7"/>
          </a:solidFill>
        </p:spPr>
        <p:txBody>
          <a:bodyPr wrap="square" lIns="0" tIns="0" rIns="0" bIns="0" rtlCol="0"/>
          <a:lstStyle/>
          <a:p>
            <a:endParaRPr/>
          </a:p>
        </p:txBody>
      </p:sp>
      <p:sp>
        <p:nvSpPr>
          <p:cNvPr id="14" name="object 14"/>
          <p:cNvSpPr/>
          <p:nvPr/>
        </p:nvSpPr>
        <p:spPr>
          <a:xfrm>
            <a:off x="1415033" y="2876550"/>
            <a:ext cx="1911350" cy="571500"/>
          </a:xfrm>
          <a:custGeom>
            <a:avLst/>
            <a:gdLst/>
            <a:ahLst/>
            <a:cxnLst/>
            <a:rect l="l" t="t" r="r" b="b"/>
            <a:pathLst>
              <a:path w="1911350" h="571500">
                <a:moveTo>
                  <a:pt x="0" y="95250"/>
                </a:moveTo>
                <a:lnTo>
                  <a:pt x="9499" y="53754"/>
                </a:lnTo>
                <a:lnTo>
                  <a:pt x="35033" y="21463"/>
                </a:lnTo>
                <a:lnTo>
                  <a:pt x="72153" y="2823"/>
                </a:lnTo>
                <a:lnTo>
                  <a:pt x="1114805" y="0"/>
                </a:lnTo>
                <a:lnTo>
                  <a:pt x="1592580" y="0"/>
                </a:lnTo>
                <a:lnTo>
                  <a:pt x="1815846" y="0"/>
                </a:lnTo>
                <a:lnTo>
                  <a:pt x="1830425" y="1110"/>
                </a:lnTo>
                <a:lnTo>
                  <a:pt x="1869347" y="16449"/>
                </a:lnTo>
                <a:lnTo>
                  <a:pt x="1897582" y="46339"/>
                </a:lnTo>
                <a:lnTo>
                  <a:pt x="1910683" y="86332"/>
                </a:lnTo>
                <a:lnTo>
                  <a:pt x="1911095" y="333375"/>
                </a:lnTo>
                <a:lnTo>
                  <a:pt x="1911095" y="476250"/>
                </a:lnTo>
                <a:lnTo>
                  <a:pt x="1909985" y="490829"/>
                </a:lnTo>
                <a:lnTo>
                  <a:pt x="1906763" y="504716"/>
                </a:lnTo>
                <a:lnTo>
                  <a:pt x="1886080" y="540570"/>
                </a:lnTo>
                <a:lnTo>
                  <a:pt x="1852328" y="564254"/>
                </a:lnTo>
                <a:lnTo>
                  <a:pt x="1592580" y="571500"/>
                </a:lnTo>
                <a:lnTo>
                  <a:pt x="1308735" y="571500"/>
                </a:lnTo>
                <a:lnTo>
                  <a:pt x="1114805" y="571500"/>
                </a:lnTo>
                <a:lnTo>
                  <a:pt x="95250" y="571500"/>
                </a:lnTo>
                <a:lnTo>
                  <a:pt x="80670" y="570389"/>
                </a:lnTo>
                <a:lnTo>
                  <a:pt x="41748" y="555050"/>
                </a:lnTo>
                <a:lnTo>
                  <a:pt x="13513" y="525160"/>
                </a:lnTo>
                <a:lnTo>
                  <a:pt x="412" y="485167"/>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15" name="object 15"/>
          <p:cNvSpPr txBox="1"/>
          <p:nvPr/>
        </p:nvSpPr>
        <p:spPr>
          <a:xfrm>
            <a:off x="1744217" y="2997390"/>
            <a:ext cx="125095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边沿选择</a:t>
            </a:r>
            <a:endParaRPr sz="2400">
              <a:latin typeface="宋体"/>
              <a:cs typeface="宋体"/>
            </a:endParaRPr>
          </a:p>
        </p:txBody>
      </p:sp>
      <p:sp>
        <p:nvSpPr>
          <p:cNvPr id="16" name="object 16"/>
          <p:cNvSpPr/>
          <p:nvPr/>
        </p:nvSpPr>
        <p:spPr>
          <a:xfrm>
            <a:off x="3603497" y="2876550"/>
            <a:ext cx="1600200" cy="571500"/>
          </a:xfrm>
          <a:custGeom>
            <a:avLst/>
            <a:gdLst/>
            <a:ahLst/>
            <a:cxnLst/>
            <a:rect l="l" t="t" r="r" b="b"/>
            <a:pathLst>
              <a:path w="1600200" h="571500">
                <a:moveTo>
                  <a:pt x="1504950" y="0"/>
                </a:moveTo>
                <a:lnTo>
                  <a:pt x="933450" y="0"/>
                </a:lnTo>
                <a:lnTo>
                  <a:pt x="86332" y="412"/>
                </a:lnTo>
                <a:lnTo>
                  <a:pt x="46339" y="13513"/>
                </a:lnTo>
                <a:lnTo>
                  <a:pt x="16449" y="41748"/>
                </a:lnTo>
                <a:lnTo>
                  <a:pt x="1110" y="80670"/>
                </a:lnTo>
                <a:lnTo>
                  <a:pt x="0" y="95250"/>
                </a:lnTo>
                <a:lnTo>
                  <a:pt x="0" y="476250"/>
                </a:lnTo>
                <a:lnTo>
                  <a:pt x="13513" y="525160"/>
                </a:lnTo>
                <a:lnTo>
                  <a:pt x="41748" y="555050"/>
                </a:lnTo>
                <a:lnTo>
                  <a:pt x="80670" y="570389"/>
                </a:lnTo>
                <a:lnTo>
                  <a:pt x="95250" y="571500"/>
                </a:lnTo>
                <a:lnTo>
                  <a:pt x="1333500" y="571500"/>
                </a:lnTo>
                <a:lnTo>
                  <a:pt x="1513867" y="571087"/>
                </a:lnTo>
                <a:lnTo>
                  <a:pt x="1553860" y="557986"/>
                </a:lnTo>
                <a:lnTo>
                  <a:pt x="1583750" y="529751"/>
                </a:lnTo>
                <a:lnTo>
                  <a:pt x="1599089" y="490829"/>
                </a:lnTo>
                <a:lnTo>
                  <a:pt x="1600200" y="476250"/>
                </a:lnTo>
                <a:lnTo>
                  <a:pt x="1600200" y="333375"/>
                </a:lnTo>
                <a:lnTo>
                  <a:pt x="1599787" y="86332"/>
                </a:lnTo>
                <a:lnTo>
                  <a:pt x="1586686" y="46339"/>
                </a:lnTo>
                <a:lnTo>
                  <a:pt x="1558451" y="16449"/>
                </a:lnTo>
                <a:lnTo>
                  <a:pt x="1519529" y="1110"/>
                </a:lnTo>
                <a:lnTo>
                  <a:pt x="1504950" y="0"/>
                </a:lnTo>
                <a:close/>
              </a:path>
            </a:pathLst>
          </a:custGeom>
          <a:solidFill>
            <a:srgbClr val="FFFFC7"/>
          </a:solidFill>
        </p:spPr>
        <p:txBody>
          <a:bodyPr wrap="square" lIns="0" tIns="0" rIns="0" bIns="0" rtlCol="0"/>
          <a:lstStyle/>
          <a:p>
            <a:endParaRPr/>
          </a:p>
        </p:txBody>
      </p:sp>
      <p:sp>
        <p:nvSpPr>
          <p:cNvPr id="17" name="object 17"/>
          <p:cNvSpPr/>
          <p:nvPr/>
        </p:nvSpPr>
        <p:spPr>
          <a:xfrm>
            <a:off x="3603497" y="2876550"/>
            <a:ext cx="1600200" cy="571500"/>
          </a:xfrm>
          <a:custGeom>
            <a:avLst/>
            <a:gdLst/>
            <a:ahLst/>
            <a:cxnLst/>
            <a:rect l="l" t="t" r="r" b="b"/>
            <a:pathLst>
              <a:path w="1600200" h="571500">
                <a:moveTo>
                  <a:pt x="0" y="95250"/>
                </a:moveTo>
                <a:lnTo>
                  <a:pt x="9499" y="53754"/>
                </a:lnTo>
                <a:lnTo>
                  <a:pt x="35033" y="21463"/>
                </a:lnTo>
                <a:lnTo>
                  <a:pt x="72153" y="2823"/>
                </a:lnTo>
                <a:lnTo>
                  <a:pt x="933450" y="0"/>
                </a:lnTo>
                <a:lnTo>
                  <a:pt x="1333500" y="0"/>
                </a:lnTo>
                <a:lnTo>
                  <a:pt x="1504950" y="0"/>
                </a:lnTo>
                <a:lnTo>
                  <a:pt x="1519529" y="1110"/>
                </a:lnTo>
                <a:lnTo>
                  <a:pt x="1558451" y="16449"/>
                </a:lnTo>
                <a:lnTo>
                  <a:pt x="1586686" y="46339"/>
                </a:lnTo>
                <a:lnTo>
                  <a:pt x="1599787" y="86332"/>
                </a:lnTo>
                <a:lnTo>
                  <a:pt x="1600200" y="333375"/>
                </a:lnTo>
                <a:lnTo>
                  <a:pt x="1600200" y="476250"/>
                </a:lnTo>
                <a:lnTo>
                  <a:pt x="1599089" y="490829"/>
                </a:lnTo>
                <a:lnTo>
                  <a:pt x="1595867" y="504716"/>
                </a:lnTo>
                <a:lnTo>
                  <a:pt x="1575184" y="540570"/>
                </a:lnTo>
                <a:lnTo>
                  <a:pt x="1541432" y="564254"/>
                </a:lnTo>
                <a:lnTo>
                  <a:pt x="1333500" y="571500"/>
                </a:lnTo>
                <a:lnTo>
                  <a:pt x="1056513" y="571500"/>
                </a:lnTo>
                <a:lnTo>
                  <a:pt x="933450" y="571500"/>
                </a:lnTo>
                <a:lnTo>
                  <a:pt x="95250" y="571500"/>
                </a:lnTo>
                <a:lnTo>
                  <a:pt x="80670" y="570389"/>
                </a:lnTo>
                <a:lnTo>
                  <a:pt x="41748" y="555050"/>
                </a:lnTo>
                <a:lnTo>
                  <a:pt x="13513" y="525160"/>
                </a:lnTo>
                <a:lnTo>
                  <a:pt x="412" y="485167"/>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18" name="object 18"/>
          <p:cNvSpPr/>
          <p:nvPr/>
        </p:nvSpPr>
        <p:spPr>
          <a:xfrm>
            <a:off x="5964173" y="2876550"/>
            <a:ext cx="1600200" cy="571500"/>
          </a:xfrm>
          <a:custGeom>
            <a:avLst/>
            <a:gdLst/>
            <a:ahLst/>
            <a:cxnLst/>
            <a:rect l="l" t="t" r="r" b="b"/>
            <a:pathLst>
              <a:path w="1600200" h="571500">
                <a:moveTo>
                  <a:pt x="1504950" y="0"/>
                </a:moveTo>
                <a:lnTo>
                  <a:pt x="933450" y="0"/>
                </a:lnTo>
                <a:lnTo>
                  <a:pt x="86332" y="412"/>
                </a:lnTo>
                <a:lnTo>
                  <a:pt x="46339" y="13513"/>
                </a:lnTo>
                <a:lnTo>
                  <a:pt x="16449" y="41748"/>
                </a:lnTo>
                <a:lnTo>
                  <a:pt x="1110" y="80670"/>
                </a:lnTo>
                <a:lnTo>
                  <a:pt x="0" y="95250"/>
                </a:lnTo>
                <a:lnTo>
                  <a:pt x="0" y="476250"/>
                </a:lnTo>
                <a:lnTo>
                  <a:pt x="13513" y="525160"/>
                </a:lnTo>
                <a:lnTo>
                  <a:pt x="41748" y="555050"/>
                </a:lnTo>
                <a:lnTo>
                  <a:pt x="80670" y="570389"/>
                </a:lnTo>
                <a:lnTo>
                  <a:pt x="95250" y="571500"/>
                </a:lnTo>
                <a:lnTo>
                  <a:pt x="1333500" y="571500"/>
                </a:lnTo>
                <a:lnTo>
                  <a:pt x="1513867" y="571087"/>
                </a:lnTo>
                <a:lnTo>
                  <a:pt x="1553860" y="557986"/>
                </a:lnTo>
                <a:lnTo>
                  <a:pt x="1583750" y="529751"/>
                </a:lnTo>
                <a:lnTo>
                  <a:pt x="1599089" y="490829"/>
                </a:lnTo>
                <a:lnTo>
                  <a:pt x="1600200" y="476250"/>
                </a:lnTo>
                <a:lnTo>
                  <a:pt x="1600200" y="333375"/>
                </a:lnTo>
                <a:lnTo>
                  <a:pt x="1599787" y="86332"/>
                </a:lnTo>
                <a:lnTo>
                  <a:pt x="1586686" y="46339"/>
                </a:lnTo>
                <a:lnTo>
                  <a:pt x="1558451" y="16449"/>
                </a:lnTo>
                <a:lnTo>
                  <a:pt x="1519529" y="1110"/>
                </a:lnTo>
                <a:lnTo>
                  <a:pt x="1504950" y="0"/>
                </a:lnTo>
                <a:close/>
              </a:path>
            </a:pathLst>
          </a:custGeom>
          <a:solidFill>
            <a:srgbClr val="FFFFC7"/>
          </a:solidFill>
        </p:spPr>
        <p:txBody>
          <a:bodyPr wrap="square" lIns="0" tIns="0" rIns="0" bIns="0" rtlCol="0"/>
          <a:lstStyle/>
          <a:p>
            <a:endParaRPr/>
          </a:p>
        </p:txBody>
      </p:sp>
      <p:sp>
        <p:nvSpPr>
          <p:cNvPr id="19" name="object 19"/>
          <p:cNvSpPr/>
          <p:nvPr/>
        </p:nvSpPr>
        <p:spPr>
          <a:xfrm>
            <a:off x="5964173" y="2876550"/>
            <a:ext cx="1600200" cy="571500"/>
          </a:xfrm>
          <a:custGeom>
            <a:avLst/>
            <a:gdLst/>
            <a:ahLst/>
            <a:cxnLst/>
            <a:rect l="l" t="t" r="r" b="b"/>
            <a:pathLst>
              <a:path w="1600200" h="571500">
                <a:moveTo>
                  <a:pt x="0" y="95250"/>
                </a:moveTo>
                <a:lnTo>
                  <a:pt x="9499" y="53754"/>
                </a:lnTo>
                <a:lnTo>
                  <a:pt x="35033" y="21463"/>
                </a:lnTo>
                <a:lnTo>
                  <a:pt x="72153" y="2823"/>
                </a:lnTo>
                <a:lnTo>
                  <a:pt x="933450" y="0"/>
                </a:lnTo>
                <a:lnTo>
                  <a:pt x="1333500" y="0"/>
                </a:lnTo>
                <a:lnTo>
                  <a:pt x="1504950" y="0"/>
                </a:lnTo>
                <a:lnTo>
                  <a:pt x="1519529" y="1110"/>
                </a:lnTo>
                <a:lnTo>
                  <a:pt x="1558451" y="16449"/>
                </a:lnTo>
                <a:lnTo>
                  <a:pt x="1586686" y="46339"/>
                </a:lnTo>
                <a:lnTo>
                  <a:pt x="1599787" y="86332"/>
                </a:lnTo>
                <a:lnTo>
                  <a:pt x="1600200" y="333375"/>
                </a:lnTo>
                <a:lnTo>
                  <a:pt x="1600200" y="476250"/>
                </a:lnTo>
                <a:lnTo>
                  <a:pt x="1599089" y="490829"/>
                </a:lnTo>
                <a:lnTo>
                  <a:pt x="1595867" y="504716"/>
                </a:lnTo>
                <a:lnTo>
                  <a:pt x="1575184" y="540570"/>
                </a:lnTo>
                <a:lnTo>
                  <a:pt x="1541432" y="564254"/>
                </a:lnTo>
                <a:lnTo>
                  <a:pt x="1333500" y="571500"/>
                </a:lnTo>
                <a:lnTo>
                  <a:pt x="1056512" y="571500"/>
                </a:lnTo>
                <a:lnTo>
                  <a:pt x="933450" y="571500"/>
                </a:lnTo>
                <a:lnTo>
                  <a:pt x="95250" y="571500"/>
                </a:lnTo>
                <a:lnTo>
                  <a:pt x="80670" y="570389"/>
                </a:lnTo>
                <a:lnTo>
                  <a:pt x="41748" y="555050"/>
                </a:lnTo>
                <a:lnTo>
                  <a:pt x="13513" y="525160"/>
                </a:lnTo>
                <a:lnTo>
                  <a:pt x="412" y="485167"/>
                </a:lnTo>
                <a:lnTo>
                  <a:pt x="0" y="476250"/>
                </a:lnTo>
                <a:lnTo>
                  <a:pt x="0" y="333375"/>
                </a:lnTo>
                <a:lnTo>
                  <a:pt x="0" y="95250"/>
                </a:lnTo>
                <a:close/>
              </a:path>
            </a:pathLst>
          </a:custGeom>
          <a:ln w="28956">
            <a:solidFill>
              <a:srgbClr val="000000"/>
            </a:solidFill>
          </a:ln>
        </p:spPr>
        <p:txBody>
          <a:bodyPr wrap="square" lIns="0" tIns="0" rIns="0" bIns="0" rtlCol="0"/>
          <a:lstStyle/>
          <a:p>
            <a:endParaRPr/>
          </a:p>
        </p:txBody>
      </p:sp>
      <p:sp>
        <p:nvSpPr>
          <p:cNvPr id="20" name="object 20"/>
          <p:cNvSpPr/>
          <p:nvPr/>
        </p:nvSpPr>
        <p:spPr>
          <a:xfrm>
            <a:off x="2141220" y="2307335"/>
            <a:ext cx="457200" cy="455930"/>
          </a:xfrm>
          <a:custGeom>
            <a:avLst/>
            <a:gdLst/>
            <a:ahLst/>
            <a:cxnLst/>
            <a:rect l="l" t="t" r="r" b="b"/>
            <a:pathLst>
              <a:path w="457200" h="455930">
                <a:moveTo>
                  <a:pt x="228600" y="0"/>
                </a:moveTo>
                <a:lnTo>
                  <a:pt x="173669" y="6620"/>
                </a:lnTo>
                <a:lnTo>
                  <a:pt x="123551" y="25426"/>
                </a:lnTo>
                <a:lnTo>
                  <a:pt x="79835" y="54836"/>
                </a:lnTo>
                <a:lnTo>
                  <a:pt x="44110" y="93268"/>
                </a:lnTo>
                <a:lnTo>
                  <a:pt x="17966" y="139142"/>
                </a:lnTo>
                <a:lnTo>
                  <a:pt x="2992" y="190875"/>
                </a:lnTo>
                <a:lnTo>
                  <a:pt x="0" y="227837"/>
                </a:lnTo>
                <a:lnTo>
                  <a:pt x="757" y="246527"/>
                </a:lnTo>
                <a:lnTo>
                  <a:pt x="11655" y="299862"/>
                </a:lnTo>
                <a:lnTo>
                  <a:pt x="34252" y="347864"/>
                </a:lnTo>
                <a:lnTo>
                  <a:pt x="66960" y="388953"/>
                </a:lnTo>
                <a:lnTo>
                  <a:pt x="108189" y="421546"/>
                </a:lnTo>
                <a:lnTo>
                  <a:pt x="156350" y="444063"/>
                </a:lnTo>
                <a:lnTo>
                  <a:pt x="209853" y="454920"/>
                </a:lnTo>
                <a:lnTo>
                  <a:pt x="228600" y="455675"/>
                </a:lnTo>
                <a:lnTo>
                  <a:pt x="247346" y="454920"/>
                </a:lnTo>
                <a:lnTo>
                  <a:pt x="300849" y="444063"/>
                </a:lnTo>
                <a:lnTo>
                  <a:pt x="349010" y="421546"/>
                </a:lnTo>
                <a:lnTo>
                  <a:pt x="390239" y="388953"/>
                </a:lnTo>
                <a:lnTo>
                  <a:pt x="422947" y="347864"/>
                </a:lnTo>
                <a:lnTo>
                  <a:pt x="445544" y="299862"/>
                </a:lnTo>
                <a:lnTo>
                  <a:pt x="456442" y="246527"/>
                </a:lnTo>
                <a:lnTo>
                  <a:pt x="457200" y="227837"/>
                </a:lnTo>
                <a:lnTo>
                  <a:pt x="456442" y="209148"/>
                </a:lnTo>
                <a:lnTo>
                  <a:pt x="445544" y="155813"/>
                </a:lnTo>
                <a:lnTo>
                  <a:pt x="422947" y="107811"/>
                </a:lnTo>
                <a:lnTo>
                  <a:pt x="390239" y="66722"/>
                </a:lnTo>
                <a:lnTo>
                  <a:pt x="349010" y="34129"/>
                </a:lnTo>
                <a:lnTo>
                  <a:pt x="300849" y="11612"/>
                </a:lnTo>
                <a:lnTo>
                  <a:pt x="247346" y="755"/>
                </a:lnTo>
                <a:lnTo>
                  <a:pt x="228600" y="0"/>
                </a:lnTo>
                <a:close/>
              </a:path>
            </a:pathLst>
          </a:custGeom>
          <a:solidFill>
            <a:srgbClr val="0066FF"/>
          </a:solidFill>
        </p:spPr>
        <p:txBody>
          <a:bodyPr wrap="square" lIns="0" tIns="0" rIns="0" bIns="0" rtlCol="0"/>
          <a:lstStyle/>
          <a:p>
            <a:endParaRPr/>
          </a:p>
        </p:txBody>
      </p:sp>
      <p:sp>
        <p:nvSpPr>
          <p:cNvPr id="21" name="object 21"/>
          <p:cNvSpPr/>
          <p:nvPr/>
        </p:nvSpPr>
        <p:spPr>
          <a:xfrm>
            <a:off x="2074164" y="2240279"/>
            <a:ext cx="591820" cy="589915"/>
          </a:xfrm>
          <a:custGeom>
            <a:avLst/>
            <a:gdLst/>
            <a:ahLst/>
            <a:cxnLst/>
            <a:rect l="l" t="t" r="r" b="b"/>
            <a:pathLst>
              <a:path w="591819" h="589914">
                <a:moveTo>
                  <a:pt x="295656" y="0"/>
                </a:moveTo>
                <a:lnTo>
                  <a:pt x="247690" y="3861"/>
                </a:lnTo>
                <a:lnTo>
                  <a:pt x="202192" y="15038"/>
                </a:lnTo>
                <a:lnTo>
                  <a:pt x="159769" y="32925"/>
                </a:lnTo>
                <a:lnTo>
                  <a:pt x="121029" y="56912"/>
                </a:lnTo>
                <a:lnTo>
                  <a:pt x="86582" y="86391"/>
                </a:lnTo>
                <a:lnTo>
                  <a:pt x="57034" y="120755"/>
                </a:lnTo>
                <a:lnTo>
                  <a:pt x="32993" y="159395"/>
                </a:lnTo>
                <a:lnTo>
                  <a:pt x="15069" y="201704"/>
                </a:lnTo>
                <a:lnTo>
                  <a:pt x="3868" y="247073"/>
                </a:lnTo>
                <a:lnTo>
                  <a:pt x="0" y="294894"/>
                </a:lnTo>
                <a:lnTo>
                  <a:pt x="979" y="319072"/>
                </a:lnTo>
                <a:lnTo>
                  <a:pt x="8590" y="365743"/>
                </a:lnTo>
                <a:lnTo>
                  <a:pt x="23229" y="409658"/>
                </a:lnTo>
                <a:lnTo>
                  <a:pt x="44287" y="450208"/>
                </a:lnTo>
                <a:lnTo>
                  <a:pt x="71157" y="486786"/>
                </a:lnTo>
                <a:lnTo>
                  <a:pt x="103231" y="518784"/>
                </a:lnTo>
                <a:lnTo>
                  <a:pt x="139901" y="545593"/>
                </a:lnTo>
                <a:lnTo>
                  <a:pt x="180558" y="566606"/>
                </a:lnTo>
                <a:lnTo>
                  <a:pt x="224594" y="581214"/>
                </a:lnTo>
                <a:lnTo>
                  <a:pt x="271402" y="588810"/>
                </a:lnTo>
                <a:lnTo>
                  <a:pt x="295656" y="589788"/>
                </a:lnTo>
                <a:lnTo>
                  <a:pt x="319909" y="588810"/>
                </a:lnTo>
                <a:lnTo>
                  <a:pt x="366717" y="581214"/>
                </a:lnTo>
                <a:lnTo>
                  <a:pt x="410753" y="566606"/>
                </a:lnTo>
                <a:lnTo>
                  <a:pt x="451410" y="545593"/>
                </a:lnTo>
                <a:lnTo>
                  <a:pt x="488080" y="518784"/>
                </a:lnTo>
                <a:lnTo>
                  <a:pt x="494114" y="513207"/>
                </a:lnTo>
                <a:lnTo>
                  <a:pt x="295656" y="513207"/>
                </a:lnTo>
                <a:lnTo>
                  <a:pt x="277683" y="512482"/>
                </a:lnTo>
                <a:lnTo>
                  <a:pt x="226396" y="502072"/>
                </a:lnTo>
                <a:lnTo>
                  <a:pt x="180239" y="480487"/>
                </a:lnTo>
                <a:lnTo>
                  <a:pt x="140731" y="449246"/>
                </a:lnTo>
                <a:lnTo>
                  <a:pt x="109394" y="409870"/>
                </a:lnTo>
                <a:lnTo>
                  <a:pt x="87745" y="363879"/>
                </a:lnTo>
                <a:lnTo>
                  <a:pt x="77306" y="312792"/>
                </a:lnTo>
                <a:lnTo>
                  <a:pt x="76581" y="294894"/>
                </a:lnTo>
                <a:lnTo>
                  <a:pt x="77306" y="276995"/>
                </a:lnTo>
                <a:lnTo>
                  <a:pt x="87745" y="225908"/>
                </a:lnTo>
                <a:lnTo>
                  <a:pt x="109394" y="179917"/>
                </a:lnTo>
                <a:lnTo>
                  <a:pt x="140731" y="140541"/>
                </a:lnTo>
                <a:lnTo>
                  <a:pt x="180239" y="109300"/>
                </a:lnTo>
                <a:lnTo>
                  <a:pt x="226396" y="87715"/>
                </a:lnTo>
                <a:lnTo>
                  <a:pt x="277683" y="77305"/>
                </a:lnTo>
                <a:lnTo>
                  <a:pt x="295656" y="76581"/>
                </a:lnTo>
                <a:lnTo>
                  <a:pt x="494114" y="76581"/>
                </a:lnTo>
                <a:lnTo>
                  <a:pt x="488080" y="71003"/>
                </a:lnTo>
                <a:lnTo>
                  <a:pt x="451410" y="44194"/>
                </a:lnTo>
                <a:lnTo>
                  <a:pt x="410753" y="23181"/>
                </a:lnTo>
                <a:lnTo>
                  <a:pt x="366717" y="8573"/>
                </a:lnTo>
                <a:lnTo>
                  <a:pt x="319909" y="977"/>
                </a:lnTo>
                <a:lnTo>
                  <a:pt x="295656" y="0"/>
                </a:lnTo>
                <a:close/>
              </a:path>
              <a:path w="591819" h="589914">
                <a:moveTo>
                  <a:pt x="494114" y="76581"/>
                </a:moveTo>
                <a:lnTo>
                  <a:pt x="295656" y="76581"/>
                </a:lnTo>
                <a:lnTo>
                  <a:pt x="313628" y="77305"/>
                </a:lnTo>
                <a:lnTo>
                  <a:pt x="331200" y="79439"/>
                </a:lnTo>
                <a:lnTo>
                  <a:pt x="380946" y="93743"/>
                </a:lnTo>
                <a:lnTo>
                  <a:pt x="425055" y="118716"/>
                </a:lnTo>
                <a:lnTo>
                  <a:pt x="462008" y="152837"/>
                </a:lnTo>
                <a:lnTo>
                  <a:pt x="490285" y="194587"/>
                </a:lnTo>
                <a:lnTo>
                  <a:pt x="508366" y="242446"/>
                </a:lnTo>
                <a:lnTo>
                  <a:pt x="514731" y="294894"/>
                </a:lnTo>
                <a:lnTo>
                  <a:pt x="514005" y="312792"/>
                </a:lnTo>
                <a:lnTo>
                  <a:pt x="503566" y="363879"/>
                </a:lnTo>
                <a:lnTo>
                  <a:pt x="481917" y="409870"/>
                </a:lnTo>
                <a:lnTo>
                  <a:pt x="450580" y="449246"/>
                </a:lnTo>
                <a:lnTo>
                  <a:pt x="411072" y="480487"/>
                </a:lnTo>
                <a:lnTo>
                  <a:pt x="364915" y="502072"/>
                </a:lnTo>
                <a:lnTo>
                  <a:pt x="313628" y="512482"/>
                </a:lnTo>
                <a:lnTo>
                  <a:pt x="295656" y="513207"/>
                </a:lnTo>
                <a:lnTo>
                  <a:pt x="494114" y="513207"/>
                </a:lnTo>
                <a:lnTo>
                  <a:pt x="534277" y="469032"/>
                </a:lnTo>
                <a:lnTo>
                  <a:pt x="558318" y="430392"/>
                </a:lnTo>
                <a:lnTo>
                  <a:pt x="576242" y="388083"/>
                </a:lnTo>
                <a:lnTo>
                  <a:pt x="587443" y="342714"/>
                </a:lnTo>
                <a:lnTo>
                  <a:pt x="591312" y="294894"/>
                </a:lnTo>
                <a:lnTo>
                  <a:pt x="590332" y="270715"/>
                </a:lnTo>
                <a:lnTo>
                  <a:pt x="582721" y="224044"/>
                </a:lnTo>
                <a:lnTo>
                  <a:pt x="568082" y="180129"/>
                </a:lnTo>
                <a:lnTo>
                  <a:pt x="547024" y="139579"/>
                </a:lnTo>
                <a:lnTo>
                  <a:pt x="520154" y="103001"/>
                </a:lnTo>
                <a:lnTo>
                  <a:pt x="504729" y="86391"/>
                </a:lnTo>
                <a:lnTo>
                  <a:pt x="494114" y="76581"/>
                </a:lnTo>
                <a:close/>
              </a:path>
            </a:pathLst>
          </a:custGeom>
          <a:solidFill>
            <a:srgbClr val="FFFFFF"/>
          </a:solidFill>
        </p:spPr>
        <p:txBody>
          <a:bodyPr wrap="square" lIns="0" tIns="0" rIns="0" bIns="0" rtlCol="0"/>
          <a:lstStyle/>
          <a:p>
            <a:endParaRPr/>
          </a:p>
        </p:txBody>
      </p:sp>
      <p:sp>
        <p:nvSpPr>
          <p:cNvPr id="22" name="object 22"/>
          <p:cNvSpPr/>
          <p:nvPr/>
        </p:nvSpPr>
        <p:spPr>
          <a:xfrm>
            <a:off x="2074164" y="2240279"/>
            <a:ext cx="591820" cy="589915"/>
          </a:xfrm>
          <a:custGeom>
            <a:avLst/>
            <a:gdLst/>
            <a:ahLst/>
            <a:cxnLst/>
            <a:rect l="l" t="t" r="r" b="b"/>
            <a:pathLst>
              <a:path w="591819" h="589914">
                <a:moveTo>
                  <a:pt x="0" y="294894"/>
                </a:moveTo>
                <a:lnTo>
                  <a:pt x="3868" y="247073"/>
                </a:lnTo>
                <a:lnTo>
                  <a:pt x="15069" y="201704"/>
                </a:lnTo>
                <a:lnTo>
                  <a:pt x="32993" y="159395"/>
                </a:lnTo>
                <a:lnTo>
                  <a:pt x="57034" y="120755"/>
                </a:lnTo>
                <a:lnTo>
                  <a:pt x="86582" y="86391"/>
                </a:lnTo>
                <a:lnTo>
                  <a:pt x="121029" y="56912"/>
                </a:lnTo>
                <a:lnTo>
                  <a:pt x="159769" y="32925"/>
                </a:lnTo>
                <a:lnTo>
                  <a:pt x="202192" y="15038"/>
                </a:lnTo>
                <a:lnTo>
                  <a:pt x="247690" y="3861"/>
                </a:lnTo>
                <a:lnTo>
                  <a:pt x="295656" y="0"/>
                </a:lnTo>
                <a:lnTo>
                  <a:pt x="319909" y="977"/>
                </a:lnTo>
                <a:lnTo>
                  <a:pt x="366717" y="8573"/>
                </a:lnTo>
                <a:lnTo>
                  <a:pt x="410753" y="23181"/>
                </a:lnTo>
                <a:lnTo>
                  <a:pt x="451410" y="44194"/>
                </a:lnTo>
                <a:lnTo>
                  <a:pt x="488080" y="71003"/>
                </a:lnTo>
                <a:lnTo>
                  <a:pt x="520154" y="103001"/>
                </a:lnTo>
                <a:lnTo>
                  <a:pt x="547024" y="139579"/>
                </a:lnTo>
                <a:lnTo>
                  <a:pt x="568082" y="180129"/>
                </a:lnTo>
                <a:lnTo>
                  <a:pt x="582721" y="224044"/>
                </a:lnTo>
                <a:lnTo>
                  <a:pt x="590332" y="270715"/>
                </a:lnTo>
                <a:lnTo>
                  <a:pt x="591312" y="294894"/>
                </a:lnTo>
                <a:lnTo>
                  <a:pt x="590332" y="319072"/>
                </a:lnTo>
                <a:lnTo>
                  <a:pt x="582721" y="365743"/>
                </a:lnTo>
                <a:lnTo>
                  <a:pt x="568082" y="409658"/>
                </a:lnTo>
                <a:lnTo>
                  <a:pt x="547024" y="450208"/>
                </a:lnTo>
                <a:lnTo>
                  <a:pt x="520154" y="486786"/>
                </a:lnTo>
                <a:lnTo>
                  <a:pt x="488080" y="518784"/>
                </a:lnTo>
                <a:lnTo>
                  <a:pt x="451410" y="545593"/>
                </a:lnTo>
                <a:lnTo>
                  <a:pt x="410753" y="566606"/>
                </a:lnTo>
                <a:lnTo>
                  <a:pt x="366717" y="581214"/>
                </a:lnTo>
                <a:lnTo>
                  <a:pt x="319909" y="588810"/>
                </a:lnTo>
                <a:lnTo>
                  <a:pt x="295656" y="589788"/>
                </a:lnTo>
                <a:lnTo>
                  <a:pt x="271402" y="588810"/>
                </a:lnTo>
                <a:lnTo>
                  <a:pt x="224594" y="581214"/>
                </a:lnTo>
                <a:lnTo>
                  <a:pt x="180558" y="566606"/>
                </a:lnTo>
                <a:lnTo>
                  <a:pt x="139901" y="545593"/>
                </a:lnTo>
                <a:lnTo>
                  <a:pt x="103231" y="518784"/>
                </a:lnTo>
                <a:lnTo>
                  <a:pt x="71157" y="486786"/>
                </a:lnTo>
                <a:lnTo>
                  <a:pt x="44287" y="450208"/>
                </a:lnTo>
                <a:lnTo>
                  <a:pt x="23229" y="409658"/>
                </a:lnTo>
                <a:lnTo>
                  <a:pt x="8590" y="365743"/>
                </a:lnTo>
                <a:lnTo>
                  <a:pt x="979" y="319072"/>
                </a:lnTo>
                <a:lnTo>
                  <a:pt x="0" y="294894"/>
                </a:lnTo>
                <a:close/>
              </a:path>
            </a:pathLst>
          </a:custGeom>
          <a:ln w="12192">
            <a:solidFill>
              <a:srgbClr val="41709C"/>
            </a:solidFill>
          </a:ln>
        </p:spPr>
        <p:txBody>
          <a:bodyPr wrap="square" lIns="0" tIns="0" rIns="0" bIns="0" rtlCol="0"/>
          <a:lstStyle/>
          <a:p>
            <a:endParaRPr/>
          </a:p>
        </p:txBody>
      </p:sp>
      <p:sp>
        <p:nvSpPr>
          <p:cNvPr id="23" name="object 23"/>
          <p:cNvSpPr/>
          <p:nvPr/>
        </p:nvSpPr>
        <p:spPr>
          <a:xfrm>
            <a:off x="2150745" y="2316860"/>
            <a:ext cx="438150" cy="436880"/>
          </a:xfrm>
          <a:custGeom>
            <a:avLst/>
            <a:gdLst/>
            <a:ahLst/>
            <a:cxnLst/>
            <a:rect l="l" t="t" r="r" b="b"/>
            <a:pathLst>
              <a:path w="438150" h="436880">
                <a:moveTo>
                  <a:pt x="0" y="218312"/>
                </a:moveTo>
                <a:lnTo>
                  <a:pt x="6364" y="270760"/>
                </a:lnTo>
                <a:lnTo>
                  <a:pt x="24445" y="318619"/>
                </a:lnTo>
                <a:lnTo>
                  <a:pt x="52722" y="360369"/>
                </a:lnTo>
                <a:lnTo>
                  <a:pt x="89675" y="394490"/>
                </a:lnTo>
                <a:lnTo>
                  <a:pt x="133784" y="419463"/>
                </a:lnTo>
                <a:lnTo>
                  <a:pt x="183530" y="433767"/>
                </a:lnTo>
                <a:lnTo>
                  <a:pt x="219075" y="436625"/>
                </a:lnTo>
                <a:lnTo>
                  <a:pt x="237047" y="435901"/>
                </a:lnTo>
                <a:lnTo>
                  <a:pt x="288334" y="425491"/>
                </a:lnTo>
                <a:lnTo>
                  <a:pt x="334491" y="403906"/>
                </a:lnTo>
                <a:lnTo>
                  <a:pt x="373999" y="372665"/>
                </a:lnTo>
                <a:lnTo>
                  <a:pt x="405336" y="333289"/>
                </a:lnTo>
                <a:lnTo>
                  <a:pt x="426985" y="287298"/>
                </a:lnTo>
                <a:lnTo>
                  <a:pt x="437424" y="236211"/>
                </a:lnTo>
                <a:lnTo>
                  <a:pt x="438150" y="218312"/>
                </a:lnTo>
                <a:lnTo>
                  <a:pt x="437424" y="200414"/>
                </a:lnTo>
                <a:lnTo>
                  <a:pt x="426985" y="149327"/>
                </a:lnTo>
                <a:lnTo>
                  <a:pt x="405336" y="103336"/>
                </a:lnTo>
                <a:lnTo>
                  <a:pt x="373999" y="63960"/>
                </a:lnTo>
                <a:lnTo>
                  <a:pt x="334491" y="32719"/>
                </a:lnTo>
                <a:lnTo>
                  <a:pt x="288334" y="11134"/>
                </a:lnTo>
                <a:lnTo>
                  <a:pt x="237047" y="724"/>
                </a:lnTo>
                <a:lnTo>
                  <a:pt x="219075" y="0"/>
                </a:lnTo>
                <a:lnTo>
                  <a:pt x="201102" y="724"/>
                </a:lnTo>
                <a:lnTo>
                  <a:pt x="149815" y="11134"/>
                </a:lnTo>
                <a:lnTo>
                  <a:pt x="103658" y="32719"/>
                </a:lnTo>
                <a:lnTo>
                  <a:pt x="64150" y="63960"/>
                </a:lnTo>
                <a:lnTo>
                  <a:pt x="32813" y="103336"/>
                </a:lnTo>
                <a:lnTo>
                  <a:pt x="11164" y="149327"/>
                </a:lnTo>
                <a:lnTo>
                  <a:pt x="725" y="200414"/>
                </a:lnTo>
                <a:lnTo>
                  <a:pt x="0" y="218312"/>
                </a:lnTo>
                <a:close/>
              </a:path>
            </a:pathLst>
          </a:custGeom>
          <a:ln w="12192">
            <a:solidFill>
              <a:srgbClr val="41709C"/>
            </a:solidFill>
          </a:ln>
        </p:spPr>
        <p:txBody>
          <a:bodyPr wrap="square" lIns="0" tIns="0" rIns="0" bIns="0" rtlCol="0"/>
          <a:lstStyle/>
          <a:p>
            <a:endParaRPr/>
          </a:p>
        </p:txBody>
      </p:sp>
      <p:sp>
        <p:nvSpPr>
          <p:cNvPr id="24" name="object 24"/>
          <p:cNvSpPr/>
          <p:nvPr/>
        </p:nvSpPr>
        <p:spPr>
          <a:xfrm>
            <a:off x="4174235" y="2287523"/>
            <a:ext cx="455930" cy="455930"/>
          </a:xfrm>
          <a:custGeom>
            <a:avLst/>
            <a:gdLst/>
            <a:ahLst/>
            <a:cxnLst/>
            <a:rect l="l" t="t" r="r" b="b"/>
            <a:pathLst>
              <a:path w="455929" h="455930">
                <a:moveTo>
                  <a:pt x="227837" y="0"/>
                </a:moveTo>
                <a:lnTo>
                  <a:pt x="173077" y="6620"/>
                </a:lnTo>
                <a:lnTo>
                  <a:pt x="123122" y="25426"/>
                </a:lnTo>
                <a:lnTo>
                  <a:pt x="79553" y="54836"/>
                </a:lnTo>
                <a:lnTo>
                  <a:pt x="43952" y="93268"/>
                </a:lnTo>
                <a:lnTo>
                  <a:pt x="17901" y="139142"/>
                </a:lnTo>
                <a:lnTo>
                  <a:pt x="2981" y="190875"/>
                </a:lnTo>
                <a:lnTo>
                  <a:pt x="0" y="227837"/>
                </a:lnTo>
                <a:lnTo>
                  <a:pt x="755" y="246527"/>
                </a:lnTo>
                <a:lnTo>
                  <a:pt x="11612" y="299862"/>
                </a:lnTo>
                <a:lnTo>
                  <a:pt x="34129" y="347864"/>
                </a:lnTo>
                <a:lnTo>
                  <a:pt x="66722" y="388953"/>
                </a:lnTo>
                <a:lnTo>
                  <a:pt x="107811" y="421546"/>
                </a:lnTo>
                <a:lnTo>
                  <a:pt x="155813" y="444063"/>
                </a:lnTo>
                <a:lnTo>
                  <a:pt x="209148" y="454920"/>
                </a:lnTo>
                <a:lnTo>
                  <a:pt x="227837" y="455675"/>
                </a:lnTo>
                <a:lnTo>
                  <a:pt x="246527" y="454920"/>
                </a:lnTo>
                <a:lnTo>
                  <a:pt x="299862" y="444063"/>
                </a:lnTo>
                <a:lnTo>
                  <a:pt x="347864" y="421546"/>
                </a:lnTo>
                <a:lnTo>
                  <a:pt x="388953" y="388953"/>
                </a:lnTo>
                <a:lnTo>
                  <a:pt x="421546" y="347864"/>
                </a:lnTo>
                <a:lnTo>
                  <a:pt x="444063" y="299862"/>
                </a:lnTo>
                <a:lnTo>
                  <a:pt x="454920" y="246527"/>
                </a:lnTo>
                <a:lnTo>
                  <a:pt x="455675" y="227837"/>
                </a:lnTo>
                <a:lnTo>
                  <a:pt x="454920" y="209148"/>
                </a:lnTo>
                <a:lnTo>
                  <a:pt x="444063" y="155813"/>
                </a:lnTo>
                <a:lnTo>
                  <a:pt x="421546" y="107811"/>
                </a:lnTo>
                <a:lnTo>
                  <a:pt x="388953" y="66722"/>
                </a:lnTo>
                <a:lnTo>
                  <a:pt x="347864" y="34129"/>
                </a:lnTo>
                <a:lnTo>
                  <a:pt x="299862" y="11612"/>
                </a:lnTo>
                <a:lnTo>
                  <a:pt x="246527" y="755"/>
                </a:lnTo>
                <a:lnTo>
                  <a:pt x="227837" y="0"/>
                </a:lnTo>
                <a:close/>
              </a:path>
            </a:pathLst>
          </a:custGeom>
          <a:solidFill>
            <a:srgbClr val="0066FF"/>
          </a:solidFill>
        </p:spPr>
        <p:txBody>
          <a:bodyPr wrap="square" lIns="0" tIns="0" rIns="0" bIns="0" rtlCol="0"/>
          <a:lstStyle/>
          <a:p>
            <a:endParaRPr/>
          </a:p>
        </p:txBody>
      </p:sp>
      <p:sp>
        <p:nvSpPr>
          <p:cNvPr id="25" name="object 25"/>
          <p:cNvSpPr txBox="1"/>
          <p:nvPr/>
        </p:nvSpPr>
        <p:spPr>
          <a:xfrm>
            <a:off x="4083177" y="2348058"/>
            <a:ext cx="638175" cy="979805"/>
          </a:xfrm>
          <a:prstGeom prst="rect">
            <a:avLst/>
          </a:prstGeom>
        </p:spPr>
        <p:txBody>
          <a:bodyPr vert="horz" wrap="square" lIns="0" tIns="0" rIns="0" bIns="0" rtlCol="0">
            <a:spAutoFit/>
          </a:bodyPr>
          <a:lstStyle/>
          <a:p>
            <a:pPr marL="1270" algn="ctr">
              <a:lnSpc>
                <a:spcPct val="100000"/>
              </a:lnSpc>
            </a:pPr>
            <a:r>
              <a:rPr sz="2800" spc="-5" dirty="0">
                <a:solidFill>
                  <a:srgbClr val="FFFFFF"/>
                </a:solidFill>
                <a:latin typeface="Arial Rounded MT Bold"/>
                <a:cs typeface="Arial Rounded MT Bold"/>
              </a:rPr>
              <a:t>2</a:t>
            </a:r>
            <a:endParaRPr sz="2800">
              <a:latin typeface="Arial Rounded MT Bold"/>
              <a:cs typeface="Arial Rounded MT Bold"/>
            </a:endParaRPr>
          </a:p>
          <a:p>
            <a:pPr algn="ctr">
              <a:lnSpc>
                <a:spcPts val="2835"/>
              </a:lnSpc>
              <a:spcBef>
                <a:spcPts val="1930"/>
              </a:spcBef>
            </a:pPr>
            <a:r>
              <a:rPr sz="2400" b="1" dirty="0">
                <a:latin typeface="宋体"/>
                <a:cs typeface="宋体"/>
              </a:rPr>
              <a:t>分频</a:t>
            </a:r>
            <a:endParaRPr sz="2400">
              <a:latin typeface="宋体"/>
              <a:cs typeface="宋体"/>
            </a:endParaRPr>
          </a:p>
        </p:txBody>
      </p:sp>
      <p:sp>
        <p:nvSpPr>
          <p:cNvPr id="26" name="object 26"/>
          <p:cNvSpPr/>
          <p:nvPr/>
        </p:nvSpPr>
        <p:spPr>
          <a:xfrm>
            <a:off x="4107179" y="2220467"/>
            <a:ext cx="589915" cy="589915"/>
          </a:xfrm>
          <a:custGeom>
            <a:avLst/>
            <a:gdLst/>
            <a:ahLst/>
            <a:cxnLst/>
            <a:rect l="l" t="t" r="r" b="b"/>
            <a:pathLst>
              <a:path w="589914" h="589914">
                <a:moveTo>
                  <a:pt x="294894" y="0"/>
                </a:moveTo>
                <a:lnTo>
                  <a:pt x="247073" y="3861"/>
                </a:lnTo>
                <a:lnTo>
                  <a:pt x="201704" y="15038"/>
                </a:lnTo>
                <a:lnTo>
                  <a:pt x="159395" y="32925"/>
                </a:lnTo>
                <a:lnTo>
                  <a:pt x="120755" y="56912"/>
                </a:lnTo>
                <a:lnTo>
                  <a:pt x="86391" y="86391"/>
                </a:lnTo>
                <a:lnTo>
                  <a:pt x="56912" y="120755"/>
                </a:lnTo>
                <a:lnTo>
                  <a:pt x="32925" y="159395"/>
                </a:lnTo>
                <a:lnTo>
                  <a:pt x="15038" y="201704"/>
                </a:lnTo>
                <a:lnTo>
                  <a:pt x="3861" y="247073"/>
                </a:lnTo>
                <a:lnTo>
                  <a:pt x="0" y="294894"/>
                </a:lnTo>
                <a:lnTo>
                  <a:pt x="977" y="319072"/>
                </a:lnTo>
                <a:lnTo>
                  <a:pt x="8573" y="365743"/>
                </a:lnTo>
                <a:lnTo>
                  <a:pt x="23181" y="409658"/>
                </a:lnTo>
                <a:lnTo>
                  <a:pt x="44194" y="450208"/>
                </a:lnTo>
                <a:lnTo>
                  <a:pt x="71003" y="486786"/>
                </a:lnTo>
                <a:lnTo>
                  <a:pt x="103001" y="518784"/>
                </a:lnTo>
                <a:lnTo>
                  <a:pt x="139579" y="545593"/>
                </a:lnTo>
                <a:lnTo>
                  <a:pt x="180129" y="566606"/>
                </a:lnTo>
                <a:lnTo>
                  <a:pt x="224044" y="581214"/>
                </a:lnTo>
                <a:lnTo>
                  <a:pt x="270715" y="588810"/>
                </a:lnTo>
                <a:lnTo>
                  <a:pt x="294894" y="589788"/>
                </a:lnTo>
                <a:lnTo>
                  <a:pt x="319072" y="588810"/>
                </a:lnTo>
                <a:lnTo>
                  <a:pt x="365743" y="581214"/>
                </a:lnTo>
                <a:lnTo>
                  <a:pt x="409658" y="566606"/>
                </a:lnTo>
                <a:lnTo>
                  <a:pt x="450208" y="545593"/>
                </a:lnTo>
                <a:lnTo>
                  <a:pt x="486786" y="518784"/>
                </a:lnTo>
                <a:lnTo>
                  <a:pt x="492806" y="513207"/>
                </a:lnTo>
                <a:lnTo>
                  <a:pt x="294894" y="513207"/>
                </a:lnTo>
                <a:lnTo>
                  <a:pt x="276995" y="512482"/>
                </a:lnTo>
                <a:lnTo>
                  <a:pt x="225908" y="502072"/>
                </a:lnTo>
                <a:lnTo>
                  <a:pt x="179917" y="480487"/>
                </a:lnTo>
                <a:lnTo>
                  <a:pt x="140541" y="449246"/>
                </a:lnTo>
                <a:lnTo>
                  <a:pt x="109300" y="409870"/>
                </a:lnTo>
                <a:lnTo>
                  <a:pt x="87715" y="363879"/>
                </a:lnTo>
                <a:lnTo>
                  <a:pt x="77305" y="312792"/>
                </a:lnTo>
                <a:lnTo>
                  <a:pt x="76581" y="294894"/>
                </a:lnTo>
                <a:lnTo>
                  <a:pt x="77305" y="276995"/>
                </a:lnTo>
                <a:lnTo>
                  <a:pt x="87715" y="225908"/>
                </a:lnTo>
                <a:lnTo>
                  <a:pt x="109300" y="179917"/>
                </a:lnTo>
                <a:lnTo>
                  <a:pt x="140541" y="140541"/>
                </a:lnTo>
                <a:lnTo>
                  <a:pt x="179917" y="109300"/>
                </a:lnTo>
                <a:lnTo>
                  <a:pt x="225908" y="87715"/>
                </a:lnTo>
                <a:lnTo>
                  <a:pt x="276995" y="77305"/>
                </a:lnTo>
                <a:lnTo>
                  <a:pt x="294894" y="76581"/>
                </a:lnTo>
                <a:lnTo>
                  <a:pt x="492806" y="76581"/>
                </a:lnTo>
                <a:lnTo>
                  <a:pt x="486786" y="71003"/>
                </a:lnTo>
                <a:lnTo>
                  <a:pt x="450208" y="44194"/>
                </a:lnTo>
                <a:lnTo>
                  <a:pt x="409658" y="23181"/>
                </a:lnTo>
                <a:lnTo>
                  <a:pt x="365743" y="8573"/>
                </a:lnTo>
                <a:lnTo>
                  <a:pt x="319072" y="977"/>
                </a:lnTo>
                <a:lnTo>
                  <a:pt x="294894" y="0"/>
                </a:lnTo>
                <a:close/>
              </a:path>
              <a:path w="589914" h="589914">
                <a:moveTo>
                  <a:pt x="492806" y="76581"/>
                </a:moveTo>
                <a:lnTo>
                  <a:pt x="294894" y="76581"/>
                </a:lnTo>
                <a:lnTo>
                  <a:pt x="312792" y="77305"/>
                </a:lnTo>
                <a:lnTo>
                  <a:pt x="330293" y="79439"/>
                </a:lnTo>
                <a:lnTo>
                  <a:pt x="379851" y="93743"/>
                </a:lnTo>
                <a:lnTo>
                  <a:pt x="423806" y="118716"/>
                </a:lnTo>
                <a:lnTo>
                  <a:pt x="460639" y="152837"/>
                </a:lnTo>
                <a:lnTo>
                  <a:pt x="488830" y="194587"/>
                </a:lnTo>
                <a:lnTo>
                  <a:pt x="506859" y="242446"/>
                </a:lnTo>
                <a:lnTo>
                  <a:pt x="513207" y="294894"/>
                </a:lnTo>
                <a:lnTo>
                  <a:pt x="512482" y="312792"/>
                </a:lnTo>
                <a:lnTo>
                  <a:pt x="502072" y="363879"/>
                </a:lnTo>
                <a:lnTo>
                  <a:pt x="480487" y="409870"/>
                </a:lnTo>
                <a:lnTo>
                  <a:pt x="449246" y="449246"/>
                </a:lnTo>
                <a:lnTo>
                  <a:pt x="409870" y="480487"/>
                </a:lnTo>
                <a:lnTo>
                  <a:pt x="363879" y="502072"/>
                </a:lnTo>
                <a:lnTo>
                  <a:pt x="312792" y="512482"/>
                </a:lnTo>
                <a:lnTo>
                  <a:pt x="294894" y="513207"/>
                </a:lnTo>
                <a:lnTo>
                  <a:pt x="492806" y="513207"/>
                </a:lnTo>
                <a:lnTo>
                  <a:pt x="532875" y="469032"/>
                </a:lnTo>
                <a:lnTo>
                  <a:pt x="556862" y="430392"/>
                </a:lnTo>
                <a:lnTo>
                  <a:pt x="574749" y="388083"/>
                </a:lnTo>
                <a:lnTo>
                  <a:pt x="585926" y="342714"/>
                </a:lnTo>
                <a:lnTo>
                  <a:pt x="589788" y="294894"/>
                </a:lnTo>
                <a:lnTo>
                  <a:pt x="588810" y="270715"/>
                </a:lnTo>
                <a:lnTo>
                  <a:pt x="581214" y="224044"/>
                </a:lnTo>
                <a:lnTo>
                  <a:pt x="566606" y="180129"/>
                </a:lnTo>
                <a:lnTo>
                  <a:pt x="545593" y="139579"/>
                </a:lnTo>
                <a:lnTo>
                  <a:pt x="518784" y="103001"/>
                </a:lnTo>
                <a:lnTo>
                  <a:pt x="503396" y="86391"/>
                </a:lnTo>
                <a:lnTo>
                  <a:pt x="492806" y="76581"/>
                </a:lnTo>
                <a:close/>
              </a:path>
            </a:pathLst>
          </a:custGeom>
          <a:solidFill>
            <a:srgbClr val="FFFFFF"/>
          </a:solidFill>
        </p:spPr>
        <p:txBody>
          <a:bodyPr wrap="square" lIns="0" tIns="0" rIns="0" bIns="0" rtlCol="0"/>
          <a:lstStyle/>
          <a:p>
            <a:endParaRPr/>
          </a:p>
        </p:txBody>
      </p:sp>
      <p:sp>
        <p:nvSpPr>
          <p:cNvPr id="27" name="object 27"/>
          <p:cNvSpPr/>
          <p:nvPr/>
        </p:nvSpPr>
        <p:spPr>
          <a:xfrm>
            <a:off x="4107179" y="2220467"/>
            <a:ext cx="589915" cy="589915"/>
          </a:xfrm>
          <a:custGeom>
            <a:avLst/>
            <a:gdLst/>
            <a:ahLst/>
            <a:cxnLst/>
            <a:rect l="l" t="t" r="r" b="b"/>
            <a:pathLst>
              <a:path w="589914" h="589914">
                <a:moveTo>
                  <a:pt x="0" y="294894"/>
                </a:moveTo>
                <a:lnTo>
                  <a:pt x="3861" y="247073"/>
                </a:lnTo>
                <a:lnTo>
                  <a:pt x="15038" y="201704"/>
                </a:lnTo>
                <a:lnTo>
                  <a:pt x="32925" y="159395"/>
                </a:lnTo>
                <a:lnTo>
                  <a:pt x="56912" y="120755"/>
                </a:lnTo>
                <a:lnTo>
                  <a:pt x="86391" y="86391"/>
                </a:lnTo>
                <a:lnTo>
                  <a:pt x="120755" y="56912"/>
                </a:lnTo>
                <a:lnTo>
                  <a:pt x="159395" y="32925"/>
                </a:lnTo>
                <a:lnTo>
                  <a:pt x="201704" y="15038"/>
                </a:lnTo>
                <a:lnTo>
                  <a:pt x="247073" y="3861"/>
                </a:lnTo>
                <a:lnTo>
                  <a:pt x="294894" y="0"/>
                </a:lnTo>
                <a:lnTo>
                  <a:pt x="319072" y="977"/>
                </a:lnTo>
                <a:lnTo>
                  <a:pt x="365743" y="8573"/>
                </a:lnTo>
                <a:lnTo>
                  <a:pt x="409658" y="23181"/>
                </a:lnTo>
                <a:lnTo>
                  <a:pt x="450208" y="44194"/>
                </a:lnTo>
                <a:lnTo>
                  <a:pt x="486786" y="71003"/>
                </a:lnTo>
                <a:lnTo>
                  <a:pt x="518784" y="103001"/>
                </a:lnTo>
                <a:lnTo>
                  <a:pt x="545593" y="139579"/>
                </a:lnTo>
                <a:lnTo>
                  <a:pt x="566606" y="180129"/>
                </a:lnTo>
                <a:lnTo>
                  <a:pt x="581214" y="224044"/>
                </a:lnTo>
                <a:lnTo>
                  <a:pt x="588810" y="270715"/>
                </a:lnTo>
                <a:lnTo>
                  <a:pt x="589788" y="294894"/>
                </a:lnTo>
                <a:lnTo>
                  <a:pt x="588810" y="319072"/>
                </a:lnTo>
                <a:lnTo>
                  <a:pt x="581214" y="365743"/>
                </a:lnTo>
                <a:lnTo>
                  <a:pt x="566606" y="409658"/>
                </a:lnTo>
                <a:lnTo>
                  <a:pt x="545593" y="450208"/>
                </a:lnTo>
                <a:lnTo>
                  <a:pt x="518784" y="486786"/>
                </a:lnTo>
                <a:lnTo>
                  <a:pt x="486786" y="518784"/>
                </a:lnTo>
                <a:lnTo>
                  <a:pt x="450208" y="545593"/>
                </a:lnTo>
                <a:lnTo>
                  <a:pt x="409658" y="566606"/>
                </a:lnTo>
                <a:lnTo>
                  <a:pt x="365743" y="581214"/>
                </a:lnTo>
                <a:lnTo>
                  <a:pt x="319072" y="588810"/>
                </a:lnTo>
                <a:lnTo>
                  <a:pt x="294894" y="589788"/>
                </a:lnTo>
                <a:lnTo>
                  <a:pt x="270715" y="588810"/>
                </a:lnTo>
                <a:lnTo>
                  <a:pt x="224044" y="581214"/>
                </a:lnTo>
                <a:lnTo>
                  <a:pt x="180129" y="566606"/>
                </a:lnTo>
                <a:lnTo>
                  <a:pt x="139579" y="545593"/>
                </a:lnTo>
                <a:lnTo>
                  <a:pt x="103001" y="518784"/>
                </a:lnTo>
                <a:lnTo>
                  <a:pt x="71003" y="486786"/>
                </a:lnTo>
                <a:lnTo>
                  <a:pt x="44194" y="450208"/>
                </a:lnTo>
                <a:lnTo>
                  <a:pt x="23181" y="409658"/>
                </a:lnTo>
                <a:lnTo>
                  <a:pt x="8573"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28" name="object 28"/>
          <p:cNvSpPr/>
          <p:nvPr/>
        </p:nvSpPr>
        <p:spPr>
          <a:xfrm>
            <a:off x="4183760" y="2297048"/>
            <a:ext cx="436880" cy="436880"/>
          </a:xfrm>
          <a:custGeom>
            <a:avLst/>
            <a:gdLst/>
            <a:ahLst/>
            <a:cxnLst/>
            <a:rect l="l" t="t" r="r" b="b"/>
            <a:pathLst>
              <a:path w="436879" h="436880">
                <a:moveTo>
                  <a:pt x="0" y="218312"/>
                </a:moveTo>
                <a:lnTo>
                  <a:pt x="6347" y="270760"/>
                </a:lnTo>
                <a:lnTo>
                  <a:pt x="24376" y="318619"/>
                </a:lnTo>
                <a:lnTo>
                  <a:pt x="52567" y="360369"/>
                </a:lnTo>
                <a:lnTo>
                  <a:pt x="89400" y="394490"/>
                </a:lnTo>
                <a:lnTo>
                  <a:pt x="133355" y="419463"/>
                </a:lnTo>
                <a:lnTo>
                  <a:pt x="182913" y="433767"/>
                </a:lnTo>
                <a:lnTo>
                  <a:pt x="218312" y="436625"/>
                </a:lnTo>
                <a:lnTo>
                  <a:pt x="236211" y="435901"/>
                </a:lnTo>
                <a:lnTo>
                  <a:pt x="287298" y="425491"/>
                </a:lnTo>
                <a:lnTo>
                  <a:pt x="333289" y="403906"/>
                </a:lnTo>
                <a:lnTo>
                  <a:pt x="372665" y="372665"/>
                </a:lnTo>
                <a:lnTo>
                  <a:pt x="403906" y="333289"/>
                </a:lnTo>
                <a:lnTo>
                  <a:pt x="425491" y="287298"/>
                </a:lnTo>
                <a:lnTo>
                  <a:pt x="435901" y="236211"/>
                </a:lnTo>
                <a:lnTo>
                  <a:pt x="436625" y="218312"/>
                </a:lnTo>
                <a:lnTo>
                  <a:pt x="435901" y="200414"/>
                </a:lnTo>
                <a:lnTo>
                  <a:pt x="425491" y="149327"/>
                </a:lnTo>
                <a:lnTo>
                  <a:pt x="403906" y="103336"/>
                </a:lnTo>
                <a:lnTo>
                  <a:pt x="372665" y="63960"/>
                </a:lnTo>
                <a:lnTo>
                  <a:pt x="333289" y="32719"/>
                </a:lnTo>
                <a:lnTo>
                  <a:pt x="287298" y="11134"/>
                </a:lnTo>
                <a:lnTo>
                  <a:pt x="236211" y="724"/>
                </a:lnTo>
                <a:lnTo>
                  <a:pt x="218312" y="0"/>
                </a:lnTo>
                <a:lnTo>
                  <a:pt x="200414" y="724"/>
                </a:lnTo>
                <a:lnTo>
                  <a:pt x="149327" y="11134"/>
                </a:lnTo>
                <a:lnTo>
                  <a:pt x="103336" y="32719"/>
                </a:lnTo>
                <a:lnTo>
                  <a:pt x="63960" y="63960"/>
                </a:lnTo>
                <a:lnTo>
                  <a:pt x="32719" y="103336"/>
                </a:lnTo>
                <a:lnTo>
                  <a:pt x="11134" y="149327"/>
                </a:lnTo>
                <a:lnTo>
                  <a:pt x="724" y="200414"/>
                </a:lnTo>
                <a:lnTo>
                  <a:pt x="0" y="218312"/>
                </a:lnTo>
                <a:close/>
              </a:path>
            </a:pathLst>
          </a:custGeom>
          <a:ln w="12192">
            <a:solidFill>
              <a:srgbClr val="41709C"/>
            </a:solidFill>
          </a:ln>
        </p:spPr>
        <p:txBody>
          <a:bodyPr wrap="square" lIns="0" tIns="0" rIns="0" bIns="0" rtlCol="0"/>
          <a:lstStyle/>
          <a:p>
            <a:endParaRPr/>
          </a:p>
        </p:txBody>
      </p:sp>
      <p:sp>
        <p:nvSpPr>
          <p:cNvPr id="29" name="object 29"/>
          <p:cNvSpPr/>
          <p:nvPr/>
        </p:nvSpPr>
        <p:spPr>
          <a:xfrm>
            <a:off x="6531864" y="2287523"/>
            <a:ext cx="457200" cy="455930"/>
          </a:xfrm>
          <a:custGeom>
            <a:avLst/>
            <a:gdLst/>
            <a:ahLst/>
            <a:cxnLst/>
            <a:rect l="l" t="t" r="r" b="b"/>
            <a:pathLst>
              <a:path w="457200" h="455930">
                <a:moveTo>
                  <a:pt x="228600" y="0"/>
                </a:moveTo>
                <a:lnTo>
                  <a:pt x="173669" y="6620"/>
                </a:lnTo>
                <a:lnTo>
                  <a:pt x="123551" y="25426"/>
                </a:lnTo>
                <a:lnTo>
                  <a:pt x="79835" y="54836"/>
                </a:lnTo>
                <a:lnTo>
                  <a:pt x="44110" y="93268"/>
                </a:lnTo>
                <a:lnTo>
                  <a:pt x="17966" y="139142"/>
                </a:lnTo>
                <a:lnTo>
                  <a:pt x="2992" y="190875"/>
                </a:lnTo>
                <a:lnTo>
                  <a:pt x="0" y="227837"/>
                </a:lnTo>
                <a:lnTo>
                  <a:pt x="757" y="246527"/>
                </a:lnTo>
                <a:lnTo>
                  <a:pt x="11655" y="299862"/>
                </a:lnTo>
                <a:lnTo>
                  <a:pt x="34252" y="347864"/>
                </a:lnTo>
                <a:lnTo>
                  <a:pt x="66960" y="388953"/>
                </a:lnTo>
                <a:lnTo>
                  <a:pt x="108189" y="421546"/>
                </a:lnTo>
                <a:lnTo>
                  <a:pt x="156350" y="444063"/>
                </a:lnTo>
                <a:lnTo>
                  <a:pt x="209853" y="454920"/>
                </a:lnTo>
                <a:lnTo>
                  <a:pt x="228600" y="455675"/>
                </a:lnTo>
                <a:lnTo>
                  <a:pt x="247346" y="454920"/>
                </a:lnTo>
                <a:lnTo>
                  <a:pt x="300849" y="444063"/>
                </a:lnTo>
                <a:lnTo>
                  <a:pt x="349010" y="421546"/>
                </a:lnTo>
                <a:lnTo>
                  <a:pt x="390239" y="388953"/>
                </a:lnTo>
                <a:lnTo>
                  <a:pt x="422947" y="347864"/>
                </a:lnTo>
                <a:lnTo>
                  <a:pt x="445544" y="299862"/>
                </a:lnTo>
                <a:lnTo>
                  <a:pt x="456442" y="246527"/>
                </a:lnTo>
                <a:lnTo>
                  <a:pt x="457200" y="227837"/>
                </a:lnTo>
                <a:lnTo>
                  <a:pt x="456442" y="209148"/>
                </a:lnTo>
                <a:lnTo>
                  <a:pt x="445544" y="155813"/>
                </a:lnTo>
                <a:lnTo>
                  <a:pt x="422947" y="107811"/>
                </a:lnTo>
                <a:lnTo>
                  <a:pt x="390239" y="66722"/>
                </a:lnTo>
                <a:lnTo>
                  <a:pt x="349010" y="34129"/>
                </a:lnTo>
                <a:lnTo>
                  <a:pt x="300849" y="11612"/>
                </a:lnTo>
                <a:lnTo>
                  <a:pt x="247346" y="755"/>
                </a:lnTo>
                <a:lnTo>
                  <a:pt x="228600" y="0"/>
                </a:lnTo>
                <a:close/>
              </a:path>
            </a:pathLst>
          </a:custGeom>
          <a:solidFill>
            <a:srgbClr val="0066FF"/>
          </a:solidFill>
        </p:spPr>
        <p:txBody>
          <a:bodyPr wrap="square" lIns="0" tIns="0" rIns="0" bIns="0" rtlCol="0"/>
          <a:lstStyle/>
          <a:p>
            <a:endParaRPr/>
          </a:p>
        </p:txBody>
      </p:sp>
      <p:sp>
        <p:nvSpPr>
          <p:cNvPr id="30" name="object 30"/>
          <p:cNvSpPr txBox="1"/>
          <p:nvPr/>
        </p:nvSpPr>
        <p:spPr>
          <a:xfrm>
            <a:off x="6444234" y="2348058"/>
            <a:ext cx="638810" cy="979805"/>
          </a:xfrm>
          <a:prstGeom prst="rect">
            <a:avLst/>
          </a:prstGeom>
        </p:spPr>
        <p:txBody>
          <a:bodyPr vert="horz" wrap="square" lIns="0" tIns="0" rIns="0" bIns="0" rtlCol="0">
            <a:spAutoFit/>
          </a:bodyPr>
          <a:lstStyle/>
          <a:p>
            <a:pPr algn="ctr">
              <a:lnSpc>
                <a:spcPct val="100000"/>
              </a:lnSpc>
            </a:pPr>
            <a:r>
              <a:rPr sz="2800" spc="-5" dirty="0">
                <a:solidFill>
                  <a:srgbClr val="FFFFFF"/>
                </a:solidFill>
                <a:latin typeface="Arial Rounded MT Bold"/>
                <a:cs typeface="Arial Rounded MT Bold"/>
              </a:rPr>
              <a:t>3</a:t>
            </a:r>
            <a:endParaRPr sz="2800">
              <a:latin typeface="Arial Rounded MT Bold"/>
              <a:cs typeface="Arial Rounded MT Bold"/>
            </a:endParaRPr>
          </a:p>
          <a:p>
            <a:pPr algn="ctr">
              <a:lnSpc>
                <a:spcPts val="2835"/>
              </a:lnSpc>
              <a:spcBef>
                <a:spcPts val="1930"/>
              </a:spcBef>
            </a:pPr>
            <a:r>
              <a:rPr sz="2400" b="1" dirty="0">
                <a:latin typeface="宋体"/>
                <a:cs typeface="宋体"/>
              </a:rPr>
              <a:t>滤波</a:t>
            </a:r>
            <a:endParaRPr sz="2400">
              <a:latin typeface="宋体"/>
              <a:cs typeface="宋体"/>
            </a:endParaRPr>
          </a:p>
        </p:txBody>
      </p:sp>
      <p:sp>
        <p:nvSpPr>
          <p:cNvPr id="31" name="object 31"/>
          <p:cNvSpPr txBox="1"/>
          <p:nvPr/>
        </p:nvSpPr>
        <p:spPr>
          <a:xfrm>
            <a:off x="2251964" y="2368002"/>
            <a:ext cx="236854" cy="381000"/>
          </a:xfrm>
          <a:prstGeom prst="rect">
            <a:avLst/>
          </a:prstGeom>
        </p:spPr>
        <p:txBody>
          <a:bodyPr vert="horz" wrap="square" lIns="0" tIns="0" rIns="0" bIns="0" rtlCol="0">
            <a:spAutoFit/>
          </a:bodyPr>
          <a:lstStyle/>
          <a:p>
            <a:pPr marL="12700">
              <a:lnSpc>
                <a:spcPct val="100000"/>
              </a:lnSpc>
            </a:pPr>
            <a:r>
              <a:rPr sz="2800" spc="-5" dirty="0">
                <a:solidFill>
                  <a:srgbClr val="FFFFFF"/>
                </a:solidFill>
                <a:latin typeface="Arial Rounded MT Bold"/>
                <a:cs typeface="Arial Rounded MT Bold"/>
              </a:rPr>
              <a:t>1</a:t>
            </a:r>
            <a:endParaRPr sz="2800">
              <a:latin typeface="Arial Rounded MT Bold"/>
              <a:cs typeface="Arial Rounded MT Bold"/>
            </a:endParaRPr>
          </a:p>
        </p:txBody>
      </p:sp>
      <p:sp>
        <p:nvSpPr>
          <p:cNvPr id="32" name="object 32"/>
          <p:cNvSpPr/>
          <p:nvPr/>
        </p:nvSpPr>
        <p:spPr>
          <a:xfrm>
            <a:off x="6466332" y="2220467"/>
            <a:ext cx="589915" cy="589915"/>
          </a:xfrm>
          <a:custGeom>
            <a:avLst/>
            <a:gdLst/>
            <a:ahLst/>
            <a:cxnLst/>
            <a:rect l="l" t="t" r="r" b="b"/>
            <a:pathLst>
              <a:path w="589915" h="589914">
                <a:moveTo>
                  <a:pt x="294893" y="0"/>
                </a:moveTo>
                <a:lnTo>
                  <a:pt x="247073" y="3861"/>
                </a:lnTo>
                <a:lnTo>
                  <a:pt x="201704" y="15038"/>
                </a:lnTo>
                <a:lnTo>
                  <a:pt x="159395" y="32925"/>
                </a:lnTo>
                <a:lnTo>
                  <a:pt x="120755" y="56912"/>
                </a:lnTo>
                <a:lnTo>
                  <a:pt x="86391" y="86391"/>
                </a:lnTo>
                <a:lnTo>
                  <a:pt x="56912" y="120755"/>
                </a:lnTo>
                <a:lnTo>
                  <a:pt x="32925" y="159395"/>
                </a:lnTo>
                <a:lnTo>
                  <a:pt x="15038" y="201704"/>
                </a:lnTo>
                <a:lnTo>
                  <a:pt x="3861" y="247073"/>
                </a:lnTo>
                <a:lnTo>
                  <a:pt x="0" y="294894"/>
                </a:lnTo>
                <a:lnTo>
                  <a:pt x="977" y="319072"/>
                </a:lnTo>
                <a:lnTo>
                  <a:pt x="8573" y="365743"/>
                </a:lnTo>
                <a:lnTo>
                  <a:pt x="23181" y="409658"/>
                </a:lnTo>
                <a:lnTo>
                  <a:pt x="44194" y="450208"/>
                </a:lnTo>
                <a:lnTo>
                  <a:pt x="71003" y="486786"/>
                </a:lnTo>
                <a:lnTo>
                  <a:pt x="103001" y="518784"/>
                </a:lnTo>
                <a:lnTo>
                  <a:pt x="139579" y="545593"/>
                </a:lnTo>
                <a:lnTo>
                  <a:pt x="180129" y="566606"/>
                </a:lnTo>
                <a:lnTo>
                  <a:pt x="224044" y="581214"/>
                </a:lnTo>
                <a:lnTo>
                  <a:pt x="270715" y="588810"/>
                </a:lnTo>
                <a:lnTo>
                  <a:pt x="294893" y="589788"/>
                </a:lnTo>
                <a:lnTo>
                  <a:pt x="319072" y="588810"/>
                </a:lnTo>
                <a:lnTo>
                  <a:pt x="365743" y="581214"/>
                </a:lnTo>
                <a:lnTo>
                  <a:pt x="409658" y="566606"/>
                </a:lnTo>
                <a:lnTo>
                  <a:pt x="450208" y="545593"/>
                </a:lnTo>
                <a:lnTo>
                  <a:pt x="486786" y="518784"/>
                </a:lnTo>
                <a:lnTo>
                  <a:pt x="492806" y="513207"/>
                </a:lnTo>
                <a:lnTo>
                  <a:pt x="294893" y="513207"/>
                </a:lnTo>
                <a:lnTo>
                  <a:pt x="276995" y="512482"/>
                </a:lnTo>
                <a:lnTo>
                  <a:pt x="225908" y="502072"/>
                </a:lnTo>
                <a:lnTo>
                  <a:pt x="179917" y="480487"/>
                </a:lnTo>
                <a:lnTo>
                  <a:pt x="140541" y="449246"/>
                </a:lnTo>
                <a:lnTo>
                  <a:pt x="109300" y="409870"/>
                </a:lnTo>
                <a:lnTo>
                  <a:pt x="87715" y="363879"/>
                </a:lnTo>
                <a:lnTo>
                  <a:pt x="77305" y="312792"/>
                </a:lnTo>
                <a:lnTo>
                  <a:pt x="76581" y="294894"/>
                </a:lnTo>
                <a:lnTo>
                  <a:pt x="77305" y="276995"/>
                </a:lnTo>
                <a:lnTo>
                  <a:pt x="87715" y="225908"/>
                </a:lnTo>
                <a:lnTo>
                  <a:pt x="109300" y="179917"/>
                </a:lnTo>
                <a:lnTo>
                  <a:pt x="140541" y="140541"/>
                </a:lnTo>
                <a:lnTo>
                  <a:pt x="179917" y="109300"/>
                </a:lnTo>
                <a:lnTo>
                  <a:pt x="225908" y="87715"/>
                </a:lnTo>
                <a:lnTo>
                  <a:pt x="276995" y="77305"/>
                </a:lnTo>
                <a:lnTo>
                  <a:pt x="294893" y="76581"/>
                </a:lnTo>
                <a:lnTo>
                  <a:pt x="492806" y="76581"/>
                </a:lnTo>
                <a:lnTo>
                  <a:pt x="486786" y="71003"/>
                </a:lnTo>
                <a:lnTo>
                  <a:pt x="450208" y="44194"/>
                </a:lnTo>
                <a:lnTo>
                  <a:pt x="409658" y="23181"/>
                </a:lnTo>
                <a:lnTo>
                  <a:pt x="365743" y="8573"/>
                </a:lnTo>
                <a:lnTo>
                  <a:pt x="319072" y="977"/>
                </a:lnTo>
                <a:lnTo>
                  <a:pt x="294893" y="0"/>
                </a:lnTo>
                <a:close/>
              </a:path>
              <a:path w="589915" h="589914">
                <a:moveTo>
                  <a:pt x="492806" y="76581"/>
                </a:moveTo>
                <a:lnTo>
                  <a:pt x="294893" y="76581"/>
                </a:lnTo>
                <a:lnTo>
                  <a:pt x="312792" y="77305"/>
                </a:lnTo>
                <a:lnTo>
                  <a:pt x="330293" y="79439"/>
                </a:lnTo>
                <a:lnTo>
                  <a:pt x="379851" y="93743"/>
                </a:lnTo>
                <a:lnTo>
                  <a:pt x="423806" y="118716"/>
                </a:lnTo>
                <a:lnTo>
                  <a:pt x="460639" y="152837"/>
                </a:lnTo>
                <a:lnTo>
                  <a:pt x="488830" y="194587"/>
                </a:lnTo>
                <a:lnTo>
                  <a:pt x="506859" y="242446"/>
                </a:lnTo>
                <a:lnTo>
                  <a:pt x="513207" y="294894"/>
                </a:lnTo>
                <a:lnTo>
                  <a:pt x="512482" y="312792"/>
                </a:lnTo>
                <a:lnTo>
                  <a:pt x="502072" y="363879"/>
                </a:lnTo>
                <a:lnTo>
                  <a:pt x="480487" y="409870"/>
                </a:lnTo>
                <a:lnTo>
                  <a:pt x="449246" y="449246"/>
                </a:lnTo>
                <a:lnTo>
                  <a:pt x="409870" y="480487"/>
                </a:lnTo>
                <a:lnTo>
                  <a:pt x="363879" y="502072"/>
                </a:lnTo>
                <a:lnTo>
                  <a:pt x="312792" y="512482"/>
                </a:lnTo>
                <a:lnTo>
                  <a:pt x="294893" y="513207"/>
                </a:lnTo>
                <a:lnTo>
                  <a:pt x="492806" y="513207"/>
                </a:lnTo>
                <a:lnTo>
                  <a:pt x="532875" y="469032"/>
                </a:lnTo>
                <a:lnTo>
                  <a:pt x="556862" y="430392"/>
                </a:lnTo>
                <a:lnTo>
                  <a:pt x="574749" y="388083"/>
                </a:lnTo>
                <a:lnTo>
                  <a:pt x="585926" y="342714"/>
                </a:lnTo>
                <a:lnTo>
                  <a:pt x="589788" y="294894"/>
                </a:lnTo>
                <a:lnTo>
                  <a:pt x="588810" y="270715"/>
                </a:lnTo>
                <a:lnTo>
                  <a:pt x="581214" y="224044"/>
                </a:lnTo>
                <a:lnTo>
                  <a:pt x="566606" y="180129"/>
                </a:lnTo>
                <a:lnTo>
                  <a:pt x="545593" y="139579"/>
                </a:lnTo>
                <a:lnTo>
                  <a:pt x="518784" y="103001"/>
                </a:lnTo>
                <a:lnTo>
                  <a:pt x="503396" y="86391"/>
                </a:lnTo>
                <a:lnTo>
                  <a:pt x="492806" y="76581"/>
                </a:lnTo>
                <a:close/>
              </a:path>
            </a:pathLst>
          </a:custGeom>
          <a:solidFill>
            <a:srgbClr val="FFFFFF"/>
          </a:solidFill>
        </p:spPr>
        <p:txBody>
          <a:bodyPr wrap="square" lIns="0" tIns="0" rIns="0" bIns="0" rtlCol="0"/>
          <a:lstStyle/>
          <a:p>
            <a:endParaRPr/>
          </a:p>
        </p:txBody>
      </p:sp>
      <p:sp>
        <p:nvSpPr>
          <p:cNvPr id="33" name="object 33"/>
          <p:cNvSpPr/>
          <p:nvPr/>
        </p:nvSpPr>
        <p:spPr>
          <a:xfrm>
            <a:off x="6466332" y="2220467"/>
            <a:ext cx="589915" cy="589915"/>
          </a:xfrm>
          <a:custGeom>
            <a:avLst/>
            <a:gdLst/>
            <a:ahLst/>
            <a:cxnLst/>
            <a:rect l="l" t="t" r="r" b="b"/>
            <a:pathLst>
              <a:path w="589915" h="589914">
                <a:moveTo>
                  <a:pt x="0" y="294894"/>
                </a:moveTo>
                <a:lnTo>
                  <a:pt x="3861" y="247073"/>
                </a:lnTo>
                <a:lnTo>
                  <a:pt x="15038" y="201704"/>
                </a:lnTo>
                <a:lnTo>
                  <a:pt x="32925" y="159395"/>
                </a:lnTo>
                <a:lnTo>
                  <a:pt x="56912" y="120755"/>
                </a:lnTo>
                <a:lnTo>
                  <a:pt x="86391" y="86391"/>
                </a:lnTo>
                <a:lnTo>
                  <a:pt x="120755" y="56912"/>
                </a:lnTo>
                <a:lnTo>
                  <a:pt x="159395" y="32925"/>
                </a:lnTo>
                <a:lnTo>
                  <a:pt x="201704" y="15038"/>
                </a:lnTo>
                <a:lnTo>
                  <a:pt x="247073" y="3861"/>
                </a:lnTo>
                <a:lnTo>
                  <a:pt x="294893" y="0"/>
                </a:lnTo>
                <a:lnTo>
                  <a:pt x="319072" y="977"/>
                </a:lnTo>
                <a:lnTo>
                  <a:pt x="365743" y="8573"/>
                </a:lnTo>
                <a:lnTo>
                  <a:pt x="409658" y="23181"/>
                </a:lnTo>
                <a:lnTo>
                  <a:pt x="450208" y="44194"/>
                </a:lnTo>
                <a:lnTo>
                  <a:pt x="486786" y="71003"/>
                </a:lnTo>
                <a:lnTo>
                  <a:pt x="518784" y="103001"/>
                </a:lnTo>
                <a:lnTo>
                  <a:pt x="545593" y="139579"/>
                </a:lnTo>
                <a:lnTo>
                  <a:pt x="566606" y="180129"/>
                </a:lnTo>
                <a:lnTo>
                  <a:pt x="581214" y="224044"/>
                </a:lnTo>
                <a:lnTo>
                  <a:pt x="588810" y="270715"/>
                </a:lnTo>
                <a:lnTo>
                  <a:pt x="589788" y="294894"/>
                </a:lnTo>
                <a:lnTo>
                  <a:pt x="588810" y="319072"/>
                </a:lnTo>
                <a:lnTo>
                  <a:pt x="581214" y="365743"/>
                </a:lnTo>
                <a:lnTo>
                  <a:pt x="566606" y="409658"/>
                </a:lnTo>
                <a:lnTo>
                  <a:pt x="545593" y="450208"/>
                </a:lnTo>
                <a:lnTo>
                  <a:pt x="518784" y="486786"/>
                </a:lnTo>
                <a:lnTo>
                  <a:pt x="486786" y="518784"/>
                </a:lnTo>
                <a:lnTo>
                  <a:pt x="450208" y="545593"/>
                </a:lnTo>
                <a:lnTo>
                  <a:pt x="409658" y="566606"/>
                </a:lnTo>
                <a:lnTo>
                  <a:pt x="365743" y="581214"/>
                </a:lnTo>
                <a:lnTo>
                  <a:pt x="319072" y="588810"/>
                </a:lnTo>
                <a:lnTo>
                  <a:pt x="294893" y="589788"/>
                </a:lnTo>
                <a:lnTo>
                  <a:pt x="270715" y="588810"/>
                </a:lnTo>
                <a:lnTo>
                  <a:pt x="224044" y="581214"/>
                </a:lnTo>
                <a:lnTo>
                  <a:pt x="180129" y="566606"/>
                </a:lnTo>
                <a:lnTo>
                  <a:pt x="139579" y="545593"/>
                </a:lnTo>
                <a:lnTo>
                  <a:pt x="103001" y="518784"/>
                </a:lnTo>
                <a:lnTo>
                  <a:pt x="71003" y="486786"/>
                </a:lnTo>
                <a:lnTo>
                  <a:pt x="44194" y="450208"/>
                </a:lnTo>
                <a:lnTo>
                  <a:pt x="23181" y="409658"/>
                </a:lnTo>
                <a:lnTo>
                  <a:pt x="8573" y="365743"/>
                </a:lnTo>
                <a:lnTo>
                  <a:pt x="977" y="319072"/>
                </a:lnTo>
                <a:lnTo>
                  <a:pt x="0" y="294894"/>
                </a:lnTo>
                <a:close/>
              </a:path>
            </a:pathLst>
          </a:custGeom>
          <a:ln w="12192">
            <a:solidFill>
              <a:srgbClr val="41709C"/>
            </a:solidFill>
          </a:ln>
        </p:spPr>
        <p:txBody>
          <a:bodyPr wrap="square" lIns="0" tIns="0" rIns="0" bIns="0" rtlCol="0"/>
          <a:lstStyle/>
          <a:p>
            <a:endParaRPr/>
          </a:p>
        </p:txBody>
      </p:sp>
      <p:sp>
        <p:nvSpPr>
          <p:cNvPr id="34" name="object 34"/>
          <p:cNvSpPr/>
          <p:nvPr/>
        </p:nvSpPr>
        <p:spPr>
          <a:xfrm>
            <a:off x="6542913" y="2297048"/>
            <a:ext cx="436880" cy="436880"/>
          </a:xfrm>
          <a:custGeom>
            <a:avLst/>
            <a:gdLst/>
            <a:ahLst/>
            <a:cxnLst/>
            <a:rect l="l" t="t" r="r" b="b"/>
            <a:pathLst>
              <a:path w="436879" h="436880">
                <a:moveTo>
                  <a:pt x="0" y="218312"/>
                </a:moveTo>
                <a:lnTo>
                  <a:pt x="6347" y="270760"/>
                </a:lnTo>
                <a:lnTo>
                  <a:pt x="24376" y="318619"/>
                </a:lnTo>
                <a:lnTo>
                  <a:pt x="52567" y="360369"/>
                </a:lnTo>
                <a:lnTo>
                  <a:pt x="89400" y="394490"/>
                </a:lnTo>
                <a:lnTo>
                  <a:pt x="133355" y="419463"/>
                </a:lnTo>
                <a:lnTo>
                  <a:pt x="182913" y="433767"/>
                </a:lnTo>
                <a:lnTo>
                  <a:pt x="218312" y="436625"/>
                </a:lnTo>
                <a:lnTo>
                  <a:pt x="236211" y="435901"/>
                </a:lnTo>
                <a:lnTo>
                  <a:pt x="287298" y="425491"/>
                </a:lnTo>
                <a:lnTo>
                  <a:pt x="333289" y="403906"/>
                </a:lnTo>
                <a:lnTo>
                  <a:pt x="372665" y="372665"/>
                </a:lnTo>
                <a:lnTo>
                  <a:pt x="403906" y="333289"/>
                </a:lnTo>
                <a:lnTo>
                  <a:pt x="425491" y="287298"/>
                </a:lnTo>
                <a:lnTo>
                  <a:pt x="435901" y="236211"/>
                </a:lnTo>
                <a:lnTo>
                  <a:pt x="436625" y="218312"/>
                </a:lnTo>
                <a:lnTo>
                  <a:pt x="435901" y="200414"/>
                </a:lnTo>
                <a:lnTo>
                  <a:pt x="425491" y="149327"/>
                </a:lnTo>
                <a:lnTo>
                  <a:pt x="403906" y="103336"/>
                </a:lnTo>
                <a:lnTo>
                  <a:pt x="372665" y="63960"/>
                </a:lnTo>
                <a:lnTo>
                  <a:pt x="333289" y="32719"/>
                </a:lnTo>
                <a:lnTo>
                  <a:pt x="287298" y="11134"/>
                </a:lnTo>
                <a:lnTo>
                  <a:pt x="236211" y="724"/>
                </a:lnTo>
                <a:lnTo>
                  <a:pt x="218312" y="0"/>
                </a:lnTo>
                <a:lnTo>
                  <a:pt x="200414" y="724"/>
                </a:lnTo>
                <a:lnTo>
                  <a:pt x="149327" y="11134"/>
                </a:lnTo>
                <a:lnTo>
                  <a:pt x="103336" y="32719"/>
                </a:lnTo>
                <a:lnTo>
                  <a:pt x="63960" y="63960"/>
                </a:lnTo>
                <a:lnTo>
                  <a:pt x="32719" y="103336"/>
                </a:lnTo>
                <a:lnTo>
                  <a:pt x="11134" y="149327"/>
                </a:lnTo>
                <a:lnTo>
                  <a:pt x="724" y="200414"/>
                </a:lnTo>
                <a:lnTo>
                  <a:pt x="0" y="218312"/>
                </a:lnTo>
                <a:close/>
              </a:path>
            </a:pathLst>
          </a:custGeom>
          <a:ln w="12192">
            <a:solidFill>
              <a:srgbClr val="41709C"/>
            </a:solidFill>
          </a:ln>
        </p:spPr>
        <p:txBody>
          <a:bodyPr wrap="square" lIns="0" tIns="0" rIns="0" bIns="0" rtlCol="0"/>
          <a:lstStyle/>
          <a:p>
            <a:endParaRPr/>
          </a:p>
        </p:txBody>
      </p:sp>
      <p:sp>
        <p:nvSpPr>
          <p:cNvPr id="35" name="object 35"/>
          <p:cNvSpPr/>
          <p:nvPr/>
        </p:nvSpPr>
        <p:spPr>
          <a:xfrm>
            <a:off x="9853421" y="1840229"/>
            <a:ext cx="1777364" cy="1416050"/>
          </a:xfrm>
          <a:custGeom>
            <a:avLst/>
            <a:gdLst/>
            <a:ahLst/>
            <a:cxnLst/>
            <a:rect l="l" t="t" r="r" b="b"/>
            <a:pathLst>
              <a:path w="1777365" h="1416050">
                <a:moveTo>
                  <a:pt x="1480820" y="1156716"/>
                </a:moveTo>
                <a:lnTo>
                  <a:pt x="1036574" y="1156716"/>
                </a:lnTo>
                <a:lnTo>
                  <a:pt x="1000505" y="1415796"/>
                </a:lnTo>
                <a:lnTo>
                  <a:pt x="1480820" y="1156716"/>
                </a:lnTo>
                <a:close/>
              </a:path>
              <a:path w="1777365" h="1416050">
                <a:moveTo>
                  <a:pt x="1584198" y="0"/>
                </a:moveTo>
                <a:lnTo>
                  <a:pt x="192785" y="0"/>
                </a:lnTo>
                <a:lnTo>
                  <a:pt x="176980" y="639"/>
                </a:lnTo>
                <a:lnTo>
                  <a:pt x="131868" y="9832"/>
                </a:lnTo>
                <a:lnTo>
                  <a:pt x="91255" y="28894"/>
                </a:lnTo>
                <a:lnTo>
                  <a:pt x="56483" y="56483"/>
                </a:lnTo>
                <a:lnTo>
                  <a:pt x="28894" y="91255"/>
                </a:lnTo>
                <a:lnTo>
                  <a:pt x="9832" y="131868"/>
                </a:lnTo>
                <a:lnTo>
                  <a:pt x="639" y="176980"/>
                </a:lnTo>
                <a:lnTo>
                  <a:pt x="0" y="192786"/>
                </a:lnTo>
                <a:lnTo>
                  <a:pt x="0" y="963930"/>
                </a:lnTo>
                <a:lnTo>
                  <a:pt x="5605" y="1010243"/>
                </a:lnTo>
                <a:lnTo>
                  <a:pt x="21527" y="1052505"/>
                </a:lnTo>
                <a:lnTo>
                  <a:pt x="46422" y="1089373"/>
                </a:lnTo>
                <a:lnTo>
                  <a:pt x="78949" y="1119506"/>
                </a:lnTo>
                <a:lnTo>
                  <a:pt x="117764" y="1141559"/>
                </a:lnTo>
                <a:lnTo>
                  <a:pt x="161526" y="1154191"/>
                </a:lnTo>
                <a:lnTo>
                  <a:pt x="192785" y="1156716"/>
                </a:lnTo>
                <a:lnTo>
                  <a:pt x="1584198" y="1156716"/>
                </a:lnTo>
                <a:lnTo>
                  <a:pt x="1630511" y="1151110"/>
                </a:lnTo>
                <a:lnTo>
                  <a:pt x="1672773" y="1135188"/>
                </a:lnTo>
                <a:lnTo>
                  <a:pt x="1709641" y="1110293"/>
                </a:lnTo>
                <a:lnTo>
                  <a:pt x="1739774" y="1077766"/>
                </a:lnTo>
                <a:lnTo>
                  <a:pt x="1761827" y="1038951"/>
                </a:lnTo>
                <a:lnTo>
                  <a:pt x="1774459" y="995189"/>
                </a:lnTo>
                <a:lnTo>
                  <a:pt x="1776983" y="963930"/>
                </a:lnTo>
                <a:lnTo>
                  <a:pt x="1776983" y="192786"/>
                </a:lnTo>
                <a:lnTo>
                  <a:pt x="1771378" y="146472"/>
                </a:lnTo>
                <a:lnTo>
                  <a:pt x="1755456" y="104210"/>
                </a:lnTo>
                <a:lnTo>
                  <a:pt x="1730561" y="67342"/>
                </a:lnTo>
                <a:lnTo>
                  <a:pt x="1698034" y="37209"/>
                </a:lnTo>
                <a:lnTo>
                  <a:pt x="1659219" y="15156"/>
                </a:lnTo>
                <a:lnTo>
                  <a:pt x="1615457" y="2524"/>
                </a:lnTo>
                <a:lnTo>
                  <a:pt x="1584198" y="0"/>
                </a:lnTo>
                <a:close/>
              </a:path>
            </a:pathLst>
          </a:custGeom>
          <a:solidFill>
            <a:srgbClr val="FFFFC7"/>
          </a:solidFill>
        </p:spPr>
        <p:txBody>
          <a:bodyPr wrap="square" lIns="0" tIns="0" rIns="0" bIns="0" rtlCol="0"/>
          <a:lstStyle/>
          <a:p>
            <a:endParaRPr/>
          </a:p>
        </p:txBody>
      </p:sp>
      <p:sp>
        <p:nvSpPr>
          <p:cNvPr id="36" name="object 36"/>
          <p:cNvSpPr/>
          <p:nvPr/>
        </p:nvSpPr>
        <p:spPr>
          <a:xfrm>
            <a:off x="9853421" y="1840229"/>
            <a:ext cx="1777364" cy="1416050"/>
          </a:xfrm>
          <a:custGeom>
            <a:avLst/>
            <a:gdLst/>
            <a:ahLst/>
            <a:cxnLst/>
            <a:rect l="l" t="t" r="r" b="b"/>
            <a:pathLst>
              <a:path w="1777365" h="1416050">
                <a:moveTo>
                  <a:pt x="0" y="192786"/>
                </a:moveTo>
                <a:lnTo>
                  <a:pt x="5605" y="146472"/>
                </a:lnTo>
                <a:lnTo>
                  <a:pt x="21527" y="104210"/>
                </a:lnTo>
                <a:lnTo>
                  <a:pt x="46422" y="67342"/>
                </a:lnTo>
                <a:lnTo>
                  <a:pt x="78949" y="37209"/>
                </a:lnTo>
                <a:lnTo>
                  <a:pt x="117764" y="15156"/>
                </a:lnTo>
                <a:lnTo>
                  <a:pt x="161526" y="2524"/>
                </a:lnTo>
                <a:lnTo>
                  <a:pt x="192785" y="0"/>
                </a:lnTo>
                <a:lnTo>
                  <a:pt x="1036574" y="0"/>
                </a:lnTo>
                <a:lnTo>
                  <a:pt x="1480820" y="0"/>
                </a:lnTo>
                <a:lnTo>
                  <a:pt x="1584198" y="0"/>
                </a:lnTo>
                <a:lnTo>
                  <a:pt x="1600003" y="639"/>
                </a:lnTo>
                <a:lnTo>
                  <a:pt x="1645115" y="9832"/>
                </a:lnTo>
                <a:lnTo>
                  <a:pt x="1685728" y="28894"/>
                </a:lnTo>
                <a:lnTo>
                  <a:pt x="1720500" y="56483"/>
                </a:lnTo>
                <a:lnTo>
                  <a:pt x="1748089" y="91255"/>
                </a:lnTo>
                <a:lnTo>
                  <a:pt x="1767151" y="131868"/>
                </a:lnTo>
                <a:lnTo>
                  <a:pt x="1776344" y="176980"/>
                </a:lnTo>
                <a:lnTo>
                  <a:pt x="1776983" y="192786"/>
                </a:lnTo>
                <a:lnTo>
                  <a:pt x="1776983" y="674751"/>
                </a:lnTo>
                <a:lnTo>
                  <a:pt x="1776983" y="963930"/>
                </a:lnTo>
                <a:lnTo>
                  <a:pt x="1776344" y="979735"/>
                </a:lnTo>
                <a:lnTo>
                  <a:pt x="1774459" y="995189"/>
                </a:lnTo>
                <a:lnTo>
                  <a:pt x="1761827" y="1038951"/>
                </a:lnTo>
                <a:lnTo>
                  <a:pt x="1739774" y="1077766"/>
                </a:lnTo>
                <a:lnTo>
                  <a:pt x="1709641" y="1110293"/>
                </a:lnTo>
                <a:lnTo>
                  <a:pt x="1672773" y="1135188"/>
                </a:lnTo>
                <a:lnTo>
                  <a:pt x="1630511" y="1151110"/>
                </a:lnTo>
                <a:lnTo>
                  <a:pt x="1584198" y="1156716"/>
                </a:lnTo>
                <a:lnTo>
                  <a:pt x="1480820" y="1156716"/>
                </a:lnTo>
                <a:lnTo>
                  <a:pt x="1000505" y="1415796"/>
                </a:lnTo>
                <a:lnTo>
                  <a:pt x="1036574" y="1156716"/>
                </a:lnTo>
                <a:lnTo>
                  <a:pt x="192785" y="1156716"/>
                </a:lnTo>
                <a:lnTo>
                  <a:pt x="176980" y="1156076"/>
                </a:lnTo>
                <a:lnTo>
                  <a:pt x="131868" y="1146883"/>
                </a:lnTo>
                <a:lnTo>
                  <a:pt x="91255" y="1127821"/>
                </a:lnTo>
                <a:lnTo>
                  <a:pt x="56483" y="1100232"/>
                </a:lnTo>
                <a:lnTo>
                  <a:pt x="28894" y="1065460"/>
                </a:lnTo>
                <a:lnTo>
                  <a:pt x="9832" y="1024847"/>
                </a:lnTo>
                <a:lnTo>
                  <a:pt x="639" y="979735"/>
                </a:lnTo>
                <a:lnTo>
                  <a:pt x="0" y="963930"/>
                </a:lnTo>
                <a:lnTo>
                  <a:pt x="0" y="674751"/>
                </a:lnTo>
                <a:lnTo>
                  <a:pt x="0" y="192786"/>
                </a:lnTo>
                <a:close/>
              </a:path>
            </a:pathLst>
          </a:custGeom>
          <a:ln w="28956">
            <a:solidFill>
              <a:srgbClr val="000000"/>
            </a:solidFill>
          </a:ln>
        </p:spPr>
        <p:txBody>
          <a:bodyPr wrap="square" lIns="0" tIns="0" rIns="0" bIns="0" rtlCol="0"/>
          <a:lstStyle/>
          <a:p>
            <a:endParaRPr/>
          </a:p>
        </p:txBody>
      </p:sp>
      <p:sp>
        <p:nvSpPr>
          <p:cNvPr id="37" name="object 37"/>
          <p:cNvSpPr txBox="1"/>
          <p:nvPr/>
        </p:nvSpPr>
        <p:spPr>
          <a:xfrm>
            <a:off x="10117328" y="1909254"/>
            <a:ext cx="125095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送入时基</a:t>
            </a:r>
            <a:endParaRPr sz="2400">
              <a:latin typeface="宋体"/>
              <a:cs typeface="宋体"/>
            </a:endParaRPr>
          </a:p>
        </p:txBody>
      </p:sp>
      <p:sp>
        <p:nvSpPr>
          <p:cNvPr id="38" name="object 38"/>
          <p:cNvSpPr txBox="1"/>
          <p:nvPr/>
        </p:nvSpPr>
        <p:spPr>
          <a:xfrm>
            <a:off x="10117328" y="2275014"/>
            <a:ext cx="1250950" cy="675005"/>
          </a:xfrm>
          <a:prstGeom prst="rect">
            <a:avLst/>
          </a:prstGeom>
        </p:spPr>
        <p:txBody>
          <a:bodyPr vert="horz" wrap="square" lIns="0" tIns="0" rIns="0" bIns="0" rtlCol="0">
            <a:spAutoFit/>
          </a:bodyPr>
          <a:lstStyle/>
          <a:p>
            <a:pPr marL="12700" marR="5080">
              <a:lnSpc>
                <a:spcPts val="2710"/>
              </a:lnSpc>
            </a:pPr>
            <a:r>
              <a:rPr sz="2400" b="1" dirty="0">
                <a:latin typeface="宋体"/>
                <a:cs typeface="宋体"/>
              </a:rPr>
              <a:t>单元的预 分频时钟</a:t>
            </a:r>
            <a:endParaRPr sz="2400">
              <a:latin typeface="宋体"/>
              <a:cs typeface="宋体"/>
            </a:endParaRPr>
          </a:p>
        </p:txBody>
      </p:sp>
      <p:sp>
        <p:nvSpPr>
          <p:cNvPr id="39" name="object 39"/>
          <p:cNvSpPr/>
          <p:nvPr/>
        </p:nvSpPr>
        <p:spPr>
          <a:xfrm>
            <a:off x="10245090" y="3320034"/>
            <a:ext cx="1298575" cy="662940"/>
          </a:xfrm>
          <a:custGeom>
            <a:avLst/>
            <a:gdLst/>
            <a:ahLst/>
            <a:cxnLst/>
            <a:rect l="l" t="t" r="r" b="b"/>
            <a:pathLst>
              <a:path w="1298575" h="662939">
                <a:moveTo>
                  <a:pt x="0" y="662939"/>
                </a:moveTo>
                <a:lnTo>
                  <a:pt x="1298448" y="662939"/>
                </a:lnTo>
                <a:lnTo>
                  <a:pt x="1298448" y="0"/>
                </a:lnTo>
                <a:lnTo>
                  <a:pt x="0" y="0"/>
                </a:lnTo>
                <a:lnTo>
                  <a:pt x="0" y="662939"/>
                </a:lnTo>
                <a:close/>
              </a:path>
            </a:pathLst>
          </a:custGeom>
          <a:ln w="38100">
            <a:solidFill>
              <a:srgbClr val="FF0000"/>
            </a:solidFill>
          </a:ln>
        </p:spPr>
        <p:txBody>
          <a:bodyPr wrap="square" lIns="0" tIns="0" rIns="0" bIns="0" rtlCol="0"/>
          <a:lstStyle/>
          <a:p>
            <a:endParaRPr/>
          </a:p>
        </p:txBody>
      </p:sp>
      <p:sp>
        <p:nvSpPr>
          <p:cNvPr id="40" name="object 40"/>
          <p:cNvSpPr/>
          <p:nvPr/>
        </p:nvSpPr>
        <p:spPr>
          <a:xfrm>
            <a:off x="1311402" y="5628894"/>
            <a:ext cx="6850380" cy="906780"/>
          </a:xfrm>
          <a:custGeom>
            <a:avLst/>
            <a:gdLst/>
            <a:ahLst/>
            <a:cxnLst/>
            <a:rect l="l" t="t" r="r" b="b"/>
            <a:pathLst>
              <a:path w="6850380" h="906779">
                <a:moveTo>
                  <a:pt x="6699250" y="0"/>
                </a:moveTo>
                <a:lnTo>
                  <a:pt x="1141730" y="0"/>
                </a:lnTo>
                <a:lnTo>
                  <a:pt x="138918" y="486"/>
                </a:lnTo>
                <a:lnTo>
                  <a:pt x="97232" y="9898"/>
                </a:lnTo>
                <a:lnTo>
                  <a:pt x="60803" y="29961"/>
                </a:lnTo>
                <a:lnTo>
                  <a:pt x="31395" y="58912"/>
                </a:lnTo>
                <a:lnTo>
                  <a:pt x="10774" y="94989"/>
                </a:lnTo>
                <a:lnTo>
                  <a:pt x="706" y="136429"/>
                </a:lnTo>
                <a:lnTo>
                  <a:pt x="0" y="151129"/>
                </a:lnTo>
                <a:lnTo>
                  <a:pt x="0" y="377824"/>
                </a:lnTo>
                <a:lnTo>
                  <a:pt x="486" y="767865"/>
                </a:lnTo>
                <a:lnTo>
                  <a:pt x="9901" y="809557"/>
                </a:lnTo>
                <a:lnTo>
                  <a:pt x="29968" y="845987"/>
                </a:lnTo>
                <a:lnTo>
                  <a:pt x="58923" y="875391"/>
                </a:lnTo>
                <a:lnTo>
                  <a:pt x="95000" y="896008"/>
                </a:lnTo>
                <a:lnTo>
                  <a:pt x="136433" y="906074"/>
                </a:lnTo>
                <a:lnTo>
                  <a:pt x="151129" y="906779"/>
                </a:lnTo>
                <a:lnTo>
                  <a:pt x="2854325" y="906779"/>
                </a:lnTo>
                <a:lnTo>
                  <a:pt x="6711461" y="906293"/>
                </a:lnTo>
                <a:lnTo>
                  <a:pt x="6753147" y="896881"/>
                </a:lnTo>
                <a:lnTo>
                  <a:pt x="6789576" y="876818"/>
                </a:lnTo>
                <a:lnTo>
                  <a:pt x="6818984" y="847867"/>
                </a:lnTo>
                <a:lnTo>
                  <a:pt x="6839605" y="811790"/>
                </a:lnTo>
                <a:lnTo>
                  <a:pt x="6849673" y="770350"/>
                </a:lnTo>
                <a:lnTo>
                  <a:pt x="6850380" y="755649"/>
                </a:lnTo>
                <a:lnTo>
                  <a:pt x="6850380" y="151129"/>
                </a:lnTo>
                <a:lnTo>
                  <a:pt x="6844887" y="110622"/>
                </a:lnTo>
                <a:lnTo>
                  <a:pt x="6828175" y="72242"/>
                </a:lnTo>
                <a:lnTo>
                  <a:pt x="6801986" y="40300"/>
                </a:lnTo>
                <a:lnTo>
                  <a:pt x="6768087" y="16558"/>
                </a:lnTo>
                <a:lnTo>
                  <a:pt x="6728243" y="2779"/>
                </a:lnTo>
                <a:lnTo>
                  <a:pt x="6699250" y="0"/>
                </a:lnTo>
                <a:close/>
              </a:path>
            </a:pathLst>
          </a:custGeom>
          <a:solidFill>
            <a:srgbClr val="FFFFC7"/>
          </a:solidFill>
        </p:spPr>
        <p:txBody>
          <a:bodyPr wrap="square" lIns="0" tIns="0" rIns="0" bIns="0" rtlCol="0"/>
          <a:lstStyle/>
          <a:p>
            <a:endParaRPr/>
          </a:p>
        </p:txBody>
      </p:sp>
      <p:sp>
        <p:nvSpPr>
          <p:cNvPr id="41" name="object 41"/>
          <p:cNvSpPr/>
          <p:nvPr/>
        </p:nvSpPr>
        <p:spPr>
          <a:xfrm>
            <a:off x="1311402" y="5628894"/>
            <a:ext cx="6850380" cy="906780"/>
          </a:xfrm>
          <a:custGeom>
            <a:avLst/>
            <a:gdLst/>
            <a:ahLst/>
            <a:cxnLst/>
            <a:rect l="l" t="t" r="r" b="b"/>
            <a:pathLst>
              <a:path w="6850380" h="906779">
                <a:moveTo>
                  <a:pt x="0" y="151129"/>
                </a:moveTo>
                <a:lnTo>
                  <a:pt x="6158" y="108294"/>
                </a:lnTo>
                <a:lnTo>
                  <a:pt x="23458" y="70233"/>
                </a:lnTo>
                <a:lnTo>
                  <a:pt x="50133" y="38711"/>
                </a:lnTo>
                <a:lnTo>
                  <a:pt x="84418" y="15489"/>
                </a:lnTo>
                <a:lnTo>
                  <a:pt x="124548" y="2331"/>
                </a:lnTo>
                <a:lnTo>
                  <a:pt x="1141730" y="0"/>
                </a:lnTo>
                <a:lnTo>
                  <a:pt x="2854325" y="0"/>
                </a:lnTo>
                <a:lnTo>
                  <a:pt x="6699250" y="0"/>
                </a:lnTo>
                <a:lnTo>
                  <a:pt x="6713946" y="705"/>
                </a:lnTo>
                <a:lnTo>
                  <a:pt x="6755379" y="10771"/>
                </a:lnTo>
                <a:lnTo>
                  <a:pt x="6791456" y="31388"/>
                </a:lnTo>
                <a:lnTo>
                  <a:pt x="6820411" y="60792"/>
                </a:lnTo>
                <a:lnTo>
                  <a:pt x="6840478" y="97222"/>
                </a:lnTo>
                <a:lnTo>
                  <a:pt x="6849893" y="138914"/>
                </a:lnTo>
                <a:lnTo>
                  <a:pt x="6850380" y="151129"/>
                </a:lnTo>
                <a:lnTo>
                  <a:pt x="6850380" y="377824"/>
                </a:lnTo>
                <a:lnTo>
                  <a:pt x="6850380" y="755649"/>
                </a:lnTo>
                <a:lnTo>
                  <a:pt x="6849673" y="770350"/>
                </a:lnTo>
                <a:lnTo>
                  <a:pt x="6839605" y="811790"/>
                </a:lnTo>
                <a:lnTo>
                  <a:pt x="6818984" y="847867"/>
                </a:lnTo>
                <a:lnTo>
                  <a:pt x="6789576" y="876818"/>
                </a:lnTo>
                <a:lnTo>
                  <a:pt x="6753147" y="896881"/>
                </a:lnTo>
                <a:lnTo>
                  <a:pt x="6711461" y="906293"/>
                </a:lnTo>
                <a:lnTo>
                  <a:pt x="2854325" y="906779"/>
                </a:lnTo>
                <a:lnTo>
                  <a:pt x="1141730" y="906779"/>
                </a:lnTo>
                <a:lnTo>
                  <a:pt x="151129" y="906779"/>
                </a:lnTo>
                <a:lnTo>
                  <a:pt x="136433" y="906074"/>
                </a:lnTo>
                <a:lnTo>
                  <a:pt x="95000" y="896008"/>
                </a:lnTo>
                <a:lnTo>
                  <a:pt x="58923" y="875391"/>
                </a:lnTo>
                <a:lnTo>
                  <a:pt x="29968" y="845987"/>
                </a:lnTo>
                <a:lnTo>
                  <a:pt x="9901" y="809557"/>
                </a:lnTo>
                <a:lnTo>
                  <a:pt x="486" y="767865"/>
                </a:lnTo>
                <a:lnTo>
                  <a:pt x="0" y="377824"/>
                </a:lnTo>
                <a:lnTo>
                  <a:pt x="0" y="301078"/>
                </a:lnTo>
                <a:lnTo>
                  <a:pt x="0" y="151129"/>
                </a:lnTo>
                <a:close/>
              </a:path>
            </a:pathLst>
          </a:custGeom>
          <a:ln w="28955">
            <a:solidFill>
              <a:srgbClr val="000000"/>
            </a:solidFill>
          </a:ln>
        </p:spPr>
        <p:txBody>
          <a:bodyPr wrap="square" lIns="0" tIns="0" rIns="0" bIns="0" rtlCol="0"/>
          <a:lstStyle/>
          <a:p>
            <a:endParaRPr/>
          </a:p>
        </p:txBody>
      </p:sp>
      <p:sp>
        <p:nvSpPr>
          <p:cNvPr id="42" name="object 42"/>
          <p:cNvSpPr txBox="1"/>
          <p:nvPr/>
        </p:nvSpPr>
        <p:spPr>
          <a:xfrm>
            <a:off x="1434464" y="5756440"/>
            <a:ext cx="6764655" cy="675005"/>
          </a:xfrm>
          <a:prstGeom prst="rect">
            <a:avLst/>
          </a:prstGeom>
        </p:spPr>
        <p:txBody>
          <a:bodyPr vert="horz" wrap="square" lIns="0" tIns="0" rIns="0" bIns="0" rtlCol="0">
            <a:spAutoFit/>
          </a:bodyPr>
          <a:lstStyle/>
          <a:p>
            <a:pPr marL="12700" marR="5080">
              <a:lnSpc>
                <a:spcPts val="2710"/>
              </a:lnSpc>
            </a:pPr>
            <a:r>
              <a:rPr sz="2400" b="1" dirty="0">
                <a:latin typeface="宋体"/>
                <a:cs typeface="宋体"/>
              </a:rPr>
              <a:t>注意：外部脉冲信号的分频和滤波并不是必需的， 可以根据它的频率高低及信号干净程度来决定</a:t>
            </a:r>
            <a:endParaRPr sz="2400">
              <a:latin typeface="宋体"/>
              <a:cs typeface="宋体"/>
            </a:endParaRPr>
          </a:p>
        </p:txBody>
      </p:sp>
      <p:sp>
        <p:nvSpPr>
          <p:cNvPr id="43" name="object 43"/>
          <p:cNvSpPr txBox="1">
            <a:spLocks noGrp="1"/>
          </p:cNvSpPr>
          <p:nvPr>
            <p:ph type="title"/>
          </p:nvPr>
        </p:nvSpPr>
        <p:spPr>
          <a:prstGeom prst="rect">
            <a:avLst/>
          </a:prstGeom>
        </p:spPr>
        <p:txBody>
          <a:bodyPr vert="horz" wrap="square" lIns="0" tIns="0" rIns="0" bIns="0" rtlCol="0">
            <a:spAutoFit/>
          </a:bodyPr>
          <a:lstStyle/>
          <a:p>
            <a:pPr marL="3718560">
              <a:lnSpc>
                <a:spcPct val="100000"/>
              </a:lnSpc>
            </a:pPr>
            <a:r>
              <a:rPr spc="-5" dirty="0"/>
              <a:t>外部触发引</a:t>
            </a:r>
            <a:r>
              <a:rPr spc="-15" dirty="0"/>
              <a:t>脚</a:t>
            </a:r>
            <a:r>
              <a:rPr spc="5" dirty="0">
                <a:latin typeface="微软雅黑"/>
                <a:cs typeface="微软雅黑"/>
              </a:rPr>
              <a:t>E</a:t>
            </a:r>
            <a:r>
              <a:rPr spc="-10" dirty="0">
                <a:latin typeface="微软雅黑"/>
                <a:cs typeface="微软雅黑"/>
              </a:rPr>
              <a:t>T</a:t>
            </a:r>
            <a:r>
              <a:rPr spc="5" dirty="0">
                <a:latin typeface="微软雅黑"/>
                <a:cs typeface="微软雅黑"/>
              </a:rPr>
              <a:t>R</a:t>
            </a:r>
            <a:r>
              <a:rPr spc="-5" dirty="0"/>
              <a:t>的内部结构</a:t>
            </a:r>
          </a:p>
        </p:txBody>
      </p:sp>
    </p:spTree>
    <p:extLst>
      <p:ext uri="{BB962C8B-B14F-4D97-AF65-F5344CB8AC3E}">
        <p14:creationId xmlns:p14="http://schemas.microsoft.com/office/powerpoint/2010/main" val="1339577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120497" y="2772004"/>
            <a:ext cx="11953875" cy="711200"/>
          </a:xfrm>
          <a:prstGeom prst="rect">
            <a:avLst/>
          </a:prstGeom>
        </p:spPr>
        <p:txBody>
          <a:bodyPr vert="horz" wrap="square" lIns="0" tIns="0" rIns="0" bIns="0" rtlCol="0">
            <a:spAutoFit/>
          </a:bodyPr>
          <a:lstStyle/>
          <a:p>
            <a:pPr marL="12700">
              <a:lnSpc>
                <a:spcPct val="100000"/>
              </a:lnSpc>
            </a:pPr>
            <a:r>
              <a:rPr sz="5400" spc="-5" dirty="0">
                <a:solidFill>
                  <a:srgbClr val="FFFFFF"/>
                </a:solidFill>
                <a:latin typeface="微软雅黑"/>
                <a:cs typeface="微软雅黑"/>
              </a:rPr>
              <a:t>3 </a:t>
            </a:r>
            <a:r>
              <a:rPr sz="5400" dirty="0">
                <a:solidFill>
                  <a:srgbClr val="FFFFFF"/>
                </a:solidFill>
              </a:rPr>
              <a:t>定</a:t>
            </a:r>
            <a:r>
              <a:rPr sz="5400" spc="-5" dirty="0">
                <a:solidFill>
                  <a:srgbClr val="FFFFFF"/>
                </a:solidFill>
              </a:rPr>
              <a:t>时</a:t>
            </a:r>
            <a:r>
              <a:rPr sz="5400" spc="-5" dirty="0">
                <a:solidFill>
                  <a:srgbClr val="FFFFFF"/>
                </a:solidFill>
                <a:latin typeface="微软雅黑"/>
                <a:cs typeface="微软雅黑"/>
              </a:rPr>
              <a:t>/</a:t>
            </a:r>
            <a:r>
              <a:rPr sz="5400" dirty="0">
                <a:solidFill>
                  <a:srgbClr val="FFFFFF"/>
                </a:solidFill>
              </a:rPr>
              <a:t>计数功能的数据类型和接口函数</a:t>
            </a:r>
            <a:endParaRPr sz="5400">
              <a:latin typeface="微软雅黑"/>
              <a:cs typeface="微软雅黑"/>
            </a:endParaRPr>
          </a:p>
        </p:txBody>
      </p:sp>
    </p:spTree>
    <p:extLst>
      <p:ext uri="{BB962C8B-B14F-4D97-AF65-F5344CB8AC3E}">
        <p14:creationId xmlns:p14="http://schemas.microsoft.com/office/powerpoint/2010/main" val="19182655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60" y="1921764"/>
            <a:ext cx="12070080" cy="463600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6482" y="1907285"/>
            <a:ext cx="12099290" cy="4665345"/>
          </a:xfrm>
          <a:custGeom>
            <a:avLst/>
            <a:gdLst/>
            <a:ahLst/>
            <a:cxnLst/>
            <a:rect l="l" t="t" r="r" b="b"/>
            <a:pathLst>
              <a:path w="12099290" h="4665345">
                <a:moveTo>
                  <a:pt x="0" y="4664964"/>
                </a:moveTo>
                <a:lnTo>
                  <a:pt x="12099036" y="4664964"/>
                </a:lnTo>
                <a:lnTo>
                  <a:pt x="12099036" y="0"/>
                </a:lnTo>
                <a:lnTo>
                  <a:pt x="0" y="0"/>
                </a:lnTo>
                <a:lnTo>
                  <a:pt x="0" y="4664964"/>
                </a:lnTo>
                <a:close/>
              </a:path>
            </a:pathLst>
          </a:custGeom>
          <a:ln w="28956">
            <a:solidFill>
              <a:srgbClr val="5B9BD4"/>
            </a:solidFill>
          </a:ln>
        </p:spPr>
        <p:txBody>
          <a:bodyPr wrap="square" lIns="0" tIns="0" rIns="0" bIns="0" rtlCol="0"/>
          <a:lstStyle/>
          <a:p>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367690" y="1146799"/>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时基单元</a:t>
            </a:r>
            <a:endParaRPr sz="24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2" name="object 12"/>
          <p:cNvSpPr txBox="1">
            <a:spLocks noGrp="1"/>
          </p:cNvSpPr>
          <p:nvPr>
            <p:ph type="title"/>
          </p:nvPr>
        </p:nvSpPr>
        <p:spPr>
          <a:prstGeom prst="rect">
            <a:avLst/>
          </a:prstGeom>
        </p:spPr>
        <p:txBody>
          <a:bodyPr vert="horz" wrap="square" lIns="0" tIns="0" rIns="0" bIns="0" rtlCol="0">
            <a:spAutoFit/>
          </a:bodyPr>
          <a:lstStyle/>
          <a:p>
            <a:pPr marL="4625975">
              <a:lnSpc>
                <a:spcPct val="100000"/>
              </a:lnSpc>
            </a:pPr>
            <a:r>
              <a:rPr spc="-5" dirty="0"/>
              <a:t>时基单元初始化类型</a:t>
            </a:r>
          </a:p>
        </p:txBody>
      </p:sp>
      <p:sp>
        <p:nvSpPr>
          <p:cNvPr id="13" name="object 13"/>
          <p:cNvSpPr txBox="1"/>
          <p:nvPr/>
        </p:nvSpPr>
        <p:spPr>
          <a:xfrm>
            <a:off x="3573779" y="2107692"/>
            <a:ext cx="5044440" cy="524510"/>
          </a:xfrm>
          <a:prstGeom prst="rect">
            <a:avLst/>
          </a:prstGeom>
          <a:solidFill>
            <a:srgbClr val="E34A46"/>
          </a:solidFill>
        </p:spPr>
        <p:txBody>
          <a:bodyPr vert="horz" wrap="square" lIns="0" tIns="0" rIns="0" bIns="0" rtlCol="0">
            <a:spAutoFit/>
          </a:bodyPr>
          <a:lstStyle/>
          <a:p>
            <a:pPr marL="92075">
              <a:lnSpc>
                <a:spcPct val="100000"/>
              </a:lnSpc>
            </a:pPr>
            <a:r>
              <a:rPr sz="2800" b="1" spc="-5" dirty="0">
                <a:solidFill>
                  <a:srgbClr val="FFFFFF"/>
                </a:solidFill>
                <a:latin typeface="微软雅黑"/>
                <a:cs typeface="微软雅黑"/>
              </a:rPr>
              <a:t>结构体类型，包括6个成员变量</a:t>
            </a:r>
            <a:endParaRPr sz="2800">
              <a:latin typeface="微软雅黑"/>
              <a:cs typeface="微软雅黑"/>
            </a:endParaRPr>
          </a:p>
        </p:txBody>
      </p:sp>
      <p:sp>
        <p:nvSpPr>
          <p:cNvPr id="14" name="object 14"/>
          <p:cNvSpPr/>
          <p:nvPr/>
        </p:nvSpPr>
        <p:spPr>
          <a:xfrm>
            <a:off x="741426" y="6099809"/>
            <a:ext cx="3244850" cy="401320"/>
          </a:xfrm>
          <a:custGeom>
            <a:avLst/>
            <a:gdLst/>
            <a:ahLst/>
            <a:cxnLst/>
            <a:rect l="l" t="t" r="r" b="b"/>
            <a:pathLst>
              <a:path w="3244850" h="401320">
                <a:moveTo>
                  <a:pt x="0" y="400811"/>
                </a:moveTo>
                <a:lnTo>
                  <a:pt x="3244596" y="400811"/>
                </a:lnTo>
                <a:lnTo>
                  <a:pt x="3244596" y="0"/>
                </a:lnTo>
                <a:lnTo>
                  <a:pt x="0" y="0"/>
                </a:lnTo>
                <a:lnTo>
                  <a:pt x="0" y="400811"/>
                </a:lnTo>
                <a:close/>
              </a:path>
            </a:pathLst>
          </a:custGeom>
          <a:ln w="38100">
            <a:solidFill>
              <a:srgbClr val="FF0000"/>
            </a:solidFill>
          </a:ln>
        </p:spPr>
        <p:txBody>
          <a:bodyPr wrap="square" lIns="0" tIns="0" rIns="0" bIns="0" rtlCol="0"/>
          <a:lstStyle/>
          <a:p>
            <a:endParaRPr/>
          </a:p>
        </p:txBody>
      </p:sp>
      <p:sp>
        <p:nvSpPr>
          <p:cNvPr id="16" name="object 16"/>
          <p:cNvSpPr/>
          <p:nvPr/>
        </p:nvSpPr>
        <p:spPr>
          <a:xfrm>
            <a:off x="6008390" y="5683758"/>
            <a:ext cx="4022090" cy="817244"/>
          </a:xfrm>
          <a:custGeom>
            <a:avLst/>
            <a:gdLst/>
            <a:ahLst/>
            <a:cxnLst/>
            <a:rect l="l" t="t" r="r" b="b"/>
            <a:pathLst>
              <a:path w="4022090" h="817245">
                <a:moveTo>
                  <a:pt x="3885671" y="0"/>
                </a:moveTo>
                <a:lnTo>
                  <a:pt x="133742" y="20"/>
                </a:lnTo>
                <a:lnTo>
                  <a:pt x="91382" y="7523"/>
                </a:lnTo>
                <a:lnTo>
                  <a:pt x="54652" y="27060"/>
                </a:lnTo>
                <a:lnTo>
                  <a:pt x="25727" y="56458"/>
                </a:lnTo>
                <a:lnTo>
                  <a:pt x="6778" y="93543"/>
                </a:lnTo>
                <a:lnTo>
                  <a:pt x="106" y="133762"/>
                </a:lnTo>
                <a:lnTo>
                  <a:pt x="0" y="683101"/>
                </a:lnTo>
                <a:lnTo>
                  <a:pt x="1030" y="697712"/>
                </a:lnTo>
                <a:lnTo>
                  <a:pt x="12786" y="738437"/>
                </a:lnTo>
                <a:lnTo>
                  <a:pt x="35851" y="772806"/>
                </a:lnTo>
                <a:lnTo>
                  <a:pt x="68053" y="798648"/>
                </a:lnTo>
                <a:lnTo>
                  <a:pt x="107218" y="813788"/>
                </a:lnTo>
                <a:lnTo>
                  <a:pt x="136123" y="816863"/>
                </a:lnTo>
                <a:lnTo>
                  <a:pt x="3888052" y="816843"/>
                </a:lnTo>
                <a:lnTo>
                  <a:pt x="3930412" y="809340"/>
                </a:lnTo>
                <a:lnTo>
                  <a:pt x="3967142" y="789803"/>
                </a:lnTo>
                <a:lnTo>
                  <a:pt x="3996067" y="760405"/>
                </a:lnTo>
                <a:lnTo>
                  <a:pt x="4015016" y="723320"/>
                </a:lnTo>
                <a:lnTo>
                  <a:pt x="4021688" y="683101"/>
                </a:lnTo>
                <a:lnTo>
                  <a:pt x="4021795" y="133762"/>
                </a:lnTo>
                <a:lnTo>
                  <a:pt x="4020765" y="119151"/>
                </a:lnTo>
                <a:lnTo>
                  <a:pt x="4009009" y="78426"/>
                </a:lnTo>
                <a:lnTo>
                  <a:pt x="3985943" y="44057"/>
                </a:lnTo>
                <a:lnTo>
                  <a:pt x="3953742" y="18215"/>
                </a:lnTo>
                <a:lnTo>
                  <a:pt x="3914577" y="3075"/>
                </a:lnTo>
                <a:lnTo>
                  <a:pt x="3885671" y="0"/>
                </a:lnTo>
                <a:close/>
              </a:path>
            </a:pathLst>
          </a:custGeom>
          <a:solidFill>
            <a:srgbClr val="FFFFC7"/>
          </a:solidFill>
        </p:spPr>
        <p:txBody>
          <a:bodyPr wrap="square" lIns="0" tIns="0" rIns="0" bIns="0" rtlCol="0"/>
          <a:lstStyle/>
          <a:p>
            <a:endParaRPr/>
          </a:p>
        </p:txBody>
      </p:sp>
      <p:sp>
        <p:nvSpPr>
          <p:cNvPr id="17" name="object 17"/>
          <p:cNvSpPr/>
          <p:nvPr/>
        </p:nvSpPr>
        <p:spPr>
          <a:xfrm>
            <a:off x="6008370" y="5683758"/>
            <a:ext cx="4022090" cy="817244"/>
          </a:xfrm>
          <a:custGeom>
            <a:avLst/>
            <a:gdLst/>
            <a:ahLst/>
            <a:cxnLst/>
            <a:rect l="l" t="t" r="r" b="b"/>
            <a:pathLst>
              <a:path w="4022090" h="817245">
                <a:moveTo>
                  <a:pt x="0" y="136143"/>
                </a:moveTo>
                <a:lnTo>
                  <a:pt x="6799" y="93543"/>
                </a:lnTo>
                <a:lnTo>
                  <a:pt x="25747" y="56458"/>
                </a:lnTo>
                <a:lnTo>
                  <a:pt x="54673" y="27060"/>
                </a:lnTo>
                <a:lnTo>
                  <a:pt x="91402" y="7523"/>
                </a:lnTo>
                <a:lnTo>
                  <a:pt x="133762" y="20"/>
                </a:lnTo>
                <a:lnTo>
                  <a:pt x="2346071" y="0"/>
                </a:lnTo>
                <a:lnTo>
                  <a:pt x="3351529" y="0"/>
                </a:lnTo>
                <a:lnTo>
                  <a:pt x="3885691" y="0"/>
                </a:lnTo>
                <a:lnTo>
                  <a:pt x="3900370" y="782"/>
                </a:lnTo>
                <a:lnTo>
                  <a:pt x="3941373" y="11872"/>
                </a:lnTo>
                <a:lnTo>
                  <a:pt x="3976138" y="34388"/>
                </a:lnTo>
                <a:lnTo>
                  <a:pt x="4002490" y="66156"/>
                </a:lnTo>
                <a:lnTo>
                  <a:pt x="4018257" y="105004"/>
                </a:lnTo>
                <a:lnTo>
                  <a:pt x="4021835" y="476503"/>
                </a:lnTo>
                <a:lnTo>
                  <a:pt x="4021835" y="680719"/>
                </a:lnTo>
                <a:lnTo>
                  <a:pt x="4021053" y="695398"/>
                </a:lnTo>
                <a:lnTo>
                  <a:pt x="4018760" y="709625"/>
                </a:lnTo>
                <a:lnTo>
                  <a:pt x="4003620" y="748790"/>
                </a:lnTo>
                <a:lnTo>
                  <a:pt x="3977778" y="780992"/>
                </a:lnTo>
                <a:lnTo>
                  <a:pt x="3943409" y="804057"/>
                </a:lnTo>
                <a:lnTo>
                  <a:pt x="3902684" y="815813"/>
                </a:lnTo>
                <a:lnTo>
                  <a:pt x="3351529" y="816863"/>
                </a:lnTo>
                <a:lnTo>
                  <a:pt x="2014854" y="816863"/>
                </a:lnTo>
                <a:lnTo>
                  <a:pt x="2346071" y="816863"/>
                </a:lnTo>
                <a:lnTo>
                  <a:pt x="136143" y="816863"/>
                </a:lnTo>
                <a:lnTo>
                  <a:pt x="121465" y="816081"/>
                </a:lnTo>
                <a:lnTo>
                  <a:pt x="80462" y="804991"/>
                </a:lnTo>
                <a:lnTo>
                  <a:pt x="45697" y="782475"/>
                </a:lnTo>
                <a:lnTo>
                  <a:pt x="19345" y="750707"/>
                </a:lnTo>
                <a:lnTo>
                  <a:pt x="3578" y="711859"/>
                </a:lnTo>
                <a:lnTo>
                  <a:pt x="0" y="680719"/>
                </a:lnTo>
                <a:lnTo>
                  <a:pt x="0" y="476503"/>
                </a:lnTo>
                <a:lnTo>
                  <a:pt x="0" y="136143"/>
                </a:lnTo>
                <a:close/>
              </a:path>
            </a:pathLst>
          </a:custGeom>
          <a:ln w="28956">
            <a:solidFill>
              <a:srgbClr val="000000"/>
            </a:solidFill>
          </a:ln>
        </p:spPr>
        <p:txBody>
          <a:bodyPr wrap="square" lIns="0" tIns="0" rIns="0" bIns="0" rtlCol="0"/>
          <a:lstStyle/>
          <a:p>
            <a:endParaRPr/>
          </a:p>
        </p:txBody>
      </p:sp>
      <p:sp>
        <p:nvSpPr>
          <p:cNvPr id="18" name="object 18"/>
          <p:cNvSpPr txBox="1"/>
          <p:nvPr/>
        </p:nvSpPr>
        <p:spPr>
          <a:xfrm>
            <a:off x="6126860" y="5744595"/>
            <a:ext cx="3649345" cy="696595"/>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Perio</a:t>
            </a:r>
            <a:r>
              <a:rPr sz="2400" b="1" dirty="0">
                <a:latin typeface="Consolas"/>
                <a:cs typeface="Consolas"/>
              </a:rPr>
              <a:t>d</a:t>
            </a:r>
            <a:r>
              <a:rPr sz="2400" b="1" spc="-5" dirty="0">
                <a:latin typeface="宋体"/>
                <a:cs typeface="宋体"/>
              </a:rPr>
              <a:t>的值不能设置</a:t>
            </a:r>
            <a:r>
              <a:rPr sz="2400" b="1" dirty="0">
                <a:latin typeface="宋体"/>
                <a:cs typeface="宋体"/>
              </a:rPr>
              <a:t>为</a:t>
            </a:r>
            <a:r>
              <a:rPr sz="2400" b="1" spc="-5" dirty="0">
                <a:latin typeface="Consolas"/>
                <a:cs typeface="Consolas"/>
              </a:rPr>
              <a:t>0</a:t>
            </a:r>
            <a:r>
              <a:rPr sz="2400" b="1" spc="-10" dirty="0">
                <a:latin typeface="宋体"/>
                <a:cs typeface="宋体"/>
              </a:rPr>
              <a:t>，</a:t>
            </a:r>
            <a:endParaRPr sz="2400">
              <a:latin typeface="宋体"/>
              <a:cs typeface="宋体"/>
            </a:endParaRPr>
          </a:p>
          <a:p>
            <a:pPr marL="12700">
              <a:lnSpc>
                <a:spcPts val="2840"/>
              </a:lnSpc>
            </a:pPr>
            <a:r>
              <a:rPr sz="2400" b="1" dirty="0">
                <a:latin typeface="宋体"/>
                <a:cs typeface="宋体"/>
              </a:rPr>
              <a:t>否则定时器将不会启动</a:t>
            </a:r>
            <a:endParaRPr sz="2400">
              <a:latin typeface="宋体"/>
              <a:cs typeface="宋体"/>
            </a:endParaRPr>
          </a:p>
        </p:txBody>
      </p:sp>
      <p:graphicFrame>
        <p:nvGraphicFramePr>
          <p:cNvPr id="15" name="object 15"/>
          <p:cNvGraphicFramePr>
            <a:graphicFrameLocks noGrp="1"/>
          </p:cNvGraphicFramePr>
          <p:nvPr/>
        </p:nvGraphicFramePr>
        <p:xfrm>
          <a:off x="952500" y="2834639"/>
          <a:ext cx="4162044" cy="3526154"/>
        </p:xfrm>
        <a:graphic>
          <a:graphicData uri="http://schemas.openxmlformats.org/drawingml/2006/table">
            <a:tbl>
              <a:tblPr firstRow="1" bandRow="1">
                <a:tableStyleId>{2D5ABB26-0587-4C30-8999-92F81FD0307C}</a:tableStyleId>
              </a:tblPr>
              <a:tblGrid>
                <a:gridCol w="3700272">
                  <a:extLst>
                    <a:ext uri="{9D8B030D-6E8A-4147-A177-3AD203B41FA5}">
                      <a16:colId xmlns:a16="http://schemas.microsoft.com/office/drawing/2014/main" val="20000"/>
                    </a:ext>
                  </a:extLst>
                </a:gridCol>
                <a:gridCol w="461772">
                  <a:extLst>
                    <a:ext uri="{9D8B030D-6E8A-4147-A177-3AD203B41FA5}">
                      <a16:colId xmlns:a16="http://schemas.microsoft.com/office/drawing/2014/main" val="20001"/>
                    </a:ext>
                  </a:extLst>
                </a:gridCol>
              </a:tblGrid>
              <a:tr h="438912">
                <a:tc>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38100">
                      <a:solidFill>
                        <a:srgbClr val="FF0000"/>
                      </a:solidFill>
                      <a:prstDash val="solid"/>
                    </a:lnT>
                    <a:lnB w="103632">
                      <a:solidFill>
                        <a:srgbClr val="FF0000"/>
                      </a:solidFill>
                      <a:prstDash val="solid"/>
                    </a:lnB>
                  </a:tcPr>
                </a:tc>
                <a:tc rowSpan="5">
                  <a:txBody>
                    <a:bodyPr/>
                    <a:lstStyle/>
                    <a:p>
                      <a:endParaRPr sz="2800">
                        <a:latin typeface="微软雅黑"/>
                        <a:cs typeface="微软雅黑"/>
                      </a:endParaRPr>
                    </a:p>
                  </a:txBody>
                  <a:tcPr marL="0" marR="0" marT="0" marB="0">
                    <a:lnL w="38100">
                      <a:solidFill>
                        <a:srgbClr val="FF0000"/>
                      </a:solidFill>
                      <a:prstDash val="solid"/>
                    </a:lnL>
                    <a:lnB w="38100">
                      <a:solidFill>
                        <a:srgbClr val="FF0000"/>
                      </a:solidFill>
                      <a:prstDash val="solid"/>
                    </a:lnB>
                  </a:tcPr>
                </a:tc>
                <a:extLst>
                  <a:ext uri="{0D108BD9-81ED-4DB2-BD59-A6C34878D82A}">
                    <a16:rowId xmlns:a16="http://schemas.microsoft.com/office/drawing/2014/main" val="10000"/>
                  </a:ext>
                </a:extLst>
              </a:tr>
              <a:tr h="473202">
                <a:tc>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103632">
                      <a:solidFill>
                        <a:srgbClr val="FF0000"/>
                      </a:solidFill>
                      <a:prstDash val="solid"/>
                    </a:lnT>
                    <a:lnB w="112775">
                      <a:solidFill>
                        <a:srgbClr val="FF0000"/>
                      </a:solidFill>
                      <a:prstDash val="solid"/>
                    </a:lnB>
                  </a:tcPr>
                </a:tc>
                <a:tc vMerge="1">
                  <a:txBody>
                    <a:bodyPr/>
                    <a:lstStyle/>
                    <a:p>
                      <a:endParaRPr/>
                    </a:p>
                  </a:txBody>
                  <a:tcPr marL="0" marR="0" marT="0" marB="0">
                    <a:lnL w="38100">
                      <a:solidFill>
                        <a:srgbClr val="FF0000"/>
                      </a:solidFill>
                      <a:prstDash val="solid"/>
                    </a:lnL>
                    <a:lnB w="38100">
                      <a:solidFill>
                        <a:srgbClr val="FF0000"/>
                      </a:solidFill>
                      <a:prstDash val="solid"/>
                    </a:lnB>
                  </a:tcPr>
                </a:tc>
                <a:extLst>
                  <a:ext uri="{0D108BD9-81ED-4DB2-BD59-A6C34878D82A}">
                    <a16:rowId xmlns:a16="http://schemas.microsoft.com/office/drawing/2014/main" val="10001"/>
                  </a:ext>
                </a:extLst>
              </a:tr>
              <a:tr h="461391">
                <a:tc>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112775">
                      <a:solidFill>
                        <a:srgbClr val="FF0000"/>
                      </a:solidFill>
                      <a:prstDash val="solid"/>
                    </a:lnT>
                    <a:lnB w="96012">
                      <a:solidFill>
                        <a:srgbClr val="FF0000"/>
                      </a:solidFill>
                      <a:prstDash val="solid"/>
                    </a:lnB>
                  </a:tcPr>
                </a:tc>
                <a:tc vMerge="1">
                  <a:txBody>
                    <a:bodyPr/>
                    <a:lstStyle/>
                    <a:p>
                      <a:endParaRPr/>
                    </a:p>
                  </a:txBody>
                  <a:tcPr marL="0" marR="0" marT="0" marB="0">
                    <a:lnL w="38100">
                      <a:solidFill>
                        <a:srgbClr val="FF0000"/>
                      </a:solidFill>
                      <a:prstDash val="solid"/>
                    </a:lnL>
                    <a:lnB w="38100">
                      <a:solidFill>
                        <a:srgbClr val="FF0000"/>
                      </a:solidFill>
                      <a:prstDash val="solid"/>
                    </a:lnB>
                  </a:tcPr>
                </a:tc>
                <a:extLst>
                  <a:ext uri="{0D108BD9-81ED-4DB2-BD59-A6C34878D82A}">
                    <a16:rowId xmlns:a16="http://schemas.microsoft.com/office/drawing/2014/main" val="10002"/>
                  </a:ext>
                </a:extLst>
              </a:tr>
              <a:tr h="445769">
                <a:tc>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96012">
                      <a:solidFill>
                        <a:srgbClr val="FF0000"/>
                      </a:solidFill>
                      <a:prstDash val="solid"/>
                    </a:lnT>
                    <a:lnB w="38100">
                      <a:solidFill>
                        <a:srgbClr val="FF0000"/>
                      </a:solidFill>
                      <a:prstDash val="solid"/>
                    </a:lnB>
                  </a:tcPr>
                </a:tc>
                <a:tc vMerge="1">
                  <a:txBody>
                    <a:bodyPr/>
                    <a:lstStyle/>
                    <a:p>
                      <a:endParaRPr/>
                    </a:p>
                  </a:txBody>
                  <a:tcPr marL="0" marR="0" marT="0" marB="0">
                    <a:lnL w="38100">
                      <a:solidFill>
                        <a:srgbClr val="FF0000"/>
                      </a:solidFill>
                      <a:prstDash val="solid"/>
                    </a:lnL>
                    <a:lnB w="38100">
                      <a:solidFill>
                        <a:srgbClr val="FF0000"/>
                      </a:solidFill>
                      <a:prstDash val="solid"/>
                    </a:lnB>
                  </a:tcPr>
                </a:tc>
                <a:extLst>
                  <a:ext uri="{0D108BD9-81ED-4DB2-BD59-A6C34878D82A}">
                    <a16:rowId xmlns:a16="http://schemas.microsoft.com/office/drawing/2014/main" val="10003"/>
                  </a:ext>
                </a:extLst>
              </a:tr>
              <a:tr h="62864">
                <a:tc>
                  <a:txBody>
                    <a:bodyPr/>
                    <a:lstStyle/>
                    <a:p>
                      <a:endParaRPr sz="2800">
                        <a:latin typeface="微软雅黑"/>
                        <a:cs typeface="微软雅黑"/>
                      </a:endParaRPr>
                    </a:p>
                  </a:txBody>
                  <a:tcPr marL="0" marR="0" marT="0" marB="0">
                    <a:lnL w="38100">
                      <a:solidFill>
                        <a:srgbClr val="FF0000"/>
                      </a:solidFill>
                      <a:prstDash val="solid"/>
                    </a:lnL>
                    <a:lnT w="38100">
                      <a:solidFill>
                        <a:srgbClr val="FF0000"/>
                      </a:solidFill>
                      <a:prstDash val="solid"/>
                    </a:lnT>
                    <a:lnB w="38100">
                      <a:solidFill>
                        <a:srgbClr val="FF0000"/>
                      </a:solidFill>
                      <a:prstDash val="solid"/>
                    </a:lnB>
                  </a:tcPr>
                </a:tc>
                <a:tc vMerge="1">
                  <a:txBody>
                    <a:bodyPr/>
                    <a:lstStyle/>
                    <a:p>
                      <a:endParaRPr/>
                    </a:p>
                  </a:txBody>
                  <a:tcPr marL="0" marR="0" marT="0" marB="0">
                    <a:lnL w="38100">
                      <a:solidFill>
                        <a:srgbClr val="FF0000"/>
                      </a:solidFill>
                      <a:prstDash val="solid"/>
                    </a:lnL>
                    <a:lnB w="38100">
                      <a:solidFill>
                        <a:srgbClr val="FF0000"/>
                      </a:solidFill>
                      <a:prstDash val="solid"/>
                    </a:lnB>
                  </a:tcPr>
                </a:tc>
                <a:extLst>
                  <a:ext uri="{0D108BD9-81ED-4DB2-BD59-A6C34878D82A}">
                    <a16:rowId xmlns:a16="http://schemas.microsoft.com/office/drawing/2014/main" val="10004"/>
                  </a:ext>
                </a:extLst>
              </a:tr>
              <a:tr h="419862">
                <a:tc gridSpan="2">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38100">
                      <a:solidFill>
                        <a:srgbClr val="FF0000"/>
                      </a:solidFill>
                      <a:prstDash val="solid"/>
                    </a:lnT>
                    <a:lnB w="38100">
                      <a:solidFill>
                        <a:srgbClr val="FF0000"/>
                      </a:solidFill>
                      <a:prstDash val="solid"/>
                    </a:lnB>
                  </a:tcPr>
                </a:tc>
                <a:tc hMerge="1">
                  <a:txBody>
                    <a:bodyPr/>
                    <a:lstStyle/>
                    <a:p>
                      <a:endParaRPr/>
                    </a:p>
                  </a:txBody>
                  <a:tcPr marL="0" marR="0" marT="0" marB="0"/>
                </a:tc>
                <a:extLst>
                  <a:ext uri="{0D108BD9-81ED-4DB2-BD59-A6C34878D82A}">
                    <a16:rowId xmlns:a16="http://schemas.microsoft.com/office/drawing/2014/main" val="10005"/>
                  </a:ext>
                </a:extLst>
              </a:tr>
              <a:tr h="57150">
                <a:tc gridSpan="2">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38100">
                      <a:solidFill>
                        <a:srgbClr val="FF0000"/>
                      </a:solidFill>
                      <a:prstDash val="solid"/>
                    </a:lnT>
                    <a:lnB w="38100">
                      <a:solidFill>
                        <a:srgbClr val="FF0000"/>
                      </a:solidFill>
                      <a:prstDash val="solid"/>
                    </a:lnB>
                  </a:tcPr>
                </a:tc>
                <a:tc hMerge="1">
                  <a:txBody>
                    <a:bodyPr/>
                    <a:lstStyle/>
                    <a:p>
                      <a:endParaRPr/>
                    </a:p>
                  </a:txBody>
                  <a:tcPr marL="0" marR="0" marT="0" marB="0"/>
                </a:tc>
                <a:extLst>
                  <a:ext uri="{0D108BD9-81ED-4DB2-BD59-A6C34878D82A}">
                    <a16:rowId xmlns:a16="http://schemas.microsoft.com/office/drawing/2014/main" val="10006"/>
                  </a:ext>
                </a:extLst>
              </a:tr>
              <a:tr h="400811">
                <a:tc gridSpan="2">
                  <a:txBody>
                    <a:bodyPr/>
                    <a:lstStyle/>
                    <a:p>
                      <a:endParaRPr sz="2800">
                        <a:latin typeface="微软雅黑"/>
                        <a:cs typeface="微软雅黑"/>
                      </a:endParaRPr>
                    </a:p>
                  </a:txBody>
                  <a:tcPr marL="0" marR="0" marT="0" marB="0">
                    <a:lnL w="38100">
                      <a:solidFill>
                        <a:srgbClr val="FF0000"/>
                      </a:solidFill>
                      <a:prstDash val="solid"/>
                    </a:lnL>
                    <a:lnR w="38100">
                      <a:solidFill>
                        <a:srgbClr val="FF0000"/>
                      </a:solidFill>
                      <a:prstDash val="solid"/>
                    </a:lnR>
                    <a:lnT w="38100">
                      <a:solidFill>
                        <a:srgbClr val="FF0000"/>
                      </a:solidFill>
                      <a:prstDash val="solid"/>
                    </a:lnT>
                    <a:lnB w="38100">
                      <a:solidFill>
                        <a:srgbClr val="FF0000"/>
                      </a:solidFill>
                      <a:prstDash val="solid"/>
                    </a:lnB>
                  </a:tcPr>
                </a:tc>
                <a:tc hMerge="1">
                  <a:txBody>
                    <a:bodyPr/>
                    <a:lstStyle/>
                    <a:p>
                      <a:endParaRPr/>
                    </a:p>
                  </a:txBody>
                  <a:tcPr marL="0" marR="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860986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330809" y="1146799"/>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信号滤波</a:t>
            </a:r>
            <a:endParaRPr sz="24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a:spLocks noGrp="1"/>
          </p:cNvSpPr>
          <p:nvPr>
            <p:ph type="title"/>
          </p:nvPr>
        </p:nvSpPr>
        <p:spPr>
          <a:xfrm>
            <a:off x="3584194" y="1124514"/>
            <a:ext cx="5633085" cy="381000"/>
          </a:xfrm>
          <a:prstGeom prst="rect">
            <a:avLst/>
          </a:prstGeom>
        </p:spPr>
        <p:txBody>
          <a:bodyPr vert="horz" wrap="square" lIns="0" tIns="0" rIns="0" bIns="0" rtlCol="0">
            <a:spAutoFit/>
          </a:bodyPr>
          <a:lstStyle/>
          <a:p>
            <a:pPr marL="12700">
              <a:lnSpc>
                <a:spcPct val="100000"/>
              </a:lnSpc>
            </a:pPr>
            <a:r>
              <a:rPr spc="-5" dirty="0"/>
              <a:t>成员变</a:t>
            </a:r>
            <a:r>
              <a:rPr spc="-10" dirty="0"/>
              <a:t>量</a:t>
            </a:r>
            <a:r>
              <a:rPr spc="-10" dirty="0">
                <a:latin typeface="微软雅黑"/>
                <a:cs typeface="微软雅黑"/>
              </a:rPr>
              <a:t>ClockD</a:t>
            </a:r>
            <a:r>
              <a:rPr spc="-5" dirty="0">
                <a:latin typeface="微软雅黑"/>
                <a:cs typeface="微软雅黑"/>
              </a:rPr>
              <a:t>ivisio</a:t>
            </a:r>
            <a:r>
              <a:rPr spc="-15" dirty="0">
                <a:latin typeface="微软雅黑"/>
                <a:cs typeface="微软雅黑"/>
              </a:rPr>
              <a:t>n</a:t>
            </a:r>
            <a:r>
              <a:rPr spc="-5" dirty="0"/>
              <a:t>的取值范围</a:t>
            </a:r>
          </a:p>
        </p:txBody>
      </p:sp>
      <p:sp>
        <p:nvSpPr>
          <p:cNvPr id="14" name="object 14"/>
          <p:cNvSpPr/>
          <p:nvPr/>
        </p:nvSpPr>
        <p:spPr>
          <a:xfrm>
            <a:off x="2410205" y="5449061"/>
            <a:ext cx="7569834" cy="591820"/>
          </a:xfrm>
          <a:custGeom>
            <a:avLst/>
            <a:gdLst/>
            <a:ahLst/>
            <a:cxnLst/>
            <a:rect l="l" t="t" r="r" b="b"/>
            <a:pathLst>
              <a:path w="7569834" h="591820">
                <a:moveTo>
                  <a:pt x="7471156" y="0"/>
                </a:moveTo>
                <a:lnTo>
                  <a:pt x="4415663" y="0"/>
                </a:lnTo>
                <a:lnTo>
                  <a:pt x="84310" y="1018"/>
                </a:lnTo>
                <a:lnTo>
                  <a:pt x="45055" y="15740"/>
                </a:lnTo>
                <a:lnTo>
                  <a:pt x="15934" y="44757"/>
                </a:lnTo>
                <a:lnTo>
                  <a:pt x="1072" y="83943"/>
                </a:lnTo>
                <a:lnTo>
                  <a:pt x="0" y="98551"/>
                </a:lnTo>
                <a:lnTo>
                  <a:pt x="0" y="492759"/>
                </a:lnTo>
                <a:lnTo>
                  <a:pt x="9041" y="534071"/>
                </a:lnTo>
                <a:lnTo>
                  <a:pt x="33751" y="567034"/>
                </a:lnTo>
                <a:lnTo>
                  <a:pt x="70005" y="587120"/>
                </a:lnTo>
                <a:lnTo>
                  <a:pt x="98551" y="591312"/>
                </a:lnTo>
                <a:lnTo>
                  <a:pt x="6308090" y="591312"/>
                </a:lnTo>
                <a:lnTo>
                  <a:pt x="7485397" y="590292"/>
                </a:lnTo>
                <a:lnTo>
                  <a:pt x="7524652" y="575558"/>
                </a:lnTo>
                <a:lnTo>
                  <a:pt x="7553773" y="546532"/>
                </a:lnTo>
                <a:lnTo>
                  <a:pt x="7568635" y="507357"/>
                </a:lnTo>
                <a:lnTo>
                  <a:pt x="7569708" y="492759"/>
                </a:lnTo>
                <a:lnTo>
                  <a:pt x="7569708" y="344931"/>
                </a:lnTo>
                <a:lnTo>
                  <a:pt x="7568689" y="84310"/>
                </a:lnTo>
                <a:lnTo>
                  <a:pt x="7553967" y="45055"/>
                </a:lnTo>
                <a:lnTo>
                  <a:pt x="7524950" y="15934"/>
                </a:lnTo>
                <a:lnTo>
                  <a:pt x="7485764" y="1072"/>
                </a:lnTo>
                <a:lnTo>
                  <a:pt x="7471156" y="0"/>
                </a:lnTo>
                <a:close/>
              </a:path>
            </a:pathLst>
          </a:custGeom>
          <a:solidFill>
            <a:srgbClr val="FFFFC7"/>
          </a:solidFill>
        </p:spPr>
        <p:txBody>
          <a:bodyPr wrap="square" lIns="0" tIns="0" rIns="0" bIns="0" rtlCol="0"/>
          <a:lstStyle/>
          <a:p>
            <a:endParaRPr/>
          </a:p>
        </p:txBody>
      </p:sp>
      <p:sp>
        <p:nvSpPr>
          <p:cNvPr id="15" name="object 15"/>
          <p:cNvSpPr/>
          <p:nvPr/>
        </p:nvSpPr>
        <p:spPr>
          <a:xfrm>
            <a:off x="2410205" y="5449061"/>
            <a:ext cx="7569834" cy="591820"/>
          </a:xfrm>
          <a:custGeom>
            <a:avLst/>
            <a:gdLst/>
            <a:ahLst/>
            <a:cxnLst/>
            <a:rect l="l" t="t" r="r" b="b"/>
            <a:pathLst>
              <a:path w="7569834" h="591820">
                <a:moveTo>
                  <a:pt x="0" y="98551"/>
                </a:moveTo>
                <a:lnTo>
                  <a:pt x="9192" y="56892"/>
                </a:lnTo>
                <a:lnTo>
                  <a:pt x="34018" y="24028"/>
                </a:lnTo>
                <a:lnTo>
                  <a:pt x="70354" y="4082"/>
                </a:lnTo>
                <a:lnTo>
                  <a:pt x="4415663" y="0"/>
                </a:lnTo>
                <a:lnTo>
                  <a:pt x="6308090" y="0"/>
                </a:lnTo>
                <a:lnTo>
                  <a:pt x="7471156" y="0"/>
                </a:lnTo>
                <a:lnTo>
                  <a:pt x="7485764" y="1072"/>
                </a:lnTo>
                <a:lnTo>
                  <a:pt x="7524950" y="15934"/>
                </a:lnTo>
                <a:lnTo>
                  <a:pt x="7553967" y="45055"/>
                </a:lnTo>
                <a:lnTo>
                  <a:pt x="7568689" y="84310"/>
                </a:lnTo>
                <a:lnTo>
                  <a:pt x="7569708" y="344931"/>
                </a:lnTo>
                <a:lnTo>
                  <a:pt x="7569708" y="492759"/>
                </a:lnTo>
                <a:lnTo>
                  <a:pt x="7568635" y="507357"/>
                </a:lnTo>
                <a:lnTo>
                  <a:pt x="7565520" y="521287"/>
                </a:lnTo>
                <a:lnTo>
                  <a:pt x="7545447" y="557540"/>
                </a:lnTo>
                <a:lnTo>
                  <a:pt x="7512489" y="582262"/>
                </a:lnTo>
                <a:lnTo>
                  <a:pt x="6308090" y="591312"/>
                </a:lnTo>
                <a:lnTo>
                  <a:pt x="3792220" y="591312"/>
                </a:lnTo>
                <a:lnTo>
                  <a:pt x="4415663" y="591312"/>
                </a:lnTo>
                <a:lnTo>
                  <a:pt x="98551" y="591312"/>
                </a:lnTo>
                <a:lnTo>
                  <a:pt x="83943" y="590238"/>
                </a:lnTo>
                <a:lnTo>
                  <a:pt x="44757" y="575364"/>
                </a:lnTo>
                <a:lnTo>
                  <a:pt x="15740" y="546234"/>
                </a:lnTo>
                <a:lnTo>
                  <a:pt x="1018" y="506989"/>
                </a:lnTo>
                <a:lnTo>
                  <a:pt x="0" y="492759"/>
                </a:lnTo>
                <a:lnTo>
                  <a:pt x="0" y="344931"/>
                </a:lnTo>
                <a:lnTo>
                  <a:pt x="0" y="98551"/>
                </a:lnTo>
                <a:close/>
              </a:path>
            </a:pathLst>
          </a:custGeom>
          <a:ln w="28956">
            <a:solidFill>
              <a:srgbClr val="000000"/>
            </a:solidFill>
          </a:ln>
        </p:spPr>
        <p:txBody>
          <a:bodyPr wrap="square" lIns="0" tIns="0" rIns="0" bIns="0" rtlCol="0"/>
          <a:lstStyle/>
          <a:p>
            <a:endParaRPr/>
          </a:p>
        </p:txBody>
      </p:sp>
      <p:sp>
        <p:nvSpPr>
          <p:cNvPr id="16" name="object 16"/>
          <p:cNvSpPr txBox="1"/>
          <p:nvPr/>
        </p:nvSpPr>
        <p:spPr>
          <a:xfrm>
            <a:off x="2727705" y="5580265"/>
            <a:ext cx="6933565" cy="365760"/>
          </a:xfrm>
          <a:prstGeom prst="rect">
            <a:avLst/>
          </a:prstGeom>
        </p:spPr>
        <p:txBody>
          <a:bodyPr vert="horz" wrap="square" lIns="0" tIns="0" rIns="0" bIns="0" rtlCol="0">
            <a:spAutoFit/>
          </a:bodyPr>
          <a:lstStyle/>
          <a:p>
            <a:pPr marL="12700">
              <a:lnSpc>
                <a:spcPct val="100000"/>
              </a:lnSpc>
            </a:pPr>
            <a:r>
              <a:rPr sz="2400" b="1" dirty="0">
                <a:latin typeface="宋体"/>
                <a:cs typeface="宋体"/>
              </a:rPr>
              <a:t>主要用于输入信号的滤波，一般使用默认值</a:t>
            </a:r>
            <a:r>
              <a:rPr sz="2400" b="1" spc="0" dirty="0">
                <a:latin typeface="宋体"/>
                <a:cs typeface="宋体"/>
              </a:rPr>
              <a:t>：</a:t>
            </a:r>
            <a:r>
              <a:rPr sz="2400" b="1" spc="-5" dirty="0">
                <a:latin typeface="Consolas"/>
                <a:cs typeface="Consolas"/>
              </a:rPr>
              <a:t>1</a:t>
            </a:r>
            <a:r>
              <a:rPr sz="2400" b="1" dirty="0">
                <a:latin typeface="宋体"/>
                <a:cs typeface="宋体"/>
              </a:rPr>
              <a:t>分频</a:t>
            </a:r>
            <a:endParaRPr sz="2400">
              <a:latin typeface="宋体"/>
              <a:cs typeface="宋体"/>
            </a:endParaRPr>
          </a:p>
        </p:txBody>
      </p:sp>
      <p:graphicFrame>
        <p:nvGraphicFramePr>
          <p:cNvPr id="12" name="object 12"/>
          <p:cNvGraphicFramePr>
            <a:graphicFrameLocks noGrp="1"/>
          </p:cNvGraphicFramePr>
          <p:nvPr/>
        </p:nvGraphicFramePr>
        <p:xfrm>
          <a:off x="605840" y="2476563"/>
          <a:ext cx="10951729" cy="2239644"/>
        </p:xfrm>
        <a:graphic>
          <a:graphicData uri="http://schemas.openxmlformats.org/drawingml/2006/table">
            <a:tbl>
              <a:tblPr firstRow="1" bandRow="1">
                <a:tableStyleId>{2D5ABB26-0587-4C30-8999-92F81FD0307C}</a:tableStyleId>
              </a:tblPr>
              <a:tblGrid>
                <a:gridCol w="5790069">
                  <a:extLst>
                    <a:ext uri="{9D8B030D-6E8A-4147-A177-3AD203B41FA5}">
                      <a16:colId xmlns:a16="http://schemas.microsoft.com/office/drawing/2014/main" val="20000"/>
                    </a:ext>
                  </a:extLst>
                </a:gridCol>
                <a:gridCol w="5161660">
                  <a:extLst>
                    <a:ext uri="{9D8B030D-6E8A-4147-A177-3AD203B41FA5}">
                      <a16:colId xmlns:a16="http://schemas.microsoft.com/office/drawing/2014/main" val="20001"/>
                    </a:ext>
                  </a:extLst>
                </a:gridCol>
              </a:tblGrid>
              <a:tr h="453516">
                <a:tc>
                  <a:txBody>
                    <a:bodyPr/>
                    <a:lstStyle/>
                    <a:p>
                      <a:pPr algn="ctr">
                        <a:lnSpc>
                          <a:spcPts val="2855"/>
                        </a:lnSpc>
                      </a:pPr>
                      <a:r>
                        <a:rPr sz="2400" b="1" spc="-5"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635" algn="ctr">
                        <a:lnSpc>
                          <a:spcPts val="2855"/>
                        </a:lnSpc>
                      </a:pPr>
                      <a:r>
                        <a:rPr sz="2400" b="1" spc="-5"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576199">
                <a:tc>
                  <a:txBody>
                    <a:bodyPr/>
                    <a:lstStyle/>
                    <a:p>
                      <a:pPr marL="82296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75" dirty="0">
                          <a:latin typeface="微软雅黑"/>
                          <a:cs typeface="微软雅黑"/>
                        </a:rPr>
                        <a:t>L</a:t>
                      </a:r>
                      <a:r>
                        <a:rPr sz="2400" b="1" spc="-5" dirty="0">
                          <a:latin typeface="微软雅黑"/>
                          <a:cs typeface="微软雅黑"/>
                        </a:rPr>
                        <a:t>O</a:t>
                      </a:r>
                      <a:r>
                        <a:rPr sz="2400" b="1" spc="5" dirty="0">
                          <a:latin typeface="微软雅黑"/>
                          <a:cs typeface="微软雅黑"/>
                        </a:rPr>
                        <a:t>C</a:t>
                      </a:r>
                      <a:r>
                        <a:rPr sz="2400" b="1" dirty="0">
                          <a:latin typeface="微软雅黑"/>
                          <a:cs typeface="微软雅黑"/>
                        </a:rPr>
                        <a:t>KDIV</a:t>
                      </a:r>
                      <a:r>
                        <a:rPr sz="2400" b="1" spc="-15" dirty="0">
                          <a:latin typeface="微软雅黑"/>
                          <a:cs typeface="微软雅黑"/>
                        </a:rPr>
                        <a:t>I</a:t>
                      </a:r>
                      <a:r>
                        <a:rPr sz="2400" b="1" dirty="0">
                          <a:latin typeface="微软雅黑"/>
                          <a:cs typeface="微软雅黑"/>
                        </a:rPr>
                        <a:t>SION_DIV1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99415">
                        <a:lnSpc>
                          <a:spcPct val="100000"/>
                        </a:lnSpc>
                      </a:pPr>
                      <a:r>
                        <a:rPr sz="2400" b="1" dirty="0">
                          <a:latin typeface="微软雅黑"/>
                          <a:cs typeface="微软雅黑"/>
                        </a:rPr>
                        <a:t>对定时器时钟</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CL</a:t>
                      </a:r>
                      <a:r>
                        <a:rPr sz="2400" b="1" spc="10" dirty="0">
                          <a:latin typeface="微软雅黑"/>
                          <a:cs typeface="微软雅黑"/>
                        </a:rPr>
                        <a:t>K</a:t>
                      </a:r>
                      <a:r>
                        <a:rPr sz="2400" b="1" dirty="0">
                          <a:latin typeface="微软雅黑"/>
                          <a:cs typeface="微软雅黑"/>
                        </a:rPr>
                        <a:t>进行</a:t>
                      </a:r>
                      <a:r>
                        <a:rPr sz="2400" b="1" spc="-5" dirty="0">
                          <a:latin typeface="微软雅黑"/>
                          <a:cs typeface="微软雅黑"/>
                        </a:rPr>
                        <a:t>1</a:t>
                      </a:r>
                      <a:r>
                        <a:rPr sz="2400" b="1" dirty="0">
                          <a:latin typeface="微软雅黑"/>
                          <a:cs typeface="微软雅黑"/>
                        </a:rPr>
                        <a:t>分频</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600329">
                <a:tc>
                  <a:txBody>
                    <a:bodyPr/>
                    <a:lstStyle/>
                    <a:p>
                      <a:pPr marL="822960">
                        <a:lnSpc>
                          <a:spcPct val="100000"/>
                        </a:lnSpc>
                      </a:pPr>
                      <a:r>
                        <a:rPr sz="2400" b="1" spc="-5" dirty="0">
                          <a:latin typeface="微软雅黑"/>
                          <a:cs typeface="微软雅黑"/>
                        </a:rPr>
                        <a:t>TIM_C</a:t>
                      </a:r>
                      <a:r>
                        <a:rPr sz="2400" b="1" spc="-75" dirty="0">
                          <a:latin typeface="微软雅黑"/>
                          <a:cs typeface="微软雅黑"/>
                        </a:rPr>
                        <a:t>L</a:t>
                      </a:r>
                      <a:r>
                        <a:rPr sz="2400" b="1" spc="-5" dirty="0">
                          <a:latin typeface="微软雅黑"/>
                          <a:cs typeface="微软雅黑"/>
                        </a:rPr>
                        <a:t>OC</a:t>
                      </a:r>
                      <a:r>
                        <a:rPr sz="2400" b="1" spc="5" dirty="0">
                          <a:latin typeface="微软雅黑"/>
                          <a:cs typeface="微软雅黑"/>
                        </a:rPr>
                        <a:t>K</a:t>
                      </a:r>
                      <a:r>
                        <a:rPr sz="2400" b="1" dirty="0">
                          <a:latin typeface="微软雅黑"/>
                          <a:cs typeface="微软雅黑"/>
                        </a:rPr>
                        <a:t>D</a:t>
                      </a:r>
                      <a:r>
                        <a:rPr sz="2400" b="1" spc="-10" dirty="0">
                          <a:latin typeface="微软雅黑"/>
                          <a:cs typeface="微软雅黑"/>
                        </a:rPr>
                        <a:t>I</a:t>
                      </a:r>
                      <a:r>
                        <a:rPr sz="2400" b="1" dirty="0">
                          <a:latin typeface="微软雅黑"/>
                          <a:cs typeface="微软雅黑"/>
                        </a:rPr>
                        <a:t>V</a:t>
                      </a:r>
                      <a:r>
                        <a:rPr sz="2400" b="1" spc="-20" dirty="0">
                          <a:latin typeface="微软雅黑"/>
                          <a:cs typeface="微软雅黑"/>
                        </a:rPr>
                        <a:t>I</a:t>
                      </a:r>
                      <a:r>
                        <a:rPr sz="2400" b="1" dirty="0">
                          <a:latin typeface="微软雅黑"/>
                          <a:cs typeface="微软雅黑"/>
                        </a:rPr>
                        <a:t>SION_DIV2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99415">
                        <a:lnSpc>
                          <a:spcPct val="100000"/>
                        </a:lnSpc>
                      </a:pPr>
                      <a:r>
                        <a:rPr sz="2400" b="1" spc="-5" dirty="0">
                          <a:latin typeface="微软雅黑"/>
                          <a:cs typeface="微软雅黑"/>
                        </a:rPr>
                        <a:t>对定时器时钟TIM_CL</a:t>
                      </a:r>
                      <a:r>
                        <a:rPr sz="2400" b="1" spc="5" dirty="0">
                          <a:latin typeface="微软雅黑"/>
                          <a:cs typeface="微软雅黑"/>
                        </a:rPr>
                        <a:t>K</a:t>
                      </a:r>
                      <a:r>
                        <a:rPr sz="2400" b="1" spc="-5" dirty="0">
                          <a:latin typeface="微软雅黑"/>
                          <a:cs typeface="微软雅黑"/>
                        </a:rPr>
                        <a:t>进行</a:t>
                      </a:r>
                      <a:r>
                        <a:rPr sz="2400" b="1" spc="-10" dirty="0">
                          <a:latin typeface="微软雅黑"/>
                          <a:cs typeface="微软雅黑"/>
                        </a:rPr>
                        <a:t>2</a:t>
                      </a:r>
                      <a:r>
                        <a:rPr sz="2400" b="1" spc="-5" dirty="0">
                          <a:latin typeface="微软雅黑"/>
                          <a:cs typeface="微软雅黑"/>
                        </a:rPr>
                        <a:t>分频</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609600">
                <a:tc>
                  <a:txBody>
                    <a:bodyPr/>
                    <a:lstStyle/>
                    <a:p>
                      <a:pPr marL="82296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75" dirty="0">
                          <a:latin typeface="微软雅黑"/>
                          <a:cs typeface="微软雅黑"/>
                        </a:rPr>
                        <a:t>L</a:t>
                      </a:r>
                      <a:r>
                        <a:rPr sz="2400" b="1" spc="-5" dirty="0">
                          <a:latin typeface="微软雅黑"/>
                          <a:cs typeface="微软雅黑"/>
                        </a:rPr>
                        <a:t>O</a:t>
                      </a:r>
                      <a:r>
                        <a:rPr sz="2400" b="1" spc="5" dirty="0">
                          <a:latin typeface="微软雅黑"/>
                          <a:cs typeface="微软雅黑"/>
                        </a:rPr>
                        <a:t>C</a:t>
                      </a:r>
                      <a:r>
                        <a:rPr sz="2400" b="1" dirty="0">
                          <a:latin typeface="微软雅黑"/>
                          <a:cs typeface="微软雅黑"/>
                        </a:rPr>
                        <a:t>KDIV</a:t>
                      </a:r>
                      <a:r>
                        <a:rPr sz="2400" b="1" spc="-15" dirty="0">
                          <a:latin typeface="微软雅黑"/>
                          <a:cs typeface="微软雅黑"/>
                        </a:rPr>
                        <a:t>I</a:t>
                      </a:r>
                      <a:r>
                        <a:rPr sz="2400" b="1" dirty="0">
                          <a:latin typeface="微软雅黑"/>
                          <a:cs typeface="微软雅黑"/>
                        </a:rPr>
                        <a:t>SION_DIV4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99415">
                        <a:lnSpc>
                          <a:spcPct val="100000"/>
                        </a:lnSpc>
                      </a:pPr>
                      <a:r>
                        <a:rPr sz="2400" b="1" dirty="0">
                          <a:latin typeface="微软雅黑"/>
                          <a:cs typeface="微软雅黑"/>
                        </a:rPr>
                        <a:t>对定时器时钟</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CL</a:t>
                      </a:r>
                      <a:r>
                        <a:rPr sz="2400" b="1" spc="10" dirty="0">
                          <a:latin typeface="微软雅黑"/>
                          <a:cs typeface="微软雅黑"/>
                        </a:rPr>
                        <a:t>K</a:t>
                      </a:r>
                      <a:r>
                        <a:rPr sz="2400" b="1" dirty="0">
                          <a:latin typeface="微软雅黑"/>
                          <a:cs typeface="微软雅黑"/>
                        </a:rPr>
                        <a:t>进行</a:t>
                      </a:r>
                      <a:r>
                        <a:rPr sz="2400" b="1" spc="-5" dirty="0">
                          <a:latin typeface="微软雅黑"/>
                          <a:cs typeface="微软雅黑"/>
                        </a:rPr>
                        <a:t>4</a:t>
                      </a:r>
                      <a:r>
                        <a:rPr sz="2400" b="1" dirty="0">
                          <a:latin typeface="微软雅黑"/>
                          <a:cs typeface="微软雅黑"/>
                        </a:rPr>
                        <a:t>分频</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185833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330809" y="1146799"/>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计数模式</a:t>
            </a:r>
            <a:endParaRPr sz="24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2" name="object 12"/>
          <p:cNvSpPr/>
          <p:nvPr/>
        </p:nvSpPr>
        <p:spPr>
          <a:xfrm>
            <a:off x="1253489" y="5517641"/>
            <a:ext cx="9686925" cy="749935"/>
          </a:xfrm>
          <a:custGeom>
            <a:avLst/>
            <a:gdLst/>
            <a:ahLst/>
            <a:cxnLst/>
            <a:rect l="l" t="t" r="r" b="b"/>
            <a:pathLst>
              <a:path w="9686925" h="749935">
                <a:moveTo>
                  <a:pt x="9561576" y="0"/>
                </a:moveTo>
                <a:lnTo>
                  <a:pt x="5650484" y="0"/>
                </a:lnTo>
                <a:lnTo>
                  <a:pt x="111532" y="715"/>
                </a:lnTo>
                <a:lnTo>
                  <a:pt x="70788" y="12345"/>
                </a:lnTo>
                <a:lnTo>
                  <a:pt x="37034" y="36214"/>
                </a:lnTo>
                <a:lnTo>
                  <a:pt x="12859" y="69734"/>
                </a:lnTo>
                <a:lnTo>
                  <a:pt x="851" y="110317"/>
                </a:lnTo>
                <a:lnTo>
                  <a:pt x="0" y="124968"/>
                </a:lnTo>
                <a:lnTo>
                  <a:pt x="0" y="624840"/>
                </a:lnTo>
                <a:lnTo>
                  <a:pt x="6980" y="666106"/>
                </a:lnTo>
                <a:lnTo>
                  <a:pt x="27057" y="702479"/>
                </a:lnTo>
                <a:lnTo>
                  <a:pt x="57648" y="730126"/>
                </a:lnTo>
                <a:lnTo>
                  <a:pt x="96165" y="746467"/>
                </a:lnTo>
                <a:lnTo>
                  <a:pt x="124968" y="749808"/>
                </a:lnTo>
                <a:lnTo>
                  <a:pt x="8072119" y="749808"/>
                </a:lnTo>
                <a:lnTo>
                  <a:pt x="9575011" y="749093"/>
                </a:lnTo>
                <a:lnTo>
                  <a:pt x="9615755" y="737471"/>
                </a:lnTo>
                <a:lnTo>
                  <a:pt x="9649509" y="713612"/>
                </a:lnTo>
                <a:lnTo>
                  <a:pt x="9673684" y="680095"/>
                </a:lnTo>
                <a:lnTo>
                  <a:pt x="9685692" y="639499"/>
                </a:lnTo>
                <a:lnTo>
                  <a:pt x="9686543" y="624840"/>
                </a:lnTo>
                <a:lnTo>
                  <a:pt x="9686543" y="437388"/>
                </a:lnTo>
                <a:lnTo>
                  <a:pt x="9685828" y="111532"/>
                </a:lnTo>
                <a:lnTo>
                  <a:pt x="9674198" y="70788"/>
                </a:lnTo>
                <a:lnTo>
                  <a:pt x="9650329" y="37034"/>
                </a:lnTo>
                <a:lnTo>
                  <a:pt x="9616809" y="12859"/>
                </a:lnTo>
                <a:lnTo>
                  <a:pt x="9576226" y="851"/>
                </a:lnTo>
                <a:lnTo>
                  <a:pt x="9561576" y="0"/>
                </a:lnTo>
                <a:close/>
              </a:path>
            </a:pathLst>
          </a:custGeom>
          <a:solidFill>
            <a:srgbClr val="FFFFC7"/>
          </a:solidFill>
        </p:spPr>
        <p:txBody>
          <a:bodyPr wrap="square" lIns="0" tIns="0" rIns="0" bIns="0" rtlCol="0"/>
          <a:lstStyle/>
          <a:p>
            <a:endParaRPr/>
          </a:p>
        </p:txBody>
      </p:sp>
      <p:sp>
        <p:nvSpPr>
          <p:cNvPr id="13" name="object 13"/>
          <p:cNvSpPr/>
          <p:nvPr/>
        </p:nvSpPr>
        <p:spPr>
          <a:xfrm>
            <a:off x="1253489" y="5517641"/>
            <a:ext cx="9686925" cy="749935"/>
          </a:xfrm>
          <a:custGeom>
            <a:avLst/>
            <a:gdLst/>
            <a:ahLst/>
            <a:cxnLst/>
            <a:rect l="l" t="t" r="r" b="b"/>
            <a:pathLst>
              <a:path w="9686925" h="749935">
                <a:moveTo>
                  <a:pt x="0" y="124968"/>
                </a:moveTo>
                <a:lnTo>
                  <a:pt x="7377" y="82605"/>
                </a:lnTo>
                <a:lnTo>
                  <a:pt x="27784" y="46443"/>
                </a:lnTo>
                <a:lnTo>
                  <a:pt x="58632" y="19069"/>
                </a:lnTo>
                <a:lnTo>
                  <a:pt x="97334" y="3072"/>
                </a:lnTo>
                <a:lnTo>
                  <a:pt x="5650484" y="0"/>
                </a:lnTo>
                <a:lnTo>
                  <a:pt x="8072119" y="0"/>
                </a:lnTo>
                <a:lnTo>
                  <a:pt x="9561576" y="0"/>
                </a:lnTo>
                <a:lnTo>
                  <a:pt x="9576226" y="851"/>
                </a:lnTo>
                <a:lnTo>
                  <a:pt x="9616809" y="12859"/>
                </a:lnTo>
                <a:lnTo>
                  <a:pt x="9650329" y="37034"/>
                </a:lnTo>
                <a:lnTo>
                  <a:pt x="9674198" y="70788"/>
                </a:lnTo>
                <a:lnTo>
                  <a:pt x="9685828" y="111532"/>
                </a:lnTo>
                <a:lnTo>
                  <a:pt x="9686543" y="437388"/>
                </a:lnTo>
                <a:lnTo>
                  <a:pt x="9686543" y="624840"/>
                </a:lnTo>
                <a:lnTo>
                  <a:pt x="9685692" y="639499"/>
                </a:lnTo>
                <a:lnTo>
                  <a:pt x="9683201" y="653658"/>
                </a:lnTo>
                <a:lnTo>
                  <a:pt x="9666849" y="692181"/>
                </a:lnTo>
                <a:lnTo>
                  <a:pt x="9639194" y="722766"/>
                </a:lnTo>
                <a:lnTo>
                  <a:pt x="9602822" y="742832"/>
                </a:lnTo>
                <a:lnTo>
                  <a:pt x="8072119" y="749808"/>
                </a:lnTo>
                <a:lnTo>
                  <a:pt x="4852670" y="749808"/>
                </a:lnTo>
                <a:lnTo>
                  <a:pt x="5650484" y="749808"/>
                </a:lnTo>
                <a:lnTo>
                  <a:pt x="124968" y="749808"/>
                </a:lnTo>
                <a:lnTo>
                  <a:pt x="110317" y="748957"/>
                </a:lnTo>
                <a:lnTo>
                  <a:pt x="69734" y="736957"/>
                </a:lnTo>
                <a:lnTo>
                  <a:pt x="36214" y="712792"/>
                </a:lnTo>
                <a:lnTo>
                  <a:pt x="12345" y="679041"/>
                </a:lnTo>
                <a:lnTo>
                  <a:pt x="715" y="638283"/>
                </a:lnTo>
                <a:lnTo>
                  <a:pt x="0" y="624840"/>
                </a:lnTo>
                <a:lnTo>
                  <a:pt x="0" y="437388"/>
                </a:lnTo>
                <a:lnTo>
                  <a:pt x="0" y="124968"/>
                </a:lnTo>
                <a:close/>
              </a:path>
            </a:pathLst>
          </a:custGeom>
          <a:ln w="28956">
            <a:solidFill>
              <a:srgbClr val="000000"/>
            </a:solidFill>
          </a:ln>
        </p:spPr>
        <p:txBody>
          <a:bodyPr wrap="square" lIns="0" tIns="0" rIns="0" bIns="0" rtlCol="0"/>
          <a:lstStyle/>
          <a:p>
            <a:endParaRPr/>
          </a:p>
        </p:txBody>
      </p:sp>
      <p:sp>
        <p:nvSpPr>
          <p:cNvPr id="15" name="object 15"/>
          <p:cNvSpPr txBox="1">
            <a:spLocks noGrp="1"/>
          </p:cNvSpPr>
          <p:nvPr>
            <p:ph type="title"/>
          </p:nvPr>
        </p:nvSpPr>
        <p:spPr>
          <a:xfrm>
            <a:off x="3550665" y="1124514"/>
            <a:ext cx="5700395" cy="381000"/>
          </a:xfrm>
          <a:prstGeom prst="rect">
            <a:avLst/>
          </a:prstGeom>
        </p:spPr>
        <p:txBody>
          <a:bodyPr vert="horz" wrap="square" lIns="0" tIns="0" rIns="0" bIns="0" rtlCol="0">
            <a:spAutoFit/>
          </a:bodyPr>
          <a:lstStyle/>
          <a:p>
            <a:pPr marL="12700">
              <a:lnSpc>
                <a:spcPct val="100000"/>
              </a:lnSpc>
            </a:pPr>
            <a:r>
              <a:rPr spc="-5" dirty="0"/>
              <a:t>成员变</a:t>
            </a:r>
            <a:r>
              <a:rPr spc="-10" dirty="0"/>
              <a:t>量</a:t>
            </a:r>
            <a:r>
              <a:rPr spc="-10" dirty="0">
                <a:latin typeface="微软雅黑"/>
                <a:cs typeface="微软雅黑"/>
              </a:rPr>
              <a:t>Coun</a:t>
            </a:r>
            <a:r>
              <a:rPr spc="-20" dirty="0">
                <a:latin typeface="微软雅黑"/>
                <a:cs typeface="微软雅黑"/>
              </a:rPr>
              <a:t>t</a:t>
            </a:r>
            <a:r>
              <a:rPr spc="-5" dirty="0">
                <a:latin typeface="微软雅黑"/>
                <a:cs typeface="微软雅黑"/>
              </a:rPr>
              <a:t>er</a:t>
            </a:r>
            <a:r>
              <a:rPr spc="0" dirty="0">
                <a:latin typeface="微软雅黑"/>
                <a:cs typeface="微软雅黑"/>
              </a:rPr>
              <a:t>M</a:t>
            </a:r>
            <a:r>
              <a:rPr spc="-10" dirty="0">
                <a:latin typeface="微软雅黑"/>
                <a:cs typeface="微软雅黑"/>
              </a:rPr>
              <a:t>od</a:t>
            </a:r>
            <a:r>
              <a:rPr spc="0" dirty="0">
                <a:latin typeface="微软雅黑"/>
                <a:cs typeface="微软雅黑"/>
              </a:rPr>
              <a:t>e</a:t>
            </a:r>
            <a:r>
              <a:rPr spc="-5" dirty="0"/>
              <a:t>的取值范围</a:t>
            </a:r>
          </a:p>
        </p:txBody>
      </p:sp>
      <p:sp>
        <p:nvSpPr>
          <p:cNvPr id="16" name="object 16"/>
          <p:cNvSpPr txBox="1"/>
          <p:nvPr/>
        </p:nvSpPr>
        <p:spPr>
          <a:xfrm>
            <a:off x="1489075" y="5728703"/>
            <a:ext cx="921512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三种中心对齐计数模式的区别主要是输出比较中断标志位的设置方式</a:t>
            </a:r>
            <a:endParaRPr sz="2400">
              <a:latin typeface="宋体"/>
              <a:cs typeface="宋体"/>
            </a:endParaRPr>
          </a:p>
        </p:txBody>
      </p:sp>
      <p:graphicFrame>
        <p:nvGraphicFramePr>
          <p:cNvPr id="14" name="object 14"/>
          <p:cNvGraphicFramePr>
            <a:graphicFrameLocks noGrp="1"/>
          </p:cNvGraphicFramePr>
          <p:nvPr/>
        </p:nvGraphicFramePr>
        <p:xfrm>
          <a:off x="348995" y="2006028"/>
          <a:ext cx="11538203" cy="3550664"/>
        </p:xfrm>
        <a:graphic>
          <a:graphicData uri="http://schemas.openxmlformats.org/drawingml/2006/table">
            <a:tbl>
              <a:tblPr firstRow="1" bandRow="1">
                <a:tableStyleId>{2D5ABB26-0587-4C30-8999-92F81FD0307C}</a:tableStyleId>
              </a:tblPr>
              <a:tblGrid>
                <a:gridCol w="232841">
                  <a:extLst>
                    <a:ext uri="{9D8B030D-6E8A-4147-A177-3AD203B41FA5}">
                      <a16:colId xmlns:a16="http://schemas.microsoft.com/office/drawing/2014/main" val="20000"/>
                    </a:ext>
                  </a:extLst>
                </a:gridCol>
                <a:gridCol w="7183323">
                  <a:extLst>
                    <a:ext uri="{9D8B030D-6E8A-4147-A177-3AD203B41FA5}">
                      <a16:colId xmlns:a16="http://schemas.microsoft.com/office/drawing/2014/main" val="20001"/>
                    </a:ext>
                  </a:extLst>
                </a:gridCol>
                <a:gridCol w="3768344">
                  <a:extLst>
                    <a:ext uri="{9D8B030D-6E8A-4147-A177-3AD203B41FA5}">
                      <a16:colId xmlns:a16="http://schemas.microsoft.com/office/drawing/2014/main" val="20002"/>
                    </a:ext>
                  </a:extLst>
                </a:gridCol>
                <a:gridCol w="353695">
                  <a:extLst>
                    <a:ext uri="{9D8B030D-6E8A-4147-A177-3AD203B41FA5}">
                      <a16:colId xmlns:a16="http://schemas.microsoft.com/office/drawing/2014/main" val="20003"/>
                    </a:ext>
                  </a:extLst>
                </a:gridCol>
              </a:tblGrid>
              <a:tr h="453517">
                <a:tc rowSpan="2">
                  <a:txBody>
                    <a:bodyPr/>
                    <a:lstStyle/>
                    <a:p>
                      <a:endParaRPr sz="1800">
                        <a:latin typeface="微软雅黑"/>
                        <a:cs typeface="微软雅黑"/>
                      </a:endParaRPr>
                    </a:p>
                  </a:txBody>
                  <a:tcPr marL="0" marR="0" marT="0" marB="0">
                    <a:lnR w="28575">
                      <a:solidFill>
                        <a:srgbClr val="000000"/>
                      </a:solidFill>
                      <a:prstDash val="solid"/>
                    </a:lnR>
                    <a:lnB w="38100">
                      <a:solidFill>
                        <a:srgbClr val="FF0000"/>
                      </a:solidFill>
                      <a:prstDash val="solid"/>
                    </a:lnB>
                  </a:tcPr>
                </a:tc>
                <a:tc>
                  <a:txBody>
                    <a:bodyPr/>
                    <a:lstStyle/>
                    <a:p>
                      <a:pPr algn="ctr">
                        <a:lnSpc>
                          <a:spcPts val="2855"/>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905" algn="ctr">
                        <a:lnSpc>
                          <a:spcPts val="2855"/>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rowSpan="2">
                  <a:txBody>
                    <a:bodyPr/>
                    <a:lstStyle/>
                    <a:p>
                      <a:endParaRPr sz="2400">
                        <a:latin typeface="微软雅黑"/>
                        <a:cs typeface="微软雅黑"/>
                      </a:endParaRPr>
                    </a:p>
                  </a:txBody>
                  <a:tcPr marL="0" marR="0" marT="0" marB="0">
                    <a:lnL w="28575">
                      <a:solidFill>
                        <a:srgbClr val="000000"/>
                      </a:solidFill>
                      <a:prstDash val="solid"/>
                    </a:lnL>
                    <a:lnB w="38100">
                      <a:solidFill>
                        <a:srgbClr val="FF0000"/>
                      </a:solidFill>
                      <a:prstDash val="solid"/>
                    </a:lnB>
                  </a:tcPr>
                </a:tc>
                <a:extLst>
                  <a:ext uri="{0D108BD9-81ED-4DB2-BD59-A6C34878D82A}">
                    <a16:rowId xmlns:a16="http://schemas.microsoft.com/office/drawing/2014/main" val="10000"/>
                  </a:ext>
                </a:extLst>
              </a:tr>
              <a:tr h="108584">
                <a:tc vMerge="1">
                  <a:txBody>
                    <a:bodyPr/>
                    <a:lstStyle/>
                    <a:p>
                      <a:endParaRPr/>
                    </a:p>
                  </a:txBody>
                  <a:tcPr marL="0" marR="0" marT="0" marB="0">
                    <a:lnR w="28575">
                      <a:solidFill>
                        <a:srgbClr val="000000"/>
                      </a:solidFill>
                      <a:prstDash val="solid"/>
                    </a:lnR>
                    <a:lnB w="38100">
                      <a:solidFill>
                        <a:srgbClr val="FF0000"/>
                      </a:solidFill>
                      <a:prstDash val="solid"/>
                    </a:lnB>
                  </a:tcPr>
                </a:tc>
                <a:tc>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38100">
                      <a:solidFill>
                        <a:srgbClr val="FF0000"/>
                      </a:solidFill>
                      <a:prstDash val="solid"/>
                    </a:lnB>
                    <a:solidFill>
                      <a:srgbClr val="EAEEF7"/>
                    </a:solidFill>
                  </a:tcPr>
                </a:tc>
                <a:tc>
                  <a:txBody>
                    <a:bodyPr/>
                    <a:lstStyle/>
                    <a:p>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38100">
                      <a:solidFill>
                        <a:srgbClr val="FF0000"/>
                      </a:solidFill>
                      <a:prstDash val="solid"/>
                    </a:lnB>
                    <a:solidFill>
                      <a:srgbClr val="EAEEF7"/>
                    </a:solidFill>
                  </a:tcPr>
                </a:tc>
                <a:tc vMerge="1">
                  <a:txBody>
                    <a:bodyPr/>
                    <a:lstStyle/>
                    <a:p>
                      <a:endParaRPr/>
                    </a:p>
                  </a:txBody>
                  <a:tcPr marL="0" marR="0" marT="0" marB="0">
                    <a:lnL w="28575">
                      <a:solidFill>
                        <a:srgbClr val="000000"/>
                      </a:solidFill>
                      <a:prstDash val="solid"/>
                    </a:lnL>
                    <a:lnB w="38100">
                      <a:solidFill>
                        <a:srgbClr val="FF0000"/>
                      </a:solidFill>
                      <a:prstDash val="solid"/>
                    </a:lnB>
                  </a:tcPr>
                </a:tc>
                <a:extLst>
                  <a:ext uri="{0D108BD9-81ED-4DB2-BD59-A6C34878D82A}">
                    <a16:rowId xmlns:a16="http://schemas.microsoft.com/office/drawing/2014/main" val="10001"/>
                  </a:ext>
                </a:extLst>
              </a:tr>
              <a:tr h="442198">
                <a:tc>
                  <a:txBody>
                    <a:bodyPr/>
                    <a:lstStyle/>
                    <a:p>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lnT w="38100">
                      <a:solidFill>
                        <a:srgbClr val="FF0000"/>
                      </a:solidFill>
                      <a:prstDash val="solid"/>
                    </a:lnT>
                    <a:lnB w="38100">
                      <a:solidFill>
                        <a:srgbClr val="FF0000"/>
                      </a:solidFill>
                      <a:prstDash val="solid"/>
                    </a:lnB>
                  </a:tcPr>
                </a:tc>
                <a:tc>
                  <a:txBody>
                    <a:bodyPr/>
                    <a:lstStyle/>
                    <a:p>
                      <a:pPr marL="1667510">
                        <a:lnSpc>
                          <a:spcPts val="2850"/>
                        </a:lnSpc>
                      </a:pPr>
                      <a:r>
                        <a:rPr sz="2400" b="1" spc="-5" dirty="0">
                          <a:latin typeface="微软雅黑"/>
                          <a:cs typeface="微软雅黑"/>
                        </a:rPr>
                        <a:t>TIM</a:t>
                      </a:r>
                      <a:r>
                        <a:rPr sz="2400" b="1" spc="5" dirty="0">
                          <a:latin typeface="微软雅黑"/>
                          <a:cs typeface="微软雅黑"/>
                        </a:rPr>
                        <a:t>_</a:t>
                      </a:r>
                      <a:r>
                        <a:rPr sz="2400" b="1" spc="-35" dirty="0">
                          <a:latin typeface="微软雅黑"/>
                          <a:cs typeface="微软雅黑"/>
                        </a:rPr>
                        <a:t>C</a:t>
                      </a:r>
                      <a:r>
                        <a:rPr sz="2400" b="1" spc="-5" dirty="0">
                          <a:latin typeface="微软雅黑"/>
                          <a:cs typeface="微软雅黑"/>
                        </a:rPr>
                        <a:t>OUNTER</a:t>
                      </a:r>
                      <a:r>
                        <a:rPr sz="2400" b="1" spc="10" dirty="0">
                          <a:latin typeface="微软雅黑"/>
                          <a:cs typeface="微软雅黑"/>
                        </a:rPr>
                        <a:t>M</a:t>
                      </a:r>
                      <a:r>
                        <a:rPr sz="2400" b="1" spc="-5" dirty="0">
                          <a:latin typeface="微软雅黑"/>
                          <a:cs typeface="微软雅黑"/>
                        </a:rPr>
                        <a:t>ODE_UP</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38100">
                      <a:solidFill>
                        <a:srgbClr val="FF0000"/>
                      </a:solidFill>
                      <a:prstDash val="solid"/>
                    </a:lnT>
                    <a:lnB w="101663">
                      <a:solidFill>
                        <a:srgbClr val="FF0000"/>
                      </a:solidFill>
                      <a:prstDash val="solid"/>
                    </a:lnB>
                    <a:solidFill>
                      <a:srgbClr val="EAEEF7"/>
                    </a:solidFill>
                  </a:tcPr>
                </a:tc>
                <a:tc>
                  <a:txBody>
                    <a:bodyPr/>
                    <a:lstStyle/>
                    <a:p>
                      <a:pPr marL="1070610">
                        <a:lnSpc>
                          <a:spcPts val="2850"/>
                        </a:lnSpc>
                      </a:pPr>
                      <a:r>
                        <a:rPr sz="2400" b="1" dirty="0">
                          <a:latin typeface="微软雅黑"/>
                          <a:cs typeface="微软雅黑"/>
                        </a:rPr>
                        <a:t>递增计数模式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38100">
                      <a:solidFill>
                        <a:srgbClr val="FF0000"/>
                      </a:solidFill>
                      <a:prstDash val="solid"/>
                    </a:lnT>
                    <a:lnB w="101663">
                      <a:solidFill>
                        <a:srgbClr val="FF0000"/>
                      </a:solidFill>
                      <a:prstDash val="solid"/>
                    </a:lnB>
                    <a:solidFill>
                      <a:srgbClr val="EAEEF7"/>
                    </a:solidFill>
                  </a:tcPr>
                </a:tc>
                <a:tc>
                  <a:txBody>
                    <a:bodyPr/>
                    <a:lstStyle/>
                    <a:p>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lnT w="38100">
                      <a:solidFill>
                        <a:srgbClr val="FF0000"/>
                      </a:solidFill>
                      <a:prstDash val="solid"/>
                    </a:lnT>
                    <a:lnB w="38100">
                      <a:solidFill>
                        <a:srgbClr val="FF0000"/>
                      </a:solidFill>
                      <a:prstDash val="solid"/>
                    </a:lnB>
                  </a:tcPr>
                </a:tc>
                <a:extLst>
                  <a:ext uri="{0D108BD9-81ED-4DB2-BD59-A6C34878D82A}">
                    <a16:rowId xmlns:a16="http://schemas.microsoft.com/office/drawing/2014/main" val="10002"/>
                  </a:ext>
                </a:extLst>
              </a:tr>
              <a:tr h="625744">
                <a:tc rowSpan="4">
                  <a:txBody>
                    <a:bodyPr/>
                    <a:lstStyle/>
                    <a:p>
                      <a:endParaRPr sz="2400">
                        <a:latin typeface="微软雅黑"/>
                        <a:cs typeface="微软雅黑"/>
                      </a:endParaRPr>
                    </a:p>
                  </a:txBody>
                  <a:tcPr marL="0" marR="0" marT="0" marB="0">
                    <a:lnR w="28575">
                      <a:solidFill>
                        <a:srgbClr val="000000"/>
                      </a:solidFill>
                      <a:prstDash val="solid"/>
                    </a:lnR>
                    <a:lnT w="38100">
                      <a:solidFill>
                        <a:srgbClr val="FF0000"/>
                      </a:solidFill>
                      <a:prstDash val="solid"/>
                    </a:lnT>
                  </a:tcPr>
                </a:tc>
                <a:tc>
                  <a:txBody>
                    <a:bodyPr/>
                    <a:lstStyle/>
                    <a:p>
                      <a:pPr marL="1347470">
                        <a:lnSpc>
                          <a:spcPct val="100000"/>
                        </a:lnSpc>
                      </a:pPr>
                      <a:r>
                        <a:rPr sz="2400" b="1" spc="-5" dirty="0">
                          <a:latin typeface="微软雅黑"/>
                          <a:cs typeface="微软雅黑"/>
                        </a:rPr>
                        <a:t>TIM</a:t>
                      </a:r>
                      <a:r>
                        <a:rPr sz="2400" b="1" spc="5" dirty="0">
                          <a:latin typeface="微软雅黑"/>
                          <a:cs typeface="微软雅黑"/>
                        </a:rPr>
                        <a:t>_</a:t>
                      </a:r>
                      <a:r>
                        <a:rPr sz="2400" b="1" spc="-35" dirty="0">
                          <a:latin typeface="微软雅黑"/>
                          <a:cs typeface="微软雅黑"/>
                        </a:rPr>
                        <a:t>C</a:t>
                      </a:r>
                      <a:r>
                        <a:rPr sz="2400" b="1" spc="-5" dirty="0">
                          <a:latin typeface="微软雅黑"/>
                          <a:cs typeface="微软雅黑"/>
                        </a:rPr>
                        <a:t>OUNTER</a:t>
                      </a:r>
                      <a:r>
                        <a:rPr sz="2400" b="1" spc="10" dirty="0">
                          <a:latin typeface="微软雅黑"/>
                          <a:cs typeface="微软雅黑"/>
                        </a:rPr>
                        <a:t>M</a:t>
                      </a:r>
                      <a:r>
                        <a:rPr sz="2400" b="1" spc="-5" dirty="0">
                          <a:latin typeface="微软雅黑"/>
                          <a:cs typeface="微软雅黑"/>
                        </a:rPr>
                        <a:t>ODE_DOWN</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101663">
                      <a:solidFill>
                        <a:srgbClr val="FF0000"/>
                      </a:solidFill>
                      <a:prstDash val="solid"/>
                    </a:lnT>
                    <a:lnB w="28575">
                      <a:solidFill>
                        <a:srgbClr val="000000"/>
                      </a:solidFill>
                      <a:prstDash val="solid"/>
                    </a:lnB>
                  </a:tcPr>
                </a:tc>
                <a:tc>
                  <a:txBody>
                    <a:bodyPr/>
                    <a:lstStyle/>
                    <a:p>
                      <a:pPr marL="1070610">
                        <a:lnSpc>
                          <a:spcPct val="100000"/>
                        </a:lnSpc>
                      </a:pPr>
                      <a:r>
                        <a:rPr sz="2400" b="1" dirty="0">
                          <a:latin typeface="微软雅黑"/>
                          <a:cs typeface="微软雅黑"/>
                        </a:rPr>
                        <a:t>递减计数模式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101663">
                      <a:solidFill>
                        <a:srgbClr val="FF0000"/>
                      </a:solidFill>
                      <a:prstDash val="solid"/>
                    </a:lnT>
                    <a:lnB w="28575">
                      <a:solidFill>
                        <a:srgbClr val="000000"/>
                      </a:solidFill>
                      <a:prstDash val="solid"/>
                    </a:lnB>
                  </a:tcPr>
                </a:tc>
                <a:tc rowSpan="4">
                  <a:txBody>
                    <a:bodyPr/>
                    <a:lstStyle/>
                    <a:p>
                      <a:endParaRPr sz="2400">
                        <a:latin typeface="微软雅黑"/>
                        <a:cs typeface="微软雅黑"/>
                      </a:endParaRPr>
                    </a:p>
                  </a:txBody>
                  <a:tcPr marL="0" marR="0" marT="0" marB="0">
                    <a:lnL w="28575">
                      <a:solidFill>
                        <a:srgbClr val="000000"/>
                      </a:solidFill>
                      <a:prstDash val="solid"/>
                    </a:lnL>
                    <a:lnT w="38100">
                      <a:solidFill>
                        <a:srgbClr val="FF0000"/>
                      </a:solidFill>
                      <a:prstDash val="solid"/>
                    </a:lnT>
                  </a:tcPr>
                </a:tc>
                <a:extLst>
                  <a:ext uri="{0D108BD9-81ED-4DB2-BD59-A6C34878D82A}">
                    <a16:rowId xmlns:a16="http://schemas.microsoft.com/office/drawing/2014/main" val="10003"/>
                  </a:ext>
                </a:extLst>
              </a:tr>
              <a:tr h="609600">
                <a:tc vMerge="1">
                  <a:txBody>
                    <a:bodyPr/>
                    <a:lstStyle/>
                    <a:p>
                      <a:endParaRPr/>
                    </a:p>
                  </a:txBody>
                  <a:tcPr marL="0" marR="0" marT="0" marB="0">
                    <a:lnR w="28575">
                      <a:solidFill>
                        <a:srgbClr val="000000"/>
                      </a:solidFill>
                      <a:prstDash val="solid"/>
                    </a:lnR>
                    <a:lnT w="38100">
                      <a:solidFill>
                        <a:srgbClr val="FF0000"/>
                      </a:solidFill>
                      <a:prstDash val="solid"/>
                    </a:lnT>
                  </a:tcPr>
                </a:tc>
                <a:tc>
                  <a:txBody>
                    <a:bodyPr/>
                    <a:lstStyle/>
                    <a:p>
                      <a:pPr marL="481330">
                        <a:lnSpc>
                          <a:spcPct val="100000"/>
                        </a:lnSpc>
                      </a:pPr>
                      <a:r>
                        <a:rPr sz="2400" b="1" spc="-5" dirty="0">
                          <a:latin typeface="微软雅黑"/>
                          <a:cs typeface="微软雅黑"/>
                        </a:rPr>
                        <a:t>TIM_</a:t>
                      </a:r>
                      <a:r>
                        <a:rPr sz="2400" b="1" spc="-30" dirty="0">
                          <a:latin typeface="微软雅黑"/>
                          <a:cs typeface="微软雅黑"/>
                        </a:rPr>
                        <a:t>C</a:t>
                      </a:r>
                      <a:r>
                        <a:rPr sz="2400" b="1" spc="-5" dirty="0">
                          <a:latin typeface="微软雅黑"/>
                          <a:cs typeface="微软雅黑"/>
                        </a:rPr>
                        <a:t>OUNTERMOD</a:t>
                      </a:r>
                      <a:r>
                        <a:rPr sz="2400" b="1" spc="-10" dirty="0">
                          <a:latin typeface="微软雅黑"/>
                          <a:cs typeface="微软雅黑"/>
                        </a:rPr>
                        <a:t>E</a:t>
                      </a:r>
                      <a:r>
                        <a:rPr sz="2400" b="1" spc="-5" dirty="0">
                          <a:latin typeface="微软雅黑"/>
                          <a:cs typeface="微软雅黑"/>
                        </a:rPr>
                        <a:t>_CENTER</a:t>
                      </a:r>
                      <a:r>
                        <a:rPr sz="2400" b="1" spc="-10" dirty="0">
                          <a:latin typeface="微软雅黑"/>
                          <a:cs typeface="微软雅黑"/>
                        </a:rPr>
                        <a:t>A</a:t>
                      </a:r>
                      <a:r>
                        <a:rPr sz="2400" b="1" dirty="0">
                          <a:latin typeface="微软雅黑"/>
                          <a:cs typeface="微软雅黑"/>
                        </a:rPr>
                        <a:t>LI</a:t>
                      </a:r>
                      <a:r>
                        <a:rPr sz="2400" b="1" spc="-15" dirty="0">
                          <a:latin typeface="微软雅黑"/>
                          <a:cs typeface="微软雅黑"/>
                        </a:rPr>
                        <a:t>G</a:t>
                      </a:r>
                      <a:r>
                        <a:rPr sz="2400" b="1" spc="-5" dirty="0">
                          <a:latin typeface="微软雅黑"/>
                          <a:cs typeface="微软雅黑"/>
                        </a:rPr>
                        <a:t>NE</a:t>
                      </a:r>
                      <a:r>
                        <a:rPr sz="2400" b="1" spc="-10" dirty="0">
                          <a:latin typeface="微软雅黑"/>
                          <a:cs typeface="微软雅黑"/>
                        </a:rPr>
                        <a:t>D</a:t>
                      </a:r>
                      <a:r>
                        <a:rPr sz="2400" b="1" dirty="0">
                          <a:latin typeface="微软雅黑"/>
                          <a:cs typeface="微软雅黑"/>
                        </a:rPr>
                        <a:t>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671195">
                        <a:lnSpc>
                          <a:spcPct val="100000"/>
                        </a:lnSpc>
                      </a:pPr>
                      <a:r>
                        <a:rPr sz="2400" b="1" spc="-5" dirty="0">
                          <a:latin typeface="微软雅黑"/>
                          <a:cs typeface="微软雅黑"/>
                        </a:rPr>
                        <a:t>中心对齐计数模式</a:t>
                      </a:r>
                      <a:r>
                        <a:rPr sz="2400" b="1" dirty="0">
                          <a:latin typeface="微软雅黑"/>
                          <a:cs typeface="微软雅黑"/>
                        </a:rPr>
                        <a:t>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vMerge="1">
                  <a:txBody>
                    <a:bodyPr/>
                    <a:lstStyle/>
                    <a:p>
                      <a:endParaRPr/>
                    </a:p>
                  </a:txBody>
                  <a:tcPr marL="0" marR="0" marT="0" marB="0">
                    <a:lnL w="28575">
                      <a:solidFill>
                        <a:srgbClr val="000000"/>
                      </a:solidFill>
                      <a:prstDash val="solid"/>
                    </a:lnL>
                    <a:lnT w="38100">
                      <a:solidFill>
                        <a:srgbClr val="FF0000"/>
                      </a:solidFill>
                      <a:prstDash val="solid"/>
                    </a:lnT>
                  </a:tcPr>
                </a:tc>
                <a:extLst>
                  <a:ext uri="{0D108BD9-81ED-4DB2-BD59-A6C34878D82A}">
                    <a16:rowId xmlns:a16="http://schemas.microsoft.com/office/drawing/2014/main" val="10004"/>
                  </a:ext>
                </a:extLst>
              </a:tr>
              <a:tr h="600328">
                <a:tc vMerge="1">
                  <a:txBody>
                    <a:bodyPr/>
                    <a:lstStyle/>
                    <a:p>
                      <a:endParaRPr/>
                    </a:p>
                  </a:txBody>
                  <a:tcPr marL="0" marR="0" marT="0" marB="0">
                    <a:lnR w="28575">
                      <a:solidFill>
                        <a:srgbClr val="000000"/>
                      </a:solidFill>
                      <a:prstDash val="solid"/>
                    </a:lnR>
                    <a:lnT w="38100">
                      <a:solidFill>
                        <a:srgbClr val="FF0000"/>
                      </a:solidFill>
                      <a:prstDash val="solid"/>
                    </a:lnT>
                  </a:tcPr>
                </a:tc>
                <a:tc>
                  <a:txBody>
                    <a:bodyPr/>
                    <a:lstStyle/>
                    <a:p>
                      <a:pPr marL="481330">
                        <a:lnSpc>
                          <a:spcPct val="100000"/>
                        </a:lnSpc>
                      </a:pPr>
                      <a:r>
                        <a:rPr sz="2400" b="1" spc="-5" dirty="0">
                          <a:latin typeface="微软雅黑"/>
                          <a:cs typeface="微软雅黑"/>
                        </a:rPr>
                        <a:t>TIM</a:t>
                      </a:r>
                      <a:r>
                        <a:rPr sz="2400" b="1" spc="5" dirty="0">
                          <a:latin typeface="微软雅黑"/>
                          <a:cs typeface="微软雅黑"/>
                        </a:rPr>
                        <a:t>_</a:t>
                      </a:r>
                      <a:r>
                        <a:rPr sz="2400" b="1" spc="-35" dirty="0">
                          <a:latin typeface="微软雅黑"/>
                          <a:cs typeface="微软雅黑"/>
                        </a:rPr>
                        <a:t>C</a:t>
                      </a:r>
                      <a:r>
                        <a:rPr sz="2400" b="1" spc="-5" dirty="0">
                          <a:latin typeface="微软雅黑"/>
                          <a:cs typeface="微软雅黑"/>
                        </a:rPr>
                        <a:t>OUNTER</a:t>
                      </a:r>
                      <a:r>
                        <a:rPr sz="2400" b="1" spc="10" dirty="0">
                          <a:latin typeface="微软雅黑"/>
                          <a:cs typeface="微软雅黑"/>
                        </a:rPr>
                        <a:t>M</a:t>
                      </a:r>
                      <a:r>
                        <a:rPr sz="2400" b="1" spc="-5" dirty="0">
                          <a:latin typeface="微软雅黑"/>
                          <a:cs typeface="微软雅黑"/>
                        </a:rPr>
                        <a:t>ODE_CENTERALIGNE</a:t>
                      </a:r>
                      <a:r>
                        <a:rPr sz="2400" b="1" dirty="0">
                          <a:latin typeface="微软雅黑"/>
                          <a:cs typeface="微软雅黑"/>
                        </a:rPr>
                        <a:t>D2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671195">
                        <a:lnSpc>
                          <a:spcPct val="100000"/>
                        </a:lnSpc>
                      </a:pPr>
                      <a:r>
                        <a:rPr sz="2400" b="1" dirty="0">
                          <a:latin typeface="微软雅黑"/>
                          <a:cs typeface="微软雅黑"/>
                        </a:rPr>
                        <a:t>中心对齐计数模式2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a:p>
                  </a:txBody>
                  <a:tcPr marL="0" marR="0" marT="0" marB="0">
                    <a:lnL w="28575">
                      <a:solidFill>
                        <a:srgbClr val="000000"/>
                      </a:solidFill>
                      <a:prstDash val="solid"/>
                    </a:lnL>
                    <a:lnT w="38100">
                      <a:solidFill>
                        <a:srgbClr val="FF0000"/>
                      </a:solidFill>
                      <a:prstDash val="solid"/>
                    </a:lnT>
                  </a:tcPr>
                </a:tc>
                <a:extLst>
                  <a:ext uri="{0D108BD9-81ED-4DB2-BD59-A6C34878D82A}">
                    <a16:rowId xmlns:a16="http://schemas.microsoft.com/office/drawing/2014/main" val="10005"/>
                  </a:ext>
                </a:extLst>
              </a:tr>
              <a:tr h="453517">
                <a:tc vMerge="1">
                  <a:txBody>
                    <a:bodyPr/>
                    <a:lstStyle/>
                    <a:p>
                      <a:endParaRPr/>
                    </a:p>
                  </a:txBody>
                  <a:tcPr marL="0" marR="0" marT="0" marB="0">
                    <a:lnR w="28575">
                      <a:solidFill>
                        <a:srgbClr val="000000"/>
                      </a:solidFill>
                      <a:prstDash val="solid"/>
                    </a:lnR>
                    <a:lnT w="38100">
                      <a:solidFill>
                        <a:srgbClr val="FF0000"/>
                      </a:solidFill>
                      <a:prstDash val="solid"/>
                    </a:lnT>
                  </a:tcPr>
                </a:tc>
                <a:tc>
                  <a:txBody>
                    <a:bodyPr/>
                    <a:lstStyle/>
                    <a:p>
                      <a:pPr marL="481330">
                        <a:lnSpc>
                          <a:spcPts val="2850"/>
                        </a:lnSpc>
                      </a:pPr>
                      <a:r>
                        <a:rPr sz="2400" b="1" spc="-5" dirty="0">
                          <a:latin typeface="微软雅黑"/>
                          <a:cs typeface="微软雅黑"/>
                        </a:rPr>
                        <a:t>TIM</a:t>
                      </a:r>
                      <a:r>
                        <a:rPr sz="2400" b="1" spc="5" dirty="0">
                          <a:latin typeface="微软雅黑"/>
                          <a:cs typeface="微软雅黑"/>
                        </a:rPr>
                        <a:t>_</a:t>
                      </a:r>
                      <a:r>
                        <a:rPr sz="2400" b="1" spc="-35" dirty="0">
                          <a:latin typeface="微软雅黑"/>
                          <a:cs typeface="微软雅黑"/>
                        </a:rPr>
                        <a:t>C</a:t>
                      </a:r>
                      <a:r>
                        <a:rPr sz="2400" b="1" spc="-5" dirty="0">
                          <a:latin typeface="微软雅黑"/>
                          <a:cs typeface="微软雅黑"/>
                        </a:rPr>
                        <a:t>OUNTER</a:t>
                      </a:r>
                      <a:r>
                        <a:rPr sz="2400" b="1" spc="10" dirty="0">
                          <a:latin typeface="微软雅黑"/>
                          <a:cs typeface="微软雅黑"/>
                        </a:rPr>
                        <a:t>M</a:t>
                      </a:r>
                      <a:r>
                        <a:rPr sz="2400" b="1" spc="-5" dirty="0">
                          <a:latin typeface="微软雅黑"/>
                          <a:cs typeface="微软雅黑"/>
                        </a:rPr>
                        <a:t>ODE_CENTERALIGNE</a:t>
                      </a:r>
                      <a:r>
                        <a:rPr sz="2400" b="1" dirty="0">
                          <a:latin typeface="微软雅黑"/>
                          <a:cs typeface="微软雅黑"/>
                        </a:rPr>
                        <a:t>D3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671195">
                        <a:lnSpc>
                          <a:spcPts val="2850"/>
                        </a:lnSpc>
                      </a:pPr>
                      <a:r>
                        <a:rPr sz="2400" b="1" dirty="0">
                          <a:latin typeface="微软雅黑"/>
                          <a:cs typeface="微软雅黑"/>
                        </a:rPr>
                        <a:t>中心对齐计数模式3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vMerge="1">
                  <a:txBody>
                    <a:bodyPr/>
                    <a:lstStyle/>
                    <a:p>
                      <a:endParaRPr/>
                    </a:p>
                  </a:txBody>
                  <a:tcPr marL="0" marR="0" marT="0" marB="0">
                    <a:lnL w="28575">
                      <a:solidFill>
                        <a:srgbClr val="000000"/>
                      </a:solidFill>
                      <a:prstDash val="solid"/>
                    </a:lnL>
                    <a:lnT w="38100">
                      <a:solidFill>
                        <a:srgbClr val="FF0000"/>
                      </a:solidFill>
                      <a:prstDash val="solid"/>
                    </a:lnT>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293213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222605" y="1146799"/>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预装载功能</a:t>
            </a:r>
            <a:endParaRPr sz="24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a:spLocks noGrp="1"/>
          </p:cNvSpPr>
          <p:nvPr>
            <p:ph type="title"/>
          </p:nvPr>
        </p:nvSpPr>
        <p:spPr>
          <a:xfrm>
            <a:off x="3117850" y="1124514"/>
            <a:ext cx="6685280" cy="381000"/>
          </a:xfrm>
          <a:prstGeom prst="rect">
            <a:avLst/>
          </a:prstGeom>
        </p:spPr>
        <p:txBody>
          <a:bodyPr vert="horz" wrap="square" lIns="0" tIns="0" rIns="0" bIns="0" rtlCol="0">
            <a:spAutoFit/>
          </a:bodyPr>
          <a:lstStyle/>
          <a:p>
            <a:pPr marL="12700">
              <a:lnSpc>
                <a:spcPct val="100000"/>
              </a:lnSpc>
            </a:pPr>
            <a:r>
              <a:rPr spc="-5" dirty="0"/>
              <a:t>成员变</a:t>
            </a:r>
            <a:r>
              <a:rPr spc="-10" dirty="0"/>
              <a:t>量</a:t>
            </a:r>
            <a:r>
              <a:rPr spc="-5" dirty="0">
                <a:latin typeface="微软雅黑"/>
                <a:cs typeface="微软雅黑"/>
              </a:rPr>
              <a:t>Au</a:t>
            </a:r>
            <a:r>
              <a:rPr spc="-25" dirty="0">
                <a:latin typeface="微软雅黑"/>
                <a:cs typeface="微软雅黑"/>
              </a:rPr>
              <a:t>t</a:t>
            </a:r>
            <a:r>
              <a:rPr spc="-10" dirty="0">
                <a:latin typeface="微软雅黑"/>
                <a:cs typeface="微软雅黑"/>
              </a:rPr>
              <a:t>o</a:t>
            </a:r>
            <a:r>
              <a:rPr spc="-80" dirty="0">
                <a:latin typeface="微软雅黑"/>
                <a:cs typeface="微软雅黑"/>
              </a:rPr>
              <a:t>R</a:t>
            </a:r>
            <a:r>
              <a:rPr spc="-5" dirty="0">
                <a:latin typeface="微软雅黑"/>
                <a:cs typeface="微软雅黑"/>
              </a:rPr>
              <a:t>el</a:t>
            </a:r>
            <a:r>
              <a:rPr spc="-40" dirty="0">
                <a:latin typeface="微软雅黑"/>
                <a:cs typeface="微软雅黑"/>
              </a:rPr>
              <a:t>o</a:t>
            </a:r>
            <a:r>
              <a:rPr spc="-5" dirty="0">
                <a:latin typeface="微软雅黑"/>
                <a:cs typeface="微软雅黑"/>
              </a:rPr>
              <a:t>adPrel</a:t>
            </a:r>
            <a:r>
              <a:rPr spc="-50" dirty="0">
                <a:latin typeface="微软雅黑"/>
                <a:cs typeface="微软雅黑"/>
              </a:rPr>
              <a:t>o</a:t>
            </a:r>
            <a:r>
              <a:rPr spc="-5" dirty="0">
                <a:latin typeface="微软雅黑"/>
                <a:cs typeface="微软雅黑"/>
              </a:rPr>
              <a:t>a</a:t>
            </a:r>
            <a:r>
              <a:rPr spc="0" dirty="0">
                <a:latin typeface="微软雅黑"/>
                <a:cs typeface="微软雅黑"/>
              </a:rPr>
              <a:t>d</a:t>
            </a:r>
            <a:r>
              <a:rPr spc="-5" dirty="0"/>
              <a:t>的取值范围</a:t>
            </a:r>
          </a:p>
        </p:txBody>
      </p:sp>
      <p:sp>
        <p:nvSpPr>
          <p:cNvPr id="14" name="object 14"/>
          <p:cNvSpPr/>
          <p:nvPr/>
        </p:nvSpPr>
        <p:spPr>
          <a:xfrm>
            <a:off x="1367789" y="3842765"/>
            <a:ext cx="9458325" cy="2333625"/>
          </a:xfrm>
          <a:custGeom>
            <a:avLst/>
            <a:gdLst/>
            <a:ahLst/>
            <a:cxnLst/>
            <a:rect l="l" t="t" r="r" b="b"/>
            <a:pathLst>
              <a:path w="9458325" h="2333625">
                <a:moveTo>
                  <a:pt x="9069069" y="0"/>
                </a:moveTo>
                <a:lnTo>
                  <a:pt x="388873" y="0"/>
                </a:lnTo>
                <a:lnTo>
                  <a:pt x="356981" y="1289"/>
                </a:lnTo>
                <a:lnTo>
                  <a:pt x="295427" y="11302"/>
                </a:lnTo>
                <a:lnTo>
                  <a:pt x="237511" y="30561"/>
                </a:lnTo>
                <a:lnTo>
                  <a:pt x="184037" y="58265"/>
                </a:lnTo>
                <a:lnTo>
                  <a:pt x="135803" y="93612"/>
                </a:lnTo>
                <a:lnTo>
                  <a:pt x="93612" y="135803"/>
                </a:lnTo>
                <a:lnTo>
                  <a:pt x="58265" y="184037"/>
                </a:lnTo>
                <a:lnTo>
                  <a:pt x="30561" y="237511"/>
                </a:lnTo>
                <a:lnTo>
                  <a:pt x="11302" y="295427"/>
                </a:lnTo>
                <a:lnTo>
                  <a:pt x="1289" y="356981"/>
                </a:lnTo>
                <a:lnTo>
                  <a:pt x="0" y="388873"/>
                </a:lnTo>
                <a:lnTo>
                  <a:pt x="0" y="1944369"/>
                </a:lnTo>
                <a:lnTo>
                  <a:pt x="5090" y="2007447"/>
                </a:lnTo>
                <a:lnTo>
                  <a:pt x="19826" y="2067284"/>
                </a:lnTo>
                <a:lnTo>
                  <a:pt x="43407" y="2123080"/>
                </a:lnTo>
                <a:lnTo>
                  <a:pt x="75033" y="2174034"/>
                </a:lnTo>
                <a:lnTo>
                  <a:pt x="113903" y="2219345"/>
                </a:lnTo>
                <a:lnTo>
                  <a:pt x="159215" y="2258214"/>
                </a:lnTo>
                <a:lnTo>
                  <a:pt x="210169" y="2289838"/>
                </a:lnTo>
                <a:lnTo>
                  <a:pt x="265964" y="2313418"/>
                </a:lnTo>
                <a:lnTo>
                  <a:pt x="325799" y="2328154"/>
                </a:lnTo>
                <a:lnTo>
                  <a:pt x="388873" y="2333243"/>
                </a:lnTo>
                <a:lnTo>
                  <a:pt x="9069069" y="2333243"/>
                </a:lnTo>
                <a:lnTo>
                  <a:pt x="9132144" y="2328154"/>
                </a:lnTo>
                <a:lnTo>
                  <a:pt x="9191979" y="2313418"/>
                </a:lnTo>
                <a:lnTo>
                  <a:pt x="9247774" y="2289838"/>
                </a:lnTo>
                <a:lnTo>
                  <a:pt x="9298728" y="2258214"/>
                </a:lnTo>
                <a:lnTo>
                  <a:pt x="9344040" y="2219345"/>
                </a:lnTo>
                <a:lnTo>
                  <a:pt x="9382910" y="2174034"/>
                </a:lnTo>
                <a:lnTo>
                  <a:pt x="9414536" y="2123080"/>
                </a:lnTo>
                <a:lnTo>
                  <a:pt x="9438117" y="2067284"/>
                </a:lnTo>
                <a:lnTo>
                  <a:pt x="9452853" y="2007447"/>
                </a:lnTo>
                <a:lnTo>
                  <a:pt x="9457943" y="1944369"/>
                </a:lnTo>
                <a:lnTo>
                  <a:pt x="9457943" y="388873"/>
                </a:lnTo>
                <a:lnTo>
                  <a:pt x="9452853" y="325799"/>
                </a:lnTo>
                <a:lnTo>
                  <a:pt x="9438117" y="265964"/>
                </a:lnTo>
                <a:lnTo>
                  <a:pt x="9414536" y="210169"/>
                </a:lnTo>
                <a:lnTo>
                  <a:pt x="9382910" y="159215"/>
                </a:lnTo>
                <a:lnTo>
                  <a:pt x="9344040" y="113903"/>
                </a:lnTo>
                <a:lnTo>
                  <a:pt x="9298728" y="75033"/>
                </a:lnTo>
                <a:lnTo>
                  <a:pt x="9247774" y="43407"/>
                </a:lnTo>
                <a:lnTo>
                  <a:pt x="9191979" y="19826"/>
                </a:lnTo>
                <a:lnTo>
                  <a:pt x="9132144" y="5090"/>
                </a:lnTo>
                <a:lnTo>
                  <a:pt x="9069069" y="0"/>
                </a:lnTo>
                <a:close/>
              </a:path>
            </a:pathLst>
          </a:custGeom>
          <a:solidFill>
            <a:srgbClr val="FFFFC7"/>
          </a:solidFill>
        </p:spPr>
        <p:txBody>
          <a:bodyPr wrap="square" lIns="0" tIns="0" rIns="0" bIns="0" rtlCol="0"/>
          <a:lstStyle/>
          <a:p>
            <a:endParaRPr/>
          </a:p>
        </p:txBody>
      </p:sp>
      <p:sp>
        <p:nvSpPr>
          <p:cNvPr id="15" name="object 15"/>
          <p:cNvSpPr/>
          <p:nvPr/>
        </p:nvSpPr>
        <p:spPr>
          <a:xfrm>
            <a:off x="1367789" y="3842765"/>
            <a:ext cx="9458325" cy="2333625"/>
          </a:xfrm>
          <a:custGeom>
            <a:avLst/>
            <a:gdLst/>
            <a:ahLst/>
            <a:cxnLst/>
            <a:rect l="l" t="t" r="r" b="b"/>
            <a:pathLst>
              <a:path w="9458325" h="2333625">
                <a:moveTo>
                  <a:pt x="0" y="388873"/>
                </a:moveTo>
                <a:lnTo>
                  <a:pt x="5090" y="325799"/>
                </a:lnTo>
                <a:lnTo>
                  <a:pt x="19826" y="265964"/>
                </a:lnTo>
                <a:lnTo>
                  <a:pt x="43407" y="210169"/>
                </a:lnTo>
                <a:lnTo>
                  <a:pt x="75033" y="159215"/>
                </a:lnTo>
                <a:lnTo>
                  <a:pt x="113903" y="113903"/>
                </a:lnTo>
                <a:lnTo>
                  <a:pt x="159215" y="75033"/>
                </a:lnTo>
                <a:lnTo>
                  <a:pt x="210169" y="43407"/>
                </a:lnTo>
                <a:lnTo>
                  <a:pt x="265964" y="19826"/>
                </a:lnTo>
                <a:lnTo>
                  <a:pt x="325799" y="5090"/>
                </a:lnTo>
                <a:lnTo>
                  <a:pt x="388873" y="0"/>
                </a:lnTo>
                <a:lnTo>
                  <a:pt x="5517134" y="0"/>
                </a:lnTo>
                <a:lnTo>
                  <a:pt x="7881619" y="0"/>
                </a:lnTo>
                <a:lnTo>
                  <a:pt x="9069069" y="0"/>
                </a:lnTo>
                <a:lnTo>
                  <a:pt x="9100962" y="1289"/>
                </a:lnTo>
                <a:lnTo>
                  <a:pt x="9162516" y="11302"/>
                </a:lnTo>
                <a:lnTo>
                  <a:pt x="9220432" y="30561"/>
                </a:lnTo>
                <a:lnTo>
                  <a:pt x="9273906" y="58265"/>
                </a:lnTo>
                <a:lnTo>
                  <a:pt x="9322140" y="93612"/>
                </a:lnTo>
                <a:lnTo>
                  <a:pt x="9364331" y="135803"/>
                </a:lnTo>
                <a:lnTo>
                  <a:pt x="9399678" y="184037"/>
                </a:lnTo>
                <a:lnTo>
                  <a:pt x="9427382" y="237511"/>
                </a:lnTo>
                <a:lnTo>
                  <a:pt x="9446641" y="295427"/>
                </a:lnTo>
                <a:lnTo>
                  <a:pt x="9456654" y="356981"/>
                </a:lnTo>
                <a:lnTo>
                  <a:pt x="9457943" y="388873"/>
                </a:lnTo>
                <a:lnTo>
                  <a:pt x="9457943" y="1361058"/>
                </a:lnTo>
                <a:lnTo>
                  <a:pt x="9457943" y="1944369"/>
                </a:lnTo>
                <a:lnTo>
                  <a:pt x="9456654" y="1976263"/>
                </a:lnTo>
                <a:lnTo>
                  <a:pt x="9452853" y="2007447"/>
                </a:lnTo>
                <a:lnTo>
                  <a:pt x="9438117" y="2067284"/>
                </a:lnTo>
                <a:lnTo>
                  <a:pt x="9414536" y="2123080"/>
                </a:lnTo>
                <a:lnTo>
                  <a:pt x="9382910" y="2174034"/>
                </a:lnTo>
                <a:lnTo>
                  <a:pt x="9344040" y="2219345"/>
                </a:lnTo>
                <a:lnTo>
                  <a:pt x="9298728" y="2258214"/>
                </a:lnTo>
                <a:lnTo>
                  <a:pt x="9247774" y="2289838"/>
                </a:lnTo>
                <a:lnTo>
                  <a:pt x="9191979" y="2313418"/>
                </a:lnTo>
                <a:lnTo>
                  <a:pt x="9132144" y="2328154"/>
                </a:lnTo>
                <a:lnTo>
                  <a:pt x="9069069" y="2333243"/>
                </a:lnTo>
                <a:lnTo>
                  <a:pt x="7881619" y="2333243"/>
                </a:lnTo>
                <a:lnTo>
                  <a:pt x="4738116" y="2333243"/>
                </a:lnTo>
                <a:lnTo>
                  <a:pt x="5517134" y="2333243"/>
                </a:lnTo>
                <a:lnTo>
                  <a:pt x="388873" y="2333243"/>
                </a:lnTo>
                <a:lnTo>
                  <a:pt x="356981" y="2331954"/>
                </a:lnTo>
                <a:lnTo>
                  <a:pt x="295427" y="2321942"/>
                </a:lnTo>
                <a:lnTo>
                  <a:pt x="237511" y="2302684"/>
                </a:lnTo>
                <a:lnTo>
                  <a:pt x="184037" y="2274981"/>
                </a:lnTo>
                <a:lnTo>
                  <a:pt x="135803" y="2239635"/>
                </a:lnTo>
                <a:lnTo>
                  <a:pt x="93612" y="2197445"/>
                </a:lnTo>
                <a:lnTo>
                  <a:pt x="58265" y="2149212"/>
                </a:lnTo>
                <a:lnTo>
                  <a:pt x="30561" y="2095737"/>
                </a:lnTo>
                <a:lnTo>
                  <a:pt x="11302" y="2037821"/>
                </a:lnTo>
                <a:lnTo>
                  <a:pt x="1289" y="1976263"/>
                </a:lnTo>
                <a:lnTo>
                  <a:pt x="0" y="1944369"/>
                </a:lnTo>
                <a:lnTo>
                  <a:pt x="0" y="1361058"/>
                </a:lnTo>
                <a:lnTo>
                  <a:pt x="0" y="388873"/>
                </a:lnTo>
                <a:close/>
              </a:path>
            </a:pathLst>
          </a:custGeom>
          <a:ln w="28956">
            <a:solidFill>
              <a:srgbClr val="000000"/>
            </a:solidFill>
          </a:ln>
        </p:spPr>
        <p:txBody>
          <a:bodyPr wrap="square" lIns="0" tIns="0" rIns="0" bIns="0" rtlCol="0"/>
          <a:lstStyle/>
          <a:p>
            <a:endParaRPr/>
          </a:p>
        </p:txBody>
      </p:sp>
      <p:sp>
        <p:nvSpPr>
          <p:cNvPr id="16" name="object 16"/>
          <p:cNvSpPr txBox="1"/>
          <p:nvPr/>
        </p:nvSpPr>
        <p:spPr>
          <a:xfrm>
            <a:off x="1560702" y="3976171"/>
            <a:ext cx="9060180" cy="214376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1</a:t>
            </a:r>
            <a:r>
              <a:rPr sz="2400" b="1" dirty="0">
                <a:latin typeface="Consolas"/>
                <a:cs typeface="Consolas"/>
              </a:rPr>
              <a:t>.</a:t>
            </a:r>
            <a:r>
              <a:rPr sz="2400" b="1" spc="-365" dirty="0">
                <a:latin typeface="Consolas"/>
                <a:cs typeface="Consolas"/>
              </a:rPr>
              <a:t> </a:t>
            </a:r>
            <a:r>
              <a:rPr sz="2400" b="1" spc="-5" dirty="0">
                <a:latin typeface="宋体"/>
                <a:cs typeface="宋体"/>
              </a:rPr>
              <a:t>用于设置自动重载寄存</a:t>
            </a:r>
            <a:r>
              <a:rPr sz="2400" b="1" dirty="0">
                <a:latin typeface="宋体"/>
                <a:cs typeface="宋体"/>
              </a:rPr>
              <a:t>器</a:t>
            </a:r>
            <a:r>
              <a:rPr sz="2400" b="1" spc="-5" dirty="0">
                <a:latin typeface="Consolas"/>
                <a:cs typeface="Consolas"/>
              </a:rPr>
              <a:t>TIMx_AR</a:t>
            </a:r>
            <a:r>
              <a:rPr sz="2400" b="1" dirty="0">
                <a:latin typeface="Consolas"/>
                <a:cs typeface="Consolas"/>
              </a:rPr>
              <a:t>R</a:t>
            </a:r>
            <a:r>
              <a:rPr sz="2400" b="1" spc="-5" dirty="0">
                <a:latin typeface="宋体"/>
                <a:cs typeface="宋体"/>
              </a:rPr>
              <a:t>的预装载功能，即自动重装</a:t>
            </a:r>
            <a:endParaRPr sz="2400">
              <a:latin typeface="宋体"/>
              <a:cs typeface="宋体"/>
            </a:endParaRPr>
          </a:p>
          <a:p>
            <a:pPr marL="469265">
              <a:lnSpc>
                <a:spcPct val="100000"/>
              </a:lnSpc>
              <a:spcBef>
                <a:spcPts val="615"/>
              </a:spcBef>
            </a:pPr>
            <a:r>
              <a:rPr sz="2400" b="1" dirty="0">
                <a:latin typeface="宋体"/>
                <a:cs typeface="宋体"/>
              </a:rPr>
              <a:t>寄存器的内容是更新事件产生时写入有效，还是立即写入有效；</a:t>
            </a:r>
            <a:endParaRPr sz="2400">
              <a:latin typeface="宋体"/>
              <a:cs typeface="宋体"/>
            </a:endParaRPr>
          </a:p>
          <a:p>
            <a:pPr marL="12700">
              <a:lnSpc>
                <a:spcPct val="100000"/>
              </a:lnSpc>
              <a:spcBef>
                <a:spcPts val="625"/>
              </a:spcBef>
            </a:pPr>
            <a:r>
              <a:rPr sz="2400" b="1" spc="-5" dirty="0">
                <a:latin typeface="Consolas"/>
                <a:cs typeface="Consolas"/>
              </a:rPr>
              <a:t>2.</a:t>
            </a:r>
            <a:r>
              <a:rPr sz="2400" b="1" spc="-360" dirty="0">
                <a:latin typeface="Consolas"/>
                <a:cs typeface="Consolas"/>
              </a:rPr>
              <a:t> </a:t>
            </a:r>
            <a:r>
              <a:rPr sz="2400" b="1" dirty="0">
                <a:latin typeface="宋体"/>
                <a:cs typeface="宋体"/>
              </a:rPr>
              <a:t>预装载功能在多个定时器同时输出信号时比较有用，可以确保多</a:t>
            </a:r>
            <a:endParaRPr sz="2400">
              <a:latin typeface="宋体"/>
              <a:cs typeface="宋体"/>
            </a:endParaRPr>
          </a:p>
          <a:p>
            <a:pPr marL="469265">
              <a:lnSpc>
                <a:spcPct val="100000"/>
              </a:lnSpc>
              <a:spcBef>
                <a:spcPts val="620"/>
              </a:spcBef>
            </a:pPr>
            <a:r>
              <a:rPr sz="2400" b="1" spc="-5" dirty="0">
                <a:latin typeface="宋体"/>
                <a:cs typeface="宋体"/>
              </a:rPr>
              <a:t>个定时器的输出信号在同一个时刻变化，实现同步输出；</a:t>
            </a:r>
            <a:endParaRPr sz="2400">
              <a:latin typeface="宋体"/>
              <a:cs typeface="宋体"/>
            </a:endParaRPr>
          </a:p>
          <a:p>
            <a:pPr marL="12700">
              <a:lnSpc>
                <a:spcPct val="100000"/>
              </a:lnSpc>
              <a:spcBef>
                <a:spcPts val="615"/>
              </a:spcBef>
            </a:pPr>
            <a:r>
              <a:rPr sz="2400" b="1" spc="-5" dirty="0">
                <a:latin typeface="Consolas"/>
                <a:cs typeface="Consolas"/>
              </a:rPr>
              <a:t>3.</a:t>
            </a:r>
            <a:r>
              <a:rPr sz="2400" b="1" spc="-360" dirty="0">
                <a:latin typeface="Consolas"/>
                <a:cs typeface="Consolas"/>
              </a:rPr>
              <a:t> </a:t>
            </a:r>
            <a:r>
              <a:rPr sz="2400" b="1" dirty="0">
                <a:latin typeface="宋体"/>
                <a:cs typeface="宋体"/>
              </a:rPr>
              <a:t>单个定时器输出时，一般不开启预装载功能。</a:t>
            </a:r>
            <a:endParaRPr sz="2400">
              <a:latin typeface="宋体"/>
              <a:cs typeface="宋体"/>
            </a:endParaRPr>
          </a:p>
        </p:txBody>
      </p:sp>
      <p:graphicFrame>
        <p:nvGraphicFramePr>
          <p:cNvPr id="12" name="object 12"/>
          <p:cNvGraphicFramePr>
            <a:graphicFrameLocks noGrp="1"/>
          </p:cNvGraphicFramePr>
          <p:nvPr/>
        </p:nvGraphicFramePr>
        <p:xfrm>
          <a:off x="605840" y="1917001"/>
          <a:ext cx="10951729" cy="1630044"/>
        </p:xfrm>
        <a:graphic>
          <a:graphicData uri="http://schemas.openxmlformats.org/drawingml/2006/table">
            <a:tbl>
              <a:tblPr firstRow="1" bandRow="1">
                <a:tableStyleId>{2D5ABB26-0587-4C30-8999-92F81FD0307C}</a:tableStyleId>
              </a:tblPr>
              <a:tblGrid>
                <a:gridCol w="7183259">
                  <a:extLst>
                    <a:ext uri="{9D8B030D-6E8A-4147-A177-3AD203B41FA5}">
                      <a16:colId xmlns:a16="http://schemas.microsoft.com/office/drawing/2014/main" val="20000"/>
                    </a:ext>
                  </a:extLst>
                </a:gridCol>
                <a:gridCol w="3768470">
                  <a:extLst>
                    <a:ext uri="{9D8B030D-6E8A-4147-A177-3AD203B41FA5}">
                      <a16:colId xmlns:a16="http://schemas.microsoft.com/office/drawing/2014/main" val="20001"/>
                    </a:ext>
                  </a:extLst>
                </a:gridCol>
              </a:tblGrid>
              <a:tr h="453516">
                <a:tc>
                  <a:txBody>
                    <a:bodyPr/>
                    <a:lstStyle/>
                    <a:p>
                      <a:pPr marL="635" algn="ctr">
                        <a:lnSpc>
                          <a:spcPts val="2855"/>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905" algn="ctr">
                        <a:lnSpc>
                          <a:spcPts val="2855"/>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576199">
                <a:tc>
                  <a:txBody>
                    <a:bodyPr/>
                    <a:lstStyle/>
                    <a:p>
                      <a:pPr marL="614045">
                        <a:lnSpc>
                          <a:spcPct val="100000"/>
                        </a:lnSpc>
                      </a:pPr>
                      <a:r>
                        <a:rPr sz="2400" b="1" spc="-5" dirty="0">
                          <a:latin typeface="微软雅黑"/>
                          <a:cs typeface="微软雅黑"/>
                        </a:rPr>
                        <a:t>TIM</a:t>
                      </a:r>
                      <a:r>
                        <a:rPr sz="2400" b="1" spc="5" dirty="0">
                          <a:latin typeface="微软雅黑"/>
                          <a:cs typeface="微软雅黑"/>
                        </a:rPr>
                        <a:t>_</a:t>
                      </a:r>
                      <a:r>
                        <a:rPr sz="2400" b="1" spc="-55" dirty="0">
                          <a:latin typeface="微软雅黑"/>
                          <a:cs typeface="微软雅黑"/>
                        </a:rPr>
                        <a:t>A</a:t>
                      </a:r>
                      <a:r>
                        <a:rPr sz="2400" b="1" spc="-5" dirty="0">
                          <a:latin typeface="微软雅黑"/>
                          <a:cs typeface="微软雅黑"/>
                        </a:rPr>
                        <a:t>U</a:t>
                      </a:r>
                      <a:r>
                        <a:rPr sz="2400" b="1" spc="-100" dirty="0">
                          <a:latin typeface="微软雅黑"/>
                          <a:cs typeface="微软雅黑"/>
                        </a:rPr>
                        <a:t>T</a:t>
                      </a:r>
                      <a:r>
                        <a:rPr sz="2400" b="1" spc="-5" dirty="0">
                          <a:latin typeface="微软雅黑"/>
                          <a:cs typeface="微软雅黑"/>
                        </a:rPr>
                        <a:t>O</a:t>
                      </a:r>
                      <a:r>
                        <a:rPr sz="2400" b="1" spc="5" dirty="0">
                          <a:latin typeface="微软雅黑"/>
                          <a:cs typeface="微软雅黑"/>
                        </a:rPr>
                        <a:t>R</a:t>
                      </a:r>
                      <a:r>
                        <a:rPr sz="2400" b="1" dirty="0">
                          <a:latin typeface="微软雅黑"/>
                          <a:cs typeface="微软雅黑"/>
                        </a:rPr>
                        <a:t>E</a:t>
                      </a:r>
                      <a:r>
                        <a:rPr sz="2400" b="1" spc="-85" dirty="0">
                          <a:latin typeface="微软雅黑"/>
                          <a:cs typeface="微软雅黑"/>
                        </a:rPr>
                        <a:t>L</a:t>
                      </a:r>
                      <a:r>
                        <a:rPr sz="2400" b="1" spc="-35" dirty="0">
                          <a:latin typeface="微软雅黑"/>
                          <a:cs typeface="微软雅黑"/>
                        </a:rPr>
                        <a:t>O</a:t>
                      </a:r>
                      <a:r>
                        <a:rPr sz="2400" b="1" dirty="0">
                          <a:latin typeface="微软雅黑"/>
                          <a:cs typeface="微软雅黑"/>
                        </a:rPr>
                        <a:t>A</a:t>
                      </a:r>
                      <a:r>
                        <a:rPr sz="2400" b="1" spc="-10" dirty="0">
                          <a:latin typeface="微软雅黑"/>
                          <a:cs typeface="微软雅黑"/>
                        </a:rPr>
                        <a:t>D</a:t>
                      </a:r>
                      <a:r>
                        <a:rPr sz="2400" b="1" spc="-5" dirty="0">
                          <a:latin typeface="微软雅黑"/>
                          <a:cs typeface="微软雅黑"/>
                        </a:rPr>
                        <a:t>_PRE</a:t>
                      </a:r>
                      <a:r>
                        <a:rPr sz="2400" b="1" spc="-80" dirty="0">
                          <a:latin typeface="微软雅黑"/>
                          <a:cs typeface="微软雅黑"/>
                        </a:rPr>
                        <a:t>L</a:t>
                      </a:r>
                      <a:r>
                        <a:rPr sz="2400" b="1" spc="-35" dirty="0">
                          <a:latin typeface="微软雅黑"/>
                          <a:cs typeface="微软雅黑"/>
                        </a:rPr>
                        <a:t>O</a:t>
                      </a:r>
                      <a:r>
                        <a:rPr sz="2400" b="1" dirty="0">
                          <a:latin typeface="微软雅黑"/>
                          <a:cs typeface="微软雅黑"/>
                        </a:rPr>
                        <a:t>A</a:t>
                      </a:r>
                      <a:r>
                        <a:rPr sz="2400" b="1" spc="-10" dirty="0">
                          <a:latin typeface="微软雅黑"/>
                          <a:cs typeface="微软雅黑"/>
                        </a:rPr>
                        <a:t>D</a:t>
                      </a:r>
                      <a:r>
                        <a:rPr sz="2400" b="1" spc="-5" dirty="0">
                          <a:latin typeface="微软雅黑"/>
                          <a:cs typeface="微软雅黑"/>
                        </a:rPr>
                        <a:t>_DIS</a:t>
                      </a:r>
                      <a:r>
                        <a:rPr sz="2400" b="1" spc="-10" dirty="0">
                          <a:latin typeface="微软雅黑"/>
                          <a:cs typeface="微软雅黑"/>
                        </a:rPr>
                        <a:t>A</a:t>
                      </a:r>
                      <a:r>
                        <a:rPr sz="2400" b="1" dirty="0">
                          <a:latin typeface="微软雅黑"/>
                          <a:cs typeface="微软雅黑"/>
                        </a:rPr>
                        <a:t>BLE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918210">
                        <a:lnSpc>
                          <a:spcPct val="100000"/>
                        </a:lnSpc>
                      </a:pPr>
                      <a:r>
                        <a:rPr sz="2400" b="1" dirty="0">
                          <a:latin typeface="微软雅黑"/>
                          <a:cs typeface="微软雅黑"/>
                        </a:rPr>
                        <a:t>预装载功能关闭</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600329">
                <a:tc>
                  <a:txBody>
                    <a:bodyPr/>
                    <a:lstStyle/>
                    <a:p>
                      <a:pPr marL="661035">
                        <a:lnSpc>
                          <a:spcPct val="100000"/>
                        </a:lnSpc>
                      </a:pPr>
                      <a:r>
                        <a:rPr sz="2400" b="1" spc="-5" dirty="0">
                          <a:latin typeface="微软雅黑"/>
                          <a:cs typeface="微软雅黑"/>
                        </a:rPr>
                        <a:t>TIM</a:t>
                      </a:r>
                      <a:r>
                        <a:rPr sz="2400" b="1" spc="5" dirty="0">
                          <a:latin typeface="微软雅黑"/>
                          <a:cs typeface="微软雅黑"/>
                        </a:rPr>
                        <a:t>_</a:t>
                      </a:r>
                      <a:r>
                        <a:rPr sz="2400" b="1" spc="-55" dirty="0">
                          <a:latin typeface="微软雅黑"/>
                          <a:cs typeface="微软雅黑"/>
                        </a:rPr>
                        <a:t>A</a:t>
                      </a:r>
                      <a:r>
                        <a:rPr sz="2400" b="1" spc="-5" dirty="0">
                          <a:latin typeface="微软雅黑"/>
                          <a:cs typeface="微软雅黑"/>
                        </a:rPr>
                        <a:t>U</a:t>
                      </a:r>
                      <a:r>
                        <a:rPr sz="2400" b="1" spc="-100" dirty="0">
                          <a:latin typeface="微软雅黑"/>
                          <a:cs typeface="微软雅黑"/>
                        </a:rPr>
                        <a:t>T</a:t>
                      </a:r>
                      <a:r>
                        <a:rPr sz="2400" b="1" spc="-5" dirty="0">
                          <a:latin typeface="微软雅黑"/>
                          <a:cs typeface="微软雅黑"/>
                        </a:rPr>
                        <a:t>O</a:t>
                      </a:r>
                      <a:r>
                        <a:rPr sz="2400" b="1" spc="5" dirty="0">
                          <a:latin typeface="微软雅黑"/>
                          <a:cs typeface="微软雅黑"/>
                        </a:rPr>
                        <a:t>R</a:t>
                      </a:r>
                      <a:r>
                        <a:rPr sz="2400" b="1" dirty="0">
                          <a:latin typeface="微软雅黑"/>
                          <a:cs typeface="微软雅黑"/>
                        </a:rPr>
                        <a:t>E</a:t>
                      </a:r>
                      <a:r>
                        <a:rPr sz="2400" b="1" spc="-85" dirty="0">
                          <a:latin typeface="微软雅黑"/>
                          <a:cs typeface="微软雅黑"/>
                        </a:rPr>
                        <a:t>L</a:t>
                      </a:r>
                      <a:r>
                        <a:rPr sz="2400" b="1" spc="-35" dirty="0">
                          <a:latin typeface="微软雅黑"/>
                          <a:cs typeface="微软雅黑"/>
                        </a:rPr>
                        <a:t>O</a:t>
                      </a:r>
                      <a:r>
                        <a:rPr sz="2400" b="1" dirty="0">
                          <a:latin typeface="微软雅黑"/>
                          <a:cs typeface="微软雅黑"/>
                        </a:rPr>
                        <a:t>A</a:t>
                      </a:r>
                      <a:r>
                        <a:rPr sz="2400" b="1" spc="-10" dirty="0">
                          <a:latin typeface="微软雅黑"/>
                          <a:cs typeface="微软雅黑"/>
                        </a:rPr>
                        <a:t>D</a:t>
                      </a:r>
                      <a:r>
                        <a:rPr sz="2400" b="1" spc="-5" dirty="0">
                          <a:latin typeface="微软雅黑"/>
                          <a:cs typeface="微软雅黑"/>
                        </a:rPr>
                        <a:t>_PRE</a:t>
                      </a:r>
                      <a:r>
                        <a:rPr sz="2400" b="1" spc="-80" dirty="0">
                          <a:latin typeface="微软雅黑"/>
                          <a:cs typeface="微软雅黑"/>
                        </a:rPr>
                        <a:t>L</a:t>
                      </a:r>
                      <a:r>
                        <a:rPr sz="2400" b="1" spc="-35" dirty="0">
                          <a:latin typeface="微软雅黑"/>
                          <a:cs typeface="微软雅黑"/>
                        </a:rPr>
                        <a:t>O</a:t>
                      </a:r>
                      <a:r>
                        <a:rPr sz="2400" b="1" dirty="0">
                          <a:latin typeface="微软雅黑"/>
                          <a:cs typeface="微软雅黑"/>
                        </a:rPr>
                        <a:t>A</a:t>
                      </a:r>
                      <a:r>
                        <a:rPr sz="2400" b="1" spc="-10" dirty="0">
                          <a:latin typeface="微软雅黑"/>
                          <a:cs typeface="微软雅黑"/>
                        </a:rPr>
                        <a:t>D</a:t>
                      </a:r>
                      <a:r>
                        <a:rPr sz="2400" b="1" spc="-5" dirty="0">
                          <a:latin typeface="微软雅黑"/>
                          <a:cs typeface="微软雅黑"/>
                        </a:rPr>
                        <a:t>_ENABLE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918210">
                        <a:lnSpc>
                          <a:spcPct val="100000"/>
                        </a:lnSpc>
                      </a:pPr>
                      <a:r>
                        <a:rPr sz="2400" b="1" dirty="0">
                          <a:latin typeface="微软雅黑"/>
                          <a:cs typeface="微软雅黑"/>
                        </a:rPr>
                        <a:t>预装载功能开启</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10584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a:spLocks noGrp="1"/>
          </p:cNvSpPr>
          <p:nvPr>
            <p:ph type="title"/>
          </p:nvPr>
        </p:nvSpPr>
        <p:spPr>
          <a:xfrm>
            <a:off x="93618" y="640469"/>
            <a:ext cx="10515600" cy="1325563"/>
          </a:xfrm>
          <a:prstGeom prst="rect">
            <a:avLst/>
          </a:prstGeom>
        </p:spPr>
        <p:txBody>
          <a:bodyPr vert="horz" wrap="square" lIns="0" tIns="0" rIns="0" bIns="0" rtlCol="0">
            <a:spAutoFit/>
          </a:bodyPr>
          <a:lstStyle/>
          <a:p>
            <a:pPr marL="187960">
              <a:lnSpc>
                <a:spcPct val="100000"/>
              </a:lnSpc>
            </a:pPr>
            <a:r>
              <a:rPr sz="2400" dirty="0">
                <a:solidFill>
                  <a:srgbClr val="FFFFFF"/>
                </a:solidFill>
              </a:rPr>
              <a:t>时基初始化</a:t>
            </a:r>
            <a:endParaRPr sz="2400" dirty="0"/>
          </a:p>
        </p:txBody>
      </p:sp>
      <p:sp>
        <p:nvSpPr>
          <p:cNvPr id="12" name="object 12"/>
          <p:cNvSpPr txBox="1"/>
          <p:nvPr/>
        </p:nvSpPr>
        <p:spPr>
          <a:xfrm>
            <a:off x="3120389" y="1180267"/>
            <a:ext cx="7374255"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1	时基单元初始化函数：</a:t>
            </a:r>
            <a:r>
              <a:rPr sz="2800" b="1" spc="-10" dirty="0">
                <a:latin typeface="微软雅黑"/>
                <a:cs typeface="微软雅黑"/>
              </a:rPr>
              <a:t>HAL_TIM_Base_Init</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4" name="object 14"/>
          <p:cNvGraphicFramePr>
            <a:graphicFrameLocks noGrp="1"/>
          </p:cNvGraphicFramePr>
          <p:nvPr/>
        </p:nvGraphicFramePr>
        <p:xfrm>
          <a:off x="224713" y="1861629"/>
          <a:ext cx="11713984" cy="4582413"/>
        </p:xfrm>
        <a:graphic>
          <a:graphicData uri="http://schemas.openxmlformats.org/drawingml/2006/table">
            <a:tbl>
              <a:tblPr firstRow="1" bandRow="1">
                <a:tableStyleId>{2D5ABB26-0587-4C30-8999-92F81FD0307C}</a:tableStyleId>
              </a:tblPr>
              <a:tblGrid>
                <a:gridCol w="2347480">
                  <a:extLst>
                    <a:ext uri="{9D8B030D-6E8A-4147-A177-3AD203B41FA5}">
                      <a16:colId xmlns:a16="http://schemas.microsoft.com/office/drawing/2014/main" val="20000"/>
                    </a:ext>
                  </a:extLst>
                </a:gridCol>
                <a:gridCol w="9366504">
                  <a:extLst>
                    <a:ext uri="{9D8B030D-6E8A-4147-A177-3AD203B41FA5}">
                      <a16:colId xmlns:a16="http://schemas.microsoft.com/office/drawing/2014/main" val="20001"/>
                    </a:ext>
                  </a:extLst>
                </a:gridCol>
              </a:tblGrid>
              <a:tr h="582168">
                <a:tc gridSpan="2">
                  <a:txBody>
                    <a:bodyPr/>
                    <a:lstStyle/>
                    <a:p>
                      <a:pPr marL="3634740">
                        <a:lnSpc>
                          <a:spcPct val="100000"/>
                        </a:lnSpc>
                      </a:pPr>
                      <a:r>
                        <a:rPr sz="2400" b="1" spc="-5" dirty="0">
                          <a:solidFill>
                            <a:srgbClr val="FFFFFF"/>
                          </a:solidFill>
                          <a:latin typeface="微软雅黑"/>
                          <a:cs typeface="微软雅黑"/>
                        </a:rPr>
                        <a:t>接口函数：H</a:t>
                      </a:r>
                      <a:r>
                        <a:rPr sz="2400" b="1" spc="-15" dirty="0">
                          <a:solidFill>
                            <a:srgbClr val="FFFFFF"/>
                          </a:solidFill>
                          <a:latin typeface="微软雅黑"/>
                          <a:cs typeface="微软雅黑"/>
                        </a:rPr>
                        <a:t>A</a:t>
                      </a:r>
                      <a:r>
                        <a:rPr sz="2400" b="1" dirty="0">
                          <a:solidFill>
                            <a:srgbClr val="FFFFFF"/>
                          </a:solidFill>
                          <a:latin typeface="微软雅黑"/>
                          <a:cs typeface="微软雅黑"/>
                        </a:rPr>
                        <a:t>L_TIM_Base_Init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738759">
                <a:tc>
                  <a:txBody>
                    <a:bodyPr/>
                    <a:lstStyle/>
                    <a:p>
                      <a:pPr marL="54927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marR="3278504">
                        <a:lnSpc>
                          <a:spcPct val="100000"/>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20"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40" dirty="0">
                          <a:latin typeface="微软雅黑"/>
                          <a:cs typeface="微软雅黑"/>
                        </a:rPr>
                        <a:t> </a:t>
                      </a:r>
                      <a:r>
                        <a:rPr sz="2400" b="1" spc="-5" dirty="0">
                          <a:latin typeface="微软雅黑"/>
                          <a:cs typeface="微软雅黑"/>
                        </a:rPr>
                        <a:t>HAL_T</a:t>
                      </a:r>
                      <a:r>
                        <a:rPr sz="2400" b="1" spc="5" dirty="0">
                          <a:latin typeface="微软雅黑"/>
                          <a:cs typeface="微软雅黑"/>
                        </a:rPr>
                        <a:t>I</a:t>
                      </a:r>
                      <a:r>
                        <a:rPr sz="2400" b="1" dirty="0">
                          <a:latin typeface="微软雅黑"/>
                          <a:cs typeface="微软雅黑"/>
                        </a:rPr>
                        <a:t>M</a:t>
                      </a:r>
                      <a:r>
                        <a:rPr sz="2400" b="1" spc="-5" dirty="0">
                          <a:latin typeface="微软雅黑"/>
                          <a:cs typeface="微软雅黑"/>
                        </a:rPr>
                        <a:t>_</a:t>
                      </a:r>
                      <a:r>
                        <a:rPr sz="2400" b="1" spc="10" dirty="0">
                          <a:latin typeface="微软雅黑"/>
                          <a:cs typeface="微软雅黑"/>
                        </a:rPr>
                        <a:t>B</a:t>
                      </a:r>
                      <a:r>
                        <a:rPr sz="2400" b="1" spc="5" dirty="0">
                          <a:latin typeface="微软雅黑"/>
                          <a:cs typeface="微软雅黑"/>
                        </a:rPr>
                        <a:t>a</a:t>
                      </a:r>
                      <a:r>
                        <a:rPr sz="2400" b="1" dirty="0">
                          <a:latin typeface="微软雅黑"/>
                          <a:cs typeface="微软雅黑"/>
                        </a:rPr>
                        <a:t>se</a:t>
                      </a:r>
                      <a:r>
                        <a:rPr sz="2400" b="1" spc="5" dirty="0">
                          <a:latin typeface="微软雅黑"/>
                          <a:cs typeface="微软雅黑"/>
                        </a:rPr>
                        <a:t>_</a:t>
                      </a:r>
                      <a:r>
                        <a:rPr sz="2400" b="1" spc="-5" dirty="0">
                          <a:latin typeface="微软雅黑"/>
                          <a:cs typeface="微软雅黑"/>
                        </a:rPr>
                        <a:t>I</a:t>
                      </a:r>
                      <a:r>
                        <a:rPr sz="2400" b="1" spc="5" dirty="0">
                          <a:latin typeface="微软雅黑"/>
                          <a:cs typeface="微软雅黑"/>
                        </a:rPr>
                        <a:t>n</a:t>
                      </a:r>
                      <a:r>
                        <a:rPr sz="2400" b="1" dirty="0">
                          <a:latin typeface="微软雅黑"/>
                          <a:cs typeface="微软雅黑"/>
                        </a:rPr>
                        <a:t>it (</a:t>
                      </a:r>
                      <a:r>
                        <a:rPr sz="2400" b="1" spc="-10" dirty="0">
                          <a:latin typeface="微软雅黑"/>
                          <a:cs typeface="微软雅黑"/>
                        </a:rPr>
                        <a:t>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Ha</a:t>
                      </a:r>
                      <a:r>
                        <a:rPr sz="2400" b="1" spc="5" dirty="0">
                          <a:latin typeface="微软雅黑"/>
                          <a:cs typeface="微软雅黑"/>
                        </a:rPr>
                        <a:t>n</a:t>
                      </a:r>
                      <a:r>
                        <a:rPr sz="2400" b="1" dirty="0">
                          <a:latin typeface="微软雅黑"/>
                          <a:cs typeface="微软雅黑"/>
                        </a:rPr>
                        <a:t>dl</a:t>
                      </a:r>
                      <a:r>
                        <a:rPr sz="2400" b="1" spc="-10" dirty="0">
                          <a:latin typeface="微软雅黑"/>
                          <a:cs typeface="微软雅黑"/>
                        </a:rPr>
                        <a:t>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20" dirty="0">
                          <a:latin typeface="微软雅黑"/>
                          <a:cs typeface="微软雅黑"/>
                        </a:rPr>
                        <a:t> </a:t>
                      </a:r>
                      <a:r>
                        <a:rPr sz="2400" b="1" spc="-10" dirty="0">
                          <a:latin typeface="微软雅黑"/>
                          <a:cs typeface="微软雅黑"/>
                        </a:rPr>
                        <a:t>*</a:t>
                      </a:r>
                      <a:r>
                        <a:rPr sz="2400" b="1" dirty="0">
                          <a:latin typeface="微软雅黑"/>
                          <a:cs typeface="微软雅黑"/>
                        </a:rPr>
                        <a:t>htim</a:t>
                      </a:r>
                      <a:r>
                        <a:rPr sz="2400" b="1" spc="15" dirty="0">
                          <a:latin typeface="微软雅黑"/>
                          <a:cs typeface="微软雅黑"/>
                        </a:rPr>
                        <a:t> </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82294">
                <a:tc>
                  <a:txBody>
                    <a:bodyPr/>
                    <a:lstStyle/>
                    <a:p>
                      <a:pPr marL="549275">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spc="-5" dirty="0">
                          <a:latin typeface="微软雅黑"/>
                          <a:cs typeface="微软雅黑"/>
                        </a:rPr>
                        <a:t>按照定时器句柄中指定的参数初始化定时器时基单元</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82168">
                <a:tc>
                  <a:txBody>
                    <a:bodyPr/>
                    <a:lstStyle/>
                    <a:p>
                      <a:pPr marL="549275">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881126">
                <a:tc>
                  <a:txBody>
                    <a:bodyPr/>
                    <a:lstStyle/>
                    <a:p>
                      <a:pPr marL="70167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4">
                      <a:solidFill>
                        <a:srgbClr val="000000"/>
                      </a:solidFill>
                      <a:prstDash val="solid"/>
                    </a:lnB>
                  </a:tcPr>
                </a:tc>
                <a:tc>
                  <a:txBody>
                    <a:bodyPr/>
                    <a:lstStyle/>
                    <a:p>
                      <a:pPr marL="54610">
                        <a:lnSpc>
                          <a:spcPct val="10000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4">
                      <a:solidFill>
                        <a:srgbClr val="000000"/>
                      </a:solidFill>
                      <a:prstDash val="solid"/>
                    </a:lnB>
                  </a:tcPr>
                </a:tc>
                <a:extLst>
                  <a:ext uri="{0D108BD9-81ED-4DB2-BD59-A6C34878D82A}">
                    <a16:rowId xmlns:a16="http://schemas.microsoft.com/office/drawing/2014/main" val="10004"/>
                  </a:ext>
                </a:extLst>
              </a:tr>
              <a:tr h="1202137">
                <a:tc>
                  <a:txBody>
                    <a:bodyPr/>
                    <a:lstStyle/>
                    <a:p>
                      <a:pPr marL="549275">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4">
                      <a:solidFill>
                        <a:srgbClr val="000000"/>
                      </a:solidFill>
                      <a:prstDash val="solid"/>
                    </a:lnT>
                    <a:lnB w="28575">
                      <a:solidFill>
                        <a:srgbClr val="000000"/>
                      </a:solidFill>
                      <a:prstDash val="solid"/>
                    </a:lnB>
                    <a:solidFill>
                      <a:srgbClr val="EAEEF7"/>
                    </a:solidFill>
                  </a:tcPr>
                </a:tc>
                <a:tc>
                  <a:txBody>
                    <a:bodyPr/>
                    <a:lstStyle/>
                    <a:p>
                      <a:pPr marL="506730" marR="236854" indent="-452755">
                        <a:lnSpc>
                          <a:spcPct val="111200"/>
                        </a:lnSpc>
                        <a:tabLst>
                          <a:tab pos="511809" algn="l"/>
                        </a:tabLst>
                      </a:pPr>
                      <a:r>
                        <a:rPr sz="2400" b="1" spc="-5" dirty="0">
                          <a:latin typeface="微软雅黑"/>
                          <a:cs typeface="微软雅黑"/>
                        </a:rPr>
                        <a:t>1</a:t>
                      </a:r>
                      <a:r>
                        <a:rPr sz="2400" b="1" dirty="0">
                          <a:latin typeface="微软雅黑"/>
                          <a:cs typeface="微软雅黑"/>
                        </a:rPr>
                        <a:t>.		该函数将调用MC</a:t>
                      </a:r>
                      <a:r>
                        <a:rPr sz="2400" b="1" spc="-5" dirty="0">
                          <a:latin typeface="微软雅黑"/>
                          <a:cs typeface="微软雅黑"/>
                        </a:rPr>
                        <a:t>U</a:t>
                      </a:r>
                      <a:r>
                        <a:rPr sz="2400" b="1" dirty="0">
                          <a:latin typeface="微软雅黑"/>
                          <a:cs typeface="微软雅黑"/>
                        </a:rPr>
                        <a:t>底层初始化函数</a:t>
                      </a:r>
                      <a:r>
                        <a:rPr sz="2400" b="1" spc="-5" dirty="0">
                          <a:latin typeface="微软雅黑"/>
                          <a:cs typeface="微软雅黑"/>
                        </a:rPr>
                        <a:t>HAL_TIM</a:t>
                      </a:r>
                      <a:r>
                        <a:rPr sz="2400" b="1" spc="5" dirty="0">
                          <a:latin typeface="微软雅黑"/>
                          <a:cs typeface="微软雅黑"/>
                        </a:rPr>
                        <a:t>_</a:t>
                      </a:r>
                      <a:r>
                        <a:rPr sz="2400" b="1" dirty="0">
                          <a:latin typeface="微软雅黑"/>
                          <a:cs typeface="微软雅黑"/>
                        </a:rPr>
                        <a:t>B</a:t>
                      </a:r>
                      <a:r>
                        <a:rPr sz="2400" b="1" spc="5" dirty="0">
                          <a:latin typeface="微软雅黑"/>
                          <a:cs typeface="微软雅黑"/>
                        </a:rPr>
                        <a:t>a</a:t>
                      </a:r>
                      <a:r>
                        <a:rPr sz="2400" b="1" dirty="0">
                          <a:latin typeface="微软雅黑"/>
                          <a:cs typeface="微软雅黑"/>
                        </a:rPr>
                        <a:t>se_MspI</a:t>
                      </a:r>
                      <a:r>
                        <a:rPr sz="2400" b="1" spc="-20" dirty="0">
                          <a:latin typeface="微软雅黑"/>
                          <a:cs typeface="微软雅黑"/>
                        </a:rPr>
                        <a:t>n</a:t>
                      </a:r>
                      <a:r>
                        <a:rPr sz="2400" b="1" dirty="0">
                          <a:latin typeface="微软雅黑"/>
                          <a:cs typeface="微软雅黑"/>
                        </a:rPr>
                        <a:t>i</a:t>
                      </a:r>
                      <a:r>
                        <a:rPr sz="2400" b="1" spc="-5" dirty="0">
                          <a:latin typeface="微软雅黑"/>
                          <a:cs typeface="微软雅黑"/>
                        </a:rPr>
                        <a:t>t</a:t>
                      </a:r>
                      <a:r>
                        <a:rPr sz="2400" b="1" dirty="0">
                          <a:latin typeface="微软雅黑"/>
                          <a:cs typeface="微软雅黑"/>
                        </a:rPr>
                        <a:t>完 成引脚、时钟和中断的设置</a:t>
                      </a:r>
                      <a:endParaRPr sz="2400">
                        <a:latin typeface="微软雅黑"/>
                        <a:cs typeface="微软雅黑"/>
                      </a:endParaRPr>
                    </a:p>
                    <a:p>
                      <a:pPr marL="54610">
                        <a:lnSpc>
                          <a:spcPct val="100000"/>
                        </a:lnSpc>
                        <a:spcBef>
                          <a:spcPts val="310"/>
                        </a:spcBef>
                        <a:tabLst>
                          <a:tab pos="509905" algn="l"/>
                        </a:tabLst>
                      </a:pPr>
                      <a:r>
                        <a:rPr sz="2400" b="1" dirty="0">
                          <a:latin typeface="微软雅黑"/>
                          <a:cs typeface="微软雅黑"/>
                        </a:rPr>
                        <a:t>2.	</a:t>
                      </a:r>
                      <a:r>
                        <a:rPr sz="2400" b="1" spc="-5" dirty="0">
                          <a:latin typeface="微软雅黑"/>
                          <a:cs typeface="微软雅黑"/>
                        </a:rPr>
                        <a:t>该函数由CubeMX</a:t>
                      </a:r>
                      <a:r>
                        <a:rPr sz="2400" b="1" dirty="0">
                          <a:latin typeface="微软雅黑"/>
                          <a:cs typeface="微软雅黑"/>
                        </a:rPr>
                        <a:t>自动生成</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4">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80900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a:spLocks noGrp="1"/>
          </p:cNvSpPr>
          <p:nvPr>
            <p:ph type="title"/>
          </p:nvPr>
        </p:nvSpPr>
        <p:spPr>
          <a:xfrm>
            <a:off x="0" y="660050"/>
            <a:ext cx="10515600" cy="1325563"/>
          </a:xfrm>
          <a:prstGeom prst="rect">
            <a:avLst/>
          </a:prstGeom>
        </p:spPr>
        <p:txBody>
          <a:bodyPr vert="horz" wrap="square" lIns="0" tIns="0" rIns="0" bIns="0" rtlCol="0">
            <a:spAutoFit/>
          </a:bodyPr>
          <a:lstStyle/>
          <a:p>
            <a:pPr marL="12700">
              <a:lnSpc>
                <a:spcPct val="100000"/>
              </a:lnSpc>
            </a:pPr>
            <a:r>
              <a:rPr sz="2400" dirty="0">
                <a:solidFill>
                  <a:srgbClr val="FFFFFF"/>
                </a:solidFill>
              </a:rPr>
              <a:t>轮询模式启动</a:t>
            </a:r>
            <a:endParaRPr sz="2400" dirty="0"/>
          </a:p>
        </p:txBody>
      </p:sp>
      <p:sp>
        <p:nvSpPr>
          <p:cNvPr id="12" name="object 12"/>
          <p:cNvSpPr txBox="1"/>
          <p:nvPr/>
        </p:nvSpPr>
        <p:spPr>
          <a:xfrm>
            <a:off x="3001772" y="1177854"/>
            <a:ext cx="7284084"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2	轮询模式启动函数：</a:t>
            </a:r>
            <a:r>
              <a:rPr sz="2800" b="1" spc="-10" dirty="0">
                <a:latin typeface="微软雅黑"/>
                <a:cs typeface="微软雅黑"/>
              </a:rPr>
              <a:t>HA</a:t>
            </a:r>
            <a:r>
              <a:rPr sz="2800" b="1" spc="-15" dirty="0">
                <a:latin typeface="微软雅黑"/>
                <a:cs typeface="微软雅黑"/>
              </a:rPr>
              <a:t>L</a:t>
            </a:r>
            <a:r>
              <a:rPr sz="2800" b="1" spc="-10" dirty="0">
                <a:latin typeface="微软雅黑"/>
                <a:cs typeface="微软雅黑"/>
              </a:rPr>
              <a:t>_TIM_Base_</a:t>
            </a:r>
            <a:r>
              <a:rPr sz="2800" b="1" spc="-65" dirty="0">
                <a:latin typeface="微软雅黑"/>
                <a:cs typeface="微软雅黑"/>
              </a:rPr>
              <a:t>S</a:t>
            </a:r>
            <a:r>
              <a:rPr sz="2800" b="1" spc="-10" dirty="0">
                <a:latin typeface="微软雅黑"/>
                <a:cs typeface="微软雅黑"/>
              </a:rPr>
              <a:t>ta</a:t>
            </a:r>
            <a:r>
              <a:rPr sz="2800" b="1" spc="75" dirty="0">
                <a:latin typeface="微软雅黑"/>
                <a:cs typeface="微软雅黑"/>
              </a:rPr>
              <a:t>r</a:t>
            </a:r>
            <a:r>
              <a:rPr sz="2800" b="1" spc="-5" dirty="0">
                <a:latin typeface="微软雅黑"/>
                <a:cs typeface="微软雅黑"/>
              </a:rPr>
              <a:t>t</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4" name="object 14"/>
          <p:cNvGraphicFramePr>
            <a:graphicFrameLocks noGrp="1"/>
          </p:cNvGraphicFramePr>
          <p:nvPr/>
        </p:nvGraphicFramePr>
        <p:xfrm>
          <a:off x="197650" y="1770951"/>
          <a:ext cx="11770892" cy="4510187"/>
        </p:xfrm>
        <a:graphic>
          <a:graphicData uri="http://schemas.openxmlformats.org/drawingml/2006/table">
            <a:tbl>
              <a:tblPr firstRow="1" bandRow="1">
                <a:tableStyleId>{2D5ABB26-0587-4C30-8999-92F81FD0307C}</a:tableStyleId>
              </a:tblPr>
              <a:tblGrid>
                <a:gridCol w="1390548">
                  <a:extLst>
                    <a:ext uri="{9D8B030D-6E8A-4147-A177-3AD203B41FA5}">
                      <a16:colId xmlns:a16="http://schemas.microsoft.com/office/drawing/2014/main" val="20000"/>
                    </a:ext>
                  </a:extLst>
                </a:gridCol>
                <a:gridCol w="10380344">
                  <a:extLst>
                    <a:ext uri="{9D8B030D-6E8A-4147-A177-3AD203B41FA5}">
                      <a16:colId xmlns:a16="http://schemas.microsoft.com/office/drawing/2014/main" val="20001"/>
                    </a:ext>
                  </a:extLst>
                </a:gridCol>
              </a:tblGrid>
              <a:tr h="521843">
                <a:tc gridSpan="2">
                  <a:txBody>
                    <a:bodyPr/>
                    <a:lstStyle/>
                    <a:p>
                      <a:pPr marL="3549015">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L_TIM_Ba</a:t>
                      </a:r>
                      <a:r>
                        <a:rPr sz="2400" b="1" spc="5" dirty="0">
                          <a:solidFill>
                            <a:srgbClr val="FFFFFF"/>
                          </a:solidFill>
                          <a:latin typeface="微软雅黑"/>
                          <a:cs typeface="微软雅黑"/>
                        </a:rPr>
                        <a:t>s</a:t>
                      </a:r>
                      <a:r>
                        <a:rPr sz="2400" b="1" dirty="0">
                          <a:solidFill>
                            <a:srgbClr val="FFFFFF"/>
                          </a:solidFill>
                          <a:latin typeface="微软雅黑"/>
                          <a:cs typeface="微软雅黑"/>
                        </a:rPr>
                        <a:t>e_</a:t>
                      </a:r>
                      <a:r>
                        <a:rPr sz="2400" b="1" spc="-80" dirty="0">
                          <a:solidFill>
                            <a:srgbClr val="FFFFFF"/>
                          </a:solidFill>
                          <a:latin typeface="微软雅黑"/>
                          <a:cs typeface="微软雅黑"/>
                        </a:rPr>
                        <a:t>S</a:t>
                      </a:r>
                      <a:r>
                        <a:rPr sz="2400" b="1" spc="-5" dirty="0">
                          <a:solidFill>
                            <a:srgbClr val="FFFFFF"/>
                          </a:solidFill>
                          <a:latin typeface="微软雅黑"/>
                          <a:cs typeface="微软雅黑"/>
                        </a:rPr>
                        <a:t>t</a:t>
                      </a:r>
                      <a:r>
                        <a:rPr sz="2400" b="1" spc="5" dirty="0">
                          <a:solidFill>
                            <a:srgbClr val="FFFFFF"/>
                          </a:solidFill>
                          <a:latin typeface="微软雅黑"/>
                          <a:cs typeface="微软雅黑"/>
                        </a:rPr>
                        <a:t>a</a:t>
                      </a:r>
                      <a:r>
                        <a:rPr sz="2400" b="1" spc="70" dirty="0">
                          <a:solidFill>
                            <a:srgbClr val="FFFFFF"/>
                          </a:solidFill>
                          <a:latin typeface="微软雅黑"/>
                          <a:cs typeface="微软雅黑"/>
                        </a:rPr>
                        <a:t>r</a:t>
                      </a:r>
                      <a:r>
                        <a:rPr sz="2400" b="1" dirty="0">
                          <a:solidFill>
                            <a:srgbClr val="FFFFFF"/>
                          </a:solidFill>
                          <a:latin typeface="微软雅黑"/>
                          <a:cs typeface="微软雅黑"/>
                        </a:rPr>
                        <a:t>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58012">
                <a:tc>
                  <a:txBody>
                    <a:bodyPr/>
                    <a:lstStyle/>
                    <a:p>
                      <a:pPr marL="7112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4070985">
                        <a:lnSpc>
                          <a:spcPct val="100000"/>
                        </a:lnSpc>
                      </a:pPr>
                      <a:r>
                        <a:rPr sz="2400" b="1" spc="-5" dirty="0">
                          <a:latin typeface="微软雅黑"/>
                          <a:cs typeface="微软雅黑"/>
                        </a:rPr>
                        <a:t>HAL_</a:t>
                      </a:r>
                      <a:r>
                        <a:rPr sz="2400" b="1" spc="-70" dirty="0">
                          <a:latin typeface="微软雅黑"/>
                          <a:cs typeface="微软雅黑"/>
                        </a:rPr>
                        <a:t>S</a:t>
                      </a:r>
                      <a:r>
                        <a:rPr sz="2400" b="1" spc="-5" dirty="0">
                          <a:latin typeface="微软雅黑"/>
                          <a:cs typeface="微软雅黑"/>
                        </a:rPr>
                        <a:t>t</a:t>
                      </a:r>
                      <a:r>
                        <a:rPr sz="2400" b="1" spc="10"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14" dirty="0">
                          <a:latin typeface="微软雅黑"/>
                          <a:cs typeface="微软雅黑"/>
                        </a:rPr>
                        <a:t>T</a:t>
                      </a:r>
                      <a:r>
                        <a:rPr sz="2400" b="1" spc="-5" dirty="0">
                          <a:latin typeface="微软雅黑"/>
                          <a:cs typeface="微软雅黑"/>
                        </a:rPr>
                        <a:t>ypeDe</a:t>
                      </a:r>
                      <a:r>
                        <a:rPr sz="2400" b="1" dirty="0">
                          <a:latin typeface="微软雅黑"/>
                          <a:cs typeface="微软雅黑"/>
                        </a:rPr>
                        <a:t>f</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L_TIM_Ba</a:t>
                      </a:r>
                      <a:r>
                        <a:rPr sz="2400" b="1" spc="5" dirty="0">
                          <a:latin typeface="微软雅黑"/>
                          <a:cs typeface="微软雅黑"/>
                        </a:rPr>
                        <a:t>s</a:t>
                      </a:r>
                      <a:r>
                        <a:rPr sz="2400" b="1" dirty="0">
                          <a:latin typeface="微软雅黑"/>
                          <a:cs typeface="微软雅黑"/>
                        </a:rPr>
                        <a:t>e_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70" dirty="0">
                          <a:latin typeface="微软雅黑"/>
                          <a:cs typeface="微软雅黑"/>
                        </a:rPr>
                        <a:t>r</a:t>
                      </a:r>
                      <a:r>
                        <a:rPr sz="2400" b="1" dirty="0">
                          <a:latin typeface="微软雅黑"/>
                          <a:cs typeface="微软雅黑"/>
                        </a:rPr>
                        <a:t>t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Ha</a:t>
                      </a:r>
                      <a:r>
                        <a:rPr sz="2400" b="1" spc="5" dirty="0">
                          <a:latin typeface="微软雅黑"/>
                          <a:cs typeface="微软雅黑"/>
                        </a:rPr>
                        <a:t>n</a:t>
                      </a:r>
                      <a:r>
                        <a:rPr sz="2400" b="1" dirty="0">
                          <a:latin typeface="微软雅黑"/>
                          <a:cs typeface="微软雅黑"/>
                        </a:rPr>
                        <a:t>dl</a:t>
                      </a:r>
                      <a:r>
                        <a:rPr sz="2400" b="1" spc="-10" dirty="0">
                          <a:latin typeface="微软雅黑"/>
                          <a:cs typeface="微软雅黑"/>
                        </a:rPr>
                        <a:t>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21715">
                <a:tc>
                  <a:txBody>
                    <a:bodyPr/>
                    <a:lstStyle/>
                    <a:p>
                      <a:pPr marL="7112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在轮询方式</a:t>
                      </a:r>
                      <a:r>
                        <a:rPr sz="2400" b="1" spc="-10" dirty="0">
                          <a:latin typeface="微软雅黑"/>
                          <a:cs typeface="微软雅黑"/>
                        </a:rPr>
                        <a:t>下</a:t>
                      </a:r>
                      <a:r>
                        <a:rPr sz="2400" b="1" dirty="0">
                          <a:latin typeface="微软雅黑"/>
                          <a:cs typeface="微软雅黑"/>
                        </a:rPr>
                        <a:t>启动定时器运行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21715">
                <a:tc>
                  <a:txBody>
                    <a:bodyPr/>
                    <a:lstStyle/>
                    <a:p>
                      <a:pPr marL="7112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21716">
                <a:tc>
                  <a:txBody>
                    <a:bodyPr/>
                    <a:lstStyle/>
                    <a:p>
                      <a:pPr marL="22352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spc="-5" dirty="0">
                          <a:latin typeface="微软雅黑"/>
                          <a:cs typeface="微软雅黑"/>
                        </a:rPr>
                        <a:t>HA</a:t>
                      </a:r>
                      <a:r>
                        <a:rPr sz="2400" b="1" spc="-10" dirty="0">
                          <a:latin typeface="微软雅黑"/>
                          <a:cs typeface="微软雅黑"/>
                        </a:rPr>
                        <a:t>L</a:t>
                      </a:r>
                      <a:r>
                        <a:rPr sz="2400" b="1" dirty="0">
                          <a:latin typeface="微软雅黑"/>
                          <a:cs typeface="微软雅黑"/>
                        </a:rPr>
                        <a:t>状态值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565186">
                <a:tc>
                  <a:txBody>
                    <a:bodyPr/>
                    <a:lstStyle/>
                    <a:p>
                      <a:pPr marL="7112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该函数在定时器初始化完成之后调用</a:t>
                      </a:r>
                      <a:endParaRPr sz="2400">
                        <a:latin typeface="微软雅黑"/>
                        <a:cs typeface="微软雅黑"/>
                      </a:endParaRPr>
                    </a:p>
                    <a:p>
                      <a:pPr marL="53975">
                        <a:lnSpc>
                          <a:spcPct val="100000"/>
                        </a:lnSpc>
                        <a:spcBef>
                          <a:spcPts val="325"/>
                        </a:spcBef>
                      </a:pPr>
                      <a:r>
                        <a:rPr sz="2400" b="1" spc="-5" dirty="0">
                          <a:latin typeface="微软雅黑"/>
                          <a:cs typeface="微软雅黑"/>
                        </a:rPr>
                        <a:t>2</a:t>
                      </a:r>
                      <a:r>
                        <a:rPr sz="2400" b="1" dirty="0">
                          <a:latin typeface="微软雅黑"/>
                          <a:cs typeface="微软雅黑"/>
                        </a:rPr>
                        <a:t>. 函数需要由用户调用，用于轮询方式下启动定时器运行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742525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a:spLocks noGrp="1"/>
          </p:cNvSpPr>
          <p:nvPr>
            <p:ph type="title"/>
          </p:nvPr>
        </p:nvSpPr>
        <p:spPr>
          <a:xfrm>
            <a:off x="0" y="643881"/>
            <a:ext cx="10515600" cy="1325563"/>
          </a:xfrm>
          <a:prstGeom prst="rect">
            <a:avLst/>
          </a:prstGeom>
        </p:spPr>
        <p:txBody>
          <a:bodyPr vert="horz" wrap="square" lIns="0" tIns="0" rIns="0" bIns="0" rtlCol="0">
            <a:spAutoFit/>
          </a:bodyPr>
          <a:lstStyle/>
          <a:p>
            <a:pPr marL="12700">
              <a:lnSpc>
                <a:spcPct val="100000"/>
              </a:lnSpc>
            </a:pPr>
            <a:r>
              <a:rPr sz="2400" dirty="0">
                <a:solidFill>
                  <a:srgbClr val="FFFFFF"/>
                </a:solidFill>
              </a:rPr>
              <a:t>中断模式启动</a:t>
            </a:r>
            <a:endParaRPr sz="2400" dirty="0"/>
          </a:p>
        </p:txBody>
      </p:sp>
      <p:sp>
        <p:nvSpPr>
          <p:cNvPr id="12" name="object 12"/>
          <p:cNvSpPr txBox="1"/>
          <p:nvPr/>
        </p:nvSpPr>
        <p:spPr>
          <a:xfrm>
            <a:off x="3276346" y="1177854"/>
            <a:ext cx="7783830"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3	中断模式启动函数：</a:t>
            </a:r>
            <a:r>
              <a:rPr sz="2800" b="1" spc="-10" dirty="0">
                <a:latin typeface="微软雅黑"/>
                <a:cs typeface="微软雅黑"/>
              </a:rPr>
              <a:t>HA</a:t>
            </a:r>
            <a:r>
              <a:rPr sz="2800" b="1" spc="-15" dirty="0">
                <a:latin typeface="微软雅黑"/>
                <a:cs typeface="微软雅黑"/>
              </a:rPr>
              <a:t>L</a:t>
            </a:r>
            <a:r>
              <a:rPr sz="2800" b="1" spc="-10" dirty="0">
                <a:latin typeface="微软雅黑"/>
                <a:cs typeface="微软雅黑"/>
              </a:rPr>
              <a:t>_TIM_Base_</a:t>
            </a:r>
            <a:r>
              <a:rPr sz="2800" b="1" spc="-65" dirty="0">
                <a:latin typeface="微软雅黑"/>
                <a:cs typeface="微软雅黑"/>
              </a:rPr>
              <a:t>S</a:t>
            </a:r>
            <a:r>
              <a:rPr sz="2800" b="1" spc="-10" dirty="0">
                <a:latin typeface="微软雅黑"/>
                <a:cs typeface="微软雅黑"/>
              </a:rPr>
              <a:t>ta</a:t>
            </a:r>
            <a:r>
              <a:rPr sz="2800" b="1" spc="75" dirty="0">
                <a:latin typeface="微软雅黑"/>
                <a:cs typeface="微软雅黑"/>
              </a:rPr>
              <a:t>r</a:t>
            </a:r>
            <a:r>
              <a:rPr sz="2800" b="1" spc="-10" dirty="0">
                <a:latin typeface="微软雅黑"/>
                <a:cs typeface="微软雅黑"/>
              </a:rPr>
              <a:t>t_IT</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4" name="object 14"/>
          <p:cNvGraphicFramePr>
            <a:graphicFrameLocks noGrp="1"/>
          </p:cNvGraphicFramePr>
          <p:nvPr/>
        </p:nvGraphicFramePr>
        <p:xfrm>
          <a:off x="197650" y="1770951"/>
          <a:ext cx="11770892" cy="4656051"/>
        </p:xfrm>
        <a:graphic>
          <a:graphicData uri="http://schemas.openxmlformats.org/drawingml/2006/table">
            <a:tbl>
              <a:tblPr firstRow="1" bandRow="1">
                <a:tableStyleId>{2D5ABB26-0587-4C30-8999-92F81FD0307C}</a:tableStyleId>
              </a:tblPr>
              <a:tblGrid>
                <a:gridCol w="1390548">
                  <a:extLst>
                    <a:ext uri="{9D8B030D-6E8A-4147-A177-3AD203B41FA5}">
                      <a16:colId xmlns:a16="http://schemas.microsoft.com/office/drawing/2014/main" val="20000"/>
                    </a:ext>
                  </a:extLst>
                </a:gridCol>
                <a:gridCol w="10380344">
                  <a:extLst>
                    <a:ext uri="{9D8B030D-6E8A-4147-A177-3AD203B41FA5}">
                      <a16:colId xmlns:a16="http://schemas.microsoft.com/office/drawing/2014/main" val="20001"/>
                    </a:ext>
                  </a:extLst>
                </a:gridCol>
              </a:tblGrid>
              <a:tr h="536828">
                <a:tc gridSpan="2">
                  <a:txBody>
                    <a:bodyPr/>
                    <a:lstStyle/>
                    <a:p>
                      <a:pPr marL="3334385">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L_TIM_Ba</a:t>
                      </a:r>
                      <a:r>
                        <a:rPr sz="2400" b="1" spc="5" dirty="0">
                          <a:solidFill>
                            <a:srgbClr val="FFFFFF"/>
                          </a:solidFill>
                          <a:latin typeface="微软雅黑"/>
                          <a:cs typeface="微软雅黑"/>
                        </a:rPr>
                        <a:t>s</a:t>
                      </a:r>
                      <a:r>
                        <a:rPr sz="2400" b="1" dirty="0">
                          <a:solidFill>
                            <a:srgbClr val="FFFFFF"/>
                          </a:solidFill>
                          <a:latin typeface="微软雅黑"/>
                          <a:cs typeface="微软雅黑"/>
                        </a:rPr>
                        <a:t>e_</a:t>
                      </a:r>
                      <a:r>
                        <a:rPr sz="2400" b="1" spc="-80" dirty="0">
                          <a:solidFill>
                            <a:srgbClr val="FFFFFF"/>
                          </a:solidFill>
                          <a:latin typeface="微软雅黑"/>
                          <a:cs typeface="微软雅黑"/>
                        </a:rPr>
                        <a:t>S</a:t>
                      </a:r>
                      <a:r>
                        <a:rPr sz="2400" b="1" spc="-5" dirty="0">
                          <a:solidFill>
                            <a:srgbClr val="FFFFFF"/>
                          </a:solidFill>
                          <a:latin typeface="微软雅黑"/>
                          <a:cs typeface="微软雅黑"/>
                        </a:rPr>
                        <a:t>t</a:t>
                      </a:r>
                      <a:r>
                        <a:rPr sz="2400" b="1" spc="5" dirty="0">
                          <a:solidFill>
                            <a:srgbClr val="FFFFFF"/>
                          </a:solidFill>
                          <a:latin typeface="微软雅黑"/>
                          <a:cs typeface="微软雅黑"/>
                        </a:rPr>
                        <a:t>a</a:t>
                      </a:r>
                      <a:r>
                        <a:rPr sz="2400" b="1" spc="70" dirty="0">
                          <a:solidFill>
                            <a:srgbClr val="FFFFFF"/>
                          </a:solidFill>
                          <a:latin typeface="微软雅黑"/>
                          <a:cs typeface="微软雅黑"/>
                        </a:rPr>
                        <a:t>r</a:t>
                      </a:r>
                      <a:r>
                        <a:rPr sz="2400" b="1" spc="-5" dirty="0">
                          <a:solidFill>
                            <a:srgbClr val="FFFFFF"/>
                          </a:solidFill>
                          <a:latin typeface="微软雅黑"/>
                          <a:cs typeface="微软雅黑"/>
                        </a:rPr>
                        <a:t>t</a:t>
                      </a:r>
                      <a:r>
                        <a:rPr sz="2400" b="1" dirty="0">
                          <a:solidFill>
                            <a:srgbClr val="FFFFFF"/>
                          </a:solidFill>
                          <a:latin typeface="微软雅黑"/>
                          <a:cs typeface="微软雅黑"/>
                        </a:rPr>
                        <a:t>_</a:t>
                      </a:r>
                      <a:r>
                        <a:rPr sz="2400" b="1" spc="-5" dirty="0">
                          <a:solidFill>
                            <a:srgbClr val="FFFFFF"/>
                          </a:solidFill>
                          <a:latin typeface="微软雅黑"/>
                          <a:cs typeface="微软雅黑"/>
                        </a:rPr>
                        <a:t>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82904">
                <a:tc>
                  <a:txBody>
                    <a:bodyPr/>
                    <a:lstStyle/>
                    <a:p>
                      <a:pPr marL="7112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3641090">
                        <a:lnSpc>
                          <a:spcPct val="100000"/>
                        </a:lnSpc>
                      </a:pPr>
                      <a:r>
                        <a:rPr sz="2400" b="1" spc="-5" dirty="0">
                          <a:latin typeface="微软雅黑"/>
                          <a:cs typeface="微软雅黑"/>
                        </a:rPr>
                        <a:t>HAL_</a:t>
                      </a:r>
                      <a:r>
                        <a:rPr sz="2400" b="1" spc="-70" dirty="0">
                          <a:latin typeface="微软雅黑"/>
                          <a:cs typeface="微软雅黑"/>
                        </a:rPr>
                        <a:t>S</a:t>
                      </a:r>
                      <a:r>
                        <a:rPr sz="2400" b="1" spc="-5" dirty="0">
                          <a:latin typeface="微软雅黑"/>
                          <a:cs typeface="微软雅黑"/>
                        </a:rPr>
                        <a:t>t</a:t>
                      </a:r>
                      <a:r>
                        <a:rPr sz="2400" b="1" spc="10"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14" dirty="0">
                          <a:latin typeface="微软雅黑"/>
                          <a:cs typeface="微软雅黑"/>
                        </a:rPr>
                        <a:t>T</a:t>
                      </a:r>
                      <a:r>
                        <a:rPr sz="2400" b="1" spc="-5" dirty="0">
                          <a:latin typeface="微软雅黑"/>
                          <a:cs typeface="微软雅黑"/>
                        </a:rPr>
                        <a:t>ypeDe</a:t>
                      </a:r>
                      <a:r>
                        <a:rPr sz="2400" b="1" dirty="0">
                          <a:latin typeface="微软雅黑"/>
                          <a:cs typeface="微软雅黑"/>
                        </a:rPr>
                        <a:t>f</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L_TIM_Ba</a:t>
                      </a:r>
                      <a:r>
                        <a:rPr sz="2400" b="1" spc="5" dirty="0">
                          <a:latin typeface="微软雅黑"/>
                          <a:cs typeface="微软雅黑"/>
                        </a:rPr>
                        <a:t>s</a:t>
                      </a:r>
                      <a:r>
                        <a:rPr sz="2400" b="1" dirty="0">
                          <a:latin typeface="微软雅黑"/>
                          <a:cs typeface="微软雅黑"/>
                        </a:rPr>
                        <a:t>e_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_</a:t>
                      </a:r>
                      <a:r>
                        <a:rPr sz="2400" b="1" spc="-5" dirty="0">
                          <a:latin typeface="微软雅黑"/>
                          <a:cs typeface="微软雅黑"/>
                        </a:rPr>
                        <a:t>IT </a:t>
                      </a:r>
                      <a:r>
                        <a:rPr sz="2400" b="1" dirty="0">
                          <a:latin typeface="微软雅黑"/>
                          <a:cs typeface="微软雅黑"/>
                        </a:rPr>
                        <a:t>(</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Ha</a:t>
                      </a:r>
                      <a:r>
                        <a:rPr sz="2400" b="1" spc="5" dirty="0">
                          <a:latin typeface="微软雅黑"/>
                          <a:cs typeface="微软雅黑"/>
                        </a:rPr>
                        <a:t>n</a:t>
                      </a:r>
                      <a:r>
                        <a:rPr sz="2400" b="1" dirty="0">
                          <a:latin typeface="微软雅黑"/>
                          <a:cs typeface="微软雅黑"/>
                        </a:rPr>
                        <a:t>dl</a:t>
                      </a:r>
                      <a:r>
                        <a:rPr sz="2400" b="1" spc="-10" dirty="0">
                          <a:latin typeface="微软雅黑"/>
                          <a:cs typeface="微软雅黑"/>
                        </a:rPr>
                        <a:t>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36828">
                <a:tc>
                  <a:txBody>
                    <a:bodyPr/>
                    <a:lstStyle/>
                    <a:p>
                      <a:pPr marL="71120">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使能定时器的更新中断，并启动定时器运行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36829">
                <a:tc>
                  <a:txBody>
                    <a:bodyPr/>
                    <a:lstStyle/>
                    <a:p>
                      <a:pPr marL="7112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36828">
                <a:tc>
                  <a:txBody>
                    <a:bodyPr/>
                    <a:lstStyle/>
                    <a:p>
                      <a:pPr marL="22352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spc="-5" dirty="0">
                          <a:latin typeface="微软雅黑"/>
                          <a:cs typeface="微软雅黑"/>
                        </a:rPr>
                        <a:t>HA</a:t>
                      </a:r>
                      <a:r>
                        <a:rPr sz="2400" b="1" spc="-10" dirty="0">
                          <a:latin typeface="微软雅黑"/>
                          <a:cs typeface="微软雅黑"/>
                        </a:rPr>
                        <a:t>L</a:t>
                      </a:r>
                      <a:r>
                        <a:rPr sz="2400" b="1" dirty="0">
                          <a:latin typeface="微软雅黑"/>
                          <a:cs typeface="微软雅黑"/>
                        </a:rPr>
                        <a:t>状态值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625834">
                <a:tc>
                  <a:txBody>
                    <a:bodyPr/>
                    <a:lstStyle/>
                    <a:p>
                      <a:pPr marL="7112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该函数在定时器初始化完成之后调用</a:t>
                      </a:r>
                      <a:endParaRPr sz="2400">
                        <a:latin typeface="微软雅黑"/>
                        <a:cs typeface="微软雅黑"/>
                      </a:endParaRPr>
                    </a:p>
                    <a:p>
                      <a:pPr marL="53975">
                        <a:lnSpc>
                          <a:spcPct val="100000"/>
                        </a:lnSpc>
                        <a:spcBef>
                          <a:spcPts val="325"/>
                        </a:spcBef>
                      </a:pPr>
                      <a:r>
                        <a:rPr sz="2400" b="1" spc="-5" dirty="0">
                          <a:latin typeface="微软雅黑"/>
                          <a:cs typeface="微软雅黑"/>
                        </a:rPr>
                        <a:t>2</a:t>
                      </a:r>
                      <a:r>
                        <a:rPr sz="2400" b="1" dirty="0">
                          <a:latin typeface="微软雅黑"/>
                          <a:cs typeface="微软雅黑"/>
                        </a:rPr>
                        <a:t>. 函数需要由用户调用，用于使能定时器的更新中</a:t>
                      </a:r>
                      <a:r>
                        <a:rPr sz="2400" b="1" spc="5" dirty="0">
                          <a:latin typeface="微软雅黑"/>
                          <a:cs typeface="微软雅黑"/>
                        </a:rPr>
                        <a:t>断</a:t>
                      </a:r>
                      <a:r>
                        <a:rPr sz="2400" b="1" dirty="0">
                          <a:latin typeface="微软雅黑"/>
                          <a:cs typeface="微软雅黑"/>
                        </a:rPr>
                        <a:t>，并启动定时器运行</a:t>
                      </a:r>
                      <a:endParaRPr sz="2400">
                        <a:latin typeface="微软雅黑"/>
                        <a:cs typeface="微软雅黑"/>
                      </a:endParaRPr>
                    </a:p>
                    <a:p>
                      <a:pPr marL="53975">
                        <a:lnSpc>
                          <a:spcPct val="100000"/>
                        </a:lnSpc>
                        <a:spcBef>
                          <a:spcPts val="310"/>
                        </a:spcBef>
                        <a:tabLst>
                          <a:tab pos="3742690" algn="l"/>
                        </a:tabLst>
                      </a:pPr>
                      <a:r>
                        <a:rPr sz="2400" b="1" spc="-5" dirty="0">
                          <a:latin typeface="微软雅黑"/>
                          <a:cs typeface="微软雅黑"/>
                        </a:rPr>
                        <a:t>3</a:t>
                      </a:r>
                      <a:r>
                        <a:rPr sz="2400" b="1" dirty="0">
                          <a:latin typeface="微软雅黑"/>
                          <a:cs typeface="微软雅黑"/>
                        </a:rPr>
                        <a:t>. 启动前需要调用宏函数</a:t>
                      </a:r>
                      <a:r>
                        <a:rPr sz="2400" u="heavy" dirty="0">
                          <a:latin typeface="Times New Roman"/>
                          <a:cs typeface="Times New Roman"/>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CL</a:t>
                      </a:r>
                      <a:r>
                        <a:rPr sz="2400" b="1" spc="30" dirty="0">
                          <a:latin typeface="微软雅黑"/>
                          <a:cs typeface="微软雅黑"/>
                        </a:rPr>
                        <a:t>E</a:t>
                      </a:r>
                      <a:r>
                        <a:rPr sz="2400" b="1" dirty="0">
                          <a:latin typeface="微软雅黑"/>
                          <a:cs typeface="微软雅黑"/>
                        </a:rPr>
                        <a:t>AR_I</a:t>
                      </a:r>
                      <a:r>
                        <a:rPr sz="2400" b="1" spc="10" dirty="0">
                          <a:latin typeface="微软雅黑"/>
                          <a:cs typeface="微软雅黑"/>
                        </a:rPr>
                        <a:t>T</a:t>
                      </a:r>
                      <a:r>
                        <a:rPr sz="2400" b="1" dirty="0">
                          <a:latin typeface="微软雅黑"/>
                          <a:cs typeface="微软雅黑"/>
                        </a:rPr>
                        <a:t>来清除更新中断标志</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243858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a:spLocks noGrp="1"/>
          </p:cNvSpPr>
          <p:nvPr>
            <p:ph type="title"/>
          </p:nvPr>
        </p:nvSpPr>
        <p:spPr>
          <a:xfrm>
            <a:off x="0" y="601325"/>
            <a:ext cx="10515600" cy="1325563"/>
          </a:xfrm>
          <a:prstGeom prst="rect">
            <a:avLst/>
          </a:prstGeom>
        </p:spPr>
        <p:txBody>
          <a:bodyPr vert="horz" wrap="square" lIns="0" tIns="0" rIns="0" bIns="0" rtlCol="0">
            <a:spAutoFit/>
          </a:bodyPr>
          <a:lstStyle/>
          <a:p>
            <a:pPr marL="12700">
              <a:lnSpc>
                <a:spcPct val="100000"/>
              </a:lnSpc>
            </a:pPr>
            <a:r>
              <a:rPr sz="2400" dirty="0">
                <a:solidFill>
                  <a:srgbClr val="FFFFFF"/>
                </a:solidFill>
              </a:rPr>
              <a:t>通用处理函数</a:t>
            </a:r>
            <a:endParaRPr sz="2400" dirty="0"/>
          </a:p>
        </p:txBody>
      </p:sp>
      <p:sp>
        <p:nvSpPr>
          <p:cNvPr id="12" name="object 12"/>
          <p:cNvSpPr txBox="1"/>
          <p:nvPr/>
        </p:nvSpPr>
        <p:spPr>
          <a:xfrm>
            <a:off x="2937510" y="1177854"/>
            <a:ext cx="8220075" cy="381000"/>
          </a:xfrm>
          <a:prstGeom prst="rect">
            <a:avLst/>
          </a:prstGeom>
        </p:spPr>
        <p:txBody>
          <a:bodyPr vert="horz" wrap="square" lIns="0" tIns="0" rIns="0" bIns="0" rtlCol="0">
            <a:spAutoFit/>
          </a:bodyPr>
          <a:lstStyle/>
          <a:p>
            <a:pPr marL="12700">
              <a:lnSpc>
                <a:spcPct val="100000"/>
              </a:lnSpc>
              <a:tabLst>
                <a:tab pos="443865" algn="l"/>
              </a:tabLst>
            </a:pPr>
            <a:r>
              <a:rPr sz="2800" b="1" spc="-5" dirty="0">
                <a:latin typeface="微软雅黑"/>
                <a:cs typeface="微软雅黑"/>
              </a:rPr>
              <a:t>4	定时器中断通用处理函数</a:t>
            </a:r>
            <a:r>
              <a:rPr sz="2800" b="1" spc="-10" dirty="0">
                <a:latin typeface="微软雅黑"/>
                <a:cs typeface="微软雅黑"/>
              </a:rPr>
              <a:t>HAL_TIM_I</a:t>
            </a:r>
            <a:r>
              <a:rPr sz="2800" b="1" spc="-40" dirty="0">
                <a:latin typeface="微软雅黑"/>
                <a:cs typeface="微软雅黑"/>
              </a:rPr>
              <a:t>R</a:t>
            </a:r>
            <a:r>
              <a:rPr sz="2800" b="1" spc="-10" dirty="0">
                <a:latin typeface="微软雅黑"/>
                <a:cs typeface="微软雅黑"/>
              </a:rPr>
              <a:t>QHandl</a:t>
            </a:r>
            <a:r>
              <a:rPr sz="2800" b="1" spc="5" dirty="0">
                <a:latin typeface="微软雅黑"/>
                <a:cs typeface="微软雅黑"/>
              </a:rPr>
              <a:t>e</a:t>
            </a:r>
            <a:r>
              <a:rPr sz="2800" b="1" spc="-5" dirty="0">
                <a:latin typeface="微软雅黑"/>
                <a:cs typeface="微软雅黑"/>
              </a:rPr>
              <a:t>r</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4" name="object 14"/>
          <p:cNvGraphicFramePr>
            <a:graphicFrameLocks noGrp="1"/>
          </p:cNvGraphicFramePr>
          <p:nvPr/>
        </p:nvGraphicFramePr>
        <p:xfrm>
          <a:off x="197650" y="1770951"/>
          <a:ext cx="11770892" cy="4656051"/>
        </p:xfrm>
        <a:graphic>
          <a:graphicData uri="http://schemas.openxmlformats.org/drawingml/2006/table">
            <a:tbl>
              <a:tblPr firstRow="1" bandRow="1">
                <a:tableStyleId>{2D5ABB26-0587-4C30-8999-92F81FD0307C}</a:tableStyleId>
              </a:tblPr>
              <a:tblGrid>
                <a:gridCol w="1390548">
                  <a:extLst>
                    <a:ext uri="{9D8B030D-6E8A-4147-A177-3AD203B41FA5}">
                      <a16:colId xmlns:a16="http://schemas.microsoft.com/office/drawing/2014/main" val="20000"/>
                    </a:ext>
                  </a:extLst>
                </a:gridCol>
                <a:gridCol w="10380344">
                  <a:extLst>
                    <a:ext uri="{9D8B030D-6E8A-4147-A177-3AD203B41FA5}">
                      <a16:colId xmlns:a16="http://schemas.microsoft.com/office/drawing/2014/main" val="20001"/>
                    </a:ext>
                  </a:extLst>
                </a:gridCol>
              </a:tblGrid>
              <a:tr h="536828">
                <a:tc gridSpan="2">
                  <a:txBody>
                    <a:bodyPr/>
                    <a:lstStyle/>
                    <a:p>
                      <a:pPr marL="3453129">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5" dirty="0">
                          <a:solidFill>
                            <a:srgbClr val="FFFFFF"/>
                          </a:solidFill>
                          <a:latin typeface="微软雅黑"/>
                          <a:cs typeface="微软雅黑"/>
                        </a:rPr>
                        <a:t>I</a:t>
                      </a:r>
                      <a:r>
                        <a:rPr sz="2400" b="1" spc="-20" dirty="0">
                          <a:solidFill>
                            <a:srgbClr val="FFFFFF"/>
                          </a:solidFill>
                          <a:latin typeface="微软雅黑"/>
                          <a:cs typeface="微软雅黑"/>
                        </a:rPr>
                        <a:t>R</a:t>
                      </a:r>
                      <a:r>
                        <a:rPr sz="2400" b="1" spc="-5" dirty="0">
                          <a:solidFill>
                            <a:srgbClr val="FFFFFF"/>
                          </a:solidFill>
                          <a:latin typeface="微软雅黑"/>
                          <a:cs typeface="微软雅黑"/>
                        </a:rPr>
                        <a:t>QH</a:t>
                      </a:r>
                      <a:r>
                        <a:rPr sz="2400" b="1" spc="5" dirty="0">
                          <a:solidFill>
                            <a:srgbClr val="FFFFFF"/>
                          </a:solidFill>
                          <a:latin typeface="微软雅黑"/>
                          <a:cs typeface="微软雅黑"/>
                        </a:rPr>
                        <a:t>a</a:t>
                      </a:r>
                      <a:r>
                        <a:rPr sz="2400" b="1" dirty="0">
                          <a:solidFill>
                            <a:srgbClr val="FFFFFF"/>
                          </a:solidFill>
                          <a:latin typeface="微软雅黑"/>
                          <a:cs typeface="微软雅黑"/>
                        </a:rPr>
                        <a:t>ndler</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82904">
                <a:tc>
                  <a:txBody>
                    <a:bodyPr/>
                    <a:lstStyle/>
                    <a:p>
                      <a:pPr marL="7112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30" dirty="0">
                          <a:latin typeface="微软雅黑"/>
                          <a:cs typeface="微软雅黑"/>
                        </a:rPr>
                        <a:t>v</a:t>
                      </a:r>
                      <a:r>
                        <a:rPr sz="2400" b="1" spc="-5" dirty="0">
                          <a:latin typeface="微软雅黑"/>
                          <a:cs typeface="微软雅黑"/>
                        </a:rPr>
                        <a:t>oi</a:t>
                      </a:r>
                      <a:r>
                        <a:rPr sz="2400" b="1" dirty="0">
                          <a:latin typeface="微软雅黑"/>
                          <a:cs typeface="微软雅黑"/>
                        </a:rPr>
                        <a:t>d</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a:t>
                      </a:r>
                      <a:r>
                        <a:rPr sz="2400" b="1" spc="-20" dirty="0">
                          <a:latin typeface="微软雅黑"/>
                          <a:cs typeface="微软雅黑"/>
                        </a:rPr>
                        <a:t>R</a:t>
                      </a:r>
                      <a:r>
                        <a:rPr sz="2400" b="1" spc="-5" dirty="0">
                          <a:latin typeface="微软雅黑"/>
                          <a:cs typeface="微软雅黑"/>
                        </a:rPr>
                        <a:t>QH</a:t>
                      </a:r>
                      <a:r>
                        <a:rPr sz="2400" b="1" spc="5" dirty="0">
                          <a:latin typeface="微软雅黑"/>
                          <a:cs typeface="微软雅黑"/>
                        </a:rPr>
                        <a:t>a</a:t>
                      </a:r>
                      <a:r>
                        <a:rPr sz="2400" b="1" dirty="0">
                          <a:latin typeface="微软雅黑"/>
                          <a:cs typeface="微软雅黑"/>
                        </a:rPr>
                        <a:t>ndle</a:t>
                      </a:r>
                      <a:r>
                        <a:rPr sz="2400" b="1" spc="5" dirty="0">
                          <a:latin typeface="微软雅黑"/>
                          <a:cs typeface="微软雅黑"/>
                        </a:rPr>
                        <a:t>r</a:t>
                      </a:r>
                      <a:r>
                        <a:rPr sz="2400" b="1" dirty="0">
                          <a:latin typeface="微软雅黑"/>
                          <a:cs typeface="微软雅黑"/>
                        </a:rPr>
                        <a:t>(</a:t>
                      </a:r>
                      <a:r>
                        <a:rPr sz="2400" b="1" spc="-5" dirty="0">
                          <a:latin typeface="微软雅黑"/>
                          <a:cs typeface="微软雅黑"/>
                        </a:rPr>
                        <a:t>TI</a:t>
                      </a:r>
                      <a:r>
                        <a:rPr sz="2400" b="1" spc="-10" dirty="0">
                          <a:latin typeface="微软雅黑"/>
                          <a:cs typeface="微软雅黑"/>
                        </a:rPr>
                        <a:t>M</a:t>
                      </a:r>
                      <a:r>
                        <a:rPr sz="2400" b="1" spc="-5" dirty="0">
                          <a:latin typeface="微软雅黑"/>
                          <a:cs typeface="微软雅黑"/>
                        </a:rPr>
                        <a:t>_Handle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36828">
                <a:tc>
                  <a:txBody>
                    <a:bodyPr/>
                    <a:lstStyle/>
                    <a:p>
                      <a:pPr marL="71120">
                        <a:lnSpc>
                          <a:spcPct val="100000"/>
                        </a:lnSpc>
                      </a:pPr>
                      <a:r>
                        <a:rPr sz="2400" b="1" spc="-5"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作为所有定时器中断发生后的通用处理函数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36829">
                <a:tc>
                  <a:txBody>
                    <a:bodyPr/>
                    <a:lstStyle/>
                    <a:p>
                      <a:pPr marL="7112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36828">
                <a:tc>
                  <a:txBody>
                    <a:bodyPr/>
                    <a:lstStyle/>
                    <a:p>
                      <a:pPr marL="22352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1625834">
                <a:tc>
                  <a:txBody>
                    <a:bodyPr/>
                    <a:lstStyle/>
                    <a:p>
                      <a:pPr marL="7112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511809" algn="l"/>
                        </a:tabLst>
                      </a:pP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函数内部先判断中断类型，并清除对应的中断标志，最后调用回调函数完</a:t>
                      </a:r>
                      <a:endParaRPr sz="2400">
                        <a:latin typeface="微软雅黑"/>
                        <a:cs typeface="微软雅黑"/>
                      </a:endParaRPr>
                    </a:p>
                    <a:p>
                      <a:pPr marL="507365">
                        <a:lnSpc>
                          <a:spcPct val="100000"/>
                        </a:lnSpc>
                        <a:spcBef>
                          <a:spcPts val="325"/>
                        </a:spcBef>
                      </a:pPr>
                      <a:r>
                        <a:rPr sz="2400" b="1" dirty="0">
                          <a:latin typeface="微软雅黑"/>
                          <a:cs typeface="微软雅黑"/>
                        </a:rPr>
                        <a:t>成中断处理</a:t>
                      </a:r>
                      <a:endParaRPr sz="2400">
                        <a:latin typeface="微软雅黑"/>
                        <a:cs typeface="微软雅黑"/>
                      </a:endParaRPr>
                    </a:p>
                    <a:p>
                      <a:pPr marL="53975">
                        <a:lnSpc>
                          <a:spcPct val="100000"/>
                        </a:lnSpc>
                        <a:spcBef>
                          <a:spcPts val="310"/>
                        </a:spcBef>
                        <a:tabLst>
                          <a:tab pos="509905" algn="l"/>
                        </a:tabLst>
                      </a:pPr>
                      <a:r>
                        <a:rPr sz="2400" b="1" dirty="0">
                          <a:latin typeface="微软雅黑"/>
                          <a:cs typeface="微软雅黑"/>
                        </a:rPr>
                        <a:t>2.	该函数由</a:t>
                      </a:r>
                      <a:r>
                        <a:rPr sz="2400" b="1" spc="-5" dirty="0">
                          <a:latin typeface="微软雅黑"/>
                          <a:cs typeface="微软雅黑"/>
                        </a:rPr>
                        <a:t>C</a:t>
                      </a:r>
                      <a:r>
                        <a:rPr sz="2400" b="1" spc="5" dirty="0">
                          <a:latin typeface="微软雅黑"/>
                          <a:cs typeface="微软雅黑"/>
                        </a:rPr>
                        <a:t>u</a:t>
                      </a:r>
                      <a:r>
                        <a:rPr sz="2400" b="1" dirty="0">
                          <a:latin typeface="微软雅黑"/>
                          <a:cs typeface="微软雅黑"/>
                        </a:rPr>
                        <a:t>b</a:t>
                      </a:r>
                      <a:r>
                        <a:rPr sz="2400" b="1" spc="-10" dirty="0">
                          <a:latin typeface="微软雅黑"/>
                          <a:cs typeface="微软雅黑"/>
                        </a:rPr>
                        <a:t>e</a:t>
                      </a:r>
                      <a:r>
                        <a:rPr sz="2400" b="1" spc="-5" dirty="0">
                          <a:latin typeface="微软雅黑"/>
                          <a:cs typeface="微软雅黑"/>
                        </a:rPr>
                        <a:t>M</a:t>
                      </a:r>
                      <a:r>
                        <a:rPr sz="2400" b="1" spc="5" dirty="0">
                          <a:latin typeface="微软雅黑"/>
                          <a:cs typeface="微软雅黑"/>
                        </a:rPr>
                        <a:t>X</a:t>
                      </a:r>
                      <a:r>
                        <a:rPr sz="2400" b="1" dirty="0">
                          <a:latin typeface="微软雅黑"/>
                          <a:cs typeface="微软雅黑"/>
                        </a:rPr>
                        <a:t>自动生成</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956377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0267" y="642431"/>
            <a:ext cx="10151745" cy="381000"/>
          </a:xfrm>
          <a:prstGeom prst="rect">
            <a:avLst/>
          </a:prstGeom>
        </p:spPr>
        <p:txBody>
          <a:bodyPr vert="horz" wrap="square" lIns="0" tIns="0" rIns="0" bIns="0" rtlCol="0">
            <a:spAutoFit/>
          </a:bodyPr>
          <a:lstStyle/>
          <a:p>
            <a:pPr marL="12700">
              <a:lnSpc>
                <a:spcPct val="100000"/>
              </a:lnSpc>
              <a:tabLst>
                <a:tab pos="443865" algn="l"/>
              </a:tabLst>
            </a:pPr>
            <a:r>
              <a:rPr spc="-5" dirty="0">
                <a:latin typeface="微软雅黑"/>
                <a:cs typeface="微软雅黑"/>
              </a:rPr>
              <a:t>5	</a:t>
            </a:r>
            <a:r>
              <a:rPr spc="-5" dirty="0"/>
              <a:t>定时器更新中断回调函</a:t>
            </a:r>
            <a:r>
              <a:rPr spc="-30" dirty="0"/>
              <a:t>数</a:t>
            </a:r>
            <a:r>
              <a:rPr spc="-10" dirty="0">
                <a:latin typeface="微软雅黑"/>
                <a:cs typeface="微软雅黑"/>
              </a:rPr>
              <a:t>HAL</a:t>
            </a:r>
            <a:r>
              <a:rPr spc="-15" dirty="0">
                <a:latin typeface="微软雅黑"/>
                <a:cs typeface="微软雅黑"/>
              </a:rPr>
              <a:t>_</a:t>
            </a:r>
            <a:r>
              <a:rPr spc="-5" dirty="0">
                <a:latin typeface="微软雅黑"/>
                <a:cs typeface="微软雅黑"/>
              </a:rPr>
              <a:t>TIM_</a:t>
            </a:r>
            <a:r>
              <a:rPr spc="-105" dirty="0">
                <a:latin typeface="微软雅黑"/>
                <a:cs typeface="微软雅黑"/>
              </a:rPr>
              <a:t>P</a:t>
            </a:r>
            <a:r>
              <a:rPr spc="-5" dirty="0">
                <a:latin typeface="微软雅黑"/>
                <a:cs typeface="微软雅黑"/>
              </a:rPr>
              <a:t>e</a:t>
            </a:r>
            <a:r>
              <a:rPr spc="0" dirty="0">
                <a:latin typeface="微软雅黑"/>
                <a:cs typeface="微软雅黑"/>
              </a:rPr>
              <a:t>r</a:t>
            </a:r>
            <a:r>
              <a:rPr spc="-5" dirty="0">
                <a:latin typeface="微软雅黑"/>
                <a:cs typeface="微软雅黑"/>
              </a:rPr>
              <a:t>iod</a:t>
            </a:r>
            <a:r>
              <a:rPr spc="-15" dirty="0">
                <a:latin typeface="微软雅黑"/>
                <a:cs typeface="微软雅黑"/>
              </a:rPr>
              <a:t>E</a:t>
            </a:r>
            <a:r>
              <a:rPr spc="-5" dirty="0">
                <a:latin typeface="微软雅黑"/>
                <a:cs typeface="微软雅黑"/>
              </a:rPr>
              <a:t>lapsedCall</a:t>
            </a:r>
            <a:r>
              <a:rPr spc="-45" dirty="0">
                <a:latin typeface="微软雅黑"/>
                <a:cs typeface="微软雅黑"/>
              </a:rPr>
              <a:t>b</a:t>
            </a:r>
            <a:r>
              <a:rPr spc="-5" dirty="0">
                <a:latin typeface="微软雅黑"/>
                <a:cs typeface="微软雅黑"/>
              </a:rPr>
              <a:t>ack</a:t>
            </a:r>
          </a:p>
        </p:txBody>
      </p:sp>
      <p:graphicFrame>
        <p:nvGraphicFramePr>
          <p:cNvPr id="3" name="object 3"/>
          <p:cNvGraphicFramePr>
            <a:graphicFrameLocks noGrp="1"/>
          </p:cNvGraphicFramePr>
          <p:nvPr/>
        </p:nvGraphicFramePr>
        <p:xfrm>
          <a:off x="169938" y="1315910"/>
          <a:ext cx="11770918" cy="5258686"/>
        </p:xfrm>
        <a:graphic>
          <a:graphicData uri="http://schemas.openxmlformats.org/drawingml/2006/table">
            <a:tbl>
              <a:tblPr firstRow="1" bandRow="1">
                <a:tableStyleId>{2D5ABB26-0587-4C30-8999-92F81FD0307C}</a:tableStyleId>
              </a:tblPr>
              <a:tblGrid>
                <a:gridCol w="1390573">
                  <a:extLst>
                    <a:ext uri="{9D8B030D-6E8A-4147-A177-3AD203B41FA5}">
                      <a16:colId xmlns:a16="http://schemas.microsoft.com/office/drawing/2014/main" val="20000"/>
                    </a:ext>
                  </a:extLst>
                </a:gridCol>
                <a:gridCol w="10380345">
                  <a:extLst>
                    <a:ext uri="{9D8B030D-6E8A-4147-A177-3AD203B41FA5}">
                      <a16:colId xmlns:a16="http://schemas.microsoft.com/office/drawing/2014/main" val="20001"/>
                    </a:ext>
                  </a:extLst>
                </a:gridCol>
              </a:tblGrid>
              <a:tr h="536828">
                <a:tc gridSpan="2">
                  <a:txBody>
                    <a:bodyPr/>
                    <a:lstStyle/>
                    <a:p>
                      <a:pPr marL="2625725">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90" dirty="0">
                          <a:solidFill>
                            <a:srgbClr val="FFFFFF"/>
                          </a:solidFill>
                          <a:latin typeface="微软雅黑"/>
                          <a:cs typeface="微软雅黑"/>
                        </a:rPr>
                        <a:t>P</a:t>
                      </a:r>
                      <a:r>
                        <a:rPr sz="2400" b="1" dirty="0">
                          <a:solidFill>
                            <a:srgbClr val="FFFFFF"/>
                          </a:solidFill>
                          <a:latin typeface="微软雅黑"/>
                          <a:cs typeface="微软雅黑"/>
                        </a:rPr>
                        <a:t>e</a:t>
                      </a:r>
                      <a:r>
                        <a:rPr sz="2400" b="1" spc="5" dirty="0">
                          <a:solidFill>
                            <a:srgbClr val="FFFFFF"/>
                          </a:solidFill>
                          <a:latin typeface="微软雅黑"/>
                          <a:cs typeface="微软雅黑"/>
                        </a:rPr>
                        <a:t>r</a:t>
                      </a:r>
                      <a:r>
                        <a:rPr sz="2400" b="1" dirty="0">
                          <a:solidFill>
                            <a:srgbClr val="FFFFFF"/>
                          </a:solidFill>
                          <a:latin typeface="微软雅黑"/>
                          <a:cs typeface="微软雅黑"/>
                        </a:rPr>
                        <a:t>io</a:t>
                      </a:r>
                      <a:r>
                        <a:rPr sz="2400" b="1" spc="-10" dirty="0">
                          <a:solidFill>
                            <a:srgbClr val="FFFFFF"/>
                          </a:solidFill>
                          <a:latin typeface="微软雅黑"/>
                          <a:cs typeface="微软雅黑"/>
                        </a:rPr>
                        <a:t>d</a:t>
                      </a:r>
                      <a:r>
                        <a:rPr sz="2400" b="1" dirty="0">
                          <a:solidFill>
                            <a:srgbClr val="FFFFFF"/>
                          </a:solidFill>
                          <a:latin typeface="微软雅黑"/>
                          <a:cs typeface="微软雅黑"/>
                        </a:rPr>
                        <a:t>E</a:t>
                      </a:r>
                      <a:r>
                        <a:rPr sz="2400" b="1" spc="-10" dirty="0">
                          <a:solidFill>
                            <a:srgbClr val="FFFFFF"/>
                          </a:solidFill>
                          <a:latin typeface="微软雅黑"/>
                          <a:cs typeface="微软雅黑"/>
                        </a:rPr>
                        <a:t>l</a:t>
                      </a:r>
                      <a:r>
                        <a:rPr sz="2400" b="1" dirty="0">
                          <a:solidFill>
                            <a:srgbClr val="FFFFFF"/>
                          </a:solidFill>
                          <a:latin typeface="微软雅黑"/>
                          <a:cs typeface="微软雅黑"/>
                        </a:rPr>
                        <a:t>apsedCall</a:t>
                      </a:r>
                      <a:r>
                        <a:rPr sz="2400" b="1" spc="-35" dirty="0">
                          <a:solidFill>
                            <a:srgbClr val="FFFFFF"/>
                          </a:solidFill>
                          <a:latin typeface="微软雅黑"/>
                          <a:cs typeface="微软雅黑"/>
                        </a:rPr>
                        <a:t>b</a:t>
                      </a:r>
                      <a:r>
                        <a:rPr sz="2400" b="1" dirty="0">
                          <a:solidFill>
                            <a:srgbClr val="FFFFFF"/>
                          </a:solidFill>
                          <a:latin typeface="微软雅黑"/>
                          <a:cs typeface="微软雅黑"/>
                        </a:rPr>
                        <a:t>ack</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82903">
                <a:tc>
                  <a:txBody>
                    <a:bodyPr/>
                    <a:lstStyle/>
                    <a:p>
                      <a:pPr marL="7112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spc="-30" dirty="0">
                          <a:latin typeface="微软雅黑"/>
                          <a:cs typeface="微软雅黑"/>
                        </a:rPr>
                        <a:t>v</a:t>
                      </a:r>
                      <a:r>
                        <a:rPr sz="2400" b="1" spc="-5" dirty="0">
                          <a:latin typeface="微软雅黑"/>
                          <a:cs typeface="微软雅黑"/>
                        </a:rPr>
                        <a:t>oi</a:t>
                      </a:r>
                      <a:r>
                        <a:rPr sz="2400" b="1" dirty="0">
                          <a:latin typeface="微软雅黑"/>
                          <a:cs typeface="微软雅黑"/>
                        </a:rPr>
                        <a:t>d</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90" dirty="0">
                          <a:latin typeface="微软雅黑"/>
                          <a:cs typeface="微软雅黑"/>
                        </a:rPr>
                        <a:t>P</a:t>
                      </a:r>
                      <a:r>
                        <a:rPr sz="2400" b="1" dirty="0">
                          <a:latin typeface="微软雅黑"/>
                          <a:cs typeface="微软雅黑"/>
                        </a:rPr>
                        <a:t>e</a:t>
                      </a:r>
                      <a:r>
                        <a:rPr sz="2400" b="1" spc="5" dirty="0">
                          <a:latin typeface="微软雅黑"/>
                          <a:cs typeface="微软雅黑"/>
                        </a:rPr>
                        <a:t>r</a:t>
                      </a:r>
                      <a:r>
                        <a:rPr sz="2400" b="1" dirty="0">
                          <a:latin typeface="微软雅黑"/>
                          <a:cs typeface="微软雅黑"/>
                        </a:rPr>
                        <a:t>io</a:t>
                      </a:r>
                      <a:r>
                        <a:rPr sz="2400" b="1" spc="-10" dirty="0">
                          <a:latin typeface="微软雅黑"/>
                          <a:cs typeface="微软雅黑"/>
                        </a:rPr>
                        <a:t>d</a:t>
                      </a:r>
                      <a:r>
                        <a:rPr sz="2400" b="1" dirty="0">
                          <a:latin typeface="微软雅黑"/>
                          <a:cs typeface="微软雅黑"/>
                        </a:rPr>
                        <a:t>E</a:t>
                      </a:r>
                      <a:r>
                        <a:rPr sz="2400" b="1" spc="-10" dirty="0">
                          <a:latin typeface="微软雅黑"/>
                          <a:cs typeface="微软雅黑"/>
                        </a:rPr>
                        <a:t>l</a:t>
                      </a:r>
                      <a:r>
                        <a:rPr sz="2400" b="1" dirty="0">
                          <a:latin typeface="微软雅黑"/>
                          <a:cs typeface="微软雅黑"/>
                        </a:rPr>
                        <a:t>apsedCall</a:t>
                      </a:r>
                      <a:r>
                        <a:rPr sz="2400" b="1" spc="-35" dirty="0">
                          <a:latin typeface="微软雅黑"/>
                          <a:cs typeface="微软雅黑"/>
                        </a:rPr>
                        <a:t>b</a:t>
                      </a:r>
                      <a:r>
                        <a:rPr sz="2400" b="1" dirty="0">
                          <a:latin typeface="微软雅黑"/>
                          <a:cs typeface="微软雅黑"/>
                        </a:rPr>
                        <a:t>ack(TIM_H</a:t>
                      </a:r>
                      <a:r>
                        <a:rPr sz="2400" b="1" spc="-5" dirty="0">
                          <a:latin typeface="微软雅黑"/>
                          <a:cs typeface="微软雅黑"/>
                        </a:rPr>
                        <a:t>a</a:t>
                      </a:r>
                      <a:r>
                        <a:rPr sz="2400" b="1" dirty="0">
                          <a:latin typeface="微软雅黑"/>
                          <a:cs typeface="微软雅黑"/>
                        </a:rPr>
                        <a:t>ndle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40" dirty="0">
                          <a:latin typeface="微软雅黑"/>
                          <a:cs typeface="微软雅黑"/>
                        </a:rPr>
                        <a:t> </a:t>
                      </a:r>
                      <a:r>
                        <a:rPr sz="2400" b="1" spc="-5" dirty="0">
                          <a:latin typeface="微软雅黑"/>
                          <a:cs typeface="微软雅黑"/>
                        </a:rPr>
                        <a:t>*</a:t>
                      </a:r>
                      <a:r>
                        <a:rPr sz="2400" b="1" spc="-10" dirty="0">
                          <a:latin typeface="微软雅黑"/>
                          <a:cs typeface="微软雅黑"/>
                        </a:rPr>
                        <a:t>h</a:t>
                      </a:r>
                      <a:r>
                        <a:rPr sz="2400" b="1" spc="-5" dirty="0">
                          <a:latin typeface="微软雅黑"/>
                          <a:cs typeface="微软雅黑"/>
                        </a:rPr>
                        <a:t>tim)</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31520">
                <a:tc>
                  <a:txBody>
                    <a:bodyPr/>
                    <a:lstStyle/>
                    <a:p>
                      <a:pPr marL="7112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spc="-5" dirty="0">
                          <a:latin typeface="微软雅黑"/>
                          <a:cs typeface="微软雅黑"/>
                        </a:rPr>
                        <a:t>回调函数，用于处理所有定时器的更新中断，用户在该函数内编写实际的任</a:t>
                      </a:r>
                      <a:endParaRPr sz="2400">
                        <a:latin typeface="微软雅黑"/>
                        <a:cs typeface="微软雅黑"/>
                      </a:endParaRPr>
                    </a:p>
                    <a:p>
                      <a:pPr marL="54610">
                        <a:lnSpc>
                          <a:spcPts val="2855"/>
                        </a:lnSpc>
                      </a:pPr>
                      <a:r>
                        <a:rPr sz="2400" b="1" dirty="0">
                          <a:latin typeface="微软雅黑"/>
                          <a:cs typeface="微软雅黑"/>
                        </a:rPr>
                        <a:t>务处理程序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36829">
                <a:tc>
                  <a:txBody>
                    <a:bodyPr/>
                    <a:lstStyle/>
                    <a:p>
                      <a:pPr marL="7112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36828">
                <a:tc>
                  <a:txBody>
                    <a:bodyPr/>
                    <a:lstStyle/>
                    <a:p>
                      <a:pPr marL="223520">
                        <a:lnSpc>
                          <a:spcPct val="100000"/>
                        </a:lnSpc>
                      </a:pPr>
                      <a:r>
                        <a:rPr sz="2400" b="1" spc="-5"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2002904">
                <a:tc>
                  <a:txBody>
                    <a:bodyPr/>
                    <a:lstStyle/>
                    <a:p>
                      <a:pPr marL="71120">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06730" marR="118745" indent="-452755">
                        <a:lnSpc>
                          <a:spcPct val="111400"/>
                        </a:lnSpc>
                        <a:tabLst>
                          <a:tab pos="511809" algn="l"/>
                        </a:tabLst>
                      </a:pPr>
                      <a:r>
                        <a:rPr sz="2400" b="1" spc="-5" dirty="0">
                          <a:latin typeface="微软雅黑"/>
                          <a:cs typeface="微软雅黑"/>
                        </a:rPr>
                        <a:t>1</a:t>
                      </a:r>
                      <a:r>
                        <a:rPr sz="2400" b="1" dirty="0">
                          <a:latin typeface="微软雅黑"/>
                          <a:cs typeface="微软雅黑"/>
                        </a:rPr>
                        <a:t>.		该函数由定时器中断通用处理函</a:t>
                      </a:r>
                      <a:r>
                        <a:rPr sz="2400" b="1" spc="5" dirty="0">
                          <a:latin typeface="微软雅黑"/>
                          <a:cs typeface="微软雅黑"/>
                        </a:rPr>
                        <a:t>数</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a:t>
                      </a:r>
                      <a:r>
                        <a:rPr sz="2400" b="1" spc="-20" dirty="0">
                          <a:latin typeface="微软雅黑"/>
                          <a:cs typeface="微软雅黑"/>
                        </a:rPr>
                        <a:t>R</a:t>
                      </a:r>
                      <a:r>
                        <a:rPr sz="2400" b="1" spc="-5" dirty="0">
                          <a:latin typeface="微软雅黑"/>
                          <a:cs typeface="微软雅黑"/>
                        </a:rPr>
                        <a:t>QH</a:t>
                      </a:r>
                      <a:r>
                        <a:rPr sz="2400" b="1" spc="5" dirty="0">
                          <a:latin typeface="微软雅黑"/>
                          <a:cs typeface="微软雅黑"/>
                        </a:rPr>
                        <a:t>a</a:t>
                      </a:r>
                      <a:r>
                        <a:rPr sz="2400" b="1" dirty="0">
                          <a:latin typeface="微软雅黑"/>
                          <a:cs typeface="微软雅黑"/>
                        </a:rPr>
                        <a:t>ndle</a:t>
                      </a:r>
                      <a:r>
                        <a:rPr sz="2400" b="1" spc="5" dirty="0">
                          <a:latin typeface="微软雅黑"/>
                          <a:cs typeface="微软雅黑"/>
                        </a:rPr>
                        <a:t>r</a:t>
                      </a:r>
                      <a:r>
                        <a:rPr sz="2400" b="1" dirty="0">
                          <a:latin typeface="微软雅黑"/>
                          <a:cs typeface="微软雅黑"/>
                        </a:rPr>
                        <a:t>调用，完成所 有定时器的更新中断的任务处理</a:t>
                      </a:r>
                      <a:endParaRPr sz="2400">
                        <a:latin typeface="微软雅黑"/>
                        <a:cs typeface="微软雅黑"/>
                      </a:endParaRPr>
                    </a:p>
                    <a:p>
                      <a:pPr marL="506730" marR="78740" indent="-452755">
                        <a:lnSpc>
                          <a:spcPts val="3200"/>
                        </a:lnSpc>
                        <a:spcBef>
                          <a:spcPts val="150"/>
                        </a:spcBef>
                        <a:tabLst>
                          <a:tab pos="509905" algn="l"/>
                        </a:tabLst>
                      </a:pPr>
                      <a:r>
                        <a:rPr sz="2400" b="1" spc="-5" dirty="0">
                          <a:latin typeface="微软雅黑"/>
                          <a:cs typeface="微软雅黑"/>
                        </a:rPr>
                        <a:t>2</a:t>
                      </a:r>
                      <a:r>
                        <a:rPr sz="2400" b="1" dirty="0">
                          <a:latin typeface="微软雅黑"/>
                          <a:cs typeface="微软雅黑"/>
                        </a:rPr>
                        <a:t>.		函数内部需要根据定时器句柄的实例来判断是哪一个定时器产生</a:t>
                      </a:r>
                      <a:r>
                        <a:rPr sz="2400" b="1" spc="10" dirty="0">
                          <a:latin typeface="微软雅黑"/>
                          <a:cs typeface="微软雅黑"/>
                        </a:rPr>
                        <a:t>的</a:t>
                      </a:r>
                      <a:r>
                        <a:rPr sz="2400" b="1" dirty="0">
                          <a:latin typeface="微软雅黑"/>
                          <a:cs typeface="微软雅黑"/>
                        </a:rPr>
                        <a:t>本次更 新中断</a:t>
                      </a:r>
                      <a:endParaRPr sz="2400">
                        <a:latin typeface="微软雅黑"/>
                        <a:cs typeface="微软雅黑"/>
                      </a:endParaRPr>
                    </a:p>
                    <a:p>
                      <a:pPr marL="54610">
                        <a:lnSpc>
                          <a:spcPts val="2845"/>
                        </a:lnSpc>
                        <a:spcBef>
                          <a:spcPts val="160"/>
                        </a:spcBef>
                        <a:tabLst>
                          <a:tab pos="509905" algn="l"/>
                        </a:tabLst>
                      </a:pPr>
                      <a:r>
                        <a:rPr sz="2400" b="1" spc="-10" dirty="0">
                          <a:latin typeface="微软雅黑"/>
                          <a:cs typeface="微软雅黑"/>
                        </a:rPr>
                        <a:t>3</a:t>
                      </a:r>
                      <a:r>
                        <a:rPr sz="2400" b="1" dirty="0">
                          <a:latin typeface="微软雅黑"/>
                          <a:cs typeface="微软雅黑"/>
                        </a:rPr>
                        <a:t>.	</a:t>
                      </a:r>
                      <a:r>
                        <a:rPr sz="2400" b="1" spc="-5" dirty="0">
                          <a:latin typeface="微软雅黑"/>
                          <a:cs typeface="微软雅黑"/>
                        </a:rPr>
                        <a:t>函数由用户根据具体的处理任务编写</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152596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192405"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7" name="object 7"/>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9" name="object 9"/>
          <p:cNvSpPr txBox="1">
            <a:spLocks noGrp="1"/>
          </p:cNvSpPr>
          <p:nvPr>
            <p:ph type="title"/>
          </p:nvPr>
        </p:nvSpPr>
        <p:spPr>
          <a:xfrm>
            <a:off x="12574" y="601325"/>
            <a:ext cx="10515600" cy="1325563"/>
          </a:xfrm>
          <a:prstGeom prst="rect">
            <a:avLst/>
          </a:prstGeom>
        </p:spPr>
        <p:txBody>
          <a:bodyPr vert="horz" wrap="square" lIns="0" tIns="0" rIns="0" bIns="0" rtlCol="0">
            <a:spAutoFit/>
          </a:bodyPr>
          <a:lstStyle/>
          <a:p>
            <a:pPr marL="208915">
              <a:lnSpc>
                <a:spcPct val="100000"/>
              </a:lnSpc>
            </a:pPr>
            <a:r>
              <a:rPr sz="2400" dirty="0">
                <a:solidFill>
                  <a:srgbClr val="FFFFFF"/>
                </a:solidFill>
              </a:rPr>
              <a:t>计数值读取</a:t>
            </a:r>
            <a:endParaRPr sz="2400" dirty="0"/>
          </a:p>
        </p:txBody>
      </p:sp>
      <p:sp>
        <p:nvSpPr>
          <p:cNvPr id="10" name="object 10"/>
          <p:cNvSpPr txBox="1"/>
          <p:nvPr/>
        </p:nvSpPr>
        <p:spPr>
          <a:xfrm>
            <a:off x="3127629" y="1177854"/>
            <a:ext cx="7668895" cy="381000"/>
          </a:xfrm>
          <a:prstGeom prst="rect">
            <a:avLst/>
          </a:prstGeom>
        </p:spPr>
        <p:txBody>
          <a:bodyPr vert="horz" wrap="square" lIns="0" tIns="0" rIns="0" bIns="0" rtlCol="0">
            <a:spAutoFit/>
          </a:bodyPr>
          <a:lstStyle/>
          <a:p>
            <a:pPr marL="12700">
              <a:lnSpc>
                <a:spcPct val="100000"/>
              </a:lnSpc>
              <a:tabLst>
                <a:tab pos="443865" algn="l"/>
                <a:tab pos="3246755" algn="l"/>
              </a:tabLst>
            </a:pPr>
            <a:r>
              <a:rPr sz="2800" b="1" spc="-5" dirty="0">
                <a:latin typeface="微软雅黑"/>
                <a:cs typeface="微软雅黑"/>
              </a:rPr>
              <a:t>6	计数值读取函数</a:t>
            </a:r>
            <a:r>
              <a:rPr sz="2800" b="1" u="heavy" spc="-5" dirty="0">
                <a:latin typeface="微软雅黑"/>
                <a:cs typeface="微软雅黑"/>
              </a:rPr>
              <a:t> 	</a:t>
            </a:r>
            <a:r>
              <a:rPr sz="2800" b="1" spc="-10" dirty="0">
                <a:latin typeface="微软雅黑"/>
                <a:cs typeface="微软雅黑"/>
              </a:rPr>
              <a:t>HA</a:t>
            </a:r>
            <a:r>
              <a:rPr sz="2800" b="1" spc="-15" dirty="0">
                <a:latin typeface="微软雅黑"/>
                <a:cs typeface="微软雅黑"/>
              </a:rPr>
              <a:t>L</a:t>
            </a:r>
            <a:r>
              <a:rPr sz="2800" b="1" spc="-10" dirty="0">
                <a:latin typeface="微软雅黑"/>
                <a:cs typeface="微软雅黑"/>
              </a:rPr>
              <a:t>_TIM_G</a:t>
            </a:r>
            <a:r>
              <a:rPr sz="2800" b="1" spc="0" dirty="0">
                <a:latin typeface="微软雅黑"/>
                <a:cs typeface="微软雅黑"/>
              </a:rPr>
              <a:t>E</a:t>
            </a:r>
            <a:r>
              <a:rPr sz="2800" b="1" spc="-10" dirty="0">
                <a:latin typeface="微软雅黑"/>
                <a:cs typeface="微软雅黑"/>
              </a:rPr>
              <a:t>T_</a:t>
            </a:r>
            <a:r>
              <a:rPr sz="2800" b="1" spc="-40" dirty="0">
                <a:latin typeface="微软雅黑"/>
                <a:cs typeface="微软雅黑"/>
              </a:rPr>
              <a:t>C</a:t>
            </a:r>
            <a:r>
              <a:rPr sz="2800" b="1" spc="-10" dirty="0">
                <a:latin typeface="微软雅黑"/>
                <a:cs typeface="微软雅黑"/>
              </a:rPr>
              <a:t>OU</a:t>
            </a:r>
            <a:r>
              <a:rPr sz="2800" b="1" dirty="0">
                <a:latin typeface="微软雅黑"/>
                <a:cs typeface="微软雅黑"/>
              </a:rPr>
              <a:t>N</a:t>
            </a:r>
            <a:r>
              <a:rPr sz="2800" b="1" spc="-10" dirty="0">
                <a:latin typeface="微软雅黑"/>
                <a:cs typeface="微软雅黑"/>
              </a:rPr>
              <a:t>TER</a:t>
            </a:r>
            <a:endParaRPr sz="28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2" name="object 12"/>
          <p:cNvSpPr/>
          <p:nvPr/>
        </p:nvSpPr>
        <p:spPr>
          <a:xfrm>
            <a:off x="89153" y="2873501"/>
            <a:ext cx="12015470" cy="589915"/>
          </a:xfrm>
          <a:custGeom>
            <a:avLst/>
            <a:gdLst/>
            <a:ahLst/>
            <a:cxnLst/>
            <a:rect l="l" t="t" r="r" b="b"/>
            <a:pathLst>
              <a:path w="12015470" h="589914">
                <a:moveTo>
                  <a:pt x="0" y="589788"/>
                </a:moveTo>
                <a:lnTo>
                  <a:pt x="12015216" y="589788"/>
                </a:lnTo>
                <a:lnTo>
                  <a:pt x="12015216" y="0"/>
                </a:lnTo>
                <a:lnTo>
                  <a:pt x="0" y="0"/>
                </a:lnTo>
                <a:lnTo>
                  <a:pt x="0" y="589788"/>
                </a:lnTo>
                <a:close/>
              </a:path>
            </a:pathLst>
          </a:custGeom>
          <a:solidFill>
            <a:srgbClr val="D9D9D9"/>
          </a:solidFill>
        </p:spPr>
        <p:txBody>
          <a:bodyPr wrap="square" lIns="0" tIns="0" rIns="0" bIns="0" rtlCol="0"/>
          <a:lstStyle/>
          <a:p>
            <a:endParaRPr/>
          </a:p>
        </p:txBody>
      </p:sp>
      <p:sp>
        <p:nvSpPr>
          <p:cNvPr id="13" name="object 13"/>
          <p:cNvSpPr/>
          <p:nvPr/>
        </p:nvSpPr>
        <p:spPr>
          <a:xfrm>
            <a:off x="89153" y="2873501"/>
            <a:ext cx="12015470" cy="589915"/>
          </a:xfrm>
          <a:custGeom>
            <a:avLst/>
            <a:gdLst/>
            <a:ahLst/>
            <a:cxnLst/>
            <a:rect l="l" t="t" r="r" b="b"/>
            <a:pathLst>
              <a:path w="12015470" h="589914">
                <a:moveTo>
                  <a:pt x="0" y="589788"/>
                </a:moveTo>
                <a:lnTo>
                  <a:pt x="12015216" y="589788"/>
                </a:lnTo>
                <a:lnTo>
                  <a:pt x="12015216" y="0"/>
                </a:lnTo>
                <a:lnTo>
                  <a:pt x="0" y="0"/>
                </a:lnTo>
                <a:lnTo>
                  <a:pt x="0" y="589788"/>
                </a:lnTo>
                <a:close/>
              </a:path>
            </a:pathLst>
          </a:custGeom>
          <a:ln w="28956">
            <a:solidFill>
              <a:srgbClr val="5B9BD4"/>
            </a:solidFill>
          </a:ln>
        </p:spPr>
        <p:txBody>
          <a:bodyPr wrap="square" lIns="0" tIns="0" rIns="0" bIns="0" rtlCol="0"/>
          <a:lstStyle/>
          <a:p>
            <a:endParaRPr/>
          </a:p>
        </p:txBody>
      </p:sp>
      <p:sp>
        <p:nvSpPr>
          <p:cNvPr id="14" name="object 14"/>
          <p:cNvSpPr txBox="1"/>
          <p:nvPr/>
        </p:nvSpPr>
        <p:spPr>
          <a:xfrm>
            <a:off x="166522" y="3091916"/>
            <a:ext cx="5069205" cy="330835"/>
          </a:xfrm>
          <a:prstGeom prst="rect">
            <a:avLst/>
          </a:prstGeom>
        </p:spPr>
        <p:txBody>
          <a:bodyPr vert="horz" wrap="square" lIns="0" tIns="0" rIns="0" bIns="0" rtlCol="0">
            <a:spAutoFit/>
          </a:bodyPr>
          <a:lstStyle/>
          <a:p>
            <a:pPr marL="12700">
              <a:lnSpc>
                <a:spcPct val="100000"/>
              </a:lnSpc>
            </a:pPr>
            <a:r>
              <a:rPr sz="2400" b="1" dirty="0">
                <a:latin typeface="Consolas"/>
                <a:cs typeface="Consolas"/>
              </a:rPr>
              <a:t>#d</a:t>
            </a:r>
            <a:r>
              <a:rPr sz="2400" b="1" spc="5" dirty="0">
                <a:latin typeface="Consolas"/>
                <a:cs typeface="Consolas"/>
              </a:rPr>
              <a:t>e</a:t>
            </a:r>
            <a:r>
              <a:rPr sz="2400" b="1" dirty="0">
                <a:latin typeface="Consolas"/>
                <a:cs typeface="Consolas"/>
              </a:rPr>
              <a:t>fi</a:t>
            </a:r>
            <a:r>
              <a:rPr sz="2400" b="1" spc="5" dirty="0">
                <a:latin typeface="Consolas"/>
                <a:cs typeface="Consolas"/>
              </a:rPr>
              <a:t>n</a:t>
            </a:r>
            <a:r>
              <a:rPr sz="2400" b="1" dirty="0">
                <a:latin typeface="Consolas"/>
                <a:cs typeface="Consolas"/>
              </a:rPr>
              <a:t>e</a:t>
            </a:r>
            <a:r>
              <a:rPr sz="2400" b="1" spc="5" dirty="0">
                <a:latin typeface="Consolas"/>
                <a:cs typeface="Consolas"/>
              </a:rPr>
              <a:t> _</a:t>
            </a:r>
            <a:r>
              <a:rPr sz="2400" b="1" dirty="0">
                <a:latin typeface="Consolas"/>
                <a:cs typeface="Consolas"/>
              </a:rPr>
              <a:t>_H</a:t>
            </a:r>
            <a:r>
              <a:rPr sz="2400" b="1" spc="5" dirty="0">
                <a:latin typeface="Consolas"/>
                <a:cs typeface="Consolas"/>
              </a:rPr>
              <a:t>A</a:t>
            </a:r>
            <a:r>
              <a:rPr sz="2400" b="1" dirty="0">
                <a:latin typeface="Consolas"/>
                <a:cs typeface="Consolas"/>
              </a:rPr>
              <a:t>L_</a:t>
            </a:r>
            <a:r>
              <a:rPr sz="2400" b="1" spc="5" dirty="0">
                <a:latin typeface="Consolas"/>
                <a:cs typeface="Consolas"/>
              </a:rPr>
              <a:t>T</a:t>
            </a:r>
            <a:r>
              <a:rPr sz="2400" b="1" dirty="0">
                <a:latin typeface="Consolas"/>
                <a:cs typeface="Consolas"/>
              </a:rPr>
              <a:t>I</a:t>
            </a:r>
            <a:r>
              <a:rPr sz="2400" b="1" spc="5" dirty="0">
                <a:latin typeface="Consolas"/>
                <a:cs typeface="Consolas"/>
              </a:rPr>
              <a:t>M_</a:t>
            </a:r>
            <a:r>
              <a:rPr sz="2400" b="1" dirty="0">
                <a:latin typeface="Consolas"/>
                <a:cs typeface="Consolas"/>
              </a:rPr>
              <a:t>GE</a:t>
            </a:r>
            <a:r>
              <a:rPr sz="2400" b="1" spc="5" dirty="0">
                <a:latin typeface="Consolas"/>
                <a:cs typeface="Consolas"/>
              </a:rPr>
              <a:t>T</a:t>
            </a:r>
            <a:r>
              <a:rPr sz="2400" b="1" dirty="0">
                <a:latin typeface="Consolas"/>
                <a:cs typeface="Consolas"/>
              </a:rPr>
              <a:t>_C</a:t>
            </a:r>
            <a:r>
              <a:rPr sz="2400" b="1" spc="5" dirty="0">
                <a:latin typeface="Consolas"/>
                <a:cs typeface="Consolas"/>
              </a:rPr>
              <a:t>O</a:t>
            </a:r>
            <a:r>
              <a:rPr sz="2400" b="1" dirty="0">
                <a:latin typeface="Consolas"/>
                <a:cs typeface="Consolas"/>
              </a:rPr>
              <a:t>U</a:t>
            </a:r>
            <a:r>
              <a:rPr sz="2400" b="1" spc="5" dirty="0">
                <a:latin typeface="Consolas"/>
                <a:cs typeface="Consolas"/>
              </a:rPr>
              <a:t>NT</a:t>
            </a:r>
            <a:r>
              <a:rPr sz="2400" b="1" dirty="0">
                <a:latin typeface="Consolas"/>
                <a:cs typeface="Consolas"/>
              </a:rPr>
              <a:t>ER(</a:t>
            </a:r>
            <a:endParaRPr sz="2400">
              <a:latin typeface="Consolas"/>
              <a:cs typeface="Consolas"/>
            </a:endParaRPr>
          </a:p>
        </p:txBody>
      </p:sp>
      <p:sp>
        <p:nvSpPr>
          <p:cNvPr id="15" name="object 15"/>
          <p:cNvSpPr txBox="1"/>
          <p:nvPr/>
        </p:nvSpPr>
        <p:spPr>
          <a:xfrm>
            <a:off x="5546249" y="3091916"/>
            <a:ext cx="6595745" cy="330835"/>
          </a:xfrm>
          <a:prstGeom prst="rect">
            <a:avLst/>
          </a:prstGeom>
        </p:spPr>
        <p:txBody>
          <a:bodyPr vert="horz" wrap="square" lIns="0" tIns="0" rIns="0" bIns="0" rtlCol="0">
            <a:spAutoFit/>
          </a:bodyPr>
          <a:lstStyle/>
          <a:p>
            <a:pPr marL="12700">
              <a:lnSpc>
                <a:spcPct val="100000"/>
              </a:lnSpc>
            </a:pPr>
            <a:r>
              <a:rPr sz="2400" b="1" dirty="0">
                <a:latin typeface="Consolas"/>
                <a:cs typeface="Consolas"/>
              </a:rPr>
              <a:t>HA</a:t>
            </a:r>
            <a:r>
              <a:rPr sz="2400" b="1" spc="5" dirty="0">
                <a:latin typeface="Consolas"/>
                <a:cs typeface="Consolas"/>
              </a:rPr>
              <a:t>ND</a:t>
            </a:r>
            <a:r>
              <a:rPr sz="2400" b="1" dirty="0">
                <a:latin typeface="Consolas"/>
                <a:cs typeface="Consolas"/>
              </a:rPr>
              <a:t>LE</a:t>
            </a:r>
            <a:r>
              <a:rPr sz="2400" b="1" spc="5" dirty="0">
                <a:latin typeface="Consolas"/>
                <a:cs typeface="Consolas"/>
              </a:rPr>
              <a:t>_</a:t>
            </a:r>
            <a:r>
              <a:rPr sz="2400" b="1" dirty="0">
                <a:latin typeface="Consolas"/>
                <a:cs typeface="Consolas"/>
              </a:rPr>
              <a:t>_)</a:t>
            </a:r>
            <a:r>
              <a:rPr sz="2400" b="1" spc="5" dirty="0">
                <a:latin typeface="Consolas"/>
                <a:cs typeface="Consolas"/>
              </a:rPr>
              <a:t> </a:t>
            </a:r>
            <a:r>
              <a:rPr sz="2400" b="1" dirty="0">
                <a:latin typeface="Consolas"/>
                <a:cs typeface="Consolas"/>
              </a:rPr>
              <a:t>(</a:t>
            </a:r>
            <a:r>
              <a:rPr sz="2400" b="1" spc="5" dirty="0">
                <a:latin typeface="Consolas"/>
                <a:cs typeface="Consolas"/>
              </a:rPr>
              <a:t>(_</a:t>
            </a:r>
            <a:r>
              <a:rPr sz="2400" b="1" dirty="0">
                <a:latin typeface="Consolas"/>
                <a:cs typeface="Consolas"/>
              </a:rPr>
              <a:t>_H</a:t>
            </a:r>
            <a:r>
              <a:rPr sz="2400" b="1" spc="5" dirty="0">
                <a:latin typeface="Consolas"/>
                <a:cs typeface="Consolas"/>
              </a:rPr>
              <a:t>A</a:t>
            </a:r>
            <a:r>
              <a:rPr sz="2400" b="1" dirty="0">
                <a:latin typeface="Consolas"/>
                <a:cs typeface="Consolas"/>
              </a:rPr>
              <a:t>ND</a:t>
            </a:r>
            <a:r>
              <a:rPr sz="2400" b="1" spc="5" dirty="0">
                <a:latin typeface="Consolas"/>
                <a:cs typeface="Consolas"/>
              </a:rPr>
              <a:t>L</a:t>
            </a:r>
            <a:r>
              <a:rPr sz="2400" b="1" dirty="0">
                <a:latin typeface="Consolas"/>
                <a:cs typeface="Consolas"/>
              </a:rPr>
              <a:t>E</a:t>
            </a:r>
            <a:r>
              <a:rPr sz="2400" b="1" spc="5" dirty="0">
                <a:latin typeface="Consolas"/>
                <a:cs typeface="Consolas"/>
              </a:rPr>
              <a:t>__</a:t>
            </a:r>
            <a:r>
              <a:rPr sz="2400" b="1" spc="80" dirty="0">
                <a:latin typeface="Consolas"/>
                <a:cs typeface="Consolas"/>
              </a:rPr>
              <a:t>)</a:t>
            </a:r>
            <a:r>
              <a:rPr sz="2400" b="1" spc="-5" dirty="0">
                <a:latin typeface="Consolas"/>
                <a:cs typeface="Consolas"/>
              </a:rPr>
              <a:t>-</a:t>
            </a:r>
            <a:r>
              <a:rPr sz="2400" b="1" spc="5" dirty="0">
                <a:latin typeface="Consolas"/>
                <a:cs typeface="Consolas"/>
              </a:rPr>
              <a:t>&gt;</a:t>
            </a:r>
            <a:r>
              <a:rPr sz="2400" b="1" dirty="0">
                <a:latin typeface="Consolas"/>
                <a:cs typeface="Consolas"/>
              </a:rPr>
              <a:t>In</a:t>
            </a:r>
            <a:r>
              <a:rPr sz="2400" b="1" spc="5" dirty="0">
                <a:latin typeface="Consolas"/>
                <a:cs typeface="Consolas"/>
              </a:rPr>
              <a:t>s</a:t>
            </a:r>
            <a:r>
              <a:rPr sz="2400" b="1" dirty="0">
                <a:latin typeface="Consolas"/>
                <a:cs typeface="Consolas"/>
              </a:rPr>
              <a:t>t</a:t>
            </a:r>
            <a:r>
              <a:rPr sz="2400" b="1" spc="5" dirty="0">
                <a:latin typeface="Consolas"/>
                <a:cs typeface="Consolas"/>
              </a:rPr>
              <a:t>an</a:t>
            </a:r>
            <a:r>
              <a:rPr sz="2400" b="1" dirty="0">
                <a:latin typeface="Consolas"/>
                <a:cs typeface="Consolas"/>
              </a:rPr>
              <a:t>c</a:t>
            </a:r>
            <a:r>
              <a:rPr sz="2400" b="1" spc="10" dirty="0">
                <a:latin typeface="Consolas"/>
                <a:cs typeface="Consolas"/>
              </a:rPr>
              <a:t>e-</a:t>
            </a:r>
            <a:r>
              <a:rPr sz="2400" b="1" dirty="0">
                <a:latin typeface="Consolas"/>
                <a:cs typeface="Consolas"/>
              </a:rPr>
              <a:t>&gt;C</a:t>
            </a:r>
            <a:r>
              <a:rPr sz="2400" b="1" spc="5" dirty="0">
                <a:latin typeface="Consolas"/>
                <a:cs typeface="Consolas"/>
              </a:rPr>
              <a:t>N</a:t>
            </a:r>
            <a:r>
              <a:rPr sz="2400" b="1" dirty="0">
                <a:latin typeface="Consolas"/>
                <a:cs typeface="Consolas"/>
              </a:rPr>
              <a:t>T)</a:t>
            </a:r>
            <a:endParaRPr sz="2400">
              <a:latin typeface="Consolas"/>
              <a:cs typeface="Consolas"/>
            </a:endParaRPr>
          </a:p>
        </p:txBody>
      </p:sp>
      <p:sp>
        <p:nvSpPr>
          <p:cNvPr id="16" name="object 16"/>
          <p:cNvSpPr/>
          <p:nvPr/>
        </p:nvSpPr>
        <p:spPr>
          <a:xfrm>
            <a:off x="4895088" y="2435351"/>
            <a:ext cx="1975485" cy="523240"/>
          </a:xfrm>
          <a:custGeom>
            <a:avLst/>
            <a:gdLst/>
            <a:ahLst/>
            <a:cxnLst/>
            <a:rect l="l" t="t" r="r" b="b"/>
            <a:pathLst>
              <a:path w="1975484" h="523239">
                <a:moveTo>
                  <a:pt x="0" y="522732"/>
                </a:moveTo>
                <a:lnTo>
                  <a:pt x="1975104" y="522732"/>
                </a:lnTo>
                <a:lnTo>
                  <a:pt x="1975104" y="0"/>
                </a:lnTo>
                <a:lnTo>
                  <a:pt x="0" y="0"/>
                </a:lnTo>
                <a:lnTo>
                  <a:pt x="0" y="522732"/>
                </a:lnTo>
                <a:close/>
              </a:path>
            </a:pathLst>
          </a:custGeom>
          <a:solidFill>
            <a:srgbClr val="E34A46"/>
          </a:solidFill>
        </p:spPr>
        <p:txBody>
          <a:bodyPr wrap="square" lIns="0" tIns="0" rIns="0" bIns="0" rtlCol="0"/>
          <a:lstStyle/>
          <a:p>
            <a:endParaRPr/>
          </a:p>
        </p:txBody>
      </p:sp>
      <p:sp>
        <p:nvSpPr>
          <p:cNvPr id="17" name="object 17"/>
          <p:cNvSpPr/>
          <p:nvPr/>
        </p:nvSpPr>
        <p:spPr>
          <a:xfrm>
            <a:off x="4895088" y="2435351"/>
            <a:ext cx="1975485" cy="523240"/>
          </a:xfrm>
          <a:custGeom>
            <a:avLst/>
            <a:gdLst/>
            <a:ahLst/>
            <a:cxnLst/>
            <a:rect l="l" t="t" r="r" b="b"/>
            <a:pathLst>
              <a:path w="1975484" h="523239">
                <a:moveTo>
                  <a:pt x="0" y="522732"/>
                </a:moveTo>
                <a:lnTo>
                  <a:pt x="1975104" y="522732"/>
                </a:lnTo>
                <a:lnTo>
                  <a:pt x="1975104" y="0"/>
                </a:lnTo>
                <a:lnTo>
                  <a:pt x="0" y="0"/>
                </a:lnTo>
                <a:lnTo>
                  <a:pt x="0" y="522732"/>
                </a:lnTo>
                <a:close/>
              </a:path>
            </a:pathLst>
          </a:custGeom>
          <a:ln w="9143">
            <a:solidFill>
              <a:srgbClr val="FFFFFF"/>
            </a:solidFill>
          </a:ln>
        </p:spPr>
        <p:txBody>
          <a:bodyPr wrap="square" lIns="0" tIns="0" rIns="0" bIns="0" rtlCol="0"/>
          <a:lstStyle/>
          <a:p>
            <a:endParaRPr/>
          </a:p>
        </p:txBody>
      </p:sp>
      <p:sp>
        <p:nvSpPr>
          <p:cNvPr id="18" name="object 18"/>
          <p:cNvSpPr txBox="1"/>
          <p:nvPr/>
        </p:nvSpPr>
        <p:spPr>
          <a:xfrm>
            <a:off x="4975097" y="2525070"/>
            <a:ext cx="1800860" cy="381000"/>
          </a:xfrm>
          <a:prstGeom prst="rect">
            <a:avLst/>
          </a:prstGeom>
        </p:spPr>
        <p:txBody>
          <a:bodyPr vert="horz" wrap="square" lIns="0" tIns="0" rIns="0" bIns="0" rtlCol="0">
            <a:spAutoFit/>
          </a:bodyPr>
          <a:lstStyle/>
          <a:p>
            <a:pPr marL="12700">
              <a:lnSpc>
                <a:spcPct val="100000"/>
              </a:lnSpc>
            </a:pPr>
            <a:r>
              <a:rPr sz="2800" b="1" spc="-5" dirty="0">
                <a:solidFill>
                  <a:srgbClr val="FFFFFF"/>
                </a:solidFill>
                <a:latin typeface="微软雅黑"/>
                <a:cs typeface="微软雅黑"/>
              </a:rPr>
              <a:t>带参数的宏</a:t>
            </a:r>
            <a:endParaRPr sz="2800">
              <a:latin typeface="微软雅黑"/>
              <a:cs typeface="微软雅黑"/>
            </a:endParaRPr>
          </a:p>
        </p:txBody>
      </p:sp>
      <p:sp>
        <p:nvSpPr>
          <p:cNvPr id="19" name="object 19"/>
          <p:cNvSpPr/>
          <p:nvPr/>
        </p:nvSpPr>
        <p:spPr>
          <a:xfrm>
            <a:off x="3272790" y="3387216"/>
            <a:ext cx="2714625" cy="1028700"/>
          </a:xfrm>
          <a:custGeom>
            <a:avLst/>
            <a:gdLst/>
            <a:ahLst/>
            <a:cxnLst/>
            <a:rect l="l" t="t" r="r" b="b"/>
            <a:pathLst>
              <a:path w="2714625" h="1028700">
                <a:moveTo>
                  <a:pt x="2400934" y="0"/>
                </a:moveTo>
                <a:lnTo>
                  <a:pt x="1583308" y="489077"/>
                </a:lnTo>
                <a:lnTo>
                  <a:pt x="89727" y="489077"/>
                </a:lnTo>
                <a:lnTo>
                  <a:pt x="75169" y="490280"/>
                </a:lnTo>
                <a:lnTo>
                  <a:pt x="36729" y="506488"/>
                </a:lnTo>
                <a:lnTo>
                  <a:pt x="10012" y="537719"/>
                </a:lnTo>
                <a:lnTo>
                  <a:pt x="14" y="578805"/>
                </a:lnTo>
                <a:lnTo>
                  <a:pt x="0" y="938844"/>
                </a:lnTo>
                <a:lnTo>
                  <a:pt x="1203" y="953402"/>
                </a:lnTo>
                <a:lnTo>
                  <a:pt x="17410" y="991843"/>
                </a:lnTo>
                <a:lnTo>
                  <a:pt x="48642" y="1018560"/>
                </a:lnTo>
                <a:lnTo>
                  <a:pt x="89915" y="1028573"/>
                </a:lnTo>
                <a:lnTo>
                  <a:pt x="2624515" y="1028572"/>
                </a:lnTo>
                <a:lnTo>
                  <a:pt x="2665757" y="1018479"/>
                </a:lnTo>
                <a:lnTo>
                  <a:pt x="2696935" y="991702"/>
                </a:lnTo>
                <a:lnTo>
                  <a:pt x="2713069" y="953223"/>
                </a:lnTo>
                <a:lnTo>
                  <a:pt x="2714243" y="578805"/>
                </a:lnTo>
                <a:lnTo>
                  <a:pt x="2713040" y="564247"/>
                </a:lnTo>
                <a:lnTo>
                  <a:pt x="2696832" y="525806"/>
                </a:lnTo>
                <a:lnTo>
                  <a:pt x="2665601" y="499089"/>
                </a:lnTo>
                <a:lnTo>
                  <a:pt x="2624327" y="489077"/>
                </a:lnTo>
                <a:lnTo>
                  <a:pt x="2261869" y="489077"/>
                </a:lnTo>
                <a:lnTo>
                  <a:pt x="2400934" y="0"/>
                </a:lnTo>
                <a:close/>
              </a:path>
            </a:pathLst>
          </a:custGeom>
          <a:solidFill>
            <a:srgbClr val="FFFFC7"/>
          </a:solidFill>
        </p:spPr>
        <p:txBody>
          <a:bodyPr wrap="square" lIns="0" tIns="0" rIns="0" bIns="0" rtlCol="0"/>
          <a:lstStyle/>
          <a:p>
            <a:endParaRPr/>
          </a:p>
        </p:txBody>
      </p:sp>
      <p:sp>
        <p:nvSpPr>
          <p:cNvPr id="20" name="object 20"/>
          <p:cNvSpPr/>
          <p:nvPr/>
        </p:nvSpPr>
        <p:spPr>
          <a:xfrm>
            <a:off x="3272790" y="3387216"/>
            <a:ext cx="2714625" cy="1028700"/>
          </a:xfrm>
          <a:custGeom>
            <a:avLst/>
            <a:gdLst/>
            <a:ahLst/>
            <a:cxnLst/>
            <a:rect l="l" t="t" r="r" b="b"/>
            <a:pathLst>
              <a:path w="2714625" h="1028700">
                <a:moveTo>
                  <a:pt x="0" y="578993"/>
                </a:moveTo>
                <a:lnTo>
                  <a:pt x="10012" y="537719"/>
                </a:lnTo>
                <a:lnTo>
                  <a:pt x="36729" y="506488"/>
                </a:lnTo>
                <a:lnTo>
                  <a:pt x="75170" y="490280"/>
                </a:lnTo>
                <a:lnTo>
                  <a:pt x="1583309" y="489077"/>
                </a:lnTo>
                <a:lnTo>
                  <a:pt x="2400935" y="0"/>
                </a:lnTo>
                <a:lnTo>
                  <a:pt x="2261870" y="489077"/>
                </a:lnTo>
                <a:lnTo>
                  <a:pt x="2624328" y="489077"/>
                </a:lnTo>
                <a:lnTo>
                  <a:pt x="2638894" y="490250"/>
                </a:lnTo>
                <a:lnTo>
                  <a:pt x="2677373" y="506384"/>
                </a:lnTo>
                <a:lnTo>
                  <a:pt x="2704150" y="537563"/>
                </a:lnTo>
                <a:lnTo>
                  <a:pt x="2714243" y="578805"/>
                </a:lnTo>
                <a:lnTo>
                  <a:pt x="2714244" y="578993"/>
                </a:lnTo>
                <a:lnTo>
                  <a:pt x="2714244" y="713867"/>
                </a:lnTo>
                <a:lnTo>
                  <a:pt x="2714244" y="938657"/>
                </a:lnTo>
                <a:lnTo>
                  <a:pt x="2713070" y="953223"/>
                </a:lnTo>
                <a:lnTo>
                  <a:pt x="2696936" y="991702"/>
                </a:lnTo>
                <a:lnTo>
                  <a:pt x="2665757" y="1018479"/>
                </a:lnTo>
                <a:lnTo>
                  <a:pt x="2624515" y="1028572"/>
                </a:lnTo>
                <a:lnTo>
                  <a:pt x="2261870" y="1028573"/>
                </a:lnTo>
                <a:lnTo>
                  <a:pt x="1583309" y="1028573"/>
                </a:lnTo>
                <a:lnTo>
                  <a:pt x="89915" y="1028573"/>
                </a:lnTo>
                <a:lnTo>
                  <a:pt x="75349" y="1027399"/>
                </a:lnTo>
                <a:lnTo>
                  <a:pt x="36870" y="1011265"/>
                </a:lnTo>
                <a:lnTo>
                  <a:pt x="10093" y="980086"/>
                </a:lnTo>
                <a:lnTo>
                  <a:pt x="0" y="938844"/>
                </a:lnTo>
                <a:lnTo>
                  <a:pt x="0" y="713867"/>
                </a:lnTo>
                <a:lnTo>
                  <a:pt x="0" y="578993"/>
                </a:lnTo>
                <a:close/>
              </a:path>
            </a:pathLst>
          </a:custGeom>
          <a:ln w="28956">
            <a:solidFill>
              <a:srgbClr val="000000"/>
            </a:solidFill>
          </a:ln>
        </p:spPr>
        <p:txBody>
          <a:bodyPr wrap="square" lIns="0" tIns="0" rIns="0" bIns="0" rtlCol="0"/>
          <a:lstStyle/>
          <a:p>
            <a:endParaRPr/>
          </a:p>
        </p:txBody>
      </p:sp>
      <p:sp>
        <p:nvSpPr>
          <p:cNvPr id="21" name="object 21"/>
          <p:cNvSpPr txBox="1"/>
          <p:nvPr/>
        </p:nvSpPr>
        <p:spPr>
          <a:xfrm>
            <a:off x="3391661" y="3981259"/>
            <a:ext cx="2476500"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定时器句柄的地址</a:t>
            </a:r>
            <a:endParaRPr sz="2400">
              <a:latin typeface="宋体"/>
              <a:cs typeface="宋体"/>
            </a:endParaRPr>
          </a:p>
        </p:txBody>
      </p:sp>
      <p:sp>
        <p:nvSpPr>
          <p:cNvPr id="22" name="object 22"/>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23" name="object 23"/>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24" name="object 24"/>
          <p:cNvSpPr/>
          <p:nvPr/>
        </p:nvSpPr>
        <p:spPr>
          <a:xfrm>
            <a:off x="6425946" y="3470528"/>
            <a:ext cx="5340350" cy="1416685"/>
          </a:xfrm>
          <a:custGeom>
            <a:avLst/>
            <a:gdLst/>
            <a:ahLst/>
            <a:cxnLst/>
            <a:rect l="l" t="t" r="r" b="b"/>
            <a:pathLst>
              <a:path w="5340350" h="1416685">
                <a:moveTo>
                  <a:pt x="4715256" y="0"/>
                </a:moveTo>
                <a:lnTo>
                  <a:pt x="3115055" y="405765"/>
                </a:lnTo>
                <a:lnTo>
                  <a:pt x="157299" y="406125"/>
                </a:lnTo>
                <a:lnTo>
                  <a:pt x="142845" y="407694"/>
                </a:lnTo>
                <a:lnTo>
                  <a:pt x="102041" y="419357"/>
                </a:lnTo>
                <a:lnTo>
                  <a:pt x="66182" y="440352"/>
                </a:lnTo>
                <a:lnTo>
                  <a:pt x="36691" y="469254"/>
                </a:lnTo>
                <a:lnTo>
                  <a:pt x="14991" y="504641"/>
                </a:lnTo>
                <a:lnTo>
                  <a:pt x="2504" y="545090"/>
                </a:lnTo>
                <a:lnTo>
                  <a:pt x="0" y="574167"/>
                </a:lnTo>
                <a:lnTo>
                  <a:pt x="0" y="826770"/>
                </a:lnTo>
                <a:lnTo>
                  <a:pt x="360" y="1258877"/>
                </a:lnTo>
                <a:lnTo>
                  <a:pt x="8598" y="1301013"/>
                </a:lnTo>
                <a:lnTo>
                  <a:pt x="26640" y="1338678"/>
                </a:lnTo>
                <a:lnTo>
                  <a:pt x="53064" y="1370450"/>
                </a:lnTo>
                <a:lnTo>
                  <a:pt x="86447" y="1394905"/>
                </a:lnTo>
                <a:lnTo>
                  <a:pt x="125367" y="1410622"/>
                </a:lnTo>
                <a:lnTo>
                  <a:pt x="168401" y="1416177"/>
                </a:lnTo>
                <a:lnTo>
                  <a:pt x="4450080" y="1416177"/>
                </a:lnTo>
                <a:lnTo>
                  <a:pt x="5182796" y="1415816"/>
                </a:lnTo>
                <a:lnTo>
                  <a:pt x="5224932" y="1407578"/>
                </a:lnTo>
                <a:lnTo>
                  <a:pt x="5262597" y="1389536"/>
                </a:lnTo>
                <a:lnTo>
                  <a:pt x="5294369" y="1363112"/>
                </a:lnTo>
                <a:lnTo>
                  <a:pt x="5318824" y="1329729"/>
                </a:lnTo>
                <a:lnTo>
                  <a:pt x="5334541" y="1290809"/>
                </a:lnTo>
                <a:lnTo>
                  <a:pt x="5340096" y="1247775"/>
                </a:lnTo>
                <a:lnTo>
                  <a:pt x="5340096" y="574167"/>
                </a:lnTo>
                <a:lnTo>
                  <a:pt x="5335403" y="534547"/>
                </a:lnTo>
                <a:lnTo>
                  <a:pt x="5320471" y="495233"/>
                </a:lnTo>
                <a:lnTo>
                  <a:pt x="5296683" y="461339"/>
                </a:lnTo>
                <a:lnTo>
                  <a:pt x="5265461" y="434287"/>
                </a:lnTo>
                <a:lnTo>
                  <a:pt x="5228228" y="415500"/>
                </a:lnTo>
                <a:lnTo>
                  <a:pt x="5186407" y="406399"/>
                </a:lnTo>
                <a:lnTo>
                  <a:pt x="5171694" y="405765"/>
                </a:lnTo>
                <a:lnTo>
                  <a:pt x="4450080" y="405765"/>
                </a:lnTo>
                <a:lnTo>
                  <a:pt x="4715256" y="0"/>
                </a:lnTo>
                <a:close/>
              </a:path>
            </a:pathLst>
          </a:custGeom>
          <a:solidFill>
            <a:srgbClr val="FFFFC7"/>
          </a:solidFill>
        </p:spPr>
        <p:txBody>
          <a:bodyPr wrap="square" lIns="0" tIns="0" rIns="0" bIns="0" rtlCol="0"/>
          <a:lstStyle/>
          <a:p>
            <a:endParaRPr/>
          </a:p>
        </p:txBody>
      </p:sp>
      <p:sp>
        <p:nvSpPr>
          <p:cNvPr id="25" name="object 25"/>
          <p:cNvSpPr/>
          <p:nvPr/>
        </p:nvSpPr>
        <p:spPr>
          <a:xfrm>
            <a:off x="6425946" y="3470528"/>
            <a:ext cx="5340350" cy="1416685"/>
          </a:xfrm>
          <a:custGeom>
            <a:avLst/>
            <a:gdLst/>
            <a:ahLst/>
            <a:cxnLst/>
            <a:rect l="l" t="t" r="r" b="b"/>
            <a:pathLst>
              <a:path w="5340350" h="1416685">
                <a:moveTo>
                  <a:pt x="0" y="574167"/>
                </a:moveTo>
                <a:lnTo>
                  <a:pt x="5554" y="531132"/>
                </a:lnTo>
                <a:lnTo>
                  <a:pt x="21271" y="492212"/>
                </a:lnTo>
                <a:lnTo>
                  <a:pt x="45726" y="458829"/>
                </a:lnTo>
                <a:lnTo>
                  <a:pt x="77498" y="432405"/>
                </a:lnTo>
                <a:lnTo>
                  <a:pt x="115163" y="414363"/>
                </a:lnTo>
                <a:lnTo>
                  <a:pt x="157299" y="406125"/>
                </a:lnTo>
                <a:lnTo>
                  <a:pt x="3115055" y="405765"/>
                </a:lnTo>
                <a:lnTo>
                  <a:pt x="4715256" y="0"/>
                </a:lnTo>
                <a:lnTo>
                  <a:pt x="4450080" y="405765"/>
                </a:lnTo>
                <a:lnTo>
                  <a:pt x="5171694" y="405765"/>
                </a:lnTo>
                <a:lnTo>
                  <a:pt x="5186407" y="406399"/>
                </a:lnTo>
                <a:lnTo>
                  <a:pt x="5228228" y="415500"/>
                </a:lnTo>
                <a:lnTo>
                  <a:pt x="5265461" y="434287"/>
                </a:lnTo>
                <a:lnTo>
                  <a:pt x="5296683" y="461339"/>
                </a:lnTo>
                <a:lnTo>
                  <a:pt x="5320471" y="495233"/>
                </a:lnTo>
                <a:lnTo>
                  <a:pt x="5335403" y="534547"/>
                </a:lnTo>
                <a:lnTo>
                  <a:pt x="5340096" y="574167"/>
                </a:lnTo>
                <a:lnTo>
                  <a:pt x="5340096" y="826770"/>
                </a:lnTo>
                <a:lnTo>
                  <a:pt x="5340096" y="1247775"/>
                </a:lnTo>
                <a:lnTo>
                  <a:pt x="5339461" y="1262488"/>
                </a:lnTo>
                <a:lnTo>
                  <a:pt x="5330360" y="1304309"/>
                </a:lnTo>
                <a:lnTo>
                  <a:pt x="5311573" y="1341542"/>
                </a:lnTo>
                <a:lnTo>
                  <a:pt x="5284521" y="1372764"/>
                </a:lnTo>
                <a:lnTo>
                  <a:pt x="5250627" y="1396552"/>
                </a:lnTo>
                <a:lnTo>
                  <a:pt x="5211313" y="1411484"/>
                </a:lnTo>
                <a:lnTo>
                  <a:pt x="4450080" y="1416177"/>
                </a:lnTo>
                <a:lnTo>
                  <a:pt x="3115055" y="1416177"/>
                </a:lnTo>
                <a:lnTo>
                  <a:pt x="168401" y="1416177"/>
                </a:lnTo>
                <a:lnTo>
                  <a:pt x="153688" y="1415542"/>
                </a:lnTo>
                <a:lnTo>
                  <a:pt x="111867" y="1406441"/>
                </a:lnTo>
                <a:lnTo>
                  <a:pt x="74634" y="1387654"/>
                </a:lnTo>
                <a:lnTo>
                  <a:pt x="43412" y="1360602"/>
                </a:lnTo>
                <a:lnTo>
                  <a:pt x="19624" y="1326708"/>
                </a:lnTo>
                <a:lnTo>
                  <a:pt x="4692" y="1287394"/>
                </a:lnTo>
                <a:lnTo>
                  <a:pt x="0" y="826770"/>
                </a:lnTo>
                <a:lnTo>
                  <a:pt x="0" y="574167"/>
                </a:lnTo>
                <a:close/>
              </a:path>
            </a:pathLst>
          </a:custGeom>
          <a:ln w="28955">
            <a:solidFill>
              <a:srgbClr val="000000"/>
            </a:solidFill>
          </a:ln>
        </p:spPr>
        <p:txBody>
          <a:bodyPr wrap="square" lIns="0" tIns="0" rIns="0" bIns="0" rtlCol="0"/>
          <a:lstStyle/>
          <a:p>
            <a:endParaRPr/>
          </a:p>
        </p:txBody>
      </p:sp>
      <p:sp>
        <p:nvSpPr>
          <p:cNvPr id="26" name="object 26"/>
          <p:cNvSpPr txBox="1"/>
          <p:nvPr/>
        </p:nvSpPr>
        <p:spPr>
          <a:xfrm>
            <a:off x="6575552" y="4055038"/>
            <a:ext cx="5043170" cy="711200"/>
          </a:xfrm>
          <a:prstGeom prst="rect">
            <a:avLst/>
          </a:prstGeom>
        </p:spPr>
        <p:txBody>
          <a:bodyPr vert="horz" wrap="square" lIns="0" tIns="0" rIns="0" bIns="0" rtlCol="0">
            <a:spAutoFit/>
          </a:bodyPr>
          <a:lstStyle/>
          <a:p>
            <a:pPr algn="ctr">
              <a:lnSpc>
                <a:spcPts val="2795"/>
              </a:lnSpc>
            </a:pPr>
            <a:r>
              <a:rPr sz="2400" b="1" spc="-5" dirty="0">
                <a:latin typeface="宋体"/>
                <a:cs typeface="宋体"/>
              </a:rPr>
              <a:t>该函数通过直接访问计数器寄存器</a:t>
            </a:r>
            <a:endParaRPr sz="2400">
              <a:latin typeface="宋体"/>
              <a:cs typeface="宋体"/>
            </a:endParaRPr>
          </a:p>
          <a:p>
            <a:pPr algn="ctr">
              <a:lnSpc>
                <a:spcPts val="2795"/>
              </a:lnSpc>
            </a:pPr>
            <a:r>
              <a:rPr sz="2400" b="1" spc="-5" dirty="0">
                <a:latin typeface="Consolas"/>
                <a:cs typeface="Consolas"/>
              </a:rPr>
              <a:t>TIMx_CNT</a:t>
            </a:r>
            <a:r>
              <a:rPr sz="2400" b="1" dirty="0">
                <a:latin typeface="宋体"/>
                <a:cs typeface="宋体"/>
              </a:rPr>
              <a:t>来获取计数器的当前计数值</a:t>
            </a:r>
            <a:endParaRPr sz="2400">
              <a:latin typeface="宋体"/>
              <a:cs typeface="宋体"/>
            </a:endParaRPr>
          </a:p>
        </p:txBody>
      </p:sp>
      <p:sp>
        <p:nvSpPr>
          <p:cNvPr id="27" name="object 27"/>
          <p:cNvSpPr/>
          <p:nvPr/>
        </p:nvSpPr>
        <p:spPr>
          <a:xfrm>
            <a:off x="5223215" y="3377914"/>
            <a:ext cx="335915" cy="0"/>
          </a:xfrm>
          <a:custGeom>
            <a:avLst/>
            <a:gdLst/>
            <a:ahLst/>
            <a:cxnLst/>
            <a:rect l="l" t="t" r="r" b="b"/>
            <a:pathLst>
              <a:path w="335914">
                <a:moveTo>
                  <a:pt x="0" y="0"/>
                </a:moveTo>
                <a:lnTo>
                  <a:pt x="335615" y="0"/>
                </a:lnTo>
              </a:path>
            </a:pathLst>
          </a:custGeom>
          <a:ln w="28756">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0906022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96076" y="6247638"/>
            <a:ext cx="4528820" cy="528320"/>
          </a:xfrm>
          <a:prstGeom prst="rect">
            <a:avLst/>
          </a:prstGeom>
        </p:spPr>
        <p:txBody>
          <a:bodyPr vert="horz" wrap="square" lIns="0" tIns="0" rIns="0" bIns="0" rtlCol="0">
            <a:spAutoFit/>
          </a:bodyPr>
          <a:lstStyle/>
          <a:p>
            <a:pPr marL="2976880">
              <a:lnSpc>
                <a:spcPts val="1370"/>
              </a:lnSpc>
            </a:pPr>
            <a:r>
              <a:rPr sz="1200" b="1" spc="-5" dirty="0">
                <a:solidFill>
                  <a:srgbClr val="FFFFFF"/>
                </a:solidFill>
                <a:latin typeface="黑体"/>
                <a:cs typeface="黑体"/>
              </a:rPr>
              <a:t>-- 南昌大学“卓越”</a:t>
            </a:r>
            <a:endParaRPr sz="1200">
              <a:latin typeface="黑体"/>
              <a:cs typeface="黑体"/>
            </a:endParaRPr>
          </a:p>
        </p:txBody>
      </p:sp>
      <p:sp>
        <p:nvSpPr>
          <p:cNvPr id="3" name="object 3"/>
          <p:cNvSpPr txBox="1"/>
          <p:nvPr/>
        </p:nvSpPr>
        <p:spPr>
          <a:xfrm>
            <a:off x="10608309" y="6610699"/>
            <a:ext cx="139700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黑体"/>
                <a:cs typeface="黑体"/>
              </a:rPr>
              <a:t>辅导员培养工程建设</a:t>
            </a:r>
            <a:endParaRPr sz="1200">
              <a:latin typeface="黑体"/>
              <a:cs typeface="黑体"/>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48869" y="1169405"/>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中断标志清除</a:t>
            </a:r>
            <a:endParaRPr sz="2400">
              <a:latin typeface="微软雅黑"/>
              <a:cs typeface="微软雅黑"/>
            </a:endParaRPr>
          </a:p>
        </p:txBody>
      </p:sp>
      <p:sp>
        <p:nvSpPr>
          <p:cNvPr id="11" name="object 11"/>
          <p:cNvSpPr txBox="1">
            <a:spLocks noGrp="1"/>
          </p:cNvSpPr>
          <p:nvPr>
            <p:ph type="title"/>
          </p:nvPr>
        </p:nvSpPr>
        <p:spPr>
          <a:xfrm>
            <a:off x="3271520" y="1147120"/>
            <a:ext cx="8115300" cy="381000"/>
          </a:xfrm>
          <a:prstGeom prst="rect">
            <a:avLst/>
          </a:prstGeom>
        </p:spPr>
        <p:txBody>
          <a:bodyPr vert="horz" wrap="square" lIns="0" tIns="0" rIns="0" bIns="0" rtlCol="0">
            <a:spAutoFit/>
          </a:bodyPr>
          <a:lstStyle/>
          <a:p>
            <a:pPr marL="12700">
              <a:lnSpc>
                <a:spcPct val="100000"/>
              </a:lnSpc>
              <a:tabLst>
                <a:tab pos="443865" algn="l"/>
                <a:tab pos="4667250" algn="l"/>
              </a:tabLst>
            </a:pPr>
            <a:r>
              <a:rPr spc="-5" dirty="0">
                <a:latin typeface="微软雅黑"/>
                <a:cs typeface="微软雅黑"/>
              </a:rPr>
              <a:t>7	</a:t>
            </a:r>
            <a:r>
              <a:rPr spc="-5" dirty="0"/>
              <a:t>定时器中断标志清除函</a:t>
            </a:r>
            <a:r>
              <a:rPr dirty="0"/>
              <a:t>数</a:t>
            </a:r>
            <a:r>
              <a:rPr u="heavy" spc="-5" dirty="0">
                <a:latin typeface="微软雅黑"/>
                <a:cs typeface="微软雅黑"/>
              </a:rPr>
              <a:t> </a:t>
            </a:r>
            <a:r>
              <a:rPr u="heavy" dirty="0">
                <a:latin typeface="微软雅黑"/>
                <a:cs typeface="微软雅黑"/>
              </a:rPr>
              <a:t>	</a:t>
            </a:r>
            <a:r>
              <a:rPr spc="-10" dirty="0">
                <a:latin typeface="微软雅黑"/>
                <a:cs typeface="微软雅黑"/>
              </a:rPr>
              <a:t>HAL_TIM_</a:t>
            </a:r>
            <a:r>
              <a:rPr spc="0" dirty="0">
                <a:latin typeface="微软雅黑"/>
                <a:cs typeface="微软雅黑"/>
              </a:rPr>
              <a:t>C</a:t>
            </a:r>
            <a:r>
              <a:rPr spc="-5" dirty="0">
                <a:latin typeface="微软雅黑"/>
                <a:cs typeface="微软雅黑"/>
              </a:rPr>
              <a:t>L</a:t>
            </a:r>
            <a:r>
              <a:rPr spc="25" dirty="0">
                <a:latin typeface="微软雅黑"/>
                <a:cs typeface="微软雅黑"/>
              </a:rPr>
              <a:t>E</a:t>
            </a:r>
            <a:r>
              <a:rPr spc="-5" dirty="0">
                <a:latin typeface="微软雅黑"/>
                <a:cs typeface="微软雅黑"/>
              </a:rPr>
              <a:t>AR_IT</a:t>
            </a:r>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p:nvPr/>
        </p:nvSpPr>
        <p:spPr>
          <a:xfrm>
            <a:off x="1465325" y="2234945"/>
            <a:ext cx="9263380" cy="1201420"/>
          </a:xfrm>
          <a:custGeom>
            <a:avLst/>
            <a:gdLst/>
            <a:ahLst/>
            <a:cxnLst/>
            <a:rect l="l" t="t" r="r" b="b"/>
            <a:pathLst>
              <a:path w="9263380" h="1201420">
                <a:moveTo>
                  <a:pt x="0" y="1200912"/>
                </a:moveTo>
                <a:lnTo>
                  <a:pt x="9262872" y="1200912"/>
                </a:lnTo>
                <a:lnTo>
                  <a:pt x="9262872" y="0"/>
                </a:lnTo>
                <a:lnTo>
                  <a:pt x="0" y="0"/>
                </a:lnTo>
                <a:lnTo>
                  <a:pt x="0" y="1200912"/>
                </a:lnTo>
                <a:close/>
              </a:path>
            </a:pathLst>
          </a:custGeom>
          <a:solidFill>
            <a:srgbClr val="D9D9D9"/>
          </a:solidFill>
        </p:spPr>
        <p:txBody>
          <a:bodyPr wrap="square" lIns="0" tIns="0" rIns="0" bIns="0" rtlCol="0"/>
          <a:lstStyle/>
          <a:p>
            <a:endParaRPr/>
          </a:p>
        </p:txBody>
      </p:sp>
      <p:sp>
        <p:nvSpPr>
          <p:cNvPr id="14" name="object 14"/>
          <p:cNvSpPr/>
          <p:nvPr/>
        </p:nvSpPr>
        <p:spPr>
          <a:xfrm>
            <a:off x="1465325" y="2234945"/>
            <a:ext cx="9263380" cy="1201420"/>
          </a:xfrm>
          <a:custGeom>
            <a:avLst/>
            <a:gdLst/>
            <a:ahLst/>
            <a:cxnLst/>
            <a:rect l="l" t="t" r="r" b="b"/>
            <a:pathLst>
              <a:path w="9263380" h="1201420">
                <a:moveTo>
                  <a:pt x="0" y="1200912"/>
                </a:moveTo>
                <a:lnTo>
                  <a:pt x="9262872" y="1200912"/>
                </a:lnTo>
                <a:lnTo>
                  <a:pt x="9262872" y="0"/>
                </a:lnTo>
                <a:lnTo>
                  <a:pt x="0" y="0"/>
                </a:lnTo>
                <a:lnTo>
                  <a:pt x="0" y="1200912"/>
                </a:lnTo>
                <a:close/>
              </a:path>
            </a:pathLst>
          </a:custGeom>
          <a:ln w="28956">
            <a:solidFill>
              <a:srgbClr val="5B9BD4"/>
            </a:solidFill>
          </a:ln>
        </p:spPr>
        <p:txBody>
          <a:bodyPr wrap="square" lIns="0" tIns="0" rIns="0" bIns="0" rtlCol="0"/>
          <a:lstStyle/>
          <a:p>
            <a:endParaRPr/>
          </a:p>
        </p:txBody>
      </p:sp>
      <p:sp>
        <p:nvSpPr>
          <p:cNvPr id="15" name="object 15"/>
          <p:cNvSpPr txBox="1"/>
          <p:nvPr/>
        </p:nvSpPr>
        <p:spPr>
          <a:xfrm>
            <a:off x="1543558" y="2452951"/>
            <a:ext cx="8937625" cy="878840"/>
          </a:xfrm>
          <a:prstGeom prst="rect">
            <a:avLst/>
          </a:prstGeom>
        </p:spPr>
        <p:txBody>
          <a:bodyPr vert="horz" wrap="square" lIns="0" tIns="0" rIns="0" bIns="0" rtlCol="0">
            <a:spAutoFit/>
          </a:bodyPr>
          <a:lstStyle/>
          <a:p>
            <a:pPr marL="12700" marR="5080">
              <a:lnSpc>
                <a:spcPct val="150000"/>
              </a:lnSpc>
              <a:tabLst>
                <a:tab pos="2030095" algn="l"/>
                <a:tab pos="4888865" algn="l"/>
                <a:tab pos="6906259" algn="l"/>
              </a:tabLst>
            </a:pPr>
            <a:r>
              <a:rPr sz="2400" b="1" spc="-5" dirty="0">
                <a:latin typeface="Consolas"/>
                <a:cs typeface="Consolas"/>
              </a:rPr>
              <a:t>#d</a:t>
            </a:r>
            <a:r>
              <a:rPr sz="2400" b="1" spc="0" dirty="0">
                <a:latin typeface="Consolas"/>
                <a:cs typeface="Consolas"/>
              </a:rPr>
              <a:t>e</a:t>
            </a:r>
            <a:r>
              <a:rPr sz="2400" b="1" spc="-5" dirty="0">
                <a:latin typeface="Consolas"/>
                <a:cs typeface="Consolas"/>
              </a:rPr>
              <a:t>fi</a:t>
            </a:r>
            <a:r>
              <a:rPr sz="2400" b="1" spc="0" dirty="0">
                <a:latin typeface="Consolas"/>
                <a:cs typeface="Consolas"/>
              </a:rPr>
              <a:t>n</a:t>
            </a:r>
            <a:r>
              <a:rPr sz="2400" b="1" spc="-5" dirty="0">
                <a:latin typeface="Consolas"/>
                <a:cs typeface="Consolas"/>
              </a:rPr>
              <a:t>e</a:t>
            </a:r>
            <a:r>
              <a:rPr sz="2400" b="1" spc="10" dirty="0">
                <a:latin typeface="Consolas"/>
                <a:cs typeface="Consolas"/>
              </a:rPr>
              <a:t> </a:t>
            </a:r>
            <a:r>
              <a:rPr sz="2400" b="1" spc="0" dirty="0">
                <a:latin typeface="Consolas"/>
                <a:cs typeface="Consolas"/>
              </a:rPr>
              <a:t>_</a:t>
            </a:r>
            <a:r>
              <a:rPr sz="2400" b="1" spc="-5" dirty="0">
                <a:latin typeface="Consolas"/>
                <a:cs typeface="Consolas"/>
              </a:rPr>
              <a:t>_H</a:t>
            </a:r>
            <a:r>
              <a:rPr sz="2400" b="1" spc="0" dirty="0">
                <a:latin typeface="Consolas"/>
                <a:cs typeface="Consolas"/>
              </a:rPr>
              <a:t>A</a:t>
            </a:r>
            <a:r>
              <a:rPr sz="2400" b="1" spc="-5" dirty="0">
                <a:latin typeface="Consolas"/>
                <a:cs typeface="Consolas"/>
              </a:rPr>
              <a:t>L_</a:t>
            </a:r>
            <a:r>
              <a:rPr sz="2400" b="1" spc="0" dirty="0">
                <a:latin typeface="Consolas"/>
                <a:cs typeface="Consolas"/>
              </a:rPr>
              <a:t>T</a:t>
            </a:r>
            <a:r>
              <a:rPr sz="2400" b="1" spc="-5" dirty="0">
                <a:latin typeface="Consolas"/>
                <a:cs typeface="Consolas"/>
              </a:rPr>
              <a:t>I</a:t>
            </a:r>
            <a:r>
              <a:rPr sz="2400" b="1" spc="0" dirty="0">
                <a:latin typeface="Consolas"/>
                <a:cs typeface="Consolas"/>
              </a:rPr>
              <a:t>M_</a:t>
            </a:r>
            <a:r>
              <a:rPr sz="2400" b="1" spc="-5" dirty="0">
                <a:latin typeface="Consolas"/>
                <a:cs typeface="Consolas"/>
              </a:rPr>
              <a:t>CL</a:t>
            </a:r>
            <a:r>
              <a:rPr sz="2400" b="1" spc="0" dirty="0">
                <a:latin typeface="Consolas"/>
                <a:cs typeface="Consolas"/>
              </a:rPr>
              <a:t>E</a:t>
            </a:r>
            <a:r>
              <a:rPr sz="2400" b="1" spc="-5" dirty="0">
                <a:latin typeface="Consolas"/>
                <a:cs typeface="Consolas"/>
              </a:rPr>
              <a:t>AR</a:t>
            </a:r>
            <a:r>
              <a:rPr sz="2400" b="1" spc="0" dirty="0">
                <a:latin typeface="Consolas"/>
                <a:cs typeface="Consolas"/>
              </a:rPr>
              <a:t>_</a:t>
            </a:r>
            <a:r>
              <a:rPr sz="2400" b="1" spc="-5" dirty="0">
                <a:latin typeface="Consolas"/>
                <a:cs typeface="Consolas"/>
              </a:rPr>
              <a:t>I</a:t>
            </a:r>
            <a:r>
              <a:rPr sz="2400" b="1" spc="0" dirty="0">
                <a:latin typeface="Consolas"/>
                <a:cs typeface="Consolas"/>
              </a:rPr>
              <a:t>T</a:t>
            </a:r>
            <a:r>
              <a:rPr sz="2400" b="1" spc="-5" dirty="0">
                <a:latin typeface="Consolas"/>
                <a:cs typeface="Consolas"/>
              </a:rPr>
              <a:t>(</a:t>
            </a:r>
            <a:r>
              <a:rPr sz="2400" b="1" dirty="0">
                <a:latin typeface="Consolas"/>
                <a:cs typeface="Consolas"/>
              </a:rPr>
              <a:t>	H</a:t>
            </a:r>
            <a:r>
              <a:rPr sz="2400" b="1" spc="-5" dirty="0">
                <a:latin typeface="Consolas"/>
                <a:cs typeface="Consolas"/>
              </a:rPr>
              <a:t>AN</a:t>
            </a:r>
            <a:r>
              <a:rPr sz="2400" b="1" spc="0" dirty="0">
                <a:latin typeface="Consolas"/>
                <a:cs typeface="Consolas"/>
              </a:rPr>
              <a:t>D</a:t>
            </a:r>
            <a:r>
              <a:rPr sz="2400" b="1" spc="-5" dirty="0">
                <a:latin typeface="Consolas"/>
                <a:cs typeface="Consolas"/>
              </a:rPr>
              <a:t>L</a:t>
            </a:r>
            <a:r>
              <a:rPr sz="2400" b="1" spc="0" dirty="0">
                <a:latin typeface="Consolas"/>
                <a:cs typeface="Consolas"/>
              </a:rPr>
              <a:t>E_</a:t>
            </a:r>
            <a:r>
              <a:rPr sz="2400" b="1" spc="-5" dirty="0">
                <a:latin typeface="Consolas"/>
                <a:cs typeface="Consolas"/>
              </a:rPr>
              <a:t>_,</a:t>
            </a:r>
            <a:r>
              <a:rPr sz="2400" b="1" dirty="0">
                <a:latin typeface="Consolas"/>
                <a:cs typeface="Consolas"/>
              </a:rPr>
              <a:t>	I</a:t>
            </a:r>
            <a:r>
              <a:rPr sz="2400" b="1" spc="-5" dirty="0">
                <a:latin typeface="Consolas"/>
                <a:cs typeface="Consolas"/>
              </a:rPr>
              <a:t>N</a:t>
            </a:r>
            <a:r>
              <a:rPr sz="2400" b="1" spc="0" dirty="0">
                <a:latin typeface="Consolas"/>
                <a:cs typeface="Consolas"/>
              </a:rPr>
              <a:t>TE</a:t>
            </a:r>
            <a:r>
              <a:rPr sz="2400" b="1" spc="-5" dirty="0">
                <a:latin typeface="Consolas"/>
                <a:cs typeface="Consolas"/>
              </a:rPr>
              <a:t>RR</a:t>
            </a:r>
            <a:r>
              <a:rPr sz="2400" b="1" spc="0" dirty="0">
                <a:latin typeface="Consolas"/>
                <a:cs typeface="Consolas"/>
              </a:rPr>
              <a:t>U</a:t>
            </a:r>
            <a:r>
              <a:rPr sz="2400" b="1" spc="-5" dirty="0">
                <a:latin typeface="Consolas"/>
                <a:cs typeface="Consolas"/>
              </a:rPr>
              <a:t>PT</a:t>
            </a:r>
            <a:r>
              <a:rPr sz="2400" b="1" spc="0" dirty="0">
                <a:latin typeface="Consolas"/>
                <a:cs typeface="Consolas"/>
              </a:rPr>
              <a:t>_</a:t>
            </a:r>
            <a:r>
              <a:rPr sz="2400" b="1" spc="-5" dirty="0">
                <a:latin typeface="Consolas"/>
                <a:cs typeface="Consolas"/>
              </a:rPr>
              <a:t>_) ((</a:t>
            </a:r>
            <a:r>
              <a:rPr sz="2400" b="1" spc="0" dirty="0">
                <a:latin typeface="Consolas"/>
                <a:cs typeface="Consolas"/>
              </a:rPr>
              <a:t>_</a:t>
            </a:r>
            <a:r>
              <a:rPr sz="2400" b="1" spc="-5" dirty="0">
                <a:latin typeface="Consolas"/>
                <a:cs typeface="Consolas"/>
              </a:rPr>
              <a:t>_H</a:t>
            </a:r>
            <a:r>
              <a:rPr sz="2400" b="1" spc="0" dirty="0">
                <a:latin typeface="Consolas"/>
                <a:cs typeface="Consolas"/>
              </a:rPr>
              <a:t>A</a:t>
            </a:r>
            <a:r>
              <a:rPr sz="2400" b="1" spc="-5" dirty="0">
                <a:latin typeface="Consolas"/>
                <a:cs typeface="Consolas"/>
              </a:rPr>
              <a:t>N</a:t>
            </a:r>
            <a:r>
              <a:rPr sz="2400" b="1" spc="0" dirty="0">
                <a:latin typeface="Consolas"/>
                <a:cs typeface="Consolas"/>
              </a:rPr>
              <a:t>DL</a:t>
            </a:r>
            <a:r>
              <a:rPr sz="2400" b="1" spc="-5" dirty="0">
                <a:latin typeface="Consolas"/>
                <a:cs typeface="Consolas"/>
              </a:rPr>
              <a:t>E</a:t>
            </a:r>
            <a:r>
              <a:rPr sz="2400" b="1" dirty="0">
                <a:latin typeface="Consolas"/>
                <a:cs typeface="Consolas"/>
              </a:rPr>
              <a:t>	</a:t>
            </a:r>
            <a:r>
              <a:rPr sz="2400" b="1" spc="5" dirty="0">
                <a:latin typeface="Consolas"/>
                <a:cs typeface="Consolas"/>
              </a:rPr>
              <a:t>)</a:t>
            </a:r>
            <a:r>
              <a:rPr sz="2400" b="1" spc="-5" dirty="0">
                <a:latin typeface="Consolas"/>
                <a:cs typeface="Consolas"/>
              </a:rPr>
              <a:t>-</a:t>
            </a:r>
            <a:r>
              <a:rPr sz="2400" b="1" spc="0" dirty="0">
                <a:latin typeface="Consolas"/>
                <a:cs typeface="Consolas"/>
              </a:rPr>
              <a:t>&gt;</a:t>
            </a:r>
            <a:r>
              <a:rPr sz="2400" b="1" spc="-5" dirty="0">
                <a:latin typeface="Consolas"/>
                <a:cs typeface="Consolas"/>
              </a:rPr>
              <a:t>I</a:t>
            </a:r>
            <a:r>
              <a:rPr sz="2400" b="1" spc="0" dirty="0">
                <a:latin typeface="Consolas"/>
                <a:cs typeface="Consolas"/>
              </a:rPr>
              <a:t>ns</a:t>
            </a:r>
            <a:r>
              <a:rPr sz="2400" b="1" spc="-5" dirty="0">
                <a:latin typeface="Consolas"/>
                <a:cs typeface="Consolas"/>
              </a:rPr>
              <a:t>ta</a:t>
            </a:r>
            <a:r>
              <a:rPr sz="2400" b="1" spc="0" dirty="0">
                <a:latin typeface="Consolas"/>
                <a:cs typeface="Consolas"/>
              </a:rPr>
              <a:t>n</a:t>
            </a:r>
            <a:r>
              <a:rPr sz="2400" b="1" spc="-5" dirty="0">
                <a:latin typeface="Consolas"/>
                <a:cs typeface="Consolas"/>
              </a:rPr>
              <a:t>c</a:t>
            </a:r>
            <a:r>
              <a:rPr sz="2400" b="1" spc="0" dirty="0">
                <a:latin typeface="Consolas"/>
                <a:cs typeface="Consolas"/>
              </a:rPr>
              <a:t>e-</a:t>
            </a:r>
            <a:r>
              <a:rPr sz="2400" b="1" spc="-5" dirty="0">
                <a:latin typeface="Consolas"/>
                <a:cs typeface="Consolas"/>
              </a:rPr>
              <a:t>&gt;</a:t>
            </a:r>
            <a:r>
              <a:rPr sz="2400" b="1" spc="0" dirty="0">
                <a:latin typeface="Consolas"/>
                <a:cs typeface="Consolas"/>
              </a:rPr>
              <a:t>S</a:t>
            </a:r>
            <a:r>
              <a:rPr sz="2400" b="1" spc="-5" dirty="0">
                <a:latin typeface="Consolas"/>
                <a:cs typeface="Consolas"/>
              </a:rPr>
              <a:t>R</a:t>
            </a:r>
            <a:r>
              <a:rPr sz="2400" b="1" spc="10" dirty="0">
                <a:latin typeface="Consolas"/>
                <a:cs typeface="Consolas"/>
              </a:rPr>
              <a:t> </a:t>
            </a:r>
            <a:r>
              <a:rPr sz="2400" b="1" spc="-5" dirty="0">
                <a:latin typeface="Consolas"/>
                <a:cs typeface="Consolas"/>
              </a:rPr>
              <a:t>=</a:t>
            </a:r>
            <a:r>
              <a:rPr sz="2400" b="1" spc="10" dirty="0">
                <a:latin typeface="Consolas"/>
                <a:cs typeface="Consolas"/>
              </a:rPr>
              <a:t> </a:t>
            </a:r>
            <a:r>
              <a:rPr sz="2400" b="1" spc="-5" dirty="0">
                <a:latin typeface="Consolas"/>
                <a:cs typeface="Consolas"/>
              </a:rPr>
              <a:t>~(</a:t>
            </a:r>
            <a:r>
              <a:rPr sz="2400" b="1" spc="0" dirty="0">
                <a:latin typeface="Consolas"/>
                <a:cs typeface="Consolas"/>
              </a:rPr>
              <a:t>_</a:t>
            </a:r>
            <a:r>
              <a:rPr sz="2400" b="1" spc="-5" dirty="0">
                <a:latin typeface="Consolas"/>
                <a:cs typeface="Consolas"/>
              </a:rPr>
              <a:t>_</a:t>
            </a:r>
            <a:r>
              <a:rPr sz="2400" b="1" spc="0" dirty="0">
                <a:latin typeface="Consolas"/>
                <a:cs typeface="Consolas"/>
              </a:rPr>
              <a:t>IN</a:t>
            </a:r>
            <a:r>
              <a:rPr sz="2400" b="1" spc="-5" dirty="0">
                <a:latin typeface="Consolas"/>
                <a:cs typeface="Consolas"/>
              </a:rPr>
              <a:t>TE</a:t>
            </a:r>
            <a:r>
              <a:rPr sz="2400" b="1" spc="0" dirty="0">
                <a:latin typeface="Consolas"/>
                <a:cs typeface="Consolas"/>
              </a:rPr>
              <a:t>R</a:t>
            </a:r>
            <a:r>
              <a:rPr sz="2400" b="1" spc="-5" dirty="0">
                <a:latin typeface="Consolas"/>
                <a:cs typeface="Consolas"/>
              </a:rPr>
              <a:t>RU</a:t>
            </a:r>
            <a:r>
              <a:rPr sz="2400" b="1" spc="0" dirty="0">
                <a:latin typeface="Consolas"/>
                <a:cs typeface="Consolas"/>
              </a:rPr>
              <a:t>P</a:t>
            </a:r>
            <a:r>
              <a:rPr sz="2400" b="1" spc="-5" dirty="0">
                <a:latin typeface="Consolas"/>
                <a:cs typeface="Consolas"/>
              </a:rPr>
              <a:t>T</a:t>
            </a:r>
            <a:r>
              <a:rPr sz="2400" b="1" spc="0" dirty="0">
                <a:latin typeface="Consolas"/>
                <a:cs typeface="Consolas"/>
              </a:rPr>
              <a:t>__</a:t>
            </a:r>
            <a:r>
              <a:rPr sz="2400" b="1" spc="-5" dirty="0">
                <a:latin typeface="Consolas"/>
                <a:cs typeface="Consolas"/>
              </a:rPr>
              <a:t>))</a:t>
            </a:r>
            <a:endParaRPr sz="2400">
              <a:latin typeface="Consolas"/>
              <a:cs typeface="Consolas"/>
            </a:endParaRPr>
          </a:p>
        </p:txBody>
      </p:sp>
      <p:sp>
        <p:nvSpPr>
          <p:cNvPr id="16" name="object 16"/>
          <p:cNvSpPr/>
          <p:nvPr/>
        </p:nvSpPr>
        <p:spPr>
          <a:xfrm>
            <a:off x="5108447" y="1833372"/>
            <a:ext cx="1975485" cy="523240"/>
          </a:xfrm>
          <a:custGeom>
            <a:avLst/>
            <a:gdLst/>
            <a:ahLst/>
            <a:cxnLst/>
            <a:rect l="l" t="t" r="r" b="b"/>
            <a:pathLst>
              <a:path w="1975484" h="523239">
                <a:moveTo>
                  <a:pt x="0" y="522731"/>
                </a:moveTo>
                <a:lnTo>
                  <a:pt x="1975103" y="522731"/>
                </a:lnTo>
                <a:lnTo>
                  <a:pt x="1975103" y="0"/>
                </a:lnTo>
                <a:lnTo>
                  <a:pt x="0" y="0"/>
                </a:lnTo>
                <a:lnTo>
                  <a:pt x="0" y="522731"/>
                </a:lnTo>
                <a:close/>
              </a:path>
            </a:pathLst>
          </a:custGeom>
          <a:solidFill>
            <a:srgbClr val="E34A46"/>
          </a:solidFill>
        </p:spPr>
        <p:txBody>
          <a:bodyPr wrap="square" lIns="0" tIns="0" rIns="0" bIns="0" rtlCol="0"/>
          <a:lstStyle/>
          <a:p>
            <a:endParaRPr/>
          </a:p>
        </p:txBody>
      </p:sp>
      <p:sp>
        <p:nvSpPr>
          <p:cNvPr id="17" name="object 17"/>
          <p:cNvSpPr/>
          <p:nvPr/>
        </p:nvSpPr>
        <p:spPr>
          <a:xfrm>
            <a:off x="5108447" y="1833372"/>
            <a:ext cx="1975485" cy="523240"/>
          </a:xfrm>
          <a:custGeom>
            <a:avLst/>
            <a:gdLst/>
            <a:ahLst/>
            <a:cxnLst/>
            <a:rect l="l" t="t" r="r" b="b"/>
            <a:pathLst>
              <a:path w="1975484" h="523239">
                <a:moveTo>
                  <a:pt x="0" y="522731"/>
                </a:moveTo>
                <a:lnTo>
                  <a:pt x="1975103" y="522731"/>
                </a:lnTo>
                <a:lnTo>
                  <a:pt x="1975103" y="0"/>
                </a:lnTo>
                <a:lnTo>
                  <a:pt x="0" y="0"/>
                </a:lnTo>
                <a:lnTo>
                  <a:pt x="0" y="522731"/>
                </a:lnTo>
                <a:close/>
              </a:path>
            </a:pathLst>
          </a:custGeom>
          <a:ln w="9144">
            <a:solidFill>
              <a:srgbClr val="FFFFFF"/>
            </a:solidFill>
          </a:ln>
        </p:spPr>
        <p:txBody>
          <a:bodyPr wrap="square" lIns="0" tIns="0" rIns="0" bIns="0" rtlCol="0"/>
          <a:lstStyle/>
          <a:p>
            <a:endParaRPr/>
          </a:p>
        </p:txBody>
      </p:sp>
      <p:sp>
        <p:nvSpPr>
          <p:cNvPr id="18" name="object 18"/>
          <p:cNvSpPr txBox="1"/>
          <p:nvPr/>
        </p:nvSpPr>
        <p:spPr>
          <a:xfrm>
            <a:off x="5188077" y="1923344"/>
            <a:ext cx="1800860" cy="381000"/>
          </a:xfrm>
          <a:prstGeom prst="rect">
            <a:avLst/>
          </a:prstGeom>
        </p:spPr>
        <p:txBody>
          <a:bodyPr vert="horz" wrap="square" lIns="0" tIns="0" rIns="0" bIns="0" rtlCol="0">
            <a:spAutoFit/>
          </a:bodyPr>
          <a:lstStyle/>
          <a:p>
            <a:pPr marL="12700">
              <a:lnSpc>
                <a:spcPct val="100000"/>
              </a:lnSpc>
            </a:pPr>
            <a:r>
              <a:rPr sz="2800" b="1" spc="-5" dirty="0">
                <a:solidFill>
                  <a:srgbClr val="FFFFFF"/>
                </a:solidFill>
                <a:latin typeface="微软雅黑"/>
                <a:cs typeface="微软雅黑"/>
              </a:rPr>
              <a:t>带参数的宏</a:t>
            </a:r>
            <a:endParaRPr sz="2800">
              <a:latin typeface="微软雅黑"/>
              <a:cs typeface="微软雅黑"/>
            </a:endParaRPr>
          </a:p>
        </p:txBody>
      </p:sp>
      <p:sp>
        <p:nvSpPr>
          <p:cNvPr id="19" name="object 19"/>
          <p:cNvSpPr/>
          <p:nvPr/>
        </p:nvSpPr>
        <p:spPr>
          <a:xfrm>
            <a:off x="1464563" y="3920223"/>
            <a:ext cx="4732020" cy="466090"/>
          </a:xfrm>
          <a:custGeom>
            <a:avLst/>
            <a:gdLst/>
            <a:ahLst/>
            <a:cxnLst/>
            <a:rect l="l" t="t" r="r" b="b"/>
            <a:pathLst>
              <a:path w="4732020" h="466089">
                <a:moveTo>
                  <a:pt x="0" y="465467"/>
                </a:moveTo>
                <a:lnTo>
                  <a:pt x="4731512" y="465467"/>
                </a:lnTo>
                <a:lnTo>
                  <a:pt x="4731512" y="0"/>
                </a:lnTo>
                <a:lnTo>
                  <a:pt x="0" y="0"/>
                </a:lnTo>
                <a:lnTo>
                  <a:pt x="0" y="465467"/>
                </a:lnTo>
                <a:close/>
              </a:path>
            </a:pathLst>
          </a:custGeom>
          <a:solidFill>
            <a:srgbClr val="5B9BD4"/>
          </a:solidFill>
        </p:spPr>
        <p:txBody>
          <a:bodyPr wrap="square" lIns="0" tIns="0" rIns="0" bIns="0" rtlCol="0"/>
          <a:lstStyle/>
          <a:p>
            <a:endParaRPr/>
          </a:p>
        </p:txBody>
      </p:sp>
      <p:sp>
        <p:nvSpPr>
          <p:cNvPr id="20" name="object 20"/>
          <p:cNvSpPr/>
          <p:nvPr/>
        </p:nvSpPr>
        <p:spPr>
          <a:xfrm>
            <a:off x="6196076" y="3920223"/>
            <a:ext cx="4528820" cy="466090"/>
          </a:xfrm>
          <a:custGeom>
            <a:avLst/>
            <a:gdLst/>
            <a:ahLst/>
            <a:cxnLst/>
            <a:rect l="l" t="t" r="r" b="b"/>
            <a:pathLst>
              <a:path w="4528820" h="466089">
                <a:moveTo>
                  <a:pt x="0" y="465467"/>
                </a:moveTo>
                <a:lnTo>
                  <a:pt x="4528566" y="465467"/>
                </a:lnTo>
                <a:lnTo>
                  <a:pt x="4528566" y="0"/>
                </a:lnTo>
                <a:lnTo>
                  <a:pt x="0" y="0"/>
                </a:lnTo>
                <a:lnTo>
                  <a:pt x="0" y="465467"/>
                </a:lnTo>
                <a:close/>
              </a:path>
            </a:pathLst>
          </a:custGeom>
          <a:solidFill>
            <a:srgbClr val="5B9BD4"/>
          </a:solidFill>
        </p:spPr>
        <p:txBody>
          <a:bodyPr wrap="square" lIns="0" tIns="0" rIns="0" bIns="0" rtlCol="0"/>
          <a:lstStyle/>
          <a:p>
            <a:endParaRPr/>
          </a:p>
        </p:txBody>
      </p:sp>
      <p:sp>
        <p:nvSpPr>
          <p:cNvPr id="21" name="object 21"/>
          <p:cNvSpPr/>
          <p:nvPr/>
        </p:nvSpPr>
        <p:spPr>
          <a:xfrm>
            <a:off x="1464563" y="4385805"/>
            <a:ext cx="4732020" cy="466090"/>
          </a:xfrm>
          <a:custGeom>
            <a:avLst/>
            <a:gdLst/>
            <a:ahLst/>
            <a:cxnLst/>
            <a:rect l="l" t="t" r="r" b="b"/>
            <a:pathLst>
              <a:path w="4732020" h="466089">
                <a:moveTo>
                  <a:pt x="0" y="465467"/>
                </a:moveTo>
                <a:lnTo>
                  <a:pt x="4731512" y="465467"/>
                </a:lnTo>
                <a:lnTo>
                  <a:pt x="4731512" y="0"/>
                </a:lnTo>
                <a:lnTo>
                  <a:pt x="0" y="0"/>
                </a:lnTo>
                <a:lnTo>
                  <a:pt x="0" y="465467"/>
                </a:lnTo>
                <a:close/>
              </a:path>
            </a:pathLst>
          </a:custGeom>
          <a:solidFill>
            <a:srgbClr val="EAEEF7"/>
          </a:solidFill>
        </p:spPr>
        <p:txBody>
          <a:bodyPr wrap="square" lIns="0" tIns="0" rIns="0" bIns="0" rtlCol="0"/>
          <a:lstStyle/>
          <a:p>
            <a:endParaRPr/>
          </a:p>
        </p:txBody>
      </p:sp>
      <p:sp>
        <p:nvSpPr>
          <p:cNvPr id="22" name="object 22"/>
          <p:cNvSpPr/>
          <p:nvPr/>
        </p:nvSpPr>
        <p:spPr>
          <a:xfrm>
            <a:off x="6196076" y="4385805"/>
            <a:ext cx="4528820" cy="466090"/>
          </a:xfrm>
          <a:custGeom>
            <a:avLst/>
            <a:gdLst/>
            <a:ahLst/>
            <a:cxnLst/>
            <a:rect l="l" t="t" r="r" b="b"/>
            <a:pathLst>
              <a:path w="4528820" h="466089">
                <a:moveTo>
                  <a:pt x="0" y="465467"/>
                </a:moveTo>
                <a:lnTo>
                  <a:pt x="4528566" y="465467"/>
                </a:lnTo>
                <a:lnTo>
                  <a:pt x="4528566" y="0"/>
                </a:lnTo>
                <a:lnTo>
                  <a:pt x="0" y="0"/>
                </a:lnTo>
                <a:lnTo>
                  <a:pt x="0" y="465467"/>
                </a:lnTo>
                <a:close/>
              </a:path>
            </a:pathLst>
          </a:custGeom>
          <a:solidFill>
            <a:srgbClr val="EAEEF7"/>
          </a:solidFill>
        </p:spPr>
        <p:txBody>
          <a:bodyPr wrap="square" lIns="0" tIns="0" rIns="0" bIns="0" rtlCol="0"/>
          <a:lstStyle/>
          <a:p>
            <a:endParaRPr/>
          </a:p>
        </p:txBody>
      </p:sp>
      <p:sp>
        <p:nvSpPr>
          <p:cNvPr id="23" name="object 23"/>
          <p:cNvSpPr/>
          <p:nvPr/>
        </p:nvSpPr>
        <p:spPr>
          <a:xfrm>
            <a:off x="1464563" y="5316689"/>
            <a:ext cx="4732020" cy="465455"/>
          </a:xfrm>
          <a:custGeom>
            <a:avLst/>
            <a:gdLst/>
            <a:ahLst/>
            <a:cxnLst/>
            <a:rect l="l" t="t" r="r" b="b"/>
            <a:pathLst>
              <a:path w="4732020" h="465454">
                <a:moveTo>
                  <a:pt x="0" y="465467"/>
                </a:moveTo>
                <a:lnTo>
                  <a:pt x="4731512" y="465467"/>
                </a:lnTo>
                <a:lnTo>
                  <a:pt x="4731512" y="0"/>
                </a:lnTo>
                <a:lnTo>
                  <a:pt x="0" y="0"/>
                </a:lnTo>
                <a:lnTo>
                  <a:pt x="0" y="465467"/>
                </a:lnTo>
                <a:close/>
              </a:path>
            </a:pathLst>
          </a:custGeom>
          <a:solidFill>
            <a:srgbClr val="EAEEF7"/>
          </a:solidFill>
        </p:spPr>
        <p:txBody>
          <a:bodyPr wrap="square" lIns="0" tIns="0" rIns="0" bIns="0" rtlCol="0"/>
          <a:lstStyle/>
          <a:p>
            <a:endParaRPr/>
          </a:p>
        </p:txBody>
      </p:sp>
      <p:sp>
        <p:nvSpPr>
          <p:cNvPr id="24" name="object 24"/>
          <p:cNvSpPr/>
          <p:nvPr/>
        </p:nvSpPr>
        <p:spPr>
          <a:xfrm>
            <a:off x="6196076" y="5316689"/>
            <a:ext cx="4528820" cy="465455"/>
          </a:xfrm>
          <a:custGeom>
            <a:avLst/>
            <a:gdLst/>
            <a:ahLst/>
            <a:cxnLst/>
            <a:rect l="l" t="t" r="r" b="b"/>
            <a:pathLst>
              <a:path w="4528820" h="465454">
                <a:moveTo>
                  <a:pt x="0" y="465467"/>
                </a:moveTo>
                <a:lnTo>
                  <a:pt x="4528566" y="465467"/>
                </a:lnTo>
                <a:lnTo>
                  <a:pt x="4528566" y="0"/>
                </a:lnTo>
                <a:lnTo>
                  <a:pt x="0" y="0"/>
                </a:lnTo>
                <a:lnTo>
                  <a:pt x="0" y="465467"/>
                </a:lnTo>
                <a:close/>
              </a:path>
            </a:pathLst>
          </a:custGeom>
          <a:solidFill>
            <a:srgbClr val="EAEEF7"/>
          </a:solidFill>
        </p:spPr>
        <p:txBody>
          <a:bodyPr wrap="square" lIns="0" tIns="0" rIns="0" bIns="0" rtlCol="0"/>
          <a:lstStyle/>
          <a:p>
            <a:endParaRPr/>
          </a:p>
        </p:txBody>
      </p:sp>
      <p:sp>
        <p:nvSpPr>
          <p:cNvPr id="25" name="object 25"/>
          <p:cNvSpPr/>
          <p:nvPr/>
        </p:nvSpPr>
        <p:spPr>
          <a:xfrm>
            <a:off x="6196076" y="5782170"/>
            <a:ext cx="4528820" cy="466090"/>
          </a:xfrm>
          <a:custGeom>
            <a:avLst/>
            <a:gdLst/>
            <a:ahLst/>
            <a:cxnLst/>
            <a:rect l="l" t="t" r="r" b="b"/>
            <a:pathLst>
              <a:path w="4528820" h="466089">
                <a:moveTo>
                  <a:pt x="0" y="465467"/>
                </a:moveTo>
                <a:lnTo>
                  <a:pt x="4528566" y="465467"/>
                </a:lnTo>
                <a:lnTo>
                  <a:pt x="4528566" y="0"/>
                </a:lnTo>
                <a:lnTo>
                  <a:pt x="0" y="0"/>
                </a:lnTo>
                <a:lnTo>
                  <a:pt x="0" y="465467"/>
                </a:lnTo>
                <a:close/>
              </a:path>
            </a:pathLst>
          </a:custGeom>
          <a:solidFill>
            <a:srgbClr val="FFFFFF"/>
          </a:solidFill>
        </p:spPr>
        <p:txBody>
          <a:bodyPr wrap="square" lIns="0" tIns="0" rIns="0" bIns="0" rtlCol="0"/>
          <a:lstStyle/>
          <a:p>
            <a:endParaRPr/>
          </a:p>
        </p:txBody>
      </p:sp>
      <p:sp>
        <p:nvSpPr>
          <p:cNvPr id="26" name="object 26"/>
          <p:cNvSpPr/>
          <p:nvPr/>
        </p:nvSpPr>
        <p:spPr>
          <a:xfrm>
            <a:off x="1464563" y="6247638"/>
            <a:ext cx="4732020" cy="466090"/>
          </a:xfrm>
          <a:custGeom>
            <a:avLst/>
            <a:gdLst/>
            <a:ahLst/>
            <a:cxnLst/>
            <a:rect l="l" t="t" r="r" b="b"/>
            <a:pathLst>
              <a:path w="4732020" h="466090">
                <a:moveTo>
                  <a:pt x="0" y="465467"/>
                </a:moveTo>
                <a:lnTo>
                  <a:pt x="4731512" y="465467"/>
                </a:lnTo>
                <a:lnTo>
                  <a:pt x="4731512" y="0"/>
                </a:lnTo>
                <a:lnTo>
                  <a:pt x="0" y="0"/>
                </a:lnTo>
                <a:lnTo>
                  <a:pt x="0" y="465467"/>
                </a:lnTo>
                <a:close/>
              </a:path>
            </a:pathLst>
          </a:custGeom>
          <a:solidFill>
            <a:srgbClr val="EAEEF7"/>
          </a:solidFill>
        </p:spPr>
        <p:txBody>
          <a:bodyPr wrap="square" lIns="0" tIns="0" rIns="0" bIns="0" rtlCol="0"/>
          <a:lstStyle/>
          <a:p>
            <a:endParaRPr/>
          </a:p>
        </p:txBody>
      </p:sp>
      <p:sp>
        <p:nvSpPr>
          <p:cNvPr id="27" name="object 27"/>
          <p:cNvSpPr/>
          <p:nvPr/>
        </p:nvSpPr>
        <p:spPr>
          <a:xfrm>
            <a:off x="6196076" y="6247638"/>
            <a:ext cx="4528820" cy="466090"/>
          </a:xfrm>
          <a:custGeom>
            <a:avLst/>
            <a:gdLst/>
            <a:ahLst/>
            <a:cxnLst/>
            <a:rect l="l" t="t" r="r" b="b"/>
            <a:pathLst>
              <a:path w="4528820" h="466090">
                <a:moveTo>
                  <a:pt x="0" y="465467"/>
                </a:moveTo>
                <a:lnTo>
                  <a:pt x="4528566" y="465467"/>
                </a:lnTo>
                <a:lnTo>
                  <a:pt x="4528566" y="0"/>
                </a:lnTo>
                <a:lnTo>
                  <a:pt x="0" y="0"/>
                </a:lnTo>
                <a:lnTo>
                  <a:pt x="0" y="465467"/>
                </a:lnTo>
                <a:close/>
              </a:path>
            </a:pathLst>
          </a:custGeom>
          <a:solidFill>
            <a:srgbClr val="EAEEF7"/>
          </a:solidFill>
        </p:spPr>
        <p:txBody>
          <a:bodyPr wrap="square" lIns="0" tIns="0" rIns="0" bIns="0" rtlCol="0"/>
          <a:lstStyle/>
          <a:p>
            <a:endParaRPr/>
          </a:p>
        </p:txBody>
      </p:sp>
      <p:sp>
        <p:nvSpPr>
          <p:cNvPr id="28" name="object 28"/>
          <p:cNvSpPr/>
          <p:nvPr/>
        </p:nvSpPr>
        <p:spPr>
          <a:xfrm>
            <a:off x="6196076" y="4027932"/>
            <a:ext cx="0" cy="2700020"/>
          </a:xfrm>
          <a:custGeom>
            <a:avLst/>
            <a:gdLst/>
            <a:ahLst/>
            <a:cxnLst/>
            <a:rect l="l" t="t" r="r" b="b"/>
            <a:pathLst>
              <a:path h="2700020">
                <a:moveTo>
                  <a:pt x="0" y="0"/>
                </a:moveTo>
                <a:lnTo>
                  <a:pt x="0" y="2699461"/>
                </a:lnTo>
              </a:path>
            </a:pathLst>
          </a:custGeom>
          <a:ln w="28575">
            <a:solidFill>
              <a:srgbClr val="000000"/>
            </a:solidFill>
          </a:ln>
        </p:spPr>
        <p:txBody>
          <a:bodyPr wrap="square" lIns="0" tIns="0" rIns="0" bIns="0" rtlCol="0"/>
          <a:lstStyle/>
          <a:p>
            <a:endParaRPr/>
          </a:p>
        </p:txBody>
      </p:sp>
      <p:sp>
        <p:nvSpPr>
          <p:cNvPr id="29" name="object 29"/>
          <p:cNvSpPr/>
          <p:nvPr/>
        </p:nvSpPr>
        <p:spPr>
          <a:xfrm>
            <a:off x="1450339" y="4385690"/>
            <a:ext cx="9288780" cy="0"/>
          </a:xfrm>
          <a:custGeom>
            <a:avLst/>
            <a:gdLst/>
            <a:ahLst/>
            <a:cxnLst/>
            <a:rect l="l" t="t" r="r" b="b"/>
            <a:pathLst>
              <a:path w="9288780">
                <a:moveTo>
                  <a:pt x="0" y="0"/>
                </a:moveTo>
                <a:lnTo>
                  <a:pt x="9288653" y="0"/>
                </a:lnTo>
              </a:path>
            </a:pathLst>
          </a:custGeom>
          <a:ln w="28575">
            <a:solidFill>
              <a:srgbClr val="000000"/>
            </a:solidFill>
          </a:ln>
        </p:spPr>
        <p:txBody>
          <a:bodyPr wrap="square" lIns="0" tIns="0" rIns="0" bIns="0" rtlCol="0"/>
          <a:lstStyle/>
          <a:p>
            <a:endParaRPr/>
          </a:p>
        </p:txBody>
      </p:sp>
      <p:sp>
        <p:nvSpPr>
          <p:cNvPr id="30" name="object 30"/>
          <p:cNvSpPr/>
          <p:nvPr/>
        </p:nvSpPr>
        <p:spPr>
          <a:xfrm>
            <a:off x="1450339" y="4851272"/>
            <a:ext cx="9288780" cy="0"/>
          </a:xfrm>
          <a:custGeom>
            <a:avLst/>
            <a:gdLst/>
            <a:ahLst/>
            <a:cxnLst/>
            <a:rect l="l" t="t" r="r" b="b"/>
            <a:pathLst>
              <a:path w="9288780">
                <a:moveTo>
                  <a:pt x="0" y="0"/>
                </a:moveTo>
                <a:lnTo>
                  <a:pt x="9288653" y="0"/>
                </a:lnTo>
              </a:path>
            </a:pathLst>
          </a:custGeom>
          <a:ln w="28575">
            <a:solidFill>
              <a:srgbClr val="000000"/>
            </a:solidFill>
          </a:ln>
        </p:spPr>
        <p:txBody>
          <a:bodyPr wrap="square" lIns="0" tIns="0" rIns="0" bIns="0" rtlCol="0"/>
          <a:lstStyle/>
          <a:p>
            <a:endParaRPr/>
          </a:p>
        </p:txBody>
      </p:sp>
      <p:sp>
        <p:nvSpPr>
          <p:cNvPr id="31" name="object 31"/>
          <p:cNvSpPr/>
          <p:nvPr/>
        </p:nvSpPr>
        <p:spPr>
          <a:xfrm>
            <a:off x="1450339" y="5316728"/>
            <a:ext cx="9288780" cy="0"/>
          </a:xfrm>
          <a:custGeom>
            <a:avLst/>
            <a:gdLst/>
            <a:ahLst/>
            <a:cxnLst/>
            <a:rect l="l" t="t" r="r" b="b"/>
            <a:pathLst>
              <a:path w="9288780">
                <a:moveTo>
                  <a:pt x="0" y="0"/>
                </a:moveTo>
                <a:lnTo>
                  <a:pt x="9288653" y="0"/>
                </a:lnTo>
              </a:path>
            </a:pathLst>
          </a:custGeom>
          <a:ln w="28575">
            <a:solidFill>
              <a:srgbClr val="000000"/>
            </a:solidFill>
          </a:ln>
        </p:spPr>
        <p:txBody>
          <a:bodyPr wrap="square" lIns="0" tIns="0" rIns="0" bIns="0" rtlCol="0"/>
          <a:lstStyle/>
          <a:p>
            <a:endParaRPr/>
          </a:p>
        </p:txBody>
      </p:sp>
      <p:sp>
        <p:nvSpPr>
          <p:cNvPr id="32" name="object 32"/>
          <p:cNvSpPr/>
          <p:nvPr/>
        </p:nvSpPr>
        <p:spPr>
          <a:xfrm>
            <a:off x="1450339" y="5782157"/>
            <a:ext cx="9288780" cy="0"/>
          </a:xfrm>
          <a:custGeom>
            <a:avLst/>
            <a:gdLst/>
            <a:ahLst/>
            <a:cxnLst/>
            <a:rect l="l" t="t" r="r" b="b"/>
            <a:pathLst>
              <a:path w="9288780">
                <a:moveTo>
                  <a:pt x="0" y="0"/>
                </a:moveTo>
                <a:lnTo>
                  <a:pt x="9288653" y="0"/>
                </a:lnTo>
              </a:path>
            </a:pathLst>
          </a:custGeom>
          <a:ln w="28575">
            <a:solidFill>
              <a:srgbClr val="000000"/>
            </a:solidFill>
          </a:ln>
        </p:spPr>
        <p:txBody>
          <a:bodyPr wrap="square" lIns="0" tIns="0" rIns="0" bIns="0" rtlCol="0"/>
          <a:lstStyle/>
          <a:p>
            <a:endParaRPr/>
          </a:p>
        </p:txBody>
      </p:sp>
      <p:sp>
        <p:nvSpPr>
          <p:cNvPr id="33" name="object 33"/>
          <p:cNvSpPr/>
          <p:nvPr/>
        </p:nvSpPr>
        <p:spPr>
          <a:xfrm>
            <a:off x="1450339" y="6247638"/>
            <a:ext cx="9288780" cy="0"/>
          </a:xfrm>
          <a:custGeom>
            <a:avLst/>
            <a:gdLst/>
            <a:ahLst/>
            <a:cxnLst/>
            <a:rect l="l" t="t" r="r" b="b"/>
            <a:pathLst>
              <a:path w="9288780">
                <a:moveTo>
                  <a:pt x="0" y="0"/>
                </a:moveTo>
                <a:lnTo>
                  <a:pt x="9288653" y="0"/>
                </a:lnTo>
              </a:path>
            </a:pathLst>
          </a:custGeom>
          <a:ln w="28575">
            <a:solidFill>
              <a:srgbClr val="000000"/>
            </a:solidFill>
          </a:ln>
        </p:spPr>
        <p:txBody>
          <a:bodyPr wrap="square" lIns="0" tIns="0" rIns="0" bIns="0" rtlCol="0"/>
          <a:lstStyle/>
          <a:p>
            <a:endParaRPr/>
          </a:p>
        </p:txBody>
      </p:sp>
      <p:sp>
        <p:nvSpPr>
          <p:cNvPr id="34" name="object 34"/>
          <p:cNvSpPr/>
          <p:nvPr/>
        </p:nvSpPr>
        <p:spPr>
          <a:xfrm>
            <a:off x="1464563" y="3906011"/>
            <a:ext cx="0" cy="2821940"/>
          </a:xfrm>
          <a:custGeom>
            <a:avLst/>
            <a:gdLst/>
            <a:ahLst/>
            <a:cxnLst/>
            <a:rect l="l" t="t" r="r" b="b"/>
            <a:pathLst>
              <a:path h="2821940">
                <a:moveTo>
                  <a:pt x="0" y="0"/>
                </a:moveTo>
                <a:lnTo>
                  <a:pt x="0" y="2821381"/>
                </a:lnTo>
              </a:path>
            </a:pathLst>
          </a:custGeom>
          <a:ln w="28575">
            <a:solidFill>
              <a:srgbClr val="000000"/>
            </a:solidFill>
          </a:ln>
        </p:spPr>
        <p:txBody>
          <a:bodyPr wrap="square" lIns="0" tIns="0" rIns="0" bIns="0" rtlCol="0"/>
          <a:lstStyle/>
          <a:p>
            <a:endParaRPr/>
          </a:p>
        </p:txBody>
      </p:sp>
      <p:sp>
        <p:nvSpPr>
          <p:cNvPr id="35" name="object 35"/>
          <p:cNvSpPr/>
          <p:nvPr/>
        </p:nvSpPr>
        <p:spPr>
          <a:xfrm>
            <a:off x="10724768" y="3906011"/>
            <a:ext cx="0" cy="2821940"/>
          </a:xfrm>
          <a:custGeom>
            <a:avLst/>
            <a:gdLst/>
            <a:ahLst/>
            <a:cxnLst/>
            <a:rect l="l" t="t" r="r" b="b"/>
            <a:pathLst>
              <a:path h="2821940">
                <a:moveTo>
                  <a:pt x="0" y="0"/>
                </a:moveTo>
                <a:lnTo>
                  <a:pt x="0" y="2821381"/>
                </a:lnTo>
              </a:path>
            </a:pathLst>
          </a:custGeom>
          <a:ln w="28575">
            <a:solidFill>
              <a:srgbClr val="000000"/>
            </a:solidFill>
          </a:ln>
        </p:spPr>
        <p:txBody>
          <a:bodyPr wrap="square" lIns="0" tIns="0" rIns="0" bIns="0" rtlCol="0"/>
          <a:lstStyle/>
          <a:p>
            <a:endParaRPr/>
          </a:p>
        </p:txBody>
      </p:sp>
      <p:sp>
        <p:nvSpPr>
          <p:cNvPr id="36" name="object 36"/>
          <p:cNvSpPr/>
          <p:nvPr/>
        </p:nvSpPr>
        <p:spPr>
          <a:xfrm>
            <a:off x="7328916" y="3920235"/>
            <a:ext cx="3410585" cy="0"/>
          </a:xfrm>
          <a:custGeom>
            <a:avLst/>
            <a:gdLst/>
            <a:ahLst/>
            <a:cxnLst/>
            <a:rect l="l" t="t" r="r" b="b"/>
            <a:pathLst>
              <a:path w="3410584">
                <a:moveTo>
                  <a:pt x="0" y="0"/>
                </a:moveTo>
                <a:lnTo>
                  <a:pt x="3410077" y="0"/>
                </a:lnTo>
              </a:path>
            </a:pathLst>
          </a:custGeom>
          <a:ln w="28575">
            <a:solidFill>
              <a:srgbClr val="000000"/>
            </a:solidFill>
          </a:ln>
        </p:spPr>
        <p:txBody>
          <a:bodyPr wrap="square" lIns="0" tIns="0" rIns="0" bIns="0" rtlCol="0"/>
          <a:lstStyle/>
          <a:p>
            <a:endParaRPr/>
          </a:p>
        </p:txBody>
      </p:sp>
      <p:sp>
        <p:nvSpPr>
          <p:cNvPr id="37" name="object 37"/>
          <p:cNvSpPr/>
          <p:nvPr/>
        </p:nvSpPr>
        <p:spPr>
          <a:xfrm>
            <a:off x="1450339" y="3920235"/>
            <a:ext cx="3413125" cy="0"/>
          </a:xfrm>
          <a:custGeom>
            <a:avLst/>
            <a:gdLst/>
            <a:ahLst/>
            <a:cxnLst/>
            <a:rect l="l" t="t" r="r" b="b"/>
            <a:pathLst>
              <a:path w="3413125">
                <a:moveTo>
                  <a:pt x="0" y="0"/>
                </a:moveTo>
                <a:lnTo>
                  <a:pt x="3412744" y="0"/>
                </a:lnTo>
              </a:path>
            </a:pathLst>
          </a:custGeom>
          <a:ln w="28575">
            <a:solidFill>
              <a:srgbClr val="000000"/>
            </a:solidFill>
          </a:ln>
        </p:spPr>
        <p:txBody>
          <a:bodyPr wrap="square" lIns="0" tIns="0" rIns="0" bIns="0" rtlCol="0"/>
          <a:lstStyle/>
          <a:p>
            <a:endParaRPr/>
          </a:p>
        </p:txBody>
      </p:sp>
      <p:sp>
        <p:nvSpPr>
          <p:cNvPr id="38" name="object 38"/>
          <p:cNvSpPr/>
          <p:nvPr/>
        </p:nvSpPr>
        <p:spPr>
          <a:xfrm>
            <a:off x="1450339" y="6713105"/>
            <a:ext cx="9288780" cy="0"/>
          </a:xfrm>
          <a:custGeom>
            <a:avLst/>
            <a:gdLst/>
            <a:ahLst/>
            <a:cxnLst/>
            <a:rect l="l" t="t" r="r" b="b"/>
            <a:pathLst>
              <a:path w="9288780">
                <a:moveTo>
                  <a:pt x="0" y="0"/>
                </a:moveTo>
                <a:lnTo>
                  <a:pt x="9288653" y="0"/>
                </a:lnTo>
              </a:path>
            </a:pathLst>
          </a:custGeom>
          <a:ln w="28575">
            <a:solidFill>
              <a:srgbClr val="000000"/>
            </a:solidFill>
          </a:ln>
        </p:spPr>
        <p:txBody>
          <a:bodyPr wrap="square" lIns="0" tIns="0" rIns="0" bIns="0" rtlCol="0"/>
          <a:lstStyle/>
          <a:p>
            <a:endParaRPr/>
          </a:p>
        </p:txBody>
      </p:sp>
      <p:sp>
        <p:nvSpPr>
          <p:cNvPr id="39" name="object 39"/>
          <p:cNvSpPr txBox="1"/>
          <p:nvPr/>
        </p:nvSpPr>
        <p:spPr>
          <a:xfrm>
            <a:off x="3055747" y="4006839"/>
            <a:ext cx="15494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宏常量定义</a:t>
            </a:r>
            <a:endParaRPr sz="2400">
              <a:latin typeface="微软雅黑"/>
              <a:cs typeface="微软雅黑"/>
            </a:endParaRPr>
          </a:p>
        </p:txBody>
      </p:sp>
      <p:sp>
        <p:nvSpPr>
          <p:cNvPr id="40" name="object 40"/>
          <p:cNvSpPr txBox="1"/>
          <p:nvPr/>
        </p:nvSpPr>
        <p:spPr>
          <a:xfrm>
            <a:off x="8143113" y="4006839"/>
            <a:ext cx="6350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含义</a:t>
            </a:r>
            <a:endParaRPr sz="2400">
              <a:latin typeface="微软雅黑"/>
              <a:cs typeface="微软雅黑"/>
            </a:endParaRPr>
          </a:p>
        </p:txBody>
      </p:sp>
      <p:sp>
        <p:nvSpPr>
          <p:cNvPr id="41" name="object 41"/>
          <p:cNvSpPr txBox="1"/>
          <p:nvPr/>
        </p:nvSpPr>
        <p:spPr>
          <a:xfrm>
            <a:off x="2610739" y="4472167"/>
            <a:ext cx="2441575"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IT_UP</a:t>
            </a:r>
            <a:r>
              <a:rPr sz="2400" b="1" spc="-45" dirty="0">
                <a:latin typeface="微软雅黑"/>
                <a:cs typeface="微软雅黑"/>
              </a:rPr>
              <a:t>D</a:t>
            </a:r>
            <a:r>
              <a:rPr sz="2400" b="1" spc="-190" dirty="0">
                <a:latin typeface="微软雅黑"/>
                <a:cs typeface="微软雅黑"/>
              </a:rPr>
              <a:t>A</a:t>
            </a:r>
            <a:r>
              <a:rPr sz="2400" b="1" spc="-5" dirty="0">
                <a:latin typeface="微软雅黑"/>
                <a:cs typeface="微软雅黑"/>
              </a:rPr>
              <a:t>TE</a:t>
            </a:r>
            <a:endParaRPr sz="2400">
              <a:latin typeface="微软雅黑"/>
              <a:cs typeface="微软雅黑"/>
            </a:endParaRPr>
          </a:p>
        </p:txBody>
      </p:sp>
      <p:sp>
        <p:nvSpPr>
          <p:cNvPr id="42" name="object 42"/>
          <p:cNvSpPr txBox="1"/>
          <p:nvPr/>
        </p:nvSpPr>
        <p:spPr>
          <a:xfrm>
            <a:off x="7533513" y="4472167"/>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更新中断标志</a:t>
            </a:r>
            <a:endParaRPr sz="2400">
              <a:latin typeface="微软雅黑"/>
              <a:cs typeface="微软雅黑"/>
            </a:endParaRPr>
          </a:p>
        </p:txBody>
      </p:sp>
      <p:sp>
        <p:nvSpPr>
          <p:cNvPr id="43" name="object 43"/>
          <p:cNvSpPr txBox="1"/>
          <p:nvPr/>
        </p:nvSpPr>
        <p:spPr>
          <a:xfrm>
            <a:off x="2936875" y="4938003"/>
            <a:ext cx="1788160"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IT_</a:t>
            </a:r>
            <a:r>
              <a:rPr sz="2400" b="1" spc="-65" dirty="0">
                <a:latin typeface="微软雅黑"/>
                <a:cs typeface="微软雅黑"/>
              </a:rPr>
              <a:t>C</a:t>
            </a:r>
            <a:r>
              <a:rPr sz="2400" b="1" spc="-5" dirty="0">
                <a:latin typeface="微软雅黑"/>
                <a:cs typeface="微软雅黑"/>
              </a:rPr>
              <a:t>C1</a:t>
            </a:r>
            <a:endParaRPr sz="2400">
              <a:latin typeface="微软雅黑"/>
              <a:cs typeface="微软雅黑"/>
            </a:endParaRPr>
          </a:p>
        </p:txBody>
      </p:sp>
      <p:sp>
        <p:nvSpPr>
          <p:cNvPr id="44" name="object 44"/>
          <p:cNvSpPr txBox="1"/>
          <p:nvPr/>
        </p:nvSpPr>
        <p:spPr>
          <a:xfrm>
            <a:off x="6605143" y="4938003"/>
            <a:ext cx="371094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通道</a:t>
            </a:r>
            <a:r>
              <a:rPr sz="2400" b="1" spc="-10" dirty="0">
                <a:latin typeface="微软雅黑"/>
                <a:cs typeface="微软雅黑"/>
              </a:rPr>
              <a:t>1</a:t>
            </a:r>
            <a:r>
              <a:rPr sz="2400" b="1" dirty="0">
                <a:latin typeface="微软雅黑"/>
                <a:cs typeface="微软雅黑"/>
              </a:rPr>
              <a:t>的捕获/比较中断标志</a:t>
            </a:r>
            <a:endParaRPr sz="2400">
              <a:latin typeface="微软雅黑"/>
              <a:cs typeface="微软雅黑"/>
            </a:endParaRPr>
          </a:p>
        </p:txBody>
      </p:sp>
      <p:sp>
        <p:nvSpPr>
          <p:cNvPr id="45" name="object 45"/>
          <p:cNvSpPr txBox="1"/>
          <p:nvPr/>
        </p:nvSpPr>
        <p:spPr>
          <a:xfrm>
            <a:off x="2936875" y="5403382"/>
            <a:ext cx="1788160"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IT_</a:t>
            </a:r>
            <a:r>
              <a:rPr sz="2400" b="1" spc="-65" dirty="0">
                <a:latin typeface="微软雅黑"/>
                <a:cs typeface="微软雅黑"/>
              </a:rPr>
              <a:t>C</a:t>
            </a:r>
            <a:r>
              <a:rPr sz="2400" b="1" spc="-5" dirty="0">
                <a:latin typeface="微软雅黑"/>
                <a:cs typeface="微软雅黑"/>
              </a:rPr>
              <a:t>C2</a:t>
            </a:r>
            <a:endParaRPr sz="2400">
              <a:latin typeface="微软雅黑"/>
              <a:cs typeface="微软雅黑"/>
            </a:endParaRPr>
          </a:p>
        </p:txBody>
      </p:sp>
      <p:sp>
        <p:nvSpPr>
          <p:cNvPr id="46" name="object 46"/>
          <p:cNvSpPr txBox="1"/>
          <p:nvPr/>
        </p:nvSpPr>
        <p:spPr>
          <a:xfrm>
            <a:off x="6605143" y="5403382"/>
            <a:ext cx="371094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通道</a:t>
            </a:r>
            <a:r>
              <a:rPr sz="2400" b="1" spc="-10" dirty="0">
                <a:latin typeface="微软雅黑"/>
                <a:cs typeface="微软雅黑"/>
              </a:rPr>
              <a:t>2</a:t>
            </a:r>
            <a:r>
              <a:rPr sz="2400" b="1" dirty="0">
                <a:latin typeface="微软雅黑"/>
                <a:cs typeface="微软雅黑"/>
              </a:rPr>
              <a:t>的捕获/比较中断标志</a:t>
            </a:r>
            <a:endParaRPr sz="2400">
              <a:latin typeface="微软雅黑"/>
              <a:cs typeface="微软雅黑"/>
            </a:endParaRPr>
          </a:p>
        </p:txBody>
      </p:sp>
      <p:sp>
        <p:nvSpPr>
          <p:cNvPr id="47" name="object 47"/>
          <p:cNvSpPr txBox="1"/>
          <p:nvPr/>
        </p:nvSpPr>
        <p:spPr>
          <a:xfrm>
            <a:off x="2936875" y="5869116"/>
            <a:ext cx="1788160"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IT_</a:t>
            </a:r>
            <a:r>
              <a:rPr sz="2400" b="1" spc="-65" dirty="0">
                <a:latin typeface="微软雅黑"/>
                <a:cs typeface="微软雅黑"/>
              </a:rPr>
              <a:t>C</a:t>
            </a:r>
            <a:r>
              <a:rPr sz="2400" b="1" spc="-5" dirty="0">
                <a:latin typeface="微软雅黑"/>
                <a:cs typeface="微软雅黑"/>
              </a:rPr>
              <a:t>C3</a:t>
            </a:r>
            <a:endParaRPr sz="2400">
              <a:latin typeface="微软雅黑"/>
              <a:cs typeface="微软雅黑"/>
            </a:endParaRPr>
          </a:p>
        </p:txBody>
      </p:sp>
      <p:sp>
        <p:nvSpPr>
          <p:cNvPr id="48" name="object 48"/>
          <p:cNvSpPr txBox="1"/>
          <p:nvPr/>
        </p:nvSpPr>
        <p:spPr>
          <a:xfrm>
            <a:off x="6605143" y="5869116"/>
            <a:ext cx="371094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通道</a:t>
            </a:r>
            <a:r>
              <a:rPr sz="2400" b="1" spc="-10" dirty="0">
                <a:latin typeface="微软雅黑"/>
                <a:cs typeface="微软雅黑"/>
              </a:rPr>
              <a:t>3</a:t>
            </a:r>
            <a:r>
              <a:rPr sz="2400" b="1" dirty="0">
                <a:latin typeface="微软雅黑"/>
                <a:cs typeface="微软雅黑"/>
              </a:rPr>
              <a:t>的捕获/比较中断标志</a:t>
            </a:r>
            <a:endParaRPr sz="2400">
              <a:latin typeface="微软雅黑"/>
              <a:cs typeface="微软雅黑"/>
            </a:endParaRPr>
          </a:p>
        </p:txBody>
      </p:sp>
      <p:sp>
        <p:nvSpPr>
          <p:cNvPr id="49" name="object 49"/>
          <p:cNvSpPr txBox="1"/>
          <p:nvPr/>
        </p:nvSpPr>
        <p:spPr>
          <a:xfrm>
            <a:off x="2936875" y="6334545"/>
            <a:ext cx="1788160" cy="33020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IT_</a:t>
            </a:r>
            <a:r>
              <a:rPr sz="2400" b="1" spc="-65" dirty="0">
                <a:latin typeface="微软雅黑"/>
                <a:cs typeface="微软雅黑"/>
              </a:rPr>
              <a:t>C</a:t>
            </a:r>
            <a:r>
              <a:rPr sz="2400" b="1" spc="-5" dirty="0">
                <a:latin typeface="微软雅黑"/>
                <a:cs typeface="微软雅黑"/>
              </a:rPr>
              <a:t>C4</a:t>
            </a:r>
            <a:endParaRPr sz="2400">
              <a:latin typeface="微软雅黑"/>
              <a:cs typeface="微软雅黑"/>
            </a:endParaRPr>
          </a:p>
        </p:txBody>
      </p:sp>
      <p:sp>
        <p:nvSpPr>
          <p:cNvPr id="50" name="object 50"/>
          <p:cNvSpPr txBox="1"/>
          <p:nvPr/>
        </p:nvSpPr>
        <p:spPr>
          <a:xfrm>
            <a:off x="6605143" y="6334545"/>
            <a:ext cx="371094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通道</a:t>
            </a:r>
            <a:r>
              <a:rPr sz="2400" b="1" spc="-10" dirty="0">
                <a:latin typeface="微软雅黑"/>
                <a:cs typeface="微软雅黑"/>
              </a:rPr>
              <a:t>4</a:t>
            </a:r>
            <a:r>
              <a:rPr sz="2400" b="1" dirty="0">
                <a:latin typeface="微软雅黑"/>
                <a:cs typeface="微软雅黑"/>
              </a:rPr>
              <a:t>的捕获/比较中断标志</a:t>
            </a:r>
            <a:endParaRPr sz="2400">
              <a:latin typeface="微软雅黑"/>
              <a:cs typeface="微软雅黑"/>
            </a:endParaRPr>
          </a:p>
        </p:txBody>
      </p:sp>
      <p:sp>
        <p:nvSpPr>
          <p:cNvPr id="51" name="object 51"/>
          <p:cNvSpPr/>
          <p:nvPr/>
        </p:nvSpPr>
        <p:spPr>
          <a:xfrm>
            <a:off x="7428738" y="1628394"/>
            <a:ext cx="1798320" cy="934085"/>
          </a:xfrm>
          <a:custGeom>
            <a:avLst/>
            <a:gdLst/>
            <a:ahLst/>
            <a:cxnLst/>
            <a:rect l="l" t="t" r="r" b="b"/>
            <a:pathLst>
              <a:path w="1798320" h="934085">
                <a:moveTo>
                  <a:pt x="1676653" y="0"/>
                </a:moveTo>
                <a:lnTo>
                  <a:pt x="299719" y="0"/>
                </a:lnTo>
                <a:lnTo>
                  <a:pt x="113576" y="264"/>
                </a:lnTo>
                <a:lnTo>
                  <a:pt x="72245" y="10460"/>
                </a:lnTo>
                <a:lnTo>
                  <a:pt x="37870" y="33464"/>
                </a:lnTo>
                <a:lnTo>
                  <a:pt x="13172" y="66556"/>
                </a:lnTo>
                <a:lnTo>
                  <a:pt x="873" y="107013"/>
                </a:lnTo>
                <a:lnTo>
                  <a:pt x="0" y="121665"/>
                </a:lnTo>
                <a:lnTo>
                  <a:pt x="0" y="608329"/>
                </a:lnTo>
                <a:lnTo>
                  <a:pt x="10460" y="657750"/>
                </a:lnTo>
                <a:lnTo>
                  <a:pt x="33464" y="692125"/>
                </a:lnTo>
                <a:lnTo>
                  <a:pt x="66556" y="716823"/>
                </a:lnTo>
                <a:lnTo>
                  <a:pt x="107013" y="729122"/>
                </a:lnTo>
                <a:lnTo>
                  <a:pt x="121665" y="729995"/>
                </a:lnTo>
                <a:lnTo>
                  <a:pt x="299719" y="729995"/>
                </a:lnTo>
                <a:lnTo>
                  <a:pt x="163321" y="934084"/>
                </a:lnTo>
                <a:lnTo>
                  <a:pt x="749300" y="729995"/>
                </a:lnTo>
                <a:lnTo>
                  <a:pt x="1684743" y="729731"/>
                </a:lnTo>
                <a:lnTo>
                  <a:pt x="1699125" y="727924"/>
                </a:lnTo>
                <a:lnTo>
                  <a:pt x="1738440" y="713156"/>
                </a:lnTo>
                <a:lnTo>
                  <a:pt x="1769892" y="686487"/>
                </a:lnTo>
                <a:lnTo>
                  <a:pt x="1790759" y="650637"/>
                </a:lnTo>
                <a:lnTo>
                  <a:pt x="1798319" y="608329"/>
                </a:lnTo>
                <a:lnTo>
                  <a:pt x="1798319" y="425830"/>
                </a:lnTo>
                <a:lnTo>
                  <a:pt x="1798055" y="113576"/>
                </a:lnTo>
                <a:lnTo>
                  <a:pt x="1787859" y="72245"/>
                </a:lnTo>
                <a:lnTo>
                  <a:pt x="1764855" y="37870"/>
                </a:lnTo>
                <a:lnTo>
                  <a:pt x="1731763" y="13172"/>
                </a:lnTo>
                <a:lnTo>
                  <a:pt x="1691306" y="873"/>
                </a:lnTo>
                <a:lnTo>
                  <a:pt x="1676653" y="0"/>
                </a:lnTo>
                <a:close/>
              </a:path>
            </a:pathLst>
          </a:custGeom>
          <a:solidFill>
            <a:srgbClr val="FFFFC7"/>
          </a:solidFill>
        </p:spPr>
        <p:txBody>
          <a:bodyPr wrap="square" lIns="0" tIns="0" rIns="0" bIns="0" rtlCol="0"/>
          <a:lstStyle/>
          <a:p>
            <a:endParaRPr/>
          </a:p>
        </p:txBody>
      </p:sp>
      <p:sp>
        <p:nvSpPr>
          <p:cNvPr id="52" name="object 52"/>
          <p:cNvSpPr/>
          <p:nvPr/>
        </p:nvSpPr>
        <p:spPr>
          <a:xfrm>
            <a:off x="7428738" y="1628394"/>
            <a:ext cx="1798320" cy="934085"/>
          </a:xfrm>
          <a:custGeom>
            <a:avLst/>
            <a:gdLst/>
            <a:ahLst/>
            <a:cxnLst/>
            <a:rect l="l" t="t" r="r" b="b"/>
            <a:pathLst>
              <a:path w="1798320" h="934085">
                <a:moveTo>
                  <a:pt x="0" y="121665"/>
                </a:moveTo>
                <a:lnTo>
                  <a:pt x="7560" y="79358"/>
                </a:lnTo>
                <a:lnTo>
                  <a:pt x="28427" y="43508"/>
                </a:lnTo>
                <a:lnTo>
                  <a:pt x="59879" y="16839"/>
                </a:lnTo>
                <a:lnTo>
                  <a:pt x="99194" y="2071"/>
                </a:lnTo>
                <a:lnTo>
                  <a:pt x="299719" y="0"/>
                </a:lnTo>
                <a:lnTo>
                  <a:pt x="749300" y="0"/>
                </a:lnTo>
                <a:lnTo>
                  <a:pt x="1676653" y="0"/>
                </a:lnTo>
                <a:lnTo>
                  <a:pt x="1691306" y="873"/>
                </a:lnTo>
                <a:lnTo>
                  <a:pt x="1731763" y="13172"/>
                </a:lnTo>
                <a:lnTo>
                  <a:pt x="1764855" y="37870"/>
                </a:lnTo>
                <a:lnTo>
                  <a:pt x="1787859" y="72245"/>
                </a:lnTo>
                <a:lnTo>
                  <a:pt x="1798055" y="113576"/>
                </a:lnTo>
                <a:lnTo>
                  <a:pt x="1798319" y="425830"/>
                </a:lnTo>
                <a:lnTo>
                  <a:pt x="1798319" y="608329"/>
                </a:lnTo>
                <a:lnTo>
                  <a:pt x="1797446" y="622982"/>
                </a:lnTo>
                <a:lnTo>
                  <a:pt x="1794892" y="637118"/>
                </a:lnTo>
                <a:lnTo>
                  <a:pt x="1778158" y="675422"/>
                </a:lnTo>
                <a:lnTo>
                  <a:pt x="1749932" y="705454"/>
                </a:lnTo>
                <a:lnTo>
                  <a:pt x="1712935" y="724492"/>
                </a:lnTo>
                <a:lnTo>
                  <a:pt x="749300" y="729995"/>
                </a:lnTo>
                <a:lnTo>
                  <a:pt x="163321" y="934084"/>
                </a:lnTo>
                <a:lnTo>
                  <a:pt x="299719" y="729995"/>
                </a:lnTo>
                <a:lnTo>
                  <a:pt x="121665" y="729995"/>
                </a:lnTo>
                <a:lnTo>
                  <a:pt x="107013" y="729122"/>
                </a:lnTo>
                <a:lnTo>
                  <a:pt x="66556" y="716823"/>
                </a:lnTo>
                <a:lnTo>
                  <a:pt x="33464" y="692125"/>
                </a:lnTo>
                <a:lnTo>
                  <a:pt x="10460" y="657750"/>
                </a:lnTo>
                <a:lnTo>
                  <a:pt x="264" y="616419"/>
                </a:lnTo>
                <a:lnTo>
                  <a:pt x="0" y="608329"/>
                </a:lnTo>
                <a:lnTo>
                  <a:pt x="0" y="425830"/>
                </a:lnTo>
                <a:lnTo>
                  <a:pt x="0" y="121665"/>
                </a:lnTo>
                <a:close/>
              </a:path>
            </a:pathLst>
          </a:custGeom>
          <a:ln w="28956">
            <a:solidFill>
              <a:srgbClr val="000000"/>
            </a:solidFill>
          </a:ln>
        </p:spPr>
        <p:txBody>
          <a:bodyPr wrap="square" lIns="0" tIns="0" rIns="0" bIns="0" rtlCol="0"/>
          <a:lstStyle/>
          <a:p>
            <a:endParaRPr/>
          </a:p>
        </p:txBody>
      </p:sp>
      <p:sp>
        <p:nvSpPr>
          <p:cNvPr id="53" name="object 53"/>
          <p:cNvSpPr txBox="1"/>
          <p:nvPr/>
        </p:nvSpPr>
        <p:spPr>
          <a:xfrm>
            <a:off x="7548753" y="1666422"/>
            <a:ext cx="1557020" cy="330835"/>
          </a:xfrm>
          <a:prstGeom prst="rect">
            <a:avLst/>
          </a:prstGeom>
        </p:spPr>
        <p:txBody>
          <a:bodyPr vert="horz" wrap="square" lIns="0" tIns="0" rIns="0" bIns="0" rtlCol="0">
            <a:spAutoFit/>
          </a:bodyPr>
          <a:lstStyle/>
          <a:p>
            <a:pPr marL="12700">
              <a:lnSpc>
                <a:spcPts val="2840"/>
              </a:lnSpc>
            </a:pPr>
            <a:r>
              <a:rPr sz="2400" b="1" spc="-5" dirty="0">
                <a:latin typeface="宋体"/>
                <a:cs typeface="宋体"/>
              </a:rPr>
              <a:t>定时器句柄</a:t>
            </a:r>
            <a:endParaRPr sz="2400">
              <a:latin typeface="宋体"/>
              <a:cs typeface="宋体"/>
            </a:endParaRPr>
          </a:p>
        </p:txBody>
      </p:sp>
      <p:sp>
        <p:nvSpPr>
          <p:cNvPr id="54" name="object 54"/>
          <p:cNvSpPr txBox="1"/>
          <p:nvPr/>
        </p:nvSpPr>
        <p:spPr>
          <a:xfrm>
            <a:off x="7855077" y="2011362"/>
            <a:ext cx="94488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的地址</a:t>
            </a:r>
            <a:endParaRPr sz="2400">
              <a:latin typeface="宋体"/>
              <a:cs typeface="宋体"/>
            </a:endParaRPr>
          </a:p>
        </p:txBody>
      </p:sp>
      <p:sp>
        <p:nvSpPr>
          <p:cNvPr id="55" name="object 55"/>
          <p:cNvSpPr/>
          <p:nvPr/>
        </p:nvSpPr>
        <p:spPr>
          <a:xfrm>
            <a:off x="9699497" y="1751838"/>
            <a:ext cx="2400300" cy="711200"/>
          </a:xfrm>
          <a:custGeom>
            <a:avLst/>
            <a:gdLst/>
            <a:ahLst/>
            <a:cxnLst/>
            <a:rect l="l" t="t" r="r" b="b"/>
            <a:pathLst>
              <a:path w="2400300" h="711200">
                <a:moveTo>
                  <a:pt x="2308098" y="0"/>
                </a:moveTo>
                <a:lnTo>
                  <a:pt x="88246" y="83"/>
                </a:lnTo>
                <a:lnTo>
                  <a:pt x="47535" y="11519"/>
                </a:lnTo>
                <a:lnTo>
                  <a:pt x="16924" y="38944"/>
                </a:lnTo>
                <a:lnTo>
                  <a:pt x="1145" y="77625"/>
                </a:lnTo>
                <a:lnTo>
                  <a:pt x="0" y="92201"/>
                </a:lnTo>
                <a:lnTo>
                  <a:pt x="83" y="464965"/>
                </a:lnTo>
                <a:lnTo>
                  <a:pt x="11519" y="505676"/>
                </a:lnTo>
                <a:lnTo>
                  <a:pt x="38944" y="536287"/>
                </a:lnTo>
                <a:lnTo>
                  <a:pt x="77625" y="552066"/>
                </a:lnTo>
                <a:lnTo>
                  <a:pt x="92201" y="553212"/>
                </a:lnTo>
                <a:lnTo>
                  <a:pt x="400050" y="553212"/>
                </a:lnTo>
                <a:lnTo>
                  <a:pt x="303529" y="711200"/>
                </a:lnTo>
                <a:lnTo>
                  <a:pt x="1000125" y="553212"/>
                </a:lnTo>
                <a:lnTo>
                  <a:pt x="2312053" y="553128"/>
                </a:lnTo>
                <a:lnTo>
                  <a:pt x="2326453" y="551385"/>
                </a:lnTo>
                <a:lnTo>
                  <a:pt x="2364323" y="534093"/>
                </a:lnTo>
                <a:lnTo>
                  <a:pt x="2390517" y="502390"/>
                </a:lnTo>
                <a:lnTo>
                  <a:pt x="2400300" y="461010"/>
                </a:lnTo>
                <a:lnTo>
                  <a:pt x="2400216" y="88246"/>
                </a:lnTo>
                <a:lnTo>
                  <a:pt x="2388780" y="47535"/>
                </a:lnTo>
                <a:lnTo>
                  <a:pt x="2361355" y="16924"/>
                </a:lnTo>
                <a:lnTo>
                  <a:pt x="2322674" y="1145"/>
                </a:lnTo>
                <a:lnTo>
                  <a:pt x="2308098" y="0"/>
                </a:lnTo>
                <a:close/>
              </a:path>
            </a:pathLst>
          </a:custGeom>
          <a:solidFill>
            <a:srgbClr val="FFFFC7"/>
          </a:solidFill>
        </p:spPr>
        <p:txBody>
          <a:bodyPr wrap="square" lIns="0" tIns="0" rIns="0" bIns="0" rtlCol="0"/>
          <a:lstStyle/>
          <a:p>
            <a:endParaRPr/>
          </a:p>
        </p:txBody>
      </p:sp>
      <p:sp>
        <p:nvSpPr>
          <p:cNvPr id="56" name="object 56"/>
          <p:cNvSpPr/>
          <p:nvPr/>
        </p:nvSpPr>
        <p:spPr>
          <a:xfrm>
            <a:off x="9699497" y="1751838"/>
            <a:ext cx="2400300" cy="711200"/>
          </a:xfrm>
          <a:custGeom>
            <a:avLst/>
            <a:gdLst/>
            <a:ahLst/>
            <a:cxnLst/>
            <a:rect l="l" t="t" r="r" b="b"/>
            <a:pathLst>
              <a:path w="2400300" h="711200">
                <a:moveTo>
                  <a:pt x="0" y="92201"/>
                </a:moveTo>
                <a:lnTo>
                  <a:pt x="9782" y="50821"/>
                </a:lnTo>
                <a:lnTo>
                  <a:pt x="35976" y="19118"/>
                </a:lnTo>
                <a:lnTo>
                  <a:pt x="73846" y="1826"/>
                </a:lnTo>
                <a:lnTo>
                  <a:pt x="400050" y="0"/>
                </a:lnTo>
                <a:lnTo>
                  <a:pt x="1000125" y="0"/>
                </a:lnTo>
                <a:lnTo>
                  <a:pt x="2308098" y="0"/>
                </a:lnTo>
                <a:lnTo>
                  <a:pt x="2322674" y="1145"/>
                </a:lnTo>
                <a:lnTo>
                  <a:pt x="2361355" y="16924"/>
                </a:lnTo>
                <a:lnTo>
                  <a:pt x="2388780" y="47535"/>
                </a:lnTo>
                <a:lnTo>
                  <a:pt x="2400216" y="88246"/>
                </a:lnTo>
                <a:lnTo>
                  <a:pt x="2400300" y="322707"/>
                </a:lnTo>
                <a:lnTo>
                  <a:pt x="2400300" y="461010"/>
                </a:lnTo>
                <a:lnTo>
                  <a:pt x="2399154" y="475586"/>
                </a:lnTo>
                <a:lnTo>
                  <a:pt x="2395835" y="489438"/>
                </a:lnTo>
                <a:lnTo>
                  <a:pt x="2374586" y="524893"/>
                </a:lnTo>
                <a:lnTo>
                  <a:pt x="2340082" y="547514"/>
                </a:lnTo>
                <a:lnTo>
                  <a:pt x="1000125" y="553212"/>
                </a:lnTo>
                <a:lnTo>
                  <a:pt x="303529" y="711200"/>
                </a:lnTo>
                <a:lnTo>
                  <a:pt x="400050" y="553212"/>
                </a:lnTo>
                <a:lnTo>
                  <a:pt x="92201" y="553212"/>
                </a:lnTo>
                <a:lnTo>
                  <a:pt x="77625" y="552066"/>
                </a:lnTo>
                <a:lnTo>
                  <a:pt x="38944" y="536287"/>
                </a:lnTo>
                <a:lnTo>
                  <a:pt x="11519" y="505676"/>
                </a:lnTo>
                <a:lnTo>
                  <a:pt x="83" y="464965"/>
                </a:lnTo>
                <a:lnTo>
                  <a:pt x="0" y="461010"/>
                </a:lnTo>
                <a:lnTo>
                  <a:pt x="0" y="322707"/>
                </a:lnTo>
                <a:lnTo>
                  <a:pt x="0" y="92201"/>
                </a:lnTo>
                <a:close/>
              </a:path>
            </a:pathLst>
          </a:custGeom>
          <a:ln w="28956">
            <a:solidFill>
              <a:srgbClr val="000000"/>
            </a:solidFill>
          </a:ln>
        </p:spPr>
        <p:txBody>
          <a:bodyPr wrap="square" lIns="0" tIns="0" rIns="0" bIns="0" rtlCol="0"/>
          <a:lstStyle/>
          <a:p>
            <a:endParaRPr/>
          </a:p>
        </p:txBody>
      </p:sp>
      <p:sp>
        <p:nvSpPr>
          <p:cNvPr id="57" name="object 57"/>
          <p:cNvSpPr txBox="1"/>
          <p:nvPr/>
        </p:nvSpPr>
        <p:spPr>
          <a:xfrm>
            <a:off x="9816210" y="1863534"/>
            <a:ext cx="2169795"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定时器中断标志</a:t>
            </a:r>
            <a:endParaRPr sz="2400">
              <a:latin typeface="宋体"/>
              <a:cs typeface="宋体"/>
            </a:endParaRPr>
          </a:p>
        </p:txBody>
      </p:sp>
      <p:sp>
        <p:nvSpPr>
          <p:cNvPr id="58" name="object 58"/>
          <p:cNvSpPr/>
          <p:nvPr/>
        </p:nvSpPr>
        <p:spPr>
          <a:xfrm>
            <a:off x="4863084" y="3505200"/>
            <a:ext cx="2466340" cy="523240"/>
          </a:xfrm>
          <a:custGeom>
            <a:avLst/>
            <a:gdLst/>
            <a:ahLst/>
            <a:cxnLst/>
            <a:rect l="l" t="t" r="r" b="b"/>
            <a:pathLst>
              <a:path w="2466340" h="523239">
                <a:moveTo>
                  <a:pt x="0" y="522731"/>
                </a:moveTo>
                <a:lnTo>
                  <a:pt x="2465832" y="522731"/>
                </a:lnTo>
                <a:lnTo>
                  <a:pt x="2465832" y="0"/>
                </a:lnTo>
                <a:lnTo>
                  <a:pt x="0" y="0"/>
                </a:lnTo>
                <a:lnTo>
                  <a:pt x="0" y="522731"/>
                </a:lnTo>
                <a:close/>
              </a:path>
            </a:pathLst>
          </a:custGeom>
          <a:ln w="9143">
            <a:solidFill>
              <a:srgbClr val="FFFFFF"/>
            </a:solidFill>
          </a:ln>
        </p:spPr>
        <p:txBody>
          <a:bodyPr wrap="square" lIns="0" tIns="0" rIns="0" bIns="0" rtlCol="0"/>
          <a:lstStyle/>
          <a:p>
            <a:endParaRPr/>
          </a:p>
        </p:txBody>
      </p:sp>
      <p:sp>
        <p:nvSpPr>
          <p:cNvPr id="59" name="object 59"/>
          <p:cNvSpPr txBox="1"/>
          <p:nvPr/>
        </p:nvSpPr>
        <p:spPr>
          <a:xfrm>
            <a:off x="4863084" y="3505200"/>
            <a:ext cx="2466340" cy="523240"/>
          </a:xfrm>
          <a:prstGeom prst="rect">
            <a:avLst/>
          </a:prstGeom>
          <a:solidFill>
            <a:srgbClr val="E34A46"/>
          </a:solidFill>
        </p:spPr>
        <p:txBody>
          <a:bodyPr vert="horz" wrap="square" lIns="0" tIns="0" rIns="0" bIns="0" rtlCol="0">
            <a:spAutoFit/>
          </a:bodyPr>
          <a:lstStyle/>
          <a:p>
            <a:pPr marL="198755">
              <a:lnSpc>
                <a:spcPct val="100000"/>
              </a:lnSpc>
            </a:pPr>
            <a:r>
              <a:rPr sz="2800" b="1" spc="-10" dirty="0">
                <a:solidFill>
                  <a:srgbClr val="FFFFFF"/>
                </a:solidFill>
                <a:latin typeface="微软雅黑"/>
                <a:cs typeface="微软雅黑"/>
              </a:rPr>
              <a:t>常用中断标志</a:t>
            </a:r>
            <a:endParaRPr sz="2800">
              <a:latin typeface="微软雅黑"/>
              <a:cs typeface="微软雅黑"/>
            </a:endParaRPr>
          </a:p>
        </p:txBody>
      </p:sp>
      <p:sp>
        <p:nvSpPr>
          <p:cNvPr id="60" name="object 60"/>
          <p:cNvSpPr/>
          <p:nvPr/>
        </p:nvSpPr>
        <p:spPr>
          <a:xfrm>
            <a:off x="6097168" y="2738677"/>
            <a:ext cx="335280" cy="0"/>
          </a:xfrm>
          <a:custGeom>
            <a:avLst/>
            <a:gdLst/>
            <a:ahLst/>
            <a:cxnLst/>
            <a:rect l="l" t="t" r="r" b="b"/>
            <a:pathLst>
              <a:path w="335279">
                <a:moveTo>
                  <a:pt x="0" y="0"/>
                </a:moveTo>
                <a:lnTo>
                  <a:pt x="335280" y="0"/>
                </a:lnTo>
              </a:path>
            </a:pathLst>
          </a:custGeom>
          <a:ln w="28727">
            <a:solidFill>
              <a:srgbClr val="000000"/>
            </a:solidFill>
          </a:ln>
        </p:spPr>
        <p:txBody>
          <a:bodyPr wrap="square" lIns="0" tIns="0" rIns="0" bIns="0" rtlCol="0"/>
          <a:lstStyle/>
          <a:p>
            <a:endParaRPr/>
          </a:p>
        </p:txBody>
      </p:sp>
      <p:sp>
        <p:nvSpPr>
          <p:cNvPr id="61" name="object 61"/>
          <p:cNvSpPr/>
          <p:nvPr/>
        </p:nvSpPr>
        <p:spPr>
          <a:xfrm>
            <a:off x="8114944" y="2738677"/>
            <a:ext cx="335280" cy="0"/>
          </a:xfrm>
          <a:custGeom>
            <a:avLst/>
            <a:gdLst/>
            <a:ahLst/>
            <a:cxnLst/>
            <a:rect l="l" t="t" r="r" b="b"/>
            <a:pathLst>
              <a:path w="335279">
                <a:moveTo>
                  <a:pt x="0" y="0"/>
                </a:moveTo>
                <a:lnTo>
                  <a:pt x="335280" y="0"/>
                </a:lnTo>
              </a:path>
            </a:pathLst>
          </a:custGeom>
          <a:ln w="28727">
            <a:solidFill>
              <a:srgbClr val="000000"/>
            </a:solidFill>
          </a:ln>
        </p:spPr>
        <p:txBody>
          <a:bodyPr wrap="square" lIns="0" tIns="0" rIns="0" bIns="0" rtlCol="0"/>
          <a:lstStyle/>
          <a:p>
            <a:endParaRPr/>
          </a:p>
        </p:txBody>
      </p:sp>
      <p:sp>
        <p:nvSpPr>
          <p:cNvPr id="62" name="object 62"/>
          <p:cNvSpPr/>
          <p:nvPr/>
        </p:nvSpPr>
        <p:spPr>
          <a:xfrm>
            <a:off x="3237594" y="3287317"/>
            <a:ext cx="335280" cy="0"/>
          </a:xfrm>
          <a:custGeom>
            <a:avLst/>
            <a:gdLst/>
            <a:ahLst/>
            <a:cxnLst/>
            <a:rect l="l" t="t" r="r" b="b"/>
            <a:pathLst>
              <a:path w="335279">
                <a:moveTo>
                  <a:pt x="0" y="0"/>
                </a:moveTo>
                <a:lnTo>
                  <a:pt x="335280" y="0"/>
                </a:lnTo>
              </a:path>
            </a:pathLst>
          </a:custGeom>
          <a:ln w="28727">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7202544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txBox="1"/>
          <p:nvPr/>
        </p:nvSpPr>
        <p:spPr>
          <a:xfrm>
            <a:off x="57099" y="1177914"/>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定时中断流程</a:t>
            </a:r>
            <a:endParaRPr sz="2400">
              <a:latin typeface="微软雅黑"/>
              <a:cs typeface="微软雅黑"/>
            </a:endParaRPr>
          </a:p>
        </p:txBody>
      </p:sp>
      <p:sp>
        <p:nvSpPr>
          <p:cNvPr id="9" name="object 9"/>
          <p:cNvSpPr txBox="1"/>
          <p:nvPr/>
        </p:nvSpPr>
        <p:spPr>
          <a:xfrm>
            <a:off x="3186683" y="1089660"/>
            <a:ext cx="6621780" cy="832485"/>
          </a:xfrm>
          <a:prstGeom prst="rect">
            <a:avLst/>
          </a:prstGeom>
          <a:solidFill>
            <a:srgbClr val="00AFEF"/>
          </a:solidFill>
        </p:spPr>
        <p:txBody>
          <a:bodyPr vert="horz" wrap="square" lIns="0" tIns="0" rIns="0" bIns="0" rtlCol="0">
            <a:spAutoFit/>
          </a:bodyPr>
          <a:lstStyle/>
          <a:p>
            <a:pPr marL="287020">
              <a:lnSpc>
                <a:spcPct val="100000"/>
              </a:lnSpc>
            </a:pPr>
            <a:r>
              <a:rPr sz="2400" b="1" dirty="0">
                <a:solidFill>
                  <a:srgbClr val="FFFFFF"/>
                </a:solidFill>
                <a:latin typeface="微软雅黑"/>
                <a:cs typeface="微软雅黑"/>
              </a:rPr>
              <a:t>定时器</a:t>
            </a:r>
            <a:r>
              <a:rPr sz="2400" b="1" spc="-10" dirty="0">
                <a:solidFill>
                  <a:srgbClr val="FFFFFF"/>
                </a:solidFill>
                <a:latin typeface="微软雅黑"/>
                <a:cs typeface="微软雅黑"/>
              </a:rPr>
              <a:t>10</a:t>
            </a:r>
            <a:r>
              <a:rPr sz="2400" b="1" dirty="0">
                <a:solidFill>
                  <a:srgbClr val="FFFFFF"/>
                </a:solidFill>
                <a:latin typeface="微软雅黑"/>
                <a:cs typeface="微软雅黑"/>
              </a:rPr>
              <a:t>递增计数，从</a:t>
            </a:r>
            <a:r>
              <a:rPr sz="2400" b="1" spc="-10" dirty="0">
                <a:solidFill>
                  <a:srgbClr val="FFFFFF"/>
                </a:solidFill>
                <a:latin typeface="微软雅黑"/>
                <a:cs typeface="微软雅黑"/>
              </a:rPr>
              <a:t>0</a:t>
            </a:r>
            <a:r>
              <a:rPr sz="2400" b="1" dirty="0">
                <a:solidFill>
                  <a:srgbClr val="FFFFFF"/>
                </a:solidFill>
                <a:latin typeface="微软雅黑"/>
                <a:cs typeface="微软雅黑"/>
              </a:rPr>
              <a:t>开始记到自动重载值</a:t>
            </a:r>
            <a:endParaRPr sz="2400">
              <a:latin typeface="微软雅黑"/>
              <a:cs typeface="微软雅黑"/>
            </a:endParaRPr>
          </a:p>
          <a:p>
            <a:pPr marL="239395">
              <a:lnSpc>
                <a:spcPct val="100000"/>
              </a:lnSpc>
            </a:pPr>
            <a:r>
              <a:rPr sz="2400" b="1" dirty="0">
                <a:solidFill>
                  <a:srgbClr val="FFFFFF"/>
                </a:solidFill>
                <a:latin typeface="微软雅黑"/>
                <a:cs typeface="微软雅黑"/>
              </a:rPr>
              <a:t>AR</a:t>
            </a:r>
            <a:r>
              <a:rPr sz="2400" b="1" spc="5" dirty="0">
                <a:solidFill>
                  <a:srgbClr val="FFFFFF"/>
                </a:solidFill>
                <a:latin typeface="微软雅黑"/>
                <a:cs typeface="微软雅黑"/>
              </a:rPr>
              <a:t>R</a:t>
            </a:r>
            <a:r>
              <a:rPr sz="2400" b="1" dirty="0">
                <a:solidFill>
                  <a:srgbClr val="FFFFFF"/>
                </a:solidFill>
                <a:latin typeface="微软雅黑"/>
                <a:cs typeface="微软雅黑"/>
              </a:rPr>
              <a:t>时，产生计数器上溢事件，触发更新中断</a:t>
            </a:r>
            <a:endParaRPr sz="2400">
              <a:latin typeface="微软雅黑"/>
              <a:cs typeface="微软雅黑"/>
            </a:endParaRPr>
          </a:p>
        </p:txBody>
      </p:sp>
      <p:sp>
        <p:nvSpPr>
          <p:cNvPr id="10" name="object 10"/>
          <p:cNvSpPr/>
          <p:nvPr/>
        </p:nvSpPr>
        <p:spPr>
          <a:xfrm>
            <a:off x="6013703" y="1921764"/>
            <a:ext cx="649224" cy="419100"/>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3186683" y="2359151"/>
            <a:ext cx="6621780" cy="832485"/>
          </a:xfrm>
          <a:prstGeom prst="rect">
            <a:avLst/>
          </a:prstGeom>
          <a:solidFill>
            <a:srgbClr val="00AFEF"/>
          </a:solidFill>
        </p:spPr>
        <p:txBody>
          <a:bodyPr vert="horz" wrap="square" lIns="0" tIns="0" rIns="0" bIns="0" rtlCol="0">
            <a:spAutoFit/>
          </a:bodyPr>
          <a:lstStyle/>
          <a:p>
            <a:pPr marL="650875" marR="102870" indent="-541020">
              <a:lnSpc>
                <a:spcPct val="100000"/>
              </a:lnSpc>
            </a:pPr>
            <a:r>
              <a:rPr sz="2400" b="1" dirty="0">
                <a:solidFill>
                  <a:srgbClr val="FFFFFF"/>
                </a:solidFill>
                <a:latin typeface="微软雅黑"/>
                <a:cs typeface="微软雅黑"/>
              </a:rPr>
              <a:t>在启动文件中根据中断类型号找到对应的中断服 务程</a:t>
            </a:r>
            <a:r>
              <a:rPr sz="2400" b="1" spc="-5" dirty="0">
                <a:solidFill>
                  <a:srgbClr val="FFFFFF"/>
                </a:solidFill>
                <a:latin typeface="微软雅黑"/>
                <a:cs typeface="微软雅黑"/>
              </a:rPr>
              <a:t>序TIM1_UP_TI</a:t>
            </a:r>
            <a:r>
              <a:rPr sz="2400" b="1" spc="5" dirty="0">
                <a:solidFill>
                  <a:srgbClr val="FFFFFF"/>
                </a:solidFill>
                <a:latin typeface="微软雅黑"/>
                <a:cs typeface="微软雅黑"/>
              </a:rPr>
              <a:t>M</a:t>
            </a:r>
            <a:r>
              <a:rPr sz="2400" b="1" spc="-5" dirty="0">
                <a:solidFill>
                  <a:srgbClr val="FFFFFF"/>
                </a:solidFill>
                <a:latin typeface="微软雅黑"/>
                <a:cs typeface="微软雅黑"/>
              </a:rPr>
              <a:t>1</a:t>
            </a:r>
            <a:r>
              <a:rPr sz="2400" b="1" spc="-15" dirty="0">
                <a:solidFill>
                  <a:srgbClr val="FFFFFF"/>
                </a:solidFill>
                <a:latin typeface="微软雅黑"/>
                <a:cs typeface="微软雅黑"/>
              </a:rPr>
              <a:t>0</a:t>
            </a:r>
            <a:r>
              <a:rPr sz="2400" b="1" spc="-5" dirty="0">
                <a:solidFill>
                  <a:srgbClr val="FFFFFF"/>
                </a:solidFill>
                <a:latin typeface="微软雅黑"/>
                <a:cs typeface="微软雅黑"/>
              </a:rPr>
              <a:t>_I</a:t>
            </a:r>
            <a:r>
              <a:rPr sz="2400" b="1" spc="-30" dirty="0">
                <a:solidFill>
                  <a:srgbClr val="FFFFFF"/>
                </a:solidFill>
                <a:latin typeface="微软雅黑"/>
                <a:cs typeface="微软雅黑"/>
              </a:rPr>
              <a:t>R</a:t>
            </a:r>
            <a:r>
              <a:rPr sz="2400" b="1" spc="-5" dirty="0">
                <a:solidFill>
                  <a:srgbClr val="FFFFFF"/>
                </a:solidFill>
                <a:latin typeface="微软雅黑"/>
                <a:cs typeface="微软雅黑"/>
              </a:rPr>
              <a:t>Q</a:t>
            </a:r>
            <a:r>
              <a:rPr sz="2400" b="1" spc="-15" dirty="0">
                <a:solidFill>
                  <a:srgbClr val="FFFFFF"/>
                </a:solidFill>
                <a:latin typeface="微软雅黑"/>
                <a:cs typeface="微软雅黑"/>
              </a:rPr>
              <a:t>H</a:t>
            </a:r>
            <a:r>
              <a:rPr sz="2400" b="1" spc="-5" dirty="0">
                <a:solidFill>
                  <a:srgbClr val="FFFFFF"/>
                </a:solidFill>
                <a:latin typeface="微软雅黑"/>
                <a:cs typeface="微软雅黑"/>
              </a:rPr>
              <a:t>a</a:t>
            </a:r>
            <a:r>
              <a:rPr sz="2400" b="1" dirty="0">
                <a:solidFill>
                  <a:srgbClr val="FFFFFF"/>
                </a:solidFill>
                <a:latin typeface="微软雅黑"/>
                <a:cs typeface="微软雅黑"/>
              </a:rPr>
              <a:t>n</a:t>
            </a:r>
            <a:r>
              <a:rPr sz="2400" b="1" spc="-5" dirty="0">
                <a:solidFill>
                  <a:srgbClr val="FFFFFF"/>
                </a:solidFill>
                <a:latin typeface="微软雅黑"/>
                <a:cs typeface="微软雅黑"/>
              </a:rPr>
              <a:t>dl</a:t>
            </a:r>
            <a:r>
              <a:rPr sz="2400" b="1" spc="-15" dirty="0">
                <a:solidFill>
                  <a:srgbClr val="FFFFFF"/>
                </a:solidFill>
                <a:latin typeface="微软雅黑"/>
                <a:cs typeface="微软雅黑"/>
              </a:rPr>
              <a:t>e</a:t>
            </a:r>
            <a:r>
              <a:rPr sz="2400" b="1" spc="-5" dirty="0">
                <a:solidFill>
                  <a:srgbClr val="FFFFFF"/>
                </a:solidFill>
                <a:latin typeface="微软雅黑"/>
                <a:cs typeface="微软雅黑"/>
              </a:rPr>
              <a:t>r</a:t>
            </a:r>
            <a:endParaRPr sz="2400">
              <a:latin typeface="微软雅黑"/>
              <a:cs typeface="微软雅黑"/>
            </a:endParaRPr>
          </a:p>
        </p:txBody>
      </p:sp>
      <p:sp>
        <p:nvSpPr>
          <p:cNvPr id="12" name="object 12"/>
          <p:cNvSpPr/>
          <p:nvPr/>
        </p:nvSpPr>
        <p:spPr>
          <a:xfrm>
            <a:off x="6013703" y="3209544"/>
            <a:ext cx="649224" cy="419099"/>
          </a:xfrm>
          <a:prstGeom prst="rect">
            <a:avLst/>
          </a:prstGeom>
          <a:blipFill>
            <a:blip r:embed="rId5" cstate="print"/>
            <a:stretch>
              <a:fillRect/>
            </a:stretch>
          </a:blipFill>
        </p:spPr>
        <p:txBody>
          <a:bodyPr wrap="square" lIns="0" tIns="0" rIns="0" bIns="0" rtlCol="0"/>
          <a:lstStyle/>
          <a:p>
            <a:endParaRPr/>
          </a:p>
        </p:txBody>
      </p:sp>
      <p:sp>
        <p:nvSpPr>
          <p:cNvPr id="13" name="object 13"/>
          <p:cNvSpPr txBox="1"/>
          <p:nvPr/>
        </p:nvSpPr>
        <p:spPr>
          <a:xfrm>
            <a:off x="3186683" y="3648455"/>
            <a:ext cx="6621780" cy="830580"/>
          </a:xfrm>
          <a:prstGeom prst="rect">
            <a:avLst/>
          </a:prstGeom>
          <a:solidFill>
            <a:srgbClr val="00AFEF"/>
          </a:solidFill>
        </p:spPr>
        <p:txBody>
          <a:bodyPr vert="horz" wrap="square" lIns="0" tIns="0" rIns="0" bIns="0" rtlCol="0">
            <a:spAutoFit/>
          </a:bodyPr>
          <a:lstStyle/>
          <a:p>
            <a:pPr algn="ctr">
              <a:lnSpc>
                <a:spcPct val="100000"/>
              </a:lnSpc>
            </a:pPr>
            <a:r>
              <a:rPr sz="2400" b="1" dirty="0">
                <a:solidFill>
                  <a:srgbClr val="FFFFFF"/>
                </a:solidFill>
                <a:latin typeface="微软雅黑"/>
                <a:cs typeface="微软雅黑"/>
              </a:rPr>
              <a:t>在中断服务程序中再调用定时器通用处理函数</a:t>
            </a:r>
            <a:endParaRPr sz="2400">
              <a:latin typeface="微软雅黑"/>
              <a:cs typeface="微软雅黑"/>
            </a:endParaRPr>
          </a:p>
          <a:p>
            <a:pPr marL="635" algn="ctr">
              <a:lnSpc>
                <a:spcPct val="100000"/>
              </a:lnSpc>
            </a:pP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5" dirty="0">
                <a:solidFill>
                  <a:srgbClr val="FFFFFF"/>
                </a:solidFill>
                <a:latin typeface="微软雅黑"/>
                <a:cs typeface="微软雅黑"/>
              </a:rPr>
              <a:t>I</a:t>
            </a:r>
            <a:r>
              <a:rPr sz="2400" b="1" spc="-20" dirty="0">
                <a:solidFill>
                  <a:srgbClr val="FFFFFF"/>
                </a:solidFill>
                <a:latin typeface="微软雅黑"/>
                <a:cs typeface="微软雅黑"/>
              </a:rPr>
              <a:t>R</a:t>
            </a:r>
            <a:r>
              <a:rPr sz="2400" b="1" spc="-5" dirty="0">
                <a:solidFill>
                  <a:srgbClr val="FFFFFF"/>
                </a:solidFill>
                <a:latin typeface="微软雅黑"/>
                <a:cs typeface="微软雅黑"/>
              </a:rPr>
              <a:t>QH</a:t>
            </a:r>
            <a:r>
              <a:rPr sz="2400" b="1" spc="5" dirty="0">
                <a:solidFill>
                  <a:srgbClr val="FFFFFF"/>
                </a:solidFill>
                <a:latin typeface="微软雅黑"/>
                <a:cs typeface="微软雅黑"/>
              </a:rPr>
              <a:t>a</a:t>
            </a:r>
            <a:r>
              <a:rPr sz="2400" b="1" spc="-5" dirty="0">
                <a:solidFill>
                  <a:srgbClr val="FFFFFF"/>
                </a:solidFill>
                <a:latin typeface="微软雅黑"/>
                <a:cs typeface="微软雅黑"/>
              </a:rPr>
              <a:t>ndler</a:t>
            </a:r>
            <a:endParaRPr sz="2400">
              <a:latin typeface="微软雅黑"/>
              <a:cs typeface="微软雅黑"/>
            </a:endParaRPr>
          </a:p>
        </p:txBody>
      </p:sp>
      <p:sp>
        <p:nvSpPr>
          <p:cNvPr id="14" name="object 14"/>
          <p:cNvSpPr/>
          <p:nvPr/>
        </p:nvSpPr>
        <p:spPr>
          <a:xfrm>
            <a:off x="6013703" y="4497323"/>
            <a:ext cx="649224" cy="420624"/>
          </a:xfrm>
          <a:prstGeom prst="rect">
            <a:avLst/>
          </a:prstGeom>
          <a:blipFill>
            <a:blip r:embed="rId6" cstate="print"/>
            <a:stretch>
              <a:fillRect/>
            </a:stretch>
          </a:blipFill>
        </p:spPr>
        <p:txBody>
          <a:bodyPr wrap="square" lIns="0" tIns="0" rIns="0" bIns="0" rtlCol="0"/>
          <a:lstStyle/>
          <a:p>
            <a:endParaRPr/>
          </a:p>
        </p:txBody>
      </p:sp>
      <p:sp>
        <p:nvSpPr>
          <p:cNvPr id="15" name="object 15"/>
          <p:cNvSpPr txBox="1"/>
          <p:nvPr/>
        </p:nvSpPr>
        <p:spPr>
          <a:xfrm>
            <a:off x="3186683" y="4914900"/>
            <a:ext cx="6621780" cy="1569720"/>
          </a:xfrm>
          <a:prstGeom prst="rect">
            <a:avLst/>
          </a:prstGeom>
          <a:solidFill>
            <a:srgbClr val="00AFEF"/>
          </a:solidFill>
        </p:spPr>
        <p:txBody>
          <a:bodyPr vert="horz" wrap="square" lIns="0" tIns="0" rIns="0" bIns="0" rtlCol="0">
            <a:spAutoFit/>
          </a:bodyPr>
          <a:lstStyle/>
          <a:p>
            <a:pPr marL="567055" marR="554355" algn="ctr">
              <a:lnSpc>
                <a:spcPct val="100000"/>
              </a:lnSpc>
            </a:pPr>
            <a:r>
              <a:rPr sz="2400" b="1" dirty="0">
                <a:solidFill>
                  <a:srgbClr val="FFFFFF"/>
                </a:solidFill>
                <a:latin typeface="微软雅黑"/>
                <a:cs typeface="微软雅黑"/>
              </a:rPr>
              <a:t>在函数内部先判断中断类型，并清除对应 的中断标志，然后调用更新中断回调函数 </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90" dirty="0">
                <a:solidFill>
                  <a:srgbClr val="FFFFFF"/>
                </a:solidFill>
                <a:latin typeface="微软雅黑"/>
                <a:cs typeface="微软雅黑"/>
              </a:rPr>
              <a:t>P</a:t>
            </a:r>
            <a:r>
              <a:rPr sz="2400" b="1" spc="-5" dirty="0">
                <a:solidFill>
                  <a:srgbClr val="FFFFFF"/>
                </a:solidFill>
                <a:latin typeface="微软雅黑"/>
                <a:cs typeface="微软雅黑"/>
              </a:rPr>
              <a:t>e</a:t>
            </a:r>
            <a:r>
              <a:rPr sz="2400" b="1" dirty="0">
                <a:solidFill>
                  <a:srgbClr val="FFFFFF"/>
                </a:solidFill>
                <a:latin typeface="微软雅黑"/>
                <a:cs typeface="微软雅黑"/>
              </a:rPr>
              <a:t>r</a:t>
            </a:r>
            <a:r>
              <a:rPr sz="2400" b="1" spc="-5" dirty="0">
                <a:solidFill>
                  <a:srgbClr val="FFFFFF"/>
                </a:solidFill>
                <a:latin typeface="微软雅黑"/>
                <a:cs typeface="微软雅黑"/>
              </a:rPr>
              <a:t>io</a:t>
            </a:r>
            <a:r>
              <a:rPr sz="2400" b="1" spc="-15" dirty="0">
                <a:solidFill>
                  <a:srgbClr val="FFFFFF"/>
                </a:solidFill>
                <a:latin typeface="微软雅黑"/>
                <a:cs typeface="微软雅黑"/>
              </a:rPr>
              <a:t>d</a:t>
            </a:r>
            <a:r>
              <a:rPr sz="2400" b="1" spc="-5" dirty="0">
                <a:solidFill>
                  <a:srgbClr val="FFFFFF"/>
                </a:solidFill>
                <a:latin typeface="微软雅黑"/>
                <a:cs typeface="微软雅黑"/>
              </a:rPr>
              <a:t>E</a:t>
            </a:r>
            <a:r>
              <a:rPr sz="2400" b="1" spc="-15" dirty="0">
                <a:solidFill>
                  <a:srgbClr val="FFFFFF"/>
                </a:solidFill>
                <a:latin typeface="微软雅黑"/>
                <a:cs typeface="微软雅黑"/>
              </a:rPr>
              <a:t>l</a:t>
            </a:r>
            <a:r>
              <a:rPr sz="2400" b="1" spc="-5" dirty="0">
                <a:solidFill>
                  <a:srgbClr val="FFFFFF"/>
                </a:solidFill>
                <a:latin typeface="微软雅黑"/>
                <a:cs typeface="微软雅黑"/>
              </a:rPr>
              <a:t>apsedCall</a:t>
            </a:r>
            <a:r>
              <a:rPr sz="2400" b="1" spc="-40" dirty="0">
                <a:solidFill>
                  <a:srgbClr val="FFFFFF"/>
                </a:solidFill>
                <a:latin typeface="微软雅黑"/>
                <a:cs typeface="微软雅黑"/>
              </a:rPr>
              <a:t>b</a:t>
            </a:r>
            <a:r>
              <a:rPr sz="2400" b="1" spc="-5" dirty="0">
                <a:solidFill>
                  <a:srgbClr val="FFFFFF"/>
                </a:solidFill>
                <a:latin typeface="微软雅黑"/>
                <a:cs typeface="微软雅黑"/>
              </a:rPr>
              <a:t>ack 完成具体的任务处理</a:t>
            </a:r>
            <a:endParaRPr sz="2400">
              <a:latin typeface="微软雅黑"/>
              <a:cs typeface="微软雅黑"/>
            </a:endParaRPr>
          </a:p>
        </p:txBody>
      </p:sp>
      <p:sp>
        <p:nvSpPr>
          <p:cNvPr id="16" name="object 16"/>
          <p:cNvSpPr txBox="1">
            <a:spLocks noGrp="1"/>
          </p:cNvSpPr>
          <p:nvPr>
            <p:ph type="title"/>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spc="-5" dirty="0">
                <a:solidFill>
                  <a:srgbClr val="252525"/>
                </a:solidFill>
                <a:latin typeface="微软雅黑"/>
                <a:cs typeface="微软雅黑"/>
              </a:rPr>
              <a:t>Timer</a:t>
            </a:r>
            <a:endParaRPr sz="1800">
              <a:latin typeface="微软雅黑"/>
              <a:cs typeface="微软雅黑"/>
            </a:endParaRPr>
          </a:p>
        </p:txBody>
      </p:sp>
    </p:spTree>
    <p:extLst>
      <p:ext uri="{BB962C8B-B14F-4D97-AF65-F5344CB8AC3E}">
        <p14:creationId xmlns:p14="http://schemas.microsoft.com/office/powerpoint/2010/main" val="18596740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6878" y="633222"/>
            <a:ext cx="11859895" cy="5895340"/>
          </a:xfrm>
          <a:custGeom>
            <a:avLst/>
            <a:gdLst/>
            <a:ahLst/>
            <a:cxnLst/>
            <a:rect l="l" t="t" r="r" b="b"/>
            <a:pathLst>
              <a:path w="11859895" h="5895340">
                <a:moveTo>
                  <a:pt x="0" y="5894832"/>
                </a:moveTo>
                <a:lnTo>
                  <a:pt x="11859768" y="5894832"/>
                </a:lnTo>
                <a:lnTo>
                  <a:pt x="11859768" y="0"/>
                </a:lnTo>
                <a:lnTo>
                  <a:pt x="0" y="0"/>
                </a:lnTo>
                <a:lnTo>
                  <a:pt x="0" y="5894832"/>
                </a:lnTo>
                <a:close/>
              </a:path>
            </a:pathLst>
          </a:custGeom>
          <a:solidFill>
            <a:srgbClr val="D9D9D9"/>
          </a:solidFill>
        </p:spPr>
        <p:txBody>
          <a:bodyPr wrap="square" lIns="0" tIns="0" rIns="0" bIns="0" rtlCol="0"/>
          <a:lstStyle/>
          <a:p>
            <a:endParaRPr/>
          </a:p>
        </p:txBody>
      </p:sp>
      <p:sp>
        <p:nvSpPr>
          <p:cNvPr id="3" name="object 3"/>
          <p:cNvSpPr/>
          <p:nvPr/>
        </p:nvSpPr>
        <p:spPr>
          <a:xfrm>
            <a:off x="166878" y="633222"/>
            <a:ext cx="11859895" cy="5895340"/>
          </a:xfrm>
          <a:custGeom>
            <a:avLst/>
            <a:gdLst/>
            <a:ahLst/>
            <a:cxnLst/>
            <a:rect l="l" t="t" r="r" b="b"/>
            <a:pathLst>
              <a:path w="11859895" h="5895340">
                <a:moveTo>
                  <a:pt x="0" y="5894832"/>
                </a:moveTo>
                <a:lnTo>
                  <a:pt x="11859768" y="5894832"/>
                </a:lnTo>
                <a:lnTo>
                  <a:pt x="11859768" y="0"/>
                </a:lnTo>
                <a:lnTo>
                  <a:pt x="0" y="0"/>
                </a:lnTo>
                <a:lnTo>
                  <a:pt x="0" y="5894832"/>
                </a:lnTo>
                <a:close/>
              </a:path>
            </a:pathLst>
          </a:custGeom>
          <a:ln w="28955">
            <a:solidFill>
              <a:srgbClr val="5B9BD4"/>
            </a:solidFill>
          </a:ln>
        </p:spPr>
        <p:txBody>
          <a:bodyPr wrap="square" lIns="0" tIns="0" rIns="0" bIns="0" rtlCol="0"/>
          <a:lstStyle/>
          <a:p>
            <a:endParaRPr/>
          </a:p>
        </p:txBody>
      </p:sp>
      <p:sp>
        <p:nvSpPr>
          <p:cNvPr id="4" name="object 4"/>
          <p:cNvSpPr txBox="1"/>
          <p:nvPr/>
        </p:nvSpPr>
        <p:spPr>
          <a:xfrm>
            <a:off x="245770" y="773122"/>
            <a:ext cx="360680"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1.</a:t>
            </a:r>
            <a:endParaRPr sz="2400">
              <a:latin typeface="Consolas"/>
              <a:cs typeface="Consolas"/>
            </a:endParaRPr>
          </a:p>
        </p:txBody>
      </p:sp>
      <p:sp>
        <p:nvSpPr>
          <p:cNvPr id="5" name="object 5"/>
          <p:cNvSpPr txBox="1"/>
          <p:nvPr/>
        </p:nvSpPr>
        <p:spPr>
          <a:xfrm>
            <a:off x="698754" y="732281"/>
            <a:ext cx="5280660" cy="434340"/>
          </a:xfrm>
          <a:prstGeom prst="rect">
            <a:avLst/>
          </a:prstGeom>
          <a:solidFill>
            <a:srgbClr val="D9D9D9"/>
          </a:solidFill>
          <a:ln w="38100">
            <a:solidFill>
              <a:srgbClr val="FF0000"/>
            </a:solidFill>
          </a:ln>
        </p:spPr>
        <p:txBody>
          <a:bodyPr vert="horz" wrap="square" lIns="0" tIns="0" rIns="0" bIns="0" rtlCol="0">
            <a:spAutoFit/>
          </a:bodyPr>
          <a:lstStyle/>
          <a:p>
            <a:pPr>
              <a:lnSpc>
                <a:spcPct val="100000"/>
              </a:lnSpc>
            </a:pPr>
            <a:r>
              <a:rPr sz="2400" b="1" spc="-5" dirty="0">
                <a:latin typeface="Consolas"/>
                <a:cs typeface="Consolas"/>
              </a:rPr>
              <a:t>st</a:t>
            </a:r>
            <a:r>
              <a:rPr sz="2400" b="1" spc="0" dirty="0">
                <a:latin typeface="Consolas"/>
                <a:cs typeface="Consolas"/>
              </a:rPr>
              <a:t>a</a:t>
            </a:r>
            <a:r>
              <a:rPr sz="2400" b="1" spc="-5" dirty="0">
                <a:latin typeface="Consolas"/>
                <a:cs typeface="Consolas"/>
              </a:rPr>
              <a:t>tic</a:t>
            </a:r>
            <a:r>
              <a:rPr sz="2400" b="1" spc="10" dirty="0">
                <a:latin typeface="Consolas"/>
                <a:cs typeface="Consolas"/>
              </a:rPr>
              <a:t> </a:t>
            </a:r>
            <a:r>
              <a:rPr sz="2400" b="1" spc="0" dirty="0">
                <a:latin typeface="Consolas"/>
                <a:cs typeface="Consolas"/>
              </a:rPr>
              <a:t>vo</a:t>
            </a:r>
            <a:r>
              <a:rPr sz="2400" b="1" spc="-5" dirty="0">
                <a:latin typeface="Consolas"/>
                <a:cs typeface="Consolas"/>
              </a:rPr>
              <a:t>id</a:t>
            </a:r>
            <a:r>
              <a:rPr sz="2400" b="1" spc="5" dirty="0">
                <a:latin typeface="Consolas"/>
                <a:cs typeface="Consolas"/>
              </a:rPr>
              <a:t> </a:t>
            </a:r>
            <a:r>
              <a:rPr sz="2400" b="1" spc="-5" dirty="0">
                <a:latin typeface="Consolas"/>
                <a:cs typeface="Consolas"/>
              </a:rPr>
              <a:t>MX</a:t>
            </a:r>
            <a:r>
              <a:rPr sz="2400" b="1" spc="0" dirty="0">
                <a:latin typeface="Consolas"/>
                <a:cs typeface="Consolas"/>
              </a:rPr>
              <a:t>_</a:t>
            </a:r>
            <a:r>
              <a:rPr sz="2400" b="1" spc="-5" dirty="0">
                <a:latin typeface="Consolas"/>
                <a:cs typeface="Consolas"/>
              </a:rPr>
              <a:t>T</a:t>
            </a:r>
            <a:r>
              <a:rPr sz="2400" b="1" spc="0" dirty="0">
                <a:latin typeface="Consolas"/>
                <a:cs typeface="Consolas"/>
              </a:rPr>
              <a:t>IM</a:t>
            </a:r>
            <a:r>
              <a:rPr sz="2400" b="1" spc="-5" dirty="0">
                <a:latin typeface="Consolas"/>
                <a:cs typeface="Consolas"/>
              </a:rPr>
              <a:t>10</a:t>
            </a:r>
            <a:r>
              <a:rPr sz="2400" b="1" spc="0" dirty="0">
                <a:latin typeface="Consolas"/>
                <a:cs typeface="Consolas"/>
              </a:rPr>
              <a:t>_</a:t>
            </a:r>
            <a:r>
              <a:rPr sz="2400" b="1" spc="-5" dirty="0">
                <a:latin typeface="Consolas"/>
                <a:cs typeface="Consolas"/>
              </a:rPr>
              <a:t>In</a:t>
            </a:r>
            <a:r>
              <a:rPr sz="2400" b="1" spc="0" dirty="0">
                <a:latin typeface="Consolas"/>
                <a:cs typeface="Consolas"/>
              </a:rPr>
              <a:t>i</a:t>
            </a:r>
            <a:r>
              <a:rPr sz="2400" b="1" spc="-5" dirty="0">
                <a:latin typeface="Consolas"/>
                <a:cs typeface="Consolas"/>
              </a:rPr>
              <a:t>t</a:t>
            </a:r>
            <a:r>
              <a:rPr sz="2400" b="1" spc="0" dirty="0">
                <a:latin typeface="Consolas"/>
                <a:cs typeface="Consolas"/>
              </a:rPr>
              <a:t>(v</a:t>
            </a:r>
            <a:r>
              <a:rPr sz="2400" b="1" spc="-5" dirty="0">
                <a:latin typeface="Consolas"/>
                <a:cs typeface="Consolas"/>
              </a:rPr>
              <a:t>oi</a:t>
            </a:r>
            <a:r>
              <a:rPr sz="2400" b="1" spc="0" dirty="0">
                <a:latin typeface="Consolas"/>
                <a:cs typeface="Consolas"/>
              </a:rPr>
              <a:t>d</a:t>
            </a:r>
            <a:r>
              <a:rPr sz="2400" b="1" spc="-5" dirty="0">
                <a:latin typeface="Consolas"/>
                <a:cs typeface="Consolas"/>
              </a:rPr>
              <a:t>)</a:t>
            </a:r>
            <a:endParaRPr sz="2400">
              <a:latin typeface="Consolas"/>
              <a:cs typeface="Consolas"/>
            </a:endParaRPr>
          </a:p>
        </p:txBody>
      </p:sp>
      <p:sp>
        <p:nvSpPr>
          <p:cNvPr id="6" name="object 6"/>
          <p:cNvSpPr txBox="1"/>
          <p:nvPr/>
        </p:nvSpPr>
        <p:spPr>
          <a:xfrm>
            <a:off x="245770" y="1216987"/>
            <a:ext cx="697230" cy="5221605"/>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2.</a:t>
            </a:r>
            <a:r>
              <a:rPr sz="2400" b="1" spc="-360" dirty="0">
                <a:latin typeface="Consolas"/>
                <a:cs typeface="Consolas"/>
              </a:rPr>
              <a:t> </a:t>
            </a:r>
            <a:r>
              <a:rPr sz="2400" b="1" spc="-5" dirty="0">
                <a:latin typeface="Consolas"/>
                <a:cs typeface="Consolas"/>
              </a:rPr>
              <a:t>{</a:t>
            </a:r>
            <a:endParaRPr sz="2400">
              <a:latin typeface="Consolas"/>
              <a:cs typeface="Consolas"/>
            </a:endParaRPr>
          </a:p>
          <a:p>
            <a:pPr marL="12700">
              <a:lnSpc>
                <a:spcPct val="100000"/>
              </a:lnSpc>
              <a:spcBef>
                <a:spcPts val="625"/>
              </a:spcBef>
            </a:pPr>
            <a:r>
              <a:rPr sz="2400" b="1" spc="-5" dirty="0">
                <a:latin typeface="Consolas"/>
                <a:cs typeface="Consolas"/>
              </a:rPr>
              <a:t>3.</a:t>
            </a:r>
            <a:endParaRPr sz="2400">
              <a:latin typeface="Consolas"/>
              <a:cs typeface="Consolas"/>
            </a:endParaRPr>
          </a:p>
          <a:p>
            <a:pPr marL="12700">
              <a:lnSpc>
                <a:spcPct val="100000"/>
              </a:lnSpc>
              <a:spcBef>
                <a:spcPts val="625"/>
              </a:spcBef>
            </a:pPr>
            <a:r>
              <a:rPr sz="2400" b="1" spc="-5" dirty="0">
                <a:latin typeface="Consolas"/>
                <a:cs typeface="Consolas"/>
              </a:rPr>
              <a:t>4.</a:t>
            </a:r>
            <a:endParaRPr sz="2400">
              <a:latin typeface="Consolas"/>
              <a:cs typeface="Consolas"/>
            </a:endParaRPr>
          </a:p>
          <a:p>
            <a:pPr marL="12700">
              <a:lnSpc>
                <a:spcPct val="100000"/>
              </a:lnSpc>
              <a:spcBef>
                <a:spcPts val="615"/>
              </a:spcBef>
            </a:pPr>
            <a:r>
              <a:rPr sz="2400" b="1" spc="-5" dirty="0">
                <a:latin typeface="Consolas"/>
                <a:cs typeface="Consolas"/>
              </a:rPr>
              <a:t>5.</a:t>
            </a:r>
            <a:endParaRPr sz="2400">
              <a:latin typeface="Consolas"/>
              <a:cs typeface="Consolas"/>
            </a:endParaRPr>
          </a:p>
          <a:p>
            <a:pPr marL="12700">
              <a:lnSpc>
                <a:spcPct val="100000"/>
              </a:lnSpc>
              <a:spcBef>
                <a:spcPts val="620"/>
              </a:spcBef>
            </a:pPr>
            <a:r>
              <a:rPr sz="2400" b="1" spc="-5" dirty="0">
                <a:latin typeface="Consolas"/>
                <a:cs typeface="Consolas"/>
              </a:rPr>
              <a:t>6.</a:t>
            </a:r>
            <a:endParaRPr sz="2400">
              <a:latin typeface="Consolas"/>
              <a:cs typeface="Consolas"/>
            </a:endParaRPr>
          </a:p>
          <a:p>
            <a:pPr marL="12700">
              <a:lnSpc>
                <a:spcPct val="100000"/>
              </a:lnSpc>
              <a:spcBef>
                <a:spcPts val="625"/>
              </a:spcBef>
            </a:pPr>
            <a:r>
              <a:rPr sz="2400" b="1" spc="-5" dirty="0">
                <a:latin typeface="Consolas"/>
                <a:cs typeface="Consolas"/>
              </a:rPr>
              <a:t>7.</a:t>
            </a:r>
            <a:endParaRPr sz="2400">
              <a:latin typeface="Consolas"/>
              <a:cs typeface="Consolas"/>
            </a:endParaRPr>
          </a:p>
          <a:p>
            <a:pPr marL="12700">
              <a:lnSpc>
                <a:spcPct val="100000"/>
              </a:lnSpc>
              <a:spcBef>
                <a:spcPts val="615"/>
              </a:spcBef>
            </a:pPr>
            <a:r>
              <a:rPr sz="2400" b="1" spc="-5" dirty="0">
                <a:latin typeface="Consolas"/>
                <a:cs typeface="Consolas"/>
              </a:rPr>
              <a:t>8.</a:t>
            </a:r>
            <a:endParaRPr sz="2400">
              <a:latin typeface="Consolas"/>
              <a:cs typeface="Consolas"/>
            </a:endParaRPr>
          </a:p>
          <a:p>
            <a:pPr marL="12700">
              <a:lnSpc>
                <a:spcPct val="100000"/>
              </a:lnSpc>
              <a:spcBef>
                <a:spcPts val="625"/>
              </a:spcBef>
            </a:pPr>
            <a:r>
              <a:rPr sz="2400" b="1" spc="-5" dirty="0">
                <a:latin typeface="Consolas"/>
                <a:cs typeface="Consolas"/>
              </a:rPr>
              <a:t>9.</a:t>
            </a:r>
            <a:endParaRPr sz="2400">
              <a:latin typeface="Consolas"/>
              <a:cs typeface="Consolas"/>
            </a:endParaRPr>
          </a:p>
          <a:p>
            <a:pPr marL="12700">
              <a:lnSpc>
                <a:spcPct val="100000"/>
              </a:lnSpc>
              <a:spcBef>
                <a:spcPts val="620"/>
              </a:spcBef>
            </a:pPr>
            <a:r>
              <a:rPr sz="2400" b="1" spc="-5" dirty="0">
                <a:latin typeface="Consolas"/>
                <a:cs typeface="Consolas"/>
              </a:rPr>
              <a:t>10.</a:t>
            </a:r>
            <a:endParaRPr sz="2400">
              <a:latin typeface="Consolas"/>
              <a:cs typeface="Consolas"/>
            </a:endParaRPr>
          </a:p>
          <a:p>
            <a:pPr marL="12700">
              <a:lnSpc>
                <a:spcPct val="100000"/>
              </a:lnSpc>
              <a:spcBef>
                <a:spcPts val="615"/>
              </a:spcBef>
            </a:pPr>
            <a:r>
              <a:rPr sz="2400" b="1" spc="-5" dirty="0">
                <a:latin typeface="Consolas"/>
                <a:cs typeface="Consolas"/>
              </a:rPr>
              <a:t>11.</a:t>
            </a:r>
            <a:endParaRPr sz="2400">
              <a:latin typeface="Consolas"/>
              <a:cs typeface="Consolas"/>
            </a:endParaRPr>
          </a:p>
          <a:p>
            <a:pPr marL="12700">
              <a:lnSpc>
                <a:spcPct val="100000"/>
              </a:lnSpc>
              <a:spcBef>
                <a:spcPts val="625"/>
              </a:spcBef>
            </a:pPr>
            <a:r>
              <a:rPr sz="2400" b="1" spc="-5" dirty="0">
                <a:latin typeface="Consolas"/>
                <a:cs typeface="Consolas"/>
              </a:rPr>
              <a:t>12.</a:t>
            </a:r>
            <a:endParaRPr sz="2400">
              <a:latin typeface="Consolas"/>
              <a:cs typeface="Consolas"/>
            </a:endParaRPr>
          </a:p>
          <a:p>
            <a:pPr marL="12700">
              <a:lnSpc>
                <a:spcPct val="100000"/>
              </a:lnSpc>
              <a:spcBef>
                <a:spcPts val="620"/>
              </a:spcBef>
            </a:pPr>
            <a:r>
              <a:rPr sz="2400" b="1" spc="-5" dirty="0">
                <a:latin typeface="Consolas"/>
                <a:cs typeface="Consolas"/>
              </a:rPr>
              <a:t>13</a:t>
            </a:r>
            <a:r>
              <a:rPr sz="2400" b="1" spc="0" dirty="0">
                <a:latin typeface="Consolas"/>
                <a:cs typeface="Consolas"/>
              </a:rPr>
              <a:t>.</a:t>
            </a:r>
            <a:r>
              <a:rPr sz="2400" b="1" spc="-5" dirty="0">
                <a:latin typeface="Consolas"/>
                <a:cs typeface="Consolas"/>
              </a:rPr>
              <a:t>}</a:t>
            </a:r>
            <a:endParaRPr sz="2400">
              <a:latin typeface="Consolas"/>
              <a:cs typeface="Consolas"/>
            </a:endParaRPr>
          </a:p>
        </p:txBody>
      </p:sp>
      <p:sp>
        <p:nvSpPr>
          <p:cNvPr id="7" name="object 7"/>
          <p:cNvSpPr txBox="1"/>
          <p:nvPr/>
        </p:nvSpPr>
        <p:spPr>
          <a:xfrm>
            <a:off x="1254048" y="1661995"/>
            <a:ext cx="4902200" cy="775335"/>
          </a:xfrm>
          <a:prstGeom prst="rect">
            <a:avLst/>
          </a:prstGeom>
        </p:spPr>
        <p:txBody>
          <a:bodyPr vert="horz" wrap="square" lIns="0" tIns="0" rIns="0" bIns="0" rtlCol="0">
            <a:spAutoFit/>
          </a:bodyPr>
          <a:lstStyle/>
          <a:p>
            <a:pPr marL="12700" marR="5080">
              <a:lnSpc>
                <a:spcPct val="121700"/>
              </a:lnSpc>
            </a:pPr>
            <a:r>
              <a:rPr sz="2400" b="1" spc="-5" dirty="0">
                <a:latin typeface="Consolas"/>
                <a:cs typeface="Consolas"/>
              </a:rPr>
              <a:t>h</a:t>
            </a:r>
            <a:r>
              <a:rPr sz="2400" b="1" spc="0" dirty="0">
                <a:latin typeface="Consolas"/>
                <a:cs typeface="Consolas"/>
              </a:rPr>
              <a:t>ti</a:t>
            </a:r>
            <a:r>
              <a:rPr sz="2400" b="1" spc="-5" dirty="0">
                <a:latin typeface="Consolas"/>
                <a:cs typeface="Consolas"/>
              </a:rPr>
              <a:t>m1</a:t>
            </a:r>
            <a:r>
              <a:rPr sz="2400" b="1" spc="0" dirty="0">
                <a:latin typeface="Consolas"/>
                <a:cs typeface="Consolas"/>
              </a:rPr>
              <a:t>0</a:t>
            </a:r>
            <a:r>
              <a:rPr sz="2400" b="1" spc="-5" dirty="0">
                <a:latin typeface="Consolas"/>
                <a:cs typeface="Consolas"/>
              </a:rPr>
              <a:t>.I</a:t>
            </a:r>
            <a:r>
              <a:rPr sz="2400" b="1" spc="0" dirty="0">
                <a:latin typeface="Consolas"/>
                <a:cs typeface="Consolas"/>
              </a:rPr>
              <a:t>n</a:t>
            </a:r>
            <a:r>
              <a:rPr sz="2400" b="1" spc="-5" dirty="0">
                <a:latin typeface="Consolas"/>
                <a:cs typeface="Consolas"/>
              </a:rPr>
              <a:t>s</a:t>
            </a:r>
            <a:r>
              <a:rPr sz="2400" b="1" spc="0" dirty="0">
                <a:latin typeface="Consolas"/>
                <a:cs typeface="Consolas"/>
              </a:rPr>
              <a:t>ta</a:t>
            </a:r>
            <a:r>
              <a:rPr sz="2400" b="1" spc="-5" dirty="0">
                <a:latin typeface="Consolas"/>
                <a:cs typeface="Consolas"/>
              </a:rPr>
              <a:t>nce</a:t>
            </a:r>
            <a:r>
              <a:rPr sz="2400" b="1" spc="10" dirty="0">
                <a:latin typeface="Consolas"/>
                <a:cs typeface="Consolas"/>
              </a:rPr>
              <a:t> </a:t>
            </a:r>
            <a:r>
              <a:rPr sz="2400" b="1" spc="-5" dirty="0">
                <a:latin typeface="Consolas"/>
                <a:cs typeface="Consolas"/>
              </a:rPr>
              <a:t>=</a:t>
            </a:r>
            <a:r>
              <a:rPr sz="2400" b="1" spc="10" dirty="0">
                <a:latin typeface="Consolas"/>
                <a:cs typeface="Consolas"/>
              </a:rPr>
              <a:t> </a:t>
            </a:r>
            <a:r>
              <a:rPr sz="2400" b="1" spc="-5" dirty="0">
                <a:latin typeface="Consolas"/>
                <a:cs typeface="Consolas"/>
              </a:rPr>
              <a:t>T</a:t>
            </a:r>
            <a:r>
              <a:rPr sz="2400" b="1" spc="0" dirty="0">
                <a:latin typeface="Consolas"/>
                <a:cs typeface="Consolas"/>
              </a:rPr>
              <a:t>IM</a:t>
            </a:r>
            <a:r>
              <a:rPr sz="2400" b="1" spc="-5" dirty="0">
                <a:latin typeface="Consolas"/>
                <a:cs typeface="Consolas"/>
              </a:rPr>
              <a:t>10; h</a:t>
            </a:r>
            <a:r>
              <a:rPr sz="2400" b="1" spc="0" dirty="0">
                <a:latin typeface="Consolas"/>
                <a:cs typeface="Consolas"/>
              </a:rPr>
              <a:t>ti</a:t>
            </a:r>
            <a:r>
              <a:rPr sz="2400" b="1" spc="-5" dirty="0">
                <a:latin typeface="Consolas"/>
                <a:cs typeface="Consolas"/>
              </a:rPr>
              <a:t>m1</a:t>
            </a:r>
            <a:r>
              <a:rPr sz="2400" b="1" spc="0" dirty="0">
                <a:latin typeface="Consolas"/>
                <a:cs typeface="Consolas"/>
              </a:rPr>
              <a:t>0</a:t>
            </a:r>
            <a:r>
              <a:rPr sz="2400" b="1" spc="-5" dirty="0">
                <a:latin typeface="Consolas"/>
                <a:cs typeface="Consolas"/>
              </a:rPr>
              <a:t>.I</a:t>
            </a:r>
            <a:r>
              <a:rPr sz="2400" b="1" spc="0" dirty="0">
                <a:latin typeface="Consolas"/>
                <a:cs typeface="Consolas"/>
              </a:rPr>
              <a:t>n</a:t>
            </a:r>
            <a:r>
              <a:rPr sz="2400" b="1" spc="-5" dirty="0">
                <a:latin typeface="Consolas"/>
                <a:cs typeface="Consolas"/>
              </a:rPr>
              <a:t>i</a:t>
            </a:r>
            <a:r>
              <a:rPr sz="2400" b="1" spc="0" dirty="0">
                <a:latin typeface="Consolas"/>
                <a:cs typeface="Consolas"/>
              </a:rPr>
              <a:t>t.</a:t>
            </a:r>
            <a:r>
              <a:rPr sz="2400" b="1" spc="-5" dirty="0">
                <a:latin typeface="Consolas"/>
                <a:cs typeface="Consolas"/>
              </a:rPr>
              <a:t>Pr</a:t>
            </a:r>
            <a:r>
              <a:rPr sz="2400" b="1" spc="0" dirty="0">
                <a:latin typeface="Consolas"/>
                <a:cs typeface="Consolas"/>
              </a:rPr>
              <a:t>e</a:t>
            </a:r>
            <a:r>
              <a:rPr sz="2400" b="1" spc="-5" dirty="0">
                <a:latin typeface="Consolas"/>
                <a:cs typeface="Consolas"/>
              </a:rPr>
              <a:t>sc</a:t>
            </a:r>
            <a:r>
              <a:rPr sz="2400" b="1" spc="0" dirty="0">
                <a:latin typeface="Consolas"/>
                <a:cs typeface="Consolas"/>
              </a:rPr>
              <a:t>a</a:t>
            </a:r>
            <a:r>
              <a:rPr sz="2400" b="1" spc="-5" dirty="0">
                <a:latin typeface="Consolas"/>
                <a:cs typeface="Consolas"/>
              </a:rPr>
              <a:t>l</a:t>
            </a:r>
            <a:r>
              <a:rPr sz="2400" b="1" spc="0" dirty="0">
                <a:latin typeface="Consolas"/>
                <a:cs typeface="Consolas"/>
              </a:rPr>
              <a:t>e</a:t>
            </a:r>
            <a:r>
              <a:rPr sz="2400" b="1" spc="-5" dirty="0">
                <a:latin typeface="Consolas"/>
                <a:cs typeface="Consolas"/>
              </a:rPr>
              <a:t>r</a:t>
            </a:r>
            <a:r>
              <a:rPr sz="2400" b="1" spc="10" dirty="0">
                <a:latin typeface="Consolas"/>
                <a:cs typeface="Consolas"/>
              </a:rPr>
              <a:t> </a:t>
            </a:r>
            <a:r>
              <a:rPr sz="2400" b="1" spc="-5" dirty="0">
                <a:latin typeface="Consolas"/>
                <a:cs typeface="Consolas"/>
              </a:rPr>
              <a:t>=</a:t>
            </a:r>
            <a:r>
              <a:rPr sz="2400" b="1" spc="10" dirty="0">
                <a:latin typeface="Consolas"/>
                <a:cs typeface="Consolas"/>
              </a:rPr>
              <a:t> </a:t>
            </a:r>
            <a:r>
              <a:rPr sz="2400" b="1" spc="-5" dirty="0">
                <a:latin typeface="Consolas"/>
                <a:cs typeface="Consolas"/>
              </a:rPr>
              <a:t>99</a:t>
            </a:r>
            <a:r>
              <a:rPr sz="2400" b="1" spc="0" dirty="0">
                <a:latin typeface="Consolas"/>
                <a:cs typeface="Consolas"/>
              </a:rPr>
              <a:t>9</a:t>
            </a:r>
            <a:r>
              <a:rPr sz="2400" b="1" spc="-5" dirty="0">
                <a:latin typeface="Consolas"/>
                <a:cs typeface="Consolas"/>
              </a:rPr>
              <a:t>9;</a:t>
            </a:r>
            <a:endParaRPr sz="2400">
              <a:latin typeface="Consolas"/>
              <a:cs typeface="Consolas"/>
            </a:endParaRPr>
          </a:p>
        </p:txBody>
      </p:sp>
      <p:sp>
        <p:nvSpPr>
          <p:cNvPr id="8" name="object 8"/>
          <p:cNvSpPr txBox="1"/>
          <p:nvPr/>
        </p:nvSpPr>
        <p:spPr>
          <a:xfrm>
            <a:off x="1254048" y="2550741"/>
            <a:ext cx="8602345" cy="1220470"/>
          </a:xfrm>
          <a:prstGeom prst="rect">
            <a:avLst/>
          </a:prstGeom>
        </p:spPr>
        <p:txBody>
          <a:bodyPr vert="horz" wrap="square" lIns="0" tIns="0" rIns="0" bIns="0" rtlCol="0">
            <a:spAutoFit/>
          </a:bodyPr>
          <a:lstStyle/>
          <a:p>
            <a:pPr marL="12700" marR="5080">
              <a:lnSpc>
                <a:spcPct val="121700"/>
              </a:lnSpc>
            </a:pPr>
            <a:r>
              <a:rPr sz="2400" b="1" spc="-5" dirty="0">
                <a:latin typeface="Consolas"/>
                <a:cs typeface="Consolas"/>
              </a:rPr>
              <a:t>h</a:t>
            </a:r>
            <a:r>
              <a:rPr sz="2400" b="1" spc="0" dirty="0">
                <a:latin typeface="Consolas"/>
                <a:cs typeface="Consolas"/>
              </a:rPr>
              <a:t>ti</a:t>
            </a:r>
            <a:r>
              <a:rPr sz="2400" b="1" spc="-5" dirty="0">
                <a:latin typeface="Consolas"/>
                <a:cs typeface="Consolas"/>
              </a:rPr>
              <a:t>m1</a:t>
            </a:r>
            <a:r>
              <a:rPr sz="2400" b="1" spc="0" dirty="0">
                <a:latin typeface="Consolas"/>
                <a:cs typeface="Consolas"/>
              </a:rPr>
              <a:t>0</a:t>
            </a:r>
            <a:r>
              <a:rPr sz="2400" b="1" spc="-5" dirty="0">
                <a:latin typeface="Consolas"/>
                <a:cs typeface="Consolas"/>
              </a:rPr>
              <a:t>.I</a:t>
            </a:r>
            <a:r>
              <a:rPr sz="2400" b="1" spc="0" dirty="0">
                <a:latin typeface="Consolas"/>
                <a:cs typeface="Consolas"/>
              </a:rPr>
              <a:t>n</a:t>
            </a:r>
            <a:r>
              <a:rPr sz="2400" b="1" spc="-5" dirty="0">
                <a:latin typeface="Consolas"/>
                <a:cs typeface="Consolas"/>
              </a:rPr>
              <a:t>i</a:t>
            </a:r>
            <a:r>
              <a:rPr sz="2400" b="1" spc="0" dirty="0">
                <a:latin typeface="Consolas"/>
                <a:cs typeface="Consolas"/>
              </a:rPr>
              <a:t>t.</a:t>
            </a:r>
            <a:r>
              <a:rPr sz="2400" b="1" spc="-5" dirty="0">
                <a:latin typeface="Consolas"/>
                <a:cs typeface="Consolas"/>
              </a:rPr>
              <a:t>Co</a:t>
            </a:r>
            <a:r>
              <a:rPr sz="2400" b="1" spc="0" dirty="0">
                <a:latin typeface="Consolas"/>
                <a:cs typeface="Consolas"/>
              </a:rPr>
              <a:t>u</a:t>
            </a:r>
            <a:r>
              <a:rPr sz="2400" b="1" spc="-5" dirty="0">
                <a:latin typeface="Consolas"/>
                <a:cs typeface="Consolas"/>
              </a:rPr>
              <a:t>nt</a:t>
            </a:r>
            <a:r>
              <a:rPr sz="2400" b="1" spc="0" dirty="0">
                <a:latin typeface="Consolas"/>
                <a:cs typeface="Consolas"/>
              </a:rPr>
              <a:t>e</a:t>
            </a:r>
            <a:r>
              <a:rPr sz="2400" b="1" spc="-5" dirty="0">
                <a:latin typeface="Consolas"/>
                <a:cs typeface="Consolas"/>
              </a:rPr>
              <a:t>r</a:t>
            </a:r>
            <a:r>
              <a:rPr sz="2400" b="1" spc="0" dirty="0">
                <a:latin typeface="Consolas"/>
                <a:cs typeface="Consolas"/>
              </a:rPr>
              <a:t>Mo</a:t>
            </a:r>
            <a:r>
              <a:rPr sz="2400" b="1" spc="-5" dirty="0">
                <a:latin typeface="Consolas"/>
                <a:cs typeface="Consolas"/>
              </a:rPr>
              <a:t>de</a:t>
            </a:r>
            <a:r>
              <a:rPr sz="2400" b="1" spc="5" dirty="0">
                <a:latin typeface="Consolas"/>
                <a:cs typeface="Consolas"/>
              </a:rPr>
              <a:t> </a:t>
            </a:r>
            <a:r>
              <a:rPr sz="2400" b="1" spc="-5" dirty="0">
                <a:latin typeface="Consolas"/>
                <a:cs typeface="Consolas"/>
              </a:rPr>
              <a:t>=</a:t>
            </a:r>
            <a:r>
              <a:rPr sz="2400" b="1" dirty="0">
                <a:latin typeface="Consolas"/>
                <a:cs typeface="Consolas"/>
              </a:rPr>
              <a:t> </a:t>
            </a:r>
            <a:r>
              <a:rPr sz="2400" b="1" spc="0" dirty="0">
                <a:latin typeface="Consolas"/>
                <a:cs typeface="Consolas"/>
              </a:rPr>
              <a:t>T</a:t>
            </a:r>
            <a:r>
              <a:rPr sz="2400" b="1" spc="-5" dirty="0">
                <a:latin typeface="Consolas"/>
                <a:cs typeface="Consolas"/>
              </a:rPr>
              <a:t>I</a:t>
            </a:r>
            <a:r>
              <a:rPr sz="2400" b="1" spc="0" dirty="0">
                <a:latin typeface="Consolas"/>
                <a:cs typeface="Consolas"/>
              </a:rPr>
              <a:t>M_</a:t>
            </a:r>
            <a:r>
              <a:rPr sz="2400" b="1" spc="-5" dirty="0">
                <a:latin typeface="Consolas"/>
                <a:cs typeface="Consolas"/>
              </a:rPr>
              <a:t>CO</a:t>
            </a:r>
            <a:r>
              <a:rPr sz="2400" b="1" spc="0" dirty="0">
                <a:latin typeface="Consolas"/>
                <a:cs typeface="Consolas"/>
              </a:rPr>
              <a:t>U</a:t>
            </a:r>
            <a:r>
              <a:rPr sz="2400" b="1" spc="-5" dirty="0">
                <a:latin typeface="Consolas"/>
                <a:cs typeface="Consolas"/>
              </a:rPr>
              <a:t>NT</a:t>
            </a:r>
            <a:r>
              <a:rPr sz="2400" b="1" spc="0" dirty="0">
                <a:latin typeface="Consolas"/>
                <a:cs typeface="Consolas"/>
              </a:rPr>
              <a:t>E</a:t>
            </a:r>
            <a:r>
              <a:rPr sz="2400" b="1" spc="-5" dirty="0">
                <a:latin typeface="Consolas"/>
                <a:cs typeface="Consolas"/>
              </a:rPr>
              <a:t>R</a:t>
            </a:r>
            <a:r>
              <a:rPr sz="2400" b="1" spc="0" dirty="0">
                <a:latin typeface="Consolas"/>
                <a:cs typeface="Consolas"/>
              </a:rPr>
              <a:t>MO</a:t>
            </a:r>
            <a:r>
              <a:rPr sz="2400" b="1" spc="-5" dirty="0">
                <a:latin typeface="Consolas"/>
                <a:cs typeface="Consolas"/>
              </a:rPr>
              <a:t>DE</a:t>
            </a:r>
            <a:r>
              <a:rPr sz="2400" b="1" spc="0" dirty="0">
                <a:latin typeface="Consolas"/>
                <a:cs typeface="Consolas"/>
              </a:rPr>
              <a:t>_</a:t>
            </a:r>
            <a:r>
              <a:rPr sz="2400" b="1" spc="-5" dirty="0">
                <a:latin typeface="Consolas"/>
                <a:cs typeface="Consolas"/>
              </a:rPr>
              <a:t>UP; h</a:t>
            </a:r>
            <a:r>
              <a:rPr sz="2400" b="1" spc="0" dirty="0">
                <a:latin typeface="Consolas"/>
                <a:cs typeface="Consolas"/>
              </a:rPr>
              <a:t>ti</a:t>
            </a:r>
            <a:r>
              <a:rPr sz="2400" b="1" spc="-5" dirty="0">
                <a:latin typeface="Consolas"/>
                <a:cs typeface="Consolas"/>
              </a:rPr>
              <a:t>m1</a:t>
            </a:r>
            <a:r>
              <a:rPr sz="2400" b="1" spc="0" dirty="0">
                <a:latin typeface="Consolas"/>
                <a:cs typeface="Consolas"/>
              </a:rPr>
              <a:t>0</a:t>
            </a:r>
            <a:r>
              <a:rPr sz="2400" b="1" spc="-5" dirty="0">
                <a:latin typeface="Consolas"/>
                <a:cs typeface="Consolas"/>
              </a:rPr>
              <a:t>.I</a:t>
            </a:r>
            <a:r>
              <a:rPr sz="2400" b="1" spc="0" dirty="0">
                <a:latin typeface="Consolas"/>
                <a:cs typeface="Consolas"/>
              </a:rPr>
              <a:t>n</a:t>
            </a:r>
            <a:r>
              <a:rPr sz="2400" b="1" spc="-5" dirty="0">
                <a:latin typeface="Consolas"/>
                <a:cs typeface="Consolas"/>
              </a:rPr>
              <a:t>i</a:t>
            </a:r>
            <a:r>
              <a:rPr sz="2400" b="1" spc="0" dirty="0">
                <a:latin typeface="Consolas"/>
                <a:cs typeface="Consolas"/>
              </a:rPr>
              <a:t>t.</a:t>
            </a:r>
            <a:r>
              <a:rPr sz="2400" b="1" spc="-5" dirty="0">
                <a:latin typeface="Consolas"/>
                <a:cs typeface="Consolas"/>
              </a:rPr>
              <a:t>Pe</a:t>
            </a:r>
            <a:r>
              <a:rPr sz="2400" b="1" spc="0" dirty="0">
                <a:latin typeface="Consolas"/>
                <a:cs typeface="Consolas"/>
              </a:rPr>
              <a:t>r</a:t>
            </a:r>
            <a:r>
              <a:rPr sz="2400" b="1" spc="-5" dirty="0">
                <a:latin typeface="Consolas"/>
                <a:cs typeface="Consolas"/>
              </a:rPr>
              <a:t>iod</a:t>
            </a:r>
            <a:r>
              <a:rPr sz="2400" b="1" spc="10" dirty="0">
                <a:latin typeface="Consolas"/>
                <a:cs typeface="Consolas"/>
              </a:rPr>
              <a:t> </a:t>
            </a:r>
            <a:r>
              <a:rPr sz="2400" b="1" spc="-5" dirty="0">
                <a:latin typeface="Consolas"/>
                <a:cs typeface="Consolas"/>
              </a:rPr>
              <a:t>=</a:t>
            </a:r>
            <a:r>
              <a:rPr sz="2400" b="1" spc="15" dirty="0">
                <a:latin typeface="Consolas"/>
                <a:cs typeface="Consolas"/>
              </a:rPr>
              <a:t> </a:t>
            </a:r>
            <a:r>
              <a:rPr sz="2400" b="1" spc="-5" dirty="0">
                <a:latin typeface="Consolas"/>
                <a:cs typeface="Consolas"/>
              </a:rPr>
              <a:t>99</a:t>
            </a:r>
            <a:r>
              <a:rPr sz="2400" b="1" spc="0" dirty="0">
                <a:latin typeface="Consolas"/>
                <a:cs typeface="Consolas"/>
              </a:rPr>
              <a:t>9</a:t>
            </a:r>
            <a:r>
              <a:rPr sz="2400" b="1" spc="-5" dirty="0">
                <a:latin typeface="Consolas"/>
                <a:cs typeface="Consolas"/>
              </a:rPr>
              <a:t>9; h</a:t>
            </a:r>
            <a:r>
              <a:rPr sz="2400" b="1" spc="0" dirty="0">
                <a:latin typeface="Consolas"/>
                <a:cs typeface="Consolas"/>
              </a:rPr>
              <a:t>ti</a:t>
            </a:r>
            <a:r>
              <a:rPr sz="2400" b="1" spc="-5" dirty="0">
                <a:latin typeface="Consolas"/>
                <a:cs typeface="Consolas"/>
              </a:rPr>
              <a:t>m1</a:t>
            </a:r>
            <a:r>
              <a:rPr sz="2400" b="1" spc="0" dirty="0">
                <a:latin typeface="Consolas"/>
                <a:cs typeface="Consolas"/>
              </a:rPr>
              <a:t>0</a:t>
            </a:r>
            <a:r>
              <a:rPr sz="2400" b="1" spc="-5" dirty="0">
                <a:latin typeface="Consolas"/>
                <a:cs typeface="Consolas"/>
              </a:rPr>
              <a:t>.I</a:t>
            </a:r>
            <a:r>
              <a:rPr sz="2400" b="1" spc="0" dirty="0">
                <a:latin typeface="Consolas"/>
                <a:cs typeface="Consolas"/>
              </a:rPr>
              <a:t>n</a:t>
            </a:r>
            <a:r>
              <a:rPr sz="2400" b="1" spc="-5" dirty="0">
                <a:latin typeface="Consolas"/>
                <a:cs typeface="Consolas"/>
              </a:rPr>
              <a:t>i</a:t>
            </a:r>
            <a:r>
              <a:rPr sz="2400" b="1" spc="0" dirty="0">
                <a:latin typeface="Consolas"/>
                <a:cs typeface="Consolas"/>
              </a:rPr>
              <a:t>t.</a:t>
            </a:r>
            <a:r>
              <a:rPr sz="2400" b="1" spc="-5" dirty="0">
                <a:latin typeface="Consolas"/>
                <a:cs typeface="Consolas"/>
              </a:rPr>
              <a:t>Cl</a:t>
            </a:r>
            <a:r>
              <a:rPr sz="2400" b="1" spc="0" dirty="0">
                <a:latin typeface="Consolas"/>
                <a:cs typeface="Consolas"/>
              </a:rPr>
              <a:t>o</a:t>
            </a:r>
            <a:r>
              <a:rPr sz="2400" b="1" spc="-5" dirty="0">
                <a:latin typeface="Consolas"/>
                <a:cs typeface="Consolas"/>
              </a:rPr>
              <a:t>ck</a:t>
            </a:r>
            <a:r>
              <a:rPr sz="2400" b="1" spc="0" dirty="0">
                <a:latin typeface="Consolas"/>
                <a:cs typeface="Consolas"/>
              </a:rPr>
              <a:t>D</a:t>
            </a:r>
            <a:r>
              <a:rPr sz="2400" b="1" spc="-5" dirty="0">
                <a:latin typeface="Consolas"/>
                <a:cs typeface="Consolas"/>
              </a:rPr>
              <a:t>i</a:t>
            </a:r>
            <a:r>
              <a:rPr sz="2400" b="1" spc="0" dirty="0">
                <a:latin typeface="Consolas"/>
                <a:cs typeface="Consolas"/>
              </a:rPr>
              <a:t>vi</a:t>
            </a:r>
            <a:r>
              <a:rPr sz="2400" b="1" spc="-5" dirty="0">
                <a:latin typeface="Consolas"/>
                <a:cs typeface="Consolas"/>
              </a:rPr>
              <a:t>si</a:t>
            </a:r>
            <a:r>
              <a:rPr sz="2400" b="1" spc="0" dirty="0">
                <a:latin typeface="Consolas"/>
                <a:cs typeface="Consolas"/>
              </a:rPr>
              <a:t>o</a:t>
            </a:r>
            <a:r>
              <a:rPr sz="2400" b="1" spc="-5" dirty="0">
                <a:latin typeface="Consolas"/>
                <a:cs typeface="Consolas"/>
              </a:rPr>
              <a:t>n</a:t>
            </a:r>
            <a:r>
              <a:rPr sz="2400" b="1" dirty="0">
                <a:latin typeface="Consolas"/>
                <a:cs typeface="Consolas"/>
              </a:rPr>
              <a:t> </a:t>
            </a:r>
            <a:r>
              <a:rPr sz="2400" b="1" spc="-5" dirty="0">
                <a:latin typeface="Consolas"/>
                <a:cs typeface="Consolas"/>
              </a:rPr>
              <a:t>=</a:t>
            </a:r>
            <a:r>
              <a:rPr sz="2400" b="1" spc="10" dirty="0">
                <a:latin typeface="Consolas"/>
                <a:cs typeface="Consolas"/>
              </a:rPr>
              <a:t> </a:t>
            </a:r>
            <a:r>
              <a:rPr sz="2400" b="1" spc="0" dirty="0">
                <a:latin typeface="Consolas"/>
                <a:cs typeface="Consolas"/>
              </a:rPr>
              <a:t>TI</a:t>
            </a:r>
            <a:r>
              <a:rPr sz="2400" b="1" spc="-5" dirty="0">
                <a:latin typeface="Consolas"/>
                <a:cs typeface="Consolas"/>
              </a:rPr>
              <a:t>M_</a:t>
            </a:r>
            <a:r>
              <a:rPr sz="2400" b="1" spc="0" dirty="0">
                <a:latin typeface="Consolas"/>
                <a:cs typeface="Consolas"/>
              </a:rPr>
              <a:t>C</a:t>
            </a:r>
            <a:r>
              <a:rPr sz="2400" b="1" spc="-5" dirty="0">
                <a:latin typeface="Consolas"/>
                <a:cs typeface="Consolas"/>
              </a:rPr>
              <a:t>LO</a:t>
            </a:r>
            <a:r>
              <a:rPr sz="2400" b="1" spc="0" dirty="0">
                <a:latin typeface="Consolas"/>
                <a:cs typeface="Consolas"/>
              </a:rPr>
              <a:t>C</a:t>
            </a:r>
            <a:r>
              <a:rPr sz="2400" b="1" spc="-5" dirty="0">
                <a:latin typeface="Consolas"/>
                <a:cs typeface="Consolas"/>
              </a:rPr>
              <a:t>K</a:t>
            </a:r>
            <a:r>
              <a:rPr sz="2400" b="1" spc="0" dirty="0">
                <a:latin typeface="Consolas"/>
                <a:cs typeface="Consolas"/>
              </a:rPr>
              <a:t>DI</a:t>
            </a:r>
            <a:r>
              <a:rPr sz="2400" b="1" spc="-5" dirty="0">
                <a:latin typeface="Consolas"/>
                <a:cs typeface="Consolas"/>
              </a:rPr>
              <a:t>VI</a:t>
            </a:r>
            <a:r>
              <a:rPr sz="2400" b="1" spc="0" dirty="0">
                <a:latin typeface="Consolas"/>
                <a:cs typeface="Consolas"/>
              </a:rPr>
              <a:t>S</a:t>
            </a:r>
            <a:r>
              <a:rPr sz="2400" b="1" spc="-5" dirty="0">
                <a:latin typeface="Consolas"/>
                <a:cs typeface="Consolas"/>
              </a:rPr>
              <a:t>IO</a:t>
            </a:r>
            <a:r>
              <a:rPr sz="2400" b="1" spc="0" dirty="0">
                <a:latin typeface="Consolas"/>
                <a:cs typeface="Consolas"/>
              </a:rPr>
              <a:t>N</a:t>
            </a:r>
            <a:r>
              <a:rPr sz="2400" b="1" spc="-5" dirty="0">
                <a:latin typeface="Consolas"/>
                <a:cs typeface="Consolas"/>
              </a:rPr>
              <a:t>_</a:t>
            </a:r>
            <a:r>
              <a:rPr sz="2400" b="1" spc="0" dirty="0">
                <a:latin typeface="Consolas"/>
                <a:cs typeface="Consolas"/>
              </a:rPr>
              <a:t>DI</a:t>
            </a:r>
            <a:r>
              <a:rPr sz="2400" b="1" spc="-5" dirty="0">
                <a:latin typeface="Consolas"/>
                <a:cs typeface="Consolas"/>
              </a:rPr>
              <a:t>V1;</a:t>
            </a:r>
            <a:endParaRPr sz="2400">
              <a:latin typeface="Consolas"/>
              <a:cs typeface="Consolas"/>
            </a:endParaRPr>
          </a:p>
        </p:txBody>
      </p:sp>
      <p:sp>
        <p:nvSpPr>
          <p:cNvPr id="9" name="object 9"/>
          <p:cNvSpPr txBox="1"/>
          <p:nvPr/>
        </p:nvSpPr>
        <p:spPr>
          <a:xfrm>
            <a:off x="1254048" y="3884622"/>
            <a:ext cx="10619740" cy="1220470"/>
          </a:xfrm>
          <a:prstGeom prst="rect">
            <a:avLst/>
          </a:prstGeom>
        </p:spPr>
        <p:txBody>
          <a:bodyPr vert="horz" wrap="square" lIns="0" tIns="0" rIns="0" bIns="0" rtlCol="0">
            <a:spAutoFit/>
          </a:bodyPr>
          <a:lstStyle/>
          <a:p>
            <a:pPr marL="12700" marR="5080">
              <a:lnSpc>
                <a:spcPct val="121700"/>
              </a:lnSpc>
            </a:pPr>
            <a:r>
              <a:rPr sz="2400" b="1" spc="-5" dirty="0">
                <a:latin typeface="Consolas"/>
                <a:cs typeface="Consolas"/>
              </a:rPr>
              <a:t>h</a:t>
            </a:r>
            <a:r>
              <a:rPr sz="2400" b="1" spc="0" dirty="0">
                <a:latin typeface="Consolas"/>
                <a:cs typeface="Consolas"/>
              </a:rPr>
              <a:t>ti</a:t>
            </a:r>
            <a:r>
              <a:rPr sz="2400" b="1" spc="-5" dirty="0">
                <a:latin typeface="Consolas"/>
                <a:cs typeface="Consolas"/>
              </a:rPr>
              <a:t>m1</a:t>
            </a:r>
            <a:r>
              <a:rPr sz="2400" b="1" spc="0" dirty="0">
                <a:latin typeface="Consolas"/>
                <a:cs typeface="Consolas"/>
              </a:rPr>
              <a:t>0</a:t>
            </a:r>
            <a:r>
              <a:rPr sz="2400" b="1" spc="-5" dirty="0">
                <a:latin typeface="Consolas"/>
                <a:cs typeface="Consolas"/>
              </a:rPr>
              <a:t>.I</a:t>
            </a:r>
            <a:r>
              <a:rPr sz="2400" b="1" spc="0" dirty="0">
                <a:latin typeface="Consolas"/>
                <a:cs typeface="Consolas"/>
              </a:rPr>
              <a:t>n</a:t>
            </a:r>
            <a:r>
              <a:rPr sz="2400" b="1" spc="-5" dirty="0">
                <a:latin typeface="Consolas"/>
                <a:cs typeface="Consolas"/>
              </a:rPr>
              <a:t>i</a:t>
            </a:r>
            <a:r>
              <a:rPr sz="2400" b="1" spc="0" dirty="0">
                <a:latin typeface="Consolas"/>
                <a:cs typeface="Consolas"/>
              </a:rPr>
              <a:t>t.</a:t>
            </a:r>
            <a:r>
              <a:rPr sz="2400" b="1" spc="-5" dirty="0">
                <a:latin typeface="Consolas"/>
                <a:cs typeface="Consolas"/>
              </a:rPr>
              <a:t>Au</a:t>
            </a:r>
            <a:r>
              <a:rPr sz="2400" b="1" spc="0" dirty="0">
                <a:latin typeface="Consolas"/>
                <a:cs typeface="Consolas"/>
              </a:rPr>
              <a:t>t</a:t>
            </a:r>
            <a:r>
              <a:rPr sz="2400" b="1" spc="-5" dirty="0">
                <a:latin typeface="Consolas"/>
                <a:cs typeface="Consolas"/>
              </a:rPr>
              <a:t>oR</a:t>
            </a:r>
            <a:r>
              <a:rPr sz="2400" b="1" spc="0" dirty="0">
                <a:latin typeface="Consolas"/>
                <a:cs typeface="Consolas"/>
              </a:rPr>
              <a:t>e</a:t>
            </a:r>
            <a:r>
              <a:rPr sz="2400" b="1" spc="-5" dirty="0">
                <a:latin typeface="Consolas"/>
                <a:cs typeface="Consolas"/>
              </a:rPr>
              <a:t>l</a:t>
            </a:r>
            <a:r>
              <a:rPr sz="2400" b="1" spc="0" dirty="0">
                <a:latin typeface="Consolas"/>
                <a:cs typeface="Consolas"/>
              </a:rPr>
              <a:t>oa</a:t>
            </a:r>
            <a:r>
              <a:rPr sz="2400" b="1" spc="-5" dirty="0">
                <a:latin typeface="Consolas"/>
                <a:cs typeface="Consolas"/>
              </a:rPr>
              <a:t>dP</a:t>
            </a:r>
            <a:r>
              <a:rPr sz="2400" b="1" spc="0" dirty="0">
                <a:latin typeface="Consolas"/>
                <a:cs typeface="Consolas"/>
              </a:rPr>
              <a:t>r</a:t>
            </a:r>
            <a:r>
              <a:rPr sz="2400" b="1" spc="-5" dirty="0">
                <a:latin typeface="Consolas"/>
                <a:cs typeface="Consolas"/>
              </a:rPr>
              <a:t>el</a:t>
            </a:r>
            <a:r>
              <a:rPr sz="2400" b="1" spc="0" dirty="0">
                <a:latin typeface="Consolas"/>
                <a:cs typeface="Consolas"/>
              </a:rPr>
              <a:t>o</a:t>
            </a:r>
            <a:r>
              <a:rPr sz="2400" b="1" spc="-5" dirty="0">
                <a:latin typeface="Consolas"/>
                <a:cs typeface="Consolas"/>
              </a:rPr>
              <a:t>ad</a:t>
            </a:r>
            <a:r>
              <a:rPr sz="2400" b="1" spc="15" dirty="0">
                <a:latin typeface="Consolas"/>
                <a:cs typeface="Consolas"/>
              </a:rPr>
              <a:t> </a:t>
            </a:r>
            <a:r>
              <a:rPr sz="2400" b="1" spc="-5" dirty="0">
                <a:latin typeface="Consolas"/>
                <a:cs typeface="Consolas"/>
              </a:rPr>
              <a:t>=</a:t>
            </a:r>
            <a:r>
              <a:rPr sz="2400" b="1" dirty="0">
                <a:latin typeface="Consolas"/>
                <a:cs typeface="Consolas"/>
              </a:rPr>
              <a:t> </a:t>
            </a:r>
            <a:r>
              <a:rPr sz="2400" b="1" spc="0" dirty="0">
                <a:latin typeface="Consolas"/>
                <a:cs typeface="Consolas"/>
              </a:rPr>
              <a:t>T</a:t>
            </a:r>
            <a:r>
              <a:rPr sz="2400" b="1" spc="-5" dirty="0">
                <a:latin typeface="Consolas"/>
                <a:cs typeface="Consolas"/>
              </a:rPr>
              <a:t>IM</a:t>
            </a:r>
            <a:r>
              <a:rPr sz="2400" b="1" spc="0" dirty="0">
                <a:latin typeface="Consolas"/>
                <a:cs typeface="Consolas"/>
              </a:rPr>
              <a:t>_</a:t>
            </a:r>
            <a:r>
              <a:rPr sz="2400" b="1" spc="-5" dirty="0">
                <a:latin typeface="Consolas"/>
                <a:cs typeface="Consolas"/>
              </a:rPr>
              <a:t>A</a:t>
            </a:r>
            <a:r>
              <a:rPr sz="2400" b="1" spc="0" dirty="0">
                <a:latin typeface="Consolas"/>
                <a:cs typeface="Consolas"/>
              </a:rPr>
              <a:t>UT</a:t>
            </a:r>
            <a:r>
              <a:rPr sz="2400" b="1" spc="-5" dirty="0">
                <a:latin typeface="Consolas"/>
                <a:cs typeface="Consolas"/>
              </a:rPr>
              <a:t>OR</a:t>
            </a:r>
            <a:r>
              <a:rPr sz="2400" b="1" spc="0" dirty="0">
                <a:latin typeface="Consolas"/>
                <a:cs typeface="Consolas"/>
              </a:rPr>
              <a:t>E</a:t>
            </a:r>
            <a:r>
              <a:rPr sz="2400" b="1" spc="-5" dirty="0">
                <a:latin typeface="Consolas"/>
                <a:cs typeface="Consolas"/>
              </a:rPr>
              <a:t>LO</a:t>
            </a:r>
            <a:r>
              <a:rPr sz="2400" b="1" spc="0" dirty="0">
                <a:latin typeface="Consolas"/>
                <a:cs typeface="Consolas"/>
              </a:rPr>
              <a:t>A</a:t>
            </a:r>
            <a:r>
              <a:rPr sz="2400" b="1" spc="-5" dirty="0">
                <a:latin typeface="Consolas"/>
                <a:cs typeface="Consolas"/>
              </a:rPr>
              <a:t>D</a:t>
            </a:r>
            <a:r>
              <a:rPr sz="2400" b="1" spc="0" dirty="0">
                <a:latin typeface="Consolas"/>
                <a:cs typeface="Consolas"/>
              </a:rPr>
              <a:t>_P</a:t>
            </a:r>
            <a:r>
              <a:rPr sz="2400" b="1" spc="-5" dirty="0">
                <a:latin typeface="Consolas"/>
                <a:cs typeface="Consolas"/>
              </a:rPr>
              <a:t>RE</a:t>
            </a:r>
            <a:r>
              <a:rPr sz="2400" b="1" spc="0" dirty="0">
                <a:latin typeface="Consolas"/>
                <a:cs typeface="Consolas"/>
              </a:rPr>
              <a:t>L</a:t>
            </a:r>
            <a:r>
              <a:rPr sz="2400" b="1" spc="-5" dirty="0">
                <a:latin typeface="Consolas"/>
                <a:cs typeface="Consolas"/>
              </a:rPr>
              <a:t>OA</a:t>
            </a:r>
            <a:r>
              <a:rPr sz="2400" b="1" spc="0" dirty="0">
                <a:latin typeface="Consolas"/>
                <a:cs typeface="Consolas"/>
              </a:rPr>
              <a:t>D</a:t>
            </a:r>
            <a:r>
              <a:rPr sz="2400" b="1" spc="-5" dirty="0">
                <a:latin typeface="Consolas"/>
                <a:cs typeface="Consolas"/>
              </a:rPr>
              <a:t>_</a:t>
            </a:r>
            <a:r>
              <a:rPr sz="2400" b="1" spc="0" dirty="0">
                <a:latin typeface="Consolas"/>
                <a:cs typeface="Consolas"/>
              </a:rPr>
              <a:t>DI</a:t>
            </a:r>
            <a:r>
              <a:rPr sz="2400" b="1" spc="-5" dirty="0">
                <a:latin typeface="Consolas"/>
                <a:cs typeface="Consolas"/>
              </a:rPr>
              <a:t>SA</a:t>
            </a:r>
            <a:r>
              <a:rPr sz="2400" b="1" spc="0" dirty="0">
                <a:latin typeface="Consolas"/>
                <a:cs typeface="Consolas"/>
              </a:rPr>
              <a:t>B</a:t>
            </a:r>
            <a:r>
              <a:rPr sz="2400" b="1" spc="-5" dirty="0">
                <a:latin typeface="Consolas"/>
                <a:cs typeface="Consolas"/>
              </a:rPr>
              <a:t>LE; if</a:t>
            </a:r>
            <a:r>
              <a:rPr sz="2400" b="1" spc="15" dirty="0">
                <a:latin typeface="Consolas"/>
                <a:cs typeface="Consolas"/>
              </a:rPr>
              <a:t> </a:t>
            </a:r>
            <a:r>
              <a:rPr sz="2400" b="1" dirty="0">
                <a:latin typeface="Consolas"/>
                <a:cs typeface="Consolas"/>
              </a:rPr>
              <a:t>(</a:t>
            </a:r>
            <a:r>
              <a:rPr sz="2400" b="1" spc="-5" dirty="0">
                <a:latin typeface="Consolas"/>
                <a:cs typeface="Consolas"/>
              </a:rPr>
              <a:t>H</a:t>
            </a:r>
            <a:r>
              <a:rPr sz="2400" b="1" spc="0" dirty="0">
                <a:latin typeface="Consolas"/>
                <a:cs typeface="Consolas"/>
              </a:rPr>
              <a:t>A</a:t>
            </a:r>
            <a:r>
              <a:rPr sz="2400" b="1" spc="-5" dirty="0">
                <a:latin typeface="Consolas"/>
                <a:cs typeface="Consolas"/>
              </a:rPr>
              <a:t>L_</a:t>
            </a:r>
            <a:r>
              <a:rPr sz="2400" b="1" spc="0" dirty="0">
                <a:latin typeface="Consolas"/>
                <a:cs typeface="Consolas"/>
              </a:rPr>
              <a:t>T</a:t>
            </a:r>
            <a:r>
              <a:rPr sz="2400" b="1" spc="-5" dirty="0">
                <a:latin typeface="Consolas"/>
                <a:cs typeface="Consolas"/>
              </a:rPr>
              <a:t>I</a:t>
            </a:r>
            <a:r>
              <a:rPr sz="2400" b="1" spc="0" dirty="0">
                <a:latin typeface="Consolas"/>
                <a:cs typeface="Consolas"/>
              </a:rPr>
              <a:t>M_</a:t>
            </a:r>
            <a:r>
              <a:rPr sz="2400" b="1" spc="-5" dirty="0">
                <a:latin typeface="Consolas"/>
                <a:cs typeface="Consolas"/>
              </a:rPr>
              <a:t>Ba</a:t>
            </a:r>
            <a:r>
              <a:rPr sz="2400" b="1" spc="0" dirty="0">
                <a:latin typeface="Consolas"/>
                <a:cs typeface="Consolas"/>
              </a:rPr>
              <a:t>s</a:t>
            </a:r>
            <a:r>
              <a:rPr sz="2400" b="1" spc="-5" dirty="0">
                <a:latin typeface="Consolas"/>
                <a:cs typeface="Consolas"/>
              </a:rPr>
              <a:t>e_</a:t>
            </a:r>
            <a:r>
              <a:rPr sz="2400" b="1" spc="0" dirty="0">
                <a:latin typeface="Consolas"/>
                <a:cs typeface="Consolas"/>
              </a:rPr>
              <a:t>I</a:t>
            </a:r>
            <a:r>
              <a:rPr sz="2400" b="1" spc="-5" dirty="0">
                <a:latin typeface="Consolas"/>
                <a:cs typeface="Consolas"/>
              </a:rPr>
              <a:t>n</a:t>
            </a:r>
            <a:r>
              <a:rPr sz="2400" b="1" spc="0" dirty="0">
                <a:latin typeface="Consolas"/>
                <a:cs typeface="Consolas"/>
              </a:rPr>
              <a:t>i</a:t>
            </a:r>
            <a:r>
              <a:rPr sz="2400" b="1" spc="25" dirty="0">
                <a:latin typeface="Consolas"/>
                <a:cs typeface="Consolas"/>
              </a:rPr>
              <a:t>t</a:t>
            </a:r>
            <a:r>
              <a:rPr sz="2400" b="1" spc="-5" dirty="0">
                <a:latin typeface="Consolas"/>
                <a:cs typeface="Consolas"/>
              </a:rPr>
              <a:t>(&amp;</a:t>
            </a:r>
            <a:r>
              <a:rPr sz="2400" b="1" spc="0" dirty="0">
                <a:latin typeface="Consolas"/>
                <a:cs typeface="Consolas"/>
              </a:rPr>
              <a:t>h</a:t>
            </a:r>
            <a:r>
              <a:rPr sz="2400" b="1" spc="-5" dirty="0">
                <a:latin typeface="Consolas"/>
                <a:cs typeface="Consolas"/>
              </a:rPr>
              <a:t>ti</a:t>
            </a:r>
            <a:r>
              <a:rPr sz="2400" b="1" spc="0" dirty="0">
                <a:latin typeface="Consolas"/>
                <a:cs typeface="Consolas"/>
              </a:rPr>
              <a:t>m</a:t>
            </a:r>
            <a:r>
              <a:rPr sz="2400" b="1" spc="-5" dirty="0">
                <a:latin typeface="Consolas"/>
                <a:cs typeface="Consolas"/>
              </a:rPr>
              <a:t>1</a:t>
            </a:r>
            <a:r>
              <a:rPr sz="2400" b="1" spc="0" dirty="0">
                <a:latin typeface="Consolas"/>
                <a:cs typeface="Consolas"/>
              </a:rPr>
              <a:t>0</a:t>
            </a:r>
            <a:r>
              <a:rPr sz="2400" b="1" spc="-5" dirty="0">
                <a:latin typeface="Consolas"/>
                <a:cs typeface="Consolas"/>
              </a:rPr>
              <a:t>)</a:t>
            </a:r>
            <a:r>
              <a:rPr sz="2400" b="1" spc="10" dirty="0">
                <a:latin typeface="Consolas"/>
                <a:cs typeface="Consolas"/>
              </a:rPr>
              <a:t> </a:t>
            </a:r>
            <a:r>
              <a:rPr sz="2400" b="1" spc="-5" dirty="0">
                <a:latin typeface="Consolas"/>
                <a:cs typeface="Consolas"/>
              </a:rPr>
              <a:t>!=</a:t>
            </a:r>
            <a:r>
              <a:rPr sz="2400" b="1" spc="10" dirty="0">
                <a:latin typeface="Consolas"/>
                <a:cs typeface="Consolas"/>
              </a:rPr>
              <a:t> </a:t>
            </a:r>
            <a:r>
              <a:rPr sz="2400" b="1" spc="-5" dirty="0">
                <a:latin typeface="Consolas"/>
                <a:cs typeface="Consolas"/>
              </a:rPr>
              <a:t>H</a:t>
            </a:r>
            <a:r>
              <a:rPr sz="2400" b="1" spc="0" dirty="0">
                <a:latin typeface="Consolas"/>
                <a:cs typeface="Consolas"/>
              </a:rPr>
              <a:t>A</a:t>
            </a:r>
            <a:r>
              <a:rPr sz="2400" b="1" spc="-5" dirty="0">
                <a:latin typeface="Consolas"/>
                <a:cs typeface="Consolas"/>
              </a:rPr>
              <a:t>L</a:t>
            </a:r>
            <a:r>
              <a:rPr sz="2400" b="1" spc="0" dirty="0">
                <a:latin typeface="Consolas"/>
                <a:cs typeface="Consolas"/>
              </a:rPr>
              <a:t>_O</a:t>
            </a:r>
            <a:r>
              <a:rPr sz="2400" b="1" spc="-5" dirty="0">
                <a:latin typeface="Consolas"/>
                <a:cs typeface="Consolas"/>
              </a:rPr>
              <a:t>K)</a:t>
            </a:r>
            <a:endParaRPr sz="2400">
              <a:latin typeface="Consolas"/>
              <a:cs typeface="Consolas"/>
            </a:endParaRPr>
          </a:p>
          <a:p>
            <a:pPr marL="86360">
              <a:lnSpc>
                <a:spcPct val="100000"/>
              </a:lnSpc>
              <a:spcBef>
                <a:spcPts val="620"/>
              </a:spcBef>
            </a:pPr>
            <a:r>
              <a:rPr sz="2400" b="1" spc="-5" dirty="0">
                <a:latin typeface="Consolas"/>
                <a:cs typeface="Consolas"/>
              </a:rPr>
              <a:t>{</a:t>
            </a:r>
            <a:endParaRPr sz="2400">
              <a:latin typeface="Consolas"/>
              <a:cs typeface="Consolas"/>
            </a:endParaRPr>
          </a:p>
        </p:txBody>
      </p:sp>
      <p:sp>
        <p:nvSpPr>
          <p:cNvPr id="10" name="object 10"/>
          <p:cNvSpPr txBox="1"/>
          <p:nvPr/>
        </p:nvSpPr>
        <p:spPr>
          <a:xfrm>
            <a:off x="1664589" y="5218376"/>
            <a:ext cx="2718435"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Er</a:t>
            </a:r>
            <a:r>
              <a:rPr sz="2400" b="1" spc="0" dirty="0">
                <a:latin typeface="Consolas"/>
                <a:cs typeface="Consolas"/>
              </a:rPr>
              <a:t>r</a:t>
            </a:r>
            <a:r>
              <a:rPr sz="2400" b="1" spc="-5" dirty="0">
                <a:latin typeface="Consolas"/>
                <a:cs typeface="Consolas"/>
              </a:rPr>
              <a:t>o</a:t>
            </a:r>
            <a:r>
              <a:rPr sz="2400" b="1" spc="0" dirty="0">
                <a:latin typeface="Consolas"/>
                <a:cs typeface="Consolas"/>
              </a:rPr>
              <a:t>r_</a:t>
            </a:r>
            <a:r>
              <a:rPr sz="2400" b="1" spc="-5" dirty="0">
                <a:latin typeface="Consolas"/>
                <a:cs typeface="Consolas"/>
              </a:rPr>
              <a:t>Ha</a:t>
            </a:r>
            <a:r>
              <a:rPr sz="2400" b="1" spc="0" dirty="0">
                <a:latin typeface="Consolas"/>
                <a:cs typeface="Consolas"/>
              </a:rPr>
              <a:t>n</a:t>
            </a:r>
            <a:r>
              <a:rPr sz="2400" b="1" spc="-5" dirty="0">
                <a:latin typeface="Consolas"/>
                <a:cs typeface="Consolas"/>
              </a:rPr>
              <a:t>dl</a:t>
            </a:r>
            <a:r>
              <a:rPr sz="2400" b="1" spc="0" dirty="0">
                <a:latin typeface="Consolas"/>
                <a:cs typeface="Consolas"/>
              </a:rPr>
              <a:t>e</a:t>
            </a:r>
            <a:r>
              <a:rPr sz="2400" b="1" spc="5" dirty="0">
                <a:latin typeface="Consolas"/>
                <a:cs typeface="Consolas"/>
              </a:rPr>
              <a:t>r</a:t>
            </a:r>
            <a:r>
              <a:rPr sz="2400" b="1" spc="0" dirty="0">
                <a:latin typeface="Consolas"/>
                <a:cs typeface="Consolas"/>
              </a:rPr>
              <a:t>()</a:t>
            </a:r>
            <a:r>
              <a:rPr sz="2400" b="1" spc="-5" dirty="0">
                <a:latin typeface="Consolas"/>
                <a:cs typeface="Consolas"/>
              </a:rPr>
              <a:t>;</a:t>
            </a:r>
            <a:endParaRPr sz="2400">
              <a:latin typeface="Consolas"/>
              <a:cs typeface="Consolas"/>
            </a:endParaRPr>
          </a:p>
        </p:txBody>
      </p:sp>
      <p:sp>
        <p:nvSpPr>
          <p:cNvPr id="11" name="object 11"/>
          <p:cNvSpPr txBox="1"/>
          <p:nvPr/>
        </p:nvSpPr>
        <p:spPr>
          <a:xfrm>
            <a:off x="1327785" y="5663384"/>
            <a:ext cx="193040" cy="33020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a:t>
            </a:r>
            <a:endParaRPr sz="2400">
              <a:latin typeface="Consolas"/>
              <a:cs typeface="Consolas"/>
            </a:endParaRPr>
          </a:p>
        </p:txBody>
      </p:sp>
      <p:sp>
        <p:nvSpPr>
          <p:cNvPr id="12" name="object 12"/>
          <p:cNvSpPr txBox="1">
            <a:spLocks noGrp="1"/>
          </p:cNvSpPr>
          <p:nvPr>
            <p:ph type="title"/>
          </p:nvPr>
        </p:nvSpPr>
        <p:spPr>
          <a:xfrm>
            <a:off x="4614417" y="150687"/>
            <a:ext cx="2866390" cy="381000"/>
          </a:xfrm>
          <a:prstGeom prst="rect">
            <a:avLst/>
          </a:prstGeom>
        </p:spPr>
        <p:txBody>
          <a:bodyPr vert="horz" wrap="square" lIns="0" tIns="0" rIns="0" bIns="0" rtlCol="0">
            <a:spAutoFit/>
          </a:bodyPr>
          <a:lstStyle/>
          <a:p>
            <a:pPr marL="12700">
              <a:lnSpc>
                <a:spcPct val="100000"/>
              </a:lnSpc>
            </a:pPr>
            <a:r>
              <a:rPr spc="-10" dirty="0"/>
              <a:t>定时器初始化函数</a:t>
            </a:r>
          </a:p>
        </p:txBody>
      </p:sp>
      <p:sp>
        <p:nvSpPr>
          <p:cNvPr id="13" name="object 13"/>
          <p:cNvSpPr/>
          <p:nvPr/>
        </p:nvSpPr>
        <p:spPr>
          <a:xfrm>
            <a:off x="1006602" y="1617725"/>
            <a:ext cx="10823575" cy="2589530"/>
          </a:xfrm>
          <a:custGeom>
            <a:avLst/>
            <a:gdLst/>
            <a:ahLst/>
            <a:cxnLst/>
            <a:rect l="l" t="t" r="r" b="b"/>
            <a:pathLst>
              <a:path w="10823575" h="2589529">
                <a:moveTo>
                  <a:pt x="0" y="2589276"/>
                </a:moveTo>
                <a:lnTo>
                  <a:pt x="10823448" y="2589276"/>
                </a:lnTo>
                <a:lnTo>
                  <a:pt x="10823448" y="0"/>
                </a:lnTo>
                <a:lnTo>
                  <a:pt x="0" y="0"/>
                </a:lnTo>
                <a:lnTo>
                  <a:pt x="0" y="2589276"/>
                </a:lnTo>
                <a:close/>
              </a:path>
            </a:pathLst>
          </a:custGeom>
          <a:ln w="38099">
            <a:solidFill>
              <a:srgbClr val="FF0000"/>
            </a:solidFill>
          </a:ln>
        </p:spPr>
        <p:txBody>
          <a:bodyPr wrap="square" lIns="0" tIns="0" rIns="0" bIns="0" rtlCol="0"/>
          <a:lstStyle/>
          <a:p>
            <a:endParaRPr/>
          </a:p>
        </p:txBody>
      </p:sp>
      <p:sp>
        <p:nvSpPr>
          <p:cNvPr id="14" name="object 14"/>
          <p:cNvSpPr/>
          <p:nvPr/>
        </p:nvSpPr>
        <p:spPr>
          <a:xfrm>
            <a:off x="5179314" y="4708016"/>
            <a:ext cx="3214370" cy="933450"/>
          </a:xfrm>
          <a:custGeom>
            <a:avLst/>
            <a:gdLst/>
            <a:ahLst/>
            <a:cxnLst/>
            <a:rect l="l" t="t" r="r" b="b"/>
            <a:pathLst>
              <a:path w="3214370" h="933450">
                <a:moveTo>
                  <a:pt x="356235" y="0"/>
                </a:moveTo>
                <a:lnTo>
                  <a:pt x="535686" y="265556"/>
                </a:lnTo>
                <a:lnTo>
                  <a:pt x="105504" y="265702"/>
                </a:lnTo>
                <a:lnTo>
                  <a:pt x="91077" y="267379"/>
                </a:lnTo>
                <a:lnTo>
                  <a:pt x="52020" y="282604"/>
                </a:lnTo>
                <a:lnTo>
                  <a:pt x="21823" y="310598"/>
                </a:lnTo>
                <a:lnTo>
                  <a:pt x="3732" y="348112"/>
                </a:lnTo>
                <a:lnTo>
                  <a:pt x="0" y="376808"/>
                </a:lnTo>
                <a:lnTo>
                  <a:pt x="0" y="543686"/>
                </a:lnTo>
                <a:lnTo>
                  <a:pt x="145" y="827562"/>
                </a:lnTo>
                <a:lnTo>
                  <a:pt x="10393" y="868842"/>
                </a:lnTo>
                <a:lnTo>
                  <a:pt x="34491" y="902355"/>
                </a:lnTo>
                <a:lnTo>
                  <a:pt x="69193" y="924848"/>
                </a:lnTo>
                <a:lnTo>
                  <a:pt x="111251" y="933068"/>
                </a:lnTo>
                <a:lnTo>
                  <a:pt x="1339214" y="933068"/>
                </a:lnTo>
                <a:lnTo>
                  <a:pt x="3108611" y="932923"/>
                </a:lnTo>
                <a:lnTo>
                  <a:pt x="3149900" y="922670"/>
                </a:lnTo>
                <a:lnTo>
                  <a:pt x="3183411" y="898567"/>
                </a:lnTo>
                <a:lnTo>
                  <a:pt x="3205898" y="863865"/>
                </a:lnTo>
                <a:lnTo>
                  <a:pt x="3214116" y="821816"/>
                </a:lnTo>
                <a:lnTo>
                  <a:pt x="3214116" y="376808"/>
                </a:lnTo>
                <a:lnTo>
                  <a:pt x="3203722" y="329772"/>
                </a:lnTo>
                <a:lnTo>
                  <a:pt x="3179624" y="296261"/>
                </a:lnTo>
                <a:lnTo>
                  <a:pt x="3144922" y="273774"/>
                </a:lnTo>
                <a:lnTo>
                  <a:pt x="3102864" y="265556"/>
                </a:lnTo>
                <a:lnTo>
                  <a:pt x="1339214" y="265556"/>
                </a:lnTo>
                <a:lnTo>
                  <a:pt x="356235" y="0"/>
                </a:lnTo>
                <a:close/>
              </a:path>
            </a:pathLst>
          </a:custGeom>
          <a:solidFill>
            <a:srgbClr val="FFFFC7"/>
          </a:solidFill>
        </p:spPr>
        <p:txBody>
          <a:bodyPr wrap="square" lIns="0" tIns="0" rIns="0" bIns="0" rtlCol="0"/>
          <a:lstStyle/>
          <a:p>
            <a:endParaRPr/>
          </a:p>
        </p:txBody>
      </p:sp>
      <p:sp>
        <p:nvSpPr>
          <p:cNvPr id="15" name="object 15"/>
          <p:cNvSpPr/>
          <p:nvPr/>
        </p:nvSpPr>
        <p:spPr>
          <a:xfrm>
            <a:off x="5179314" y="4708016"/>
            <a:ext cx="3214370" cy="933450"/>
          </a:xfrm>
          <a:custGeom>
            <a:avLst/>
            <a:gdLst/>
            <a:ahLst/>
            <a:cxnLst/>
            <a:rect l="l" t="t" r="r" b="b"/>
            <a:pathLst>
              <a:path w="3214370" h="933450">
                <a:moveTo>
                  <a:pt x="0" y="376808"/>
                </a:moveTo>
                <a:lnTo>
                  <a:pt x="8217" y="334750"/>
                </a:lnTo>
                <a:lnTo>
                  <a:pt x="30704" y="300048"/>
                </a:lnTo>
                <a:lnTo>
                  <a:pt x="64215" y="275950"/>
                </a:lnTo>
                <a:lnTo>
                  <a:pt x="105504" y="265702"/>
                </a:lnTo>
                <a:lnTo>
                  <a:pt x="535686" y="265556"/>
                </a:lnTo>
                <a:lnTo>
                  <a:pt x="356235" y="0"/>
                </a:lnTo>
                <a:lnTo>
                  <a:pt x="1339214" y="265556"/>
                </a:lnTo>
                <a:lnTo>
                  <a:pt x="3102864" y="265556"/>
                </a:lnTo>
                <a:lnTo>
                  <a:pt x="3117500" y="266510"/>
                </a:lnTo>
                <a:lnTo>
                  <a:pt x="3157467" y="279844"/>
                </a:lnTo>
                <a:lnTo>
                  <a:pt x="3188995" y="306367"/>
                </a:lnTo>
                <a:lnTo>
                  <a:pt x="3208837" y="342831"/>
                </a:lnTo>
                <a:lnTo>
                  <a:pt x="3214116" y="376808"/>
                </a:lnTo>
                <a:lnTo>
                  <a:pt x="3214116" y="543686"/>
                </a:lnTo>
                <a:lnTo>
                  <a:pt x="3214116" y="821816"/>
                </a:lnTo>
                <a:lnTo>
                  <a:pt x="3213162" y="836448"/>
                </a:lnTo>
                <a:lnTo>
                  <a:pt x="3199828" y="876409"/>
                </a:lnTo>
                <a:lnTo>
                  <a:pt x="3173305" y="907940"/>
                </a:lnTo>
                <a:lnTo>
                  <a:pt x="3136841" y="927788"/>
                </a:lnTo>
                <a:lnTo>
                  <a:pt x="1339214" y="933068"/>
                </a:lnTo>
                <a:lnTo>
                  <a:pt x="535686" y="933068"/>
                </a:lnTo>
                <a:lnTo>
                  <a:pt x="111251" y="933068"/>
                </a:lnTo>
                <a:lnTo>
                  <a:pt x="96615" y="932115"/>
                </a:lnTo>
                <a:lnTo>
                  <a:pt x="56648" y="918775"/>
                </a:lnTo>
                <a:lnTo>
                  <a:pt x="25120" y="892248"/>
                </a:lnTo>
                <a:lnTo>
                  <a:pt x="5278" y="855784"/>
                </a:lnTo>
                <a:lnTo>
                  <a:pt x="0" y="543686"/>
                </a:lnTo>
                <a:lnTo>
                  <a:pt x="0" y="376808"/>
                </a:lnTo>
                <a:close/>
              </a:path>
            </a:pathLst>
          </a:custGeom>
          <a:ln w="28956">
            <a:solidFill>
              <a:srgbClr val="000000"/>
            </a:solidFill>
          </a:ln>
        </p:spPr>
        <p:txBody>
          <a:bodyPr wrap="square" lIns="0" tIns="0" rIns="0" bIns="0" rtlCol="0"/>
          <a:lstStyle/>
          <a:p>
            <a:endParaRPr/>
          </a:p>
        </p:txBody>
      </p:sp>
      <p:sp>
        <p:nvSpPr>
          <p:cNvPr id="16" name="object 16"/>
          <p:cNvSpPr txBox="1"/>
          <p:nvPr/>
        </p:nvSpPr>
        <p:spPr>
          <a:xfrm>
            <a:off x="5394705" y="5143182"/>
            <a:ext cx="278257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时基单元初始化函数</a:t>
            </a:r>
            <a:endParaRPr sz="2400">
              <a:latin typeface="宋体"/>
              <a:cs typeface="宋体"/>
            </a:endParaRPr>
          </a:p>
        </p:txBody>
      </p:sp>
      <p:sp>
        <p:nvSpPr>
          <p:cNvPr id="17" name="object 17"/>
          <p:cNvSpPr/>
          <p:nvPr/>
        </p:nvSpPr>
        <p:spPr>
          <a:xfrm>
            <a:off x="6386321" y="1264158"/>
            <a:ext cx="5293360" cy="1191895"/>
          </a:xfrm>
          <a:custGeom>
            <a:avLst/>
            <a:gdLst/>
            <a:ahLst/>
            <a:cxnLst/>
            <a:rect l="l" t="t" r="r" b="b"/>
            <a:pathLst>
              <a:path w="5293359" h="1191895">
                <a:moveTo>
                  <a:pt x="5094224" y="0"/>
                </a:moveTo>
                <a:lnTo>
                  <a:pt x="198627" y="0"/>
                </a:lnTo>
                <a:lnTo>
                  <a:pt x="182333" y="658"/>
                </a:lnTo>
                <a:lnTo>
                  <a:pt x="135835" y="10123"/>
                </a:lnTo>
                <a:lnTo>
                  <a:pt x="93986" y="29752"/>
                </a:lnTo>
                <a:lnTo>
                  <a:pt x="58165" y="58165"/>
                </a:lnTo>
                <a:lnTo>
                  <a:pt x="29752" y="93986"/>
                </a:lnTo>
                <a:lnTo>
                  <a:pt x="10123" y="135835"/>
                </a:lnTo>
                <a:lnTo>
                  <a:pt x="658" y="182333"/>
                </a:lnTo>
                <a:lnTo>
                  <a:pt x="0" y="198627"/>
                </a:lnTo>
                <a:lnTo>
                  <a:pt x="0" y="993139"/>
                </a:lnTo>
                <a:lnTo>
                  <a:pt x="5771" y="1040881"/>
                </a:lnTo>
                <a:lnTo>
                  <a:pt x="22165" y="1084433"/>
                </a:lnTo>
                <a:lnTo>
                  <a:pt x="47803" y="1122416"/>
                </a:lnTo>
                <a:lnTo>
                  <a:pt x="81308" y="1153452"/>
                </a:lnTo>
                <a:lnTo>
                  <a:pt x="121300" y="1176162"/>
                </a:lnTo>
                <a:lnTo>
                  <a:pt x="166402" y="1189169"/>
                </a:lnTo>
                <a:lnTo>
                  <a:pt x="198627" y="1191767"/>
                </a:lnTo>
                <a:lnTo>
                  <a:pt x="5094224" y="1191767"/>
                </a:lnTo>
                <a:lnTo>
                  <a:pt x="5141965" y="1185996"/>
                </a:lnTo>
                <a:lnTo>
                  <a:pt x="5185517" y="1169602"/>
                </a:lnTo>
                <a:lnTo>
                  <a:pt x="5223500" y="1143964"/>
                </a:lnTo>
                <a:lnTo>
                  <a:pt x="5254536" y="1110459"/>
                </a:lnTo>
                <a:lnTo>
                  <a:pt x="5277246" y="1070467"/>
                </a:lnTo>
                <a:lnTo>
                  <a:pt x="5290253" y="1025365"/>
                </a:lnTo>
                <a:lnTo>
                  <a:pt x="5292852" y="993139"/>
                </a:lnTo>
                <a:lnTo>
                  <a:pt x="5292852" y="198627"/>
                </a:lnTo>
                <a:lnTo>
                  <a:pt x="5287080" y="150886"/>
                </a:lnTo>
                <a:lnTo>
                  <a:pt x="5270686" y="107334"/>
                </a:lnTo>
                <a:lnTo>
                  <a:pt x="5245048" y="69351"/>
                </a:lnTo>
                <a:lnTo>
                  <a:pt x="5211543" y="38315"/>
                </a:lnTo>
                <a:lnTo>
                  <a:pt x="5171551" y="15605"/>
                </a:lnTo>
                <a:lnTo>
                  <a:pt x="5126449" y="2598"/>
                </a:lnTo>
                <a:lnTo>
                  <a:pt x="5094224" y="0"/>
                </a:lnTo>
                <a:close/>
              </a:path>
            </a:pathLst>
          </a:custGeom>
          <a:solidFill>
            <a:srgbClr val="FFFFC7"/>
          </a:solidFill>
        </p:spPr>
        <p:txBody>
          <a:bodyPr wrap="square" lIns="0" tIns="0" rIns="0" bIns="0" rtlCol="0"/>
          <a:lstStyle/>
          <a:p>
            <a:endParaRPr/>
          </a:p>
        </p:txBody>
      </p:sp>
      <p:sp>
        <p:nvSpPr>
          <p:cNvPr id="18" name="object 18"/>
          <p:cNvSpPr/>
          <p:nvPr/>
        </p:nvSpPr>
        <p:spPr>
          <a:xfrm>
            <a:off x="6386321" y="1264158"/>
            <a:ext cx="5293360" cy="1191895"/>
          </a:xfrm>
          <a:custGeom>
            <a:avLst/>
            <a:gdLst/>
            <a:ahLst/>
            <a:cxnLst/>
            <a:rect l="l" t="t" r="r" b="b"/>
            <a:pathLst>
              <a:path w="5293359" h="1191895">
                <a:moveTo>
                  <a:pt x="0" y="198627"/>
                </a:moveTo>
                <a:lnTo>
                  <a:pt x="5771" y="150886"/>
                </a:lnTo>
                <a:lnTo>
                  <a:pt x="22165" y="107334"/>
                </a:lnTo>
                <a:lnTo>
                  <a:pt x="47803" y="69351"/>
                </a:lnTo>
                <a:lnTo>
                  <a:pt x="81308" y="38315"/>
                </a:lnTo>
                <a:lnTo>
                  <a:pt x="121300" y="15605"/>
                </a:lnTo>
                <a:lnTo>
                  <a:pt x="166402" y="2598"/>
                </a:lnTo>
                <a:lnTo>
                  <a:pt x="198627" y="0"/>
                </a:lnTo>
                <a:lnTo>
                  <a:pt x="882142" y="0"/>
                </a:lnTo>
                <a:lnTo>
                  <a:pt x="2205354" y="0"/>
                </a:lnTo>
                <a:lnTo>
                  <a:pt x="5094224" y="0"/>
                </a:lnTo>
                <a:lnTo>
                  <a:pt x="5110518" y="658"/>
                </a:lnTo>
                <a:lnTo>
                  <a:pt x="5157016" y="10123"/>
                </a:lnTo>
                <a:lnTo>
                  <a:pt x="5198865" y="29752"/>
                </a:lnTo>
                <a:lnTo>
                  <a:pt x="5234686" y="58165"/>
                </a:lnTo>
                <a:lnTo>
                  <a:pt x="5263099" y="93986"/>
                </a:lnTo>
                <a:lnTo>
                  <a:pt x="5282728" y="135835"/>
                </a:lnTo>
                <a:lnTo>
                  <a:pt x="5292193" y="182333"/>
                </a:lnTo>
                <a:lnTo>
                  <a:pt x="5292852" y="198627"/>
                </a:lnTo>
                <a:lnTo>
                  <a:pt x="5292852" y="695197"/>
                </a:lnTo>
                <a:lnTo>
                  <a:pt x="5292852" y="993139"/>
                </a:lnTo>
                <a:lnTo>
                  <a:pt x="5292193" y="1009434"/>
                </a:lnTo>
                <a:lnTo>
                  <a:pt x="5290253" y="1025365"/>
                </a:lnTo>
                <a:lnTo>
                  <a:pt x="5277246" y="1070467"/>
                </a:lnTo>
                <a:lnTo>
                  <a:pt x="5254536" y="1110459"/>
                </a:lnTo>
                <a:lnTo>
                  <a:pt x="5223500" y="1143964"/>
                </a:lnTo>
                <a:lnTo>
                  <a:pt x="5185517" y="1169602"/>
                </a:lnTo>
                <a:lnTo>
                  <a:pt x="5141965" y="1185996"/>
                </a:lnTo>
                <a:lnTo>
                  <a:pt x="5094224" y="1191767"/>
                </a:lnTo>
                <a:lnTo>
                  <a:pt x="2205354" y="1191767"/>
                </a:lnTo>
                <a:lnTo>
                  <a:pt x="1114678" y="1191767"/>
                </a:lnTo>
                <a:lnTo>
                  <a:pt x="882142" y="1191767"/>
                </a:lnTo>
                <a:lnTo>
                  <a:pt x="198627" y="1191767"/>
                </a:lnTo>
                <a:lnTo>
                  <a:pt x="182333" y="1191109"/>
                </a:lnTo>
                <a:lnTo>
                  <a:pt x="135835" y="1181644"/>
                </a:lnTo>
                <a:lnTo>
                  <a:pt x="93986" y="1162015"/>
                </a:lnTo>
                <a:lnTo>
                  <a:pt x="58165" y="1133601"/>
                </a:lnTo>
                <a:lnTo>
                  <a:pt x="29752" y="1097781"/>
                </a:lnTo>
                <a:lnTo>
                  <a:pt x="10123" y="1055932"/>
                </a:lnTo>
                <a:lnTo>
                  <a:pt x="658" y="1009434"/>
                </a:lnTo>
                <a:lnTo>
                  <a:pt x="0" y="993139"/>
                </a:lnTo>
                <a:lnTo>
                  <a:pt x="0" y="695197"/>
                </a:lnTo>
                <a:lnTo>
                  <a:pt x="0" y="198627"/>
                </a:lnTo>
                <a:close/>
              </a:path>
            </a:pathLst>
          </a:custGeom>
          <a:ln w="28956">
            <a:solidFill>
              <a:srgbClr val="000000"/>
            </a:solidFill>
          </a:ln>
        </p:spPr>
        <p:txBody>
          <a:bodyPr wrap="square" lIns="0" tIns="0" rIns="0" bIns="0" rtlCol="0"/>
          <a:lstStyle/>
          <a:p>
            <a:endParaRPr/>
          </a:p>
        </p:txBody>
      </p:sp>
      <p:sp>
        <p:nvSpPr>
          <p:cNvPr id="19" name="object 19"/>
          <p:cNvSpPr txBox="1"/>
          <p:nvPr/>
        </p:nvSpPr>
        <p:spPr>
          <a:xfrm>
            <a:off x="6523735" y="1715706"/>
            <a:ext cx="4926965" cy="710565"/>
          </a:xfrm>
          <a:prstGeom prst="rect">
            <a:avLst/>
          </a:prstGeom>
        </p:spPr>
        <p:txBody>
          <a:bodyPr vert="horz" wrap="square" lIns="0" tIns="0" rIns="0" bIns="0" rtlCol="0">
            <a:spAutoFit/>
          </a:bodyPr>
          <a:lstStyle/>
          <a:p>
            <a:pPr marL="12700">
              <a:lnSpc>
                <a:spcPts val="2795"/>
              </a:lnSpc>
            </a:pPr>
            <a:r>
              <a:rPr sz="2400" b="1" dirty="0">
                <a:latin typeface="宋体"/>
                <a:cs typeface="宋体"/>
              </a:rPr>
              <a:t>基单元的初始化，初始化参数根据用</a:t>
            </a:r>
            <a:endParaRPr sz="2400">
              <a:latin typeface="宋体"/>
              <a:cs typeface="宋体"/>
            </a:endParaRPr>
          </a:p>
          <a:p>
            <a:pPr marL="12700">
              <a:lnSpc>
                <a:spcPts val="2795"/>
              </a:lnSpc>
            </a:pPr>
            <a:r>
              <a:rPr sz="2400" b="1" spc="-5" dirty="0">
                <a:latin typeface="宋体"/>
                <a:cs typeface="宋体"/>
              </a:rPr>
              <a:t>户</a:t>
            </a:r>
            <a:r>
              <a:rPr sz="2400" b="1" dirty="0">
                <a:latin typeface="宋体"/>
                <a:cs typeface="宋体"/>
              </a:rPr>
              <a:t>在</a:t>
            </a:r>
            <a:r>
              <a:rPr sz="2400" b="1" spc="-5" dirty="0">
                <a:latin typeface="Consolas"/>
                <a:cs typeface="Consolas"/>
              </a:rPr>
              <a:t>CubeMX</a:t>
            </a:r>
            <a:r>
              <a:rPr sz="2400" b="1" spc="-5" dirty="0">
                <a:latin typeface="宋体"/>
                <a:cs typeface="宋体"/>
              </a:rPr>
              <a:t>中的设置决定</a:t>
            </a:r>
            <a:endParaRPr sz="2400">
              <a:latin typeface="宋体"/>
              <a:cs typeface="宋体"/>
            </a:endParaRPr>
          </a:p>
        </p:txBody>
      </p:sp>
      <p:sp>
        <p:nvSpPr>
          <p:cNvPr id="20" name="object 20"/>
          <p:cNvSpPr/>
          <p:nvPr/>
        </p:nvSpPr>
        <p:spPr>
          <a:xfrm>
            <a:off x="6034659" y="566166"/>
            <a:ext cx="3567429" cy="594360"/>
          </a:xfrm>
          <a:custGeom>
            <a:avLst/>
            <a:gdLst/>
            <a:ahLst/>
            <a:cxnLst/>
            <a:rect l="l" t="t" r="r" b="b"/>
            <a:pathLst>
              <a:path w="3567429" h="594360">
                <a:moveTo>
                  <a:pt x="3567302" y="247650"/>
                </a:moveTo>
                <a:lnTo>
                  <a:pt x="351663" y="247650"/>
                </a:lnTo>
                <a:lnTo>
                  <a:pt x="351664" y="495759"/>
                </a:lnTo>
                <a:lnTo>
                  <a:pt x="360998" y="537357"/>
                </a:lnTo>
                <a:lnTo>
                  <a:pt x="385867" y="570198"/>
                </a:lnTo>
                <a:lnTo>
                  <a:pt x="422179" y="590191"/>
                </a:lnTo>
                <a:lnTo>
                  <a:pt x="450723" y="594360"/>
                </a:lnTo>
                <a:lnTo>
                  <a:pt x="3468702" y="594358"/>
                </a:lnTo>
                <a:lnTo>
                  <a:pt x="3510300" y="585024"/>
                </a:lnTo>
                <a:lnTo>
                  <a:pt x="3543141" y="560155"/>
                </a:lnTo>
                <a:lnTo>
                  <a:pt x="3563134" y="523843"/>
                </a:lnTo>
                <a:lnTo>
                  <a:pt x="3567302" y="247650"/>
                </a:lnTo>
                <a:close/>
              </a:path>
              <a:path w="3567429" h="594360">
                <a:moveTo>
                  <a:pt x="3468242" y="0"/>
                </a:moveTo>
                <a:lnTo>
                  <a:pt x="450263" y="1"/>
                </a:lnTo>
                <a:lnTo>
                  <a:pt x="408665" y="9335"/>
                </a:lnTo>
                <a:lnTo>
                  <a:pt x="375824" y="34204"/>
                </a:lnTo>
                <a:lnTo>
                  <a:pt x="355831" y="70516"/>
                </a:lnTo>
                <a:lnTo>
                  <a:pt x="351663" y="99060"/>
                </a:lnTo>
                <a:lnTo>
                  <a:pt x="0" y="294513"/>
                </a:lnTo>
                <a:lnTo>
                  <a:pt x="351663" y="247650"/>
                </a:lnTo>
                <a:lnTo>
                  <a:pt x="3567302" y="247650"/>
                </a:lnTo>
                <a:lnTo>
                  <a:pt x="3567301" y="98600"/>
                </a:lnTo>
                <a:lnTo>
                  <a:pt x="3557967" y="57002"/>
                </a:lnTo>
                <a:lnTo>
                  <a:pt x="3533098" y="24161"/>
                </a:lnTo>
                <a:lnTo>
                  <a:pt x="3496786" y="4168"/>
                </a:lnTo>
                <a:lnTo>
                  <a:pt x="3482847" y="1067"/>
                </a:lnTo>
                <a:lnTo>
                  <a:pt x="3468242" y="0"/>
                </a:lnTo>
                <a:close/>
              </a:path>
            </a:pathLst>
          </a:custGeom>
          <a:solidFill>
            <a:srgbClr val="FFFFC7"/>
          </a:solidFill>
        </p:spPr>
        <p:txBody>
          <a:bodyPr wrap="square" lIns="0" tIns="0" rIns="0" bIns="0" rtlCol="0"/>
          <a:lstStyle/>
          <a:p>
            <a:endParaRPr/>
          </a:p>
        </p:txBody>
      </p:sp>
      <p:sp>
        <p:nvSpPr>
          <p:cNvPr id="21" name="object 21"/>
          <p:cNvSpPr/>
          <p:nvPr/>
        </p:nvSpPr>
        <p:spPr>
          <a:xfrm>
            <a:off x="6034659" y="566166"/>
            <a:ext cx="3567429" cy="594360"/>
          </a:xfrm>
          <a:custGeom>
            <a:avLst/>
            <a:gdLst/>
            <a:ahLst/>
            <a:cxnLst/>
            <a:rect l="l" t="t" r="r" b="b"/>
            <a:pathLst>
              <a:path w="3567429" h="594360">
                <a:moveTo>
                  <a:pt x="351663" y="99060"/>
                </a:moveTo>
                <a:lnTo>
                  <a:pt x="360815" y="57393"/>
                </a:lnTo>
                <a:lnTo>
                  <a:pt x="385546" y="24441"/>
                </a:lnTo>
                <a:lnTo>
                  <a:pt x="421761" y="4295"/>
                </a:lnTo>
                <a:lnTo>
                  <a:pt x="887602" y="0"/>
                </a:lnTo>
                <a:lnTo>
                  <a:pt x="1691513" y="0"/>
                </a:lnTo>
                <a:lnTo>
                  <a:pt x="3468242" y="0"/>
                </a:lnTo>
                <a:lnTo>
                  <a:pt x="3482847" y="1067"/>
                </a:lnTo>
                <a:lnTo>
                  <a:pt x="3522064" y="15867"/>
                </a:lnTo>
                <a:lnTo>
                  <a:pt x="3551202" y="44880"/>
                </a:lnTo>
                <a:lnTo>
                  <a:pt x="3566169" y="84014"/>
                </a:lnTo>
                <a:lnTo>
                  <a:pt x="3567302" y="99060"/>
                </a:lnTo>
                <a:lnTo>
                  <a:pt x="3567302" y="247650"/>
                </a:lnTo>
                <a:lnTo>
                  <a:pt x="3567302" y="495300"/>
                </a:lnTo>
                <a:lnTo>
                  <a:pt x="3566235" y="509904"/>
                </a:lnTo>
                <a:lnTo>
                  <a:pt x="3551435" y="549121"/>
                </a:lnTo>
                <a:lnTo>
                  <a:pt x="3522422" y="578259"/>
                </a:lnTo>
                <a:lnTo>
                  <a:pt x="3483288" y="593226"/>
                </a:lnTo>
                <a:lnTo>
                  <a:pt x="1691513" y="594360"/>
                </a:lnTo>
                <a:lnTo>
                  <a:pt x="887602" y="594360"/>
                </a:lnTo>
                <a:lnTo>
                  <a:pt x="450723" y="594360"/>
                </a:lnTo>
                <a:lnTo>
                  <a:pt x="436118" y="593292"/>
                </a:lnTo>
                <a:lnTo>
                  <a:pt x="396901" y="578492"/>
                </a:lnTo>
                <a:lnTo>
                  <a:pt x="367763" y="549479"/>
                </a:lnTo>
                <a:lnTo>
                  <a:pt x="352796" y="510345"/>
                </a:lnTo>
                <a:lnTo>
                  <a:pt x="351663" y="247650"/>
                </a:lnTo>
                <a:lnTo>
                  <a:pt x="0" y="294513"/>
                </a:lnTo>
                <a:lnTo>
                  <a:pt x="351663" y="99060"/>
                </a:lnTo>
                <a:close/>
              </a:path>
            </a:pathLst>
          </a:custGeom>
          <a:ln w="28956">
            <a:solidFill>
              <a:srgbClr val="000000"/>
            </a:solidFill>
          </a:ln>
        </p:spPr>
        <p:txBody>
          <a:bodyPr wrap="square" lIns="0" tIns="0" rIns="0" bIns="0" rtlCol="0"/>
          <a:lstStyle/>
          <a:p>
            <a:endParaRPr/>
          </a:p>
        </p:txBody>
      </p:sp>
      <p:sp>
        <p:nvSpPr>
          <p:cNvPr id="22" name="object 22"/>
          <p:cNvSpPr txBox="1"/>
          <p:nvPr/>
        </p:nvSpPr>
        <p:spPr>
          <a:xfrm>
            <a:off x="6523735" y="697928"/>
            <a:ext cx="4926965" cy="982344"/>
          </a:xfrm>
          <a:prstGeom prst="rect">
            <a:avLst/>
          </a:prstGeom>
        </p:spPr>
        <p:txBody>
          <a:bodyPr vert="horz" wrap="square" lIns="0" tIns="0" rIns="0" bIns="0" rtlCol="0">
            <a:spAutoFit/>
          </a:bodyPr>
          <a:lstStyle/>
          <a:p>
            <a:pPr marL="12700" marR="5080" indent="189230">
              <a:lnSpc>
                <a:spcPct val="178300"/>
              </a:lnSpc>
            </a:pPr>
            <a:r>
              <a:rPr sz="2400" b="1" dirty="0">
                <a:latin typeface="宋体"/>
                <a:cs typeface="宋体"/>
              </a:rPr>
              <a:t>由</a:t>
            </a:r>
            <a:r>
              <a:rPr sz="2400" b="1" spc="-5" dirty="0">
                <a:latin typeface="Consolas"/>
                <a:cs typeface="Consolas"/>
              </a:rPr>
              <a:t>CubeMX</a:t>
            </a:r>
            <a:r>
              <a:rPr sz="2400" b="1" dirty="0">
                <a:latin typeface="宋体"/>
                <a:cs typeface="宋体"/>
              </a:rPr>
              <a:t>自动生成 本任务为基本定时功能，只进行了时</a:t>
            </a:r>
            <a:endParaRPr sz="2400">
              <a:latin typeface="宋体"/>
              <a:cs typeface="宋体"/>
            </a:endParaRPr>
          </a:p>
        </p:txBody>
      </p:sp>
    </p:spTree>
    <p:extLst>
      <p:ext uri="{BB962C8B-B14F-4D97-AF65-F5344CB8AC3E}">
        <p14:creationId xmlns:p14="http://schemas.microsoft.com/office/powerpoint/2010/main" val="20600831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3341370" y="2772004"/>
            <a:ext cx="5509260" cy="711200"/>
          </a:xfrm>
          <a:prstGeom prst="rect">
            <a:avLst/>
          </a:prstGeom>
        </p:spPr>
        <p:txBody>
          <a:bodyPr vert="horz" wrap="square" lIns="0" tIns="0" rIns="0" bIns="0" rtlCol="0">
            <a:spAutoFit/>
          </a:bodyPr>
          <a:lstStyle/>
          <a:p>
            <a:pPr marL="12700">
              <a:lnSpc>
                <a:spcPct val="100000"/>
              </a:lnSpc>
              <a:tabLst>
                <a:tab pos="843915" algn="l"/>
              </a:tabLst>
            </a:pPr>
            <a:r>
              <a:rPr sz="5400" spc="-5" dirty="0">
                <a:solidFill>
                  <a:srgbClr val="FFFFFF"/>
                </a:solidFill>
                <a:latin typeface="微软雅黑"/>
                <a:cs typeface="微软雅黑"/>
              </a:rPr>
              <a:t>1	</a:t>
            </a:r>
            <a:r>
              <a:rPr sz="5400" spc="105" dirty="0">
                <a:solidFill>
                  <a:srgbClr val="FFFFFF"/>
                </a:solidFill>
                <a:latin typeface="微软雅黑"/>
                <a:cs typeface="微软雅黑"/>
              </a:rPr>
              <a:t>P</a:t>
            </a:r>
            <a:r>
              <a:rPr sz="5400" spc="-5" dirty="0">
                <a:solidFill>
                  <a:srgbClr val="FFFFFF"/>
                </a:solidFill>
                <a:latin typeface="微软雅黑"/>
                <a:cs typeface="微软雅黑"/>
              </a:rPr>
              <a:t>W</a:t>
            </a:r>
            <a:r>
              <a:rPr sz="5400" spc="5" dirty="0">
                <a:solidFill>
                  <a:srgbClr val="FFFFFF"/>
                </a:solidFill>
                <a:latin typeface="微软雅黑"/>
                <a:cs typeface="微软雅黑"/>
              </a:rPr>
              <a:t>M</a:t>
            </a:r>
            <a:r>
              <a:rPr sz="5400" dirty="0">
                <a:solidFill>
                  <a:srgbClr val="FFFFFF"/>
                </a:solidFill>
              </a:rPr>
              <a:t>工作原理</a:t>
            </a:r>
            <a:endParaRPr sz="5400">
              <a:latin typeface="微软雅黑"/>
              <a:cs typeface="微软雅黑"/>
            </a:endParaRPr>
          </a:p>
        </p:txBody>
      </p:sp>
    </p:spTree>
    <p:extLst>
      <p:ext uri="{BB962C8B-B14F-4D97-AF65-F5344CB8AC3E}">
        <p14:creationId xmlns:p14="http://schemas.microsoft.com/office/powerpoint/2010/main" val="2565870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p:nvPr/>
        </p:nvSpPr>
        <p:spPr>
          <a:xfrm>
            <a:off x="4780788" y="3355847"/>
            <a:ext cx="2365248" cy="1859279"/>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940308" y="3381755"/>
            <a:ext cx="2721864" cy="185775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590788" y="3345179"/>
            <a:ext cx="2215896" cy="1879092"/>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3878579" y="5902452"/>
            <a:ext cx="792480" cy="0"/>
          </a:xfrm>
          <a:custGeom>
            <a:avLst/>
            <a:gdLst/>
            <a:ahLst/>
            <a:cxnLst/>
            <a:rect l="l" t="t" r="r" b="b"/>
            <a:pathLst>
              <a:path w="792479">
                <a:moveTo>
                  <a:pt x="0" y="0"/>
                </a:moveTo>
                <a:lnTo>
                  <a:pt x="792480" y="0"/>
                </a:lnTo>
              </a:path>
            </a:pathLst>
          </a:custGeom>
          <a:ln w="57912">
            <a:solidFill>
              <a:srgbClr val="FF6600"/>
            </a:solidFill>
          </a:ln>
        </p:spPr>
        <p:txBody>
          <a:bodyPr wrap="square" lIns="0" tIns="0" rIns="0" bIns="0" rtlCol="0"/>
          <a:lstStyle/>
          <a:p>
            <a:endParaRPr/>
          </a:p>
        </p:txBody>
      </p:sp>
      <p:sp>
        <p:nvSpPr>
          <p:cNvPr id="12" name="object 12"/>
          <p:cNvSpPr/>
          <p:nvPr/>
        </p:nvSpPr>
        <p:spPr>
          <a:xfrm>
            <a:off x="5794247" y="5899403"/>
            <a:ext cx="2552700" cy="645160"/>
          </a:xfrm>
          <a:custGeom>
            <a:avLst/>
            <a:gdLst/>
            <a:ahLst/>
            <a:cxnLst/>
            <a:rect l="l" t="t" r="r" b="b"/>
            <a:pathLst>
              <a:path w="2552700" h="645159">
                <a:moveTo>
                  <a:pt x="0" y="644652"/>
                </a:moveTo>
                <a:lnTo>
                  <a:pt x="1531620" y="644652"/>
                </a:lnTo>
                <a:lnTo>
                  <a:pt x="1531620" y="0"/>
                </a:lnTo>
                <a:lnTo>
                  <a:pt x="2552700" y="0"/>
                </a:lnTo>
              </a:path>
            </a:pathLst>
          </a:custGeom>
          <a:ln w="57911">
            <a:solidFill>
              <a:srgbClr val="FF6600"/>
            </a:solidFill>
          </a:ln>
        </p:spPr>
        <p:txBody>
          <a:bodyPr wrap="square" lIns="0" tIns="0" rIns="0" bIns="0" rtlCol="0"/>
          <a:lstStyle/>
          <a:p>
            <a:endParaRPr/>
          </a:p>
        </p:txBody>
      </p:sp>
      <p:sp>
        <p:nvSpPr>
          <p:cNvPr id="13" name="object 13"/>
          <p:cNvSpPr/>
          <p:nvPr/>
        </p:nvSpPr>
        <p:spPr>
          <a:xfrm>
            <a:off x="4671059" y="5902452"/>
            <a:ext cx="1772920" cy="641985"/>
          </a:xfrm>
          <a:custGeom>
            <a:avLst/>
            <a:gdLst/>
            <a:ahLst/>
            <a:cxnLst/>
            <a:rect l="l" t="t" r="r" b="b"/>
            <a:pathLst>
              <a:path w="1772920" h="641984">
                <a:moveTo>
                  <a:pt x="1772412" y="641604"/>
                </a:moveTo>
                <a:lnTo>
                  <a:pt x="776351" y="641604"/>
                </a:lnTo>
                <a:lnTo>
                  <a:pt x="776351" y="0"/>
                </a:lnTo>
                <a:lnTo>
                  <a:pt x="0" y="0"/>
                </a:lnTo>
              </a:path>
            </a:pathLst>
          </a:custGeom>
          <a:ln w="57912">
            <a:solidFill>
              <a:srgbClr val="FF6600"/>
            </a:solidFill>
          </a:ln>
        </p:spPr>
        <p:txBody>
          <a:bodyPr wrap="square" lIns="0" tIns="0" rIns="0" bIns="0" rtlCol="0"/>
          <a:lstStyle/>
          <a:p>
            <a:endParaRPr/>
          </a:p>
        </p:txBody>
      </p:sp>
      <p:sp>
        <p:nvSpPr>
          <p:cNvPr id="14" name="object 14"/>
          <p:cNvSpPr txBox="1"/>
          <p:nvPr/>
        </p:nvSpPr>
        <p:spPr>
          <a:xfrm>
            <a:off x="1802638" y="5810594"/>
            <a:ext cx="185420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脉宽调制动画</a:t>
            </a:r>
            <a:endParaRPr sz="2400">
              <a:latin typeface="微软雅黑"/>
              <a:cs typeface="微软雅黑"/>
            </a:endParaRPr>
          </a:p>
        </p:txBody>
      </p:sp>
      <p:sp>
        <p:nvSpPr>
          <p:cNvPr id="15" name="object 15"/>
          <p:cNvSpPr/>
          <p:nvPr/>
        </p:nvSpPr>
        <p:spPr>
          <a:xfrm>
            <a:off x="4676394" y="5587746"/>
            <a:ext cx="0" cy="957580"/>
          </a:xfrm>
          <a:custGeom>
            <a:avLst/>
            <a:gdLst/>
            <a:ahLst/>
            <a:cxnLst/>
            <a:rect l="l" t="t" r="r" b="b"/>
            <a:pathLst>
              <a:path h="957579">
                <a:moveTo>
                  <a:pt x="0" y="0"/>
                </a:moveTo>
                <a:lnTo>
                  <a:pt x="0" y="957071"/>
                </a:lnTo>
              </a:path>
            </a:pathLst>
          </a:custGeom>
          <a:ln w="38100">
            <a:solidFill>
              <a:srgbClr val="000000"/>
            </a:solidFill>
            <a:prstDash val="lgDash"/>
          </a:ln>
        </p:spPr>
        <p:txBody>
          <a:bodyPr wrap="square" lIns="0" tIns="0" rIns="0" bIns="0" rtlCol="0"/>
          <a:lstStyle/>
          <a:p>
            <a:endParaRPr/>
          </a:p>
        </p:txBody>
      </p:sp>
      <p:sp>
        <p:nvSpPr>
          <p:cNvPr id="16" name="object 16"/>
          <p:cNvSpPr/>
          <p:nvPr/>
        </p:nvSpPr>
        <p:spPr>
          <a:xfrm>
            <a:off x="7331202" y="5587746"/>
            <a:ext cx="0" cy="957580"/>
          </a:xfrm>
          <a:custGeom>
            <a:avLst/>
            <a:gdLst/>
            <a:ahLst/>
            <a:cxnLst/>
            <a:rect l="l" t="t" r="r" b="b"/>
            <a:pathLst>
              <a:path h="957579">
                <a:moveTo>
                  <a:pt x="0" y="0"/>
                </a:moveTo>
                <a:lnTo>
                  <a:pt x="0" y="957071"/>
                </a:lnTo>
              </a:path>
            </a:pathLst>
          </a:custGeom>
          <a:ln w="38100">
            <a:solidFill>
              <a:srgbClr val="000000"/>
            </a:solidFill>
            <a:prstDash val="lgDash"/>
          </a:ln>
        </p:spPr>
        <p:txBody>
          <a:bodyPr wrap="square" lIns="0" tIns="0" rIns="0" bIns="0" rtlCol="0"/>
          <a:lstStyle/>
          <a:p>
            <a:endParaRPr/>
          </a:p>
        </p:txBody>
      </p:sp>
      <p:sp>
        <p:nvSpPr>
          <p:cNvPr id="17" name="object 17"/>
          <p:cNvSpPr/>
          <p:nvPr/>
        </p:nvSpPr>
        <p:spPr>
          <a:xfrm>
            <a:off x="4676394" y="5661659"/>
            <a:ext cx="512445" cy="114300"/>
          </a:xfrm>
          <a:custGeom>
            <a:avLst/>
            <a:gdLst/>
            <a:ahLst/>
            <a:cxnLst/>
            <a:rect l="l" t="t" r="r" b="b"/>
            <a:pathLst>
              <a:path w="512445" h="114300">
                <a:moveTo>
                  <a:pt x="114300" y="0"/>
                </a:moveTo>
                <a:lnTo>
                  <a:pt x="0" y="57149"/>
                </a:lnTo>
                <a:lnTo>
                  <a:pt x="114300" y="114299"/>
                </a:lnTo>
                <a:lnTo>
                  <a:pt x="114300" y="76199"/>
                </a:lnTo>
                <a:lnTo>
                  <a:pt x="95250" y="76199"/>
                </a:lnTo>
                <a:lnTo>
                  <a:pt x="95250" y="38099"/>
                </a:lnTo>
                <a:lnTo>
                  <a:pt x="114300" y="38099"/>
                </a:lnTo>
                <a:lnTo>
                  <a:pt x="114300" y="0"/>
                </a:lnTo>
                <a:close/>
              </a:path>
              <a:path w="512445" h="114300">
                <a:moveTo>
                  <a:pt x="114300" y="38099"/>
                </a:moveTo>
                <a:lnTo>
                  <a:pt x="95250" y="38099"/>
                </a:lnTo>
                <a:lnTo>
                  <a:pt x="95250" y="76199"/>
                </a:lnTo>
                <a:lnTo>
                  <a:pt x="114300" y="76199"/>
                </a:lnTo>
                <a:lnTo>
                  <a:pt x="114300" y="38099"/>
                </a:lnTo>
                <a:close/>
              </a:path>
              <a:path w="512445" h="114300">
                <a:moveTo>
                  <a:pt x="512063" y="38099"/>
                </a:moveTo>
                <a:lnTo>
                  <a:pt x="114300" y="38099"/>
                </a:lnTo>
                <a:lnTo>
                  <a:pt x="114300" y="76199"/>
                </a:lnTo>
                <a:lnTo>
                  <a:pt x="512063" y="76199"/>
                </a:lnTo>
                <a:lnTo>
                  <a:pt x="512063" y="38099"/>
                </a:lnTo>
                <a:close/>
              </a:path>
            </a:pathLst>
          </a:custGeom>
          <a:solidFill>
            <a:srgbClr val="000000"/>
          </a:solidFill>
        </p:spPr>
        <p:txBody>
          <a:bodyPr wrap="square" lIns="0" tIns="0" rIns="0" bIns="0" rtlCol="0"/>
          <a:lstStyle/>
          <a:p>
            <a:endParaRPr/>
          </a:p>
        </p:txBody>
      </p:sp>
      <p:sp>
        <p:nvSpPr>
          <p:cNvPr id="18" name="object 18"/>
          <p:cNvSpPr/>
          <p:nvPr/>
        </p:nvSpPr>
        <p:spPr>
          <a:xfrm>
            <a:off x="6872478" y="5661659"/>
            <a:ext cx="459105" cy="114300"/>
          </a:xfrm>
          <a:custGeom>
            <a:avLst/>
            <a:gdLst/>
            <a:ahLst/>
            <a:cxnLst/>
            <a:rect l="l" t="t" r="r" b="b"/>
            <a:pathLst>
              <a:path w="459104" h="114300">
                <a:moveTo>
                  <a:pt x="344424" y="0"/>
                </a:moveTo>
                <a:lnTo>
                  <a:pt x="344424" y="114299"/>
                </a:lnTo>
                <a:lnTo>
                  <a:pt x="420624" y="76199"/>
                </a:lnTo>
                <a:lnTo>
                  <a:pt x="363474" y="76199"/>
                </a:lnTo>
                <a:lnTo>
                  <a:pt x="363474" y="38099"/>
                </a:lnTo>
                <a:lnTo>
                  <a:pt x="420624" y="38099"/>
                </a:lnTo>
                <a:lnTo>
                  <a:pt x="344424" y="0"/>
                </a:lnTo>
                <a:close/>
              </a:path>
              <a:path w="459104" h="114300">
                <a:moveTo>
                  <a:pt x="344424" y="38099"/>
                </a:moveTo>
                <a:lnTo>
                  <a:pt x="0" y="38099"/>
                </a:lnTo>
                <a:lnTo>
                  <a:pt x="0" y="76199"/>
                </a:lnTo>
                <a:lnTo>
                  <a:pt x="344424" y="76199"/>
                </a:lnTo>
                <a:lnTo>
                  <a:pt x="344424" y="38099"/>
                </a:lnTo>
                <a:close/>
              </a:path>
              <a:path w="459104" h="114300">
                <a:moveTo>
                  <a:pt x="420624" y="38099"/>
                </a:moveTo>
                <a:lnTo>
                  <a:pt x="363474" y="38099"/>
                </a:lnTo>
                <a:lnTo>
                  <a:pt x="363474" y="76199"/>
                </a:lnTo>
                <a:lnTo>
                  <a:pt x="420624" y="76199"/>
                </a:lnTo>
                <a:lnTo>
                  <a:pt x="458724" y="57149"/>
                </a:lnTo>
                <a:lnTo>
                  <a:pt x="420624" y="38099"/>
                </a:lnTo>
                <a:close/>
              </a:path>
            </a:pathLst>
          </a:custGeom>
          <a:solidFill>
            <a:srgbClr val="000000"/>
          </a:solidFill>
        </p:spPr>
        <p:txBody>
          <a:bodyPr wrap="square" lIns="0" tIns="0" rIns="0" bIns="0" rtlCol="0"/>
          <a:lstStyle/>
          <a:p>
            <a:endParaRPr/>
          </a:p>
        </p:txBody>
      </p:sp>
      <p:sp>
        <p:nvSpPr>
          <p:cNvPr id="19" name="object 19"/>
          <p:cNvSpPr txBox="1"/>
          <p:nvPr/>
        </p:nvSpPr>
        <p:spPr>
          <a:xfrm>
            <a:off x="5248402" y="5577552"/>
            <a:ext cx="1576070" cy="254000"/>
          </a:xfrm>
          <a:prstGeom prst="rect">
            <a:avLst/>
          </a:prstGeom>
        </p:spPr>
        <p:txBody>
          <a:bodyPr vert="horz" wrap="square" lIns="0" tIns="0" rIns="0" bIns="0" rtlCol="0">
            <a:spAutoFit/>
          </a:bodyPr>
          <a:lstStyle/>
          <a:p>
            <a:pPr marL="12700">
              <a:lnSpc>
                <a:spcPct val="100000"/>
              </a:lnSpc>
            </a:pPr>
            <a:r>
              <a:rPr sz="1800" b="1" dirty="0">
                <a:latin typeface="微软雅黑"/>
                <a:cs typeface="微软雅黑"/>
              </a:rPr>
              <a:t>单个</a:t>
            </a:r>
            <a:r>
              <a:rPr sz="1800" b="1" spc="35" dirty="0">
                <a:latin typeface="微软雅黑"/>
                <a:cs typeface="微软雅黑"/>
              </a:rPr>
              <a:t>P</a:t>
            </a:r>
            <a:r>
              <a:rPr sz="1800" b="1" spc="-5" dirty="0">
                <a:latin typeface="微软雅黑"/>
                <a:cs typeface="微软雅黑"/>
              </a:rPr>
              <a:t>W</a:t>
            </a:r>
            <a:r>
              <a:rPr sz="1800" b="1" spc="-10" dirty="0">
                <a:latin typeface="微软雅黑"/>
                <a:cs typeface="微软雅黑"/>
              </a:rPr>
              <a:t>M</a:t>
            </a:r>
            <a:r>
              <a:rPr sz="1800" b="1" dirty="0">
                <a:latin typeface="微软雅黑"/>
                <a:cs typeface="微软雅黑"/>
              </a:rPr>
              <a:t>周期</a:t>
            </a:r>
            <a:endParaRPr sz="1800">
              <a:latin typeface="微软雅黑"/>
              <a:cs typeface="微软雅黑"/>
            </a:endParaRPr>
          </a:p>
        </p:txBody>
      </p:sp>
      <p:sp>
        <p:nvSpPr>
          <p:cNvPr id="20" name="object 20"/>
          <p:cNvSpPr/>
          <p:nvPr/>
        </p:nvSpPr>
        <p:spPr>
          <a:xfrm>
            <a:off x="764286" y="1745742"/>
            <a:ext cx="10436860" cy="1516380"/>
          </a:xfrm>
          <a:custGeom>
            <a:avLst/>
            <a:gdLst/>
            <a:ahLst/>
            <a:cxnLst/>
            <a:rect l="l" t="t" r="r" b="b"/>
            <a:pathLst>
              <a:path w="10436860" h="1516379">
                <a:moveTo>
                  <a:pt x="0" y="1516379"/>
                </a:moveTo>
                <a:lnTo>
                  <a:pt x="10436352" y="1516379"/>
                </a:lnTo>
                <a:lnTo>
                  <a:pt x="10436352" y="0"/>
                </a:lnTo>
                <a:lnTo>
                  <a:pt x="0" y="0"/>
                </a:lnTo>
                <a:lnTo>
                  <a:pt x="0" y="1516379"/>
                </a:lnTo>
                <a:close/>
              </a:path>
            </a:pathLst>
          </a:custGeom>
          <a:ln w="38100">
            <a:solidFill>
              <a:srgbClr val="E34A46"/>
            </a:solidFill>
          </a:ln>
        </p:spPr>
        <p:txBody>
          <a:bodyPr wrap="square" lIns="0" tIns="0" rIns="0" bIns="0" rtlCol="0"/>
          <a:lstStyle/>
          <a:p>
            <a:endParaRPr/>
          </a:p>
        </p:txBody>
      </p:sp>
      <p:sp>
        <p:nvSpPr>
          <p:cNvPr id="21" name="object 21"/>
          <p:cNvSpPr/>
          <p:nvPr/>
        </p:nvSpPr>
        <p:spPr>
          <a:xfrm>
            <a:off x="3828288" y="1420367"/>
            <a:ext cx="4535805" cy="638810"/>
          </a:xfrm>
          <a:custGeom>
            <a:avLst/>
            <a:gdLst/>
            <a:ahLst/>
            <a:cxnLst/>
            <a:rect l="l" t="t" r="r" b="b"/>
            <a:pathLst>
              <a:path w="4535805" h="638810">
                <a:moveTo>
                  <a:pt x="0" y="638555"/>
                </a:moveTo>
                <a:lnTo>
                  <a:pt x="4535423" y="638555"/>
                </a:lnTo>
                <a:lnTo>
                  <a:pt x="4535423" y="0"/>
                </a:lnTo>
                <a:lnTo>
                  <a:pt x="0" y="0"/>
                </a:lnTo>
                <a:lnTo>
                  <a:pt x="0" y="638555"/>
                </a:lnTo>
                <a:close/>
              </a:path>
            </a:pathLst>
          </a:custGeom>
          <a:solidFill>
            <a:srgbClr val="E34A46"/>
          </a:solidFill>
        </p:spPr>
        <p:txBody>
          <a:bodyPr wrap="square" lIns="0" tIns="0" rIns="0" bIns="0" rtlCol="0"/>
          <a:lstStyle/>
          <a:p>
            <a:endParaRPr/>
          </a:p>
        </p:txBody>
      </p:sp>
      <p:sp>
        <p:nvSpPr>
          <p:cNvPr id="22" name="object 22"/>
          <p:cNvSpPr/>
          <p:nvPr/>
        </p:nvSpPr>
        <p:spPr>
          <a:xfrm>
            <a:off x="3828288" y="1420367"/>
            <a:ext cx="4535805" cy="638810"/>
          </a:xfrm>
          <a:custGeom>
            <a:avLst/>
            <a:gdLst/>
            <a:ahLst/>
            <a:cxnLst/>
            <a:rect l="l" t="t" r="r" b="b"/>
            <a:pathLst>
              <a:path w="4535805" h="638810">
                <a:moveTo>
                  <a:pt x="0" y="638555"/>
                </a:moveTo>
                <a:lnTo>
                  <a:pt x="4535423" y="638555"/>
                </a:lnTo>
                <a:lnTo>
                  <a:pt x="4535423" y="0"/>
                </a:lnTo>
                <a:lnTo>
                  <a:pt x="0" y="0"/>
                </a:lnTo>
                <a:lnTo>
                  <a:pt x="0" y="638555"/>
                </a:lnTo>
                <a:close/>
              </a:path>
            </a:pathLst>
          </a:custGeom>
          <a:ln w="12192">
            <a:solidFill>
              <a:srgbClr val="E34A46"/>
            </a:solidFill>
          </a:ln>
        </p:spPr>
        <p:txBody>
          <a:bodyPr wrap="square" lIns="0" tIns="0" rIns="0" bIns="0" rtlCol="0"/>
          <a:lstStyle/>
          <a:p>
            <a:endParaRPr/>
          </a:p>
        </p:txBody>
      </p:sp>
      <p:sp>
        <p:nvSpPr>
          <p:cNvPr id="23" name="object 23"/>
          <p:cNvSpPr txBox="1"/>
          <p:nvPr/>
        </p:nvSpPr>
        <p:spPr>
          <a:xfrm>
            <a:off x="585012" y="389881"/>
            <a:ext cx="10009505" cy="2716530"/>
          </a:xfrm>
          <a:prstGeom prst="rect">
            <a:avLst/>
          </a:prstGeom>
        </p:spPr>
        <p:txBody>
          <a:bodyPr vert="horz" wrap="square" lIns="0" tIns="0" rIns="0" bIns="0" rtlCol="0">
            <a:spAutoFit/>
          </a:bodyPr>
          <a:lstStyle/>
          <a:p>
            <a:pPr marL="1802130">
              <a:lnSpc>
                <a:spcPct val="100000"/>
              </a:lnSpc>
            </a:pPr>
            <a:r>
              <a:rPr sz="1800" b="1" spc="-5" dirty="0">
                <a:solidFill>
                  <a:srgbClr val="252525"/>
                </a:solidFill>
                <a:latin typeface="微软雅黑"/>
                <a:cs typeface="微软雅黑"/>
              </a:rPr>
              <a:t>Timer</a:t>
            </a:r>
            <a:endParaRPr sz="1800">
              <a:latin typeface="微软雅黑"/>
              <a:cs typeface="微软雅黑"/>
            </a:endParaRPr>
          </a:p>
          <a:p>
            <a:pPr>
              <a:lnSpc>
                <a:spcPct val="100000"/>
              </a:lnSpc>
            </a:pPr>
            <a:endParaRPr sz="1800">
              <a:latin typeface="Times New Roman"/>
              <a:cs typeface="Times New Roman"/>
            </a:endParaRPr>
          </a:p>
          <a:p>
            <a:pPr>
              <a:lnSpc>
                <a:spcPct val="100000"/>
              </a:lnSpc>
              <a:spcBef>
                <a:spcPts val="42"/>
              </a:spcBef>
            </a:pPr>
            <a:endParaRPr sz="1450">
              <a:latin typeface="Times New Roman"/>
              <a:cs typeface="Times New Roman"/>
            </a:endParaRPr>
          </a:p>
          <a:p>
            <a:pPr marL="12700">
              <a:lnSpc>
                <a:spcPct val="100000"/>
              </a:lnSpc>
            </a:pPr>
            <a:r>
              <a:rPr sz="2400" b="1" dirty="0">
                <a:solidFill>
                  <a:srgbClr val="FFFFFF"/>
                </a:solidFill>
                <a:latin typeface="微软雅黑"/>
                <a:cs typeface="微软雅黑"/>
              </a:rPr>
              <a:t>概述</a:t>
            </a:r>
            <a:endParaRPr sz="2400">
              <a:latin typeface="微软雅黑"/>
              <a:cs typeface="微软雅黑"/>
            </a:endParaRPr>
          </a:p>
          <a:p>
            <a:pPr marL="607695" indent="4306570">
              <a:lnSpc>
                <a:spcPct val="100000"/>
              </a:lnSpc>
              <a:spcBef>
                <a:spcPts val="275"/>
              </a:spcBef>
            </a:pPr>
            <a:r>
              <a:rPr sz="2800" b="1" spc="-5" dirty="0">
                <a:solidFill>
                  <a:srgbClr val="FFFFFF"/>
                </a:solidFill>
                <a:latin typeface="微软雅黑"/>
                <a:cs typeface="微软雅黑"/>
              </a:rPr>
              <a:t>基本特性</a:t>
            </a:r>
            <a:endParaRPr sz="2800">
              <a:latin typeface="微软雅黑"/>
              <a:cs typeface="微软雅黑"/>
            </a:endParaRPr>
          </a:p>
          <a:p>
            <a:pPr marL="607695">
              <a:lnSpc>
                <a:spcPct val="100000"/>
              </a:lnSpc>
              <a:spcBef>
                <a:spcPts val="2420"/>
              </a:spcBef>
            </a:pPr>
            <a:r>
              <a:rPr sz="2400" b="1" dirty="0">
                <a:latin typeface="微软雅黑"/>
                <a:cs typeface="微软雅黑"/>
              </a:rPr>
              <a:t>脉冲宽度调制（</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M）是一种对模拟信号电平进行数字编码的方法。</a:t>
            </a:r>
            <a:endParaRPr sz="2400">
              <a:latin typeface="微软雅黑"/>
              <a:cs typeface="微软雅黑"/>
            </a:endParaRPr>
          </a:p>
          <a:p>
            <a:pPr marL="607695">
              <a:lnSpc>
                <a:spcPct val="100000"/>
              </a:lnSpc>
              <a:spcBef>
                <a:spcPts val="910"/>
              </a:spcBef>
            </a:pPr>
            <a:r>
              <a:rPr sz="2400" b="1" spc="-5" dirty="0">
                <a:latin typeface="微软雅黑"/>
                <a:cs typeface="微软雅黑"/>
              </a:rPr>
              <a:t>广泛应用于电机控制、灯光的亮度调节、功率控制等领域。</a:t>
            </a:r>
            <a:endParaRPr sz="2400">
              <a:latin typeface="微软雅黑"/>
              <a:cs typeface="微软雅黑"/>
            </a:endParaRPr>
          </a:p>
        </p:txBody>
      </p:sp>
      <p:sp>
        <p:nvSpPr>
          <p:cNvPr id="24" name="object 24"/>
          <p:cNvSpPr/>
          <p:nvPr/>
        </p:nvSpPr>
        <p:spPr>
          <a:xfrm>
            <a:off x="8626602" y="5587746"/>
            <a:ext cx="3049905" cy="957580"/>
          </a:xfrm>
          <a:custGeom>
            <a:avLst/>
            <a:gdLst/>
            <a:ahLst/>
            <a:cxnLst/>
            <a:rect l="l" t="t" r="r" b="b"/>
            <a:pathLst>
              <a:path w="3049904" h="957579">
                <a:moveTo>
                  <a:pt x="2890012" y="0"/>
                </a:moveTo>
                <a:lnTo>
                  <a:pt x="508253" y="0"/>
                </a:lnTo>
                <a:lnTo>
                  <a:pt x="148258" y="390"/>
                </a:lnTo>
                <a:lnTo>
                  <a:pt x="106278" y="9092"/>
                </a:lnTo>
                <a:lnTo>
                  <a:pt x="69147" y="28032"/>
                </a:lnTo>
                <a:lnTo>
                  <a:pt x="38445" y="55629"/>
                </a:lnTo>
                <a:lnTo>
                  <a:pt x="15748" y="90301"/>
                </a:lnTo>
                <a:lnTo>
                  <a:pt x="2636" y="130465"/>
                </a:lnTo>
                <a:lnTo>
                  <a:pt x="0" y="159511"/>
                </a:lnTo>
                <a:lnTo>
                  <a:pt x="0" y="797559"/>
                </a:lnTo>
                <a:lnTo>
                  <a:pt x="4973" y="837248"/>
                </a:lnTo>
                <a:lnTo>
                  <a:pt x="20671" y="876166"/>
                </a:lnTo>
                <a:lnTo>
                  <a:pt x="45552" y="909189"/>
                </a:lnTo>
                <a:lnTo>
                  <a:pt x="78038" y="934736"/>
                </a:lnTo>
                <a:lnTo>
                  <a:pt x="116551" y="951224"/>
                </a:lnTo>
                <a:lnTo>
                  <a:pt x="159512" y="957071"/>
                </a:lnTo>
                <a:lnTo>
                  <a:pt x="1270634" y="957071"/>
                </a:lnTo>
                <a:lnTo>
                  <a:pt x="2901265" y="956681"/>
                </a:lnTo>
                <a:lnTo>
                  <a:pt x="2943245" y="947979"/>
                </a:lnTo>
                <a:lnTo>
                  <a:pt x="2980376" y="929039"/>
                </a:lnTo>
                <a:lnTo>
                  <a:pt x="3011078" y="901442"/>
                </a:lnTo>
                <a:lnTo>
                  <a:pt x="3033775" y="866770"/>
                </a:lnTo>
                <a:lnTo>
                  <a:pt x="3046887" y="826606"/>
                </a:lnTo>
                <a:lnTo>
                  <a:pt x="3049524" y="797559"/>
                </a:lnTo>
                <a:lnTo>
                  <a:pt x="3049524" y="558291"/>
                </a:lnTo>
                <a:lnTo>
                  <a:pt x="3049133" y="148262"/>
                </a:lnTo>
                <a:lnTo>
                  <a:pt x="3040435" y="106293"/>
                </a:lnTo>
                <a:lnTo>
                  <a:pt x="3021501" y="69164"/>
                </a:lnTo>
                <a:lnTo>
                  <a:pt x="2993909" y="38457"/>
                </a:lnTo>
                <a:lnTo>
                  <a:pt x="2959239" y="15754"/>
                </a:lnTo>
                <a:lnTo>
                  <a:pt x="2919068" y="2637"/>
                </a:lnTo>
                <a:lnTo>
                  <a:pt x="2890012" y="0"/>
                </a:lnTo>
                <a:close/>
              </a:path>
            </a:pathLst>
          </a:custGeom>
          <a:solidFill>
            <a:srgbClr val="FFFFC7"/>
          </a:solidFill>
        </p:spPr>
        <p:txBody>
          <a:bodyPr wrap="square" lIns="0" tIns="0" rIns="0" bIns="0" rtlCol="0"/>
          <a:lstStyle/>
          <a:p>
            <a:endParaRPr/>
          </a:p>
        </p:txBody>
      </p:sp>
      <p:sp>
        <p:nvSpPr>
          <p:cNvPr id="25" name="object 25"/>
          <p:cNvSpPr/>
          <p:nvPr/>
        </p:nvSpPr>
        <p:spPr>
          <a:xfrm>
            <a:off x="8626602" y="5587746"/>
            <a:ext cx="3049905" cy="957580"/>
          </a:xfrm>
          <a:custGeom>
            <a:avLst/>
            <a:gdLst/>
            <a:ahLst/>
            <a:cxnLst/>
            <a:rect l="l" t="t" r="r" b="b"/>
            <a:pathLst>
              <a:path w="3049904" h="957579">
                <a:moveTo>
                  <a:pt x="0" y="159511"/>
                </a:moveTo>
                <a:lnTo>
                  <a:pt x="5844" y="116564"/>
                </a:lnTo>
                <a:lnTo>
                  <a:pt x="22326" y="78055"/>
                </a:lnTo>
                <a:lnTo>
                  <a:pt x="47867" y="45566"/>
                </a:lnTo>
                <a:lnTo>
                  <a:pt x="80888" y="20679"/>
                </a:lnTo>
                <a:lnTo>
                  <a:pt x="119810" y="4976"/>
                </a:lnTo>
                <a:lnTo>
                  <a:pt x="508253" y="0"/>
                </a:lnTo>
                <a:lnTo>
                  <a:pt x="1270634" y="0"/>
                </a:lnTo>
                <a:lnTo>
                  <a:pt x="2890012" y="0"/>
                </a:lnTo>
                <a:lnTo>
                  <a:pt x="2904728" y="669"/>
                </a:lnTo>
                <a:lnTo>
                  <a:pt x="2946382" y="10239"/>
                </a:lnTo>
                <a:lnTo>
                  <a:pt x="2983061" y="29922"/>
                </a:lnTo>
                <a:lnTo>
                  <a:pt x="3013188" y="58137"/>
                </a:lnTo>
                <a:lnTo>
                  <a:pt x="3035183" y="93301"/>
                </a:lnTo>
                <a:lnTo>
                  <a:pt x="3047469" y="133832"/>
                </a:lnTo>
                <a:lnTo>
                  <a:pt x="3049524" y="558291"/>
                </a:lnTo>
                <a:lnTo>
                  <a:pt x="3049524" y="797559"/>
                </a:lnTo>
                <a:lnTo>
                  <a:pt x="3048855" y="812271"/>
                </a:lnTo>
                <a:lnTo>
                  <a:pt x="3046887" y="826606"/>
                </a:lnTo>
                <a:lnTo>
                  <a:pt x="3033775" y="866770"/>
                </a:lnTo>
                <a:lnTo>
                  <a:pt x="3011078" y="901442"/>
                </a:lnTo>
                <a:lnTo>
                  <a:pt x="2980376" y="929039"/>
                </a:lnTo>
                <a:lnTo>
                  <a:pt x="2943245" y="947979"/>
                </a:lnTo>
                <a:lnTo>
                  <a:pt x="2901265" y="956681"/>
                </a:lnTo>
                <a:lnTo>
                  <a:pt x="1270634" y="957071"/>
                </a:lnTo>
                <a:lnTo>
                  <a:pt x="1420368" y="957071"/>
                </a:lnTo>
                <a:lnTo>
                  <a:pt x="508253" y="957071"/>
                </a:lnTo>
                <a:lnTo>
                  <a:pt x="159512" y="957071"/>
                </a:lnTo>
                <a:lnTo>
                  <a:pt x="144795" y="956402"/>
                </a:lnTo>
                <a:lnTo>
                  <a:pt x="103141" y="946832"/>
                </a:lnTo>
                <a:lnTo>
                  <a:pt x="66462" y="927149"/>
                </a:lnTo>
                <a:lnTo>
                  <a:pt x="36335" y="898934"/>
                </a:lnTo>
                <a:lnTo>
                  <a:pt x="14340" y="863770"/>
                </a:lnTo>
                <a:lnTo>
                  <a:pt x="2054" y="823239"/>
                </a:lnTo>
                <a:lnTo>
                  <a:pt x="0" y="797559"/>
                </a:lnTo>
                <a:lnTo>
                  <a:pt x="0" y="558291"/>
                </a:lnTo>
                <a:lnTo>
                  <a:pt x="0" y="159511"/>
                </a:lnTo>
                <a:close/>
              </a:path>
            </a:pathLst>
          </a:custGeom>
          <a:ln w="28956">
            <a:solidFill>
              <a:srgbClr val="000000"/>
            </a:solidFill>
          </a:ln>
        </p:spPr>
        <p:txBody>
          <a:bodyPr wrap="square" lIns="0" tIns="0" rIns="0" bIns="0" rtlCol="0"/>
          <a:lstStyle/>
          <a:p>
            <a:endParaRPr/>
          </a:p>
        </p:txBody>
      </p:sp>
      <p:sp>
        <p:nvSpPr>
          <p:cNvPr id="26" name="object 26"/>
          <p:cNvSpPr txBox="1"/>
          <p:nvPr/>
        </p:nvSpPr>
        <p:spPr>
          <a:xfrm>
            <a:off x="8760968" y="5740633"/>
            <a:ext cx="2782570" cy="675640"/>
          </a:xfrm>
          <a:prstGeom prst="rect">
            <a:avLst/>
          </a:prstGeom>
        </p:spPr>
        <p:txBody>
          <a:bodyPr vert="horz" wrap="square" lIns="0" tIns="0" rIns="0" bIns="0" rtlCol="0">
            <a:spAutoFit/>
          </a:bodyPr>
          <a:lstStyle/>
          <a:p>
            <a:pPr marL="12700">
              <a:lnSpc>
                <a:spcPts val="2795"/>
              </a:lnSpc>
            </a:pPr>
            <a:r>
              <a:rPr sz="2400" b="1" spc="-5" dirty="0">
                <a:latin typeface="宋体"/>
                <a:cs typeface="宋体"/>
              </a:rPr>
              <a:t>脉宽调制的实质是修</a:t>
            </a:r>
            <a:endParaRPr sz="2400">
              <a:latin typeface="宋体"/>
              <a:cs typeface="宋体"/>
            </a:endParaRPr>
          </a:p>
          <a:p>
            <a:pPr marL="12700">
              <a:lnSpc>
                <a:spcPts val="2755"/>
              </a:lnSpc>
            </a:pPr>
            <a:r>
              <a:rPr sz="2400" b="1" dirty="0">
                <a:latin typeface="宋体"/>
                <a:cs typeface="宋体"/>
              </a:rPr>
              <a:t>改高电平的持续时间</a:t>
            </a:r>
            <a:endParaRPr sz="2400">
              <a:latin typeface="宋体"/>
              <a:cs typeface="宋体"/>
            </a:endParaRPr>
          </a:p>
        </p:txBody>
      </p:sp>
    </p:spTree>
    <p:extLst>
      <p:ext uri="{BB962C8B-B14F-4D97-AF65-F5344CB8AC3E}">
        <p14:creationId xmlns:p14="http://schemas.microsoft.com/office/powerpoint/2010/main" val="11182092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402132" y="1160016"/>
            <a:ext cx="12446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两个参数</a:t>
            </a:r>
            <a:endParaRPr sz="2400">
              <a:latin typeface="微软雅黑"/>
              <a:cs typeface="微软雅黑"/>
            </a:endParaRPr>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5" name="object 15"/>
          <p:cNvSpPr txBox="1"/>
          <p:nvPr/>
        </p:nvSpPr>
        <p:spPr>
          <a:xfrm>
            <a:off x="2105405" y="5468873"/>
            <a:ext cx="7983220" cy="856615"/>
          </a:xfrm>
          <a:prstGeom prst="rect">
            <a:avLst/>
          </a:prstGeom>
          <a:ln w="38100">
            <a:solidFill>
              <a:srgbClr val="E34A46"/>
            </a:solidFill>
          </a:ln>
        </p:spPr>
        <p:txBody>
          <a:bodyPr vert="horz" wrap="square" lIns="0" tIns="0" rIns="0" bIns="0" rtlCol="0">
            <a:spAutoFit/>
          </a:bodyPr>
          <a:lstStyle/>
          <a:p>
            <a:pPr marL="631825">
              <a:lnSpc>
                <a:spcPct val="100000"/>
              </a:lnSpc>
              <a:tabLst>
                <a:tab pos="2422525" algn="l"/>
                <a:tab pos="3616325" algn="l"/>
              </a:tabLst>
            </a:pPr>
            <a:r>
              <a:rPr sz="3200" b="1" dirty="0">
                <a:latin typeface="Consolas"/>
                <a:cs typeface="Consolas"/>
              </a:rPr>
              <a:t>Duty =	( </a:t>
            </a:r>
            <a:r>
              <a:rPr sz="3200" b="1" spc="10" dirty="0">
                <a:latin typeface="Consolas"/>
                <a:cs typeface="Consolas"/>
              </a:rPr>
              <a:t>T</a:t>
            </a:r>
            <a:r>
              <a:rPr sz="3150" b="1" spc="22" baseline="-21164" dirty="0">
                <a:latin typeface="Consolas"/>
                <a:cs typeface="Consolas"/>
              </a:rPr>
              <a:t>on</a:t>
            </a:r>
            <a:r>
              <a:rPr sz="3150" b="1" baseline="-21164" dirty="0">
                <a:latin typeface="Consolas"/>
                <a:cs typeface="Consolas"/>
              </a:rPr>
              <a:t>	</a:t>
            </a:r>
            <a:r>
              <a:rPr sz="3200" b="1" dirty="0">
                <a:latin typeface="Consolas"/>
                <a:cs typeface="Consolas"/>
              </a:rPr>
              <a:t>/ Period</a:t>
            </a:r>
            <a:r>
              <a:rPr sz="3200" b="1" spc="-5" dirty="0">
                <a:latin typeface="Consolas"/>
                <a:cs typeface="Consolas"/>
              </a:rPr>
              <a:t> </a:t>
            </a:r>
            <a:r>
              <a:rPr sz="3200" b="1" dirty="0">
                <a:latin typeface="Consolas"/>
                <a:cs typeface="Consolas"/>
              </a:rPr>
              <a:t>) x 100%</a:t>
            </a:r>
            <a:endParaRPr sz="3200">
              <a:latin typeface="Consolas"/>
              <a:cs typeface="Consolas"/>
            </a:endParaRPr>
          </a:p>
        </p:txBody>
      </p:sp>
      <p:sp>
        <p:nvSpPr>
          <p:cNvPr id="16" name="object 16"/>
          <p:cNvSpPr txBox="1"/>
          <p:nvPr/>
        </p:nvSpPr>
        <p:spPr>
          <a:xfrm>
            <a:off x="5130800" y="5004424"/>
            <a:ext cx="2161540" cy="330200"/>
          </a:xfrm>
          <a:prstGeom prst="rect">
            <a:avLst/>
          </a:prstGeom>
        </p:spPr>
        <p:txBody>
          <a:bodyPr vert="horz" wrap="square" lIns="0" tIns="0" rIns="0" bIns="0" rtlCol="0">
            <a:spAutoFit/>
          </a:bodyPr>
          <a:lstStyle/>
          <a:p>
            <a:pPr marL="12700">
              <a:lnSpc>
                <a:spcPct val="100000"/>
              </a:lnSpc>
            </a:pPr>
            <a:r>
              <a:rPr sz="2400" b="1" dirty="0">
                <a:latin typeface="微软雅黑"/>
                <a:cs typeface="微软雅黑"/>
              </a:rPr>
              <a:t>占空比计算公式</a:t>
            </a:r>
            <a:endParaRPr sz="2400">
              <a:latin typeface="微软雅黑"/>
              <a:cs typeface="微软雅黑"/>
            </a:endParaRPr>
          </a:p>
        </p:txBody>
      </p:sp>
      <p:sp>
        <p:nvSpPr>
          <p:cNvPr id="17" name="object 17"/>
          <p:cNvSpPr txBox="1">
            <a:spLocks noGrp="1"/>
          </p:cNvSpPr>
          <p:nvPr>
            <p:ph type="title"/>
          </p:nvPr>
        </p:nvSpPr>
        <p:spPr>
          <a:prstGeom prst="rect">
            <a:avLst/>
          </a:prstGeom>
        </p:spPr>
        <p:txBody>
          <a:bodyPr vert="horz" wrap="square" lIns="0" tIns="0" rIns="0" bIns="0" rtlCol="0">
            <a:spAutoFit/>
          </a:bodyPr>
          <a:lstStyle/>
          <a:p>
            <a:pPr marL="3916679">
              <a:lnSpc>
                <a:spcPct val="100000"/>
              </a:lnSpc>
            </a:pPr>
            <a:r>
              <a:rPr spc="35" dirty="0">
                <a:latin typeface="微软雅黑"/>
                <a:cs typeface="微软雅黑"/>
              </a:rPr>
              <a:t>P</a:t>
            </a:r>
            <a:r>
              <a:rPr spc="-10" dirty="0">
                <a:latin typeface="微软雅黑"/>
                <a:cs typeface="微软雅黑"/>
              </a:rPr>
              <a:t>W</a:t>
            </a:r>
            <a:r>
              <a:rPr dirty="0">
                <a:latin typeface="微软雅黑"/>
                <a:cs typeface="微软雅黑"/>
              </a:rPr>
              <a:t>M</a:t>
            </a:r>
            <a:r>
              <a:rPr spc="-5" dirty="0"/>
              <a:t>信号的两个基本参数</a:t>
            </a:r>
          </a:p>
        </p:txBody>
      </p:sp>
      <p:graphicFrame>
        <p:nvGraphicFramePr>
          <p:cNvPr id="13" name="object 13"/>
          <p:cNvGraphicFramePr>
            <a:graphicFrameLocks noGrp="1"/>
          </p:cNvGraphicFramePr>
          <p:nvPr/>
        </p:nvGraphicFramePr>
        <p:xfrm>
          <a:off x="859536" y="1815083"/>
          <a:ext cx="10436351" cy="1600962"/>
        </p:xfrm>
        <a:graphic>
          <a:graphicData uri="http://schemas.openxmlformats.org/drawingml/2006/table">
            <a:tbl>
              <a:tblPr firstRow="1" bandRow="1">
                <a:tableStyleId>{2D5ABB26-0587-4C30-8999-92F81FD0307C}</a:tableStyleId>
              </a:tblPr>
              <a:tblGrid>
                <a:gridCol w="3064002">
                  <a:extLst>
                    <a:ext uri="{9D8B030D-6E8A-4147-A177-3AD203B41FA5}">
                      <a16:colId xmlns:a16="http://schemas.microsoft.com/office/drawing/2014/main" val="20000"/>
                    </a:ext>
                  </a:extLst>
                </a:gridCol>
                <a:gridCol w="4535423">
                  <a:extLst>
                    <a:ext uri="{9D8B030D-6E8A-4147-A177-3AD203B41FA5}">
                      <a16:colId xmlns:a16="http://schemas.microsoft.com/office/drawing/2014/main" val="20001"/>
                    </a:ext>
                  </a:extLst>
                </a:gridCol>
                <a:gridCol w="2836926">
                  <a:extLst>
                    <a:ext uri="{9D8B030D-6E8A-4147-A177-3AD203B41FA5}">
                      <a16:colId xmlns:a16="http://schemas.microsoft.com/office/drawing/2014/main" val="20002"/>
                    </a:ext>
                  </a:extLst>
                </a:gridCol>
              </a:tblGrid>
              <a:tr h="381762">
                <a:tc>
                  <a:txBody>
                    <a:bodyPr/>
                    <a:lstStyle/>
                    <a:p>
                      <a:endParaRPr sz="1800">
                        <a:latin typeface="微软雅黑"/>
                        <a:cs typeface="微软雅黑"/>
                      </a:endParaRPr>
                    </a:p>
                  </a:txBody>
                  <a:tcPr marL="0" marR="0" marT="0" marB="0">
                    <a:lnR w="12192">
                      <a:solidFill>
                        <a:srgbClr val="E34A46"/>
                      </a:solidFill>
                      <a:prstDash val="solid"/>
                    </a:lnR>
                    <a:lnB w="38100">
                      <a:solidFill>
                        <a:srgbClr val="E34A46"/>
                      </a:solidFill>
                      <a:prstDash val="solid"/>
                    </a:lnB>
                  </a:tcPr>
                </a:tc>
                <a:tc>
                  <a:txBody>
                    <a:bodyPr/>
                    <a:lstStyle/>
                    <a:p>
                      <a:pPr marL="1094105">
                        <a:lnSpc>
                          <a:spcPts val="2280"/>
                        </a:lnSpc>
                      </a:pPr>
                      <a:r>
                        <a:rPr sz="2800" b="1" dirty="0">
                          <a:solidFill>
                            <a:srgbClr val="FFFFFF"/>
                          </a:solidFill>
                          <a:latin typeface="微软雅黑"/>
                          <a:cs typeface="微软雅黑"/>
                        </a:rPr>
                        <a:t>周期（</a:t>
                      </a:r>
                      <a:r>
                        <a:rPr sz="2800" b="1" spc="-100" dirty="0">
                          <a:solidFill>
                            <a:srgbClr val="FFFFFF"/>
                          </a:solidFill>
                          <a:latin typeface="微软雅黑"/>
                          <a:cs typeface="微软雅黑"/>
                        </a:rPr>
                        <a:t>P</a:t>
                      </a:r>
                      <a:r>
                        <a:rPr sz="2800" b="1" dirty="0">
                          <a:solidFill>
                            <a:srgbClr val="FFFFFF"/>
                          </a:solidFill>
                          <a:latin typeface="微软雅黑"/>
                          <a:cs typeface="微软雅黑"/>
                        </a:rPr>
                        <a:t>e</a:t>
                      </a:r>
                      <a:r>
                        <a:rPr sz="2800" b="1" spc="15" dirty="0">
                          <a:solidFill>
                            <a:srgbClr val="FFFFFF"/>
                          </a:solidFill>
                          <a:latin typeface="微软雅黑"/>
                          <a:cs typeface="微软雅黑"/>
                        </a:rPr>
                        <a:t>r</a:t>
                      </a:r>
                      <a:r>
                        <a:rPr sz="2800" b="1" dirty="0">
                          <a:solidFill>
                            <a:srgbClr val="FFFFFF"/>
                          </a:solidFill>
                          <a:latin typeface="微软雅黑"/>
                          <a:cs typeface="微软雅黑"/>
                        </a:rPr>
                        <a:t>io</a:t>
                      </a:r>
                      <a:r>
                        <a:rPr sz="2800" b="1" spc="5" dirty="0">
                          <a:solidFill>
                            <a:srgbClr val="FFFFFF"/>
                          </a:solidFill>
                          <a:latin typeface="微软雅黑"/>
                          <a:cs typeface="微软雅黑"/>
                        </a:rPr>
                        <a:t>d</a:t>
                      </a:r>
                      <a:r>
                        <a:rPr sz="2800" b="1" dirty="0">
                          <a:solidFill>
                            <a:srgbClr val="FFFFFF"/>
                          </a:solidFill>
                          <a:latin typeface="微软雅黑"/>
                          <a:cs typeface="微软雅黑"/>
                        </a:rPr>
                        <a:t>）</a:t>
                      </a:r>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B w="38100">
                      <a:solidFill>
                        <a:srgbClr val="E34A46"/>
                      </a:solidFill>
                      <a:prstDash val="solid"/>
                    </a:lnB>
                  </a:tcPr>
                </a:tc>
                <a:extLst>
                  <a:ext uri="{0D108BD9-81ED-4DB2-BD59-A6C34878D82A}">
                    <a16:rowId xmlns:a16="http://schemas.microsoft.com/office/drawing/2014/main" val="10000"/>
                  </a:ext>
                </a:extLst>
              </a:tr>
              <a:tr h="256793">
                <a:tc>
                  <a:txBody>
                    <a:bodyPr/>
                    <a:lstStyle/>
                    <a:p>
                      <a:endParaRPr sz="2800">
                        <a:latin typeface="微软雅黑"/>
                        <a:cs typeface="微软雅黑"/>
                      </a:endParaRPr>
                    </a:p>
                  </a:txBody>
                  <a:tcPr marL="0" marR="0" marT="0" marB="0">
                    <a:lnL w="38100">
                      <a:solidFill>
                        <a:srgbClr val="E34A46"/>
                      </a:solidFill>
                      <a:prstDash val="solid"/>
                    </a:lnL>
                    <a:lnR w="12192">
                      <a:solidFill>
                        <a:srgbClr val="E34A46"/>
                      </a:solidFill>
                      <a:prstDash val="solid"/>
                    </a:lnR>
                    <a:lnT w="38100">
                      <a:solidFill>
                        <a:srgbClr val="E34A46"/>
                      </a:solidFill>
                      <a:prstDash val="solid"/>
                    </a:lnT>
                  </a:tcPr>
                </a:tc>
                <a:tc>
                  <a:txBody>
                    <a:bodyPr/>
                    <a:lstStyle/>
                    <a:p>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R w="38100">
                      <a:solidFill>
                        <a:srgbClr val="E34A46"/>
                      </a:solidFill>
                      <a:prstDash val="solid"/>
                    </a:lnR>
                    <a:lnT w="38100">
                      <a:solidFill>
                        <a:srgbClr val="E34A46"/>
                      </a:solidFill>
                      <a:prstDash val="solid"/>
                    </a:lnT>
                  </a:tcPr>
                </a:tc>
                <a:extLst>
                  <a:ext uri="{0D108BD9-81ED-4DB2-BD59-A6C34878D82A}">
                    <a16:rowId xmlns:a16="http://schemas.microsoft.com/office/drawing/2014/main" val="10001"/>
                  </a:ext>
                </a:extLst>
              </a:tr>
              <a:tr h="747522">
                <a:tc gridSpan="3">
                  <a:txBody>
                    <a:bodyPr/>
                    <a:lstStyle/>
                    <a:p>
                      <a:pPr marL="409575">
                        <a:lnSpc>
                          <a:spcPct val="100000"/>
                        </a:lnSpc>
                      </a:pPr>
                      <a:r>
                        <a:rPr sz="2400" b="1" dirty="0">
                          <a:latin typeface="微软雅黑"/>
                          <a:cs typeface="微软雅黑"/>
                        </a:rPr>
                        <a:t>一个完</a:t>
                      </a:r>
                      <a:r>
                        <a:rPr sz="2400" b="1" spc="-10" dirty="0">
                          <a:latin typeface="微软雅黑"/>
                          <a:cs typeface="微软雅黑"/>
                        </a:rPr>
                        <a:t>整</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M波形所持续的时间</a:t>
                      </a:r>
                      <a:endParaRPr sz="2400">
                        <a:latin typeface="微软雅黑"/>
                        <a:cs typeface="微软雅黑"/>
                      </a:endParaRPr>
                    </a:p>
                  </a:txBody>
                  <a:tcPr marL="0" marR="0" marT="0" marB="0">
                    <a:lnL w="38100">
                      <a:solidFill>
                        <a:srgbClr val="E34A46"/>
                      </a:solidFill>
                      <a:prstDash val="solid"/>
                    </a:lnL>
                    <a:lnR w="38100">
                      <a:solidFill>
                        <a:srgbClr val="E34A46"/>
                      </a:solidFill>
                      <a:prstDash val="solid"/>
                    </a:lnR>
                    <a:lnB w="38100">
                      <a:solidFill>
                        <a:srgbClr val="E34A46"/>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aphicFrame>
        <p:nvGraphicFramePr>
          <p:cNvPr id="14" name="object 14"/>
          <p:cNvGraphicFramePr>
            <a:graphicFrameLocks noGrp="1"/>
          </p:cNvGraphicFramePr>
          <p:nvPr/>
        </p:nvGraphicFramePr>
        <p:xfrm>
          <a:off x="859536" y="3421379"/>
          <a:ext cx="10436351" cy="1600961"/>
        </p:xfrm>
        <a:graphic>
          <a:graphicData uri="http://schemas.openxmlformats.org/drawingml/2006/table">
            <a:tbl>
              <a:tblPr firstRow="1" bandRow="1">
                <a:tableStyleId>{2D5ABB26-0587-4C30-8999-92F81FD0307C}</a:tableStyleId>
              </a:tblPr>
              <a:tblGrid>
                <a:gridCol w="3064002">
                  <a:extLst>
                    <a:ext uri="{9D8B030D-6E8A-4147-A177-3AD203B41FA5}">
                      <a16:colId xmlns:a16="http://schemas.microsoft.com/office/drawing/2014/main" val="20000"/>
                    </a:ext>
                  </a:extLst>
                </a:gridCol>
                <a:gridCol w="4535423">
                  <a:extLst>
                    <a:ext uri="{9D8B030D-6E8A-4147-A177-3AD203B41FA5}">
                      <a16:colId xmlns:a16="http://schemas.microsoft.com/office/drawing/2014/main" val="20001"/>
                    </a:ext>
                  </a:extLst>
                </a:gridCol>
                <a:gridCol w="2836926">
                  <a:extLst>
                    <a:ext uri="{9D8B030D-6E8A-4147-A177-3AD203B41FA5}">
                      <a16:colId xmlns:a16="http://schemas.microsoft.com/office/drawing/2014/main" val="20002"/>
                    </a:ext>
                  </a:extLst>
                </a:gridCol>
              </a:tblGrid>
              <a:tr h="381761">
                <a:tc>
                  <a:txBody>
                    <a:bodyPr/>
                    <a:lstStyle/>
                    <a:p>
                      <a:endParaRPr sz="2400">
                        <a:latin typeface="微软雅黑"/>
                        <a:cs typeface="微软雅黑"/>
                      </a:endParaRPr>
                    </a:p>
                  </a:txBody>
                  <a:tcPr marL="0" marR="0" marT="0" marB="0">
                    <a:lnR w="12191">
                      <a:solidFill>
                        <a:srgbClr val="E34A46"/>
                      </a:solidFill>
                      <a:prstDash val="solid"/>
                    </a:lnR>
                    <a:lnB w="38100">
                      <a:solidFill>
                        <a:srgbClr val="E34A46"/>
                      </a:solidFill>
                      <a:prstDash val="solid"/>
                    </a:lnB>
                  </a:tcPr>
                </a:tc>
                <a:tc>
                  <a:txBody>
                    <a:bodyPr/>
                    <a:lstStyle/>
                    <a:p>
                      <a:pPr marL="1063625">
                        <a:lnSpc>
                          <a:spcPts val="2270"/>
                        </a:lnSpc>
                      </a:pPr>
                      <a:r>
                        <a:rPr sz="2800" b="1" dirty="0">
                          <a:solidFill>
                            <a:srgbClr val="FFFFFF"/>
                          </a:solidFill>
                          <a:latin typeface="微软雅黑"/>
                          <a:cs typeface="微软雅黑"/>
                        </a:rPr>
                        <a:t>占空比（Du</a:t>
                      </a:r>
                      <a:r>
                        <a:rPr sz="2800" b="1" spc="-15" dirty="0">
                          <a:solidFill>
                            <a:srgbClr val="FFFFFF"/>
                          </a:solidFill>
                          <a:latin typeface="微软雅黑"/>
                          <a:cs typeface="微软雅黑"/>
                        </a:rPr>
                        <a:t>t</a:t>
                      </a:r>
                      <a:r>
                        <a:rPr sz="2800" b="1" dirty="0">
                          <a:solidFill>
                            <a:srgbClr val="FFFFFF"/>
                          </a:solidFill>
                          <a:latin typeface="微软雅黑"/>
                          <a:cs typeface="微软雅黑"/>
                        </a:rPr>
                        <a:t>y）</a:t>
                      </a:r>
                      <a:endParaRPr sz="2800">
                        <a:latin typeface="微软雅黑"/>
                        <a:cs typeface="微软雅黑"/>
                      </a:endParaRPr>
                    </a:p>
                  </a:txBody>
                  <a:tcPr marL="0" marR="0" marT="0" marB="0">
                    <a:lnL w="12191"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B w="38100">
                      <a:solidFill>
                        <a:srgbClr val="E34A46"/>
                      </a:solidFill>
                      <a:prstDash val="solid"/>
                    </a:lnB>
                  </a:tcPr>
                </a:tc>
                <a:extLst>
                  <a:ext uri="{0D108BD9-81ED-4DB2-BD59-A6C34878D82A}">
                    <a16:rowId xmlns:a16="http://schemas.microsoft.com/office/drawing/2014/main" val="10000"/>
                  </a:ext>
                </a:extLst>
              </a:tr>
              <a:tr h="258318">
                <a:tc>
                  <a:txBody>
                    <a:bodyPr/>
                    <a:lstStyle/>
                    <a:p>
                      <a:endParaRPr sz="2800">
                        <a:latin typeface="微软雅黑"/>
                        <a:cs typeface="微软雅黑"/>
                      </a:endParaRPr>
                    </a:p>
                  </a:txBody>
                  <a:tcPr marL="0" marR="0" marT="0" marB="0">
                    <a:lnL w="38100">
                      <a:solidFill>
                        <a:srgbClr val="E34A46"/>
                      </a:solidFill>
                      <a:prstDash val="solid"/>
                    </a:lnL>
                    <a:lnR w="12191">
                      <a:solidFill>
                        <a:srgbClr val="E34A46"/>
                      </a:solidFill>
                      <a:prstDash val="solid"/>
                    </a:lnR>
                    <a:lnT w="38100">
                      <a:solidFill>
                        <a:srgbClr val="E34A46"/>
                      </a:solidFill>
                      <a:prstDash val="solid"/>
                    </a:lnT>
                  </a:tcPr>
                </a:tc>
                <a:tc>
                  <a:txBody>
                    <a:bodyPr/>
                    <a:lstStyle/>
                    <a:p>
                      <a:endParaRPr sz="2800">
                        <a:latin typeface="微软雅黑"/>
                        <a:cs typeface="微软雅黑"/>
                      </a:endParaRPr>
                    </a:p>
                  </a:txBody>
                  <a:tcPr marL="0" marR="0" marT="0" marB="0">
                    <a:lnL w="12191"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R w="38100">
                      <a:solidFill>
                        <a:srgbClr val="E34A46"/>
                      </a:solidFill>
                      <a:prstDash val="solid"/>
                    </a:lnR>
                    <a:lnT w="38100">
                      <a:solidFill>
                        <a:srgbClr val="E34A46"/>
                      </a:solidFill>
                      <a:prstDash val="solid"/>
                    </a:lnT>
                  </a:tcPr>
                </a:tc>
                <a:extLst>
                  <a:ext uri="{0D108BD9-81ED-4DB2-BD59-A6C34878D82A}">
                    <a16:rowId xmlns:a16="http://schemas.microsoft.com/office/drawing/2014/main" val="10001"/>
                  </a:ext>
                </a:extLst>
              </a:tr>
              <a:tr h="747521">
                <a:tc gridSpan="3">
                  <a:txBody>
                    <a:bodyPr/>
                    <a:lstStyle/>
                    <a:p>
                      <a:pPr marL="409575">
                        <a:lnSpc>
                          <a:spcPct val="100000"/>
                        </a:lnSpc>
                      </a:pPr>
                      <a:r>
                        <a:rPr sz="2400" b="1" dirty="0">
                          <a:latin typeface="微软雅黑"/>
                          <a:cs typeface="微软雅黑"/>
                        </a:rPr>
                        <a:t>高电平持续时间</a:t>
                      </a:r>
                      <a:r>
                        <a:rPr sz="2400" b="1" spc="-15" dirty="0">
                          <a:latin typeface="微软雅黑"/>
                          <a:cs typeface="微软雅黑"/>
                        </a:rPr>
                        <a:t>（</a:t>
                      </a:r>
                      <a:r>
                        <a:rPr sz="2400" b="1" spc="-240" dirty="0">
                          <a:latin typeface="微软雅黑"/>
                          <a:cs typeface="微软雅黑"/>
                        </a:rPr>
                        <a:t>T</a:t>
                      </a:r>
                      <a:r>
                        <a:rPr sz="2400" b="1" spc="-5" dirty="0">
                          <a:latin typeface="微软雅黑"/>
                          <a:cs typeface="微软雅黑"/>
                        </a:rPr>
                        <a:t>o</a:t>
                      </a:r>
                      <a:r>
                        <a:rPr sz="2400" b="1" dirty="0">
                          <a:latin typeface="微软雅黑"/>
                          <a:cs typeface="微软雅黑"/>
                        </a:rPr>
                        <a:t>n）与周期时间（</a:t>
                      </a:r>
                      <a:r>
                        <a:rPr sz="2400" b="1" spc="-90" dirty="0">
                          <a:latin typeface="微软雅黑"/>
                          <a:cs typeface="微软雅黑"/>
                        </a:rPr>
                        <a:t>P</a:t>
                      </a:r>
                      <a:r>
                        <a:rPr sz="2400" b="1" dirty="0">
                          <a:latin typeface="微软雅黑"/>
                          <a:cs typeface="微软雅黑"/>
                        </a:rPr>
                        <a:t>e</a:t>
                      </a:r>
                      <a:r>
                        <a:rPr sz="2400" b="1" spc="5" dirty="0">
                          <a:latin typeface="微软雅黑"/>
                          <a:cs typeface="微软雅黑"/>
                        </a:rPr>
                        <a:t>r</a:t>
                      </a:r>
                      <a:r>
                        <a:rPr sz="2400" b="1" dirty="0">
                          <a:latin typeface="微软雅黑"/>
                          <a:cs typeface="微软雅黑"/>
                        </a:rPr>
                        <a:t>io</a:t>
                      </a:r>
                      <a:r>
                        <a:rPr sz="2400" b="1" spc="-5" dirty="0">
                          <a:latin typeface="微软雅黑"/>
                          <a:cs typeface="微软雅黑"/>
                        </a:rPr>
                        <a:t>d</a:t>
                      </a:r>
                      <a:r>
                        <a:rPr sz="2400" b="1" dirty="0">
                          <a:latin typeface="微软雅黑"/>
                          <a:cs typeface="微软雅黑"/>
                        </a:rPr>
                        <a:t>）的比值</a:t>
                      </a:r>
                      <a:endParaRPr sz="2400">
                        <a:latin typeface="微软雅黑"/>
                        <a:cs typeface="微软雅黑"/>
                      </a:endParaRPr>
                    </a:p>
                  </a:txBody>
                  <a:tcPr marL="0" marR="0" marT="0" marB="0">
                    <a:lnL w="38100">
                      <a:solidFill>
                        <a:srgbClr val="E34A46"/>
                      </a:solidFill>
                      <a:prstDash val="solid"/>
                    </a:lnL>
                    <a:lnR w="38100">
                      <a:solidFill>
                        <a:srgbClr val="E34A46"/>
                      </a:solidFill>
                      <a:prstDash val="solid"/>
                    </a:lnR>
                    <a:lnB w="38100">
                      <a:solidFill>
                        <a:srgbClr val="E34A46"/>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310109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16152" y="798574"/>
            <a:ext cx="9759696" cy="5967984"/>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201674" y="784096"/>
            <a:ext cx="9789160" cy="5996940"/>
          </a:xfrm>
          <a:custGeom>
            <a:avLst/>
            <a:gdLst/>
            <a:ahLst/>
            <a:cxnLst/>
            <a:rect l="l" t="t" r="r" b="b"/>
            <a:pathLst>
              <a:path w="9789160" h="5996940">
                <a:moveTo>
                  <a:pt x="0" y="5996940"/>
                </a:moveTo>
                <a:lnTo>
                  <a:pt x="9788652" y="5996940"/>
                </a:lnTo>
                <a:lnTo>
                  <a:pt x="9788652" y="0"/>
                </a:lnTo>
                <a:lnTo>
                  <a:pt x="0" y="0"/>
                </a:lnTo>
                <a:lnTo>
                  <a:pt x="0" y="5996940"/>
                </a:lnTo>
                <a:close/>
              </a:path>
            </a:pathLst>
          </a:custGeom>
          <a:ln w="28956">
            <a:solidFill>
              <a:srgbClr val="5B9BD4"/>
            </a:solidFill>
          </a:ln>
        </p:spPr>
        <p:txBody>
          <a:bodyPr wrap="square" lIns="0" tIns="0" rIns="0" bIns="0" rtlCol="0"/>
          <a:lstStyle/>
          <a:p>
            <a:endParaRPr/>
          </a:p>
        </p:txBody>
      </p:sp>
      <p:sp>
        <p:nvSpPr>
          <p:cNvPr id="4" name="object 4"/>
          <p:cNvSpPr txBox="1">
            <a:spLocks noGrp="1"/>
          </p:cNvSpPr>
          <p:nvPr>
            <p:ph type="title"/>
          </p:nvPr>
        </p:nvSpPr>
        <p:spPr>
          <a:xfrm>
            <a:off x="3965828" y="238190"/>
            <a:ext cx="4208780" cy="381000"/>
          </a:xfrm>
          <a:prstGeom prst="rect">
            <a:avLst/>
          </a:prstGeom>
        </p:spPr>
        <p:txBody>
          <a:bodyPr vert="horz" wrap="square" lIns="0" tIns="0" rIns="0" bIns="0" rtlCol="0">
            <a:spAutoFit/>
          </a:bodyPr>
          <a:lstStyle/>
          <a:p>
            <a:pPr marL="12700">
              <a:lnSpc>
                <a:spcPct val="100000"/>
              </a:lnSpc>
            </a:pPr>
            <a:r>
              <a:rPr spc="30" dirty="0">
                <a:latin typeface="微软雅黑"/>
                <a:cs typeface="微软雅黑"/>
              </a:rPr>
              <a:t>P</a:t>
            </a:r>
            <a:r>
              <a:rPr spc="-10" dirty="0">
                <a:latin typeface="微软雅黑"/>
                <a:cs typeface="微软雅黑"/>
              </a:rPr>
              <a:t>W</a:t>
            </a:r>
            <a:r>
              <a:rPr dirty="0">
                <a:latin typeface="微软雅黑"/>
                <a:cs typeface="微软雅黑"/>
              </a:rPr>
              <a:t>M</a:t>
            </a:r>
            <a:r>
              <a:rPr spc="-10" dirty="0"/>
              <a:t>信号的电压调节原理</a:t>
            </a:r>
          </a:p>
        </p:txBody>
      </p:sp>
      <p:sp>
        <p:nvSpPr>
          <p:cNvPr id="5" name="object 5"/>
          <p:cNvSpPr/>
          <p:nvPr/>
        </p:nvSpPr>
        <p:spPr>
          <a:xfrm>
            <a:off x="7492745" y="2960370"/>
            <a:ext cx="4279900" cy="570230"/>
          </a:xfrm>
          <a:custGeom>
            <a:avLst/>
            <a:gdLst/>
            <a:ahLst/>
            <a:cxnLst/>
            <a:rect l="l" t="t" r="r" b="b"/>
            <a:pathLst>
              <a:path w="4279900" h="570229">
                <a:moveTo>
                  <a:pt x="4184396" y="0"/>
                </a:moveTo>
                <a:lnTo>
                  <a:pt x="713231" y="0"/>
                </a:lnTo>
                <a:lnTo>
                  <a:pt x="86487" y="376"/>
                </a:lnTo>
                <a:lnTo>
                  <a:pt x="46432" y="13341"/>
                </a:lnTo>
                <a:lnTo>
                  <a:pt x="16485" y="41509"/>
                </a:lnTo>
                <a:lnTo>
                  <a:pt x="1113" y="80414"/>
                </a:lnTo>
                <a:lnTo>
                  <a:pt x="0" y="94995"/>
                </a:lnTo>
                <a:lnTo>
                  <a:pt x="0" y="474979"/>
                </a:lnTo>
                <a:lnTo>
                  <a:pt x="13341" y="523543"/>
                </a:lnTo>
                <a:lnTo>
                  <a:pt x="41509" y="553490"/>
                </a:lnTo>
                <a:lnTo>
                  <a:pt x="80414" y="568862"/>
                </a:lnTo>
                <a:lnTo>
                  <a:pt x="94996" y="569976"/>
                </a:lnTo>
                <a:lnTo>
                  <a:pt x="1783079" y="569976"/>
                </a:lnTo>
                <a:lnTo>
                  <a:pt x="4192904" y="569599"/>
                </a:lnTo>
                <a:lnTo>
                  <a:pt x="4232959" y="556634"/>
                </a:lnTo>
                <a:lnTo>
                  <a:pt x="4262906" y="528466"/>
                </a:lnTo>
                <a:lnTo>
                  <a:pt x="4278278" y="489561"/>
                </a:lnTo>
                <a:lnTo>
                  <a:pt x="4279392" y="474979"/>
                </a:lnTo>
                <a:lnTo>
                  <a:pt x="4279392" y="332485"/>
                </a:lnTo>
                <a:lnTo>
                  <a:pt x="4279015" y="86487"/>
                </a:lnTo>
                <a:lnTo>
                  <a:pt x="4266050" y="46432"/>
                </a:lnTo>
                <a:lnTo>
                  <a:pt x="4237882" y="16485"/>
                </a:lnTo>
                <a:lnTo>
                  <a:pt x="4198977" y="1113"/>
                </a:lnTo>
                <a:lnTo>
                  <a:pt x="4184396" y="0"/>
                </a:lnTo>
                <a:close/>
              </a:path>
            </a:pathLst>
          </a:custGeom>
          <a:solidFill>
            <a:srgbClr val="FFFFC7"/>
          </a:solidFill>
        </p:spPr>
        <p:txBody>
          <a:bodyPr wrap="square" lIns="0" tIns="0" rIns="0" bIns="0" rtlCol="0"/>
          <a:lstStyle/>
          <a:p>
            <a:endParaRPr/>
          </a:p>
        </p:txBody>
      </p:sp>
      <p:sp>
        <p:nvSpPr>
          <p:cNvPr id="6" name="object 6"/>
          <p:cNvSpPr/>
          <p:nvPr/>
        </p:nvSpPr>
        <p:spPr>
          <a:xfrm>
            <a:off x="7492745" y="2960370"/>
            <a:ext cx="4279900" cy="570230"/>
          </a:xfrm>
          <a:custGeom>
            <a:avLst/>
            <a:gdLst/>
            <a:ahLst/>
            <a:cxnLst/>
            <a:rect l="l" t="t" r="r" b="b"/>
            <a:pathLst>
              <a:path w="4279900" h="570229">
                <a:moveTo>
                  <a:pt x="0" y="94995"/>
                </a:moveTo>
                <a:lnTo>
                  <a:pt x="9521" y="53505"/>
                </a:lnTo>
                <a:lnTo>
                  <a:pt x="35106" y="21262"/>
                </a:lnTo>
                <a:lnTo>
                  <a:pt x="72288" y="2732"/>
                </a:lnTo>
                <a:lnTo>
                  <a:pt x="713231" y="0"/>
                </a:lnTo>
                <a:lnTo>
                  <a:pt x="1783079" y="0"/>
                </a:lnTo>
                <a:lnTo>
                  <a:pt x="4184396" y="0"/>
                </a:lnTo>
                <a:lnTo>
                  <a:pt x="4198977" y="1113"/>
                </a:lnTo>
                <a:lnTo>
                  <a:pt x="4237882" y="16485"/>
                </a:lnTo>
                <a:lnTo>
                  <a:pt x="4266050" y="46432"/>
                </a:lnTo>
                <a:lnTo>
                  <a:pt x="4279015" y="86487"/>
                </a:lnTo>
                <a:lnTo>
                  <a:pt x="4279392" y="332485"/>
                </a:lnTo>
                <a:lnTo>
                  <a:pt x="4279392" y="474979"/>
                </a:lnTo>
                <a:lnTo>
                  <a:pt x="4278278" y="489561"/>
                </a:lnTo>
                <a:lnTo>
                  <a:pt x="4275050" y="503447"/>
                </a:lnTo>
                <a:lnTo>
                  <a:pt x="4254323" y="539269"/>
                </a:lnTo>
                <a:lnTo>
                  <a:pt x="4220510" y="562866"/>
                </a:lnTo>
                <a:lnTo>
                  <a:pt x="1783079" y="569976"/>
                </a:lnTo>
                <a:lnTo>
                  <a:pt x="1993137" y="569976"/>
                </a:lnTo>
                <a:lnTo>
                  <a:pt x="713231" y="569976"/>
                </a:lnTo>
                <a:lnTo>
                  <a:pt x="94996" y="569976"/>
                </a:lnTo>
                <a:lnTo>
                  <a:pt x="80414" y="568862"/>
                </a:lnTo>
                <a:lnTo>
                  <a:pt x="41509" y="553490"/>
                </a:lnTo>
                <a:lnTo>
                  <a:pt x="13341" y="523543"/>
                </a:lnTo>
                <a:lnTo>
                  <a:pt x="376" y="483488"/>
                </a:lnTo>
                <a:lnTo>
                  <a:pt x="0" y="474979"/>
                </a:lnTo>
                <a:lnTo>
                  <a:pt x="0" y="332485"/>
                </a:lnTo>
                <a:lnTo>
                  <a:pt x="0" y="94995"/>
                </a:lnTo>
                <a:close/>
              </a:path>
            </a:pathLst>
          </a:custGeom>
          <a:ln w="28956">
            <a:solidFill>
              <a:srgbClr val="000000"/>
            </a:solidFill>
          </a:ln>
        </p:spPr>
        <p:txBody>
          <a:bodyPr wrap="square" lIns="0" tIns="0" rIns="0" bIns="0" rtlCol="0"/>
          <a:lstStyle/>
          <a:p>
            <a:endParaRPr/>
          </a:p>
        </p:txBody>
      </p:sp>
      <p:sp>
        <p:nvSpPr>
          <p:cNvPr id="7" name="object 7"/>
          <p:cNvSpPr/>
          <p:nvPr/>
        </p:nvSpPr>
        <p:spPr>
          <a:xfrm>
            <a:off x="9458706" y="2184654"/>
            <a:ext cx="1071880" cy="441959"/>
          </a:xfrm>
          <a:custGeom>
            <a:avLst/>
            <a:gdLst/>
            <a:ahLst/>
            <a:cxnLst/>
            <a:rect l="l" t="t" r="r" b="b"/>
            <a:pathLst>
              <a:path w="1071879" h="441960">
                <a:moveTo>
                  <a:pt x="997712" y="0"/>
                </a:moveTo>
                <a:lnTo>
                  <a:pt x="70665" y="59"/>
                </a:lnTo>
                <a:lnTo>
                  <a:pt x="31055" y="13588"/>
                </a:lnTo>
                <a:lnTo>
                  <a:pt x="5521" y="45659"/>
                </a:lnTo>
                <a:lnTo>
                  <a:pt x="0" y="73660"/>
                </a:lnTo>
                <a:lnTo>
                  <a:pt x="59" y="371294"/>
                </a:lnTo>
                <a:lnTo>
                  <a:pt x="13588" y="410904"/>
                </a:lnTo>
                <a:lnTo>
                  <a:pt x="45659" y="436438"/>
                </a:lnTo>
                <a:lnTo>
                  <a:pt x="73660" y="441960"/>
                </a:lnTo>
                <a:lnTo>
                  <a:pt x="446404" y="441960"/>
                </a:lnTo>
                <a:lnTo>
                  <a:pt x="1000706" y="441900"/>
                </a:lnTo>
                <a:lnTo>
                  <a:pt x="1040316" y="428371"/>
                </a:lnTo>
                <a:lnTo>
                  <a:pt x="1065850" y="396300"/>
                </a:lnTo>
                <a:lnTo>
                  <a:pt x="1071372" y="368300"/>
                </a:lnTo>
                <a:lnTo>
                  <a:pt x="1071312" y="70665"/>
                </a:lnTo>
                <a:lnTo>
                  <a:pt x="1057783" y="31055"/>
                </a:lnTo>
                <a:lnTo>
                  <a:pt x="1025712" y="5521"/>
                </a:lnTo>
                <a:lnTo>
                  <a:pt x="997712" y="0"/>
                </a:lnTo>
                <a:close/>
              </a:path>
            </a:pathLst>
          </a:custGeom>
          <a:solidFill>
            <a:srgbClr val="FFFFC7"/>
          </a:solidFill>
        </p:spPr>
        <p:txBody>
          <a:bodyPr wrap="square" lIns="0" tIns="0" rIns="0" bIns="0" rtlCol="0"/>
          <a:lstStyle/>
          <a:p>
            <a:endParaRPr/>
          </a:p>
        </p:txBody>
      </p:sp>
      <p:sp>
        <p:nvSpPr>
          <p:cNvPr id="8" name="object 8"/>
          <p:cNvSpPr/>
          <p:nvPr/>
        </p:nvSpPr>
        <p:spPr>
          <a:xfrm>
            <a:off x="9458706" y="2184654"/>
            <a:ext cx="1071880" cy="441959"/>
          </a:xfrm>
          <a:custGeom>
            <a:avLst/>
            <a:gdLst/>
            <a:ahLst/>
            <a:cxnLst/>
            <a:rect l="l" t="t" r="r" b="b"/>
            <a:pathLst>
              <a:path w="1071879" h="441960">
                <a:moveTo>
                  <a:pt x="0" y="73660"/>
                </a:moveTo>
                <a:lnTo>
                  <a:pt x="12008" y="33369"/>
                </a:lnTo>
                <a:lnTo>
                  <a:pt x="43063" y="6650"/>
                </a:lnTo>
                <a:lnTo>
                  <a:pt x="178562" y="0"/>
                </a:lnTo>
                <a:lnTo>
                  <a:pt x="446404" y="0"/>
                </a:lnTo>
                <a:lnTo>
                  <a:pt x="997712" y="0"/>
                </a:lnTo>
                <a:lnTo>
                  <a:pt x="1012190" y="1426"/>
                </a:lnTo>
                <a:lnTo>
                  <a:pt x="1048785" y="20611"/>
                </a:lnTo>
                <a:lnTo>
                  <a:pt x="1069323" y="56358"/>
                </a:lnTo>
                <a:lnTo>
                  <a:pt x="1071372" y="257810"/>
                </a:lnTo>
                <a:lnTo>
                  <a:pt x="1071372" y="368300"/>
                </a:lnTo>
                <a:lnTo>
                  <a:pt x="1069945" y="382778"/>
                </a:lnTo>
                <a:lnTo>
                  <a:pt x="1065850" y="396300"/>
                </a:lnTo>
                <a:lnTo>
                  <a:pt x="1040316" y="428371"/>
                </a:lnTo>
                <a:lnTo>
                  <a:pt x="1000706" y="441900"/>
                </a:lnTo>
                <a:lnTo>
                  <a:pt x="446404" y="441960"/>
                </a:lnTo>
                <a:lnTo>
                  <a:pt x="498983" y="441960"/>
                </a:lnTo>
                <a:lnTo>
                  <a:pt x="178562" y="441960"/>
                </a:lnTo>
                <a:lnTo>
                  <a:pt x="73660" y="441960"/>
                </a:lnTo>
                <a:lnTo>
                  <a:pt x="59181" y="440533"/>
                </a:lnTo>
                <a:lnTo>
                  <a:pt x="22586" y="421348"/>
                </a:lnTo>
                <a:lnTo>
                  <a:pt x="2048" y="385601"/>
                </a:lnTo>
                <a:lnTo>
                  <a:pt x="0" y="368300"/>
                </a:lnTo>
                <a:lnTo>
                  <a:pt x="0" y="257810"/>
                </a:lnTo>
                <a:lnTo>
                  <a:pt x="0" y="73660"/>
                </a:lnTo>
                <a:close/>
              </a:path>
            </a:pathLst>
          </a:custGeom>
          <a:ln w="28955">
            <a:solidFill>
              <a:srgbClr val="000000"/>
            </a:solidFill>
          </a:ln>
        </p:spPr>
        <p:txBody>
          <a:bodyPr wrap="square" lIns="0" tIns="0" rIns="0" bIns="0" rtlCol="0"/>
          <a:lstStyle/>
          <a:p>
            <a:endParaRPr/>
          </a:p>
        </p:txBody>
      </p:sp>
      <p:sp>
        <p:nvSpPr>
          <p:cNvPr id="9" name="object 9"/>
          <p:cNvSpPr/>
          <p:nvPr/>
        </p:nvSpPr>
        <p:spPr>
          <a:xfrm>
            <a:off x="9458706" y="4269485"/>
            <a:ext cx="1071880" cy="441959"/>
          </a:xfrm>
          <a:custGeom>
            <a:avLst/>
            <a:gdLst/>
            <a:ahLst/>
            <a:cxnLst/>
            <a:rect l="l" t="t" r="r" b="b"/>
            <a:pathLst>
              <a:path w="1071879" h="441960">
                <a:moveTo>
                  <a:pt x="997712" y="0"/>
                </a:moveTo>
                <a:lnTo>
                  <a:pt x="70665" y="59"/>
                </a:lnTo>
                <a:lnTo>
                  <a:pt x="31055" y="13588"/>
                </a:lnTo>
                <a:lnTo>
                  <a:pt x="5521" y="45659"/>
                </a:lnTo>
                <a:lnTo>
                  <a:pt x="0" y="73659"/>
                </a:lnTo>
                <a:lnTo>
                  <a:pt x="59" y="371294"/>
                </a:lnTo>
                <a:lnTo>
                  <a:pt x="13588" y="410904"/>
                </a:lnTo>
                <a:lnTo>
                  <a:pt x="45659" y="436438"/>
                </a:lnTo>
                <a:lnTo>
                  <a:pt x="73660" y="441959"/>
                </a:lnTo>
                <a:lnTo>
                  <a:pt x="446404" y="441959"/>
                </a:lnTo>
                <a:lnTo>
                  <a:pt x="1000706" y="441900"/>
                </a:lnTo>
                <a:lnTo>
                  <a:pt x="1040316" y="428371"/>
                </a:lnTo>
                <a:lnTo>
                  <a:pt x="1065850" y="396300"/>
                </a:lnTo>
                <a:lnTo>
                  <a:pt x="1071372" y="368300"/>
                </a:lnTo>
                <a:lnTo>
                  <a:pt x="1071312" y="70665"/>
                </a:lnTo>
                <a:lnTo>
                  <a:pt x="1057783" y="31055"/>
                </a:lnTo>
                <a:lnTo>
                  <a:pt x="1025712" y="5521"/>
                </a:lnTo>
                <a:lnTo>
                  <a:pt x="997712" y="0"/>
                </a:lnTo>
                <a:close/>
              </a:path>
            </a:pathLst>
          </a:custGeom>
          <a:solidFill>
            <a:srgbClr val="FFFFC7"/>
          </a:solidFill>
        </p:spPr>
        <p:txBody>
          <a:bodyPr wrap="square" lIns="0" tIns="0" rIns="0" bIns="0" rtlCol="0"/>
          <a:lstStyle/>
          <a:p>
            <a:endParaRPr/>
          </a:p>
        </p:txBody>
      </p:sp>
      <p:sp>
        <p:nvSpPr>
          <p:cNvPr id="10" name="object 10"/>
          <p:cNvSpPr/>
          <p:nvPr/>
        </p:nvSpPr>
        <p:spPr>
          <a:xfrm>
            <a:off x="9458706" y="4269485"/>
            <a:ext cx="1071880" cy="441959"/>
          </a:xfrm>
          <a:custGeom>
            <a:avLst/>
            <a:gdLst/>
            <a:ahLst/>
            <a:cxnLst/>
            <a:rect l="l" t="t" r="r" b="b"/>
            <a:pathLst>
              <a:path w="1071879" h="441960">
                <a:moveTo>
                  <a:pt x="0" y="73659"/>
                </a:moveTo>
                <a:lnTo>
                  <a:pt x="12008" y="33369"/>
                </a:lnTo>
                <a:lnTo>
                  <a:pt x="43063" y="6650"/>
                </a:lnTo>
                <a:lnTo>
                  <a:pt x="178562" y="0"/>
                </a:lnTo>
                <a:lnTo>
                  <a:pt x="446404" y="0"/>
                </a:lnTo>
                <a:lnTo>
                  <a:pt x="997712" y="0"/>
                </a:lnTo>
                <a:lnTo>
                  <a:pt x="1012190" y="1426"/>
                </a:lnTo>
                <a:lnTo>
                  <a:pt x="1048785" y="20611"/>
                </a:lnTo>
                <a:lnTo>
                  <a:pt x="1069323" y="56358"/>
                </a:lnTo>
                <a:lnTo>
                  <a:pt x="1071372" y="257809"/>
                </a:lnTo>
                <a:lnTo>
                  <a:pt x="1071372" y="368300"/>
                </a:lnTo>
                <a:lnTo>
                  <a:pt x="1069945" y="382778"/>
                </a:lnTo>
                <a:lnTo>
                  <a:pt x="1065850" y="396300"/>
                </a:lnTo>
                <a:lnTo>
                  <a:pt x="1040316" y="428371"/>
                </a:lnTo>
                <a:lnTo>
                  <a:pt x="1000706" y="441900"/>
                </a:lnTo>
                <a:lnTo>
                  <a:pt x="446404" y="441959"/>
                </a:lnTo>
                <a:lnTo>
                  <a:pt x="498983" y="441959"/>
                </a:lnTo>
                <a:lnTo>
                  <a:pt x="178562" y="441959"/>
                </a:lnTo>
                <a:lnTo>
                  <a:pt x="73660" y="441959"/>
                </a:lnTo>
                <a:lnTo>
                  <a:pt x="59181" y="440533"/>
                </a:lnTo>
                <a:lnTo>
                  <a:pt x="22586" y="421348"/>
                </a:lnTo>
                <a:lnTo>
                  <a:pt x="2048" y="385601"/>
                </a:lnTo>
                <a:lnTo>
                  <a:pt x="0" y="368300"/>
                </a:lnTo>
                <a:lnTo>
                  <a:pt x="0" y="257809"/>
                </a:lnTo>
                <a:lnTo>
                  <a:pt x="0" y="73659"/>
                </a:lnTo>
                <a:close/>
              </a:path>
            </a:pathLst>
          </a:custGeom>
          <a:ln w="28956">
            <a:solidFill>
              <a:srgbClr val="000000"/>
            </a:solidFill>
          </a:ln>
        </p:spPr>
        <p:txBody>
          <a:bodyPr wrap="square" lIns="0" tIns="0" rIns="0" bIns="0" rtlCol="0"/>
          <a:lstStyle/>
          <a:p>
            <a:endParaRPr/>
          </a:p>
        </p:txBody>
      </p:sp>
      <p:sp>
        <p:nvSpPr>
          <p:cNvPr id="11" name="object 11"/>
          <p:cNvSpPr/>
          <p:nvPr/>
        </p:nvSpPr>
        <p:spPr>
          <a:xfrm>
            <a:off x="9458706" y="5939790"/>
            <a:ext cx="1071880" cy="441959"/>
          </a:xfrm>
          <a:custGeom>
            <a:avLst/>
            <a:gdLst/>
            <a:ahLst/>
            <a:cxnLst/>
            <a:rect l="l" t="t" r="r" b="b"/>
            <a:pathLst>
              <a:path w="1071879" h="441960">
                <a:moveTo>
                  <a:pt x="997712" y="0"/>
                </a:moveTo>
                <a:lnTo>
                  <a:pt x="70665" y="59"/>
                </a:lnTo>
                <a:lnTo>
                  <a:pt x="31055" y="13577"/>
                </a:lnTo>
                <a:lnTo>
                  <a:pt x="5521" y="45643"/>
                </a:lnTo>
                <a:lnTo>
                  <a:pt x="0" y="73660"/>
                </a:lnTo>
                <a:lnTo>
                  <a:pt x="59" y="371297"/>
                </a:lnTo>
                <a:lnTo>
                  <a:pt x="13588" y="410920"/>
                </a:lnTo>
                <a:lnTo>
                  <a:pt x="45659" y="436443"/>
                </a:lnTo>
                <a:lnTo>
                  <a:pt x="73660" y="441960"/>
                </a:lnTo>
                <a:lnTo>
                  <a:pt x="446404" y="441960"/>
                </a:lnTo>
                <a:lnTo>
                  <a:pt x="1000706" y="441900"/>
                </a:lnTo>
                <a:lnTo>
                  <a:pt x="1040316" y="428382"/>
                </a:lnTo>
                <a:lnTo>
                  <a:pt x="1065850" y="396316"/>
                </a:lnTo>
                <a:lnTo>
                  <a:pt x="1071372" y="368300"/>
                </a:lnTo>
                <a:lnTo>
                  <a:pt x="1071312" y="70662"/>
                </a:lnTo>
                <a:lnTo>
                  <a:pt x="1057783" y="31039"/>
                </a:lnTo>
                <a:lnTo>
                  <a:pt x="1025712" y="5516"/>
                </a:lnTo>
                <a:lnTo>
                  <a:pt x="997712" y="0"/>
                </a:lnTo>
                <a:close/>
              </a:path>
            </a:pathLst>
          </a:custGeom>
          <a:solidFill>
            <a:srgbClr val="FFFFC7"/>
          </a:solidFill>
        </p:spPr>
        <p:txBody>
          <a:bodyPr wrap="square" lIns="0" tIns="0" rIns="0" bIns="0" rtlCol="0"/>
          <a:lstStyle/>
          <a:p>
            <a:endParaRPr/>
          </a:p>
        </p:txBody>
      </p:sp>
      <p:sp>
        <p:nvSpPr>
          <p:cNvPr id="12" name="object 12"/>
          <p:cNvSpPr/>
          <p:nvPr/>
        </p:nvSpPr>
        <p:spPr>
          <a:xfrm>
            <a:off x="9458706" y="5939790"/>
            <a:ext cx="1071880" cy="441959"/>
          </a:xfrm>
          <a:custGeom>
            <a:avLst/>
            <a:gdLst/>
            <a:ahLst/>
            <a:cxnLst/>
            <a:rect l="l" t="t" r="r" b="b"/>
            <a:pathLst>
              <a:path w="1071879" h="441960">
                <a:moveTo>
                  <a:pt x="0" y="73660"/>
                </a:moveTo>
                <a:lnTo>
                  <a:pt x="12008" y="33352"/>
                </a:lnTo>
                <a:lnTo>
                  <a:pt x="43063" y="6644"/>
                </a:lnTo>
                <a:lnTo>
                  <a:pt x="178562" y="0"/>
                </a:lnTo>
                <a:lnTo>
                  <a:pt x="446404" y="0"/>
                </a:lnTo>
                <a:lnTo>
                  <a:pt x="997712" y="0"/>
                </a:lnTo>
                <a:lnTo>
                  <a:pt x="1012190" y="1424"/>
                </a:lnTo>
                <a:lnTo>
                  <a:pt x="1048785" y="20598"/>
                </a:lnTo>
                <a:lnTo>
                  <a:pt x="1069323" y="56346"/>
                </a:lnTo>
                <a:lnTo>
                  <a:pt x="1071372" y="257810"/>
                </a:lnTo>
                <a:lnTo>
                  <a:pt x="1071372" y="368300"/>
                </a:lnTo>
                <a:lnTo>
                  <a:pt x="1069945" y="382788"/>
                </a:lnTo>
                <a:lnTo>
                  <a:pt x="1065850" y="396316"/>
                </a:lnTo>
                <a:lnTo>
                  <a:pt x="1040316" y="428382"/>
                </a:lnTo>
                <a:lnTo>
                  <a:pt x="1000706" y="441900"/>
                </a:lnTo>
                <a:lnTo>
                  <a:pt x="446404" y="441960"/>
                </a:lnTo>
                <a:lnTo>
                  <a:pt x="498983" y="441960"/>
                </a:lnTo>
                <a:lnTo>
                  <a:pt x="178562" y="441960"/>
                </a:lnTo>
                <a:lnTo>
                  <a:pt x="73660" y="441960"/>
                </a:lnTo>
                <a:lnTo>
                  <a:pt x="59181" y="440535"/>
                </a:lnTo>
                <a:lnTo>
                  <a:pt x="22586" y="421361"/>
                </a:lnTo>
                <a:lnTo>
                  <a:pt x="2048" y="385613"/>
                </a:lnTo>
                <a:lnTo>
                  <a:pt x="0" y="368300"/>
                </a:lnTo>
                <a:lnTo>
                  <a:pt x="0" y="257810"/>
                </a:lnTo>
                <a:lnTo>
                  <a:pt x="0" y="73660"/>
                </a:lnTo>
                <a:close/>
              </a:path>
            </a:pathLst>
          </a:custGeom>
          <a:ln w="28955">
            <a:solidFill>
              <a:srgbClr val="000000"/>
            </a:solidFill>
          </a:ln>
        </p:spPr>
        <p:txBody>
          <a:bodyPr wrap="square" lIns="0" tIns="0" rIns="0" bIns="0" rtlCol="0"/>
          <a:lstStyle/>
          <a:p>
            <a:endParaRPr/>
          </a:p>
        </p:txBody>
      </p:sp>
      <p:sp>
        <p:nvSpPr>
          <p:cNvPr id="13" name="object 13"/>
          <p:cNvSpPr/>
          <p:nvPr/>
        </p:nvSpPr>
        <p:spPr>
          <a:xfrm>
            <a:off x="8530590" y="191262"/>
            <a:ext cx="3403600" cy="1297305"/>
          </a:xfrm>
          <a:custGeom>
            <a:avLst/>
            <a:gdLst/>
            <a:ahLst/>
            <a:cxnLst/>
            <a:rect l="l" t="t" r="r" b="b"/>
            <a:pathLst>
              <a:path w="3403600" h="1297305">
                <a:moveTo>
                  <a:pt x="3186937" y="0"/>
                </a:moveTo>
                <a:lnTo>
                  <a:pt x="216153" y="0"/>
                </a:lnTo>
                <a:lnTo>
                  <a:pt x="198425" y="716"/>
                </a:lnTo>
                <a:lnTo>
                  <a:pt x="147832" y="11019"/>
                </a:lnTo>
                <a:lnTo>
                  <a:pt x="102292" y="32384"/>
                </a:lnTo>
                <a:lnTo>
                  <a:pt x="63309" y="63309"/>
                </a:lnTo>
                <a:lnTo>
                  <a:pt x="32384" y="102292"/>
                </a:lnTo>
                <a:lnTo>
                  <a:pt x="11019" y="147832"/>
                </a:lnTo>
                <a:lnTo>
                  <a:pt x="716" y="198425"/>
                </a:lnTo>
                <a:lnTo>
                  <a:pt x="0" y="216154"/>
                </a:lnTo>
                <a:lnTo>
                  <a:pt x="0" y="1080770"/>
                </a:lnTo>
                <a:lnTo>
                  <a:pt x="6281" y="1132714"/>
                </a:lnTo>
                <a:lnTo>
                  <a:pt x="24126" y="1180105"/>
                </a:lnTo>
                <a:lnTo>
                  <a:pt x="52031" y="1221441"/>
                </a:lnTo>
                <a:lnTo>
                  <a:pt x="88495" y="1255219"/>
                </a:lnTo>
                <a:lnTo>
                  <a:pt x="132016" y="1279937"/>
                </a:lnTo>
                <a:lnTo>
                  <a:pt x="181092" y="1294094"/>
                </a:lnTo>
                <a:lnTo>
                  <a:pt x="216153" y="1296924"/>
                </a:lnTo>
                <a:lnTo>
                  <a:pt x="3186937" y="1296924"/>
                </a:lnTo>
                <a:lnTo>
                  <a:pt x="3238882" y="1290642"/>
                </a:lnTo>
                <a:lnTo>
                  <a:pt x="3286273" y="1272797"/>
                </a:lnTo>
                <a:lnTo>
                  <a:pt x="3327609" y="1244892"/>
                </a:lnTo>
                <a:lnTo>
                  <a:pt x="3361387" y="1208428"/>
                </a:lnTo>
                <a:lnTo>
                  <a:pt x="3386105" y="1164907"/>
                </a:lnTo>
                <a:lnTo>
                  <a:pt x="3400262" y="1115831"/>
                </a:lnTo>
                <a:lnTo>
                  <a:pt x="3403091" y="1080770"/>
                </a:lnTo>
                <a:lnTo>
                  <a:pt x="3403091" y="216154"/>
                </a:lnTo>
                <a:lnTo>
                  <a:pt x="3396810" y="164209"/>
                </a:lnTo>
                <a:lnTo>
                  <a:pt x="3378965" y="116818"/>
                </a:lnTo>
                <a:lnTo>
                  <a:pt x="3351060" y="75482"/>
                </a:lnTo>
                <a:lnTo>
                  <a:pt x="3314596" y="41704"/>
                </a:lnTo>
                <a:lnTo>
                  <a:pt x="3271075" y="16986"/>
                </a:lnTo>
                <a:lnTo>
                  <a:pt x="3221999" y="2829"/>
                </a:lnTo>
                <a:lnTo>
                  <a:pt x="3186937" y="0"/>
                </a:lnTo>
                <a:close/>
              </a:path>
            </a:pathLst>
          </a:custGeom>
          <a:solidFill>
            <a:srgbClr val="FFFFC7"/>
          </a:solidFill>
        </p:spPr>
        <p:txBody>
          <a:bodyPr wrap="square" lIns="0" tIns="0" rIns="0" bIns="0" rtlCol="0"/>
          <a:lstStyle/>
          <a:p>
            <a:endParaRPr/>
          </a:p>
        </p:txBody>
      </p:sp>
      <p:sp>
        <p:nvSpPr>
          <p:cNvPr id="14" name="object 14"/>
          <p:cNvSpPr/>
          <p:nvPr/>
        </p:nvSpPr>
        <p:spPr>
          <a:xfrm>
            <a:off x="8530590" y="191262"/>
            <a:ext cx="3403600" cy="1297305"/>
          </a:xfrm>
          <a:custGeom>
            <a:avLst/>
            <a:gdLst/>
            <a:ahLst/>
            <a:cxnLst/>
            <a:rect l="l" t="t" r="r" b="b"/>
            <a:pathLst>
              <a:path w="3403600" h="1297305">
                <a:moveTo>
                  <a:pt x="0" y="216154"/>
                </a:moveTo>
                <a:lnTo>
                  <a:pt x="6281" y="164209"/>
                </a:lnTo>
                <a:lnTo>
                  <a:pt x="24126" y="116818"/>
                </a:lnTo>
                <a:lnTo>
                  <a:pt x="52031" y="75482"/>
                </a:lnTo>
                <a:lnTo>
                  <a:pt x="88495" y="41704"/>
                </a:lnTo>
                <a:lnTo>
                  <a:pt x="132016" y="16986"/>
                </a:lnTo>
                <a:lnTo>
                  <a:pt x="181092" y="2829"/>
                </a:lnTo>
                <a:lnTo>
                  <a:pt x="216153" y="0"/>
                </a:lnTo>
                <a:lnTo>
                  <a:pt x="567181" y="0"/>
                </a:lnTo>
                <a:lnTo>
                  <a:pt x="1417954" y="0"/>
                </a:lnTo>
                <a:lnTo>
                  <a:pt x="3186937" y="0"/>
                </a:lnTo>
                <a:lnTo>
                  <a:pt x="3204666" y="716"/>
                </a:lnTo>
                <a:lnTo>
                  <a:pt x="3255259" y="11019"/>
                </a:lnTo>
                <a:lnTo>
                  <a:pt x="3300799" y="32384"/>
                </a:lnTo>
                <a:lnTo>
                  <a:pt x="3339782" y="63309"/>
                </a:lnTo>
                <a:lnTo>
                  <a:pt x="3370707" y="102292"/>
                </a:lnTo>
                <a:lnTo>
                  <a:pt x="3392072" y="147832"/>
                </a:lnTo>
                <a:lnTo>
                  <a:pt x="3402375" y="198425"/>
                </a:lnTo>
                <a:lnTo>
                  <a:pt x="3403091" y="216154"/>
                </a:lnTo>
                <a:lnTo>
                  <a:pt x="3403091" y="756539"/>
                </a:lnTo>
                <a:lnTo>
                  <a:pt x="3403091" y="1080770"/>
                </a:lnTo>
                <a:lnTo>
                  <a:pt x="3402375" y="1098498"/>
                </a:lnTo>
                <a:lnTo>
                  <a:pt x="3400262" y="1115831"/>
                </a:lnTo>
                <a:lnTo>
                  <a:pt x="3386105" y="1164907"/>
                </a:lnTo>
                <a:lnTo>
                  <a:pt x="3361387" y="1208428"/>
                </a:lnTo>
                <a:lnTo>
                  <a:pt x="3327609" y="1244892"/>
                </a:lnTo>
                <a:lnTo>
                  <a:pt x="3286273" y="1272797"/>
                </a:lnTo>
                <a:lnTo>
                  <a:pt x="3238882" y="1290642"/>
                </a:lnTo>
                <a:lnTo>
                  <a:pt x="3186937" y="1296924"/>
                </a:lnTo>
                <a:lnTo>
                  <a:pt x="1417954" y="1296924"/>
                </a:lnTo>
                <a:lnTo>
                  <a:pt x="1584959" y="1296924"/>
                </a:lnTo>
                <a:lnTo>
                  <a:pt x="567181" y="1296924"/>
                </a:lnTo>
                <a:lnTo>
                  <a:pt x="216153" y="1296924"/>
                </a:lnTo>
                <a:lnTo>
                  <a:pt x="198425" y="1296207"/>
                </a:lnTo>
                <a:lnTo>
                  <a:pt x="147832" y="1285904"/>
                </a:lnTo>
                <a:lnTo>
                  <a:pt x="102292" y="1264539"/>
                </a:lnTo>
                <a:lnTo>
                  <a:pt x="63309" y="1233614"/>
                </a:lnTo>
                <a:lnTo>
                  <a:pt x="32384" y="1194631"/>
                </a:lnTo>
                <a:lnTo>
                  <a:pt x="11019" y="1149091"/>
                </a:lnTo>
                <a:lnTo>
                  <a:pt x="716" y="1098498"/>
                </a:lnTo>
                <a:lnTo>
                  <a:pt x="0" y="1080770"/>
                </a:lnTo>
                <a:lnTo>
                  <a:pt x="0" y="756539"/>
                </a:lnTo>
                <a:lnTo>
                  <a:pt x="0" y="216154"/>
                </a:lnTo>
                <a:close/>
              </a:path>
            </a:pathLst>
          </a:custGeom>
          <a:ln w="28956">
            <a:solidFill>
              <a:srgbClr val="000000"/>
            </a:solidFill>
          </a:ln>
        </p:spPr>
        <p:txBody>
          <a:bodyPr wrap="square" lIns="0" tIns="0" rIns="0" bIns="0" rtlCol="0"/>
          <a:lstStyle/>
          <a:p>
            <a:endParaRPr/>
          </a:p>
        </p:txBody>
      </p:sp>
      <p:sp>
        <p:nvSpPr>
          <p:cNvPr id="15" name="object 15"/>
          <p:cNvSpPr txBox="1"/>
          <p:nvPr/>
        </p:nvSpPr>
        <p:spPr>
          <a:xfrm>
            <a:off x="7735951" y="1039677"/>
            <a:ext cx="4025265" cy="3647440"/>
          </a:xfrm>
          <a:prstGeom prst="rect">
            <a:avLst/>
          </a:prstGeom>
        </p:spPr>
        <p:txBody>
          <a:bodyPr vert="horz" wrap="square" lIns="0" tIns="0" rIns="0" bIns="0" rtlCol="0">
            <a:spAutoFit/>
          </a:bodyPr>
          <a:lstStyle/>
          <a:p>
            <a:pPr marL="1838325" indent="-889635">
              <a:lnSpc>
                <a:spcPct val="100000"/>
              </a:lnSpc>
            </a:pPr>
            <a:r>
              <a:rPr sz="2400" b="1" spc="-5" dirty="0">
                <a:latin typeface="宋体"/>
                <a:cs typeface="宋体"/>
              </a:rPr>
              <a:t>等效于不同的平均电压</a:t>
            </a:r>
            <a:endParaRPr sz="2400">
              <a:latin typeface="宋体"/>
              <a:cs typeface="宋体"/>
            </a:endParaRPr>
          </a:p>
          <a:p>
            <a:pPr>
              <a:lnSpc>
                <a:spcPct val="100000"/>
              </a:lnSpc>
            </a:pPr>
            <a:endParaRPr sz="2400">
              <a:latin typeface="Times New Roman"/>
              <a:cs typeface="Times New Roman"/>
            </a:endParaRPr>
          </a:p>
          <a:p>
            <a:pPr>
              <a:lnSpc>
                <a:spcPct val="100000"/>
              </a:lnSpc>
              <a:spcBef>
                <a:spcPts val="38"/>
              </a:spcBef>
            </a:pPr>
            <a:endParaRPr sz="3250">
              <a:latin typeface="Times New Roman"/>
              <a:cs typeface="Times New Roman"/>
            </a:endParaRPr>
          </a:p>
          <a:p>
            <a:pPr marL="490855" algn="ctr">
              <a:lnSpc>
                <a:spcPct val="100000"/>
              </a:lnSpc>
            </a:pPr>
            <a:r>
              <a:rPr sz="2400" b="1" spc="-5" dirty="0">
                <a:latin typeface="Consolas"/>
                <a:cs typeface="Consolas"/>
              </a:rPr>
              <a:t>1.</a:t>
            </a:r>
            <a:r>
              <a:rPr sz="2400" b="1" spc="0" dirty="0">
                <a:latin typeface="Consolas"/>
                <a:cs typeface="Consolas"/>
              </a:rPr>
              <a:t>6</a:t>
            </a:r>
            <a:r>
              <a:rPr sz="2400" b="1" spc="-5" dirty="0">
                <a:latin typeface="Consolas"/>
                <a:cs typeface="Consolas"/>
              </a:rPr>
              <a:t>5V</a:t>
            </a:r>
            <a:endParaRPr sz="2400">
              <a:latin typeface="Consolas"/>
              <a:cs typeface="Consolas"/>
            </a:endParaRPr>
          </a:p>
          <a:p>
            <a:pPr>
              <a:lnSpc>
                <a:spcPct val="100000"/>
              </a:lnSpc>
              <a:spcBef>
                <a:spcPts val="30"/>
              </a:spcBef>
            </a:pPr>
            <a:endParaRPr sz="3250">
              <a:latin typeface="Times New Roman"/>
              <a:cs typeface="Times New Roman"/>
            </a:endParaRPr>
          </a:p>
          <a:p>
            <a:pPr marL="12700">
              <a:lnSpc>
                <a:spcPct val="100000"/>
              </a:lnSpc>
            </a:pPr>
            <a:r>
              <a:rPr sz="2400" b="1" spc="-5" dirty="0">
                <a:latin typeface="宋体"/>
                <a:cs typeface="宋体"/>
              </a:rPr>
              <a:t>平均电</a:t>
            </a:r>
            <a:r>
              <a:rPr sz="2400" b="1" spc="-10" dirty="0">
                <a:latin typeface="宋体"/>
                <a:cs typeface="宋体"/>
              </a:rPr>
              <a:t>压</a:t>
            </a:r>
            <a:r>
              <a:rPr sz="2400" b="1" spc="130" dirty="0">
                <a:latin typeface="宋体"/>
                <a:cs typeface="宋体"/>
              </a:rPr>
              <a:t> </a:t>
            </a:r>
            <a:r>
              <a:rPr sz="2400" b="1" dirty="0">
                <a:latin typeface="Consolas"/>
                <a:cs typeface="Consolas"/>
              </a:rPr>
              <a:t>=</a:t>
            </a:r>
            <a:r>
              <a:rPr sz="2400" b="1" spc="-5" dirty="0">
                <a:latin typeface="Consolas"/>
                <a:cs typeface="Consolas"/>
              </a:rPr>
              <a:t> </a:t>
            </a:r>
            <a:r>
              <a:rPr sz="2400" b="1" spc="-5" dirty="0">
                <a:latin typeface="宋体"/>
                <a:cs typeface="宋体"/>
              </a:rPr>
              <a:t>峰</a:t>
            </a:r>
            <a:r>
              <a:rPr sz="2400" b="1" spc="-10" dirty="0">
                <a:latin typeface="宋体"/>
                <a:cs typeface="宋体"/>
              </a:rPr>
              <a:t>值</a:t>
            </a:r>
            <a:r>
              <a:rPr sz="2400" b="1" spc="130" dirty="0">
                <a:latin typeface="宋体"/>
                <a:cs typeface="宋体"/>
              </a:rPr>
              <a:t> </a:t>
            </a:r>
            <a:r>
              <a:rPr sz="2400" b="1" dirty="0">
                <a:latin typeface="Consolas"/>
                <a:cs typeface="Consolas"/>
              </a:rPr>
              <a:t>x</a:t>
            </a:r>
            <a:r>
              <a:rPr sz="2400" b="1" spc="10" dirty="0">
                <a:latin typeface="Consolas"/>
                <a:cs typeface="Consolas"/>
              </a:rPr>
              <a:t> </a:t>
            </a:r>
            <a:r>
              <a:rPr sz="2400" b="1" spc="-5" dirty="0">
                <a:latin typeface="宋体"/>
                <a:cs typeface="宋体"/>
              </a:rPr>
              <a:t>占空比</a:t>
            </a:r>
            <a:endParaRPr sz="2400">
              <a:latin typeface="宋体"/>
              <a:cs typeface="宋体"/>
            </a:endParaRPr>
          </a:p>
          <a:p>
            <a:pPr>
              <a:lnSpc>
                <a:spcPct val="100000"/>
              </a:lnSpc>
            </a:pPr>
            <a:endParaRPr sz="2700">
              <a:latin typeface="Times New Roman"/>
              <a:cs typeface="Times New Roman"/>
            </a:endParaRPr>
          </a:p>
          <a:p>
            <a:pPr>
              <a:lnSpc>
                <a:spcPct val="100000"/>
              </a:lnSpc>
              <a:spcBef>
                <a:spcPts val="49"/>
              </a:spcBef>
            </a:pPr>
            <a:endParaRPr sz="3250">
              <a:latin typeface="Times New Roman"/>
              <a:cs typeface="Times New Roman"/>
            </a:endParaRPr>
          </a:p>
          <a:p>
            <a:pPr marL="490855" algn="ctr">
              <a:lnSpc>
                <a:spcPct val="100000"/>
              </a:lnSpc>
            </a:pPr>
            <a:r>
              <a:rPr sz="2400" b="1" spc="-5" dirty="0">
                <a:latin typeface="Consolas"/>
                <a:cs typeface="Consolas"/>
              </a:rPr>
              <a:t>0.</a:t>
            </a:r>
            <a:r>
              <a:rPr sz="2400" b="1" spc="0" dirty="0">
                <a:latin typeface="Consolas"/>
                <a:cs typeface="Consolas"/>
              </a:rPr>
              <a:t>6</a:t>
            </a:r>
            <a:r>
              <a:rPr sz="2400" b="1" spc="-5" dirty="0">
                <a:latin typeface="Consolas"/>
                <a:cs typeface="Consolas"/>
              </a:rPr>
              <a:t>6V</a:t>
            </a:r>
            <a:endParaRPr sz="2400">
              <a:latin typeface="Consolas"/>
              <a:cs typeface="Consolas"/>
            </a:endParaRPr>
          </a:p>
        </p:txBody>
      </p:sp>
      <p:sp>
        <p:nvSpPr>
          <p:cNvPr id="16" name="object 16"/>
          <p:cNvSpPr txBox="1"/>
          <p:nvPr/>
        </p:nvSpPr>
        <p:spPr>
          <a:xfrm>
            <a:off x="9561703" y="6026479"/>
            <a:ext cx="865505" cy="330835"/>
          </a:xfrm>
          <a:prstGeom prst="rect">
            <a:avLst/>
          </a:prstGeom>
        </p:spPr>
        <p:txBody>
          <a:bodyPr vert="horz" wrap="square" lIns="0" tIns="0" rIns="0" bIns="0" rtlCol="0">
            <a:spAutoFit/>
          </a:bodyPr>
          <a:lstStyle/>
          <a:p>
            <a:pPr marL="12700">
              <a:lnSpc>
                <a:spcPct val="100000"/>
              </a:lnSpc>
            </a:pPr>
            <a:r>
              <a:rPr sz="2400" b="1" dirty="0">
                <a:latin typeface="Consolas"/>
                <a:cs typeface="Consolas"/>
              </a:rPr>
              <a:t>2.</a:t>
            </a:r>
            <a:r>
              <a:rPr sz="2400" b="1" spc="5" dirty="0">
                <a:latin typeface="Consolas"/>
                <a:cs typeface="Consolas"/>
              </a:rPr>
              <a:t>6</a:t>
            </a:r>
            <a:r>
              <a:rPr sz="2400" b="1" dirty="0">
                <a:latin typeface="Consolas"/>
                <a:cs typeface="Consolas"/>
              </a:rPr>
              <a:t>4V</a:t>
            </a:r>
            <a:endParaRPr sz="2400">
              <a:latin typeface="Consolas"/>
              <a:cs typeface="Consolas"/>
            </a:endParaRPr>
          </a:p>
        </p:txBody>
      </p:sp>
      <p:sp>
        <p:nvSpPr>
          <p:cNvPr id="17" name="object 17"/>
          <p:cNvSpPr txBox="1"/>
          <p:nvPr/>
        </p:nvSpPr>
        <p:spPr>
          <a:xfrm>
            <a:off x="8672321" y="308419"/>
            <a:ext cx="2979420" cy="731520"/>
          </a:xfrm>
          <a:prstGeom prst="rect">
            <a:avLst/>
          </a:prstGeom>
        </p:spPr>
        <p:txBody>
          <a:bodyPr vert="horz" wrap="square" lIns="0" tIns="0" rIns="0" bIns="0" rtlCol="0">
            <a:spAutoFit/>
          </a:bodyPr>
          <a:lstStyle/>
          <a:p>
            <a:pPr marL="12700" marR="5080" indent="473709">
              <a:lnSpc>
                <a:spcPct val="100000"/>
              </a:lnSpc>
            </a:pPr>
            <a:r>
              <a:rPr sz="2400" b="1" dirty="0">
                <a:latin typeface="宋体"/>
                <a:cs typeface="宋体"/>
              </a:rPr>
              <a:t>电压调节的原理 不同占空比的</a:t>
            </a:r>
            <a:r>
              <a:rPr sz="2400" b="1" spc="-5" dirty="0">
                <a:latin typeface="Consolas"/>
                <a:cs typeface="Consolas"/>
              </a:rPr>
              <a:t>PWM</a:t>
            </a:r>
            <a:r>
              <a:rPr sz="2400" b="1" dirty="0">
                <a:latin typeface="宋体"/>
                <a:cs typeface="宋体"/>
              </a:rPr>
              <a:t>信号</a:t>
            </a:r>
            <a:endParaRPr sz="2400">
              <a:latin typeface="宋体"/>
              <a:cs typeface="宋体"/>
            </a:endParaRPr>
          </a:p>
        </p:txBody>
      </p:sp>
    </p:spTree>
    <p:extLst>
      <p:ext uri="{BB962C8B-B14F-4D97-AF65-F5344CB8AC3E}">
        <p14:creationId xmlns:p14="http://schemas.microsoft.com/office/powerpoint/2010/main" val="274414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5" name="object 5"/>
          <p:cNvSpPr txBox="1"/>
          <p:nvPr/>
        </p:nvSpPr>
        <p:spPr>
          <a:xfrm>
            <a:off x="4789678" y="1154105"/>
            <a:ext cx="251142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定时器通道结构</a:t>
            </a:r>
            <a:endParaRPr sz="2800">
              <a:latin typeface="微软雅黑"/>
              <a:cs typeface="微软雅黑"/>
            </a:endParaRPr>
          </a:p>
        </p:txBody>
      </p:sp>
      <p:sp>
        <p:nvSpPr>
          <p:cNvPr id="6" name="object 6"/>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p:nvPr/>
        </p:nvSpPr>
        <p:spPr>
          <a:xfrm>
            <a:off x="5298947" y="3166872"/>
            <a:ext cx="877824" cy="487679"/>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3349752" y="3398520"/>
            <a:ext cx="1953005" cy="60274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3338321" y="3387090"/>
            <a:ext cx="1926336" cy="576072"/>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3338321" y="3387090"/>
            <a:ext cx="1926589" cy="576580"/>
          </a:xfrm>
          <a:custGeom>
            <a:avLst/>
            <a:gdLst/>
            <a:ahLst/>
            <a:cxnLst/>
            <a:rect l="l" t="t" r="r" b="b"/>
            <a:pathLst>
              <a:path w="1926589" h="576579">
                <a:moveTo>
                  <a:pt x="0" y="576072"/>
                </a:moveTo>
                <a:lnTo>
                  <a:pt x="1926336" y="576072"/>
                </a:lnTo>
                <a:lnTo>
                  <a:pt x="1926336" y="0"/>
                </a:lnTo>
                <a:lnTo>
                  <a:pt x="0" y="0"/>
                </a:lnTo>
                <a:lnTo>
                  <a:pt x="0" y="576072"/>
                </a:lnTo>
                <a:close/>
              </a:path>
            </a:pathLst>
          </a:custGeom>
          <a:ln w="25908">
            <a:solidFill>
              <a:srgbClr val="FFFFFF"/>
            </a:solidFill>
          </a:ln>
        </p:spPr>
        <p:txBody>
          <a:bodyPr wrap="square" lIns="0" tIns="0" rIns="0" bIns="0" rtlCol="0"/>
          <a:lstStyle/>
          <a:p>
            <a:endParaRPr/>
          </a:p>
        </p:txBody>
      </p:sp>
      <p:sp>
        <p:nvSpPr>
          <p:cNvPr id="15" name="object 15"/>
          <p:cNvSpPr/>
          <p:nvPr/>
        </p:nvSpPr>
        <p:spPr>
          <a:xfrm>
            <a:off x="6076188" y="3398520"/>
            <a:ext cx="1951482" cy="602741"/>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6064758" y="3387090"/>
            <a:ext cx="1924812" cy="576072"/>
          </a:xfrm>
          <a:prstGeom prst="rect">
            <a:avLst/>
          </a:prstGeom>
          <a:blipFill>
            <a:blip r:embed="rId6" cstate="print"/>
            <a:stretch>
              <a:fillRect/>
            </a:stretch>
          </a:blipFill>
        </p:spPr>
        <p:txBody>
          <a:bodyPr wrap="square" lIns="0" tIns="0" rIns="0" bIns="0" rtlCol="0"/>
          <a:lstStyle/>
          <a:p>
            <a:endParaRPr/>
          </a:p>
        </p:txBody>
      </p:sp>
      <p:sp>
        <p:nvSpPr>
          <p:cNvPr id="17" name="object 17"/>
          <p:cNvSpPr/>
          <p:nvPr/>
        </p:nvSpPr>
        <p:spPr>
          <a:xfrm>
            <a:off x="6064758" y="3387090"/>
            <a:ext cx="1925320" cy="576580"/>
          </a:xfrm>
          <a:custGeom>
            <a:avLst/>
            <a:gdLst/>
            <a:ahLst/>
            <a:cxnLst/>
            <a:rect l="l" t="t" r="r" b="b"/>
            <a:pathLst>
              <a:path w="1925320" h="576579">
                <a:moveTo>
                  <a:pt x="0" y="576072"/>
                </a:moveTo>
                <a:lnTo>
                  <a:pt x="1924812" y="576072"/>
                </a:lnTo>
                <a:lnTo>
                  <a:pt x="1924812" y="0"/>
                </a:lnTo>
                <a:lnTo>
                  <a:pt x="0" y="0"/>
                </a:lnTo>
                <a:lnTo>
                  <a:pt x="0" y="576072"/>
                </a:lnTo>
                <a:close/>
              </a:path>
            </a:pathLst>
          </a:custGeom>
          <a:ln w="25908">
            <a:solidFill>
              <a:srgbClr val="FFFFFF"/>
            </a:solidFill>
          </a:ln>
        </p:spPr>
        <p:txBody>
          <a:bodyPr wrap="square" lIns="0" tIns="0" rIns="0" bIns="0" rtlCol="0"/>
          <a:lstStyle/>
          <a:p>
            <a:endParaRPr/>
          </a:p>
        </p:txBody>
      </p:sp>
      <p:sp>
        <p:nvSpPr>
          <p:cNvPr id="18" name="object 18"/>
          <p:cNvSpPr/>
          <p:nvPr/>
        </p:nvSpPr>
        <p:spPr>
          <a:xfrm>
            <a:off x="6859523" y="2604516"/>
            <a:ext cx="318770" cy="687705"/>
          </a:xfrm>
          <a:custGeom>
            <a:avLst/>
            <a:gdLst/>
            <a:ahLst/>
            <a:cxnLst/>
            <a:rect l="l" t="t" r="r" b="b"/>
            <a:pathLst>
              <a:path w="318770" h="687704">
                <a:moveTo>
                  <a:pt x="318516" y="528066"/>
                </a:moveTo>
                <a:lnTo>
                  <a:pt x="0" y="528066"/>
                </a:lnTo>
                <a:lnTo>
                  <a:pt x="159257" y="687324"/>
                </a:lnTo>
                <a:lnTo>
                  <a:pt x="318516" y="528066"/>
                </a:lnTo>
                <a:close/>
              </a:path>
              <a:path w="318770" h="687704">
                <a:moveTo>
                  <a:pt x="238886" y="0"/>
                </a:moveTo>
                <a:lnTo>
                  <a:pt x="79628" y="0"/>
                </a:lnTo>
                <a:lnTo>
                  <a:pt x="79628" y="528066"/>
                </a:lnTo>
                <a:lnTo>
                  <a:pt x="238886" y="528066"/>
                </a:lnTo>
                <a:lnTo>
                  <a:pt x="238886" y="0"/>
                </a:lnTo>
                <a:close/>
              </a:path>
            </a:pathLst>
          </a:custGeom>
          <a:solidFill>
            <a:srgbClr val="EC7C30"/>
          </a:solidFill>
        </p:spPr>
        <p:txBody>
          <a:bodyPr wrap="square" lIns="0" tIns="0" rIns="0" bIns="0" rtlCol="0"/>
          <a:lstStyle/>
          <a:p>
            <a:endParaRPr/>
          </a:p>
        </p:txBody>
      </p:sp>
      <p:sp>
        <p:nvSpPr>
          <p:cNvPr id="19" name="object 19"/>
          <p:cNvSpPr/>
          <p:nvPr/>
        </p:nvSpPr>
        <p:spPr>
          <a:xfrm>
            <a:off x="6859523" y="2604516"/>
            <a:ext cx="318770" cy="687705"/>
          </a:xfrm>
          <a:custGeom>
            <a:avLst/>
            <a:gdLst/>
            <a:ahLst/>
            <a:cxnLst/>
            <a:rect l="l" t="t" r="r" b="b"/>
            <a:pathLst>
              <a:path w="318770" h="687704">
                <a:moveTo>
                  <a:pt x="0" y="528066"/>
                </a:moveTo>
                <a:lnTo>
                  <a:pt x="79628" y="528066"/>
                </a:lnTo>
                <a:lnTo>
                  <a:pt x="79628" y="0"/>
                </a:lnTo>
                <a:lnTo>
                  <a:pt x="238886" y="0"/>
                </a:lnTo>
                <a:lnTo>
                  <a:pt x="238886" y="528066"/>
                </a:lnTo>
                <a:lnTo>
                  <a:pt x="318516" y="528066"/>
                </a:lnTo>
                <a:lnTo>
                  <a:pt x="159257" y="687324"/>
                </a:lnTo>
                <a:lnTo>
                  <a:pt x="0" y="528066"/>
                </a:lnTo>
                <a:close/>
              </a:path>
            </a:pathLst>
          </a:custGeom>
          <a:ln w="12192">
            <a:solidFill>
              <a:srgbClr val="EC7C30"/>
            </a:solidFill>
          </a:ln>
        </p:spPr>
        <p:txBody>
          <a:bodyPr wrap="square" lIns="0" tIns="0" rIns="0" bIns="0" rtlCol="0"/>
          <a:lstStyle/>
          <a:p>
            <a:endParaRPr/>
          </a:p>
        </p:txBody>
      </p:sp>
      <p:sp>
        <p:nvSpPr>
          <p:cNvPr id="20" name="object 20"/>
          <p:cNvSpPr/>
          <p:nvPr/>
        </p:nvSpPr>
        <p:spPr>
          <a:xfrm>
            <a:off x="6859523" y="3957828"/>
            <a:ext cx="318770" cy="715010"/>
          </a:xfrm>
          <a:custGeom>
            <a:avLst/>
            <a:gdLst/>
            <a:ahLst/>
            <a:cxnLst/>
            <a:rect l="l" t="t" r="r" b="b"/>
            <a:pathLst>
              <a:path w="318770" h="715010">
                <a:moveTo>
                  <a:pt x="318516" y="555498"/>
                </a:moveTo>
                <a:lnTo>
                  <a:pt x="0" y="555498"/>
                </a:lnTo>
                <a:lnTo>
                  <a:pt x="159257" y="714756"/>
                </a:lnTo>
                <a:lnTo>
                  <a:pt x="318516" y="555498"/>
                </a:lnTo>
                <a:close/>
              </a:path>
              <a:path w="318770" h="715010">
                <a:moveTo>
                  <a:pt x="238886" y="0"/>
                </a:moveTo>
                <a:lnTo>
                  <a:pt x="79628" y="0"/>
                </a:lnTo>
                <a:lnTo>
                  <a:pt x="79628" y="555498"/>
                </a:lnTo>
                <a:lnTo>
                  <a:pt x="238886" y="555498"/>
                </a:lnTo>
                <a:lnTo>
                  <a:pt x="238886" y="0"/>
                </a:lnTo>
                <a:close/>
              </a:path>
            </a:pathLst>
          </a:custGeom>
          <a:solidFill>
            <a:srgbClr val="EC7C30"/>
          </a:solidFill>
        </p:spPr>
        <p:txBody>
          <a:bodyPr wrap="square" lIns="0" tIns="0" rIns="0" bIns="0" rtlCol="0"/>
          <a:lstStyle/>
          <a:p>
            <a:endParaRPr/>
          </a:p>
        </p:txBody>
      </p:sp>
      <p:sp>
        <p:nvSpPr>
          <p:cNvPr id="21" name="object 21"/>
          <p:cNvSpPr/>
          <p:nvPr/>
        </p:nvSpPr>
        <p:spPr>
          <a:xfrm>
            <a:off x="6859523" y="3957828"/>
            <a:ext cx="318770" cy="715010"/>
          </a:xfrm>
          <a:custGeom>
            <a:avLst/>
            <a:gdLst/>
            <a:ahLst/>
            <a:cxnLst/>
            <a:rect l="l" t="t" r="r" b="b"/>
            <a:pathLst>
              <a:path w="318770" h="715010">
                <a:moveTo>
                  <a:pt x="0" y="555498"/>
                </a:moveTo>
                <a:lnTo>
                  <a:pt x="79628" y="555498"/>
                </a:lnTo>
                <a:lnTo>
                  <a:pt x="79628" y="0"/>
                </a:lnTo>
                <a:lnTo>
                  <a:pt x="238886" y="0"/>
                </a:lnTo>
                <a:lnTo>
                  <a:pt x="238886" y="555498"/>
                </a:lnTo>
                <a:lnTo>
                  <a:pt x="318516" y="555498"/>
                </a:lnTo>
                <a:lnTo>
                  <a:pt x="159257" y="714756"/>
                </a:lnTo>
                <a:lnTo>
                  <a:pt x="0" y="555498"/>
                </a:lnTo>
                <a:close/>
              </a:path>
            </a:pathLst>
          </a:custGeom>
          <a:ln w="12192">
            <a:solidFill>
              <a:srgbClr val="EC7C30"/>
            </a:solidFill>
          </a:ln>
        </p:spPr>
        <p:txBody>
          <a:bodyPr wrap="square" lIns="0" tIns="0" rIns="0" bIns="0" rtlCol="0"/>
          <a:lstStyle/>
          <a:p>
            <a:endParaRPr/>
          </a:p>
        </p:txBody>
      </p:sp>
      <p:sp>
        <p:nvSpPr>
          <p:cNvPr id="22" name="object 22"/>
          <p:cNvSpPr/>
          <p:nvPr/>
        </p:nvSpPr>
        <p:spPr>
          <a:xfrm>
            <a:off x="6076188" y="1981200"/>
            <a:ext cx="1951482" cy="601217"/>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6064758" y="1969770"/>
            <a:ext cx="1924812" cy="574548"/>
          </a:xfrm>
          <a:prstGeom prst="rect">
            <a:avLst/>
          </a:prstGeom>
          <a:blipFill>
            <a:blip r:embed="rId6" cstate="print"/>
            <a:stretch>
              <a:fillRect/>
            </a:stretch>
          </a:blipFill>
        </p:spPr>
        <p:txBody>
          <a:bodyPr wrap="square" lIns="0" tIns="0" rIns="0" bIns="0" rtlCol="0"/>
          <a:lstStyle/>
          <a:p>
            <a:endParaRPr/>
          </a:p>
        </p:txBody>
      </p:sp>
      <p:sp>
        <p:nvSpPr>
          <p:cNvPr id="24" name="object 24"/>
          <p:cNvSpPr/>
          <p:nvPr/>
        </p:nvSpPr>
        <p:spPr>
          <a:xfrm>
            <a:off x="6064758" y="1969770"/>
            <a:ext cx="1925320" cy="574675"/>
          </a:xfrm>
          <a:custGeom>
            <a:avLst/>
            <a:gdLst/>
            <a:ahLst/>
            <a:cxnLst/>
            <a:rect l="l" t="t" r="r" b="b"/>
            <a:pathLst>
              <a:path w="1925320" h="574675">
                <a:moveTo>
                  <a:pt x="0" y="574548"/>
                </a:moveTo>
                <a:lnTo>
                  <a:pt x="1924812" y="574548"/>
                </a:lnTo>
                <a:lnTo>
                  <a:pt x="1924812" y="0"/>
                </a:lnTo>
                <a:lnTo>
                  <a:pt x="0" y="0"/>
                </a:lnTo>
                <a:lnTo>
                  <a:pt x="0" y="574548"/>
                </a:lnTo>
                <a:close/>
              </a:path>
            </a:pathLst>
          </a:custGeom>
          <a:ln w="25907">
            <a:solidFill>
              <a:srgbClr val="FFFFFF"/>
            </a:solidFill>
          </a:ln>
        </p:spPr>
        <p:txBody>
          <a:bodyPr wrap="square" lIns="0" tIns="0" rIns="0" bIns="0" rtlCol="0"/>
          <a:lstStyle/>
          <a:p>
            <a:endParaRPr/>
          </a:p>
        </p:txBody>
      </p:sp>
      <p:sp>
        <p:nvSpPr>
          <p:cNvPr id="25" name="object 25"/>
          <p:cNvSpPr/>
          <p:nvPr/>
        </p:nvSpPr>
        <p:spPr>
          <a:xfrm>
            <a:off x="5759450" y="5571490"/>
            <a:ext cx="2585085" cy="0"/>
          </a:xfrm>
          <a:custGeom>
            <a:avLst/>
            <a:gdLst/>
            <a:ahLst/>
            <a:cxnLst/>
            <a:rect l="l" t="t" r="r" b="b"/>
            <a:pathLst>
              <a:path w="2585084">
                <a:moveTo>
                  <a:pt x="0" y="0"/>
                </a:moveTo>
                <a:lnTo>
                  <a:pt x="2584704" y="0"/>
                </a:lnTo>
              </a:path>
            </a:pathLst>
          </a:custGeom>
          <a:ln w="25400">
            <a:solidFill>
              <a:srgbClr val="E7E6E6"/>
            </a:solidFill>
          </a:ln>
        </p:spPr>
        <p:txBody>
          <a:bodyPr wrap="square" lIns="0" tIns="0" rIns="0" bIns="0" rtlCol="0"/>
          <a:lstStyle/>
          <a:p>
            <a:endParaRPr/>
          </a:p>
        </p:txBody>
      </p:sp>
      <p:sp>
        <p:nvSpPr>
          <p:cNvPr id="26" name="object 26"/>
          <p:cNvSpPr/>
          <p:nvPr/>
        </p:nvSpPr>
        <p:spPr>
          <a:xfrm>
            <a:off x="8331454" y="4752340"/>
            <a:ext cx="0" cy="806450"/>
          </a:xfrm>
          <a:custGeom>
            <a:avLst/>
            <a:gdLst/>
            <a:ahLst/>
            <a:cxnLst/>
            <a:rect l="l" t="t" r="r" b="b"/>
            <a:pathLst>
              <a:path h="806450">
                <a:moveTo>
                  <a:pt x="0" y="0"/>
                </a:moveTo>
                <a:lnTo>
                  <a:pt x="0" y="806450"/>
                </a:lnTo>
              </a:path>
            </a:pathLst>
          </a:custGeom>
          <a:ln w="25400">
            <a:solidFill>
              <a:srgbClr val="E7E6E6"/>
            </a:solidFill>
          </a:ln>
        </p:spPr>
        <p:txBody>
          <a:bodyPr wrap="square" lIns="0" tIns="0" rIns="0" bIns="0" rtlCol="0"/>
          <a:lstStyle/>
          <a:p>
            <a:endParaRPr/>
          </a:p>
        </p:txBody>
      </p:sp>
      <p:sp>
        <p:nvSpPr>
          <p:cNvPr id="27" name="object 27"/>
          <p:cNvSpPr/>
          <p:nvPr/>
        </p:nvSpPr>
        <p:spPr>
          <a:xfrm>
            <a:off x="5746496" y="5584190"/>
            <a:ext cx="2611120" cy="0"/>
          </a:xfrm>
          <a:custGeom>
            <a:avLst/>
            <a:gdLst/>
            <a:ahLst/>
            <a:cxnLst/>
            <a:rect l="l" t="t" r="r" b="b"/>
            <a:pathLst>
              <a:path w="2611120">
                <a:moveTo>
                  <a:pt x="0" y="0"/>
                </a:moveTo>
                <a:lnTo>
                  <a:pt x="2610611" y="0"/>
                </a:lnTo>
              </a:path>
            </a:pathLst>
          </a:custGeom>
          <a:ln w="25400">
            <a:solidFill>
              <a:srgbClr val="E7E6E6"/>
            </a:solidFill>
          </a:ln>
        </p:spPr>
        <p:txBody>
          <a:bodyPr wrap="square" lIns="0" tIns="0" rIns="0" bIns="0" rtlCol="0"/>
          <a:lstStyle/>
          <a:p>
            <a:endParaRPr/>
          </a:p>
        </p:txBody>
      </p:sp>
      <p:sp>
        <p:nvSpPr>
          <p:cNvPr id="28" name="object 28"/>
          <p:cNvSpPr/>
          <p:nvPr/>
        </p:nvSpPr>
        <p:spPr>
          <a:xfrm>
            <a:off x="5746496" y="5565140"/>
            <a:ext cx="26034" cy="0"/>
          </a:xfrm>
          <a:custGeom>
            <a:avLst/>
            <a:gdLst/>
            <a:ahLst/>
            <a:cxnLst/>
            <a:rect l="l" t="t" r="r" b="b"/>
            <a:pathLst>
              <a:path w="26035">
                <a:moveTo>
                  <a:pt x="0" y="0"/>
                </a:moveTo>
                <a:lnTo>
                  <a:pt x="25907" y="0"/>
                </a:lnTo>
              </a:path>
            </a:pathLst>
          </a:custGeom>
          <a:ln w="12700">
            <a:solidFill>
              <a:srgbClr val="E7E6E6"/>
            </a:solidFill>
          </a:ln>
        </p:spPr>
        <p:txBody>
          <a:bodyPr wrap="square" lIns="0" tIns="0" rIns="0" bIns="0" rtlCol="0"/>
          <a:lstStyle/>
          <a:p>
            <a:endParaRPr/>
          </a:p>
        </p:txBody>
      </p:sp>
      <p:sp>
        <p:nvSpPr>
          <p:cNvPr id="29" name="object 29"/>
          <p:cNvSpPr/>
          <p:nvPr/>
        </p:nvSpPr>
        <p:spPr>
          <a:xfrm>
            <a:off x="8344154" y="4765040"/>
            <a:ext cx="0" cy="806450"/>
          </a:xfrm>
          <a:custGeom>
            <a:avLst/>
            <a:gdLst/>
            <a:ahLst/>
            <a:cxnLst/>
            <a:rect l="l" t="t" r="r" b="b"/>
            <a:pathLst>
              <a:path h="806450">
                <a:moveTo>
                  <a:pt x="0" y="0"/>
                </a:moveTo>
                <a:lnTo>
                  <a:pt x="0" y="806450"/>
                </a:lnTo>
              </a:path>
            </a:pathLst>
          </a:custGeom>
          <a:ln w="25907">
            <a:solidFill>
              <a:srgbClr val="E7E6E6"/>
            </a:solidFill>
          </a:ln>
        </p:spPr>
        <p:txBody>
          <a:bodyPr wrap="square" lIns="0" tIns="0" rIns="0" bIns="0" rtlCol="0"/>
          <a:lstStyle/>
          <a:p>
            <a:endParaRPr/>
          </a:p>
        </p:txBody>
      </p:sp>
      <p:sp>
        <p:nvSpPr>
          <p:cNvPr id="30" name="object 30"/>
          <p:cNvSpPr/>
          <p:nvPr/>
        </p:nvSpPr>
        <p:spPr>
          <a:xfrm>
            <a:off x="8318754" y="4752340"/>
            <a:ext cx="38735" cy="0"/>
          </a:xfrm>
          <a:custGeom>
            <a:avLst/>
            <a:gdLst/>
            <a:ahLst/>
            <a:cxnLst/>
            <a:rect l="l" t="t" r="r" b="b"/>
            <a:pathLst>
              <a:path w="38734">
                <a:moveTo>
                  <a:pt x="0" y="0"/>
                </a:moveTo>
                <a:lnTo>
                  <a:pt x="38353" y="0"/>
                </a:lnTo>
              </a:path>
            </a:pathLst>
          </a:custGeom>
          <a:ln w="25400">
            <a:solidFill>
              <a:srgbClr val="E7E6E6"/>
            </a:solidFill>
          </a:ln>
        </p:spPr>
        <p:txBody>
          <a:bodyPr wrap="square" lIns="0" tIns="0" rIns="0" bIns="0" rtlCol="0"/>
          <a:lstStyle/>
          <a:p>
            <a:endParaRPr/>
          </a:p>
        </p:txBody>
      </p:sp>
      <p:sp>
        <p:nvSpPr>
          <p:cNvPr id="31" name="object 31"/>
          <p:cNvSpPr/>
          <p:nvPr/>
        </p:nvSpPr>
        <p:spPr>
          <a:xfrm>
            <a:off x="5734050" y="4726685"/>
            <a:ext cx="2585085" cy="832485"/>
          </a:xfrm>
          <a:custGeom>
            <a:avLst/>
            <a:gdLst/>
            <a:ahLst/>
            <a:cxnLst/>
            <a:rect l="l" t="t" r="r" b="b"/>
            <a:pathLst>
              <a:path w="2585084" h="832485">
                <a:moveTo>
                  <a:pt x="0" y="832104"/>
                </a:moveTo>
                <a:lnTo>
                  <a:pt x="2584704" y="832104"/>
                </a:lnTo>
                <a:lnTo>
                  <a:pt x="2584704" y="0"/>
                </a:lnTo>
                <a:lnTo>
                  <a:pt x="0" y="0"/>
                </a:lnTo>
                <a:lnTo>
                  <a:pt x="0" y="832104"/>
                </a:lnTo>
                <a:close/>
              </a:path>
            </a:pathLst>
          </a:custGeom>
          <a:solidFill>
            <a:srgbClr val="EC7C30"/>
          </a:solidFill>
        </p:spPr>
        <p:txBody>
          <a:bodyPr wrap="square" lIns="0" tIns="0" rIns="0" bIns="0" rtlCol="0"/>
          <a:lstStyle/>
          <a:p>
            <a:endParaRPr/>
          </a:p>
        </p:txBody>
      </p:sp>
      <p:sp>
        <p:nvSpPr>
          <p:cNvPr id="32" name="object 32"/>
          <p:cNvSpPr/>
          <p:nvPr/>
        </p:nvSpPr>
        <p:spPr>
          <a:xfrm>
            <a:off x="5734050" y="4726685"/>
            <a:ext cx="2585085" cy="832485"/>
          </a:xfrm>
          <a:custGeom>
            <a:avLst/>
            <a:gdLst/>
            <a:ahLst/>
            <a:cxnLst/>
            <a:rect l="l" t="t" r="r" b="b"/>
            <a:pathLst>
              <a:path w="2585084" h="832485">
                <a:moveTo>
                  <a:pt x="0" y="832104"/>
                </a:moveTo>
                <a:lnTo>
                  <a:pt x="2584704" y="832104"/>
                </a:lnTo>
                <a:lnTo>
                  <a:pt x="2584704" y="0"/>
                </a:lnTo>
                <a:lnTo>
                  <a:pt x="0" y="0"/>
                </a:lnTo>
                <a:lnTo>
                  <a:pt x="0" y="832104"/>
                </a:lnTo>
                <a:close/>
              </a:path>
            </a:pathLst>
          </a:custGeom>
          <a:ln w="25908">
            <a:solidFill>
              <a:srgbClr val="FFFFFF"/>
            </a:solidFill>
          </a:ln>
        </p:spPr>
        <p:txBody>
          <a:bodyPr wrap="square" lIns="0" tIns="0" rIns="0" bIns="0" rtlCol="0"/>
          <a:lstStyle/>
          <a:p>
            <a:endParaRPr/>
          </a:p>
        </p:txBody>
      </p:sp>
      <p:sp>
        <p:nvSpPr>
          <p:cNvPr id="33" name="object 33"/>
          <p:cNvSpPr txBox="1"/>
          <p:nvPr/>
        </p:nvSpPr>
        <p:spPr>
          <a:xfrm>
            <a:off x="375005" y="1179819"/>
            <a:ext cx="3701415" cy="935355"/>
          </a:xfrm>
          <a:prstGeom prst="rect">
            <a:avLst/>
          </a:prstGeom>
        </p:spPr>
        <p:txBody>
          <a:bodyPr vert="horz" wrap="square" lIns="0" tIns="0" rIns="0" bIns="0" rtlCol="0">
            <a:spAutoFit/>
          </a:bodyPr>
          <a:lstStyle/>
          <a:p>
            <a:pPr marL="29845">
              <a:lnSpc>
                <a:spcPts val="2395"/>
              </a:lnSpc>
            </a:pPr>
            <a:r>
              <a:rPr sz="2400" b="1" dirty="0">
                <a:solidFill>
                  <a:srgbClr val="FFFFFF"/>
                </a:solidFill>
                <a:latin typeface="微软雅黑"/>
                <a:cs typeface="微软雅黑"/>
              </a:rPr>
              <a:t>通道结构</a:t>
            </a:r>
            <a:endParaRPr sz="2400">
              <a:latin typeface="微软雅黑"/>
              <a:cs typeface="微软雅黑"/>
            </a:endParaRPr>
          </a:p>
          <a:p>
            <a:pPr marL="12700">
              <a:lnSpc>
                <a:spcPts val="2310"/>
              </a:lnSpc>
            </a:pPr>
            <a:r>
              <a:rPr sz="2400" b="1" dirty="0">
                <a:latin typeface="宋体"/>
                <a:cs typeface="宋体"/>
              </a:rPr>
              <a:t>时基单元工作于定时模式，</a:t>
            </a:r>
            <a:endParaRPr sz="2400">
              <a:latin typeface="宋体"/>
              <a:cs typeface="宋体"/>
            </a:endParaRPr>
          </a:p>
          <a:p>
            <a:pPr marL="12700">
              <a:lnSpc>
                <a:spcPts val="2795"/>
              </a:lnSpc>
            </a:pPr>
            <a:r>
              <a:rPr sz="2400" b="1" spc="-5" dirty="0">
                <a:latin typeface="宋体"/>
                <a:cs typeface="宋体"/>
              </a:rPr>
              <a:t>预分频时</a:t>
            </a:r>
            <a:r>
              <a:rPr sz="2400" b="1" dirty="0">
                <a:latin typeface="宋体"/>
                <a:cs typeface="宋体"/>
              </a:rPr>
              <a:t>钟</a:t>
            </a:r>
            <a:r>
              <a:rPr sz="2400" b="1" spc="-5" dirty="0">
                <a:latin typeface="Consolas"/>
                <a:cs typeface="Consolas"/>
              </a:rPr>
              <a:t>CK_PSC</a:t>
            </a:r>
            <a:r>
              <a:rPr sz="2400" b="1" dirty="0">
                <a:latin typeface="宋体"/>
                <a:cs typeface="宋体"/>
              </a:rPr>
              <a:t>等于定</a:t>
            </a:r>
            <a:endParaRPr sz="2400">
              <a:latin typeface="宋体"/>
              <a:cs typeface="宋体"/>
            </a:endParaRPr>
          </a:p>
        </p:txBody>
      </p:sp>
      <p:sp>
        <p:nvSpPr>
          <p:cNvPr id="34" name="object 34"/>
          <p:cNvSpPr txBox="1"/>
          <p:nvPr/>
        </p:nvSpPr>
        <p:spPr>
          <a:xfrm>
            <a:off x="1808988" y="6042659"/>
            <a:ext cx="2188845" cy="485140"/>
          </a:xfrm>
          <a:prstGeom prst="rect">
            <a:avLst/>
          </a:prstGeom>
          <a:solidFill>
            <a:srgbClr val="00AFEF"/>
          </a:solidFill>
          <a:ln w="12191">
            <a:solidFill>
              <a:srgbClr val="41709C"/>
            </a:solidFill>
          </a:ln>
        </p:spPr>
        <p:txBody>
          <a:bodyPr vert="horz" wrap="square" lIns="0" tIns="0" rIns="0" bIns="0" rtlCol="0">
            <a:spAutoFit/>
          </a:bodyPr>
          <a:lstStyle/>
          <a:p>
            <a:pPr marL="153670">
              <a:lnSpc>
                <a:spcPct val="100000"/>
              </a:lnSpc>
            </a:pPr>
            <a:r>
              <a:rPr sz="2400" b="1" spc="-5" dirty="0">
                <a:solidFill>
                  <a:srgbClr val="FFFFFF"/>
                </a:solidFill>
                <a:latin typeface="微软雅黑"/>
                <a:cs typeface="微软雅黑"/>
              </a:rPr>
              <a:t>输入捕获单元</a:t>
            </a:r>
            <a:endParaRPr sz="2400">
              <a:latin typeface="微软雅黑"/>
              <a:cs typeface="微软雅黑"/>
            </a:endParaRPr>
          </a:p>
        </p:txBody>
      </p:sp>
      <p:sp>
        <p:nvSpPr>
          <p:cNvPr id="35" name="object 35"/>
          <p:cNvSpPr txBox="1"/>
          <p:nvPr/>
        </p:nvSpPr>
        <p:spPr>
          <a:xfrm>
            <a:off x="3551046" y="3549074"/>
            <a:ext cx="1552575"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预分频寄存器</a:t>
            </a:r>
            <a:endParaRPr sz="2000">
              <a:latin typeface="微软雅黑"/>
              <a:cs typeface="微软雅黑"/>
            </a:endParaRPr>
          </a:p>
        </p:txBody>
      </p:sp>
      <p:sp>
        <p:nvSpPr>
          <p:cNvPr id="36" name="object 36"/>
          <p:cNvSpPr txBox="1"/>
          <p:nvPr/>
        </p:nvSpPr>
        <p:spPr>
          <a:xfrm>
            <a:off x="6293358" y="3547042"/>
            <a:ext cx="1552575"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计数器寄存器</a:t>
            </a:r>
            <a:endParaRPr sz="2000">
              <a:latin typeface="微软雅黑"/>
              <a:cs typeface="微软雅黑"/>
            </a:endParaRPr>
          </a:p>
        </p:txBody>
      </p:sp>
      <p:sp>
        <p:nvSpPr>
          <p:cNvPr id="37" name="object 37"/>
          <p:cNvSpPr txBox="1"/>
          <p:nvPr/>
        </p:nvSpPr>
        <p:spPr>
          <a:xfrm>
            <a:off x="2423922" y="2908767"/>
            <a:ext cx="865505"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Consolas"/>
                <a:cs typeface="Consolas"/>
              </a:rPr>
              <a:t>CK_PSC</a:t>
            </a:r>
            <a:endParaRPr sz="2000">
              <a:latin typeface="Consolas"/>
              <a:cs typeface="Consolas"/>
            </a:endParaRPr>
          </a:p>
        </p:txBody>
      </p:sp>
      <p:sp>
        <p:nvSpPr>
          <p:cNvPr id="38" name="object 38"/>
          <p:cNvSpPr txBox="1"/>
          <p:nvPr/>
        </p:nvSpPr>
        <p:spPr>
          <a:xfrm>
            <a:off x="5258815" y="2908767"/>
            <a:ext cx="865505" cy="280035"/>
          </a:xfrm>
          <a:prstGeom prst="rect">
            <a:avLst/>
          </a:prstGeom>
        </p:spPr>
        <p:txBody>
          <a:bodyPr vert="horz" wrap="square" lIns="0" tIns="0" rIns="0" bIns="0" rtlCol="0">
            <a:spAutoFit/>
          </a:bodyPr>
          <a:lstStyle/>
          <a:p>
            <a:pPr marL="12700">
              <a:lnSpc>
                <a:spcPct val="100000"/>
              </a:lnSpc>
            </a:pPr>
            <a:r>
              <a:rPr sz="2000" b="1" dirty="0">
                <a:solidFill>
                  <a:srgbClr val="252525"/>
                </a:solidFill>
                <a:latin typeface="Consolas"/>
                <a:cs typeface="Consolas"/>
              </a:rPr>
              <a:t>CK_CNT</a:t>
            </a:r>
            <a:endParaRPr sz="2000">
              <a:latin typeface="Consolas"/>
              <a:cs typeface="Consolas"/>
            </a:endParaRPr>
          </a:p>
        </p:txBody>
      </p:sp>
      <p:sp>
        <p:nvSpPr>
          <p:cNvPr id="39" name="object 39"/>
          <p:cNvSpPr txBox="1"/>
          <p:nvPr/>
        </p:nvSpPr>
        <p:spPr>
          <a:xfrm>
            <a:off x="6137909" y="2122346"/>
            <a:ext cx="1809114"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自动重载寄存器</a:t>
            </a:r>
            <a:endParaRPr sz="2000">
              <a:latin typeface="微软雅黑"/>
              <a:cs typeface="微软雅黑"/>
            </a:endParaRPr>
          </a:p>
        </p:txBody>
      </p:sp>
      <p:sp>
        <p:nvSpPr>
          <p:cNvPr id="40" name="object 40"/>
          <p:cNvSpPr txBox="1"/>
          <p:nvPr/>
        </p:nvSpPr>
        <p:spPr>
          <a:xfrm>
            <a:off x="5734050" y="4726685"/>
            <a:ext cx="2604135" cy="851535"/>
          </a:xfrm>
          <a:prstGeom prst="rect">
            <a:avLst/>
          </a:prstGeom>
        </p:spPr>
        <p:txBody>
          <a:bodyPr vert="horz" wrap="square" lIns="0" tIns="0" rIns="0" bIns="0" rtlCol="0">
            <a:spAutoFit/>
          </a:bodyPr>
          <a:lstStyle/>
          <a:p>
            <a:pPr marL="199390">
              <a:lnSpc>
                <a:spcPct val="100000"/>
              </a:lnSpc>
            </a:pPr>
            <a:r>
              <a:rPr sz="2400" b="1" dirty="0">
                <a:solidFill>
                  <a:srgbClr val="FFFFFF"/>
                </a:solidFill>
                <a:latin typeface="微软雅黑"/>
                <a:cs typeface="微软雅黑"/>
              </a:rPr>
              <a:t>捕获/比较寄存器</a:t>
            </a:r>
            <a:endParaRPr sz="2400">
              <a:latin typeface="微软雅黑"/>
              <a:cs typeface="微软雅黑"/>
            </a:endParaRPr>
          </a:p>
        </p:txBody>
      </p:sp>
      <p:sp>
        <p:nvSpPr>
          <p:cNvPr id="41" name="object 41"/>
          <p:cNvSpPr/>
          <p:nvPr/>
        </p:nvSpPr>
        <p:spPr>
          <a:xfrm>
            <a:off x="8357361" y="5066538"/>
            <a:ext cx="712470" cy="173990"/>
          </a:xfrm>
          <a:custGeom>
            <a:avLst/>
            <a:gdLst/>
            <a:ahLst/>
            <a:cxnLst/>
            <a:rect l="l" t="t" r="r" b="b"/>
            <a:pathLst>
              <a:path w="712470" h="173989">
                <a:moveTo>
                  <a:pt x="539369" y="0"/>
                </a:moveTo>
                <a:lnTo>
                  <a:pt x="538776" y="57881"/>
                </a:lnTo>
                <a:lnTo>
                  <a:pt x="567690" y="58166"/>
                </a:lnTo>
                <a:lnTo>
                  <a:pt x="567182" y="116078"/>
                </a:lnTo>
                <a:lnTo>
                  <a:pt x="538181" y="116078"/>
                </a:lnTo>
                <a:lnTo>
                  <a:pt x="537591" y="173736"/>
                </a:lnTo>
                <a:lnTo>
                  <a:pt x="655742" y="116078"/>
                </a:lnTo>
                <a:lnTo>
                  <a:pt x="567182" y="116078"/>
                </a:lnTo>
                <a:lnTo>
                  <a:pt x="656328" y="115792"/>
                </a:lnTo>
                <a:lnTo>
                  <a:pt x="712216" y="88518"/>
                </a:lnTo>
                <a:lnTo>
                  <a:pt x="539369" y="0"/>
                </a:lnTo>
                <a:close/>
              </a:path>
              <a:path w="712470" h="173989">
                <a:moveTo>
                  <a:pt x="538776" y="57881"/>
                </a:moveTo>
                <a:lnTo>
                  <a:pt x="538183" y="115792"/>
                </a:lnTo>
                <a:lnTo>
                  <a:pt x="567182" y="116078"/>
                </a:lnTo>
                <a:lnTo>
                  <a:pt x="567690" y="58166"/>
                </a:lnTo>
                <a:lnTo>
                  <a:pt x="538776" y="57881"/>
                </a:lnTo>
                <a:close/>
              </a:path>
              <a:path w="712470" h="173989">
                <a:moveTo>
                  <a:pt x="508" y="52578"/>
                </a:moveTo>
                <a:lnTo>
                  <a:pt x="0" y="110489"/>
                </a:lnTo>
                <a:lnTo>
                  <a:pt x="538183" y="115792"/>
                </a:lnTo>
                <a:lnTo>
                  <a:pt x="538776" y="57881"/>
                </a:lnTo>
                <a:lnTo>
                  <a:pt x="508" y="52578"/>
                </a:lnTo>
                <a:close/>
              </a:path>
            </a:pathLst>
          </a:custGeom>
          <a:solidFill>
            <a:srgbClr val="EC7C30"/>
          </a:solidFill>
        </p:spPr>
        <p:txBody>
          <a:bodyPr wrap="square" lIns="0" tIns="0" rIns="0" bIns="0" rtlCol="0"/>
          <a:lstStyle/>
          <a:p>
            <a:endParaRPr/>
          </a:p>
        </p:txBody>
      </p:sp>
      <p:sp>
        <p:nvSpPr>
          <p:cNvPr id="42" name="object 42"/>
          <p:cNvSpPr txBox="1"/>
          <p:nvPr/>
        </p:nvSpPr>
        <p:spPr>
          <a:xfrm>
            <a:off x="9053321" y="4778502"/>
            <a:ext cx="838200" cy="777240"/>
          </a:xfrm>
          <a:prstGeom prst="rect">
            <a:avLst/>
          </a:prstGeom>
          <a:ln w="28956">
            <a:solidFill>
              <a:srgbClr val="000000"/>
            </a:solidFill>
          </a:ln>
        </p:spPr>
        <p:txBody>
          <a:bodyPr vert="horz" wrap="square" lIns="0" tIns="0" rIns="0" bIns="0" rtlCol="0">
            <a:spAutoFit/>
          </a:bodyPr>
          <a:lstStyle/>
          <a:p>
            <a:pPr marL="147955">
              <a:lnSpc>
                <a:spcPct val="100000"/>
              </a:lnSpc>
            </a:pPr>
            <a:r>
              <a:rPr sz="2000" b="1" dirty="0">
                <a:solidFill>
                  <a:srgbClr val="252525"/>
                </a:solidFill>
                <a:latin typeface="微软雅黑"/>
                <a:cs typeface="微软雅黑"/>
              </a:rPr>
              <a:t>输出</a:t>
            </a:r>
            <a:endParaRPr sz="2000">
              <a:latin typeface="微软雅黑"/>
              <a:cs typeface="微软雅黑"/>
            </a:endParaRPr>
          </a:p>
          <a:p>
            <a:pPr marL="147955">
              <a:lnSpc>
                <a:spcPct val="100000"/>
              </a:lnSpc>
            </a:pPr>
            <a:r>
              <a:rPr sz="2000" b="1" dirty="0">
                <a:solidFill>
                  <a:srgbClr val="252525"/>
                </a:solidFill>
                <a:latin typeface="微软雅黑"/>
                <a:cs typeface="微软雅黑"/>
              </a:rPr>
              <a:t>控制</a:t>
            </a:r>
            <a:endParaRPr sz="2000">
              <a:latin typeface="微软雅黑"/>
              <a:cs typeface="微软雅黑"/>
            </a:endParaRPr>
          </a:p>
        </p:txBody>
      </p:sp>
      <p:sp>
        <p:nvSpPr>
          <p:cNvPr id="43" name="object 43"/>
          <p:cNvSpPr/>
          <p:nvPr/>
        </p:nvSpPr>
        <p:spPr>
          <a:xfrm>
            <a:off x="9910318" y="5081778"/>
            <a:ext cx="712470" cy="173990"/>
          </a:xfrm>
          <a:custGeom>
            <a:avLst/>
            <a:gdLst/>
            <a:ahLst/>
            <a:cxnLst/>
            <a:rect l="l" t="t" r="r" b="b"/>
            <a:pathLst>
              <a:path w="712470" h="173989">
                <a:moveTo>
                  <a:pt x="539368" y="0"/>
                </a:moveTo>
                <a:lnTo>
                  <a:pt x="538776" y="57881"/>
                </a:lnTo>
                <a:lnTo>
                  <a:pt x="567689" y="58166"/>
                </a:lnTo>
                <a:lnTo>
                  <a:pt x="567181" y="116078"/>
                </a:lnTo>
                <a:lnTo>
                  <a:pt x="538181" y="116078"/>
                </a:lnTo>
                <a:lnTo>
                  <a:pt x="537590" y="173736"/>
                </a:lnTo>
                <a:lnTo>
                  <a:pt x="655742" y="116078"/>
                </a:lnTo>
                <a:lnTo>
                  <a:pt x="567181" y="116078"/>
                </a:lnTo>
                <a:lnTo>
                  <a:pt x="656328" y="115792"/>
                </a:lnTo>
                <a:lnTo>
                  <a:pt x="712215" y="88519"/>
                </a:lnTo>
                <a:lnTo>
                  <a:pt x="539368" y="0"/>
                </a:lnTo>
                <a:close/>
              </a:path>
              <a:path w="712470" h="173989">
                <a:moveTo>
                  <a:pt x="538776" y="57881"/>
                </a:moveTo>
                <a:lnTo>
                  <a:pt x="538183" y="115792"/>
                </a:lnTo>
                <a:lnTo>
                  <a:pt x="567181" y="116078"/>
                </a:lnTo>
                <a:lnTo>
                  <a:pt x="567689" y="58166"/>
                </a:lnTo>
                <a:lnTo>
                  <a:pt x="538776" y="57881"/>
                </a:lnTo>
                <a:close/>
              </a:path>
              <a:path w="712470" h="173989">
                <a:moveTo>
                  <a:pt x="507" y="52578"/>
                </a:moveTo>
                <a:lnTo>
                  <a:pt x="0" y="110490"/>
                </a:lnTo>
                <a:lnTo>
                  <a:pt x="538183" y="115792"/>
                </a:lnTo>
                <a:lnTo>
                  <a:pt x="538776" y="57881"/>
                </a:lnTo>
                <a:lnTo>
                  <a:pt x="507" y="52578"/>
                </a:lnTo>
                <a:close/>
              </a:path>
            </a:pathLst>
          </a:custGeom>
          <a:solidFill>
            <a:srgbClr val="EC7C30"/>
          </a:solidFill>
        </p:spPr>
        <p:txBody>
          <a:bodyPr wrap="square" lIns="0" tIns="0" rIns="0" bIns="0" rtlCol="0"/>
          <a:lstStyle/>
          <a:p>
            <a:endParaRPr/>
          </a:p>
        </p:txBody>
      </p:sp>
      <p:sp>
        <p:nvSpPr>
          <p:cNvPr id="44" name="object 44"/>
          <p:cNvSpPr/>
          <p:nvPr/>
        </p:nvSpPr>
        <p:spPr>
          <a:xfrm>
            <a:off x="10735818" y="1785366"/>
            <a:ext cx="0" cy="3301365"/>
          </a:xfrm>
          <a:custGeom>
            <a:avLst/>
            <a:gdLst/>
            <a:ahLst/>
            <a:cxnLst/>
            <a:rect l="l" t="t" r="r" b="b"/>
            <a:pathLst>
              <a:path h="3301365">
                <a:moveTo>
                  <a:pt x="0" y="0"/>
                </a:moveTo>
                <a:lnTo>
                  <a:pt x="0" y="3300984"/>
                </a:lnTo>
              </a:path>
            </a:pathLst>
          </a:custGeom>
          <a:ln w="38100">
            <a:solidFill>
              <a:srgbClr val="000000"/>
            </a:solidFill>
          </a:ln>
        </p:spPr>
        <p:txBody>
          <a:bodyPr wrap="square" lIns="0" tIns="0" rIns="0" bIns="0" rtlCol="0"/>
          <a:lstStyle/>
          <a:p>
            <a:endParaRPr/>
          </a:p>
        </p:txBody>
      </p:sp>
      <p:sp>
        <p:nvSpPr>
          <p:cNvPr id="45" name="object 45"/>
          <p:cNvSpPr/>
          <p:nvPr/>
        </p:nvSpPr>
        <p:spPr>
          <a:xfrm>
            <a:off x="10735818" y="5252465"/>
            <a:ext cx="0" cy="836294"/>
          </a:xfrm>
          <a:custGeom>
            <a:avLst/>
            <a:gdLst/>
            <a:ahLst/>
            <a:cxnLst/>
            <a:rect l="l" t="t" r="r" b="b"/>
            <a:pathLst>
              <a:path h="836295">
                <a:moveTo>
                  <a:pt x="0" y="0"/>
                </a:moveTo>
                <a:lnTo>
                  <a:pt x="0" y="835914"/>
                </a:lnTo>
              </a:path>
            </a:pathLst>
          </a:custGeom>
          <a:ln w="38100">
            <a:solidFill>
              <a:srgbClr val="000000"/>
            </a:solidFill>
          </a:ln>
        </p:spPr>
        <p:txBody>
          <a:bodyPr wrap="square" lIns="0" tIns="0" rIns="0" bIns="0" rtlCol="0"/>
          <a:lstStyle/>
          <a:p>
            <a:endParaRPr/>
          </a:p>
        </p:txBody>
      </p:sp>
      <p:sp>
        <p:nvSpPr>
          <p:cNvPr id="46" name="object 46"/>
          <p:cNvSpPr/>
          <p:nvPr/>
        </p:nvSpPr>
        <p:spPr>
          <a:xfrm>
            <a:off x="10632185" y="5086350"/>
            <a:ext cx="207645" cy="166370"/>
          </a:xfrm>
          <a:custGeom>
            <a:avLst/>
            <a:gdLst/>
            <a:ahLst/>
            <a:cxnLst/>
            <a:rect l="l" t="t" r="r" b="b"/>
            <a:pathLst>
              <a:path w="207645" h="166370">
                <a:moveTo>
                  <a:pt x="0" y="166115"/>
                </a:moveTo>
                <a:lnTo>
                  <a:pt x="207264" y="166115"/>
                </a:lnTo>
                <a:lnTo>
                  <a:pt x="207264" y="0"/>
                </a:lnTo>
                <a:lnTo>
                  <a:pt x="0" y="0"/>
                </a:lnTo>
                <a:lnTo>
                  <a:pt x="0" y="166115"/>
                </a:lnTo>
                <a:close/>
              </a:path>
            </a:pathLst>
          </a:custGeom>
          <a:ln w="28956">
            <a:solidFill>
              <a:srgbClr val="000000"/>
            </a:solidFill>
          </a:ln>
        </p:spPr>
        <p:txBody>
          <a:bodyPr wrap="square" lIns="0" tIns="0" rIns="0" bIns="0" rtlCol="0"/>
          <a:lstStyle/>
          <a:p>
            <a:endParaRPr/>
          </a:p>
        </p:txBody>
      </p:sp>
      <p:sp>
        <p:nvSpPr>
          <p:cNvPr id="47" name="object 47"/>
          <p:cNvSpPr txBox="1"/>
          <p:nvPr/>
        </p:nvSpPr>
        <p:spPr>
          <a:xfrm>
            <a:off x="10894314" y="4726618"/>
            <a:ext cx="1201420" cy="630555"/>
          </a:xfrm>
          <a:prstGeom prst="rect">
            <a:avLst/>
          </a:prstGeom>
        </p:spPr>
        <p:txBody>
          <a:bodyPr vert="horz" wrap="square" lIns="0" tIns="0" rIns="0" bIns="0" rtlCol="0">
            <a:spAutoFit/>
          </a:bodyPr>
          <a:lstStyle/>
          <a:p>
            <a:pPr marL="53975">
              <a:lnSpc>
                <a:spcPts val="2270"/>
              </a:lnSpc>
            </a:pPr>
            <a:r>
              <a:rPr sz="2000" b="1" spc="5" dirty="0">
                <a:solidFill>
                  <a:srgbClr val="252525"/>
                </a:solidFill>
                <a:latin typeface="微软雅黑"/>
                <a:cs typeface="微软雅黑"/>
              </a:rPr>
              <a:t>通道引脚</a:t>
            </a:r>
            <a:endParaRPr sz="2000">
              <a:latin typeface="微软雅黑"/>
              <a:cs typeface="微软雅黑"/>
            </a:endParaRPr>
          </a:p>
          <a:p>
            <a:pPr marL="12700">
              <a:lnSpc>
                <a:spcPts val="2750"/>
              </a:lnSpc>
            </a:pPr>
            <a:r>
              <a:rPr sz="2400" b="1" spc="-5" dirty="0">
                <a:solidFill>
                  <a:srgbClr val="252525"/>
                </a:solidFill>
                <a:latin typeface="Consolas"/>
                <a:cs typeface="Consolas"/>
              </a:rPr>
              <a:t>TI</a:t>
            </a:r>
            <a:r>
              <a:rPr sz="2400" b="1" spc="0" dirty="0">
                <a:solidFill>
                  <a:srgbClr val="252525"/>
                </a:solidFill>
                <a:latin typeface="Consolas"/>
                <a:cs typeface="Consolas"/>
              </a:rPr>
              <a:t>M</a:t>
            </a:r>
            <a:r>
              <a:rPr sz="2400" b="1" spc="-5" dirty="0">
                <a:solidFill>
                  <a:srgbClr val="252525"/>
                </a:solidFill>
                <a:latin typeface="Consolas"/>
                <a:cs typeface="Consolas"/>
              </a:rPr>
              <a:t>x_</a:t>
            </a:r>
            <a:r>
              <a:rPr sz="2400" b="1" spc="0" dirty="0">
                <a:solidFill>
                  <a:srgbClr val="252525"/>
                </a:solidFill>
                <a:latin typeface="Consolas"/>
                <a:cs typeface="Consolas"/>
              </a:rPr>
              <a:t>C</a:t>
            </a:r>
            <a:r>
              <a:rPr sz="2400" b="1" spc="-5" dirty="0">
                <a:solidFill>
                  <a:srgbClr val="252525"/>
                </a:solidFill>
                <a:latin typeface="Consolas"/>
                <a:cs typeface="Consolas"/>
              </a:rPr>
              <a:t>H</a:t>
            </a:r>
            <a:endParaRPr sz="2400">
              <a:latin typeface="Consolas"/>
              <a:cs typeface="Consolas"/>
            </a:endParaRPr>
          </a:p>
        </p:txBody>
      </p:sp>
      <p:sp>
        <p:nvSpPr>
          <p:cNvPr id="48" name="object 48"/>
          <p:cNvSpPr txBox="1"/>
          <p:nvPr/>
        </p:nvSpPr>
        <p:spPr>
          <a:xfrm>
            <a:off x="2213610" y="4793741"/>
            <a:ext cx="1248410" cy="777240"/>
          </a:xfrm>
          <a:prstGeom prst="rect">
            <a:avLst/>
          </a:prstGeom>
          <a:ln w="28955">
            <a:solidFill>
              <a:srgbClr val="000000"/>
            </a:solidFill>
          </a:ln>
        </p:spPr>
        <p:txBody>
          <a:bodyPr vert="horz" wrap="square" lIns="0" tIns="0" rIns="0" bIns="0" rtlCol="0">
            <a:spAutoFit/>
          </a:bodyPr>
          <a:lstStyle/>
          <a:p>
            <a:pPr marL="99060" marR="93980">
              <a:lnSpc>
                <a:spcPct val="100000"/>
              </a:lnSpc>
            </a:pPr>
            <a:r>
              <a:rPr sz="2000" b="1" dirty="0">
                <a:solidFill>
                  <a:srgbClr val="252525"/>
                </a:solidFill>
                <a:latin typeface="微软雅黑"/>
                <a:cs typeface="微软雅黑"/>
              </a:rPr>
              <a:t>输入滤波 边沿检测</a:t>
            </a:r>
            <a:endParaRPr sz="2000">
              <a:latin typeface="微软雅黑"/>
              <a:cs typeface="微软雅黑"/>
            </a:endParaRPr>
          </a:p>
        </p:txBody>
      </p:sp>
      <p:sp>
        <p:nvSpPr>
          <p:cNvPr id="49" name="object 49"/>
          <p:cNvSpPr/>
          <p:nvPr/>
        </p:nvSpPr>
        <p:spPr>
          <a:xfrm>
            <a:off x="5050282" y="5080253"/>
            <a:ext cx="712470" cy="173990"/>
          </a:xfrm>
          <a:custGeom>
            <a:avLst/>
            <a:gdLst/>
            <a:ahLst/>
            <a:cxnLst/>
            <a:rect l="l" t="t" r="r" b="b"/>
            <a:pathLst>
              <a:path w="712470" h="173989">
                <a:moveTo>
                  <a:pt x="539368" y="0"/>
                </a:moveTo>
                <a:lnTo>
                  <a:pt x="538776" y="57881"/>
                </a:lnTo>
                <a:lnTo>
                  <a:pt x="567689" y="58166"/>
                </a:lnTo>
                <a:lnTo>
                  <a:pt x="567181" y="116078"/>
                </a:lnTo>
                <a:lnTo>
                  <a:pt x="538181" y="116078"/>
                </a:lnTo>
                <a:lnTo>
                  <a:pt x="537590" y="173736"/>
                </a:lnTo>
                <a:lnTo>
                  <a:pt x="655742" y="116078"/>
                </a:lnTo>
                <a:lnTo>
                  <a:pt x="567181" y="116078"/>
                </a:lnTo>
                <a:lnTo>
                  <a:pt x="656328" y="115792"/>
                </a:lnTo>
                <a:lnTo>
                  <a:pt x="712215" y="88519"/>
                </a:lnTo>
                <a:lnTo>
                  <a:pt x="539368" y="0"/>
                </a:lnTo>
                <a:close/>
              </a:path>
              <a:path w="712470" h="173989">
                <a:moveTo>
                  <a:pt x="538776" y="57881"/>
                </a:moveTo>
                <a:lnTo>
                  <a:pt x="538183" y="115792"/>
                </a:lnTo>
                <a:lnTo>
                  <a:pt x="567181" y="116078"/>
                </a:lnTo>
                <a:lnTo>
                  <a:pt x="567689" y="58166"/>
                </a:lnTo>
                <a:lnTo>
                  <a:pt x="538776" y="57881"/>
                </a:lnTo>
                <a:close/>
              </a:path>
              <a:path w="712470" h="173989">
                <a:moveTo>
                  <a:pt x="507" y="52578"/>
                </a:moveTo>
                <a:lnTo>
                  <a:pt x="0" y="110490"/>
                </a:lnTo>
                <a:lnTo>
                  <a:pt x="538183" y="115792"/>
                </a:lnTo>
                <a:lnTo>
                  <a:pt x="538776" y="57881"/>
                </a:lnTo>
                <a:lnTo>
                  <a:pt x="507" y="52578"/>
                </a:lnTo>
                <a:close/>
              </a:path>
            </a:pathLst>
          </a:custGeom>
          <a:solidFill>
            <a:srgbClr val="EC7C30"/>
          </a:solidFill>
        </p:spPr>
        <p:txBody>
          <a:bodyPr wrap="square" lIns="0" tIns="0" rIns="0" bIns="0" rtlCol="0"/>
          <a:lstStyle/>
          <a:p>
            <a:endParaRPr/>
          </a:p>
        </p:txBody>
      </p:sp>
      <p:sp>
        <p:nvSpPr>
          <p:cNvPr id="50" name="object 50"/>
          <p:cNvSpPr/>
          <p:nvPr/>
        </p:nvSpPr>
        <p:spPr>
          <a:xfrm>
            <a:off x="3486658" y="5089397"/>
            <a:ext cx="712470" cy="173990"/>
          </a:xfrm>
          <a:custGeom>
            <a:avLst/>
            <a:gdLst/>
            <a:ahLst/>
            <a:cxnLst/>
            <a:rect l="l" t="t" r="r" b="b"/>
            <a:pathLst>
              <a:path w="712470" h="173989">
                <a:moveTo>
                  <a:pt x="539368" y="0"/>
                </a:moveTo>
                <a:lnTo>
                  <a:pt x="538776" y="57881"/>
                </a:lnTo>
                <a:lnTo>
                  <a:pt x="567689" y="58165"/>
                </a:lnTo>
                <a:lnTo>
                  <a:pt x="567181" y="116077"/>
                </a:lnTo>
                <a:lnTo>
                  <a:pt x="538181" y="116077"/>
                </a:lnTo>
                <a:lnTo>
                  <a:pt x="537590" y="173735"/>
                </a:lnTo>
                <a:lnTo>
                  <a:pt x="655742" y="116077"/>
                </a:lnTo>
                <a:lnTo>
                  <a:pt x="567181" y="116077"/>
                </a:lnTo>
                <a:lnTo>
                  <a:pt x="656328" y="115792"/>
                </a:lnTo>
                <a:lnTo>
                  <a:pt x="712215" y="88518"/>
                </a:lnTo>
                <a:lnTo>
                  <a:pt x="539368" y="0"/>
                </a:lnTo>
                <a:close/>
              </a:path>
              <a:path w="712470" h="173989">
                <a:moveTo>
                  <a:pt x="538776" y="57881"/>
                </a:moveTo>
                <a:lnTo>
                  <a:pt x="538183" y="115792"/>
                </a:lnTo>
                <a:lnTo>
                  <a:pt x="567181" y="116077"/>
                </a:lnTo>
                <a:lnTo>
                  <a:pt x="567689" y="58165"/>
                </a:lnTo>
                <a:lnTo>
                  <a:pt x="538776" y="57881"/>
                </a:lnTo>
                <a:close/>
              </a:path>
              <a:path w="712470" h="173989">
                <a:moveTo>
                  <a:pt x="507" y="52577"/>
                </a:moveTo>
                <a:lnTo>
                  <a:pt x="0" y="110489"/>
                </a:lnTo>
                <a:lnTo>
                  <a:pt x="538183" y="115792"/>
                </a:lnTo>
                <a:lnTo>
                  <a:pt x="538776" y="57881"/>
                </a:lnTo>
                <a:lnTo>
                  <a:pt x="507" y="52577"/>
                </a:lnTo>
                <a:close/>
              </a:path>
            </a:pathLst>
          </a:custGeom>
          <a:solidFill>
            <a:srgbClr val="EC7C30"/>
          </a:solidFill>
        </p:spPr>
        <p:txBody>
          <a:bodyPr wrap="square" lIns="0" tIns="0" rIns="0" bIns="0" rtlCol="0"/>
          <a:lstStyle/>
          <a:p>
            <a:endParaRPr/>
          </a:p>
        </p:txBody>
      </p:sp>
      <p:sp>
        <p:nvSpPr>
          <p:cNvPr id="51" name="object 51"/>
          <p:cNvSpPr/>
          <p:nvPr/>
        </p:nvSpPr>
        <p:spPr>
          <a:xfrm>
            <a:off x="1516125" y="5074158"/>
            <a:ext cx="712470" cy="173990"/>
          </a:xfrm>
          <a:custGeom>
            <a:avLst/>
            <a:gdLst/>
            <a:ahLst/>
            <a:cxnLst/>
            <a:rect l="l" t="t" r="r" b="b"/>
            <a:pathLst>
              <a:path w="712469" h="173989">
                <a:moveTo>
                  <a:pt x="539369" y="0"/>
                </a:moveTo>
                <a:lnTo>
                  <a:pt x="538776" y="57881"/>
                </a:lnTo>
                <a:lnTo>
                  <a:pt x="567690" y="58166"/>
                </a:lnTo>
                <a:lnTo>
                  <a:pt x="567182" y="116078"/>
                </a:lnTo>
                <a:lnTo>
                  <a:pt x="538181" y="116078"/>
                </a:lnTo>
                <a:lnTo>
                  <a:pt x="537591" y="173736"/>
                </a:lnTo>
                <a:lnTo>
                  <a:pt x="655742" y="116078"/>
                </a:lnTo>
                <a:lnTo>
                  <a:pt x="567182" y="116078"/>
                </a:lnTo>
                <a:lnTo>
                  <a:pt x="656328" y="115792"/>
                </a:lnTo>
                <a:lnTo>
                  <a:pt x="712216" y="88519"/>
                </a:lnTo>
                <a:lnTo>
                  <a:pt x="539369" y="0"/>
                </a:lnTo>
                <a:close/>
              </a:path>
              <a:path w="712469" h="173989">
                <a:moveTo>
                  <a:pt x="538776" y="57881"/>
                </a:moveTo>
                <a:lnTo>
                  <a:pt x="538183" y="115792"/>
                </a:lnTo>
                <a:lnTo>
                  <a:pt x="567182" y="116078"/>
                </a:lnTo>
                <a:lnTo>
                  <a:pt x="567690" y="58166"/>
                </a:lnTo>
                <a:lnTo>
                  <a:pt x="538776" y="57881"/>
                </a:lnTo>
                <a:close/>
              </a:path>
              <a:path w="712469" h="173989">
                <a:moveTo>
                  <a:pt x="508" y="52578"/>
                </a:moveTo>
                <a:lnTo>
                  <a:pt x="0" y="110490"/>
                </a:lnTo>
                <a:lnTo>
                  <a:pt x="538183" y="115792"/>
                </a:lnTo>
                <a:lnTo>
                  <a:pt x="538776" y="57881"/>
                </a:lnTo>
                <a:lnTo>
                  <a:pt x="508" y="52578"/>
                </a:lnTo>
                <a:close/>
              </a:path>
            </a:pathLst>
          </a:custGeom>
          <a:solidFill>
            <a:srgbClr val="EC7C30"/>
          </a:solidFill>
        </p:spPr>
        <p:txBody>
          <a:bodyPr wrap="square" lIns="0" tIns="0" rIns="0" bIns="0" rtlCol="0"/>
          <a:lstStyle/>
          <a:p>
            <a:endParaRPr/>
          </a:p>
        </p:txBody>
      </p:sp>
      <p:sp>
        <p:nvSpPr>
          <p:cNvPr id="52" name="object 52"/>
          <p:cNvSpPr/>
          <p:nvPr/>
        </p:nvSpPr>
        <p:spPr>
          <a:xfrm>
            <a:off x="1457705" y="1785366"/>
            <a:ext cx="0" cy="962660"/>
          </a:xfrm>
          <a:custGeom>
            <a:avLst/>
            <a:gdLst/>
            <a:ahLst/>
            <a:cxnLst/>
            <a:rect l="l" t="t" r="r" b="b"/>
            <a:pathLst>
              <a:path h="962660">
                <a:moveTo>
                  <a:pt x="0" y="0"/>
                </a:moveTo>
                <a:lnTo>
                  <a:pt x="0" y="962406"/>
                </a:lnTo>
              </a:path>
            </a:pathLst>
          </a:custGeom>
          <a:ln w="38100">
            <a:solidFill>
              <a:srgbClr val="000000"/>
            </a:solidFill>
          </a:ln>
        </p:spPr>
        <p:txBody>
          <a:bodyPr wrap="square" lIns="0" tIns="0" rIns="0" bIns="0" rtlCol="0"/>
          <a:lstStyle/>
          <a:p>
            <a:endParaRPr/>
          </a:p>
        </p:txBody>
      </p:sp>
      <p:sp>
        <p:nvSpPr>
          <p:cNvPr id="53" name="object 53"/>
          <p:cNvSpPr/>
          <p:nvPr/>
        </p:nvSpPr>
        <p:spPr>
          <a:xfrm>
            <a:off x="1457705" y="3232404"/>
            <a:ext cx="0" cy="1843405"/>
          </a:xfrm>
          <a:custGeom>
            <a:avLst/>
            <a:gdLst/>
            <a:ahLst/>
            <a:cxnLst/>
            <a:rect l="l" t="t" r="r" b="b"/>
            <a:pathLst>
              <a:path h="1843404">
                <a:moveTo>
                  <a:pt x="0" y="0"/>
                </a:moveTo>
                <a:lnTo>
                  <a:pt x="0" y="1843278"/>
                </a:lnTo>
              </a:path>
            </a:pathLst>
          </a:custGeom>
          <a:ln w="38100">
            <a:solidFill>
              <a:srgbClr val="000000"/>
            </a:solidFill>
          </a:ln>
        </p:spPr>
        <p:txBody>
          <a:bodyPr wrap="square" lIns="0" tIns="0" rIns="0" bIns="0" rtlCol="0"/>
          <a:lstStyle/>
          <a:p>
            <a:endParaRPr/>
          </a:p>
        </p:txBody>
      </p:sp>
      <p:sp>
        <p:nvSpPr>
          <p:cNvPr id="54" name="object 54"/>
          <p:cNvSpPr/>
          <p:nvPr/>
        </p:nvSpPr>
        <p:spPr>
          <a:xfrm>
            <a:off x="1457705" y="5241797"/>
            <a:ext cx="0" cy="921385"/>
          </a:xfrm>
          <a:custGeom>
            <a:avLst/>
            <a:gdLst/>
            <a:ahLst/>
            <a:cxnLst/>
            <a:rect l="l" t="t" r="r" b="b"/>
            <a:pathLst>
              <a:path h="921385">
                <a:moveTo>
                  <a:pt x="0" y="0"/>
                </a:moveTo>
                <a:lnTo>
                  <a:pt x="0" y="920965"/>
                </a:lnTo>
              </a:path>
            </a:pathLst>
          </a:custGeom>
          <a:ln w="38100">
            <a:solidFill>
              <a:srgbClr val="000000"/>
            </a:solidFill>
          </a:ln>
        </p:spPr>
        <p:txBody>
          <a:bodyPr wrap="square" lIns="0" tIns="0" rIns="0" bIns="0" rtlCol="0"/>
          <a:lstStyle/>
          <a:p>
            <a:endParaRPr/>
          </a:p>
        </p:txBody>
      </p:sp>
      <p:sp>
        <p:nvSpPr>
          <p:cNvPr id="55" name="object 55"/>
          <p:cNvSpPr/>
          <p:nvPr/>
        </p:nvSpPr>
        <p:spPr>
          <a:xfrm>
            <a:off x="1338833" y="5075682"/>
            <a:ext cx="207645" cy="166370"/>
          </a:xfrm>
          <a:custGeom>
            <a:avLst/>
            <a:gdLst/>
            <a:ahLst/>
            <a:cxnLst/>
            <a:rect l="l" t="t" r="r" b="b"/>
            <a:pathLst>
              <a:path w="207644" h="166370">
                <a:moveTo>
                  <a:pt x="0" y="166116"/>
                </a:moveTo>
                <a:lnTo>
                  <a:pt x="207264" y="166116"/>
                </a:lnTo>
                <a:lnTo>
                  <a:pt x="207264" y="0"/>
                </a:lnTo>
                <a:lnTo>
                  <a:pt x="0" y="0"/>
                </a:lnTo>
                <a:lnTo>
                  <a:pt x="0" y="166116"/>
                </a:lnTo>
                <a:close/>
              </a:path>
            </a:pathLst>
          </a:custGeom>
          <a:solidFill>
            <a:srgbClr val="FFFFFF"/>
          </a:solidFill>
        </p:spPr>
        <p:txBody>
          <a:bodyPr wrap="square" lIns="0" tIns="0" rIns="0" bIns="0" rtlCol="0"/>
          <a:lstStyle/>
          <a:p>
            <a:endParaRPr/>
          </a:p>
        </p:txBody>
      </p:sp>
      <p:sp>
        <p:nvSpPr>
          <p:cNvPr id="56" name="object 56"/>
          <p:cNvSpPr/>
          <p:nvPr/>
        </p:nvSpPr>
        <p:spPr>
          <a:xfrm>
            <a:off x="1338833" y="5075682"/>
            <a:ext cx="207645" cy="166370"/>
          </a:xfrm>
          <a:custGeom>
            <a:avLst/>
            <a:gdLst/>
            <a:ahLst/>
            <a:cxnLst/>
            <a:rect l="l" t="t" r="r" b="b"/>
            <a:pathLst>
              <a:path w="207644" h="166370">
                <a:moveTo>
                  <a:pt x="0" y="166116"/>
                </a:moveTo>
                <a:lnTo>
                  <a:pt x="207264" y="166116"/>
                </a:lnTo>
                <a:lnTo>
                  <a:pt x="207264" y="0"/>
                </a:lnTo>
                <a:lnTo>
                  <a:pt x="0" y="0"/>
                </a:lnTo>
                <a:lnTo>
                  <a:pt x="0" y="166116"/>
                </a:lnTo>
                <a:close/>
              </a:path>
            </a:pathLst>
          </a:custGeom>
          <a:ln w="28956">
            <a:solidFill>
              <a:srgbClr val="000000"/>
            </a:solidFill>
          </a:ln>
        </p:spPr>
        <p:txBody>
          <a:bodyPr wrap="square" lIns="0" tIns="0" rIns="0" bIns="0" rtlCol="0"/>
          <a:lstStyle/>
          <a:p>
            <a:endParaRPr/>
          </a:p>
        </p:txBody>
      </p:sp>
      <p:sp>
        <p:nvSpPr>
          <p:cNvPr id="57" name="object 57"/>
          <p:cNvSpPr/>
          <p:nvPr/>
        </p:nvSpPr>
        <p:spPr>
          <a:xfrm>
            <a:off x="5345938" y="3588258"/>
            <a:ext cx="712470" cy="173990"/>
          </a:xfrm>
          <a:custGeom>
            <a:avLst/>
            <a:gdLst/>
            <a:ahLst/>
            <a:cxnLst/>
            <a:rect l="l" t="t" r="r" b="b"/>
            <a:pathLst>
              <a:path w="712470" h="173989">
                <a:moveTo>
                  <a:pt x="539369" y="0"/>
                </a:moveTo>
                <a:lnTo>
                  <a:pt x="538776" y="57881"/>
                </a:lnTo>
                <a:lnTo>
                  <a:pt x="567689" y="58165"/>
                </a:lnTo>
                <a:lnTo>
                  <a:pt x="567182" y="116077"/>
                </a:lnTo>
                <a:lnTo>
                  <a:pt x="538181" y="116077"/>
                </a:lnTo>
                <a:lnTo>
                  <a:pt x="537590" y="173735"/>
                </a:lnTo>
                <a:lnTo>
                  <a:pt x="655742" y="116077"/>
                </a:lnTo>
                <a:lnTo>
                  <a:pt x="567182" y="116077"/>
                </a:lnTo>
                <a:lnTo>
                  <a:pt x="656328" y="115792"/>
                </a:lnTo>
                <a:lnTo>
                  <a:pt x="712215" y="88518"/>
                </a:lnTo>
                <a:lnTo>
                  <a:pt x="539369" y="0"/>
                </a:lnTo>
                <a:close/>
              </a:path>
              <a:path w="712470" h="173989">
                <a:moveTo>
                  <a:pt x="538776" y="57881"/>
                </a:moveTo>
                <a:lnTo>
                  <a:pt x="538183" y="115792"/>
                </a:lnTo>
                <a:lnTo>
                  <a:pt x="567182" y="116077"/>
                </a:lnTo>
                <a:lnTo>
                  <a:pt x="567689" y="58165"/>
                </a:lnTo>
                <a:lnTo>
                  <a:pt x="538776" y="57881"/>
                </a:lnTo>
                <a:close/>
              </a:path>
              <a:path w="712470" h="173989">
                <a:moveTo>
                  <a:pt x="508" y="52577"/>
                </a:moveTo>
                <a:lnTo>
                  <a:pt x="0" y="110489"/>
                </a:lnTo>
                <a:lnTo>
                  <a:pt x="538183" y="115792"/>
                </a:lnTo>
                <a:lnTo>
                  <a:pt x="538776" y="57881"/>
                </a:lnTo>
                <a:lnTo>
                  <a:pt x="508" y="52577"/>
                </a:lnTo>
                <a:close/>
              </a:path>
            </a:pathLst>
          </a:custGeom>
          <a:solidFill>
            <a:srgbClr val="EC7C30"/>
          </a:solidFill>
        </p:spPr>
        <p:txBody>
          <a:bodyPr wrap="square" lIns="0" tIns="0" rIns="0" bIns="0" rtlCol="0"/>
          <a:lstStyle/>
          <a:p>
            <a:endParaRPr/>
          </a:p>
        </p:txBody>
      </p:sp>
      <p:sp>
        <p:nvSpPr>
          <p:cNvPr id="58" name="object 58"/>
          <p:cNvSpPr/>
          <p:nvPr/>
        </p:nvSpPr>
        <p:spPr>
          <a:xfrm>
            <a:off x="2627122" y="3577590"/>
            <a:ext cx="712470" cy="173990"/>
          </a:xfrm>
          <a:custGeom>
            <a:avLst/>
            <a:gdLst/>
            <a:ahLst/>
            <a:cxnLst/>
            <a:rect l="l" t="t" r="r" b="b"/>
            <a:pathLst>
              <a:path w="712470" h="173989">
                <a:moveTo>
                  <a:pt x="539369" y="0"/>
                </a:moveTo>
                <a:lnTo>
                  <a:pt x="538776" y="57881"/>
                </a:lnTo>
                <a:lnTo>
                  <a:pt x="567689" y="58166"/>
                </a:lnTo>
                <a:lnTo>
                  <a:pt x="567182" y="116078"/>
                </a:lnTo>
                <a:lnTo>
                  <a:pt x="538181" y="116078"/>
                </a:lnTo>
                <a:lnTo>
                  <a:pt x="537590" y="173736"/>
                </a:lnTo>
                <a:lnTo>
                  <a:pt x="655742" y="116078"/>
                </a:lnTo>
                <a:lnTo>
                  <a:pt x="567182" y="116078"/>
                </a:lnTo>
                <a:lnTo>
                  <a:pt x="656328" y="115792"/>
                </a:lnTo>
                <a:lnTo>
                  <a:pt x="712215" y="88518"/>
                </a:lnTo>
                <a:lnTo>
                  <a:pt x="539369" y="0"/>
                </a:lnTo>
                <a:close/>
              </a:path>
              <a:path w="712470" h="173989">
                <a:moveTo>
                  <a:pt x="538776" y="57881"/>
                </a:moveTo>
                <a:lnTo>
                  <a:pt x="538183" y="115792"/>
                </a:lnTo>
                <a:lnTo>
                  <a:pt x="567182" y="116078"/>
                </a:lnTo>
                <a:lnTo>
                  <a:pt x="567689" y="58166"/>
                </a:lnTo>
                <a:lnTo>
                  <a:pt x="538776" y="57881"/>
                </a:lnTo>
                <a:close/>
              </a:path>
              <a:path w="712470" h="173989">
                <a:moveTo>
                  <a:pt x="507" y="52578"/>
                </a:moveTo>
                <a:lnTo>
                  <a:pt x="0" y="110490"/>
                </a:lnTo>
                <a:lnTo>
                  <a:pt x="538183" y="115792"/>
                </a:lnTo>
                <a:lnTo>
                  <a:pt x="538776" y="57881"/>
                </a:lnTo>
                <a:lnTo>
                  <a:pt x="507" y="52578"/>
                </a:lnTo>
                <a:close/>
              </a:path>
            </a:pathLst>
          </a:custGeom>
          <a:solidFill>
            <a:srgbClr val="EC7C30"/>
          </a:solidFill>
        </p:spPr>
        <p:txBody>
          <a:bodyPr wrap="square" lIns="0" tIns="0" rIns="0" bIns="0" rtlCol="0"/>
          <a:lstStyle/>
          <a:p>
            <a:endParaRPr/>
          </a:p>
        </p:txBody>
      </p:sp>
      <p:sp>
        <p:nvSpPr>
          <p:cNvPr id="59" name="object 59"/>
          <p:cNvSpPr/>
          <p:nvPr/>
        </p:nvSpPr>
        <p:spPr>
          <a:xfrm>
            <a:off x="2493264" y="3165348"/>
            <a:ext cx="877824" cy="448056"/>
          </a:xfrm>
          <a:prstGeom prst="rect">
            <a:avLst/>
          </a:prstGeom>
          <a:blipFill>
            <a:blip r:embed="rId8" cstate="print"/>
            <a:stretch>
              <a:fillRect/>
            </a:stretch>
          </a:blipFill>
        </p:spPr>
        <p:txBody>
          <a:bodyPr wrap="square" lIns="0" tIns="0" rIns="0" bIns="0" rtlCol="0"/>
          <a:lstStyle/>
          <a:p>
            <a:endParaRPr/>
          </a:p>
        </p:txBody>
      </p:sp>
      <p:sp>
        <p:nvSpPr>
          <p:cNvPr id="60" name="object 60"/>
          <p:cNvSpPr/>
          <p:nvPr/>
        </p:nvSpPr>
        <p:spPr>
          <a:xfrm>
            <a:off x="40386" y="4555997"/>
            <a:ext cx="5140960" cy="1247140"/>
          </a:xfrm>
          <a:custGeom>
            <a:avLst/>
            <a:gdLst/>
            <a:ahLst/>
            <a:cxnLst/>
            <a:rect l="l" t="t" r="r" b="b"/>
            <a:pathLst>
              <a:path w="5140960" h="1247139">
                <a:moveTo>
                  <a:pt x="0" y="207771"/>
                </a:moveTo>
                <a:lnTo>
                  <a:pt x="6038" y="157822"/>
                </a:lnTo>
                <a:lnTo>
                  <a:pt x="23192" y="112262"/>
                </a:lnTo>
                <a:lnTo>
                  <a:pt x="50016" y="72532"/>
                </a:lnTo>
                <a:lnTo>
                  <a:pt x="85066" y="40071"/>
                </a:lnTo>
                <a:lnTo>
                  <a:pt x="126899" y="16319"/>
                </a:lnTo>
                <a:lnTo>
                  <a:pt x="174071" y="2717"/>
                </a:lnTo>
                <a:lnTo>
                  <a:pt x="207772" y="0"/>
                </a:lnTo>
                <a:lnTo>
                  <a:pt x="4932680" y="0"/>
                </a:lnTo>
                <a:lnTo>
                  <a:pt x="4982629" y="6035"/>
                </a:lnTo>
                <a:lnTo>
                  <a:pt x="5028189" y="23180"/>
                </a:lnTo>
                <a:lnTo>
                  <a:pt x="5067919" y="49994"/>
                </a:lnTo>
                <a:lnTo>
                  <a:pt x="5100380" y="85039"/>
                </a:lnTo>
                <a:lnTo>
                  <a:pt x="5124132" y="126873"/>
                </a:lnTo>
                <a:lnTo>
                  <a:pt x="5137734" y="174056"/>
                </a:lnTo>
                <a:lnTo>
                  <a:pt x="5140452" y="207771"/>
                </a:lnTo>
                <a:lnTo>
                  <a:pt x="5140452" y="1038860"/>
                </a:lnTo>
                <a:lnTo>
                  <a:pt x="5134416" y="1088788"/>
                </a:lnTo>
                <a:lnTo>
                  <a:pt x="5117271" y="1134341"/>
                </a:lnTo>
                <a:lnTo>
                  <a:pt x="5090457" y="1174073"/>
                </a:lnTo>
                <a:lnTo>
                  <a:pt x="5055412" y="1206542"/>
                </a:lnTo>
                <a:lnTo>
                  <a:pt x="5013579" y="1230303"/>
                </a:lnTo>
                <a:lnTo>
                  <a:pt x="4966395" y="1243912"/>
                </a:lnTo>
                <a:lnTo>
                  <a:pt x="4932680" y="1246632"/>
                </a:lnTo>
                <a:lnTo>
                  <a:pt x="207772" y="1246632"/>
                </a:lnTo>
                <a:lnTo>
                  <a:pt x="157843" y="1240593"/>
                </a:lnTo>
                <a:lnTo>
                  <a:pt x="112290" y="1223439"/>
                </a:lnTo>
                <a:lnTo>
                  <a:pt x="72558" y="1196615"/>
                </a:lnTo>
                <a:lnTo>
                  <a:pt x="40089" y="1161565"/>
                </a:lnTo>
                <a:lnTo>
                  <a:pt x="16328" y="1119732"/>
                </a:lnTo>
                <a:lnTo>
                  <a:pt x="2719" y="1072560"/>
                </a:lnTo>
                <a:lnTo>
                  <a:pt x="0" y="1038860"/>
                </a:lnTo>
                <a:lnTo>
                  <a:pt x="0" y="207771"/>
                </a:lnTo>
                <a:close/>
              </a:path>
            </a:pathLst>
          </a:custGeom>
          <a:ln w="28956">
            <a:solidFill>
              <a:srgbClr val="00AFEF"/>
            </a:solidFill>
            <a:prstDash val="lgDash"/>
          </a:ln>
        </p:spPr>
        <p:txBody>
          <a:bodyPr wrap="square" lIns="0" tIns="0" rIns="0" bIns="0" rtlCol="0"/>
          <a:lstStyle/>
          <a:p>
            <a:endParaRPr/>
          </a:p>
        </p:txBody>
      </p:sp>
      <p:sp>
        <p:nvSpPr>
          <p:cNvPr id="61" name="object 61"/>
          <p:cNvSpPr/>
          <p:nvPr/>
        </p:nvSpPr>
        <p:spPr>
          <a:xfrm>
            <a:off x="8774430" y="4589526"/>
            <a:ext cx="3345179" cy="1247140"/>
          </a:xfrm>
          <a:custGeom>
            <a:avLst/>
            <a:gdLst/>
            <a:ahLst/>
            <a:cxnLst/>
            <a:rect l="l" t="t" r="r" b="b"/>
            <a:pathLst>
              <a:path w="3345179" h="1247139">
                <a:moveTo>
                  <a:pt x="0" y="207772"/>
                </a:moveTo>
                <a:lnTo>
                  <a:pt x="6035" y="157822"/>
                </a:lnTo>
                <a:lnTo>
                  <a:pt x="23180" y="112262"/>
                </a:lnTo>
                <a:lnTo>
                  <a:pt x="49994" y="72532"/>
                </a:lnTo>
                <a:lnTo>
                  <a:pt x="85039" y="40071"/>
                </a:lnTo>
                <a:lnTo>
                  <a:pt x="126873" y="16319"/>
                </a:lnTo>
                <a:lnTo>
                  <a:pt x="174056" y="2717"/>
                </a:lnTo>
                <a:lnTo>
                  <a:pt x="207772" y="0"/>
                </a:lnTo>
                <a:lnTo>
                  <a:pt x="3137408" y="0"/>
                </a:lnTo>
                <a:lnTo>
                  <a:pt x="3187357" y="6035"/>
                </a:lnTo>
                <a:lnTo>
                  <a:pt x="3232917" y="23180"/>
                </a:lnTo>
                <a:lnTo>
                  <a:pt x="3272647" y="49994"/>
                </a:lnTo>
                <a:lnTo>
                  <a:pt x="3305108" y="85039"/>
                </a:lnTo>
                <a:lnTo>
                  <a:pt x="3328860" y="126873"/>
                </a:lnTo>
                <a:lnTo>
                  <a:pt x="3342462" y="174056"/>
                </a:lnTo>
                <a:lnTo>
                  <a:pt x="3345179" y="207772"/>
                </a:lnTo>
                <a:lnTo>
                  <a:pt x="3345179" y="1038860"/>
                </a:lnTo>
                <a:lnTo>
                  <a:pt x="3339144" y="1088788"/>
                </a:lnTo>
                <a:lnTo>
                  <a:pt x="3321999" y="1134341"/>
                </a:lnTo>
                <a:lnTo>
                  <a:pt x="3295185" y="1174073"/>
                </a:lnTo>
                <a:lnTo>
                  <a:pt x="3260140" y="1206542"/>
                </a:lnTo>
                <a:lnTo>
                  <a:pt x="3218306" y="1230303"/>
                </a:lnTo>
                <a:lnTo>
                  <a:pt x="3171123" y="1243912"/>
                </a:lnTo>
                <a:lnTo>
                  <a:pt x="3137408" y="1246632"/>
                </a:lnTo>
                <a:lnTo>
                  <a:pt x="207772" y="1246632"/>
                </a:lnTo>
                <a:lnTo>
                  <a:pt x="157822" y="1240593"/>
                </a:lnTo>
                <a:lnTo>
                  <a:pt x="112262" y="1223439"/>
                </a:lnTo>
                <a:lnTo>
                  <a:pt x="72532" y="1196615"/>
                </a:lnTo>
                <a:lnTo>
                  <a:pt x="40071" y="1161565"/>
                </a:lnTo>
                <a:lnTo>
                  <a:pt x="16319" y="1119732"/>
                </a:lnTo>
                <a:lnTo>
                  <a:pt x="2717" y="1072560"/>
                </a:lnTo>
                <a:lnTo>
                  <a:pt x="0" y="1038860"/>
                </a:lnTo>
                <a:lnTo>
                  <a:pt x="0" y="207772"/>
                </a:lnTo>
                <a:close/>
              </a:path>
            </a:pathLst>
          </a:custGeom>
          <a:ln w="28956">
            <a:solidFill>
              <a:srgbClr val="00AFEF"/>
            </a:solidFill>
            <a:prstDash val="lgDash"/>
          </a:ln>
        </p:spPr>
        <p:txBody>
          <a:bodyPr wrap="square" lIns="0" tIns="0" rIns="0" bIns="0" rtlCol="0"/>
          <a:lstStyle/>
          <a:p>
            <a:endParaRPr/>
          </a:p>
        </p:txBody>
      </p:sp>
      <p:sp>
        <p:nvSpPr>
          <p:cNvPr id="62" name="object 62"/>
          <p:cNvSpPr/>
          <p:nvPr/>
        </p:nvSpPr>
        <p:spPr>
          <a:xfrm>
            <a:off x="9372600" y="6088379"/>
            <a:ext cx="2188845" cy="486409"/>
          </a:xfrm>
          <a:custGeom>
            <a:avLst/>
            <a:gdLst/>
            <a:ahLst/>
            <a:cxnLst/>
            <a:rect l="l" t="t" r="r" b="b"/>
            <a:pathLst>
              <a:path w="2188845" h="486409">
                <a:moveTo>
                  <a:pt x="0" y="486156"/>
                </a:moveTo>
                <a:lnTo>
                  <a:pt x="2188463" y="486156"/>
                </a:lnTo>
                <a:lnTo>
                  <a:pt x="2188463" y="0"/>
                </a:lnTo>
                <a:lnTo>
                  <a:pt x="0" y="0"/>
                </a:lnTo>
                <a:lnTo>
                  <a:pt x="0" y="486156"/>
                </a:lnTo>
                <a:close/>
              </a:path>
            </a:pathLst>
          </a:custGeom>
          <a:solidFill>
            <a:srgbClr val="00AFEF"/>
          </a:solidFill>
        </p:spPr>
        <p:txBody>
          <a:bodyPr wrap="square" lIns="0" tIns="0" rIns="0" bIns="0" rtlCol="0"/>
          <a:lstStyle/>
          <a:p>
            <a:endParaRPr/>
          </a:p>
        </p:txBody>
      </p:sp>
      <p:sp>
        <p:nvSpPr>
          <p:cNvPr id="63" name="object 63"/>
          <p:cNvSpPr/>
          <p:nvPr/>
        </p:nvSpPr>
        <p:spPr>
          <a:xfrm>
            <a:off x="9372600" y="6088379"/>
            <a:ext cx="2188845" cy="486409"/>
          </a:xfrm>
          <a:custGeom>
            <a:avLst/>
            <a:gdLst/>
            <a:ahLst/>
            <a:cxnLst/>
            <a:rect l="l" t="t" r="r" b="b"/>
            <a:pathLst>
              <a:path w="2188845" h="486409">
                <a:moveTo>
                  <a:pt x="0" y="486156"/>
                </a:moveTo>
                <a:lnTo>
                  <a:pt x="2188463" y="486156"/>
                </a:lnTo>
                <a:lnTo>
                  <a:pt x="2188463" y="0"/>
                </a:lnTo>
                <a:lnTo>
                  <a:pt x="0" y="0"/>
                </a:lnTo>
                <a:lnTo>
                  <a:pt x="0" y="486156"/>
                </a:lnTo>
                <a:close/>
              </a:path>
            </a:pathLst>
          </a:custGeom>
          <a:ln w="12192">
            <a:solidFill>
              <a:srgbClr val="41709C"/>
            </a:solidFill>
          </a:ln>
        </p:spPr>
        <p:txBody>
          <a:bodyPr wrap="square" lIns="0" tIns="0" rIns="0" bIns="0" rtlCol="0"/>
          <a:lstStyle/>
          <a:p>
            <a:endParaRPr/>
          </a:p>
        </p:txBody>
      </p:sp>
      <p:sp>
        <p:nvSpPr>
          <p:cNvPr id="64" name="object 64"/>
          <p:cNvSpPr/>
          <p:nvPr/>
        </p:nvSpPr>
        <p:spPr>
          <a:xfrm>
            <a:off x="2175510" y="1838705"/>
            <a:ext cx="7056120" cy="2368550"/>
          </a:xfrm>
          <a:custGeom>
            <a:avLst/>
            <a:gdLst/>
            <a:ahLst/>
            <a:cxnLst/>
            <a:rect l="l" t="t" r="r" b="b"/>
            <a:pathLst>
              <a:path w="7056120" h="2368550">
                <a:moveTo>
                  <a:pt x="0" y="394716"/>
                </a:moveTo>
                <a:lnTo>
                  <a:pt x="5167" y="330706"/>
                </a:lnTo>
                <a:lnTo>
                  <a:pt x="20128" y="269979"/>
                </a:lnTo>
                <a:lnTo>
                  <a:pt x="44069" y="213349"/>
                </a:lnTo>
                <a:lnTo>
                  <a:pt x="76175" y="161629"/>
                </a:lnTo>
                <a:lnTo>
                  <a:pt x="115633" y="115633"/>
                </a:lnTo>
                <a:lnTo>
                  <a:pt x="161629" y="76175"/>
                </a:lnTo>
                <a:lnTo>
                  <a:pt x="213349" y="44069"/>
                </a:lnTo>
                <a:lnTo>
                  <a:pt x="269979" y="20128"/>
                </a:lnTo>
                <a:lnTo>
                  <a:pt x="330706" y="5167"/>
                </a:lnTo>
                <a:lnTo>
                  <a:pt x="394715" y="0"/>
                </a:lnTo>
                <a:lnTo>
                  <a:pt x="6661404" y="0"/>
                </a:lnTo>
                <a:lnTo>
                  <a:pt x="6725413" y="5167"/>
                </a:lnTo>
                <a:lnTo>
                  <a:pt x="6786140" y="20128"/>
                </a:lnTo>
                <a:lnTo>
                  <a:pt x="6842770" y="44069"/>
                </a:lnTo>
                <a:lnTo>
                  <a:pt x="6894490" y="76175"/>
                </a:lnTo>
                <a:lnTo>
                  <a:pt x="6940486" y="115633"/>
                </a:lnTo>
                <a:lnTo>
                  <a:pt x="6979944" y="161629"/>
                </a:lnTo>
                <a:lnTo>
                  <a:pt x="7012050" y="213349"/>
                </a:lnTo>
                <a:lnTo>
                  <a:pt x="7035991" y="269979"/>
                </a:lnTo>
                <a:lnTo>
                  <a:pt x="7050952" y="330706"/>
                </a:lnTo>
                <a:lnTo>
                  <a:pt x="7056119" y="394716"/>
                </a:lnTo>
                <a:lnTo>
                  <a:pt x="7056119" y="1973580"/>
                </a:lnTo>
                <a:lnTo>
                  <a:pt x="7050952" y="2037589"/>
                </a:lnTo>
                <a:lnTo>
                  <a:pt x="7035991" y="2098316"/>
                </a:lnTo>
                <a:lnTo>
                  <a:pt x="7012050" y="2154946"/>
                </a:lnTo>
                <a:lnTo>
                  <a:pt x="6979944" y="2206666"/>
                </a:lnTo>
                <a:lnTo>
                  <a:pt x="6940486" y="2252662"/>
                </a:lnTo>
                <a:lnTo>
                  <a:pt x="6894490" y="2292120"/>
                </a:lnTo>
                <a:lnTo>
                  <a:pt x="6842770" y="2324226"/>
                </a:lnTo>
                <a:lnTo>
                  <a:pt x="6786140" y="2348167"/>
                </a:lnTo>
                <a:lnTo>
                  <a:pt x="6725413" y="2363128"/>
                </a:lnTo>
                <a:lnTo>
                  <a:pt x="6661404" y="2368296"/>
                </a:lnTo>
                <a:lnTo>
                  <a:pt x="394715" y="2368296"/>
                </a:lnTo>
                <a:lnTo>
                  <a:pt x="330706" y="2363128"/>
                </a:lnTo>
                <a:lnTo>
                  <a:pt x="269979" y="2348167"/>
                </a:lnTo>
                <a:lnTo>
                  <a:pt x="213349" y="2324226"/>
                </a:lnTo>
                <a:lnTo>
                  <a:pt x="161629" y="2292120"/>
                </a:lnTo>
                <a:lnTo>
                  <a:pt x="115633" y="2252662"/>
                </a:lnTo>
                <a:lnTo>
                  <a:pt x="76175" y="2206666"/>
                </a:lnTo>
                <a:lnTo>
                  <a:pt x="44069" y="2154946"/>
                </a:lnTo>
                <a:lnTo>
                  <a:pt x="20128" y="2098316"/>
                </a:lnTo>
                <a:lnTo>
                  <a:pt x="5167" y="2037589"/>
                </a:lnTo>
                <a:lnTo>
                  <a:pt x="0" y="1973580"/>
                </a:lnTo>
                <a:lnTo>
                  <a:pt x="0" y="394716"/>
                </a:lnTo>
                <a:close/>
              </a:path>
            </a:pathLst>
          </a:custGeom>
          <a:ln w="28956">
            <a:solidFill>
              <a:srgbClr val="00AFEF"/>
            </a:solidFill>
            <a:prstDash val="lgDash"/>
          </a:ln>
        </p:spPr>
        <p:txBody>
          <a:bodyPr wrap="square" lIns="0" tIns="0" rIns="0" bIns="0" rtlCol="0"/>
          <a:lstStyle/>
          <a:p>
            <a:endParaRPr/>
          </a:p>
        </p:txBody>
      </p:sp>
      <p:sp>
        <p:nvSpPr>
          <p:cNvPr id="65" name="object 65"/>
          <p:cNvSpPr/>
          <p:nvPr/>
        </p:nvSpPr>
        <p:spPr>
          <a:xfrm>
            <a:off x="345947" y="2747772"/>
            <a:ext cx="1621790" cy="485140"/>
          </a:xfrm>
          <a:custGeom>
            <a:avLst/>
            <a:gdLst/>
            <a:ahLst/>
            <a:cxnLst/>
            <a:rect l="l" t="t" r="r" b="b"/>
            <a:pathLst>
              <a:path w="1621789" h="485139">
                <a:moveTo>
                  <a:pt x="0" y="484631"/>
                </a:moveTo>
                <a:lnTo>
                  <a:pt x="1621536" y="484631"/>
                </a:lnTo>
                <a:lnTo>
                  <a:pt x="1621536" y="0"/>
                </a:lnTo>
                <a:lnTo>
                  <a:pt x="0" y="0"/>
                </a:lnTo>
                <a:lnTo>
                  <a:pt x="0" y="484631"/>
                </a:lnTo>
                <a:close/>
              </a:path>
            </a:pathLst>
          </a:custGeom>
          <a:solidFill>
            <a:srgbClr val="00AFEF"/>
          </a:solidFill>
        </p:spPr>
        <p:txBody>
          <a:bodyPr wrap="square" lIns="0" tIns="0" rIns="0" bIns="0" rtlCol="0"/>
          <a:lstStyle/>
          <a:p>
            <a:endParaRPr/>
          </a:p>
        </p:txBody>
      </p:sp>
      <p:sp>
        <p:nvSpPr>
          <p:cNvPr id="66" name="object 66"/>
          <p:cNvSpPr/>
          <p:nvPr/>
        </p:nvSpPr>
        <p:spPr>
          <a:xfrm>
            <a:off x="345947" y="2747772"/>
            <a:ext cx="1621790" cy="485140"/>
          </a:xfrm>
          <a:custGeom>
            <a:avLst/>
            <a:gdLst/>
            <a:ahLst/>
            <a:cxnLst/>
            <a:rect l="l" t="t" r="r" b="b"/>
            <a:pathLst>
              <a:path w="1621789" h="485139">
                <a:moveTo>
                  <a:pt x="0" y="484631"/>
                </a:moveTo>
                <a:lnTo>
                  <a:pt x="1621536" y="484631"/>
                </a:lnTo>
                <a:lnTo>
                  <a:pt x="1621536" y="0"/>
                </a:lnTo>
                <a:lnTo>
                  <a:pt x="0" y="0"/>
                </a:lnTo>
                <a:lnTo>
                  <a:pt x="0" y="484631"/>
                </a:lnTo>
                <a:close/>
              </a:path>
            </a:pathLst>
          </a:custGeom>
          <a:ln w="12192">
            <a:solidFill>
              <a:srgbClr val="41709C"/>
            </a:solidFill>
          </a:ln>
        </p:spPr>
        <p:txBody>
          <a:bodyPr wrap="square" lIns="0" tIns="0" rIns="0" bIns="0" rtlCol="0"/>
          <a:lstStyle/>
          <a:p>
            <a:endParaRPr/>
          </a:p>
        </p:txBody>
      </p:sp>
      <p:sp>
        <p:nvSpPr>
          <p:cNvPr id="67" name="object 67"/>
          <p:cNvSpPr/>
          <p:nvPr/>
        </p:nvSpPr>
        <p:spPr>
          <a:xfrm>
            <a:off x="4199382" y="5880353"/>
            <a:ext cx="4971415" cy="850900"/>
          </a:xfrm>
          <a:custGeom>
            <a:avLst/>
            <a:gdLst/>
            <a:ahLst/>
            <a:cxnLst/>
            <a:rect l="l" t="t" r="r" b="b"/>
            <a:pathLst>
              <a:path w="4971415" h="850900">
                <a:moveTo>
                  <a:pt x="4829556" y="0"/>
                </a:moveTo>
                <a:lnTo>
                  <a:pt x="828547" y="0"/>
                </a:lnTo>
                <a:lnTo>
                  <a:pt x="130208" y="462"/>
                </a:lnTo>
                <a:lnTo>
                  <a:pt x="88692" y="10266"/>
                </a:lnTo>
                <a:lnTo>
                  <a:pt x="52903" y="31300"/>
                </a:lnTo>
                <a:lnTo>
                  <a:pt x="24852" y="61559"/>
                </a:lnTo>
                <a:lnTo>
                  <a:pt x="6548" y="99037"/>
                </a:lnTo>
                <a:lnTo>
                  <a:pt x="0" y="141732"/>
                </a:lnTo>
                <a:lnTo>
                  <a:pt x="0" y="708660"/>
                </a:lnTo>
                <a:lnTo>
                  <a:pt x="5654" y="748411"/>
                </a:lnTo>
                <a:lnTo>
                  <a:pt x="23174" y="786335"/>
                </a:lnTo>
                <a:lnTo>
                  <a:pt x="50587" y="817185"/>
                </a:lnTo>
                <a:lnTo>
                  <a:pt x="85882" y="838954"/>
                </a:lnTo>
                <a:lnTo>
                  <a:pt x="127051" y="849640"/>
                </a:lnTo>
                <a:lnTo>
                  <a:pt x="141731" y="850392"/>
                </a:lnTo>
                <a:lnTo>
                  <a:pt x="2071369" y="850392"/>
                </a:lnTo>
                <a:lnTo>
                  <a:pt x="4841079" y="849929"/>
                </a:lnTo>
                <a:lnTo>
                  <a:pt x="4882595" y="840125"/>
                </a:lnTo>
                <a:lnTo>
                  <a:pt x="4918384" y="819091"/>
                </a:lnTo>
                <a:lnTo>
                  <a:pt x="4946435" y="788832"/>
                </a:lnTo>
                <a:lnTo>
                  <a:pt x="4964739" y="751354"/>
                </a:lnTo>
                <a:lnTo>
                  <a:pt x="4971288" y="708660"/>
                </a:lnTo>
                <a:lnTo>
                  <a:pt x="4971288" y="496062"/>
                </a:lnTo>
                <a:lnTo>
                  <a:pt x="4970825" y="130203"/>
                </a:lnTo>
                <a:lnTo>
                  <a:pt x="4961016" y="88676"/>
                </a:lnTo>
                <a:lnTo>
                  <a:pt x="4939975" y="52887"/>
                </a:lnTo>
                <a:lnTo>
                  <a:pt x="4909712" y="24842"/>
                </a:lnTo>
                <a:lnTo>
                  <a:pt x="4872235" y="6544"/>
                </a:lnTo>
                <a:lnTo>
                  <a:pt x="4829556" y="0"/>
                </a:lnTo>
                <a:close/>
              </a:path>
            </a:pathLst>
          </a:custGeom>
          <a:solidFill>
            <a:srgbClr val="FFFFC7"/>
          </a:solidFill>
        </p:spPr>
        <p:txBody>
          <a:bodyPr wrap="square" lIns="0" tIns="0" rIns="0" bIns="0" rtlCol="0"/>
          <a:lstStyle/>
          <a:p>
            <a:endParaRPr/>
          </a:p>
        </p:txBody>
      </p:sp>
      <p:sp>
        <p:nvSpPr>
          <p:cNvPr id="68" name="object 68"/>
          <p:cNvSpPr/>
          <p:nvPr/>
        </p:nvSpPr>
        <p:spPr>
          <a:xfrm>
            <a:off x="4199382" y="5880353"/>
            <a:ext cx="4971415" cy="850900"/>
          </a:xfrm>
          <a:custGeom>
            <a:avLst/>
            <a:gdLst/>
            <a:ahLst/>
            <a:cxnLst/>
            <a:rect l="l" t="t" r="r" b="b"/>
            <a:pathLst>
              <a:path w="4971415" h="850900">
                <a:moveTo>
                  <a:pt x="0" y="141732"/>
                </a:moveTo>
                <a:lnTo>
                  <a:pt x="6548" y="99037"/>
                </a:lnTo>
                <a:lnTo>
                  <a:pt x="24852" y="61559"/>
                </a:lnTo>
                <a:lnTo>
                  <a:pt x="52903" y="31300"/>
                </a:lnTo>
                <a:lnTo>
                  <a:pt x="88692" y="10266"/>
                </a:lnTo>
                <a:lnTo>
                  <a:pt x="130208" y="462"/>
                </a:lnTo>
                <a:lnTo>
                  <a:pt x="828547" y="0"/>
                </a:lnTo>
                <a:lnTo>
                  <a:pt x="2071369" y="0"/>
                </a:lnTo>
                <a:lnTo>
                  <a:pt x="4829556" y="0"/>
                </a:lnTo>
                <a:lnTo>
                  <a:pt x="4844236" y="751"/>
                </a:lnTo>
                <a:lnTo>
                  <a:pt x="4885405" y="11437"/>
                </a:lnTo>
                <a:lnTo>
                  <a:pt x="4920700" y="33206"/>
                </a:lnTo>
                <a:lnTo>
                  <a:pt x="4948113" y="64056"/>
                </a:lnTo>
                <a:lnTo>
                  <a:pt x="4965633" y="101980"/>
                </a:lnTo>
                <a:lnTo>
                  <a:pt x="4971288" y="496062"/>
                </a:lnTo>
                <a:lnTo>
                  <a:pt x="4971288" y="708660"/>
                </a:lnTo>
                <a:lnTo>
                  <a:pt x="4970535" y="723347"/>
                </a:lnTo>
                <a:lnTo>
                  <a:pt x="4968328" y="737603"/>
                </a:lnTo>
                <a:lnTo>
                  <a:pt x="4953719" y="777043"/>
                </a:lnTo>
                <a:lnTo>
                  <a:pt x="4928693" y="809931"/>
                </a:lnTo>
                <a:lnTo>
                  <a:pt x="4895260" y="834263"/>
                </a:lnTo>
                <a:lnTo>
                  <a:pt x="4855430" y="848033"/>
                </a:lnTo>
                <a:lnTo>
                  <a:pt x="2071369" y="850392"/>
                </a:lnTo>
                <a:lnTo>
                  <a:pt x="2315337" y="850392"/>
                </a:lnTo>
                <a:lnTo>
                  <a:pt x="828547" y="850392"/>
                </a:lnTo>
                <a:lnTo>
                  <a:pt x="141731" y="850392"/>
                </a:lnTo>
                <a:lnTo>
                  <a:pt x="127051" y="849640"/>
                </a:lnTo>
                <a:lnTo>
                  <a:pt x="85882" y="838954"/>
                </a:lnTo>
                <a:lnTo>
                  <a:pt x="50587" y="817185"/>
                </a:lnTo>
                <a:lnTo>
                  <a:pt x="23174" y="786335"/>
                </a:lnTo>
                <a:lnTo>
                  <a:pt x="5654" y="748411"/>
                </a:lnTo>
                <a:lnTo>
                  <a:pt x="0" y="708660"/>
                </a:lnTo>
                <a:lnTo>
                  <a:pt x="0" y="496062"/>
                </a:lnTo>
                <a:lnTo>
                  <a:pt x="0" y="141732"/>
                </a:lnTo>
                <a:close/>
              </a:path>
            </a:pathLst>
          </a:custGeom>
          <a:ln w="28956">
            <a:solidFill>
              <a:srgbClr val="000000"/>
            </a:solidFill>
          </a:ln>
        </p:spPr>
        <p:txBody>
          <a:bodyPr wrap="square" lIns="0" tIns="0" rIns="0" bIns="0" rtlCol="0"/>
          <a:lstStyle/>
          <a:p>
            <a:endParaRPr/>
          </a:p>
        </p:txBody>
      </p:sp>
      <p:sp>
        <p:nvSpPr>
          <p:cNvPr id="69" name="object 69"/>
          <p:cNvSpPr/>
          <p:nvPr/>
        </p:nvSpPr>
        <p:spPr>
          <a:xfrm>
            <a:off x="8205978" y="445769"/>
            <a:ext cx="3865245" cy="2397760"/>
          </a:xfrm>
          <a:custGeom>
            <a:avLst/>
            <a:gdLst/>
            <a:ahLst/>
            <a:cxnLst/>
            <a:rect l="l" t="t" r="r" b="b"/>
            <a:pathLst>
              <a:path w="3865245" h="2397760">
                <a:moveTo>
                  <a:pt x="3465322" y="0"/>
                </a:moveTo>
                <a:lnTo>
                  <a:pt x="399542" y="0"/>
                </a:lnTo>
                <a:lnTo>
                  <a:pt x="366781" y="1324"/>
                </a:lnTo>
                <a:lnTo>
                  <a:pt x="303547" y="11615"/>
                </a:lnTo>
                <a:lnTo>
                  <a:pt x="244048" y="31406"/>
                </a:lnTo>
                <a:lnTo>
                  <a:pt x="189107" y="59875"/>
                </a:lnTo>
                <a:lnTo>
                  <a:pt x="139549" y="96197"/>
                </a:lnTo>
                <a:lnTo>
                  <a:pt x="96197" y="139549"/>
                </a:lnTo>
                <a:lnTo>
                  <a:pt x="59875" y="189107"/>
                </a:lnTo>
                <a:lnTo>
                  <a:pt x="31406" y="244048"/>
                </a:lnTo>
                <a:lnTo>
                  <a:pt x="11615" y="303547"/>
                </a:lnTo>
                <a:lnTo>
                  <a:pt x="1324" y="366781"/>
                </a:lnTo>
                <a:lnTo>
                  <a:pt x="0" y="399541"/>
                </a:lnTo>
                <a:lnTo>
                  <a:pt x="0" y="1997709"/>
                </a:lnTo>
                <a:lnTo>
                  <a:pt x="5231" y="2062502"/>
                </a:lnTo>
                <a:lnTo>
                  <a:pt x="20374" y="2123972"/>
                </a:lnTo>
                <a:lnTo>
                  <a:pt x="44607" y="2181295"/>
                </a:lnTo>
                <a:lnTo>
                  <a:pt x="77106" y="2233647"/>
                </a:lnTo>
                <a:lnTo>
                  <a:pt x="117046" y="2280205"/>
                </a:lnTo>
                <a:lnTo>
                  <a:pt x="163604" y="2320145"/>
                </a:lnTo>
                <a:lnTo>
                  <a:pt x="215956" y="2352644"/>
                </a:lnTo>
                <a:lnTo>
                  <a:pt x="273279" y="2376877"/>
                </a:lnTo>
                <a:lnTo>
                  <a:pt x="334749" y="2392020"/>
                </a:lnTo>
                <a:lnTo>
                  <a:pt x="399542" y="2397252"/>
                </a:lnTo>
                <a:lnTo>
                  <a:pt x="3465322" y="2397252"/>
                </a:lnTo>
                <a:lnTo>
                  <a:pt x="3530114" y="2392020"/>
                </a:lnTo>
                <a:lnTo>
                  <a:pt x="3591584" y="2376877"/>
                </a:lnTo>
                <a:lnTo>
                  <a:pt x="3648907" y="2352644"/>
                </a:lnTo>
                <a:lnTo>
                  <a:pt x="3701259" y="2320145"/>
                </a:lnTo>
                <a:lnTo>
                  <a:pt x="3747817" y="2280205"/>
                </a:lnTo>
                <a:lnTo>
                  <a:pt x="3787757" y="2233647"/>
                </a:lnTo>
                <a:lnTo>
                  <a:pt x="3820256" y="2181295"/>
                </a:lnTo>
                <a:lnTo>
                  <a:pt x="3844489" y="2123972"/>
                </a:lnTo>
                <a:lnTo>
                  <a:pt x="3859632" y="2062502"/>
                </a:lnTo>
                <a:lnTo>
                  <a:pt x="3864864" y="1997709"/>
                </a:lnTo>
                <a:lnTo>
                  <a:pt x="3864864" y="399541"/>
                </a:lnTo>
                <a:lnTo>
                  <a:pt x="3859632" y="334749"/>
                </a:lnTo>
                <a:lnTo>
                  <a:pt x="3844489" y="273279"/>
                </a:lnTo>
                <a:lnTo>
                  <a:pt x="3820256" y="215956"/>
                </a:lnTo>
                <a:lnTo>
                  <a:pt x="3787757" y="163604"/>
                </a:lnTo>
                <a:lnTo>
                  <a:pt x="3747817" y="117046"/>
                </a:lnTo>
                <a:lnTo>
                  <a:pt x="3701259" y="77106"/>
                </a:lnTo>
                <a:lnTo>
                  <a:pt x="3648907" y="44607"/>
                </a:lnTo>
                <a:lnTo>
                  <a:pt x="3591584" y="20374"/>
                </a:lnTo>
                <a:lnTo>
                  <a:pt x="3530114" y="5231"/>
                </a:lnTo>
                <a:lnTo>
                  <a:pt x="3465322" y="0"/>
                </a:lnTo>
                <a:close/>
              </a:path>
            </a:pathLst>
          </a:custGeom>
          <a:solidFill>
            <a:srgbClr val="FFFFC7"/>
          </a:solidFill>
        </p:spPr>
        <p:txBody>
          <a:bodyPr wrap="square" lIns="0" tIns="0" rIns="0" bIns="0" rtlCol="0"/>
          <a:lstStyle/>
          <a:p>
            <a:endParaRPr/>
          </a:p>
        </p:txBody>
      </p:sp>
      <p:sp>
        <p:nvSpPr>
          <p:cNvPr id="70" name="object 70"/>
          <p:cNvSpPr/>
          <p:nvPr/>
        </p:nvSpPr>
        <p:spPr>
          <a:xfrm>
            <a:off x="8205978" y="445769"/>
            <a:ext cx="3865245" cy="2397760"/>
          </a:xfrm>
          <a:custGeom>
            <a:avLst/>
            <a:gdLst/>
            <a:ahLst/>
            <a:cxnLst/>
            <a:rect l="l" t="t" r="r" b="b"/>
            <a:pathLst>
              <a:path w="3865245" h="2397760">
                <a:moveTo>
                  <a:pt x="0" y="399541"/>
                </a:moveTo>
                <a:lnTo>
                  <a:pt x="5231" y="334749"/>
                </a:lnTo>
                <a:lnTo>
                  <a:pt x="20374" y="273279"/>
                </a:lnTo>
                <a:lnTo>
                  <a:pt x="44607" y="215956"/>
                </a:lnTo>
                <a:lnTo>
                  <a:pt x="77106" y="163604"/>
                </a:lnTo>
                <a:lnTo>
                  <a:pt x="117046" y="117046"/>
                </a:lnTo>
                <a:lnTo>
                  <a:pt x="163604" y="77106"/>
                </a:lnTo>
                <a:lnTo>
                  <a:pt x="215956" y="44607"/>
                </a:lnTo>
                <a:lnTo>
                  <a:pt x="273279" y="20374"/>
                </a:lnTo>
                <a:lnTo>
                  <a:pt x="334749" y="5231"/>
                </a:lnTo>
                <a:lnTo>
                  <a:pt x="399542" y="0"/>
                </a:lnTo>
                <a:lnTo>
                  <a:pt x="644144" y="0"/>
                </a:lnTo>
                <a:lnTo>
                  <a:pt x="1610360" y="0"/>
                </a:lnTo>
                <a:lnTo>
                  <a:pt x="3465322" y="0"/>
                </a:lnTo>
                <a:lnTo>
                  <a:pt x="3498082" y="1324"/>
                </a:lnTo>
                <a:lnTo>
                  <a:pt x="3561316" y="11615"/>
                </a:lnTo>
                <a:lnTo>
                  <a:pt x="3620815" y="31406"/>
                </a:lnTo>
                <a:lnTo>
                  <a:pt x="3675756" y="59875"/>
                </a:lnTo>
                <a:lnTo>
                  <a:pt x="3725314" y="96197"/>
                </a:lnTo>
                <a:lnTo>
                  <a:pt x="3768666" y="139549"/>
                </a:lnTo>
                <a:lnTo>
                  <a:pt x="3804988" y="189107"/>
                </a:lnTo>
                <a:lnTo>
                  <a:pt x="3833457" y="244048"/>
                </a:lnTo>
                <a:lnTo>
                  <a:pt x="3853248" y="303547"/>
                </a:lnTo>
                <a:lnTo>
                  <a:pt x="3863539" y="366781"/>
                </a:lnTo>
                <a:lnTo>
                  <a:pt x="3864864" y="399541"/>
                </a:lnTo>
                <a:lnTo>
                  <a:pt x="3864864" y="1398396"/>
                </a:lnTo>
                <a:lnTo>
                  <a:pt x="3864864" y="1997709"/>
                </a:lnTo>
                <a:lnTo>
                  <a:pt x="3863539" y="2030470"/>
                </a:lnTo>
                <a:lnTo>
                  <a:pt x="3859632" y="2062502"/>
                </a:lnTo>
                <a:lnTo>
                  <a:pt x="3844489" y="2123972"/>
                </a:lnTo>
                <a:lnTo>
                  <a:pt x="3820256" y="2181295"/>
                </a:lnTo>
                <a:lnTo>
                  <a:pt x="3787757" y="2233647"/>
                </a:lnTo>
                <a:lnTo>
                  <a:pt x="3747817" y="2280205"/>
                </a:lnTo>
                <a:lnTo>
                  <a:pt x="3701259" y="2320145"/>
                </a:lnTo>
                <a:lnTo>
                  <a:pt x="3648907" y="2352644"/>
                </a:lnTo>
                <a:lnTo>
                  <a:pt x="3591584" y="2376877"/>
                </a:lnTo>
                <a:lnTo>
                  <a:pt x="3530114" y="2392020"/>
                </a:lnTo>
                <a:lnTo>
                  <a:pt x="3465322" y="2397252"/>
                </a:lnTo>
                <a:lnTo>
                  <a:pt x="1610360" y="2397252"/>
                </a:lnTo>
                <a:lnTo>
                  <a:pt x="1357883" y="2397252"/>
                </a:lnTo>
                <a:lnTo>
                  <a:pt x="644144" y="2397252"/>
                </a:lnTo>
                <a:lnTo>
                  <a:pt x="399542" y="2397252"/>
                </a:lnTo>
                <a:lnTo>
                  <a:pt x="366781" y="2395927"/>
                </a:lnTo>
                <a:lnTo>
                  <a:pt x="303547" y="2385636"/>
                </a:lnTo>
                <a:lnTo>
                  <a:pt x="244048" y="2365845"/>
                </a:lnTo>
                <a:lnTo>
                  <a:pt x="189107" y="2337376"/>
                </a:lnTo>
                <a:lnTo>
                  <a:pt x="139549" y="2301054"/>
                </a:lnTo>
                <a:lnTo>
                  <a:pt x="96197" y="2257702"/>
                </a:lnTo>
                <a:lnTo>
                  <a:pt x="59875" y="2208144"/>
                </a:lnTo>
                <a:lnTo>
                  <a:pt x="31406" y="2153203"/>
                </a:lnTo>
                <a:lnTo>
                  <a:pt x="11615" y="2093704"/>
                </a:lnTo>
                <a:lnTo>
                  <a:pt x="1324" y="2030470"/>
                </a:lnTo>
                <a:lnTo>
                  <a:pt x="0" y="1997709"/>
                </a:lnTo>
                <a:lnTo>
                  <a:pt x="0" y="1398396"/>
                </a:lnTo>
                <a:lnTo>
                  <a:pt x="0" y="399541"/>
                </a:lnTo>
                <a:close/>
              </a:path>
            </a:pathLst>
          </a:custGeom>
          <a:ln w="28956">
            <a:solidFill>
              <a:srgbClr val="000000"/>
            </a:solidFill>
          </a:ln>
        </p:spPr>
        <p:txBody>
          <a:bodyPr wrap="square" lIns="0" tIns="0" rIns="0" bIns="0" rtlCol="0"/>
          <a:lstStyle/>
          <a:p>
            <a:endParaRPr/>
          </a:p>
        </p:txBody>
      </p:sp>
      <p:sp>
        <p:nvSpPr>
          <p:cNvPr id="71" name="object 71"/>
          <p:cNvSpPr/>
          <p:nvPr/>
        </p:nvSpPr>
        <p:spPr>
          <a:xfrm>
            <a:off x="8205978" y="3059429"/>
            <a:ext cx="3865245" cy="1596390"/>
          </a:xfrm>
          <a:custGeom>
            <a:avLst/>
            <a:gdLst/>
            <a:ahLst/>
            <a:cxnLst/>
            <a:rect l="l" t="t" r="r" b="b"/>
            <a:pathLst>
              <a:path w="3865245" h="1596389">
                <a:moveTo>
                  <a:pt x="3220720" y="1336548"/>
                </a:moveTo>
                <a:lnTo>
                  <a:pt x="2254504" y="1336548"/>
                </a:lnTo>
                <a:lnTo>
                  <a:pt x="3354958" y="1596009"/>
                </a:lnTo>
                <a:lnTo>
                  <a:pt x="3220720" y="1336548"/>
                </a:lnTo>
                <a:close/>
              </a:path>
              <a:path w="3865245" h="1596389">
                <a:moveTo>
                  <a:pt x="3642105" y="0"/>
                </a:moveTo>
                <a:lnTo>
                  <a:pt x="222757" y="0"/>
                </a:lnTo>
                <a:lnTo>
                  <a:pt x="204483" y="738"/>
                </a:lnTo>
                <a:lnTo>
                  <a:pt x="152334" y="11352"/>
                </a:lnTo>
                <a:lnTo>
                  <a:pt x="105402" y="33365"/>
                </a:lnTo>
                <a:lnTo>
                  <a:pt x="65230" y="65230"/>
                </a:lnTo>
                <a:lnTo>
                  <a:pt x="33365" y="105402"/>
                </a:lnTo>
                <a:lnTo>
                  <a:pt x="11352" y="152334"/>
                </a:lnTo>
                <a:lnTo>
                  <a:pt x="738" y="204483"/>
                </a:lnTo>
                <a:lnTo>
                  <a:pt x="0" y="222758"/>
                </a:lnTo>
                <a:lnTo>
                  <a:pt x="0" y="1113790"/>
                </a:lnTo>
                <a:lnTo>
                  <a:pt x="6471" y="1167333"/>
                </a:lnTo>
                <a:lnTo>
                  <a:pt x="24856" y="1216176"/>
                </a:lnTo>
                <a:lnTo>
                  <a:pt x="53609" y="1258773"/>
                </a:lnTo>
                <a:lnTo>
                  <a:pt x="91183" y="1293579"/>
                </a:lnTo>
                <a:lnTo>
                  <a:pt x="136034" y="1319047"/>
                </a:lnTo>
                <a:lnTo>
                  <a:pt x="186616" y="1333633"/>
                </a:lnTo>
                <a:lnTo>
                  <a:pt x="222757" y="1336548"/>
                </a:lnTo>
                <a:lnTo>
                  <a:pt x="3642105" y="1336548"/>
                </a:lnTo>
                <a:lnTo>
                  <a:pt x="3695649" y="1330076"/>
                </a:lnTo>
                <a:lnTo>
                  <a:pt x="3744492" y="1311691"/>
                </a:lnTo>
                <a:lnTo>
                  <a:pt x="3787089" y="1282938"/>
                </a:lnTo>
                <a:lnTo>
                  <a:pt x="3821895" y="1245364"/>
                </a:lnTo>
                <a:lnTo>
                  <a:pt x="3847363" y="1200513"/>
                </a:lnTo>
                <a:lnTo>
                  <a:pt x="3861949" y="1149931"/>
                </a:lnTo>
                <a:lnTo>
                  <a:pt x="3864864" y="1113790"/>
                </a:lnTo>
                <a:lnTo>
                  <a:pt x="3864864" y="222758"/>
                </a:lnTo>
                <a:lnTo>
                  <a:pt x="3858392" y="169214"/>
                </a:lnTo>
                <a:lnTo>
                  <a:pt x="3840007" y="120371"/>
                </a:lnTo>
                <a:lnTo>
                  <a:pt x="3811254" y="77774"/>
                </a:lnTo>
                <a:lnTo>
                  <a:pt x="3773680" y="42968"/>
                </a:lnTo>
                <a:lnTo>
                  <a:pt x="3728829" y="17500"/>
                </a:lnTo>
                <a:lnTo>
                  <a:pt x="3678247" y="2914"/>
                </a:lnTo>
                <a:lnTo>
                  <a:pt x="3642105" y="0"/>
                </a:lnTo>
                <a:close/>
              </a:path>
            </a:pathLst>
          </a:custGeom>
          <a:solidFill>
            <a:srgbClr val="FFFFC7"/>
          </a:solidFill>
        </p:spPr>
        <p:txBody>
          <a:bodyPr wrap="square" lIns="0" tIns="0" rIns="0" bIns="0" rtlCol="0"/>
          <a:lstStyle/>
          <a:p>
            <a:endParaRPr/>
          </a:p>
        </p:txBody>
      </p:sp>
      <p:sp>
        <p:nvSpPr>
          <p:cNvPr id="72" name="object 72"/>
          <p:cNvSpPr/>
          <p:nvPr/>
        </p:nvSpPr>
        <p:spPr>
          <a:xfrm>
            <a:off x="8205978" y="3059429"/>
            <a:ext cx="3865245" cy="1596390"/>
          </a:xfrm>
          <a:custGeom>
            <a:avLst/>
            <a:gdLst/>
            <a:ahLst/>
            <a:cxnLst/>
            <a:rect l="l" t="t" r="r" b="b"/>
            <a:pathLst>
              <a:path w="3865245" h="1596389">
                <a:moveTo>
                  <a:pt x="0" y="222758"/>
                </a:moveTo>
                <a:lnTo>
                  <a:pt x="6471" y="169214"/>
                </a:lnTo>
                <a:lnTo>
                  <a:pt x="24856" y="120371"/>
                </a:lnTo>
                <a:lnTo>
                  <a:pt x="53609" y="77774"/>
                </a:lnTo>
                <a:lnTo>
                  <a:pt x="91183" y="42968"/>
                </a:lnTo>
                <a:lnTo>
                  <a:pt x="136034" y="17500"/>
                </a:lnTo>
                <a:lnTo>
                  <a:pt x="186616" y="2914"/>
                </a:lnTo>
                <a:lnTo>
                  <a:pt x="222757" y="0"/>
                </a:lnTo>
                <a:lnTo>
                  <a:pt x="2254504" y="0"/>
                </a:lnTo>
                <a:lnTo>
                  <a:pt x="3220720" y="0"/>
                </a:lnTo>
                <a:lnTo>
                  <a:pt x="3642105" y="0"/>
                </a:lnTo>
                <a:lnTo>
                  <a:pt x="3660380" y="738"/>
                </a:lnTo>
                <a:lnTo>
                  <a:pt x="3712529" y="11352"/>
                </a:lnTo>
                <a:lnTo>
                  <a:pt x="3759461" y="33365"/>
                </a:lnTo>
                <a:lnTo>
                  <a:pt x="3799633" y="65230"/>
                </a:lnTo>
                <a:lnTo>
                  <a:pt x="3831498" y="105402"/>
                </a:lnTo>
                <a:lnTo>
                  <a:pt x="3853511" y="152334"/>
                </a:lnTo>
                <a:lnTo>
                  <a:pt x="3864125" y="204483"/>
                </a:lnTo>
                <a:lnTo>
                  <a:pt x="3864864" y="222758"/>
                </a:lnTo>
                <a:lnTo>
                  <a:pt x="3864864" y="779653"/>
                </a:lnTo>
                <a:lnTo>
                  <a:pt x="3864864" y="1113790"/>
                </a:lnTo>
                <a:lnTo>
                  <a:pt x="3864125" y="1132064"/>
                </a:lnTo>
                <a:lnTo>
                  <a:pt x="3861949" y="1149931"/>
                </a:lnTo>
                <a:lnTo>
                  <a:pt x="3847363" y="1200513"/>
                </a:lnTo>
                <a:lnTo>
                  <a:pt x="3821895" y="1245364"/>
                </a:lnTo>
                <a:lnTo>
                  <a:pt x="3787089" y="1282938"/>
                </a:lnTo>
                <a:lnTo>
                  <a:pt x="3744492" y="1311691"/>
                </a:lnTo>
                <a:lnTo>
                  <a:pt x="3695649" y="1330076"/>
                </a:lnTo>
                <a:lnTo>
                  <a:pt x="3642105" y="1336548"/>
                </a:lnTo>
                <a:lnTo>
                  <a:pt x="3220720" y="1336548"/>
                </a:lnTo>
                <a:lnTo>
                  <a:pt x="3354958" y="1596009"/>
                </a:lnTo>
                <a:lnTo>
                  <a:pt x="2254504" y="1336548"/>
                </a:lnTo>
                <a:lnTo>
                  <a:pt x="222757" y="1336548"/>
                </a:lnTo>
                <a:lnTo>
                  <a:pt x="204483" y="1335809"/>
                </a:lnTo>
                <a:lnTo>
                  <a:pt x="152334" y="1325195"/>
                </a:lnTo>
                <a:lnTo>
                  <a:pt x="105402" y="1303182"/>
                </a:lnTo>
                <a:lnTo>
                  <a:pt x="65230" y="1271317"/>
                </a:lnTo>
                <a:lnTo>
                  <a:pt x="33365" y="1231145"/>
                </a:lnTo>
                <a:lnTo>
                  <a:pt x="11352" y="1184213"/>
                </a:lnTo>
                <a:lnTo>
                  <a:pt x="738" y="1132064"/>
                </a:lnTo>
                <a:lnTo>
                  <a:pt x="0" y="1113790"/>
                </a:lnTo>
                <a:lnTo>
                  <a:pt x="0" y="779653"/>
                </a:lnTo>
                <a:lnTo>
                  <a:pt x="0" y="222758"/>
                </a:lnTo>
                <a:close/>
              </a:path>
            </a:pathLst>
          </a:custGeom>
          <a:ln w="28956">
            <a:solidFill>
              <a:srgbClr val="000000"/>
            </a:solidFill>
          </a:ln>
        </p:spPr>
        <p:txBody>
          <a:bodyPr wrap="square" lIns="0" tIns="0" rIns="0" bIns="0" rtlCol="0"/>
          <a:lstStyle/>
          <a:p>
            <a:endParaRPr/>
          </a:p>
        </p:txBody>
      </p:sp>
      <p:sp>
        <p:nvSpPr>
          <p:cNvPr id="73" name="object 73"/>
          <p:cNvSpPr txBox="1"/>
          <p:nvPr/>
        </p:nvSpPr>
        <p:spPr>
          <a:xfrm>
            <a:off x="62890" y="4700954"/>
            <a:ext cx="1207770" cy="652780"/>
          </a:xfrm>
          <a:prstGeom prst="rect">
            <a:avLst/>
          </a:prstGeom>
        </p:spPr>
        <p:txBody>
          <a:bodyPr vert="horz" wrap="square" lIns="0" tIns="0" rIns="0" bIns="0" rtlCol="0">
            <a:spAutoFit/>
          </a:bodyPr>
          <a:lstStyle/>
          <a:p>
            <a:pPr marL="176530">
              <a:lnSpc>
                <a:spcPts val="2355"/>
              </a:lnSpc>
            </a:pPr>
            <a:r>
              <a:rPr sz="2000" b="1" dirty="0">
                <a:solidFill>
                  <a:srgbClr val="252525"/>
                </a:solidFill>
                <a:latin typeface="微软雅黑"/>
                <a:cs typeface="微软雅黑"/>
              </a:rPr>
              <a:t>通道引脚</a:t>
            </a:r>
            <a:endParaRPr sz="2000">
              <a:latin typeface="微软雅黑"/>
              <a:cs typeface="微软雅黑"/>
            </a:endParaRPr>
          </a:p>
          <a:p>
            <a:pPr marL="12700">
              <a:lnSpc>
                <a:spcPts val="2835"/>
              </a:lnSpc>
            </a:pPr>
            <a:r>
              <a:rPr sz="2400" b="1" dirty="0">
                <a:solidFill>
                  <a:srgbClr val="252525"/>
                </a:solidFill>
                <a:latin typeface="Consolas"/>
                <a:cs typeface="Consolas"/>
              </a:rPr>
              <a:t>TI</a:t>
            </a:r>
            <a:r>
              <a:rPr sz="2400" b="1" spc="5" dirty="0">
                <a:solidFill>
                  <a:srgbClr val="252525"/>
                </a:solidFill>
                <a:latin typeface="Consolas"/>
                <a:cs typeface="Consolas"/>
              </a:rPr>
              <a:t>M</a:t>
            </a:r>
            <a:r>
              <a:rPr sz="2400" b="1" dirty="0">
                <a:solidFill>
                  <a:srgbClr val="252525"/>
                </a:solidFill>
                <a:latin typeface="Consolas"/>
                <a:cs typeface="Consolas"/>
              </a:rPr>
              <a:t>x_</a:t>
            </a:r>
            <a:r>
              <a:rPr sz="2400" b="1" spc="5" dirty="0">
                <a:solidFill>
                  <a:srgbClr val="252525"/>
                </a:solidFill>
                <a:latin typeface="Consolas"/>
                <a:cs typeface="Consolas"/>
              </a:rPr>
              <a:t>C</a:t>
            </a:r>
            <a:r>
              <a:rPr sz="2400" b="1" dirty="0">
                <a:solidFill>
                  <a:srgbClr val="252525"/>
                </a:solidFill>
                <a:latin typeface="Consolas"/>
                <a:cs typeface="Consolas"/>
              </a:rPr>
              <a:t>H</a:t>
            </a:r>
            <a:endParaRPr sz="2400">
              <a:latin typeface="Consolas"/>
              <a:cs typeface="Consolas"/>
            </a:endParaRPr>
          </a:p>
        </p:txBody>
      </p:sp>
      <p:sp>
        <p:nvSpPr>
          <p:cNvPr id="74" name="object 74"/>
          <p:cNvSpPr txBox="1"/>
          <p:nvPr/>
        </p:nvSpPr>
        <p:spPr>
          <a:xfrm>
            <a:off x="4199382" y="4805934"/>
            <a:ext cx="838200" cy="777240"/>
          </a:xfrm>
          <a:prstGeom prst="rect">
            <a:avLst/>
          </a:prstGeom>
          <a:ln w="28956">
            <a:solidFill>
              <a:srgbClr val="000000"/>
            </a:solidFill>
          </a:ln>
        </p:spPr>
        <p:txBody>
          <a:bodyPr vert="horz" wrap="square" lIns="0" tIns="0" rIns="0" bIns="0" rtlCol="0">
            <a:spAutoFit/>
          </a:bodyPr>
          <a:lstStyle/>
          <a:p>
            <a:pPr marL="147320" marR="145415">
              <a:lnSpc>
                <a:spcPct val="100000"/>
              </a:lnSpc>
            </a:pPr>
            <a:r>
              <a:rPr sz="2000" b="1" dirty="0">
                <a:solidFill>
                  <a:srgbClr val="252525"/>
                </a:solidFill>
                <a:latin typeface="微软雅黑"/>
                <a:cs typeface="微软雅黑"/>
              </a:rPr>
              <a:t>预分 频器</a:t>
            </a:r>
            <a:endParaRPr sz="2000">
              <a:latin typeface="微软雅黑"/>
              <a:cs typeface="微软雅黑"/>
            </a:endParaRPr>
          </a:p>
        </p:txBody>
      </p:sp>
      <p:sp>
        <p:nvSpPr>
          <p:cNvPr id="75" name="object 75"/>
          <p:cNvSpPr txBox="1"/>
          <p:nvPr/>
        </p:nvSpPr>
        <p:spPr>
          <a:xfrm>
            <a:off x="9563861" y="6187388"/>
            <a:ext cx="1854200" cy="330835"/>
          </a:xfrm>
          <a:prstGeom prst="rect">
            <a:avLst/>
          </a:prstGeom>
        </p:spPr>
        <p:txBody>
          <a:bodyPr vert="horz" wrap="square" lIns="0" tIns="0" rIns="0" bIns="0" rtlCol="0">
            <a:spAutoFit/>
          </a:bodyPr>
          <a:lstStyle/>
          <a:p>
            <a:pPr marL="12700">
              <a:lnSpc>
                <a:spcPct val="100000"/>
              </a:lnSpc>
            </a:pPr>
            <a:r>
              <a:rPr sz="2400" b="1" spc="-5" dirty="0">
                <a:solidFill>
                  <a:srgbClr val="FFFFFF"/>
                </a:solidFill>
                <a:latin typeface="微软雅黑"/>
                <a:cs typeface="微软雅黑"/>
              </a:rPr>
              <a:t>输出比较单元</a:t>
            </a:r>
            <a:endParaRPr sz="2400">
              <a:latin typeface="微软雅黑"/>
              <a:cs typeface="微软雅黑"/>
            </a:endParaRPr>
          </a:p>
        </p:txBody>
      </p:sp>
      <p:sp>
        <p:nvSpPr>
          <p:cNvPr id="76" name="object 76"/>
          <p:cNvSpPr txBox="1"/>
          <p:nvPr/>
        </p:nvSpPr>
        <p:spPr>
          <a:xfrm>
            <a:off x="535635" y="2845170"/>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时基单元</a:t>
            </a:r>
            <a:endParaRPr sz="2400">
              <a:latin typeface="微软雅黑"/>
              <a:cs typeface="微软雅黑"/>
            </a:endParaRPr>
          </a:p>
        </p:txBody>
      </p:sp>
      <p:sp>
        <p:nvSpPr>
          <p:cNvPr id="77" name="object 77"/>
          <p:cNvSpPr txBox="1"/>
          <p:nvPr/>
        </p:nvSpPr>
        <p:spPr>
          <a:xfrm>
            <a:off x="4373371" y="5979553"/>
            <a:ext cx="4625340" cy="675005"/>
          </a:xfrm>
          <a:prstGeom prst="rect">
            <a:avLst/>
          </a:prstGeom>
        </p:spPr>
        <p:txBody>
          <a:bodyPr vert="horz" wrap="square" lIns="0" tIns="0" rIns="0" bIns="0" rtlCol="0">
            <a:spAutoFit/>
          </a:bodyPr>
          <a:lstStyle/>
          <a:p>
            <a:pPr marL="12700" marR="5080">
              <a:lnSpc>
                <a:spcPts val="2710"/>
              </a:lnSpc>
            </a:pPr>
            <a:r>
              <a:rPr sz="2400" b="1" dirty="0">
                <a:latin typeface="宋体"/>
                <a:cs typeface="宋体"/>
              </a:rPr>
              <a:t>每个通道可以选择作为输入捕获或 者输出比较功能，但是只能二选一</a:t>
            </a:r>
            <a:endParaRPr sz="2400">
              <a:latin typeface="宋体"/>
              <a:cs typeface="宋体"/>
            </a:endParaRPr>
          </a:p>
        </p:txBody>
      </p:sp>
      <p:sp>
        <p:nvSpPr>
          <p:cNvPr id="78" name="object 78"/>
          <p:cNvSpPr txBox="1">
            <a:spLocks noGrp="1"/>
          </p:cNvSpPr>
          <p:nvPr>
            <p:ph type="title"/>
          </p:nvPr>
        </p:nvSpPr>
        <p:spPr>
          <a:xfrm>
            <a:off x="8402193" y="564451"/>
            <a:ext cx="3286760" cy="365760"/>
          </a:xfrm>
          <a:prstGeom prst="rect">
            <a:avLst/>
          </a:prstGeom>
        </p:spPr>
        <p:txBody>
          <a:bodyPr vert="horz" wrap="square" lIns="0" tIns="0" rIns="0" bIns="0" rtlCol="0">
            <a:spAutoFit/>
          </a:bodyPr>
          <a:lstStyle/>
          <a:p>
            <a:pPr marL="12700">
              <a:lnSpc>
                <a:spcPct val="100000"/>
              </a:lnSpc>
            </a:pPr>
            <a:r>
              <a:rPr sz="2400" dirty="0">
                <a:latin typeface="宋体"/>
                <a:cs typeface="宋体"/>
              </a:rPr>
              <a:t>每个定时器具</a:t>
            </a:r>
            <a:r>
              <a:rPr sz="2400" spc="0" dirty="0">
                <a:latin typeface="宋体"/>
                <a:cs typeface="宋体"/>
              </a:rPr>
              <a:t>备</a:t>
            </a:r>
            <a:r>
              <a:rPr sz="2400" spc="-5" dirty="0">
                <a:latin typeface="Consolas"/>
                <a:cs typeface="Consolas"/>
              </a:rPr>
              <a:t>1~4</a:t>
            </a:r>
            <a:r>
              <a:rPr sz="2400" dirty="0">
                <a:latin typeface="宋体"/>
                <a:cs typeface="宋体"/>
              </a:rPr>
              <a:t>个独</a:t>
            </a:r>
            <a:endParaRPr sz="2400">
              <a:latin typeface="宋体"/>
              <a:cs typeface="宋体"/>
            </a:endParaRPr>
          </a:p>
        </p:txBody>
      </p:sp>
      <p:sp>
        <p:nvSpPr>
          <p:cNvPr id="79" name="object 79"/>
          <p:cNvSpPr txBox="1"/>
          <p:nvPr/>
        </p:nvSpPr>
        <p:spPr>
          <a:xfrm>
            <a:off x="8402193" y="951285"/>
            <a:ext cx="3395345" cy="1076960"/>
          </a:xfrm>
          <a:prstGeom prst="rect">
            <a:avLst/>
          </a:prstGeom>
        </p:spPr>
        <p:txBody>
          <a:bodyPr vert="horz" wrap="square" lIns="0" tIns="0" rIns="0" bIns="0" rtlCol="0">
            <a:spAutoFit/>
          </a:bodyPr>
          <a:lstStyle/>
          <a:p>
            <a:pPr marL="12700" marR="5080" algn="just">
              <a:lnSpc>
                <a:spcPct val="97100"/>
              </a:lnSpc>
            </a:pPr>
            <a:r>
              <a:rPr sz="2400" b="1" spc="-5" dirty="0">
                <a:latin typeface="宋体"/>
                <a:cs typeface="宋体"/>
              </a:rPr>
              <a:t>立的通道，各个通道具有 </a:t>
            </a:r>
            <a:r>
              <a:rPr sz="2400" b="1" dirty="0">
                <a:latin typeface="宋体"/>
                <a:cs typeface="宋体"/>
              </a:rPr>
              <a:t>独立的输入捕获单元、捕</a:t>
            </a:r>
            <a:r>
              <a:rPr sz="2400" b="1" spc="0" dirty="0">
                <a:latin typeface="宋体"/>
                <a:cs typeface="宋体"/>
              </a:rPr>
              <a:t> </a:t>
            </a:r>
            <a:r>
              <a:rPr sz="2400" b="1" dirty="0">
                <a:latin typeface="宋体"/>
                <a:cs typeface="宋体"/>
              </a:rPr>
              <a:t>获</a:t>
            </a:r>
            <a:r>
              <a:rPr sz="2400" b="1" spc="-5" dirty="0">
                <a:latin typeface="Consolas"/>
                <a:cs typeface="Consolas"/>
              </a:rPr>
              <a:t>/</a:t>
            </a:r>
            <a:r>
              <a:rPr sz="2400" b="1" dirty="0">
                <a:latin typeface="宋体"/>
                <a:cs typeface="宋体"/>
              </a:rPr>
              <a:t>比较寄存器和输出比</a:t>
            </a:r>
            <a:endParaRPr sz="2400">
              <a:latin typeface="宋体"/>
              <a:cs typeface="宋体"/>
            </a:endParaRPr>
          </a:p>
        </p:txBody>
      </p:sp>
      <p:sp>
        <p:nvSpPr>
          <p:cNvPr id="80" name="object 80"/>
          <p:cNvSpPr txBox="1"/>
          <p:nvPr/>
        </p:nvSpPr>
        <p:spPr>
          <a:xfrm>
            <a:off x="8402193" y="2049208"/>
            <a:ext cx="3395345"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较单元，但共享同一个时</a:t>
            </a:r>
            <a:endParaRPr sz="2400">
              <a:latin typeface="宋体"/>
              <a:cs typeface="宋体"/>
            </a:endParaRPr>
          </a:p>
        </p:txBody>
      </p:sp>
      <p:sp>
        <p:nvSpPr>
          <p:cNvPr id="81" name="object 81"/>
          <p:cNvSpPr txBox="1"/>
          <p:nvPr/>
        </p:nvSpPr>
        <p:spPr>
          <a:xfrm>
            <a:off x="8402193" y="2393370"/>
            <a:ext cx="944880" cy="330835"/>
          </a:xfrm>
          <a:prstGeom prst="rect">
            <a:avLst/>
          </a:prstGeom>
        </p:spPr>
        <p:txBody>
          <a:bodyPr vert="horz" wrap="square" lIns="0" tIns="0" rIns="0" bIns="0" rtlCol="0">
            <a:spAutoFit/>
          </a:bodyPr>
          <a:lstStyle/>
          <a:p>
            <a:pPr marL="12700">
              <a:lnSpc>
                <a:spcPts val="2840"/>
              </a:lnSpc>
            </a:pPr>
            <a:r>
              <a:rPr sz="2400" b="1" spc="-5" dirty="0">
                <a:latin typeface="宋体"/>
                <a:cs typeface="宋体"/>
              </a:rPr>
              <a:t>基单元</a:t>
            </a:r>
            <a:endParaRPr sz="2400">
              <a:latin typeface="宋体"/>
              <a:cs typeface="宋体"/>
            </a:endParaRPr>
          </a:p>
        </p:txBody>
      </p:sp>
      <p:sp>
        <p:nvSpPr>
          <p:cNvPr id="82" name="object 82"/>
          <p:cNvSpPr txBox="1"/>
          <p:nvPr/>
        </p:nvSpPr>
        <p:spPr>
          <a:xfrm>
            <a:off x="8350377" y="3196780"/>
            <a:ext cx="3562985" cy="1097915"/>
          </a:xfrm>
          <a:prstGeom prst="rect">
            <a:avLst/>
          </a:prstGeom>
        </p:spPr>
        <p:txBody>
          <a:bodyPr vert="horz" wrap="square" lIns="0" tIns="0" rIns="0" bIns="0" rtlCol="0">
            <a:spAutoFit/>
          </a:bodyPr>
          <a:lstStyle/>
          <a:p>
            <a:pPr marL="12700" marR="5080">
              <a:lnSpc>
                <a:spcPct val="100000"/>
              </a:lnSpc>
            </a:pPr>
            <a:r>
              <a:rPr sz="2400" b="1" spc="-5" dirty="0">
                <a:latin typeface="Consolas"/>
                <a:cs typeface="Consolas"/>
              </a:rPr>
              <a:t>x</a:t>
            </a:r>
            <a:r>
              <a:rPr sz="2400" b="1" dirty="0">
                <a:latin typeface="宋体"/>
                <a:cs typeface="宋体"/>
              </a:rPr>
              <a:t>表示定时器编号，每个通 </a:t>
            </a:r>
            <a:r>
              <a:rPr sz="2400" b="1" spc="-5" dirty="0">
                <a:latin typeface="宋体"/>
                <a:cs typeface="宋体"/>
              </a:rPr>
              <a:t>道有对应</a:t>
            </a:r>
            <a:r>
              <a:rPr sz="2400" b="1" dirty="0">
                <a:latin typeface="宋体"/>
                <a:cs typeface="宋体"/>
              </a:rPr>
              <a:t>的</a:t>
            </a:r>
            <a:r>
              <a:rPr sz="2400" b="1" spc="-5" dirty="0">
                <a:latin typeface="Consolas"/>
                <a:cs typeface="Consolas"/>
              </a:rPr>
              <a:t>GPIO</a:t>
            </a:r>
            <a:r>
              <a:rPr sz="2400" b="1" spc="-5" dirty="0">
                <a:latin typeface="宋体"/>
                <a:cs typeface="宋体"/>
              </a:rPr>
              <a:t>引脚作为 </a:t>
            </a:r>
            <a:r>
              <a:rPr sz="2400" b="1" dirty="0">
                <a:latin typeface="宋体"/>
                <a:cs typeface="宋体"/>
              </a:rPr>
              <a:t>通道的输</a:t>
            </a:r>
            <a:r>
              <a:rPr sz="2400" b="1" spc="0" dirty="0">
                <a:latin typeface="宋体"/>
                <a:cs typeface="宋体"/>
              </a:rPr>
              <a:t>入</a:t>
            </a:r>
            <a:r>
              <a:rPr sz="2400" b="1" spc="-5" dirty="0">
                <a:latin typeface="Consolas"/>
                <a:cs typeface="Consolas"/>
              </a:rPr>
              <a:t>/</a:t>
            </a:r>
            <a:r>
              <a:rPr sz="2400" b="1" dirty="0">
                <a:latin typeface="宋体"/>
                <a:cs typeface="宋体"/>
              </a:rPr>
              <a:t>输出引脚</a:t>
            </a:r>
            <a:endParaRPr sz="2400">
              <a:latin typeface="宋体"/>
              <a:cs typeface="宋体"/>
            </a:endParaRPr>
          </a:p>
        </p:txBody>
      </p:sp>
      <p:sp>
        <p:nvSpPr>
          <p:cNvPr id="83" name="object 83"/>
          <p:cNvSpPr/>
          <p:nvPr/>
        </p:nvSpPr>
        <p:spPr>
          <a:xfrm>
            <a:off x="233934" y="1261110"/>
            <a:ext cx="3924300" cy="1606550"/>
          </a:xfrm>
          <a:custGeom>
            <a:avLst/>
            <a:gdLst/>
            <a:ahLst/>
            <a:cxnLst/>
            <a:rect l="l" t="t" r="r" b="b"/>
            <a:pathLst>
              <a:path w="3924300" h="1606550">
                <a:moveTo>
                  <a:pt x="3270250" y="1306067"/>
                </a:moveTo>
                <a:lnTo>
                  <a:pt x="2289175" y="1306067"/>
                </a:lnTo>
                <a:lnTo>
                  <a:pt x="2798191" y="1606550"/>
                </a:lnTo>
                <a:lnTo>
                  <a:pt x="3270250" y="1306067"/>
                </a:lnTo>
                <a:close/>
              </a:path>
              <a:path w="3924300" h="1606550">
                <a:moveTo>
                  <a:pt x="3706621" y="0"/>
                </a:moveTo>
                <a:lnTo>
                  <a:pt x="217678" y="0"/>
                </a:lnTo>
                <a:lnTo>
                  <a:pt x="199825" y="721"/>
                </a:lnTo>
                <a:lnTo>
                  <a:pt x="148875" y="11092"/>
                </a:lnTo>
                <a:lnTo>
                  <a:pt x="103015" y="32601"/>
                </a:lnTo>
                <a:lnTo>
                  <a:pt x="63757" y="63738"/>
                </a:lnTo>
                <a:lnTo>
                  <a:pt x="32613" y="102992"/>
                </a:lnTo>
                <a:lnTo>
                  <a:pt x="11097" y="148856"/>
                </a:lnTo>
                <a:lnTo>
                  <a:pt x="721" y="199818"/>
                </a:lnTo>
                <a:lnTo>
                  <a:pt x="0" y="217677"/>
                </a:lnTo>
                <a:lnTo>
                  <a:pt x="0" y="1088389"/>
                </a:lnTo>
                <a:lnTo>
                  <a:pt x="6326" y="1140716"/>
                </a:lnTo>
                <a:lnTo>
                  <a:pt x="24297" y="1188447"/>
                </a:lnTo>
                <a:lnTo>
                  <a:pt x="52399" y="1230072"/>
                </a:lnTo>
                <a:lnTo>
                  <a:pt x="89121" y="1264082"/>
                </a:lnTo>
                <a:lnTo>
                  <a:pt x="132948" y="1288968"/>
                </a:lnTo>
                <a:lnTo>
                  <a:pt x="182369" y="1303220"/>
                </a:lnTo>
                <a:lnTo>
                  <a:pt x="217678" y="1306067"/>
                </a:lnTo>
                <a:lnTo>
                  <a:pt x="3706621" y="1306067"/>
                </a:lnTo>
                <a:lnTo>
                  <a:pt x="3758948" y="1299744"/>
                </a:lnTo>
                <a:lnTo>
                  <a:pt x="3806679" y="1281780"/>
                </a:lnTo>
                <a:lnTo>
                  <a:pt x="3848304" y="1253685"/>
                </a:lnTo>
                <a:lnTo>
                  <a:pt x="3882314" y="1216968"/>
                </a:lnTo>
                <a:lnTo>
                  <a:pt x="3907200" y="1173140"/>
                </a:lnTo>
                <a:lnTo>
                  <a:pt x="3921452" y="1123710"/>
                </a:lnTo>
                <a:lnTo>
                  <a:pt x="3924300" y="1088389"/>
                </a:lnTo>
                <a:lnTo>
                  <a:pt x="3924300" y="217677"/>
                </a:lnTo>
                <a:lnTo>
                  <a:pt x="3917976" y="165351"/>
                </a:lnTo>
                <a:lnTo>
                  <a:pt x="3900012" y="117620"/>
                </a:lnTo>
                <a:lnTo>
                  <a:pt x="3871917" y="75995"/>
                </a:lnTo>
                <a:lnTo>
                  <a:pt x="3835200" y="41985"/>
                </a:lnTo>
                <a:lnTo>
                  <a:pt x="3791372" y="17099"/>
                </a:lnTo>
                <a:lnTo>
                  <a:pt x="3741942" y="2847"/>
                </a:lnTo>
                <a:lnTo>
                  <a:pt x="3706621" y="0"/>
                </a:lnTo>
                <a:close/>
              </a:path>
            </a:pathLst>
          </a:custGeom>
          <a:solidFill>
            <a:srgbClr val="FFFFC7"/>
          </a:solidFill>
        </p:spPr>
        <p:txBody>
          <a:bodyPr wrap="square" lIns="0" tIns="0" rIns="0" bIns="0" rtlCol="0"/>
          <a:lstStyle/>
          <a:p>
            <a:endParaRPr/>
          </a:p>
        </p:txBody>
      </p:sp>
      <p:sp>
        <p:nvSpPr>
          <p:cNvPr id="84" name="object 84"/>
          <p:cNvSpPr/>
          <p:nvPr/>
        </p:nvSpPr>
        <p:spPr>
          <a:xfrm>
            <a:off x="233934" y="1261110"/>
            <a:ext cx="3924300" cy="1606550"/>
          </a:xfrm>
          <a:custGeom>
            <a:avLst/>
            <a:gdLst/>
            <a:ahLst/>
            <a:cxnLst/>
            <a:rect l="l" t="t" r="r" b="b"/>
            <a:pathLst>
              <a:path w="3924300" h="1606550">
                <a:moveTo>
                  <a:pt x="0" y="217677"/>
                </a:moveTo>
                <a:lnTo>
                  <a:pt x="6326" y="165351"/>
                </a:lnTo>
                <a:lnTo>
                  <a:pt x="24297" y="117620"/>
                </a:lnTo>
                <a:lnTo>
                  <a:pt x="52399" y="75995"/>
                </a:lnTo>
                <a:lnTo>
                  <a:pt x="89121" y="41985"/>
                </a:lnTo>
                <a:lnTo>
                  <a:pt x="132948" y="17099"/>
                </a:lnTo>
                <a:lnTo>
                  <a:pt x="182369" y="2847"/>
                </a:lnTo>
                <a:lnTo>
                  <a:pt x="217678" y="0"/>
                </a:lnTo>
                <a:lnTo>
                  <a:pt x="2289175" y="0"/>
                </a:lnTo>
                <a:lnTo>
                  <a:pt x="3270250" y="0"/>
                </a:lnTo>
                <a:lnTo>
                  <a:pt x="3706621" y="0"/>
                </a:lnTo>
                <a:lnTo>
                  <a:pt x="3724481" y="721"/>
                </a:lnTo>
                <a:lnTo>
                  <a:pt x="3775443" y="11092"/>
                </a:lnTo>
                <a:lnTo>
                  <a:pt x="3821307" y="32601"/>
                </a:lnTo>
                <a:lnTo>
                  <a:pt x="3860561" y="63738"/>
                </a:lnTo>
                <a:lnTo>
                  <a:pt x="3891698" y="102992"/>
                </a:lnTo>
                <a:lnTo>
                  <a:pt x="3913207" y="148856"/>
                </a:lnTo>
                <a:lnTo>
                  <a:pt x="3923578" y="199818"/>
                </a:lnTo>
                <a:lnTo>
                  <a:pt x="3924300" y="217677"/>
                </a:lnTo>
                <a:lnTo>
                  <a:pt x="3924300" y="761873"/>
                </a:lnTo>
                <a:lnTo>
                  <a:pt x="3924300" y="1088389"/>
                </a:lnTo>
                <a:lnTo>
                  <a:pt x="3923578" y="1106249"/>
                </a:lnTo>
                <a:lnTo>
                  <a:pt x="3921452" y="1123710"/>
                </a:lnTo>
                <a:lnTo>
                  <a:pt x="3907200" y="1173140"/>
                </a:lnTo>
                <a:lnTo>
                  <a:pt x="3882314" y="1216968"/>
                </a:lnTo>
                <a:lnTo>
                  <a:pt x="3848304" y="1253685"/>
                </a:lnTo>
                <a:lnTo>
                  <a:pt x="3806679" y="1281780"/>
                </a:lnTo>
                <a:lnTo>
                  <a:pt x="3758948" y="1299744"/>
                </a:lnTo>
                <a:lnTo>
                  <a:pt x="3706621" y="1306067"/>
                </a:lnTo>
                <a:lnTo>
                  <a:pt x="3270250" y="1306067"/>
                </a:lnTo>
                <a:lnTo>
                  <a:pt x="2798191" y="1606550"/>
                </a:lnTo>
                <a:lnTo>
                  <a:pt x="2289175" y="1306067"/>
                </a:lnTo>
                <a:lnTo>
                  <a:pt x="217678" y="1306067"/>
                </a:lnTo>
                <a:lnTo>
                  <a:pt x="199825" y="1305346"/>
                </a:lnTo>
                <a:lnTo>
                  <a:pt x="148875" y="1294975"/>
                </a:lnTo>
                <a:lnTo>
                  <a:pt x="103015" y="1273466"/>
                </a:lnTo>
                <a:lnTo>
                  <a:pt x="63757" y="1242329"/>
                </a:lnTo>
                <a:lnTo>
                  <a:pt x="32613" y="1203075"/>
                </a:lnTo>
                <a:lnTo>
                  <a:pt x="11097" y="1157211"/>
                </a:lnTo>
                <a:lnTo>
                  <a:pt x="721" y="1106249"/>
                </a:lnTo>
                <a:lnTo>
                  <a:pt x="0" y="1088389"/>
                </a:lnTo>
                <a:lnTo>
                  <a:pt x="0" y="761873"/>
                </a:lnTo>
                <a:lnTo>
                  <a:pt x="0" y="217677"/>
                </a:lnTo>
                <a:close/>
              </a:path>
            </a:pathLst>
          </a:custGeom>
          <a:ln w="28956">
            <a:solidFill>
              <a:srgbClr val="000000"/>
            </a:solidFill>
          </a:ln>
        </p:spPr>
        <p:txBody>
          <a:bodyPr wrap="square" lIns="0" tIns="0" rIns="0" bIns="0" rtlCol="0"/>
          <a:lstStyle/>
          <a:p>
            <a:endParaRPr/>
          </a:p>
        </p:txBody>
      </p:sp>
      <p:sp>
        <p:nvSpPr>
          <p:cNvPr id="85" name="object 85"/>
          <p:cNvSpPr txBox="1"/>
          <p:nvPr/>
        </p:nvSpPr>
        <p:spPr>
          <a:xfrm>
            <a:off x="375005" y="2115248"/>
            <a:ext cx="2592705" cy="365760"/>
          </a:xfrm>
          <a:prstGeom prst="rect">
            <a:avLst/>
          </a:prstGeom>
        </p:spPr>
        <p:txBody>
          <a:bodyPr vert="horz" wrap="square" lIns="0" tIns="0" rIns="0" bIns="0" rtlCol="0">
            <a:spAutoFit/>
          </a:bodyPr>
          <a:lstStyle/>
          <a:p>
            <a:pPr marL="12700">
              <a:lnSpc>
                <a:spcPct val="100000"/>
              </a:lnSpc>
            </a:pPr>
            <a:r>
              <a:rPr sz="2400" b="1" dirty="0">
                <a:latin typeface="宋体"/>
                <a:cs typeface="宋体"/>
              </a:rPr>
              <a:t>时器时钟</a:t>
            </a:r>
            <a:r>
              <a:rPr sz="2400" b="1" spc="-5" dirty="0">
                <a:latin typeface="Consolas"/>
                <a:cs typeface="Consolas"/>
              </a:rPr>
              <a:t>TIMx_CLK</a:t>
            </a:r>
            <a:endParaRPr sz="2400">
              <a:latin typeface="Consolas"/>
              <a:cs typeface="Consolas"/>
            </a:endParaRPr>
          </a:p>
        </p:txBody>
      </p:sp>
    </p:spTree>
    <p:extLst>
      <p:ext uri="{BB962C8B-B14F-4D97-AF65-F5344CB8AC3E}">
        <p14:creationId xmlns:p14="http://schemas.microsoft.com/office/powerpoint/2010/main" val="3435451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3" y="6516623"/>
            <a:ext cx="12190730" cy="341630"/>
          </a:xfrm>
          <a:prstGeom prst="rect">
            <a:avLst/>
          </a:prstGeom>
        </p:spPr>
        <p:txBody>
          <a:bodyPr vert="horz" wrap="square" lIns="0" tIns="0" rIns="0" bIns="0" rtlCol="0">
            <a:spAutoFit/>
          </a:bodyPr>
          <a:lstStyle/>
          <a:p>
            <a:pPr marR="2006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6" name="object 6"/>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7" name="object 7"/>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8" name="object 8"/>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10" name="object 10"/>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2" name="object 12"/>
          <p:cNvSpPr txBox="1">
            <a:spLocks noGrp="1"/>
          </p:cNvSpPr>
          <p:nvPr>
            <p:ph type="title"/>
          </p:nvPr>
        </p:nvSpPr>
        <p:spPr>
          <a:xfrm>
            <a:off x="21770" y="641392"/>
            <a:ext cx="10515600" cy="1325563"/>
          </a:xfrm>
          <a:prstGeom prst="rect">
            <a:avLst/>
          </a:prstGeom>
        </p:spPr>
        <p:txBody>
          <a:bodyPr vert="horz" wrap="square" lIns="0" tIns="0" rIns="0" bIns="0" rtlCol="0">
            <a:spAutoFit/>
          </a:bodyPr>
          <a:lstStyle/>
          <a:p>
            <a:pPr marL="32384">
              <a:lnSpc>
                <a:spcPct val="100000"/>
              </a:lnSpc>
            </a:pPr>
            <a:r>
              <a:rPr sz="2400" dirty="0">
                <a:solidFill>
                  <a:srgbClr val="FFFFFF"/>
                </a:solidFill>
              </a:rPr>
              <a:t>功能单元作用</a:t>
            </a:r>
            <a:endParaRPr sz="2400" dirty="0"/>
          </a:p>
        </p:txBody>
      </p:sp>
      <p:sp>
        <p:nvSpPr>
          <p:cNvPr id="13" name="object 13"/>
          <p:cNvSpPr/>
          <p:nvPr/>
        </p:nvSpPr>
        <p:spPr>
          <a:xfrm>
            <a:off x="1377696" y="3971362"/>
            <a:ext cx="1092835" cy="1870710"/>
          </a:xfrm>
          <a:custGeom>
            <a:avLst/>
            <a:gdLst/>
            <a:ahLst/>
            <a:cxnLst/>
            <a:rect l="l" t="t" r="r" b="b"/>
            <a:pathLst>
              <a:path w="1092835" h="1870710">
                <a:moveTo>
                  <a:pt x="58542" y="0"/>
                </a:moveTo>
                <a:lnTo>
                  <a:pt x="27340" y="30951"/>
                </a:lnTo>
                <a:lnTo>
                  <a:pt x="8758" y="87644"/>
                </a:lnTo>
                <a:lnTo>
                  <a:pt x="0" y="141786"/>
                </a:lnTo>
                <a:lnTo>
                  <a:pt x="0" y="1383338"/>
                </a:lnTo>
                <a:lnTo>
                  <a:pt x="2725" y="1448933"/>
                </a:lnTo>
                <a:lnTo>
                  <a:pt x="9812" y="1506732"/>
                </a:lnTo>
                <a:lnTo>
                  <a:pt x="21681" y="1556969"/>
                </a:lnTo>
                <a:lnTo>
                  <a:pt x="38754" y="1599879"/>
                </a:lnTo>
                <a:lnTo>
                  <a:pt x="61452" y="1635695"/>
                </a:lnTo>
                <a:lnTo>
                  <a:pt x="90196" y="1664652"/>
                </a:lnTo>
                <a:lnTo>
                  <a:pt x="125408" y="1686985"/>
                </a:lnTo>
                <a:lnTo>
                  <a:pt x="167509" y="1702926"/>
                </a:lnTo>
                <a:lnTo>
                  <a:pt x="216921" y="1712711"/>
                </a:lnTo>
                <a:lnTo>
                  <a:pt x="274066" y="1716573"/>
                </a:lnTo>
                <a:lnTo>
                  <a:pt x="836167" y="1719837"/>
                </a:lnTo>
                <a:lnTo>
                  <a:pt x="833881" y="1870129"/>
                </a:lnTo>
                <a:lnTo>
                  <a:pt x="1092708" y="1620193"/>
                </a:lnTo>
                <a:lnTo>
                  <a:pt x="1019551" y="1540183"/>
                </a:lnTo>
                <a:lnTo>
                  <a:pt x="843279" y="1540183"/>
                </a:lnTo>
                <a:lnTo>
                  <a:pt x="309245" y="1527102"/>
                </a:lnTo>
                <a:lnTo>
                  <a:pt x="268713" y="1524933"/>
                </a:lnTo>
                <a:lnTo>
                  <a:pt x="223387" y="1514955"/>
                </a:lnTo>
                <a:lnTo>
                  <a:pt x="188420" y="1487973"/>
                </a:lnTo>
                <a:lnTo>
                  <a:pt x="169253" y="1450732"/>
                </a:lnTo>
                <a:lnTo>
                  <a:pt x="156338" y="1394360"/>
                </a:lnTo>
                <a:lnTo>
                  <a:pt x="151293" y="1344126"/>
                </a:lnTo>
                <a:lnTo>
                  <a:pt x="138175" y="164646"/>
                </a:lnTo>
                <a:lnTo>
                  <a:pt x="133386" y="135168"/>
                </a:lnTo>
                <a:lnTo>
                  <a:pt x="121625" y="84703"/>
                </a:lnTo>
                <a:lnTo>
                  <a:pt x="107549" y="45738"/>
                </a:lnTo>
                <a:lnTo>
                  <a:pt x="83649" y="9326"/>
                </a:lnTo>
                <a:lnTo>
                  <a:pt x="66897" y="54"/>
                </a:lnTo>
                <a:lnTo>
                  <a:pt x="58542" y="0"/>
                </a:lnTo>
                <a:close/>
              </a:path>
              <a:path w="1092835" h="1870710">
                <a:moveTo>
                  <a:pt x="843279" y="1347397"/>
                </a:moveTo>
                <a:lnTo>
                  <a:pt x="843279" y="1540183"/>
                </a:lnTo>
                <a:lnTo>
                  <a:pt x="1019551" y="1540183"/>
                </a:lnTo>
                <a:lnTo>
                  <a:pt x="843279" y="1347397"/>
                </a:lnTo>
                <a:close/>
              </a:path>
            </a:pathLst>
          </a:custGeom>
          <a:solidFill>
            <a:srgbClr val="A6A6A6"/>
          </a:solidFill>
        </p:spPr>
        <p:txBody>
          <a:bodyPr wrap="square" lIns="0" tIns="0" rIns="0" bIns="0" rtlCol="0"/>
          <a:lstStyle/>
          <a:p>
            <a:endParaRPr/>
          </a:p>
        </p:txBody>
      </p:sp>
      <p:sp>
        <p:nvSpPr>
          <p:cNvPr id="14" name="object 14"/>
          <p:cNvSpPr/>
          <p:nvPr/>
        </p:nvSpPr>
        <p:spPr>
          <a:xfrm>
            <a:off x="1178052" y="3657600"/>
            <a:ext cx="1330960" cy="455930"/>
          </a:xfrm>
          <a:custGeom>
            <a:avLst/>
            <a:gdLst/>
            <a:ahLst/>
            <a:cxnLst/>
            <a:rect l="l" t="t" r="r" b="b"/>
            <a:pathLst>
              <a:path w="1330960" h="455929">
                <a:moveTo>
                  <a:pt x="1223077" y="311276"/>
                </a:moveTo>
                <a:lnTo>
                  <a:pt x="1039748" y="311276"/>
                </a:lnTo>
                <a:lnTo>
                  <a:pt x="1044066" y="455675"/>
                </a:lnTo>
                <a:lnTo>
                  <a:pt x="1223077" y="311276"/>
                </a:lnTo>
                <a:close/>
              </a:path>
              <a:path w="1330960" h="455929">
                <a:moveTo>
                  <a:pt x="1044066" y="0"/>
                </a:moveTo>
                <a:lnTo>
                  <a:pt x="1044066" y="134747"/>
                </a:lnTo>
                <a:lnTo>
                  <a:pt x="0" y="138049"/>
                </a:lnTo>
                <a:lnTo>
                  <a:pt x="2197" y="336931"/>
                </a:lnTo>
                <a:lnTo>
                  <a:pt x="1039748" y="311276"/>
                </a:lnTo>
                <a:lnTo>
                  <a:pt x="1223077" y="311276"/>
                </a:lnTo>
                <a:lnTo>
                  <a:pt x="1330452" y="224662"/>
                </a:lnTo>
                <a:lnTo>
                  <a:pt x="1044066" y="0"/>
                </a:lnTo>
                <a:close/>
              </a:path>
            </a:pathLst>
          </a:custGeom>
          <a:solidFill>
            <a:srgbClr val="A6A6A6"/>
          </a:solidFill>
        </p:spPr>
        <p:txBody>
          <a:bodyPr wrap="square" lIns="0" tIns="0" rIns="0" bIns="0" rtlCol="0"/>
          <a:lstStyle/>
          <a:p>
            <a:endParaRPr/>
          </a:p>
        </p:txBody>
      </p:sp>
      <p:sp>
        <p:nvSpPr>
          <p:cNvPr id="15" name="object 15"/>
          <p:cNvSpPr/>
          <p:nvPr/>
        </p:nvSpPr>
        <p:spPr>
          <a:xfrm>
            <a:off x="1415796" y="2013204"/>
            <a:ext cx="1092835" cy="1706880"/>
          </a:xfrm>
          <a:custGeom>
            <a:avLst/>
            <a:gdLst/>
            <a:ahLst/>
            <a:cxnLst/>
            <a:rect l="l" t="t" r="r" b="b"/>
            <a:pathLst>
              <a:path w="1092835" h="1706879">
                <a:moveTo>
                  <a:pt x="833881" y="0"/>
                </a:moveTo>
                <a:lnTo>
                  <a:pt x="836167" y="137160"/>
                </a:lnTo>
                <a:lnTo>
                  <a:pt x="274066" y="140081"/>
                </a:lnTo>
                <a:lnTo>
                  <a:pt x="244501" y="141190"/>
                </a:lnTo>
                <a:lnTo>
                  <a:pt x="191275" y="147402"/>
                </a:lnTo>
                <a:lnTo>
                  <a:pt x="145571" y="159119"/>
                </a:lnTo>
                <a:lnTo>
                  <a:pt x="106967" y="176554"/>
                </a:lnTo>
                <a:lnTo>
                  <a:pt x="75042" y="199923"/>
                </a:lnTo>
                <a:lnTo>
                  <a:pt x="49373" y="229440"/>
                </a:lnTo>
                <a:lnTo>
                  <a:pt x="29541" y="265321"/>
                </a:lnTo>
                <a:lnTo>
                  <a:pt x="15122" y="307780"/>
                </a:lnTo>
                <a:lnTo>
                  <a:pt x="5672" y="357261"/>
                </a:lnTo>
                <a:lnTo>
                  <a:pt x="844" y="413293"/>
                </a:lnTo>
                <a:lnTo>
                  <a:pt x="0" y="444119"/>
                </a:lnTo>
                <a:lnTo>
                  <a:pt x="0" y="1576959"/>
                </a:lnTo>
                <a:lnTo>
                  <a:pt x="8758" y="1626346"/>
                </a:lnTo>
                <a:lnTo>
                  <a:pt x="20539" y="1663769"/>
                </a:lnTo>
                <a:lnTo>
                  <a:pt x="42320" y="1697898"/>
                </a:lnTo>
                <a:lnTo>
                  <a:pt x="58542" y="1706269"/>
                </a:lnTo>
                <a:lnTo>
                  <a:pt x="66897" y="1706213"/>
                </a:lnTo>
                <a:lnTo>
                  <a:pt x="99864" y="1678288"/>
                </a:lnTo>
                <a:lnTo>
                  <a:pt x="121625" y="1628948"/>
                </a:lnTo>
                <a:lnTo>
                  <a:pt x="133386" y="1582900"/>
                </a:lnTo>
                <a:lnTo>
                  <a:pt x="149859" y="506730"/>
                </a:lnTo>
                <a:lnTo>
                  <a:pt x="151316" y="479614"/>
                </a:lnTo>
                <a:lnTo>
                  <a:pt x="156462" y="433328"/>
                </a:lnTo>
                <a:lnTo>
                  <a:pt x="169662" y="381610"/>
                </a:lnTo>
                <a:lnTo>
                  <a:pt x="189268" y="347695"/>
                </a:lnTo>
                <a:lnTo>
                  <a:pt x="225050" y="323461"/>
                </a:lnTo>
                <a:lnTo>
                  <a:pt x="271436" y="314780"/>
                </a:lnTo>
                <a:lnTo>
                  <a:pt x="843279" y="301117"/>
                </a:lnTo>
                <a:lnTo>
                  <a:pt x="1019533" y="301117"/>
                </a:lnTo>
                <a:lnTo>
                  <a:pt x="1092708" y="228092"/>
                </a:lnTo>
                <a:lnTo>
                  <a:pt x="833881" y="0"/>
                </a:lnTo>
                <a:close/>
              </a:path>
              <a:path w="1092835" h="1706879">
                <a:moveTo>
                  <a:pt x="1019533" y="301117"/>
                </a:moveTo>
                <a:lnTo>
                  <a:pt x="843279" y="301117"/>
                </a:lnTo>
                <a:lnTo>
                  <a:pt x="843279" y="477012"/>
                </a:lnTo>
                <a:lnTo>
                  <a:pt x="1019533" y="301117"/>
                </a:lnTo>
                <a:close/>
              </a:path>
            </a:pathLst>
          </a:custGeom>
          <a:solidFill>
            <a:srgbClr val="A6A6A6"/>
          </a:solidFill>
        </p:spPr>
        <p:txBody>
          <a:bodyPr wrap="square" lIns="0" tIns="0" rIns="0" bIns="0" rtlCol="0"/>
          <a:lstStyle/>
          <a:p>
            <a:endParaRPr/>
          </a:p>
        </p:txBody>
      </p:sp>
      <p:sp>
        <p:nvSpPr>
          <p:cNvPr id="16" name="object 16"/>
          <p:cNvSpPr/>
          <p:nvPr/>
        </p:nvSpPr>
        <p:spPr>
          <a:xfrm>
            <a:off x="4027170" y="1456182"/>
            <a:ext cx="8023859" cy="1506220"/>
          </a:xfrm>
          <a:custGeom>
            <a:avLst/>
            <a:gdLst/>
            <a:ahLst/>
            <a:cxnLst/>
            <a:rect l="l" t="t" r="r" b="b"/>
            <a:pathLst>
              <a:path w="8023859" h="1506220">
                <a:moveTo>
                  <a:pt x="0" y="173227"/>
                </a:moveTo>
                <a:lnTo>
                  <a:pt x="5406" y="130142"/>
                </a:lnTo>
                <a:lnTo>
                  <a:pt x="20729" y="91018"/>
                </a:lnTo>
                <a:lnTo>
                  <a:pt x="44625" y="57200"/>
                </a:lnTo>
                <a:lnTo>
                  <a:pt x="75749" y="30031"/>
                </a:lnTo>
                <a:lnTo>
                  <a:pt x="112756" y="10858"/>
                </a:lnTo>
                <a:lnTo>
                  <a:pt x="154303" y="1023"/>
                </a:lnTo>
                <a:lnTo>
                  <a:pt x="7850632" y="0"/>
                </a:lnTo>
                <a:lnTo>
                  <a:pt x="7865351" y="617"/>
                </a:lnTo>
                <a:lnTo>
                  <a:pt x="7907265" y="9478"/>
                </a:lnTo>
                <a:lnTo>
                  <a:pt x="7944770" y="27808"/>
                </a:lnTo>
                <a:lnTo>
                  <a:pt x="7976521" y="54263"/>
                </a:lnTo>
                <a:lnTo>
                  <a:pt x="8001174" y="87497"/>
                </a:lnTo>
                <a:lnTo>
                  <a:pt x="8017384" y="126167"/>
                </a:lnTo>
                <a:lnTo>
                  <a:pt x="8023807" y="168929"/>
                </a:lnTo>
                <a:lnTo>
                  <a:pt x="8023859" y="1332483"/>
                </a:lnTo>
                <a:lnTo>
                  <a:pt x="8023242" y="1347203"/>
                </a:lnTo>
                <a:lnTo>
                  <a:pt x="8014381" y="1389117"/>
                </a:lnTo>
                <a:lnTo>
                  <a:pt x="7996051" y="1426622"/>
                </a:lnTo>
                <a:lnTo>
                  <a:pt x="7969596" y="1458373"/>
                </a:lnTo>
                <a:lnTo>
                  <a:pt x="7936362" y="1483026"/>
                </a:lnTo>
                <a:lnTo>
                  <a:pt x="7897692" y="1499236"/>
                </a:lnTo>
                <a:lnTo>
                  <a:pt x="7854930" y="1505659"/>
                </a:lnTo>
                <a:lnTo>
                  <a:pt x="173227" y="1505712"/>
                </a:lnTo>
                <a:lnTo>
                  <a:pt x="158508" y="1505094"/>
                </a:lnTo>
                <a:lnTo>
                  <a:pt x="116594" y="1496233"/>
                </a:lnTo>
                <a:lnTo>
                  <a:pt x="79089" y="1477903"/>
                </a:lnTo>
                <a:lnTo>
                  <a:pt x="47338" y="1451448"/>
                </a:lnTo>
                <a:lnTo>
                  <a:pt x="22685" y="1418214"/>
                </a:lnTo>
                <a:lnTo>
                  <a:pt x="6475" y="1379544"/>
                </a:lnTo>
                <a:lnTo>
                  <a:pt x="52" y="1336782"/>
                </a:lnTo>
                <a:lnTo>
                  <a:pt x="0" y="173227"/>
                </a:lnTo>
                <a:close/>
              </a:path>
            </a:pathLst>
          </a:custGeom>
          <a:ln w="28955">
            <a:solidFill>
              <a:srgbClr val="5B9BD4"/>
            </a:solidFill>
          </a:ln>
        </p:spPr>
        <p:txBody>
          <a:bodyPr wrap="square" lIns="0" tIns="0" rIns="0" bIns="0" rtlCol="0"/>
          <a:lstStyle/>
          <a:p>
            <a:endParaRPr/>
          </a:p>
        </p:txBody>
      </p:sp>
      <p:sp>
        <p:nvSpPr>
          <p:cNvPr id="17" name="object 17"/>
          <p:cNvSpPr txBox="1"/>
          <p:nvPr/>
        </p:nvSpPr>
        <p:spPr>
          <a:xfrm>
            <a:off x="4148454" y="1640330"/>
            <a:ext cx="7645400" cy="1209040"/>
          </a:xfrm>
          <a:prstGeom prst="rect">
            <a:avLst/>
          </a:prstGeom>
        </p:spPr>
        <p:txBody>
          <a:bodyPr vert="horz" wrap="square" lIns="0" tIns="0" rIns="0" bIns="0" rtlCol="0">
            <a:spAutoFit/>
          </a:bodyPr>
          <a:lstStyle/>
          <a:p>
            <a:pPr marL="12700">
              <a:lnSpc>
                <a:spcPct val="100000"/>
              </a:lnSpc>
            </a:pPr>
            <a:r>
              <a:rPr sz="2400" b="1" spc="-5" dirty="0">
                <a:latin typeface="微软雅黑"/>
                <a:cs typeface="微软雅黑"/>
              </a:rPr>
              <a:t>用于捕获外部触发信号，捕获方式为上升</a:t>
            </a:r>
            <a:r>
              <a:rPr sz="2400" b="1" dirty="0">
                <a:latin typeface="微软雅黑"/>
                <a:cs typeface="微软雅黑"/>
              </a:rPr>
              <a:t>沿/</a:t>
            </a:r>
            <a:r>
              <a:rPr sz="2400" b="1" spc="-5" dirty="0">
                <a:latin typeface="微软雅黑"/>
                <a:cs typeface="微软雅黑"/>
              </a:rPr>
              <a:t>下降沿</a:t>
            </a:r>
            <a:r>
              <a:rPr sz="2400" b="1" dirty="0">
                <a:latin typeface="微软雅黑"/>
                <a:cs typeface="微软雅黑"/>
              </a:rPr>
              <a:t>/双边</a:t>
            </a:r>
            <a:endParaRPr sz="2400">
              <a:latin typeface="微软雅黑"/>
              <a:cs typeface="微软雅黑"/>
            </a:endParaRPr>
          </a:p>
          <a:p>
            <a:pPr marL="12700">
              <a:lnSpc>
                <a:spcPct val="100000"/>
              </a:lnSpc>
              <a:spcBef>
                <a:spcPts val="575"/>
              </a:spcBef>
            </a:pPr>
            <a:r>
              <a:rPr sz="2400" b="1" dirty="0">
                <a:latin typeface="微软雅黑"/>
                <a:cs typeface="微软雅黑"/>
              </a:rPr>
              <a:t>沿捕获。发生捕获事件时，将此刻计数器的值锁存到捕获</a:t>
            </a:r>
            <a:endParaRPr sz="2400">
              <a:latin typeface="微软雅黑"/>
              <a:cs typeface="微软雅黑"/>
            </a:endParaRPr>
          </a:p>
          <a:p>
            <a:pPr marL="12700">
              <a:lnSpc>
                <a:spcPct val="100000"/>
              </a:lnSpc>
              <a:spcBef>
                <a:spcPts val="575"/>
              </a:spcBef>
            </a:pPr>
            <a:r>
              <a:rPr sz="2400" b="1" dirty="0">
                <a:latin typeface="微软雅黑"/>
                <a:cs typeface="微软雅黑"/>
              </a:rPr>
              <a:t>/比较寄存器中，供用户读取，同时可以产生捕获中断。</a:t>
            </a:r>
            <a:endParaRPr sz="2400">
              <a:latin typeface="微软雅黑"/>
              <a:cs typeface="微软雅黑"/>
            </a:endParaRPr>
          </a:p>
        </p:txBody>
      </p:sp>
      <p:sp>
        <p:nvSpPr>
          <p:cNvPr id="18" name="object 18"/>
          <p:cNvSpPr/>
          <p:nvPr/>
        </p:nvSpPr>
        <p:spPr>
          <a:xfrm>
            <a:off x="2508504" y="1626107"/>
            <a:ext cx="1518285" cy="1202690"/>
          </a:xfrm>
          <a:custGeom>
            <a:avLst/>
            <a:gdLst/>
            <a:ahLst/>
            <a:cxnLst/>
            <a:rect l="l" t="t" r="r" b="b"/>
            <a:pathLst>
              <a:path w="1518285" h="1202689">
                <a:moveTo>
                  <a:pt x="1374520" y="0"/>
                </a:moveTo>
                <a:lnTo>
                  <a:pt x="129169" y="694"/>
                </a:lnTo>
                <a:lnTo>
                  <a:pt x="87871" y="11122"/>
                </a:lnTo>
                <a:lnTo>
                  <a:pt x="52354" y="32556"/>
                </a:lnTo>
                <a:lnTo>
                  <a:pt x="24569" y="63045"/>
                </a:lnTo>
                <a:lnTo>
                  <a:pt x="6467" y="100638"/>
                </a:lnTo>
                <a:lnTo>
                  <a:pt x="0" y="143382"/>
                </a:lnTo>
                <a:lnTo>
                  <a:pt x="683" y="1059052"/>
                </a:lnTo>
                <a:lnTo>
                  <a:pt x="6327" y="1101344"/>
                </a:lnTo>
                <a:lnTo>
                  <a:pt x="24309" y="1139005"/>
                </a:lnTo>
                <a:lnTo>
                  <a:pt x="51997" y="1169584"/>
                </a:lnTo>
                <a:lnTo>
                  <a:pt x="87438" y="1191130"/>
                </a:lnTo>
                <a:lnTo>
                  <a:pt x="128682" y="1201693"/>
                </a:lnTo>
                <a:lnTo>
                  <a:pt x="143382" y="1202436"/>
                </a:lnTo>
                <a:lnTo>
                  <a:pt x="1388734" y="1201741"/>
                </a:lnTo>
                <a:lnTo>
                  <a:pt x="1430032" y="1191313"/>
                </a:lnTo>
                <a:lnTo>
                  <a:pt x="1465549" y="1169879"/>
                </a:lnTo>
                <a:lnTo>
                  <a:pt x="1493334" y="1139390"/>
                </a:lnTo>
                <a:lnTo>
                  <a:pt x="1511436" y="1101797"/>
                </a:lnTo>
                <a:lnTo>
                  <a:pt x="1517904" y="1059052"/>
                </a:lnTo>
                <a:lnTo>
                  <a:pt x="1517220" y="143382"/>
                </a:lnTo>
                <a:lnTo>
                  <a:pt x="1511576" y="101091"/>
                </a:lnTo>
                <a:lnTo>
                  <a:pt x="1493594" y="63430"/>
                </a:lnTo>
                <a:lnTo>
                  <a:pt x="1465906" y="32851"/>
                </a:lnTo>
                <a:lnTo>
                  <a:pt x="1430465" y="11305"/>
                </a:lnTo>
                <a:lnTo>
                  <a:pt x="1389221" y="742"/>
                </a:lnTo>
                <a:lnTo>
                  <a:pt x="1374520" y="0"/>
                </a:lnTo>
                <a:close/>
              </a:path>
            </a:pathLst>
          </a:custGeom>
          <a:solidFill>
            <a:srgbClr val="EC7C30"/>
          </a:solidFill>
        </p:spPr>
        <p:txBody>
          <a:bodyPr wrap="square" lIns="0" tIns="0" rIns="0" bIns="0" rtlCol="0"/>
          <a:lstStyle/>
          <a:p>
            <a:endParaRPr/>
          </a:p>
        </p:txBody>
      </p:sp>
      <p:sp>
        <p:nvSpPr>
          <p:cNvPr id="19" name="object 19"/>
          <p:cNvSpPr txBox="1"/>
          <p:nvPr/>
        </p:nvSpPr>
        <p:spPr>
          <a:xfrm>
            <a:off x="2645410" y="1879589"/>
            <a:ext cx="1244600" cy="769620"/>
          </a:xfrm>
          <a:prstGeom prst="rect">
            <a:avLst/>
          </a:prstGeom>
        </p:spPr>
        <p:txBody>
          <a:bodyPr vert="horz" wrap="square" lIns="0" tIns="0" rIns="0" bIns="0" rtlCol="0">
            <a:spAutoFit/>
          </a:bodyPr>
          <a:lstStyle/>
          <a:p>
            <a:pPr marL="317500" marR="5080" indent="-304800">
              <a:lnSpc>
                <a:spcPct val="120000"/>
              </a:lnSpc>
            </a:pPr>
            <a:r>
              <a:rPr sz="2400" b="1" dirty="0">
                <a:solidFill>
                  <a:srgbClr val="F1F1F1"/>
                </a:solidFill>
                <a:latin typeface="微软雅黑"/>
                <a:cs typeface="微软雅黑"/>
              </a:rPr>
              <a:t>输入捕获 单元</a:t>
            </a:r>
            <a:endParaRPr sz="2400">
              <a:latin typeface="微软雅黑"/>
              <a:cs typeface="微软雅黑"/>
            </a:endParaRPr>
          </a:p>
        </p:txBody>
      </p:sp>
      <p:sp>
        <p:nvSpPr>
          <p:cNvPr id="20" name="object 20"/>
          <p:cNvSpPr/>
          <p:nvPr/>
        </p:nvSpPr>
        <p:spPr>
          <a:xfrm>
            <a:off x="4033265" y="3153917"/>
            <a:ext cx="8018145" cy="1511935"/>
          </a:xfrm>
          <a:custGeom>
            <a:avLst/>
            <a:gdLst/>
            <a:ahLst/>
            <a:cxnLst/>
            <a:rect l="l" t="t" r="r" b="b"/>
            <a:pathLst>
              <a:path w="8018145" h="1511935">
                <a:moveTo>
                  <a:pt x="0" y="173990"/>
                </a:moveTo>
                <a:lnTo>
                  <a:pt x="5378" y="130867"/>
                </a:lnTo>
                <a:lnTo>
                  <a:pt x="20629" y="91703"/>
                </a:lnTo>
                <a:lnTo>
                  <a:pt x="44426" y="57822"/>
                </a:lnTo>
                <a:lnTo>
                  <a:pt x="75441" y="30553"/>
                </a:lnTo>
                <a:lnTo>
                  <a:pt x="112349" y="11221"/>
                </a:lnTo>
                <a:lnTo>
                  <a:pt x="153822" y="1154"/>
                </a:lnTo>
                <a:lnTo>
                  <a:pt x="7843774" y="0"/>
                </a:lnTo>
                <a:lnTo>
                  <a:pt x="7858505" y="613"/>
                </a:lnTo>
                <a:lnTo>
                  <a:pt x="7900456" y="9430"/>
                </a:lnTo>
                <a:lnTo>
                  <a:pt x="7938007" y="27677"/>
                </a:lnTo>
                <a:lnTo>
                  <a:pt x="7969831" y="54028"/>
                </a:lnTo>
                <a:lnTo>
                  <a:pt x="7994602" y="87155"/>
                </a:lnTo>
                <a:lnTo>
                  <a:pt x="8010992" y="125732"/>
                </a:lnTo>
                <a:lnTo>
                  <a:pt x="8017677" y="168432"/>
                </a:lnTo>
                <a:lnTo>
                  <a:pt x="8017763" y="1337818"/>
                </a:lnTo>
                <a:lnTo>
                  <a:pt x="8017150" y="1352549"/>
                </a:lnTo>
                <a:lnTo>
                  <a:pt x="8008333" y="1394500"/>
                </a:lnTo>
                <a:lnTo>
                  <a:pt x="7990086" y="1432051"/>
                </a:lnTo>
                <a:lnTo>
                  <a:pt x="7963735" y="1463875"/>
                </a:lnTo>
                <a:lnTo>
                  <a:pt x="7930608" y="1488646"/>
                </a:lnTo>
                <a:lnTo>
                  <a:pt x="7892031" y="1505036"/>
                </a:lnTo>
                <a:lnTo>
                  <a:pt x="7849331" y="1511721"/>
                </a:lnTo>
                <a:lnTo>
                  <a:pt x="173989" y="1511808"/>
                </a:lnTo>
                <a:lnTo>
                  <a:pt x="159258" y="1511194"/>
                </a:lnTo>
                <a:lnTo>
                  <a:pt x="117307" y="1502377"/>
                </a:lnTo>
                <a:lnTo>
                  <a:pt x="79756" y="1484130"/>
                </a:lnTo>
                <a:lnTo>
                  <a:pt x="47932" y="1457779"/>
                </a:lnTo>
                <a:lnTo>
                  <a:pt x="23161" y="1424652"/>
                </a:lnTo>
                <a:lnTo>
                  <a:pt x="6771" y="1386075"/>
                </a:lnTo>
                <a:lnTo>
                  <a:pt x="86" y="1343375"/>
                </a:lnTo>
                <a:lnTo>
                  <a:pt x="0" y="173990"/>
                </a:lnTo>
                <a:close/>
              </a:path>
            </a:pathLst>
          </a:custGeom>
          <a:ln w="28956">
            <a:solidFill>
              <a:srgbClr val="5B9BD4"/>
            </a:solidFill>
          </a:ln>
        </p:spPr>
        <p:txBody>
          <a:bodyPr wrap="square" lIns="0" tIns="0" rIns="0" bIns="0" rtlCol="0"/>
          <a:lstStyle/>
          <a:p>
            <a:endParaRPr/>
          </a:p>
        </p:txBody>
      </p:sp>
      <p:sp>
        <p:nvSpPr>
          <p:cNvPr id="21" name="object 21"/>
          <p:cNvSpPr txBox="1"/>
          <p:nvPr/>
        </p:nvSpPr>
        <p:spPr>
          <a:xfrm>
            <a:off x="4153661" y="3342375"/>
            <a:ext cx="7658100" cy="1208405"/>
          </a:xfrm>
          <a:prstGeom prst="rect">
            <a:avLst/>
          </a:prstGeom>
        </p:spPr>
        <p:txBody>
          <a:bodyPr vert="horz" wrap="square" lIns="0" tIns="0" rIns="0" bIns="0" rtlCol="0">
            <a:spAutoFit/>
          </a:bodyPr>
          <a:lstStyle/>
          <a:p>
            <a:pPr marL="12700" marR="5080" algn="just">
              <a:lnSpc>
                <a:spcPct val="120000"/>
              </a:lnSpc>
            </a:pPr>
            <a:r>
              <a:rPr sz="2400" b="1" spc="-5" dirty="0">
                <a:latin typeface="微软雅黑"/>
                <a:cs typeface="微软雅黑"/>
              </a:rPr>
              <a:t>TIMx</a:t>
            </a:r>
            <a:r>
              <a:rPr sz="2400" b="1" spc="5" dirty="0">
                <a:latin typeface="微软雅黑"/>
                <a:cs typeface="微软雅黑"/>
              </a:rPr>
              <a:t>_</a:t>
            </a:r>
            <a:r>
              <a:rPr sz="2400" b="1" spc="-70" dirty="0">
                <a:latin typeface="微软雅黑"/>
                <a:cs typeface="微软雅黑"/>
              </a:rPr>
              <a:t>C</a:t>
            </a:r>
            <a:r>
              <a:rPr sz="2400" b="1" spc="-5" dirty="0">
                <a:latin typeface="微软雅黑"/>
                <a:cs typeface="微软雅黑"/>
              </a:rPr>
              <a:t>C</a:t>
            </a:r>
            <a:r>
              <a:rPr sz="2400" b="1" dirty="0">
                <a:latin typeface="微软雅黑"/>
                <a:cs typeface="微软雅黑"/>
              </a:rPr>
              <a:t>R寄存器在输入捕获模式下用于存放发生捕获事 件时的当前计数值；在输出比较模式下用于存放预设的比 </a:t>
            </a:r>
            <a:r>
              <a:rPr sz="2400" b="1" spc="-5" dirty="0">
                <a:latin typeface="微软雅黑"/>
                <a:cs typeface="微软雅黑"/>
              </a:rPr>
              <a:t>较值。该寄存器具备预装载功能。</a:t>
            </a:r>
            <a:endParaRPr sz="2400">
              <a:latin typeface="微软雅黑"/>
              <a:cs typeface="微软雅黑"/>
            </a:endParaRPr>
          </a:p>
        </p:txBody>
      </p:sp>
      <p:sp>
        <p:nvSpPr>
          <p:cNvPr id="22" name="object 22"/>
          <p:cNvSpPr/>
          <p:nvPr/>
        </p:nvSpPr>
        <p:spPr>
          <a:xfrm>
            <a:off x="2508504" y="3313176"/>
            <a:ext cx="1518285" cy="1193800"/>
          </a:xfrm>
          <a:custGeom>
            <a:avLst/>
            <a:gdLst/>
            <a:ahLst/>
            <a:cxnLst/>
            <a:rect l="l" t="t" r="r" b="b"/>
            <a:pathLst>
              <a:path w="1518285" h="1193800">
                <a:moveTo>
                  <a:pt x="1375663" y="0"/>
                </a:moveTo>
                <a:lnTo>
                  <a:pt x="129878" y="528"/>
                </a:lnTo>
                <a:lnTo>
                  <a:pt x="88410" y="10521"/>
                </a:lnTo>
                <a:lnTo>
                  <a:pt x="52705" y="31672"/>
                </a:lnTo>
                <a:lnTo>
                  <a:pt x="24746" y="61997"/>
                </a:lnTo>
                <a:lnTo>
                  <a:pt x="6517" y="99514"/>
                </a:lnTo>
                <a:lnTo>
                  <a:pt x="0" y="142239"/>
                </a:lnTo>
                <a:lnTo>
                  <a:pt x="528" y="1063413"/>
                </a:lnTo>
                <a:lnTo>
                  <a:pt x="10521" y="1104881"/>
                </a:lnTo>
                <a:lnTo>
                  <a:pt x="31672" y="1140586"/>
                </a:lnTo>
                <a:lnTo>
                  <a:pt x="61997" y="1168545"/>
                </a:lnTo>
                <a:lnTo>
                  <a:pt x="99514" y="1186774"/>
                </a:lnTo>
                <a:lnTo>
                  <a:pt x="142239" y="1193292"/>
                </a:lnTo>
                <a:lnTo>
                  <a:pt x="1388025" y="1192763"/>
                </a:lnTo>
                <a:lnTo>
                  <a:pt x="1429493" y="1182770"/>
                </a:lnTo>
                <a:lnTo>
                  <a:pt x="1465198" y="1161619"/>
                </a:lnTo>
                <a:lnTo>
                  <a:pt x="1493157" y="1131294"/>
                </a:lnTo>
                <a:lnTo>
                  <a:pt x="1511386" y="1093777"/>
                </a:lnTo>
                <a:lnTo>
                  <a:pt x="1517904" y="1051052"/>
                </a:lnTo>
                <a:lnTo>
                  <a:pt x="1517375" y="129878"/>
                </a:lnTo>
                <a:lnTo>
                  <a:pt x="1507382" y="88410"/>
                </a:lnTo>
                <a:lnTo>
                  <a:pt x="1486231" y="52705"/>
                </a:lnTo>
                <a:lnTo>
                  <a:pt x="1455906" y="24746"/>
                </a:lnTo>
                <a:lnTo>
                  <a:pt x="1418389" y="6517"/>
                </a:lnTo>
                <a:lnTo>
                  <a:pt x="1375663" y="0"/>
                </a:lnTo>
                <a:close/>
              </a:path>
            </a:pathLst>
          </a:custGeom>
          <a:solidFill>
            <a:srgbClr val="00AFEF"/>
          </a:solidFill>
        </p:spPr>
        <p:txBody>
          <a:bodyPr wrap="square" lIns="0" tIns="0" rIns="0" bIns="0" rtlCol="0"/>
          <a:lstStyle/>
          <a:p>
            <a:endParaRPr/>
          </a:p>
        </p:txBody>
      </p:sp>
      <p:sp>
        <p:nvSpPr>
          <p:cNvPr id="23" name="object 23"/>
          <p:cNvSpPr txBox="1"/>
          <p:nvPr/>
        </p:nvSpPr>
        <p:spPr>
          <a:xfrm>
            <a:off x="2645791" y="3562720"/>
            <a:ext cx="1244600" cy="769620"/>
          </a:xfrm>
          <a:prstGeom prst="rect">
            <a:avLst/>
          </a:prstGeom>
        </p:spPr>
        <p:txBody>
          <a:bodyPr vert="horz" wrap="square" lIns="0" tIns="0" rIns="0" bIns="0" rtlCol="0">
            <a:spAutoFit/>
          </a:bodyPr>
          <a:lstStyle/>
          <a:p>
            <a:pPr algn="ctr">
              <a:lnSpc>
                <a:spcPct val="100000"/>
              </a:lnSpc>
            </a:pPr>
            <a:r>
              <a:rPr sz="2400" b="1" dirty="0">
                <a:solidFill>
                  <a:srgbClr val="F1F1F1"/>
                </a:solidFill>
                <a:latin typeface="微软雅黑"/>
                <a:cs typeface="微软雅黑"/>
              </a:rPr>
              <a:t>捕获/比</a:t>
            </a:r>
            <a:endParaRPr sz="2400">
              <a:latin typeface="微软雅黑"/>
              <a:cs typeface="微软雅黑"/>
            </a:endParaRPr>
          </a:p>
          <a:p>
            <a:pPr algn="ctr">
              <a:lnSpc>
                <a:spcPct val="100000"/>
              </a:lnSpc>
              <a:spcBef>
                <a:spcPts val="575"/>
              </a:spcBef>
            </a:pPr>
            <a:r>
              <a:rPr sz="2400" b="1" spc="-5" dirty="0">
                <a:solidFill>
                  <a:srgbClr val="F1F1F1"/>
                </a:solidFill>
                <a:latin typeface="微软雅黑"/>
                <a:cs typeface="微软雅黑"/>
              </a:rPr>
              <a:t>较寄存器</a:t>
            </a:r>
            <a:endParaRPr sz="2400">
              <a:latin typeface="微软雅黑"/>
              <a:cs typeface="微软雅黑"/>
            </a:endParaRPr>
          </a:p>
        </p:txBody>
      </p:sp>
      <p:sp>
        <p:nvSpPr>
          <p:cNvPr id="24" name="object 24"/>
          <p:cNvSpPr/>
          <p:nvPr/>
        </p:nvSpPr>
        <p:spPr>
          <a:xfrm>
            <a:off x="4027170" y="4903470"/>
            <a:ext cx="8023859" cy="1464945"/>
          </a:xfrm>
          <a:custGeom>
            <a:avLst/>
            <a:gdLst/>
            <a:ahLst/>
            <a:cxnLst/>
            <a:rect l="l" t="t" r="r" b="b"/>
            <a:pathLst>
              <a:path w="8023859" h="1464945">
                <a:moveTo>
                  <a:pt x="0" y="168528"/>
                </a:moveTo>
                <a:lnTo>
                  <a:pt x="5547" y="125474"/>
                </a:lnTo>
                <a:lnTo>
                  <a:pt x="21245" y="86542"/>
                </a:lnTo>
                <a:lnTo>
                  <a:pt x="45676" y="53150"/>
                </a:lnTo>
                <a:lnTo>
                  <a:pt x="77426" y="26713"/>
                </a:lnTo>
                <a:lnTo>
                  <a:pt x="115077" y="8649"/>
                </a:lnTo>
                <a:lnTo>
                  <a:pt x="157213" y="373"/>
                </a:lnTo>
                <a:lnTo>
                  <a:pt x="7855331" y="0"/>
                </a:lnTo>
                <a:lnTo>
                  <a:pt x="7870053" y="633"/>
                </a:lnTo>
                <a:lnTo>
                  <a:pt x="7911890" y="9722"/>
                </a:lnTo>
                <a:lnTo>
                  <a:pt x="7949133" y="28488"/>
                </a:lnTo>
                <a:lnTo>
                  <a:pt x="7980364" y="55516"/>
                </a:lnTo>
                <a:lnTo>
                  <a:pt x="8004167" y="89390"/>
                </a:lnTo>
                <a:lnTo>
                  <a:pt x="8019126" y="128694"/>
                </a:lnTo>
                <a:lnTo>
                  <a:pt x="8023859" y="1296060"/>
                </a:lnTo>
                <a:lnTo>
                  <a:pt x="8023226" y="1310779"/>
                </a:lnTo>
                <a:lnTo>
                  <a:pt x="8014136" y="1352611"/>
                </a:lnTo>
                <a:lnTo>
                  <a:pt x="7995367" y="1389849"/>
                </a:lnTo>
                <a:lnTo>
                  <a:pt x="7968335" y="1421078"/>
                </a:lnTo>
                <a:lnTo>
                  <a:pt x="7934457" y="1444878"/>
                </a:lnTo>
                <a:lnTo>
                  <a:pt x="7895149" y="1459834"/>
                </a:lnTo>
                <a:lnTo>
                  <a:pt x="168528" y="1464563"/>
                </a:lnTo>
                <a:lnTo>
                  <a:pt x="153805" y="1463930"/>
                </a:lnTo>
                <a:lnTo>
                  <a:pt x="111965" y="1454840"/>
                </a:lnTo>
                <a:lnTo>
                  <a:pt x="74720" y="1436072"/>
                </a:lnTo>
                <a:lnTo>
                  <a:pt x="43488" y="1409043"/>
                </a:lnTo>
                <a:lnTo>
                  <a:pt x="19685" y="1375169"/>
                </a:lnTo>
                <a:lnTo>
                  <a:pt x="4729" y="1335868"/>
                </a:lnTo>
                <a:lnTo>
                  <a:pt x="0" y="168528"/>
                </a:lnTo>
                <a:close/>
              </a:path>
            </a:pathLst>
          </a:custGeom>
          <a:ln w="28956">
            <a:solidFill>
              <a:srgbClr val="5B9BD4"/>
            </a:solidFill>
          </a:ln>
        </p:spPr>
        <p:txBody>
          <a:bodyPr wrap="square" lIns="0" tIns="0" rIns="0" bIns="0" rtlCol="0"/>
          <a:lstStyle/>
          <a:p>
            <a:endParaRPr/>
          </a:p>
        </p:txBody>
      </p:sp>
      <p:sp>
        <p:nvSpPr>
          <p:cNvPr id="25" name="object 25"/>
          <p:cNvSpPr txBox="1"/>
          <p:nvPr/>
        </p:nvSpPr>
        <p:spPr>
          <a:xfrm>
            <a:off x="4147184" y="5068051"/>
            <a:ext cx="7645400" cy="1208405"/>
          </a:xfrm>
          <a:prstGeom prst="rect">
            <a:avLst/>
          </a:prstGeom>
        </p:spPr>
        <p:txBody>
          <a:bodyPr vert="horz" wrap="square" lIns="0" tIns="0" rIns="0" bIns="0" rtlCol="0">
            <a:spAutoFit/>
          </a:bodyPr>
          <a:lstStyle/>
          <a:p>
            <a:pPr marL="12700" marR="5080" algn="just">
              <a:lnSpc>
                <a:spcPct val="120000"/>
              </a:lnSpc>
            </a:pPr>
            <a:r>
              <a:rPr sz="2400" b="1" dirty="0">
                <a:latin typeface="微软雅黑"/>
                <a:cs typeface="微软雅黑"/>
              </a:rPr>
              <a:t>用于信号输出。定时器通过将预设的比较值与计数器的值 做匹配比较，以实现各类输出，</a:t>
            </a:r>
            <a:r>
              <a:rPr sz="2400" b="1" spc="5" dirty="0">
                <a:latin typeface="微软雅黑"/>
                <a:cs typeface="微软雅黑"/>
              </a:rPr>
              <a:t>如</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M输出、单脉冲输 出等。预设的比较值存放在捕</a:t>
            </a:r>
            <a:r>
              <a:rPr sz="2400" b="1" spc="5" dirty="0">
                <a:latin typeface="微软雅黑"/>
                <a:cs typeface="微软雅黑"/>
              </a:rPr>
              <a:t>获</a:t>
            </a:r>
            <a:r>
              <a:rPr sz="2400" b="1" dirty="0">
                <a:latin typeface="微软雅黑"/>
                <a:cs typeface="微软雅黑"/>
              </a:rPr>
              <a:t>/比较寄存器中。</a:t>
            </a:r>
            <a:endParaRPr sz="2400">
              <a:latin typeface="微软雅黑"/>
              <a:cs typeface="微软雅黑"/>
            </a:endParaRPr>
          </a:p>
        </p:txBody>
      </p:sp>
      <p:sp>
        <p:nvSpPr>
          <p:cNvPr id="26" name="object 26"/>
          <p:cNvSpPr/>
          <p:nvPr/>
        </p:nvSpPr>
        <p:spPr>
          <a:xfrm>
            <a:off x="2470404" y="4991100"/>
            <a:ext cx="1556385" cy="1181100"/>
          </a:xfrm>
          <a:custGeom>
            <a:avLst/>
            <a:gdLst/>
            <a:ahLst/>
            <a:cxnLst/>
            <a:rect l="l" t="t" r="r" b="b"/>
            <a:pathLst>
              <a:path w="1556385" h="1181100">
                <a:moveTo>
                  <a:pt x="1415160" y="0"/>
                </a:moveTo>
                <a:lnTo>
                  <a:pt x="130751" y="355"/>
                </a:lnTo>
                <a:lnTo>
                  <a:pt x="89070" y="9801"/>
                </a:lnTo>
                <a:lnTo>
                  <a:pt x="53134" y="30594"/>
                </a:lnTo>
                <a:lnTo>
                  <a:pt x="24962" y="60712"/>
                </a:lnTo>
                <a:lnTo>
                  <a:pt x="6577" y="98136"/>
                </a:lnTo>
                <a:lnTo>
                  <a:pt x="0" y="140843"/>
                </a:lnTo>
                <a:lnTo>
                  <a:pt x="352" y="1050346"/>
                </a:lnTo>
                <a:lnTo>
                  <a:pt x="9792" y="1092004"/>
                </a:lnTo>
                <a:lnTo>
                  <a:pt x="30583" y="1127938"/>
                </a:lnTo>
                <a:lnTo>
                  <a:pt x="60703" y="1156119"/>
                </a:lnTo>
                <a:lnTo>
                  <a:pt x="98130" y="1174516"/>
                </a:lnTo>
                <a:lnTo>
                  <a:pt x="140843" y="1181100"/>
                </a:lnTo>
                <a:lnTo>
                  <a:pt x="1425222" y="1180746"/>
                </a:lnTo>
                <a:lnTo>
                  <a:pt x="1466911" y="1171301"/>
                </a:lnTo>
                <a:lnTo>
                  <a:pt x="1502856" y="1150503"/>
                </a:lnTo>
                <a:lnTo>
                  <a:pt x="1531034" y="1120382"/>
                </a:lnTo>
                <a:lnTo>
                  <a:pt x="1549424" y="1082970"/>
                </a:lnTo>
                <a:lnTo>
                  <a:pt x="1556004" y="1040295"/>
                </a:lnTo>
                <a:lnTo>
                  <a:pt x="1555648" y="130751"/>
                </a:lnTo>
                <a:lnTo>
                  <a:pt x="1546202" y="89070"/>
                </a:lnTo>
                <a:lnTo>
                  <a:pt x="1525409" y="53134"/>
                </a:lnTo>
                <a:lnTo>
                  <a:pt x="1495291" y="24962"/>
                </a:lnTo>
                <a:lnTo>
                  <a:pt x="1457867" y="6577"/>
                </a:lnTo>
                <a:lnTo>
                  <a:pt x="1415160" y="0"/>
                </a:lnTo>
                <a:close/>
              </a:path>
            </a:pathLst>
          </a:custGeom>
          <a:solidFill>
            <a:srgbClr val="00AF50"/>
          </a:solidFill>
        </p:spPr>
        <p:txBody>
          <a:bodyPr wrap="square" lIns="0" tIns="0" rIns="0" bIns="0" rtlCol="0"/>
          <a:lstStyle/>
          <a:p>
            <a:endParaRPr/>
          </a:p>
        </p:txBody>
      </p:sp>
      <p:sp>
        <p:nvSpPr>
          <p:cNvPr id="27" name="object 27"/>
          <p:cNvSpPr txBox="1"/>
          <p:nvPr/>
        </p:nvSpPr>
        <p:spPr>
          <a:xfrm>
            <a:off x="2626232" y="5235437"/>
            <a:ext cx="1244600" cy="769620"/>
          </a:xfrm>
          <a:prstGeom prst="rect">
            <a:avLst/>
          </a:prstGeom>
        </p:spPr>
        <p:txBody>
          <a:bodyPr vert="horz" wrap="square" lIns="0" tIns="0" rIns="0" bIns="0" rtlCol="0">
            <a:spAutoFit/>
          </a:bodyPr>
          <a:lstStyle/>
          <a:p>
            <a:pPr marL="317500" marR="5080" indent="-304800">
              <a:lnSpc>
                <a:spcPct val="120000"/>
              </a:lnSpc>
            </a:pPr>
            <a:r>
              <a:rPr sz="2400" b="1" dirty="0">
                <a:solidFill>
                  <a:srgbClr val="F1F1F1"/>
                </a:solidFill>
                <a:latin typeface="微软雅黑"/>
                <a:cs typeface="微软雅黑"/>
              </a:rPr>
              <a:t>输出比较 单元</a:t>
            </a:r>
            <a:endParaRPr sz="2400">
              <a:latin typeface="微软雅黑"/>
              <a:cs typeface="微软雅黑"/>
            </a:endParaRPr>
          </a:p>
        </p:txBody>
      </p:sp>
      <p:sp>
        <p:nvSpPr>
          <p:cNvPr id="28" name="object 28"/>
          <p:cNvSpPr/>
          <p:nvPr/>
        </p:nvSpPr>
        <p:spPr>
          <a:xfrm>
            <a:off x="816863" y="3313176"/>
            <a:ext cx="1191895" cy="1193800"/>
          </a:xfrm>
          <a:custGeom>
            <a:avLst/>
            <a:gdLst/>
            <a:ahLst/>
            <a:cxnLst/>
            <a:rect l="l" t="t" r="r" b="b"/>
            <a:pathLst>
              <a:path w="1191895" h="1193800">
                <a:moveTo>
                  <a:pt x="595884" y="0"/>
                </a:moveTo>
                <a:lnTo>
                  <a:pt x="547012" y="1977"/>
                </a:lnTo>
                <a:lnTo>
                  <a:pt x="499229" y="7807"/>
                </a:lnTo>
                <a:lnTo>
                  <a:pt x="452687" y="17337"/>
                </a:lnTo>
                <a:lnTo>
                  <a:pt x="407539" y="30412"/>
                </a:lnTo>
                <a:lnTo>
                  <a:pt x="363940" y="46880"/>
                </a:lnTo>
                <a:lnTo>
                  <a:pt x="322042" y="66587"/>
                </a:lnTo>
                <a:lnTo>
                  <a:pt x="281998" y="89380"/>
                </a:lnTo>
                <a:lnTo>
                  <a:pt x="243963" y="115104"/>
                </a:lnTo>
                <a:lnTo>
                  <a:pt x="208090" y="143607"/>
                </a:lnTo>
                <a:lnTo>
                  <a:pt x="174531" y="174736"/>
                </a:lnTo>
                <a:lnTo>
                  <a:pt x="143440" y="208336"/>
                </a:lnTo>
                <a:lnTo>
                  <a:pt x="114971" y="244254"/>
                </a:lnTo>
                <a:lnTo>
                  <a:pt x="89277" y="282337"/>
                </a:lnTo>
                <a:lnTo>
                  <a:pt x="66511" y="322432"/>
                </a:lnTo>
                <a:lnTo>
                  <a:pt x="46827" y="364384"/>
                </a:lnTo>
                <a:lnTo>
                  <a:pt x="30378" y="408041"/>
                </a:lnTo>
                <a:lnTo>
                  <a:pt x="17318" y="453249"/>
                </a:lnTo>
                <a:lnTo>
                  <a:pt x="7799" y="499855"/>
                </a:lnTo>
                <a:lnTo>
                  <a:pt x="1975" y="547705"/>
                </a:lnTo>
                <a:lnTo>
                  <a:pt x="0" y="596646"/>
                </a:lnTo>
                <a:lnTo>
                  <a:pt x="1975" y="645586"/>
                </a:lnTo>
                <a:lnTo>
                  <a:pt x="7799" y="693436"/>
                </a:lnTo>
                <a:lnTo>
                  <a:pt x="17318" y="740042"/>
                </a:lnTo>
                <a:lnTo>
                  <a:pt x="30378" y="785250"/>
                </a:lnTo>
                <a:lnTo>
                  <a:pt x="46827" y="828907"/>
                </a:lnTo>
                <a:lnTo>
                  <a:pt x="66511" y="870859"/>
                </a:lnTo>
                <a:lnTo>
                  <a:pt x="89277" y="910954"/>
                </a:lnTo>
                <a:lnTo>
                  <a:pt x="114971" y="949037"/>
                </a:lnTo>
                <a:lnTo>
                  <a:pt x="143440" y="984955"/>
                </a:lnTo>
                <a:lnTo>
                  <a:pt x="174531" y="1018555"/>
                </a:lnTo>
                <a:lnTo>
                  <a:pt x="208090" y="1049684"/>
                </a:lnTo>
                <a:lnTo>
                  <a:pt x="243963" y="1078187"/>
                </a:lnTo>
                <a:lnTo>
                  <a:pt x="281998" y="1103911"/>
                </a:lnTo>
                <a:lnTo>
                  <a:pt x="322042" y="1126704"/>
                </a:lnTo>
                <a:lnTo>
                  <a:pt x="363940" y="1146411"/>
                </a:lnTo>
                <a:lnTo>
                  <a:pt x="407539" y="1162879"/>
                </a:lnTo>
                <a:lnTo>
                  <a:pt x="452687" y="1175954"/>
                </a:lnTo>
                <a:lnTo>
                  <a:pt x="499229" y="1185484"/>
                </a:lnTo>
                <a:lnTo>
                  <a:pt x="547012" y="1191314"/>
                </a:lnTo>
                <a:lnTo>
                  <a:pt x="595884" y="1193292"/>
                </a:lnTo>
                <a:lnTo>
                  <a:pt x="644750" y="1191314"/>
                </a:lnTo>
                <a:lnTo>
                  <a:pt x="692529" y="1185484"/>
                </a:lnTo>
                <a:lnTo>
                  <a:pt x="739068" y="1175954"/>
                </a:lnTo>
                <a:lnTo>
                  <a:pt x="784213" y="1162879"/>
                </a:lnTo>
                <a:lnTo>
                  <a:pt x="827811" y="1146411"/>
                </a:lnTo>
                <a:lnTo>
                  <a:pt x="869709" y="1126704"/>
                </a:lnTo>
                <a:lnTo>
                  <a:pt x="909752" y="1103911"/>
                </a:lnTo>
                <a:lnTo>
                  <a:pt x="947787" y="1078187"/>
                </a:lnTo>
                <a:lnTo>
                  <a:pt x="983662" y="1049684"/>
                </a:lnTo>
                <a:lnTo>
                  <a:pt x="1017222" y="1018555"/>
                </a:lnTo>
                <a:lnTo>
                  <a:pt x="1048314" y="984955"/>
                </a:lnTo>
                <a:lnTo>
                  <a:pt x="1076785" y="949037"/>
                </a:lnTo>
                <a:lnTo>
                  <a:pt x="1102481" y="910954"/>
                </a:lnTo>
                <a:lnTo>
                  <a:pt x="1125248" y="870859"/>
                </a:lnTo>
                <a:lnTo>
                  <a:pt x="1144934" y="828907"/>
                </a:lnTo>
                <a:lnTo>
                  <a:pt x="1161385" y="785250"/>
                </a:lnTo>
                <a:lnTo>
                  <a:pt x="1174447" y="740042"/>
                </a:lnTo>
                <a:lnTo>
                  <a:pt x="1183967" y="693436"/>
                </a:lnTo>
                <a:lnTo>
                  <a:pt x="1189792" y="645586"/>
                </a:lnTo>
                <a:lnTo>
                  <a:pt x="1191768" y="596646"/>
                </a:lnTo>
                <a:lnTo>
                  <a:pt x="1189792" y="547705"/>
                </a:lnTo>
                <a:lnTo>
                  <a:pt x="1183967" y="499855"/>
                </a:lnTo>
                <a:lnTo>
                  <a:pt x="1174447" y="453249"/>
                </a:lnTo>
                <a:lnTo>
                  <a:pt x="1161385" y="408041"/>
                </a:lnTo>
                <a:lnTo>
                  <a:pt x="1144934" y="364384"/>
                </a:lnTo>
                <a:lnTo>
                  <a:pt x="1125248" y="322432"/>
                </a:lnTo>
                <a:lnTo>
                  <a:pt x="1102481" y="282337"/>
                </a:lnTo>
                <a:lnTo>
                  <a:pt x="1076785" y="244254"/>
                </a:lnTo>
                <a:lnTo>
                  <a:pt x="1048314" y="208336"/>
                </a:lnTo>
                <a:lnTo>
                  <a:pt x="1017222" y="174736"/>
                </a:lnTo>
                <a:lnTo>
                  <a:pt x="983662" y="143607"/>
                </a:lnTo>
                <a:lnTo>
                  <a:pt x="947787" y="115104"/>
                </a:lnTo>
                <a:lnTo>
                  <a:pt x="909752" y="89380"/>
                </a:lnTo>
                <a:lnTo>
                  <a:pt x="869709" y="66587"/>
                </a:lnTo>
                <a:lnTo>
                  <a:pt x="827811" y="46880"/>
                </a:lnTo>
                <a:lnTo>
                  <a:pt x="784213" y="30412"/>
                </a:lnTo>
                <a:lnTo>
                  <a:pt x="739068" y="17337"/>
                </a:lnTo>
                <a:lnTo>
                  <a:pt x="692529" y="7807"/>
                </a:lnTo>
                <a:lnTo>
                  <a:pt x="644750" y="1977"/>
                </a:lnTo>
                <a:lnTo>
                  <a:pt x="595884" y="0"/>
                </a:lnTo>
                <a:close/>
              </a:path>
            </a:pathLst>
          </a:custGeom>
          <a:solidFill>
            <a:srgbClr val="5B9BD4"/>
          </a:solidFill>
        </p:spPr>
        <p:txBody>
          <a:bodyPr wrap="square" lIns="0" tIns="0" rIns="0" bIns="0" rtlCol="0"/>
          <a:lstStyle/>
          <a:p>
            <a:endParaRPr/>
          </a:p>
        </p:txBody>
      </p:sp>
      <p:sp>
        <p:nvSpPr>
          <p:cNvPr id="29" name="object 29"/>
          <p:cNvSpPr txBox="1"/>
          <p:nvPr/>
        </p:nvSpPr>
        <p:spPr>
          <a:xfrm>
            <a:off x="1078483" y="3544708"/>
            <a:ext cx="668655" cy="810260"/>
          </a:xfrm>
          <a:prstGeom prst="rect">
            <a:avLst/>
          </a:prstGeom>
        </p:spPr>
        <p:txBody>
          <a:bodyPr vert="horz" wrap="square" lIns="0" tIns="0" rIns="0" bIns="0" rtlCol="0">
            <a:spAutoFit/>
          </a:bodyPr>
          <a:lstStyle/>
          <a:p>
            <a:pPr marL="12700" marR="5080">
              <a:lnSpc>
                <a:spcPct val="121600"/>
              </a:lnSpc>
            </a:pPr>
            <a:r>
              <a:rPr sz="2500" b="1" spc="25" dirty="0">
                <a:solidFill>
                  <a:srgbClr val="FFFFFF"/>
                </a:solidFill>
                <a:latin typeface="微软雅黑"/>
                <a:cs typeface="微软雅黑"/>
              </a:rPr>
              <a:t>功能 单元</a:t>
            </a:r>
            <a:endParaRPr sz="2500">
              <a:latin typeface="微软雅黑"/>
              <a:cs typeface="微软雅黑"/>
            </a:endParaRPr>
          </a:p>
        </p:txBody>
      </p:sp>
    </p:spTree>
    <p:extLst>
      <p:ext uri="{BB962C8B-B14F-4D97-AF65-F5344CB8AC3E}">
        <p14:creationId xmlns:p14="http://schemas.microsoft.com/office/powerpoint/2010/main" val="38145189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75653" y="3716273"/>
            <a:ext cx="684530" cy="467995"/>
          </a:xfrm>
          <a:custGeom>
            <a:avLst/>
            <a:gdLst/>
            <a:ahLst/>
            <a:cxnLst/>
            <a:rect l="l" t="t" r="r" b="b"/>
            <a:pathLst>
              <a:path w="684529" h="467995">
                <a:moveTo>
                  <a:pt x="0" y="467868"/>
                </a:moveTo>
                <a:lnTo>
                  <a:pt x="684276" y="0"/>
                </a:lnTo>
              </a:path>
            </a:pathLst>
          </a:custGeom>
          <a:ln w="25908">
            <a:solidFill>
              <a:srgbClr val="000000"/>
            </a:solidFill>
          </a:ln>
        </p:spPr>
        <p:txBody>
          <a:bodyPr wrap="square" lIns="0" tIns="0" rIns="0" bIns="0" rtlCol="0"/>
          <a:lstStyle/>
          <a:p>
            <a:endParaRPr/>
          </a:p>
        </p:txBody>
      </p:sp>
      <p:sp>
        <p:nvSpPr>
          <p:cNvPr id="3" name="object 3"/>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7" name="object 7"/>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a:spLocks noGrp="1"/>
          </p:cNvSpPr>
          <p:nvPr>
            <p:ph type="title"/>
          </p:nvPr>
        </p:nvSpPr>
        <p:spPr>
          <a:xfrm>
            <a:off x="82803" y="664949"/>
            <a:ext cx="10515600" cy="1325563"/>
          </a:xfrm>
          <a:prstGeom prst="rect">
            <a:avLst/>
          </a:prstGeom>
        </p:spPr>
        <p:txBody>
          <a:bodyPr vert="horz" wrap="square" lIns="0" tIns="0" rIns="0" bIns="0" rtlCol="0">
            <a:spAutoFit/>
          </a:bodyPr>
          <a:lstStyle/>
          <a:p>
            <a:pPr marL="278130">
              <a:lnSpc>
                <a:spcPct val="100000"/>
              </a:lnSpc>
            </a:pPr>
            <a:r>
              <a:rPr sz="2400" dirty="0">
                <a:solidFill>
                  <a:srgbClr val="FFFFFF"/>
                </a:solidFill>
              </a:rPr>
              <a:t>工作原理</a:t>
            </a:r>
            <a:endParaRPr sz="2400" dirty="0"/>
          </a:p>
        </p:txBody>
      </p:sp>
      <p:sp>
        <p:nvSpPr>
          <p:cNvPr id="12" name="object 12"/>
          <p:cNvSpPr/>
          <p:nvPr/>
        </p:nvSpPr>
        <p:spPr>
          <a:xfrm>
            <a:off x="4215384" y="4867655"/>
            <a:ext cx="4354195" cy="1905"/>
          </a:xfrm>
          <a:custGeom>
            <a:avLst/>
            <a:gdLst/>
            <a:ahLst/>
            <a:cxnLst/>
            <a:rect l="l" t="t" r="r" b="b"/>
            <a:pathLst>
              <a:path w="4354195" h="1904">
                <a:moveTo>
                  <a:pt x="0" y="1524"/>
                </a:moveTo>
                <a:lnTo>
                  <a:pt x="4354068" y="0"/>
                </a:lnTo>
              </a:path>
            </a:pathLst>
          </a:custGeom>
          <a:ln w="9144">
            <a:solidFill>
              <a:srgbClr val="000000"/>
            </a:solidFill>
            <a:prstDash val="dash"/>
          </a:ln>
        </p:spPr>
        <p:txBody>
          <a:bodyPr wrap="square" lIns="0" tIns="0" rIns="0" bIns="0" rtlCol="0"/>
          <a:lstStyle/>
          <a:p>
            <a:endParaRPr/>
          </a:p>
        </p:txBody>
      </p:sp>
      <p:sp>
        <p:nvSpPr>
          <p:cNvPr id="13" name="object 13"/>
          <p:cNvSpPr/>
          <p:nvPr/>
        </p:nvSpPr>
        <p:spPr>
          <a:xfrm>
            <a:off x="4251959" y="4509515"/>
            <a:ext cx="4318000" cy="0"/>
          </a:xfrm>
          <a:custGeom>
            <a:avLst/>
            <a:gdLst/>
            <a:ahLst/>
            <a:cxnLst/>
            <a:rect l="l" t="t" r="r" b="b"/>
            <a:pathLst>
              <a:path w="4318000">
                <a:moveTo>
                  <a:pt x="0" y="0"/>
                </a:moveTo>
                <a:lnTo>
                  <a:pt x="4317492" y="0"/>
                </a:lnTo>
              </a:path>
            </a:pathLst>
          </a:custGeom>
          <a:ln w="9144">
            <a:solidFill>
              <a:srgbClr val="000000"/>
            </a:solidFill>
            <a:prstDash val="dash"/>
          </a:ln>
        </p:spPr>
        <p:txBody>
          <a:bodyPr wrap="square" lIns="0" tIns="0" rIns="0" bIns="0" rtlCol="0"/>
          <a:lstStyle/>
          <a:p>
            <a:endParaRPr/>
          </a:p>
        </p:txBody>
      </p:sp>
      <p:sp>
        <p:nvSpPr>
          <p:cNvPr id="14" name="object 14"/>
          <p:cNvSpPr/>
          <p:nvPr/>
        </p:nvSpPr>
        <p:spPr>
          <a:xfrm>
            <a:off x="1557527" y="4015740"/>
            <a:ext cx="2586990" cy="459486"/>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1546097" y="4004309"/>
            <a:ext cx="2560319" cy="432815"/>
          </a:xfrm>
          <a:prstGeom prst="rect">
            <a:avLst/>
          </a:prstGeom>
          <a:blipFill>
            <a:blip r:embed="rId5" cstate="print"/>
            <a:stretch>
              <a:fillRect/>
            </a:stretch>
          </a:blipFill>
        </p:spPr>
        <p:txBody>
          <a:bodyPr wrap="square" lIns="0" tIns="0" rIns="0" bIns="0" rtlCol="0"/>
          <a:lstStyle/>
          <a:p>
            <a:endParaRPr/>
          </a:p>
        </p:txBody>
      </p:sp>
      <p:sp>
        <p:nvSpPr>
          <p:cNvPr id="16" name="object 16"/>
          <p:cNvSpPr/>
          <p:nvPr/>
        </p:nvSpPr>
        <p:spPr>
          <a:xfrm>
            <a:off x="1546097" y="4004309"/>
            <a:ext cx="2560320" cy="433070"/>
          </a:xfrm>
          <a:custGeom>
            <a:avLst/>
            <a:gdLst/>
            <a:ahLst/>
            <a:cxnLst/>
            <a:rect l="l" t="t" r="r" b="b"/>
            <a:pathLst>
              <a:path w="2560320" h="433070">
                <a:moveTo>
                  <a:pt x="0" y="432815"/>
                </a:moveTo>
                <a:lnTo>
                  <a:pt x="2560319" y="432815"/>
                </a:lnTo>
                <a:lnTo>
                  <a:pt x="2560319" y="0"/>
                </a:lnTo>
                <a:lnTo>
                  <a:pt x="0" y="0"/>
                </a:lnTo>
                <a:lnTo>
                  <a:pt x="0" y="432815"/>
                </a:lnTo>
                <a:close/>
              </a:path>
            </a:pathLst>
          </a:custGeom>
          <a:ln w="25908">
            <a:solidFill>
              <a:srgbClr val="FFFFFF"/>
            </a:solidFill>
          </a:ln>
        </p:spPr>
        <p:txBody>
          <a:bodyPr wrap="square" lIns="0" tIns="0" rIns="0" bIns="0" rtlCol="0"/>
          <a:lstStyle/>
          <a:p>
            <a:endParaRPr/>
          </a:p>
        </p:txBody>
      </p:sp>
      <p:sp>
        <p:nvSpPr>
          <p:cNvPr id="17" name="object 17"/>
          <p:cNvSpPr txBox="1"/>
          <p:nvPr/>
        </p:nvSpPr>
        <p:spPr>
          <a:xfrm>
            <a:off x="1804797" y="4103546"/>
            <a:ext cx="2099310"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计数器寄存器</a:t>
            </a:r>
            <a:r>
              <a:rPr sz="2000" b="1" spc="-5" dirty="0">
                <a:latin typeface="微软雅黑"/>
                <a:cs typeface="微软雅黑"/>
              </a:rPr>
              <a:t>CNT</a:t>
            </a:r>
            <a:endParaRPr sz="2000">
              <a:latin typeface="微软雅黑"/>
              <a:cs typeface="微软雅黑"/>
            </a:endParaRPr>
          </a:p>
        </p:txBody>
      </p:sp>
      <p:sp>
        <p:nvSpPr>
          <p:cNvPr id="18" name="object 18"/>
          <p:cNvSpPr/>
          <p:nvPr/>
        </p:nvSpPr>
        <p:spPr>
          <a:xfrm>
            <a:off x="1527047" y="2756916"/>
            <a:ext cx="2620517" cy="459486"/>
          </a:xfrm>
          <a:prstGeom prst="rect">
            <a:avLst/>
          </a:prstGeom>
          <a:blipFill>
            <a:blip r:embed="rId6" cstate="print"/>
            <a:stretch>
              <a:fillRect/>
            </a:stretch>
          </a:blipFill>
        </p:spPr>
        <p:txBody>
          <a:bodyPr wrap="square" lIns="0" tIns="0" rIns="0" bIns="0" rtlCol="0"/>
          <a:lstStyle/>
          <a:p>
            <a:endParaRPr/>
          </a:p>
        </p:txBody>
      </p:sp>
      <p:sp>
        <p:nvSpPr>
          <p:cNvPr id="19" name="object 19"/>
          <p:cNvSpPr/>
          <p:nvPr/>
        </p:nvSpPr>
        <p:spPr>
          <a:xfrm>
            <a:off x="1515617" y="2745485"/>
            <a:ext cx="2593848" cy="432815"/>
          </a:xfrm>
          <a:prstGeom prst="rect">
            <a:avLst/>
          </a:prstGeom>
          <a:blipFill>
            <a:blip r:embed="rId7" cstate="print"/>
            <a:stretch>
              <a:fillRect/>
            </a:stretch>
          </a:blipFill>
        </p:spPr>
        <p:txBody>
          <a:bodyPr wrap="square" lIns="0" tIns="0" rIns="0" bIns="0" rtlCol="0"/>
          <a:lstStyle/>
          <a:p>
            <a:endParaRPr/>
          </a:p>
        </p:txBody>
      </p:sp>
      <p:sp>
        <p:nvSpPr>
          <p:cNvPr id="20" name="object 20"/>
          <p:cNvSpPr/>
          <p:nvPr/>
        </p:nvSpPr>
        <p:spPr>
          <a:xfrm>
            <a:off x="1515617" y="2745485"/>
            <a:ext cx="2593975" cy="433070"/>
          </a:xfrm>
          <a:custGeom>
            <a:avLst/>
            <a:gdLst/>
            <a:ahLst/>
            <a:cxnLst/>
            <a:rect l="l" t="t" r="r" b="b"/>
            <a:pathLst>
              <a:path w="2593975" h="433069">
                <a:moveTo>
                  <a:pt x="0" y="432815"/>
                </a:moveTo>
                <a:lnTo>
                  <a:pt x="2593848" y="432815"/>
                </a:lnTo>
                <a:lnTo>
                  <a:pt x="2593848" y="0"/>
                </a:lnTo>
                <a:lnTo>
                  <a:pt x="0" y="0"/>
                </a:lnTo>
                <a:lnTo>
                  <a:pt x="0" y="432815"/>
                </a:lnTo>
                <a:close/>
              </a:path>
            </a:pathLst>
          </a:custGeom>
          <a:ln w="25907">
            <a:solidFill>
              <a:srgbClr val="FFFFFF"/>
            </a:solidFill>
          </a:ln>
        </p:spPr>
        <p:txBody>
          <a:bodyPr wrap="square" lIns="0" tIns="0" rIns="0" bIns="0" rtlCol="0"/>
          <a:lstStyle/>
          <a:p>
            <a:endParaRPr/>
          </a:p>
        </p:txBody>
      </p:sp>
      <p:sp>
        <p:nvSpPr>
          <p:cNvPr id="21" name="object 21"/>
          <p:cNvSpPr txBox="1"/>
          <p:nvPr/>
        </p:nvSpPr>
        <p:spPr>
          <a:xfrm>
            <a:off x="1624075" y="2832794"/>
            <a:ext cx="2355215" cy="280670"/>
          </a:xfrm>
          <a:prstGeom prst="rect">
            <a:avLst/>
          </a:prstGeom>
        </p:spPr>
        <p:txBody>
          <a:bodyPr vert="horz" wrap="square" lIns="0" tIns="0" rIns="0" bIns="0" rtlCol="0">
            <a:spAutoFit/>
          </a:bodyPr>
          <a:lstStyle/>
          <a:p>
            <a:pPr marL="12700">
              <a:lnSpc>
                <a:spcPct val="100000"/>
              </a:lnSpc>
            </a:pPr>
            <a:r>
              <a:rPr sz="2000" b="1" spc="5" dirty="0">
                <a:latin typeface="微软雅黑"/>
                <a:cs typeface="微软雅黑"/>
              </a:rPr>
              <a:t>自动重载寄存</a:t>
            </a:r>
            <a:r>
              <a:rPr sz="2000" b="1" spc="-10" dirty="0">
                <a:latin typeface="微软雅黑"/>
                <a:cs typeface="微软雅黑"/>
              </a:rPr>
              <a:t>器</a:t>
            </a:r>
            <a:r>
              <a:rPr sz="2000" b="1" dirty="0">
                <a:latin typeface="微软雅黑"/>
                <a:cs typeface="微软雅黑"/>
              </a:rPr>
              <a:t>ARR</a:t>
            </a:r>
            <a:endParaRPr sz="2000">
              <a:latin typeface="微软雅黑"/>
              <a:cs typeface="微软雅黑"/>
            </a:endParaRPr>
          </a:p>
        </p:txBody>
      </p:sp>
      <p:sp>
        <p:nvSpPr>
          <p:cNvPr id="22" name="object 22"/>
          <p:cNvSpPr/>
          <p:nvPr/>
        </p:nvSpPr>
        <p:spPr>
          <a:xfrm>
            <a:off x="1557527" y="3549396"/>
            <a:ext cx="2588514" cy="459485"/>
          </a:xfrm>
          <a:prstGeom prst="rect">
            <a:avLst/>
          </a:prstGeom>
          <a:blipFill>
            <a:blip r:embed="rId8" cstate="print"/>
            <a:stretch>
              <a:fillRect/>
            </a:stretch>
          </a:blipFill>
        </p:spPr>
        <p:txBody>
          <a:bodyPr wrap="square" lIns="0" tIns="0" rIns="0" bIns="0" rtlCol="0"/>
          <a:lstStyle/>
          <a:p>
            <a:endParaRPr/>
          </a:p>
        </p:txBody>
      </p:sp>
      <p:sp>
        <p:nvSpPr>
          <p:cNvPr id="23" name="object 23"/>
          <p:cNvSpPr/>
          <p:nvPr/>
        </p:nvSpPr>
        <p:spPr>
          <a:xfrm>
            <a:off x="1546097" y="3537965"/>
            <a:ext cx="2561843" cy="432816"/>
          </a:xfrm>
          <a:prstGeom prst="rect">
            <a:avLst/>
          </a:prstGeom>
          <a:blipFill>
            <a:blip r:embed="rId5" cstate="print"/>
            <a:stretch>
              <a:fillRect/>
            </a:stretch>
          </a:blipFill>
        </p:spPr>
        <p:txBody>
          <a:bodyPr wrap="square" lIns="0" tIns="0" rIns="0" bIns="0" rtlCol="0"/>
          <a:lstStyle/>
          <a:p>
            <a:endParaRPr/>
          </a:p>
        </p:txBody>
      </p:sp>
      <p:sp>
        <p:nvSpPr>
          <p:cNvPr id="24" name="object 24"/>
          <p:cNvSpPr/>
          <p:nvPr/>
        </p:nvSpPr>
        <p:spPr>
          <a:xfrm>
            <a:off x="1546097" y="3537965"/>
            <a:ext cx="2562225" cy="433070"/>
          </a:xfrm>
          <a:custGeom>
            <a:avLst/>
            <a:gdLst/>
            <a:ahLst/>
            <a:cxnLst/>
            <a:rect l="l" t="t" r="r" b="b"/>
            <a:pathLst>
              <a:path w="2562225" h="433070">
                <a:moveTo>
                  <a:pt x="0" y="432816"/>
                </a:moveTo>
                <a:lnTo>
                  <a:pt x="2561843" y="432816"/>
                </a:lnTo>
                <a:lnTo>
                  <a:pt x="2561843" y="0"/>
                </a:lnTo>
                <a:lnTo>
                  <a:pt x="0" y="0"/>
                </a:lnTo>
                <a:lnTo>
                  <a:pt x="0" y="432816"/>
                </a:lnTo>
                <a:close/>
              </a:path>
            </a:pathLst>
          </a:custGeom>
          <a:ln w="25908">
            <a:solidFill>
              <a:srgbClr val="FFFFFF"/>
            </a:solidFill>
          </a:ln>
        </p:spPr>
        <p:txBody>
          <a:bodyPr wrap="square" lIns="0" tIns="0" rIns="0" bIns="0" rtlCol="0"/>
          <a:lstStyle/>
          <a:p>
            <a:endParaRPr/>
          </a:p>
        </p:txBody>
      </p:sp>
      <p:sp>
        <p:nvSpPr>
          <p:cNvPr id="25" name="object 25"/>
          <p:cNvSpPr txBox="1"/>
          <p:nvPr/>
        </p:nvSpPr>
        <p:spPr>
          <a:xfrm>
            <a:off x="1624330" y="3633519"/>
            <a:ext cx="244030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捕获/比较寄存器</a:t>
            </a:r>
            <a:r>
              <a:rPr sz="2000" b="1" spc="-65" dirty="0">
                <a:latin typeface="微软雅黑"/>
                <a:cs typeface="微软雅黑"/>
              </a:rPr>
              <a:t>C</a:t>
            </a:r>
            <a:r>
              <a:rPr sz="2000" b="1" spc="-5" dirty="0">
                <a:latin typeface="微软雅黑"/>
                <a:cs typeface="微软雅黑"/>
              </a:rPr>
              <a:t>CR</a:t>
            </a:r>
            <a:endParaRPr sz="2000">
              <a:latin typeface="微软雅黑"/>
              <a:cs typeface="微软雅黑"/>
            </a:endParaRPr>
          </a:p>
        </p:txBody>
      </p:sp>
      <p:sp>
        <p:nvSpPr>
          <p:cNvPr id="26" name="object 26"/>
          <p:cNvSpPr/>
          <p:nvPr/>
        </p:nvSpPr>
        <p:spPr>
          <a:xfrm>
            <a:off x="1557527" y="4521695"/>
            <a:ext cx="2588514" cy="457974"/>
          </a:xfrm>
          <a:prstGeom prst="rect">
            <a:avLst/>
          </a:prstGeom>
          <a:blipFill>
            <a:blip r:embed="rId9" cstate="print"/>
            <a:stretch>
              <a:fillRect/>
            </a:stretch>
          </a:blipFill>
        </p:spPr>
        <p:txBody>
          <a:bodyPr wrap="square" lIns="0" tIns="0" rIns="0" bIns="0" rtlCol="0"/>
          <a:lstStyle/>
          <a:p>
            <a:endParaRPr/>
          </a:p>
        </p:txBody>
      </p:sp>
      <p:sp>
        <p:nvSpPr>
          <p:cNvPr id="27" name="object 27"/>
          <p:cNvSpPr/>
          <p:nvPr/>
        </p:nvSpPr>
        <p:spPr>
          <a:xfrm>
            <a:off x="1546097" y="4510278"/>
            <a:ext cx="2561843" cy="431292"/>
          </a:xfrm>
          <a:prstGeom prst="rect">
            <a:avLst/>
          </a:prstGeom>
          <a:blipFill>
            <a:blip r:embed="rId10" cstate="print"/>
            <a:stretch>
              <a:fillRect/>
            </a:stretch>
          </a:blipFill>
        </p:spPr>
        <p:txBody>
          <a:bodyPr wrap="square" lIns="0" tIns="0" rIns="0" bIns="0" rtlCol="0"/>
          <a:lstStyle/>
          <a:p>
            <a:endParaRPr/>
          </a:p>
        </p:txBody>
      </p:sp>
      <p:sp>
        <p:nvSpPr>
          <p:cNvPr id="28" name="object 28"/>
          <p:cNvSpPr/>
          <p:nvPr/>
        </p:nvSpPr>
        <p:spPr>
          <a:xfrm>
            <a:off x="1546097" y="4510278"/>
            <a:ext cx="2562225" cy="431800"/>
          </a:xfrm>
          <a:custGeom>
            <a:avLst/>
            <a:gdLst/>
            <a:ahLst/>
            <a:cxnLst/>
            <a:rect l="l" t="t" r="r" b="b"/>
            <a:pathLst>
              <a:path w="2562225" h="431800">
                <a:moveTo>
                  <a:pt x="0" y="431292"/>
                </a:moveTo>
                <a:lnTo>
                  <a:pt x="2561843" y="431292"/>
                </a:lnTo>
                <a:lnTo>
                  <a:pt x="2561843" y="0"/>
                </a:lnTo>
                <a:lnTo>
                  <a:pt x="0" y="0"/>
                </a:lnTo>
                <a:lnTo>
                  <a:pt x="0" y="431292"/>
                </a:lnTo>
                <a:close/>
              </a:path>
            </a:pathLst>
          </a:custGeom>
          <a:ln w="25908">
            <a:solidFill>
              <a:srgbClr val="FFFFFF"/>
            </a:solidFill>
          </a:ln>
        </p:spPr>
        <p:txBody>
          <a:bodyPr wrap="square" lIns="0" tIns="0" rIns="0" bIns="0" rtlCol="0"/>
          <a:lstStyle/>
          <a:p>
            <a:endParaRPr/>
          </a:p>
        </p:txBody>
      </p:sp>
      <p:sp>
        <p:nvSpPr>
          <p:cNvPr id="29" name="object 29"/>
          <p:cNvSpPr txBox="1"/>
          <p:nvPr/>
        </p:nvSpPr>
        <p:spPr>
          <a:xfrm>
            <a:off x="1787398" y="4598602"/>
            <a:ext cx="2082164"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通道</a:t>
            </a:r>
            <a:r>
              <a:rPr sz="2000" b="1" spc="-5" dirty="0">
                <a:latin typeface="微软雅黑"/>
                <a:cs typeface="微软雅黑"/>
              </a:rPr>
              <a:t>C</a:t>
            </a:r>
            <a:r>
              <a:rPr sz="2000" b="1" dirty="0">
                <a:latin typeface="微软雅黑"/>
                <a:cs typeface="微软雅黑"/>
              </a:rPr>
              <a:t>Hx输出波形</a:t>
            </a:r>
            <a:endParaRPr sz="2000">
              <a:latin typeface="微软雅黑"/>
              <a:cs typeface="微软雅黑"/>
            </a:endParaRPr>
          </a:p>
        </p:txBody>
      </p:sp>
      <p:sp>
        <p:nvSpPr>
          <p:cNvPr id="30" name="object 30"/>
          <p:cNvSpPr txBox="1"/>
          <p:nvPr/>
        </p:nvSpPr>
        <p:spPr>
          <a:xfrm>
            <a:off x="656336" y="1995695"/>
            <a:ext cx="2567940" cy="332740"/>
          </a:xfrm>
          <a:prstGeom prst="rect">
            <a:avLst/>
          </a:prstGeom>
        </p:spPr>
        <p:txBody>
          <a:bodyPr vert="horz" wrap="square" lIns="0" tIns="0" rIns="0" bIns="0" rtlCol="0">
            <a:spAutoFit/>
          </a:bodyPr>
          <a:lstStyle/>
          <a:p>
            <a:pPr marL="12700">
              <a:lnSpc>
                <a:spcPct val="100000"/>
              </a:lnSpc>
              <a:tabLst>
                <a:tab pos="421005" algn="l"/>
              </a:tabLst>
            </a:pPr>
            <a:r>
              <a:rPr sz="2400" spc="-275" dirty="0">
                <a:solidFill>
                  <a:srgbClr val="0066FF"/>
                </a:solidFill>
                <a:latin typeface="Segoe UI Symbol"/>
                <a:cs typeface="Segoe UI Symbol"/>
              </a:rPr>
              <a:t>◼	</a:t>
            </a:r>
            <a:r>
              <a:rPr sz="2400" b="1" spc="-275" dirty="0">
                <a:latin typeface="微软雅黑"/>
                <a:cs typeface="微软雅黑"/>
              </a:rPr>
              <a:t>初始输出高电平</a:t>
            </a:r>
            <a:endParaRPr sz="2400">
              <a:latin typeface="微软雅黑"/>
              <a:cs typeface="微软雅黑"/>
            </a:endParaRPr>
          </a:p>
        </p:txBody>
      </p:sp>
      <p:sp>
        <p:nvSpPr>
          <p:cNvPr id="31" name="object 31"/>
          <p:cNvSpPr/>
          <p:nvPr/>
        </p:nvSpPr>
        <p:spPr>
          <a:xfrm>
            <a:off x="4538471" y="2779776"/>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32" name="object 32"/>
          <p:cNvSpPr/>
          <p:nvPr/>
        </p:nvSpPr>
        <p:spPr>
          <a:xfrm>
            <a:off x="6374891" y="2779776"/>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33" name="object 33"/>
          <p:cNvSpPr/>
          <p:nvPr/>
        </p:nvSpPr>
        <p:spPr>
          <a:xfrm>
            <a:off x="5222747" y="2779776"/>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34" name="object 34"/>
          <p:cNvSpPr/>
          <p:nvPr/>
        </p:nvSpPr>
        <p:spPr>
          <a:xfrm>
            <a:off x="4539234" y="3717797"/>
            <a:ext cx="684530" cy="467995"/>
          </a:xfrm>
          <a:custGeom>
            <a:avLst/>
            <a:gdLst/>
            <a:ahLst/>
            <a:cxnLst/>
            <a:rect l="l" t="t" r="r" b="b"/>
            <a:pathLst>
              <a:path w="684529" h="467995">
                <a:moveTo>
                  <a:pt x="0" y="467868"/>
                </a:moveTo>
                <a:lnTo>
                  <a:pt x="684276" y="0"/>
                </a:lnTo>
              </a:path>
            </a:pathLst>
          </a:custGeom>
          <a:ln w="25908">
            <a:solidFill>
              <a:srgbClr val="000000"/>
            </a:solidFill>
          </a:ln>
        </p:spPr>
        <p:txBody>
          <a:bodyPr wrap="square" lIns="0" tIns="0" rIns="0" bIns="0" rtlCol="0"/>
          <a:lstStyle/>
          <a:p>
            <a:endParaRPr/>
          </a:p>
        </p:txBody>
      </p:sp>
      <p:sp>
        <p:nvSpPr>
          <p:cNvPr id="35" name="object 35"/>
          <p:cNvSpPr/>
          <p:nvPr/>
        </p:nvSpPr>
        <p:spPr>
          <a:xfrm>
            <a:off x="5223509" y="2961894"/>
            <a:ext cx="1152525" cy="756285"/>
          </a:xfrm>
          <a:custGeom>
            <a:avLst/>
            <a:gdLst/>
            <a:ahLst/>
            <a:cxnLst/>
            <a:rect l="l" t="t" r="r" b="b"/>
            <a:pathLst>
              <a:path w="1152525" h="756285">
                <a:moveTo>
                  <a:pt x="0" y="755903"/>
                </a:moveTo>
                <a:lnTo>
                  <a:pt x="1152143" y="0"/>
                </a:lnTo>
              </a:path>
            </a:pathLst>
          </a:custGeom>
          <a:ln w="25908">
            <a:solidFill>
              <a:srgbClr val="000000"/>
            </a:solidFill>
          </a:ln>
        </p:spPr>
        <p:txBody>
          <a:bodyPr wrap="square" lIns="0" tIns="0" rIns="0" bIns="0" rtlCol="0"/>
          <a:lstStyle/>
          <a:p>
            <a:endParaRPr/>
          </a:p>
        </p:txBody>
      </p:sp>
      <p:sp>
        <p:nvSpPr>
          <p:cNvPr id="36" name="object 36"/>
          <p:cNvSpPr/>
          <p:nvPr/>
        </p:nvSpPr>
        <p:spPr>
          <a:xfrm>
            <a:off x="4539234" y="4510278"/>
            <a:ext cx="684530" cy="0"/>
          </a:xfrm>
          <a:custGeom>
            <a:avLst/>
            <a:gdLst/>
            <a:ahLst/>
            <a:cxnLst/>
            <a:rect l="l" t="t" r="r" b="b"/>
            <a:pathLst>
              <a:path w="684529">
                <a:moveTo>
                  <a:pt x="0" y="0"/>
                </a:moveTo>
                <a:lnTo>
                  <a:pt x="684276" y="0"/>
                </a:lnTo>
              </a:path>
            </a:pathLst>
          </a:custGeom>
          <a:ln w="25908">
            <a:solidFill>
              <a:srgbClr val="FF6600"/>
            </a:solidFill>
          </a:ln>
        </p:spPr>
        <p:txBody>
          <a:bodyPr wrap="square" lIns="0" tIns="0" rIns="0" bIns="0" rtlCol="0"/>
          <a:lstStyle/>
          <a:p>
            <a:endParaRPr/>
          </a:p>
        </p:txBody>
      </p:sp>
      <p:sp>
        <p:nvSpPr>
          <p:cNvPr id="37" name="object 37"/>
          <p:cNvSpPr/>
          <p:nvPr/>
        </p:nvSpPr>
        <p:spPr>
          <a:xfrm>
            <a:off x="5184647" y="4510278"/>
            <a:ext cx="78105" cy="358140"/>
          </a:xfrm>
          <a:custGeom>
            <a:avLst/>
            <a:gdLst/>
            <a:ahLst/>
            <a:cxnLst/>
            <a:rect l="l" t="t" r="r" b="b"/>
            <a:pathLst>
              <a:path w="78104" h="358139">
                <a:moveTo>
                  <a:pt x="25907" y="280416"/>
                </a:moveTo>
                <a:lnTo>
                  <a:pt x="0" y="280416"/>
                </a:lnTo>
                <a:lnTo>
                  <a:pt x="38862" y="358140"/>
                </a:lnTo>
                <a:lnTo>
                  <a:pt x="71247" y="293370"/>
                </a:lnTo>
                <a:lnTo>
                  <a:pt x="25907" y="293370"/>
                </a:lnTo>
                <a:lnTo>
                  <a:pt x="25907" y="280416"/>
                </a:lnTo>
                <a:close/>
              </a:path>
              <a:path w="78104" h="358139">
                <a:moveTo>
                  <a:pt x="51815" y="0"/>
                </a:moveTo>
                <a:lnTo>
                  <a:pt x="25907" y="0"/>
                </a:lnTo>
                <a:lnTo>
                  <a:pt x="25907" y="293370"/>
                </a:lnTo>
                <a:lnTo>
                  <a:pt x="51815" y="293370"/>
                </a:lnTo>
                <a:lnTo>
                  <a:pt x="51815" y="0"/>
                </a:lnTo>
                <a:close/>
              </a:path>
              <a:path w="78104" h="358139">
                <a:moveTo>
                  <a:pt x="77724" y="280416"/>
                </a:moveTo>
                <a:lnTo>
                  <a:pt x="51815" y="280416"/>
                </a:lnTo>
                <a:lnTo>
                  <a:pt x="51815" y="293370"/>
                </a:lnTo>
                <a:lnTo>
                  <a:pt x="71247" y="293370"/>
                </a:lnTo>
                <a:lnTo>
                  <a:pt x="77724" y="280416"/>
                </a:lnTo>
                <a:close/>
              </a:path>
            </a:pathLst>
          </a:custGeom>
          <a:solidFill>
            <a:srgbClr val="FF6600"/>
          </a:solidFill>
        </p:spPr>
        <p:txBody>
          <a:bodyPr wrap="square" lIns="0" tIns="0" rIns="0" bIns="0" rtlCol="0"/>
          <a:lstStyle/>
          <a:p>
            <a:endParaRPr/>
          </a:p>
        </p:txBody>
      </p:sp>
      <p:sp>
        <p:nvSpPr>
          <p:cNvPr id="38" name="object 38"/>
          <p:cNvSpPr/>
          <p:nvPr/>
        </p:nvSpPr>
        <p:spPr>
          <a:xfrm>
            <a:off x="5209794" y="4868417"/>
            <a:ext cx="1165860" cy="0"/>
          </a:xfrm>
          <a:custGeom>
            <a:avLst/>
            <a:gdLst/>
            <a:ahLst/>
            <a:cxnLst/>
            <a:rect l="l" t="t" r="r" b="b"/>
            <a:pathLst>
              <a:path w="1165860">
                <a:moveTo>
                  <a:pt x="0" y="0"/>
                </a:moveTo>
                <a:lnTo>
                  <a:pt x="1165859" y="0"/>
                </a:lnTo>
              </a:path>
            </a:pathLst>
          </a:custGeom>
          <a:ln w="25908">
            <a:solidFill>
              <a:srgbClr val="FF6600"/>
            </a:solidFill>
          </a:ln>
        </p:spPr>
        <p:txBody>
          <a:bodyPr wrap="square" lIns="0" tIns="0" rIns="0" bIns="0" rtlCol="0"/>
          <a:lstStyle/>
          <a:p>
            <a:endParaRPr/>
          </a:p>
        </p:txBody>
      </p:sp>
      <p:sp>
        <p:nvSpPr>
          <p:cNvPr id="39" name="object 39"/>
          <p:cNvSpPr/>
          <p:nvPr/>
        </p:nvSpPr>
        <p:spPr>
          <a:xfrm>
            <a:off x="6336791" y="4510278"/>
            <a:ext cx="78105" cy="358140"/>
          </a:xfrm>
          <a:custGeom>
            <a:avLst/>
            <a:gdLst/>
            <a:ahLst/>
            <a:cxnLst/>
            <a:rect l="l" t="t" r="r" b="b"/>
            <a:pathLst>
              <a:path w="78104" h="358139">
                <a:moveTo>
                  <a:pt x="51816" y="64770"/>
                </a:moveTo>
                <a:lnTo>
                  <a:pt x="25908" y="64770"/>
                </a:lnTo>
                <a:lnTo>
                  <a:pt x="25908" y="358140"/>
                </a:lnTo>
                <a:lnTo>
                  <a:pt x="51816" y="358140"/>
                </a:lnTo>
                <a:lnTo>
                  <a:pt x="51816" y="64770"/>
                </a:lnTo>
                <a:close/>
              </a:path>
              <a:path w="78104" h="358139">
                <a:moveTo>
                  <a:pt x="38862" y="0"/>
                </a:moveTo>
                <a:lnTo>
                  <a:pt x="0" y="77724"/>
                </a:lnTo>
                <a:lnTo>
                  <a:pt x="25908" y="77724"/>
                </a:lnTo>
                <a:lnTo>
                  <a:pt x="25908" y="64770"/>
                </a:lnTo>
                <a:lnTo>
                  <a:pt x="71247" y="64770"/>
                </a:lnTo>
                <a:lnTo>
                  <a:pt x="38862" y="0"/>
                </a:lnTo>
                <a:close/>
              </a:path>
              <a:path w="78104" h="358139">
                <a:moveTo>
                  <a:pt x="71247" y="64770"/>
                </a:moveTo>
                <a:lnTo>
                  <a:pt x="51816" y="64770"/>
                </a:lnTo>
                <a:lnTo>
                  <a:pt x="51816" y="77724"/>
                </a:lnTo>
                <a:lnTo>
                  <a:pt x="77724" y="77724"/>
                </a:lnTo>
                <a:lnTo>
                  <a:pt x="71247" y="64770"/>
                </a:lnTo>
                <a:close/>
              </a:path>
            </a:pathLst>
          </a:custGeom>
          <a:solidFill>
            <a:srgbClr val="FF6600"/>
          </a:solidFill>
        </p:spPr>
        <p:txBody>
          <a:bodyPr wrap="square" lIns="0" tIns="0" rIns="0" bIns="0" rtlCol="0"/>
          <a:lstStyle/>
          <a:p>
            <a:endParaRPr/>
          </a:p>
        </p:txBody>
      </p:sp>
      <p:sp>
        <p:nvSpPr>
          <p:cNvPr id="40" name="object 40"/>
          <p:cNvSpPr/>
          <p:nvPr/>
        </p:nvSpPr>
        <p:spPr>
          <a:xfrm>
            <a:off x="6375653" y="2961894"/>
            <a:ext cx="0" cy="1224280"/>
          </a:xfrm>
          <a:custGeom>
            <a:avLst/>
            <a:gdLst/>
            <a:ahLst/>
            <a:cxnLst/>
            <a:rect l="l" t="t" r="r" b="b"/>
            <a:pathLst>
              <a:path h="1224279">
                <a:moveTo>
                  <a:pt x="0" y="0"/>
                </a:moveTo>
                <a:lnTo>
                  <a:pt x="0" y="1223771"/>
                </a:lnTo>
              </a:path>
            </a:pathLst>
          </a:custGeom>
          <a:ln w="25908">
            <a:solidFill>
              <a:srgbClr val="000000"/>
            </a:solidFill>
          </a:ln>
        </p:spPr>
        <p:txBody>
          <a:bodyPr wrap="square" lIns="0" tIns="0" rIns="0" bIns="0" rtlCol="0"/>
          <a:lstStyle/>
          <a:p>
            <a:endParaRPr/>
          </a:p>
        </p:txBody>
      </p:sp>
      <p:sp>
        <p:nvSpPr>
          <p:cNvPr id="41" name="object 41"/>
          <p:cNvSpPr/>
          <p:nvPr/>
        </p:nvSpPr>
        <p:spPr>
          <a:xfrm>
            <a:off x="4253484" y="4221479"/>
            <a:ext cx="4319270" cy="0"/>
          </a:xfrm>
          <a:custGeom>
            <a:avLst/>
            <a:gdLst/>
            <a:ahLst/>
            <a:cxnLst/>
            <a:rect l="l" t="t" r="r" b="b"/>
            <a:pathLst>
              <a:path w="4319270">
                <a:moveTo>
                  <a:pt x="0" y="0"/>
                </a:moveTo>
                <a:lnTo>
                  <a:pt x="4319016" y="0"/>
                </a:lnTo>
              </a:path>
            </a:pathLst>
          </a:custGeom>
          <a:ln w="9144">
            <a:solidFill>
              <a:srgbClr val="000000"/>
            </a:solidFill>
            <a:prstDash val="dash"/>
          </a:ln>
        </p:spPr>
        <p:txBody>
          <a:bodyPr wrap="square" lIns="0" tIns="0" rIns="0" bIns="0" rtlCol="0"/>
          <a:lstStyle/>
          <a:p>
            <a:endParaRPr/>
          </a:p>
        </p:txBody>
      </p:sp>
      <p:sp>
        <p:nvSpPr>
          <p:cNvPr id="42" name="object 42"/>
          <p:cNvSpPr/>
          <p:nvPr/>
        </p:nvSpPr>
        <p:spPr>
          <a:xfrm>
            <a:off x="4250435" y="3717035"/>
            <a:ext cx="4318000" cy="0"/>
          </a:xfrm>
          <a:custGeom>
            <a:avLst/>
            <a:gdLst/>
            <a:ahLst/>
            <a:cxnLst/>
            <a:rect l="l" t="t" r="r" b="b"/>
            <a:pathLst>
              <a:path w="4318000">
                <a:moveTo>
                  <a:pt x="0" y="0"/>
                </a:moveTo>
                <a:lnTo>
                  <a:pt x="4317492" y="0"/>
                </a:lnTo>
              </a:path>
            </a:pathLst>
          </a:custGeom>
          <a:ln w="9144">
            <a:solidFill>
              <a:srgbClr val="000000"/>
            </a:solidFill>
            <a:prstDash val="dash"/>
          </a:ln>
        </p:spPr>
        <p:txBody>
          <a:bodyPr wrap="square" lIns="0" tIns="0" rIns="0" bIns="0" rtlCol="0"/>
          <a:lstStyle/>
          <a:p>
            <a:endParaRPr/>
          </a:p>
        </p:txBody>
      </p:sp>
      <p:sp>
        <p:nvSpPr>
          <p:cNvPr id="43" name="object 43"/>
          <p:cNvSpPr/>
          <p:nvPr/>
        </p:nvSpPr>
        <p:spPr>
          <a:xfrm>
            <a:off x="4250435" y="2961132"/>
            <a:ext cx="4318000" cy="0"/>
          </a:xfrm>
          <a:custGeom>
            <a:avLst/>
            <a:gdLst/>
            <a:ahLst/>
            <a:cxnLst/>
            <a:rect l="l" t="t" r="r" b="b"/>
            <a:pathLst>
              <a:path w="4318000">
                <a:moveTo>
                  <a:pt x="0" y="0"/>
                </a:moveTo>
                <a:lnTo>
                  <a:pt x="4317492" y="0"/>
                </a:lnTo>
              </a:path>
            </a:pathLst>
          </a:custGeom>
          <a:ln w="9144">
            <a:solidFill>
              <a:srgbClr val="000000"/>
            </a:solidFill>
            <a:prstDash val="dash"/>
          </a:ln>
        </p:spPr>
        <p:txBody>
          <a:bodyPr wrap="square" lIns="0" tIns="0" rIns="0" bIns="0" rtlCol="0"/>
          <a:lstStyle/>
          <a:p>
            <a:endParaRPr/>
          </a:p>
        </p:txBody>
      </p:sp>
      <p:sp>
        <p:nvSpPr>
          <p:cNvPr id="44" name="object 44"/>
          <p:cNvSpPr/>
          <p:nvPr/>
        </p:nvSpPr>
        <p:spPr>
          <a:xfrm>
            <a:off x="6374891" y="2781300"/>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45" name="object 45"/>
          <p:cNvSpPr/>
          <p:nvPr/>
        </p:nvSpPr>
        <p:spPr>
          <a:xfrm>
            <a:off x="8211311" y="2778251"/>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46" name="object 46"/>
          <p:cNvSpPr/>
          <p:nvPr/>
        </p:nvSpPr>
        <p:spPr>
          <a:xfrm>
            <a:off x="7059168" y="2778251"/>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47" name="object 47"/>
          <p:cNvSpPr/>
          <p:nvPr/>
        </p:nvSpPr>
        <p:spPr>
          <a:xfrm>
            <a:off x="7059930" y="2960370"/>
            <a:ext cx="1152525" cy="756285"/>
          </a:xfrm>
          <a:custGeom>
            <a:avLst/>
            <a:gdLst/>
            <a:ahLst/>
            <a:cxnLst/>
            <a:rect l="l" t="t" r="r" b="b"/>
            <a:pathLst>
              <a:path w="1152525" h="756285">
                <a:moveTo>
                  <a:pt x="0" y="755903"/>
                </a:moveTo>
                <a:lnTo>
                  <a:pt x="1152144" y="0"/>
                </a:lnTo>
              </a:path>
            </a:pathLst>
          </a:custGeom>
          <a:ln w="25908">
            <a:solidFill>
              <a:srgbClr val="000000"/>
            </a:solidFill>
          </a:ln>
        </p:spPr>
        <p:txBody>
          <a:bodyPr wrap="square" lIns="0" tIns="0" rIns="0" bIns="0" rtlCol="0"/>
          <a:lstStyle/>
          <a:p>
            <a:endParaRPr/>
          </a:p>
        </p:txBody>
      </p:sp>
      <p:sp>
        <p:nvSpPr>
          <p:cNvPr id="48" name="object 48"/>
          <p:cNvSpPr/>
          <p:nvPr/>
        </p:nvSpPr>
        <p:spPr>
          <a:xfrm>
            <a:off x="6375653" y="4508753"/>
            <a:ext cx="684530" cy="0"/>
          </a:xfrm>
          <a:custGeom>
            <a:avLst/>
            <a:gdLst/>
            <a:ahLst/>
            <a:cxnLst/>
            <a:rect l="l" t="t" r="r" b="b"/>
            <a:pathLst>
              <a:path w="684529">
                <a:moveTo>
                  <a:pt x="0" y="0"/>
                </a:moveTo>
                <a:lnTo>
                  <a:pt x="684276" y="0"/>
                </a:lnTo>
              </a:path>
            </a:pathLst>
          </a:custGeom>
          <a:ln w="25908">
            <a:solidFill>
              <a:srgbClr val="FF6600"/>
            </a:solidFill>
          </a:ln>
        </p:spPr>
        <p:txBody>
          <a:bodyPr wrap="square" lIns="0" tIns="0" rIns="0" bIns="0" rtlCol="0"/>
          <a:lstStyle/>
          <a:p>
            <a:endParaRPr/>
          </a:p>
        </p:txBody>
      </p:sp>
      <p:sp>
        <p:nvSpPr>
          <p:cNvPr id="49" name="object 49"/>
          <p:cNvSpPr/>
          <p:nvPr/>
        </p:nvSpPr>
        <p:spPr>
          <a:xfrm>
            <a:off x="7021068" y="4508753"/>
            <a:ext cx="78105" cy="358140"/>
          </a:xfrm>
          <a:custGeom>
            <a:avLst/>
            <a:gdLst/>
            <a:ahLst/>
            <a:cxnLst/>
            <a:rect l="l" t="t" r="r" b="b"/>
            <a:pathLst>
              <a:path w="78104" h="358139">
                <a:moveTo>
                  <a:pt x="25907" y="280416"/>
                </a:moveTo>
                <a:lnTo>
                  <a:pt x="0" y="280416"/>
                </a:lnTo>
                <a:lnTo>
                  <a:pt x="38861" y="358140"/>
                </a:lnTo>
                <a:lnTo>
                  <a:pt x="71247" y="293370"/>
                </a:lnTo>
                <a:lnTo>
                  <a:pt x="25907" y="293370"/>
                </a:lnTo>
                <a:lnTo>
                  <a:pt x="25907" y="280416"/>
                </a:lnTo>
                <a:close/>
              </a:path>
              <a:path w="78104" h="358139">
                <a:moveTo>
                  <a:pt x="51815" y="0"/>
                </a:moveTo>
                <a:lnTo>
                  <a:pt x="25907" y="0"/>
                </a:lnTo>
                <a:lnTo>
                  <a:pt x="25907" y="293370"/>
                </a:lnTo>
                <a:lnTo>
                  <a:pt x="51815" y="293370"/>
                </a:lnTo>
                <a:lnTo>
                  <a:pt x="51815" y="0"/>
                </a:lnTo>
                <a:close/>
              </a:path>
              <a:path w="78104" h="358139">
                <a:moveTo>
                  <a:pt x="77724" y="280416"/>
                </a:moveTo>
                <a:lnTo>
                  <a:pt x="51815" y="280416"/>
                </a:lnTo>
                <a:lnTo>
                  <a:pt x="51815" y="293370"/>
                </a:lnTo>
                <a:lnTo>
                  <a:pt x="71247" y="293370"/>
                </a:lnTo>
                <a:lnTo>
                  <a:pt x="77724" y="280416"/>
                </a:lnTo>
                <a:close/>
              </a:path>
            </a:pathLst>
          </a:custGeom>
          <a:solidFill>
            <a:srgbClr val="FF6600"/>
          </a:solidFill>
        </p:spPr>
        <p:txBody>
          <a:bodyPr wrap="square" lIns="0" tIns="0" rIns="0" bIns="0" rtlCol="0"/>
          <a:lstStyle/>
          <a:p>
            <a:endParaRPr/>
          </a:p>
        </p:txBody>
      </p:sp>
      <p:sp>
        <p:nvSpPr>
          <p:cNvPr id="50" name="object 50"/>
          <p:cNvSpPr/>
          <p:nvPr/>
        </p:nvSpPr>
        <p:spPr>
          <a:xfrm>
            <a:off x="7046214" y="4866894"/>
            <a:ext cx="1165860" cy="0"/>
          </a:xfrm>
          <a:custGeom>
            <a:avLst/>
            <a:gdLst/>
            <a:ahLst/>
            <a:cxnLst/>
            <a:rect l="l" t="t" r="r" b="b"/>
            <a:pathLst>
              <a:path w="1165859">
                <a:moveTo>
                  <a:pt x="0" y="0"/>
                </a:moveTo>
                <a:lnTo>
                  <a:pt x="1165859" y="0"/>
                </a:lnTo>
              </a:path>
            </a:pathLst>
          </a:custGeom>
          <a:ln w="25908">
            <a:solidFill>
              <a:srgbClr val="FF6600"/>
            </a:solidFill>
          </a:ln>
        </p:spPr>
        <p:txBody>
          <a:bodyPr wrap="square" lIns="0" tIns="0" rIns="0" bIns="0" rtlCol="0"/>
          <a:lstStyle/>
          <a:p>
            <a:endParaRPr/>
          </a:p>
        </p:txBody>
      </p:sp>
      <p:sp>
        <p:nvSpPr>
          <p:cNvPr id="51" name="object 51"/>
          <p:cNvSpPr/>
          <p:nvPr/>
        </p:nvSpPr>
        <p:spPr>
          <a:xfrm>
            <a:off x="8173211" y="4508753"/>
            <a:ext cx="78105" cy="358140"/>
          </a:xfrm>
          <a:custGeom>
            <a:avLst/>
            <a:gdLst/>
            <a:ahLst/>
            <a:cxnLst/>
            <a:rect l="l" t="t" r="r" b="b"/>
            <a:pathLst>
              <a:path w="78104" h="358139">
                <a:moveTo>
                  <a:pt x="51816" y="64770"/>
                </a:moveTo>
                <a:lnTo>
                  <a:pt x="25908" y="64770"/>
                </a:lnTo>
                <a:lnTo>
                  <a:pt x="25908" y="358140"/>
                </a:lnTo>
                <a:lnTo>
                  <a:pt x="51816" y="358140"/>
                </a:lnTo>
                <a:lnTo>
                  <a:pt x="51816" y="64770"/>
                </a:lnTo>
                <a:close/>
              </a:path>
              <a:path w="78104" h="358139">
                <a:moveTo>
                  <a:pt x="38862" y="0"/>
                </a:moveTo>
                <a:lnTo>
                  <a:pt x="0" y="77724"/>
                </a:lnTo>
                <a:lnTo>
                  <a:pt x="25908" y="77724"/>
                </a:lnTo>
                <a:lnTo>
                  <a:pt x="25908" y="64770"/>
                </a:lnTo>
                <a:lnTo>
                  <a:pt x="71247" y="64770"/>
                </a:lnTo>
                <a:lnTo>
                  <a:pt x="38862" y="0"/>
                </a:lnTo>
                <a:close/>
              </a:path>
              <a:path w="78104" h="358139">
                <a:moveTo>
                  <a:pt x="71247" y="64770"/>
                </a:moveTo>
                <a:lnTo>
                  <a:pt x="51816" y="64770"/>
                </a:lnTo>
                <a:lnTo>
                  <a:pt x="51816" y="77724"/>
                </a:lnTo>
                <a:lnTo>
                  <a:pt x="77724" y="77724"/>
                </a:lnTo>
                <a:lnTo>
                  <a:pt x="71247" y="64770"/>
                </a:lnTo>
                <a:close/>
              </a:path>
            </a:pathLst>
          </a:custGeom>
          <a:solidFill>
            <a:srgbClr val="FF6600"/>
          </a:solidFill>
        </p:spPr>
        <p:txBody>
          <a:bodyPr wrap="square" lIns="0" tIns="0" rIns="0" bIns="0" rtlCol="0"/>
          <a:lstStyle/>
          <a:p>
            <a:endParaRPr/>
          </a:p>
        </p:txBody>
      </p:sp>
      <p:sp>
        <p:nvSpPr>
          <p:cNvPr id="52" name="object 52"/>
          <p:cNvSpPr/>
          <p:nvPr/>
        </p:nvSpPr>
        <p:spPr>
          <a:xfrm>
            <a:off x="8212073" y="2960370"/>
            <a:ext cx="0" cy="1224280"/>
          </a:xfrm>
          <a:custGeom>
            <a:avLst/>
            <a:gdLst/>
            <a:ahLst/>
            <a:cxnLst/>
            <a:rect l="l" t="t" r="r" b="b"/>
            <a:pathLst>
              <a:path h="1224279">
                <a:moveTo>
                  <a:pt x="0" y="0"/>
                </a:moveTo>
                <a:lnTo>
                  <a:pt x="0" y="1223771"/>
                </a:lnTo>
              </a:path>
            </a:pathLst>
          </a:custGeom>
          <a:ln w="25908">
            <a:solidFill>
              <a:srgbClr val="000000"/>
            </a:solidFill>
          </a:ln>
        </p:spPr>
        <p:txBody>
          <a:bodyPr wrap="square" lIns="0" tIns="0" rIns="0" bIns="0" rtlCol="0"/>
          <a:lstStyle/>
          <a:p>
            <a:endParaRPr/>
          </a:p>
        </p:txBody>
      </p:sp>
      <p:sp>
        <p:nvSpPr>
          <p:cNvPr id="53" name="object 53"/>
          <p:cNvSpPr/>
          <p:nvPr/>
        </p:nvSpPr>
        <p:spPr>
          <a:xfrm>
            <a:off x="8211311" y="2779776"/>
            <a:ext cx="0" cy="2269490"/>
          </a:xfrm>
          <a:custGeom>
            <a:avLst/>
            <a:gdLst/>
            <a:ahLst/>
            <a:cxnLst/>
            <a:rect l="l" t="t" r="r" b="b"/>
            <a:pathLst>
              <a:path h="2269490">
                <a:moveTo>
                  <a:pt x="0" y="0"/>
                </a:moveTo>
                <a:lnTo>
                  <a:pt x="0" y="2269236"/>
                </a:lnTo>
              </a:path>
            </a:pathLst>
          </a:custGeom>
          <a:ln w="9144">
            <a:solidFill>
              <a:srgbClr val="000000"/>
            </a:solidFill>
            <a:prstDash val="dash"/>
          </a:ln>
        </p:spPr>
        <p:txBody>
          <a:bodyPr wrap="square" lIns="0" tIns="0" rIns="0" bIns="0" rtlCol="0"/>
          <a:lstStyle/>
          <a:p>
            <a:endParaRPr/>
          </a:p>
        </p:txBody>
      </p:sp>
      <p:sp>
        <p:nvSpPr>
          <p:cNvPr id="54" name="object 54"/>
          <p:cNvSpPr/>
          <p:nvPr/>
        </p:nvSpPr>
        <p:spPr>
          <a:xfrm>
            <a:off x="1005077" y="5570982"/>
            <a:ext cx="10183495" cy="1115695"/>
          </a:xfrm>
          <a:custGeom>
            <a:avLst/>
            <a:gdLst/>
            <a:ahLst/>
            <a:cxnLst/>
            <a:rect l="l" t="t" r="r" b="b"/>
            <a:pathLst>
              <a:path w="10183495" h="1115695">
                <a:moveTo>
                  <a:pt x="0" y="1115568"/>
                </a:moveTo>
                <a:lnTo>
                  <a:pt x="10183368" y="1115568"/>
                </a:lnTo>
                <a:lnTo>
                  <a:pt x="10183368" y="0"/>
                </a:lnTo>
                <a:lnTo>
                  <a:pt x="0" y="0"/>
                </a:lnTo>
                <a:lnTo>
                  <a:pt x="0" y="1115568"/>
                </a:lnTo>
                <a:close/>
              </a:path>
            </a:pathLst>
          </a:custGeom>
          <a:ln w="38100">
            <a:solidFill>
              <a:srgbClr val="E34A46"/>
            </a:solidFill>
          </a:ln>
        </p:spPr>
        <p:txBody>
          <a:bodyPr wrap="square" lIns="0" tIns="0" rIns="0" bIns="0" rtlCol="0"/>
          <a:lstStyle/>
          <a:p>
            <a:endParaRPr/>
          </a:p>
        </p:txBody>
      </p:sp>
      <p:sp>
        <p:nvSpPr>
          <p:cNvPr id="55" name="object 55"/>
          <p:cNvSpPr txBox="1"/>
          <p:nvPr/>
        </p:nvSpPr>
        <p:spPr>
          <a:xfrm>
            <a:off x="4150233" y="1172393"/>
            <a:ext cx="3675379" cy="1156335"/>
          </a:xfrm>
          <a:prstGeom prst="rect">
            <a:avLst/>
          </a:prstGeom>
        </p:spPr>
        <p:txBody>
          <a:bodyPr vert="horz" wrap="square" lIns="0" tIns="0" rIns="0" bIns="0" rtlCol="0">
            <a:spAutoFit/>
          </a:bodyPr>
          <a:lstStyle/>
          <a:p>
            <a:pPr marL="188595">
              <a:lnSpc>
                <a:spcPct val="100000"/>
              </a:lnSpc>
            </a:pPr>
            <a:r>
              <a:rPr sz="2800" b="1" spc="30" dirty="0">
                <a:latin typeface="微软雅黑"/>
                <a:cs typeface="微软雅黑"/>
              </a:rPr>
              <a:t>P</a:t>
            </a:r>
            <a:r>
              <a:rPr sz="2800" b="1" spc="-10" dirty="0">
                <a:latin typeface="微软雅黑"/>
                <a:cs typeface="微软雅黑"/>
              </a:rPr>
              <a:t>W</a:t>
            </a:r>
            <a:r>
              <a:rPr sz="2800" b="1" spc="0" dirty="0">
                <a:latin typeface="微软雅黑"/>
                <a:cs typeface="微软雅黑"/>
              </a:rPr>
              <a:t>M</a:t>
            </a:r>
            <a:r>
              <a:rPr sz="2800" b="1" spc="-5" dirty="0">
                <a:latin typeface="微软雅黑"/>
                <a:cs typeface="微软雅黑"/>
              </a:rPr>
              <a:t>输出的工作原理</a:t>
            </a:r>
            <a:endParaRPr sz="2800">
              <a:latin typeface="微软雅黑"/>
              <a:cs typeface="微软雅黑"/>
            </a:endParaRPr>
          </a:p>
          <a:p>
            <a:pPr>
              <a:lnSpc>
                <a:spcPct val="100000"/>
              </a:lnSpc>
              <a:spcBef>
                <a:spcPts val="5"/>
              </a:spcBef>
            </a:pPr>
            <a:endParaRPr sz="2800">
              <a:latin typeface="Times New Roman"/>
              <a:cs typeface="Times New Roman"/>
            </a:endParaRPr>
          </a:p>
          <a:p>
            <a:pPr marL="12700">
              <a:lnSpc>
                <a:spcPct val="100000"/>
              </a:lnSpc>
              <a:tabLst>
                <a:tab pos="421005" algn="l"/>
              </a:tabLst>
            </a:pPr>
            <a:r>
              <a:rPr sz="2400" spc="-275" dirty="0">
                <a:solidFill>
                  <a:srgbClr val="0066FF"/>
                </a:solidFill>
                <a:latin typeface="Segoe UI Symbol"/>
                <a:cs typeface="Segoe UI Symbol"/>
              </a:rPr>
              <a:t>◼	</a:t>
            </a:r>
            <a:r>
              <a:rPr sz="2400" b="1" spc="-275" dirty="0">
                <a:latin typeface="微软雅黑"/>
                <a:cs typeface="微软雅黑"/>
              </a:rPr>
              <a:t>匹配</a:t>
            </a:r>
            <a:r>
              <a:rPr sz="2400" b="1" spc="-70" dirty="0">
                <a:latin typeface="微软雅黑"/>
                <a:cs typeface="微软雅黑"/>
              </a:rPr>
              <a:t>C</a:t>
            </a:r>
            <a:r>
              <a:rPr sz="2400" b="1" spc="-5" dirty="0">
                <a:latin typeface="微软雅黑"/>
                <a:cs typeface="微软雅黑"/>
              </a:rPr>
              <a:t>C</a:t>
            </a:r>
            <a:r>
              <a:rPr sz="2400" b="1" spc="10" dirty="0">
                <a:latin typeface="微软雅黑"/>
                <a:cs typeface="微软雅黑"/>
              </a:rPr>
              <a:t>R</a:t>
            </a:r>
            <a:r>
              <a:rPr sz="2400" b="1" dirty="0">
                <a:latin typeface="微软雅黑"/>
                <a:cs typeface="微软雅黑"/>
              </a:rPr>
              <a:t>时输出为低</a:t>
            </a:r>
            <a:endParaRPr sz="2400">
              <a:latin typeface="微软雅黑"/>
              <a:cs typeface="微软雅黑"/>
            </a:endParaRPr>
          </a:p>
        </p:txBody>
      </p:sp>
      <p:sp>
        <p:nvSpPr>
          <p:cNvPr id="56" name="object 56"/>
          <p:cNvSpPr txBox="1"/>
          <p:nvPr/>
        </p:nvSpPr>
        <p:spPr>
          <a:xfrm>
            <a:off x="8777096" y="2848669"/>
            <a:ext cx="2516505" cy="280670"/>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控制</a:t>
            </a:r>
            <a:r>
              <a:rPr sz="2000" b="1" spc="35" dirty="0">
                <a:latin typeface="微软雅黑"/>
                <a:cs typeface="微软雅黑"/>
              </a:rPr>
              <a:t>P</a:t>
            </a:r>
            <a:r>
              <a:rPr sz="2000" b="1" dirty="0">
                <a:latin typeface="微软雅黑"/>
                <a:cs typeface="微软雅黑"/>
              </a:rPr>
              <a:t>W</a:t>
            </a:r>
            <a:r>
              <a:rPr sz="2000" b="1" spc="10" dirty="0">
                <a:latin typeface="微软雅黑"/>
                <a:cs typeface="微软雅黑"/>
              </a:rPr>
              <a:t>M</a:t>
            </a:r>
            <a:r>
              <a:rPr sz="2000" b="1" dirty="0">
                <a:latin typeface="微软雅黑"/>
                <a:cs typeface="微软雅黑"/>
              </a:rPr>
              <a:t>信号的周期</a:t>
            </a:r>
            <a:endParaRPr sz="2000">
              <a:latin typeface="微软雅黑"/>
              <a:cs typeface="微软雅黑"/>
            </a:endParaRPr>
          </a:p>
        </p:txBody>
      </p:sp>
      <p:sp>
        <p:nvSpPr>
          <p:cNvPr id="57" name="object 57"/>
          <p:cNvSpPr txBox="1"/>
          <p:nvPr/>
        </p:nvSpPr>
        <p:spPr>
          <a:xfrm>
            <a:off x="8777096" y="3599991"/>
            <a:ext cx="2769235"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控制</a:t>
            </a:r>
            <a:r>
              <a:rPr sz="2000" b="1" spc="35" dirty="0">
                <a:latin typeface="微软雅黑"/>
                <a:cs typeface="微软雅黑"/>
              </a:rPr>
              <a:t>P</a:t>
            </a:r>
            <a:r>
              <a:rPr sz="2000" b="1" dirty="0">
                <a:latin typeface="微软雅黑"/>
                <a:cs typeface="微软雅黑"/>
              </a:rPr>
              <a:t>W</a:t>
            </a:r>
            <a:r>
              <a:rPr sz="2000" b="1" spc="5" dirty="0">
                <a:latin typeface="微软雅黑"/>
                <a:cs typeface="微软雅黑"/>
              </a:rPr>
              <a:t>M</a:t>
            </a:r>
            <a:r>
              <a:rPr sz="2000" b="1" dirty="0">
                <a:latin typeface="微软雅黑"/>
                <a:cs typeface="微软雅黑"/>
              </a:rPr>
              <a:t>信号的占</a:t>
            </a:r>
            <a:r>
              <a:rPr sz="2000" b="1" spc="-15" dirty="0">
                <a:latin typeface="微软雅黑"/>
                <a:cs typeface="微软雅黑"/>
              </a:rPr>
              <a:t>空</a:t>
            </a:r>
            <a:r>
              <a:rPr sz="2000" b="1" dirty="0">
                <a:latin typeface="微软雅黑"/>
                <a:cs typeface="微软雅黑"/>
              </a:rPr>
              <a:t>比</a:t>
            </a:r>
            <a:endParaRPr sz="2000">
              <a:latin typeface="微软雅黑"/>
              <a:cs typeface="微软雅黑"/>
            </a:endParaRPr>
          </a:p>
        </p:txBody>
      </p:sp>
      <p:sp>
        <p:nvSpPr>
          <p:cNvPr id="58" name="object 58"/>
          <p:cNvSpPr txBox="1"/>
          <p:nvPr/>
        </p:nvSpPr>
        <p:spPr>
          <a:xfrm>
            <a:off x="8777096" y="4560746"/>
            <a:ext cx="1752600" cy="280035"/>
          </a:xfrm>
          <a:prstGeom prst="rect">
            <a:avLst/>
          </a:prstGeom>
        </p:spPr>
        <p:txBody>
          <a:bodyPr vert="horz" wrap="square" lIns="0" tIns="0" rIns="0" bIns="0" rtlCol="0">
            <a:spAutoFit/>
          </a:bodyPr>
          <a:lstStyle/>
          <a:p>
            <a:pPr marL="12700">
              <a:lnSpc>
                <a:spcPct val="100000"/>
              </a:lnSpc>
            </a:pPr>
            <a:r>
              <a:rPr sz="2000" b="1" dirty="0">
                <a:latin typeface="微软雅黑"/>
                <a:cs typeface="微软雅黑"/>
              </a:rPr>
              <a:t>输出</a:t>
            </a:r>
            <a:r>
              <a:rPr sz="2000" b="1" spc="35" dirty="0">
                <a:latin typeface="微软雅黑"/>
                <a:cs typeface="微软雅黑"/>
              </a:rPr>
              <a:t>P</a:t>
            </a:r>
            <a:r>
              <a:rPr sz="2000" b="1" dirty="0">
                <a:latin typeface="微软雅黑"/>
                <a:cs typeface="微软雅黑"/>
              </a:rPr>
              <a:t>W</a:t>
            </a:r>
            <a:r>
              <a:rPr sz="2000" b="1" spc="5" dirty="0">
                <a:latin typeface="微软雅黑"/>
                <a:cs typeface="微软雅黑"/>
              </a:rPr>
              <a:t>M</a:t>
            </a:r>
            <a:r>
              <a:rPr sz="2000" b="1" dirty="0">
                <a:latin typeface="微软雅黑"/>
                <a:cs typeface="微软雅黑"/>
              </a:rPr>
              <a:t>信号</a:t>
            </a:r>
            <a:endParaRPr sz="2000">
              <a:latin typeface="微软雅黑"/>
              <a:cs typeface="微软雅黑"/>
            </a:endParaRPr>
          </a:p>
        </p:txBody>
      </p:sp>
      <p:sp>
        <p:nvSpPr>
          <p:cNvPr id="59" name="object 59"/>
          <p:cNvSpPr txBox="1"/>
          <p:nvPr/>
        </p:nvSpPr>
        <p:spPr>
          <a:xfrm>
            <a:off x="8196198" y="1995695"/>
            <a:ext cx="3223260" cy="332740"/>
          </a:xfrm>
          <a:prstGeom prst="rect">
            <a:avLst/>
          </a:prstGeom>
        </p:spPr>
        <p:txBody>
          <a:bodyPr vert="horz" wrap="square" lIns="0" tIns="0" rIns="0" bIns="0" rtlCol="0">
            <a:spAutoFit/>
          </a:bodyPr>
          <a:lstStyle/>
          <a:p>
            <a:pPr marL="12700">
              <a:lnSpc>
                <a:spcPct val="100000"/>
              </a:lnSpc>
              <a:tabLst>
                <a:tab pos="421005" algn="l"/>
              </a:tabLst>
            </a:pPr>
            <a:r>
              <a:rPr sz="2400" spc="-275" dirty="0">
                <a:solidFill>
                  <a:srgbClr val="0066FF"/>
                </a:solidFill>
                <a:latin typeface="Segoe UI Symbol"/>
                <a:cs typeface="Segoe UI Symbol"/>
              </a:rPr>
              <a:t>◼	</a:t>
            </a:r>
            <a:r>
              <a:rPr sz="2400" b="1" spc="-275" dirty="0">
                <a:latin typeface="微软雅黑"/>
                <a:cs typeface="微软雅黑"/>
              </a:rPr>
              <a:t>匹</a:t>
            </a:r>
            <a:r>
              <a:rPr sz="2400" b="1" spc="-5" dirty="0">
                <a:latin typeface="微软雅黑"/>
                <a:cs typeface="微软雅黑"/>
              </a:rPr>
              <a:t>配</a:t>
            </a:r>
            <a:r>
              <a:rPr sz="2400" b="1" dirty="0">
                <a:latin typeface="微软雅黑"/>
                <a:cs typeface="微软雅黑"/>
              </a:rPr>
              <a:t>ARR时输出为高</a:t>
            </a:r>
            <a:endParaRPr sz="2400">
              <a:latin typeface="微软雅黑"/>
              <a:cs typeface="微软雅黑"/>
            </a:endParaRPr>
          </a:p>
        </p:txBody>
      </p:sp>
      <p:sp>
        <p:nvSpPr>
          <p:cNvPr id="60" name="object 60"/>
          <p:cNvSpPr txBox="1"/>
          <p:nvPr/>
        </p:nvSpPr>
        <p:spPr>
          <a:xfrm>
            <a:off x="1350010" y="5170540"/>
            <a:ext cx="9399270" cy="1431290"/>
          </a:xfrm>
          <a:prstGeom prst="rect">
            <a:avLst/>
          </a:prstGeom>
        </p:spPr>
        <p:txBody>
          <a:bodyPr vert="horz" wrap="square" lIns="0" tIns="0" rIns="0" bIns="0" rtlCol="0">
            <a:spAutoFit/>
          </a:bodyPr>
          <a:lstStyle/>
          <a:p>
            <a:pPr marL="3810" algn="ctr">
              <a:lnSpc>
                <a:spcPct val="100000"/>
              </a:lnSpc>
            </a:pPr>
            <a:r>
              <a:rPr sz="2400" b="1" dirty="0">
                <a:latin typeface="微软雅黑"/>
                <a:cs typeface="微软雅黑"/>
              </a:rPr>
              <a:t>参数计算公式</a:t>
            </a:r>
            <a:endParaRPr sz="2400">
              <a:latin typeface="微软雅黑"/>
              <a:cs typeface="微软雅黑"/>
            </a:endParaRPr>
          </a:p>
          <a:p>
            <a:pPr algn="ctr">
              <a:lnSpc>
                <a:spcPct val="100000"/>
              </a:lnSpc>
              <a:spcBef>
                <a:spcPts val="1350"/>
              </a:spcBef>
            </a:pPr>
            <a:r>
              <a:rPr sz="2800" b="1" spc="-5" dirty="0">
                <a:latin typeface="Consolas"/>
                <a:cs typeface="Consolas"/>
              </a:rPr>
              <a:t>Pe</a:t>
            </a:r>
            <a:r>
              <a:rPr sz="2800" b="1" spc="-15" dirty="0">
                <a:latin typeface="Consolas"/>
                <a:cs typeface="Consolas"/>
              </a:rPr>
              <a:t>r</a:t>
            </a:r>
            <a:r>
              <a:rPr sz="2800" b="1" spc="-5" dirty="0">
                <a:latin typeface="Consolas"/>
                <a:cs typeface="Consolas"/>
              </a:rPr>
              <a:t>io</a:t>
            </a:r>
            <a:r>
              <a:rPr sz="2800" b="1" spc="-15" dirty="0">
                <a:latin typeface="Consolas"/>
                <a:cs typeface="Consolas"/>
              </a:rPr>
              <a:t>d</a:t>
            </a:r>
            <a:r>
              <a:rPr sz="2800" b="1" dirty="0">
                <a:latin typeface="Consolas"/>
                <a:cs typeface="Consolas"/>
              </a:rPr>
              <a:t>(</a:t>
            </a:r>
            <a:r>
              <a:rPr sz="2800" b="1" spc="-5" dirty="0">
                <a:latin typeface="Consolas"/>
                <a:cs typeface="Consolas"/>
              </a:rPr>
              <a:t>s)</a:t>
            </a:r>
            <a:r>
              <a:rPr sz="2800" b="1" spc="-10"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a:t>
            </a:r>
            <a:r>
              <a:rPr sz="2800" b="1" spc="5" dirty="0">
                <a:latin typeface="Consolas"/>
                <a:cs typeface="Consolas"/>
              </a:rPr>
              <a:t> </a:t>
            </a:r>
            <a:r>
              <a:rPr sz="2800" b="1" spc="-10" dirty="0">
                <a:solidFill>
                  <a:srgbClr val="FF0000"/>
                </a:solidFill>
                <a:latin typeface="Consolas"/>
                <a:cs typeface="Consolas"/>
              </a:rPr>
              <a:t>AR</a:t>
            </a:r>
            <a:r>
              <a:rPr sz="2800" b="1" spc="-5" dirty="0">
                <a:solidFill>
                  <a:srgbClr val="FF0000"/>
                </a:solidFill>
                <a:latin typeface="Consolas"/>
                <a:cs typeface="Consolas"/>
              </a:rPr>
              <a:t>R</a:t>
            </a:r>
            <a:r>
              <a:rPr sz="2800" b="1" spc="-10" dirty="0">
                <a:solidFill>
                  <a:srgbClr val="FF0000"/>
                </a:solidFill>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1</a:t>
            </a:r>
            <a:r>
              <a:rPr sz="2800" b="1" spc="5"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x</a:t>
            </a:r>
            <a:r>
              <a:rPr sz="2800" b="1" spc="-10" dirty="0">
                <a:latin typeface="Consolas"/>
                <a:cs typeface="Consolas"/>
              </a:rPr>
              <a:t> </a:t>
            </a:r>
            <a:r>
              <a:rPr sz="2800" b="1" spc="-5" dirty="0">
                <a:latin typeface="Consolas"/>
                <a:cs typeface="Consolas"/>
              </a:rPr>
              <a:t>(</a:t>
            </a:r>
            <a:r>
              <a:rPr sz="2800" b="1" spc="5" dirty="0">
                <a:latin typeface="Consolas"/>
                <a:cs typeface="Consolas"/>
              </a:rPr>
              <a:t> </a:t>
            </a:r>
            <a:r>
              <a:rPr sz="2800" b="1" spc="-10" dirty="0">
                <a:solidFill>
                  <a:srgbClr val="FF0000"/>
                </a:solidFill>
                <a:latin typeface="Consolas"/>
                <a:cs typeface="Consolas"/>
              </a:rPr>
              <a:t>PS</a:t>
            </a:r>
            <a:r>
              <a:rPr sz="2800" b="1" spc="-5" dirty="0">
                <a:solidFill>
                  <a:srgbClr val="FF0000"/>
                </a:solidFill>
                <a:latin typeface="Consolas"/>
                <a:cs typeface="Consolas"/>
              </a:rPr>
              <a:t>C</a:t>
            </a:r>
            <a:r>
              <a:rPr sz="2800" b="1" spc="-10" dirty="0">
                <a:solidFill>
                  <a:srgbClr val="FF0000"/>
                </a:solidFill>
                <a:latin typeface="Consolas"/>
                <a:cs typeface="Consolas"/>
              </a:rPr>
              <a:t> </a:t>
            </a:r>
            <a:r>
              <a:rPr sz="2800" b="1" spc="-5" dirty="0">
                <a:latin typeface="Consolas"/>
                <a:cs typeface="Consolas"/>
              </a:rPr>
              <a:t>+ 1</a:t>
            </a:r>
            <a:r>
              <a:rPr sz="2800" b="1" spc="5"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a:t>
            </a:r>
            <a:r>
              <a:rPr sz="2800" b="1" spc="-10" dirty="0">
                <a:latin typeface="Consolas"/>
                <a:cs typeface="Consolas"/>
              </a:rPr>
              <a:t> </a:t>
            </a:r>
            <a:r>
              <a:rPr sz="2800" b="1" spc="-5" dirty="0">
                <a:solidFill>
                  <a:srgbClr val="FF0000"/>
                </a:solidFill>
                <a:latin typeface="Consolas"/>
                <a:cs typeface="Consolas"/>
              </a:rPr>
              <a:t>TIMx_C</a:t>
            </a:r>
            <a:r>
              <a:rPr sz="2800" b="1" spc="-20" dirty="0">
                <a:solidFill>
                  <a:srgbClr val="FF0000"/>
                </a:solidFill>
                <a:latin typeface="Consolas"/>
                <a:cs typeface="Consolas"/>
              </a:rPr>
              <a:t>L</a:t>
            </a:r>
            <a:r>
              <a:rPr sz="2800" b="1" spc="-5" dirty="0">
                <a:solidFill>
                  <a:srgbClr val="FF0000"/>
                </a:solidFill>
                <a:latin typeface="Consolas"/>
                <a:cs typeface="Consolas"/>
              </a:rPr>
              <a:t>K</a:t>
            </a:r>
            <a:endParaRPr sz="2800">
              <a:latin typeface="Consolas"/>
              <a:cs typeface="Consolas"/>
            </a:endParaRPr>
          </a:p>
          <a:p>
            <a:pPr marL="12700">
              <a:lnSpc>
                <a:spcPct val="100000"/>
              </a:lnSpc>
              <a:spcBef>
                <a:spcPts val="434"/>
              </a:spcBef>
              <a:tabLst>
                <a:tab pos="1964689" algn="l"/>
              </a:tabLst>
            </a:pPr>
            <a:r>
              <a:rPr sz="2800" b="1" spc="-10" dirty="0">
                <a:latin typeface="Consolas"/>
                <a:cs typeface="Consolas"/>
              </a:rPr>
              <a:t>Dut</a:t>
            </a:r>
            <a:r>
              <a:rPr sz="2800" b="1" spc="-5" dirty="0">
                <a:latin typeface="Consolas"/>
                <a:cs typeface="Consolas"/>
              </a:rPr>
              <a:t>y</a:t>
            </a:r>
            <a:r>
              <a:rPr sz="2800" b="1"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a:t>
            </a:r>
            <a:r>
              <a:rPr sz="2800" b="1" spc="5" dirty="0">
                <a:latin typeface="Consolas"/>
                <a:cs typeface="Consolas"/>
              </a:rPr>
              <a:t> </a:t>
            </a:r>
            <a:r>
              <a:rPr sz="2800" b="1" spc="-10" dirty="0">
                <a:solidFill>
                  <a:srgbClr val="FF0000"/>
                </a:solidFill>
                <a:latin typeface="Consolas"/>
                <a:cs typeface="Consolas"/>
              </a:rPr>
              <a:t>CR</a:t>
            </a:r>
            <a:r>
              <a:rPr sz="2800" b="1" spc="-5" dirty="0">
                <a:solidFill>
                  <a:srgbClr val="FF0000"/>
                </a:solidFill>
                <a:latin typeface="Consolas"/>
                <a:cs typeface="Consolas"/>
              </a:rPr>
              <a:t>R</a:t>
            </a:r>
            <a:r>
              <a:rPr sz="2800" b="1" spc="-10" dirty="0">
                <a:solidFill>
                  <a:srgbClr val="FF0000"/>
                </a:solidFill>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a:t>
            </a:r>
            <a:r>
              <a:rPr sz="2800" b="1" spc="5" dirty="0">
                <a:latin typeface="Consolas"/>
                <a:cs typeface="Consolas"/>
              </a:rPr>
              <a:t> </a:t>
            </a:r>
            <a:r>
              <a:rPr sz="2800" b="1" spc="-10" dirty="0">
                <a:solidFill>
                  <a:srgbClr val="FF0000"/>
                </a:solidFill>
                <a:latin typeface="Consolas"/>
                <a:cs typeface="Consolas"/>
              </a:rPr>
              <a:t>AR</a:t>
            </a:r>
            <a:r>
              <a:rPr sz="2800" b="1" spc="-5" dirty="0">
                <a:solidFill>
                  <a:srgbClr val="FF0000"/>
                </a:solidFill>
                <a:latin typeface="Consolas"/>
                <a:cs typeface="Consolas"/>
              </a:rPr>
              <a:t>R</a:t>
            </a:r>
            <a:r>
              <a:rPr sz="2800" b="1" spc="-10" dirty="0">
                <a:solidFill>
                  <a:srgbClr val="FF0000"/>
                </a:solidFill>
                <a:latin typeface="Consolas"/>
                <a:cs typeface="Consolas"/>
              </a:rPr>
              <a:t> </a:t>
            </a:r>
            <a:r>
              <a:rPr sz="2800" b="1" spc="-5" dirty="0">
                <a:latin typeface="Consolas"/>
                <a:cs typeface="Consolas"/>
              </a:rPr>
              <a:t>+</a:t>
            </a:r>
            <a:r>
              <a:rPr sz="2800" b="1" spc="5" dirty="0">
                <a:latin typeface="Consolas"/>
                <a:cs typeface="Consolas"/>
              </a:rPr>
              <a:t> </a:t>
            </a:r>
            <a:r>
              <a:rPr sz="2800" b="1" spc="-5" dirty="0">
                <a:latin typeface="Consolas"/>
                <a:cs typeface="Consolas"/>
              </a:rPr>
              <a:t>1</a:t>
            </a:r>
            <a:r>
              <a:rPr sz="2800" b="1" spc="-10"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 x</a:t>
            </a:r>
            <a:r>
              <a:rPr sz="2800" b="1" spc="5" dirty="0">
                <a:latin typeface="Consolas"/>
                <a:cs typeface="Consolas"/>
              </a:rPr>
              <a:t> </a:t>
            </a:r>
            <a:r>
              <a:rPr sz="2800" b="1" spc="-10" dirty="0">
                <a:latin typeface="Consolas"/>
                <a:cs typeface="Consolas"/>
              </a:rPr>
              <a:t>100</a:t>
            </a:r>
            <a:r>
              <a:rPr sz="2800" b="1" spc="-5" dirty="0">
                <a:latin typeface="Consolas"/>
                <a:cs typeface="Consolas"/>
              </a:rPr>
              <a:t>%</a:t>
            </a:r>
            <a:endParaRPr sz="2800">
              <a:latin typeface="Consolas"/>
              <a:cs typeface="Consolas"/>
            </a:endParaRPr>
          </a:p>
        </p:txBody>
      </p:sp>
    </p:spTree>
    <p:extLst>
      <p:ext uri="{BB962C8B-B14F-4D97-AF65-F5344CB8AC3E}">
        <p14:creationId xmlns:p14="http://schemas.microsoft.com/office/powerpoint/2010/main" val="39790905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05839" y="1682495"/>
            <a:ext cx="10180319" cy="37719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9200133" y="6608820"/>
            <a:ext cx="279654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txBox="1">
            <a:spLocks noGrp="1"/>
          </p:cNvSpPr>
          <p:nvPr>
            <p:ph type="title"/>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spc="-5" dirty="0">
                <a:solidFill>
                  <a:srgbClr val="252525"/>
                </a:solidFill>
                <a:latin typeface="微软雅黑"/>
                <a:cs typeface="微软雅黑"/>
              </a:rPr>
              <a:t>Timer</a:t>
            </a:r>
            <a:endParaRPr sz="1800">
              <a:latin typeface="微软雅黑"/>
              <a:cs typeface="微软雅黑"/>
            </a:endParaRPr>
          </a:p>
        </p:txBody>
      </p:sp>
      <p:sp>
        <p:nvSpPr>
          <p:cNvPr id="7" name="object 7"/>
          <p:cNvSpPr/>
          <p:nvPr/>
        </p:nvSpPr>
        <p:spPr>
          <a:xfrm>
            <a:off x="0" y="969276"/>
            <a:ext cx="2164079"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p:nvPr/>
        </p:nvSpPr>
        <p:spPr>
          <a:xfrm>
            <a:off x="1195577" y="5450585"/>
            <a:ext cx="9991725" cy="1115695"/>
          </a:xfrm>
          <a:custGeom>
            <a:avLst/>
            <a:gdLst/>
            <a:ahLst/>
            <a:cxnLst/>
            <a:rect l="l" t="t" r="r" b="b"/>
            <a:pathLst>
              <a:path w="9991725" h="1115695">
                <a:moveTo>
                  <a:pt x="0" y="1115567"/>
                </a:moveTo>
                <a:lnTo>
                  <a:pt x="9991344" y="1115567"/>
                </a:lnTo>
                <a:lnTo>
                  <a:pt x="9991344" y="0"/>
                </a:lnTo>
                <a:lnTo>
                  <a:pt x="0" y="0"/>
                </a:lnTo>
                <a:lnTo>
                  <a:pt x="0" y="1115567"/>
                </a:lnTo>
                <a:close/>
              </a:path>
            </a:pathLst>
          </a:custGeom>
          <a:ln w="38100">
            <a:solidFill>
              <a:srgbClr val="E34A46"/>
            </a:solidFill>
          </a:ln>
        </p:spPr>
        <p:txBody>
          <a:bodyPr wrap="square" lIns="0" tIns="0" rIns="0" bIns="0" rtlCol="0"/>
          <a:lstStyle/>
          <a:p>
            <a:endParaRPr/>
          </a:p>
        </p:txBody>
      </p:sp>
      <p:sp>
        <p:nvSpPr>
          <p:cNvPr id="12" name="object 12"/>
          <p:cNvSpPr txBox="1"/>
          <p:nvPr/>
        </p:nvSpPr>
        <p:spPr>
          <a:xfrm>
            <a:off x="314350" y="1162674"/>
            <a:ext cx="8906510" cy="141478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应用实例</a:t>
            </a:r>
            <a:endParaRPr sz="2400">
              <a:latin typeface="微软雅黑"/>
              <a:cs typeface="微软雅黑"/>
            </a:endParaRPr>
          </a:p>
          <a:p>
            <a:pPr>
              <a:lnSpc>
                <a:spcPct val="100000"/>
              </a:lnSpc>
              <a:spcBef>
                <a:spcPts val="57"/>
              </a:spcBef>
            </a:pPr>
            <a:endParaRPr sz="2000">
              <a:latin typeface="Times New Roman"/>
              <a:cs typeface="Times New Roman"/>
            </a:endParaRPr>
          </a:p>
          <a:p>
            <a:pPr marL="3113405">
              <a:lnSpc>
                <a:spcPct val="100000"/>
              </a:lnSpc>
            </a:pPr>
            <a:r>
              <a:rPr sz="2400" b="1" spc="-5" dirty="0">
                <a:latin typeface="微软雅黑"/>
                <a:cs typeface="微软雅黑"/>
              </a:rPr>
              <a:t>假设预分频时钟C</a:t>
            </a:r>
            <a:r>
              <a:rPr sz="2400" b="1" spc="10" dirty="0">
                <a:latin typeface="微软雅黑"/>
                <a:cs typeface="微软雅黑"/>
              </a:rPr>
              <a:t>K</a:t>
            </a:r>
            <a:r>
              <a:rPr sz="2400" b="1" spc="-5" dirty="0">
                <a:latin typeface="微软雅黑"/>
                <a:cs typeface="微软雅黑"/>
              </a:rPr>
              <a:t>_PS</a:t>
            </a:r>
            <a:r>
              <a:rPr sz="2400" b="1" spc="-10" dirty="0">
                <a:latin typeface="微软雅黑"/>
                <a:cs typeface="微软雅黑"/>
              </a:rPr>
              <a:t>C</a:t>
            </a:r>
            <a:r>
              <a:rPr sz="2400" b="1" spc="-5" dirty="0">
                <a:latin typeface="微软雅黑"/>
                <a:cs typeface="微软雅黑"/>
              </a:rPr>
              <a:t>为</a:t>
            </a:r>
            <a:r>
              <a:rPr sz="2400" b="1" dirty="0">
                <a:latin typeface="微软雅黑"/>
                <a:cs typeface="微软雅黑"/>
              </a:rPr>
              <a:t>1</a:t>
            </a:r>
            <a:r>
              <a:rPr sz="2400" b="1" spc="-15" dirty="0">
                <a:latin typeface="微软雅黑"/>
                <a:cs typeface="微软雅黑"/>
              </a:rPr>
              <a:t>0</a:t>
            </a:r>
            <a:r>
              <a:rPr sz="2400" b="1" dirty="0">
                <a:latin typeface="微软雅黑"/>
                <a:cs typeface="微软雅黑"/>
              </a:rPr>
              <a:t>0M</a:t>
            </a:r>
            <a:r>
              <a:rPr sz="2400" b="1" spc="-10" dirty="0">
                <a:latin typeface="微软雅黑"/>
                <a:cs typeface="微软雅黑"/>
              </a:rPr>
              <a:t>H</a:t>
            </a:r>
            <a:r>
              <a:rPr sz="2400" b="1" dirty="0">
                <a:latin typeface="微软雅黑"/>
                <a:cs typeface="微软雅黑"/>
              </a:rPr>
              <a:t>z</a:t>
            </a:r>
            <a:r>
              <a:rPr sz="2400" b="1" spc="-5" dirty="0">
                <a:latin typeface="微软雅黑"/>
                <a:cs typeface="微软雅黑"/>
              </a:rPr>
              <a:t>，产生</a:t>
            </a:r>
            <a:endParaRPr sz="2400">
              <a:latin typeface="微软雅黑"/>
              <a:cs typeface="微软雅黑"/>
            </a:endParaRPr>
          </a:p>
          <a:p>
            <a:pPr marL="3113405">
              <a:lnSpc>
                <a:spcPct val="100000"/>
              </a:lnSpc>
              <a:spcBef>
                <a:spcPts val="420"/>
              </a:spcBef>
            </a:pPr>
            <a:r>
              <a:rPr sz="2400" b="1" dirty="0">
                <a:latin typeface="微软雅黑"/>
                <a:cs typeface="微软雅黑"/>
              </a:rPr>
              <a:t>周期为</a:t>
            </a:r>
            <a:r>
              <a:rPr sz="2400" b="1" spc="-10" dirty="0">
                <a:latin typeface="微软雅黑"/>
                <a:cs typeface="微软雅黑"/>
              </a:rPr>
              <a:t>1m</a:t>
            </a:r>
            <a:r>
              <a:rPr sz="2400" b="1" spc="-5" dirty="0">
                <a:latin typeface="微软雅黑"/>
                <a:cs typeface="微软雅黑"/>
              </a:rPr>
              <a:t>s</a:t>
            </a:r>
            <a:r>
              <a:rPr sz="2400" b="1" dirty="0">
                <a:latin typeface="微软雅黑"/>
                <a:cs typeface="微软雅黑"/>
              </a:rPr>
              <a:t>，占空比为</a:t>
            </a:r>
            <a:r>
              <a:rPr sz="2400" b="1" spc="-5" dirty="0">
                <a:latin typeface="微软雅黑"/>
                <a:cs typeface="微软雅黑"/>
              </a:rPr>
              <a:t>4</a:t>
            </a:r>
            <a:r>
              <a:rPr sz="2400" b="1" spc="-15" dirty="0">
                <a:latin typeface="微软雅黑"/>
                <a:cs typeface="微软雅黑"/>
              </a:rPr>
              <a:t>7</a:t>
            </a:r>
            <a:r>
              <a:rPr sz="2400" b="1" spc="-5" dirty="0">
                <a:latin typeface="微软雅黑"/>
                <a:cs typeface="微软雅黑"/>
              </a:rPr>
              <a:t>.</a:t>
            </a:r>
            <a:r>
              <a:rPr sz="2400" b="1" spc="-15" dirty="0">
                <a:latin typeface="微软雅黑"/>
                <a:cs typeface="微软雅黑"/>
              </a:rPr>
              <a:t>5</a:t>
            </a:r>
            <a:r>
              <a:rPr sz="2400" b="1" spc="-5" dirty="0">
                <a:latin typeface="微软雅黑"/>
                <a:cs typeface="微软雅黑"/>
              </a:rPr>
              <a:t>%</a:t>
            </a:r>
            <a:r>
              <a:rPr sz="2400" b="1" dirty="0">
                <a:latin typeface="微软雅黑"/>
                <a:cs typeface="微软雅黑"/>
              </a:rPr>
              <a:t>的</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M信号</a:t>
            </a:r>
            <a:endParaRPr sz="2400">
              <a:latin typeface="微软雅黑"/>
              <a:cs typeface="微软雅黑"/>
            </a:endParaRPr>
          </a:p>
        </p:txBody>
      </p:sp>
      <p:sp>
        <p:nvSpPr>
          <p:cNvPr id="13" name="object 13"/>
          <p:cNvSpPr txBox="1"/>
          <p:nvPr/>
        </p:nvSpPr>
        <p:spPr>
          <a:xfrm>
            <a:off x="1919351" y="5649863"/>
            <a:ext cx="6967220" cy="786765"/>
          </a:xfrm>
          <a:prstGeom prst="rect">
            <a:avLst/>
          </a:prstGeom>
        </p:spPr>
        <p:txBody>
          <a:bodyPr vert="horz" wrap="square" lIns="0" tIns="0" rIns="0" bIns="0" rtlCol="0">
            <a:spAutoFit/>
          </a:bodyPr>
          <a:lstStyle/>
          <a:p>
            <a:pPr>
              <a:lnSpc>
                <a:spcPct val="131800"/>
              </a:lnSpc>
              <a:tabLst>
                <a:tab pos="1011555" algn="l"/>
              </a:tabLst>
            </a:pPr>
            <a:r>
              <a:rPr sz="2400" b="1" spc="-90" dirty="0">
                <a:latin typeface="微软雅黑"/>
                <a:cs typeface="微软雅黑"/>
              </a:rPr>
              <a:t>P</a:t>
            </a:r>
            <a:r>
              <a:rPr sz="2400" b="1" spc="-5" dirty="0">
                <a:latin typeface="微软雅黑"/>
                <a:cs typeface="微软雅黑"/>
              </a:rPr>
              <a:t>e</a:t>
            </a:r>
            <a:r>
              <a:rPr sz="2400" b="1" dirty="0">
                <a:latin typeface="微软雅黑"/>
                <a:cs typeface="微软雅黑"/>
              </a:rPr>
              <a:t>r</a:t>
            </a:r>
            <a:r>
              <a:rPr sz="2400" b="1" spc="-5" dirty="0">
                <a:latin typeface="微软雅黑"/>
                <a:cs typeface="微软雅黑"/>
              </a:rPr>
              <a:t>iod</a:t>
            </a:r>
            <a:r>
              <a:rPr sz="2400" b="1" spc="10" dirty="0">
                <a:latin typeface="微软雅黑"/>
                <a:cs typeface="微软雅黑"/>
              </a:rPr>
              <a:t> </a:t>
            </a:r>
            <a:r>
              <a:rPr sz="2400" b="1" dirty="0">
                <a:latin typeface="微软雅黑"/>
                <a:cs typeface="微软雅黑"/>
              </a:rPr>
              <a:t>=</a:t>
            </a:r>
            <a:r>
              <a:rPr sz="2400" b="1" spc="-10" dirty="0">
                <a:latin typeface="微软雅黑"/>
                <a:cs typeface="微软雅黑"/>
              </a:rPr>
              <a:t> 1m</a:t>
            </a:r>
            <a:r>
              <a:rPr sz="2400" b="1" spc="-5" dirty="0">
                <a:latin typeface="微软雅黑"/>
                <a:cs typeface="微软雅黑"/>
              </a:rPr>
              <a:t>s</a:t>
            </a:r>
            <a:r>
              <a:rPr sz="2400" b="1" dirty="0">
                <a:latin typeface="微软雅黑"/>
                <a:cs typeface="微软雅黑"/>
              </a:rPr>
              <a:t>，可以设置</a:t>
            </a:r>
            <a:r>
              <a:rPr sz="2400" b="1" spc="5" dirty="0">
                <a:latin typeface="微软雅黑"/>
                <a:cs typeface="微软雅黑"/>
              </a:rPr>
              <a:t> </a:t>
            </a:r>
            <a:r>
              <a:rPr sz="2400" b="1" spc="-10" dirty="0">
                <a:latin typeface="微软雅黑"/>
                <a:cs typeface="微软雅黑"/>
              </a:rPr>
              <a:t>PS</a:t>
            </a:r>
            <a:r>
              <a:rPr sz="2400" b="1" dirty="0">
                <a:latin typeface="微软雅黑"/>
                <a:cs typeface="微软雅黑"/>
              </a:rPr>
              <a:t>C</a:t>
            </a:r>
            <a:r>
              <a:rPr sz="2400" b="1" spc="10" dirty="0">
                <a:latin typeface="微软雅黑"/>
                <a:cs typeface="微软雅黑"/>
              </a:rPr>
              <a:t> </a:t>
            </a:r>
            <a:r>
              <a:rPr sz="2400" b="1" dirty="0">
                <a:latin typeface="微软雅黑"/>
                <a:cs typeface="微软雅黑"/>
              </a:rPr>
              <a:t>= </a:t>
            </a:r>
            <a:r>
              <a:rPr sz="2400" b="1" spc="-10" dirty="0">
                <a:latin typeface="微软雅黑"/>
                <a:cs typeface="微软雅黑"/>
              </a:rPr>
              <a:t>99</a:t>
            </a:r>
            <a:r>
              <a:rPr sz="2400" b="1" dirty="0">
                <a:latin typeface="微软雅黑"/>
                <a:cs typeface="微软雅黑"/>
              </a:rPr>
              <a:t>，ARR</a:t>
            </a:r>
            <a:r>
              <a:rPr sz="2400" b="1" spc="-15" dirty="0">
                <a:latin typeface="微软雅黑"/>
                <a:cs typeface="微软雅黑"/>
              </a:rPr>
              <a:t> </a:t>
            </a:r>
            <a:r>
              <a:rPr sz="2400" b="1" dirty="0">
                <a:latin typeface="微软雅黑"/>
                <a:cs typeface="微软雅黑"/>
              </a:rPr>
              <a:t>=</a:t>
            </a:r>
            <a:r>
              <a:rPr sz="2400" b="1" spc="-15" dirty="0">
                <a:latin typeface="微软雅黑"/>
                <a:cs typeface="微软雅黑"/>
              </a:rPr>
              <a:t> </a:t>
            </a:r>
            <a:r>
              <a:rPr sz="2400" b="1" spc="-10" dirty="0">
                <a:latin typeface="微软雅黑"/>
                <a:cs typeface="微软雅黑"/>
              </a:rPr>
              <a:t>999 </a:t>
            </a:r>
            <a:r>
              <a:rPr sz="2400" b="1" spc="-5" dirty="0">
                <a:latin typeface="微软雅黑"/>
                <a:cs typeface="微软雅黑"/>
              </a:rPr>
              <a:t>Duty</a:t>
            </a:r>
            <a:r>
              <a:rPr sz="2400" b="1" dirty="0">
                <a:latin typeface="微软雅黑"/>
                <a:cs typeface="微软雅黑"/>
              </a:rPr>
              <a:t>	=</a:t>
            </a:r>
            <a:r>
              <a:rPr sz="2400" b="1" spc="-10" dirty="0">
                <a:latin typeface="微软雅黑"/>
                <a:cs typeface="微软雅黑"/>
              </a:rPr>
              <a:t> 47.5</a:t>
            </a:r>
            <a:r>
              <a:rPr sz="2400" b="1" spc="-5" dirty="0">
                <a:latin typeface="微软雅黑"/>
                <a:cs typeface="微软雅黑"/>
              </a:rPr>
              <a:t>%</a:t>
            </a:r>
            <a:r>
              <a:rPr sz="2400" b="1" dirty="0">
                <a:latin typeface="微软雅黑"/>
                <a:cs typeface="微软雅黑"/>
              </a:rPr>
              <a:t>，则 CRR</a:t>
            </a:r>
            <a:r>
              <a:rPr sz="2400" b="1" spc="-15" dirty="0">
                <a:latin typeface="微软雅黑"/>
                <a:cs typeface="微软雅黑"/>
              </a:rPr>
              <a:t> </a:t>
            </a:r>
            <a:r>
              <a:rPr sz="2400" b="1" dirty="0">
                <a:latin typeface="微软雅黑"/>
                <a:cs typeface="微软雅黑"/>
              </a:rPr>
              <a:t>=</a:t>
            </a:r>
            <a:r>
              <a:rPr sz="2400" b="1" spc="-15" dirty="0">
                <a:latin typeface="微软雅黑"/>
                <a:cs typeface="微软雅黑"/>
              </a:rPr>
              <a:t> </a:t>
            </a:r>
            <a:r>
              <a:rPr sz="2400" b="1" spc="-10" dirty="0">
                <a:latin typeface="微软雅黑"/>
                <a:cs typeface="微软雅黑"/>
              </a:rPr>
              <a:t>475</a:t>
            </a:r>
            <a:endParaRPr sz="2400">
              <a:latin typeface="微软雅黑"/>
              <a:cs typeface="微软雅黑"/>
            </a:endParaRPr>
          </a:p>
        </p:txBody>
      </p:sp>
    </p:spTree>
    <p:extLst>
      <p:ext uri="{BB962C8B-B14F-4D97-AF65-F5344CB8AC3E}">
        <p14:creationId xmlns:p14="http://schemas.microsoft.com/office/powerpoint/2010/main" val="29411855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50464" y="784858"/>
            <a:ext cx="9089390" cy="6040120"/>
          </a:xfrm>
          <a:prstGeom prst="rect">
            <a:avLst/>
          </a:prstGeom>
        </p:spPr>
        <p:txBody>
          <a:bodyPr vert="horz" wrap="square" lIns="0" tIns="0" rIns="0" bIns="0" rtlCol="0">
            <a:spAutoFit/>
          </a:bodyPr>
          <a:lstStyle/>
          <a:p>
            <a:pPr marR="48260" algn="r">
              <a:lnSpc>
                <a:spcPct val="100000"/>
              </a:lnSpc>
            </a:pPr>
            <a:r>
              <a:rPr sz="1200" b="1" spc="-5" dirty="0">
                <a:solidFill>
                  <a:srgbClr val="FFFFFF"/>
                </a:solidFill>
                <a:latin typeface="微软雅黑"/>
                <a:cs typeface="微软雅黑"/>
              </a:rPr>
              <a:t>--</a:t>
            </a:r>
            <a:r>
              <a:rPr sz="1200" b="1" spc="5" dirty="0">
                <a:solidFill>
                  <a:srgbClr val="FFFFFF"/>
                </a:solidFill>
                <a:latin typeface="微软雅黑"/>
                <a:cs typeface="微软雅黑"/>
              </a:rPr>
              <a:t> </a:t>
            </a:r>
            <a:r>
              <a:rPr sz="1200" b="1" dirty="0">
                <a:solidFill>
                  <a:srgbClr val="FFFFFF"/>
                </a:solidFill>
                <a:latin typeface="微软雅黑"/>
                <a:cs typeface="微软雅黑"/>
              </a:rPr>
              <a:t>南昌大学“卓越”辅导员培养工程建设</a:t>
            </a:r>
            <a:endParaRPr sz="1200">
              <a:latin typeface="微软雅黑"/>
              <a:cs typeface="微软雅黑"/>
            </a:endParaRPr>
          </a:p>
        </p:txBody>
      </p:sp>
      <p:sp>
        <p:nvSpPr>
          <p:cNvPr id="3" name="object 3"/>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4" name="object 4"/>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5" name="object 5"/>
          <p:cNvSpPr txBox="1">
            <a:spLocks noGrp="1"/>
          </p:cNvSpPr>
          <p:nvPr>
            <p:ph type="title"/>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spc="-5" dirty="0">
                <a:solidFill>
                  <a:srgbClr val="252525"/>
                </a:solidFill>
                <a:latin typeface="微软雅黑"/>
                <a:cs typeface="微软雅黑"/>
              </a:rPr>
              <a:t>Timer</a:t>
            </a:r>
            <a:endParaRPr sz="1800">
              <a:latin typeface="微软雅黑"/>
              <a:cs typeface="微软雅黑"/>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p:nvPr/>
        </p:nvSpPr>
        <p:spPr>
          <a:xfrm>
            <a:off x="2950464" y="784858"/>
            <a:ext cx="9089136" cy="6039612"/>
          </a:xfrm>
          <a:prstGeom prst="rect">
            <a:avLst/>
          </a:prstGeom>
          <a:blipFill>
            <a:blip r:embed="rId4" cstate="print"/>
            <a:stretch>
              <a:fillRect/>
            </a:stretch>
          </a:blipFill>
        </p:spPr>
        <p:txBody>
          <a:bodyPr wrap="square" lIns="0" tIns="0" rIns="0" bIns="0" rtlCol="0"/>
          <a:lstStyle/>
          <a:p>
            <a:endParaRPr/>
          </a:p>
        </p:txBody>
      </p:sp>
      <p:sp>
        <p:nvSpPr>
          <p:cNvPr id="11" name="object 11"/>
          <p:cNvSpPr txBox="1"/>
          <p:nvPr/>
        </p:nvSpPr>
        <p:spPr>
          <a:xfrm>
            <a:off x="185115" y="1162674"/>
            <a:ext cx="2905125" cy="5201920"/>
          </a:xfrm>
          <a:prstGeom prst="rect">
            <a:avLst/>
          </a:prstGeom>
        </p:spPr>
        <p:txBody>
          <a:bodyPr vert="horz" wrap="square" lIns="0" tIns="0" rIns="0" bIns="0" rtlCol="0">
            <a:spAutoFit/>
          </a:bodyPr>
          <a:lstStyle/>
          <a:p>
            <a:pPr marL="148590" indent="-136525">
              <a:lnSpc>
                <a:spcPct val="100000"/>
              </a:lnSpc>
            </a:pPr>
            <a:r>
              <a:rPr sz="2400" b="1" dirty="0">
                <a:solidFill>
                  <a:srgbClr val="FFFFFF"/>
                </a:solidFill>
                <a:latin typeface="微软雅黑"/>
                <a:cs typeface="微软雅黑"/>
              </a:rPr>
              <a:t>多通道输出</a:t>
            </a:r>
            <a:endParaRPr sz="2400">
              <a:latin typeface="微软雅黑"/>
              <a:cs typeface="微软雅黑"/>
            </a:endParaRPr>
          </a:p>
          <a:p>
            <a:pPr>
              <a:lnSpc>
                <a:spcPct val="100000"/>
              </a:lnSpc>
            </a:pPr>
            <a:endParaRPr sz="2400">
              <a:latin typeface="Times New Roman"/>
              <a:cs typeface="Times New Roman"/>
            </a:endParaRPr>
          </a:p>
          <a:p>
            <a:pPr marL="148590" marR="5080">
              <a:lnSpc>
                <a:spcPct val="132000"/>
              </a:lnSpc>
              <a:spcBef>
                <a:spcPts val="1395"/>
              </a:spcBef>
            </a:pPr>
            <a:r>
              <a:rPr sz="2400" b="1" dirty="0">
                <a:latin typeface="微软雅黑"/>
                <a:cs typeface="微软雅黑"/>
              </a:rPr>
              <a:t>定时器的每个通道 都可以输出</a:t>
            </a:r>
            <a:r>
              <a:rPr sz="2400" b="1" spc="40" dirty="0">
                <a:latin typeface="微软雅黑"/>
                <a:cs typeface="微软雅黑"/>
              </a:rPr>
              <a:t>P</a:t>
            </a:r>
            <a:r>
              <a:rPr sz="2400" b="1" spc="-5" dirty="0">
                <a:latin typeface="微软雅黑"/>
                <a:cs typeface="微软雅黑"/>
              </a:rPr>
              <a:t>WM 信号，对于同一个 </a:t>
            </a:r>
            <a:r>
              <a:rPr sz="2400" b="1" dirty="0">
                <a:latin typeface="微软雅黑"/>
                <a:cs typeface="微软雅黑"/>
              </a:rPr>
              <a:t>定时器而言，它的 多个通道共享同一 </a:t>
            </a:r>
            <a:r>
              <a:rPr sz="2400" b="1" spc="-5" dirty="0">
                <a:latin typeface="微软雅黑"/>
                <a:cs typeface="微软雅黑"/>
              </a:rPr>
              <a:t>个自动重载寄存器</a:t>
            </a:r>
            <a:r>
              <a:rPr sz="2400" b="1" dirty="0">
                <a:latin typeface="微软雅黑"/>
                <a:cs typeface="微软雅黑"/>
              </a:rPr>
              <a:t>， 因此可以输出</a:t>
            </a:r>
            <a:r>
              <a:rPr sz="2400" b="1" dirty="0">
                <a:solidFill>
                  <a:srgbClr val="FF0000"/>
                </a:solidFill>
                <a:latin typeface="微软雅黑"/>
                <a:cs typeface="微软雅黑"/>
              </a:rPr>
              <a:t>占空 比不同，</a:t>
            </a:r>
            <a:r>
              <a:rPr sz="2400" b="1" dirty="0">
                <a:latin typeface="微软雅黑"/>
                <a:cs typeface="微软雅黑"/>
              </a:rPr>
              <a:t>但</a:t>
            </a:r>
            <a:r>
              <a:rPr sz="2400" b="1" dirty="0">
                <a:solidFill>
                  <a:srgbClr val="FF0000"/>
                </a:solidFill>
                <a:latin typeface="微软雅黑"/>
                <a:cs typeface="微软雅黑"/>
              </a:rPr>
              <a:t>周期相 同</a:t>
            </a:r>
            <a:r>
              <a:rPr sz="2400" b="1" dirty="0">
                <a:latin typeface="微软雅黑"/>
                <a:cs typeface="微软雅黑"/>
              </a:rPr>
              <a:t>的</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M信号。</a:t>
            </a:r>
            <a:endParaRPr sz="2400">
              <a:latin typeface="微软雅黑"/>
              <a:cs typeface="微软雅黑"/>
            </a:endParaRPr>
          </a:p>
        </p:txBody>
      </p:sp>
      <p:sp>
        <p:nvSpPr>
          <p:cNvPr id="12" name="object 12"/>
          <p:cNvSpPr/>
          <p:nvPr/>
        </p:nvSpPr>
        <p:spPr>
          <a:xfrm>
            <a:off x="142494" y="2021585"/>
            <a:ext cx="2867025" cy="4403090"/>
          </a:xfrm>
          <a:custGeom>
            <a:avLst/>
            <a:gdLst/>
            <a:ahLst/>
            <a:cxnLst/>
            <a:rect l="l" t="t" r="r" b="b"/>
            <a:pathLst>
              <a:path w="2867025" h="4403090">
                <a:moveTo>
                  <a:pt x="0" y="4402836"/>
                </a:moveTo>
                <a:lnTo>
                  <a:pt x="2866644" y="4402836"/>
                </a:lnTo>
                <a:lnTo>
                  <a:pt x="2866644" y="0"/>
                </a:lnTo>
                <a:lnTo>
                  <a:pt x="0" y="0"/>
                </a:lnTo>
                <a:lnTo>
                  <a:pt x="0" y="4402836"/>
                </a:lnTo>
                <a:close/>
              </a:path>
            </a:pathLst>
          </a:custGeom>
          <a:ln w="38100">
            <a:solidFill>
              <a:srgbClr val="E34A46"/>
            </a:solidFill>
          </a:ln>
        </p:spPr>
        <p:txBody>
          <a:bodyPr wrap="square" lIns="0" tIns="0" rIns="0" bIns="0" rtlCol="0"/>
          <a:lstStyle/>
          <a:p>
            <a:endParaRPr/>
          </a:p>
        </p:txBody>
      </p:sp>
      <p:sp>
        <p:nvSpPr>
          <p:cNvPr id="13" name="object 13"/>
          <p:cNvSpPr/>
          <p:nvPr/>
        </p:nvSpPr>
        <p:spPr>
          <a:xfrm>
            <a:off x="5340858" y="820674"/>
            <a:ext cx="4310380" cy="850900"/>
          </a:xfrm>
          <a:custGeom>
            <a:avLst/>
            <a:gdLst/>
            <a:ahLst/>
            <a:cxnLst/>
            <a:rect l="l" t="t" r="r" b="b"/>
            <a:pathLst>
              <a:path w="4310380" h="850900">
                <a:moveTo>
                  <a:pt x="4168140" y="0"/>
                </a:moveTo>
                <a:lnTo>
                  <a:pt x="718312" y="0"/>
                </a:lnTo>
                <a:lnTo>
                  <a:pt x="130208" y="462"/>
                </a:lnTo>
                <a:lnTo>
                  <a:pt x="88692" y="10271"/>
                </a:lnTo>
                <a:lnTo>
                  <a:pt x="52903" y="31312"/>
                </a:lnTo>
                <a:lnTo>
                  <a:pt x="24852" y="61575"/>
                </a:lnTo>
                <a:lnTo>
                  <a:pt x="6548" y="99052"/>
                </a:lnTo>
                <a:lnTo>
                  <a:pt x="0" y="141731"/>
                </a:lnTo>
                <a:lnTo>
                  <a:pt x="0" y="708660"/>
                </a:lnTo>
                <a:lnTo>
                  <a:pt x="5654" y="748397"/>
                </a:lnTo>
                <a:lnTo>
                  <a:pt x="23174" y="786319"/>
                </a:lnTo>
                <a:lnTo>
                  <a:pt x="50587" y="817172"/>
                </a:lnTo>
                <a:lnTo>
                  <a:pt x="85882" y="838949"/>
                </a:lnTo>
                <a:lnTo>
                  <a:pt x="127051" y="849639"/>
                </a:lnTo>
                <a:lnTo>
                  <a:pt x="141731" y="850391"/>
                </a:lnTo>
                <a:lnTo>
                  <a:pt x="1795780" y="850391"/>
                </a:lnTo>
                <a:lnTo>
                  <a:pt x="4179663" y="849929"/>
                </a:lnTo>
                <a:lnTo>
                  <a:pt x="4221179" y="840120"/>
                </a:lnTo>
                <a:lnTo>
                  <a:pt x="4256968" y="819079"/>
                </a:lnTo>
                <a:lnTo>
                  <a:pt x="4285019" y="788816"/>
                </a:lnTo>
                <a:lnTo>
                  <a:pt x="4303323" y="751339"/>
                </a:lnTo>
                <a:lnTo>
                  <a:pt x="4309871" y="708660"/>
                </a:lnTo>
                <a:lnTo>
                  <a:pt x="4309871" y="496062"/>
                </a:lnTo>
                <a:lnTo>
                  <a:pt x="4309409" y="130208"/>
                </a:lnTo>
                <a:lnTo>
                  <a:pt x="4299600" y="88692"/>
                </a:lnTo>
                <a:lnTo>
                  <a:pt x="4278559" y="52903"/>
                </a:lnTo>
                <a:lnTo>
                  <a:pt x="4248296" y="24852"/>
                </a:lnTo>
                <a:lnTo>
                  <a:pt x="4210819" y="6548"/>
                </a:lnTo>
                <a:lnTo>
                  <a:pt x="4168140" y="0"/>
                </a:lnTo>
                <a:close/>
              </a:path>
            </a:pathLst>
          </a:custGeom>
          <a:solidFill>
            <a:srgbClr val="FFFFC7"/>
          </a:solidFill>
        </p:spPr>
        <p:txBody>
          <a:bodyPr wrap="square" lIns="0" tIns="0" rIns="0" bIns="0" rtlCol="0"/>
          <a:lstStyle/>
          <a:p>
            <a:endParaRPr/>
          </a:p>
        </p:txBody>
      </p:sp>
      <p:sp>
        <p:nvSpPr>
          <p:cNvPr id="14" name="object 14"/>
          <p:cNvSpPr/>
          <p:nvPr/>
        </p:nvSpPr>
        <p:spPr>
          <a:xfrm>
            <a:off x="5340858" y="820674"/>
            <a:ext cx="4310380" cy="850900"/>
          </a:xfrm>
          <a:custGeom>
            <a:avLst/>
            <a:gdLst/>
            <a:ahLst/>
            <a:cxnLst/>
            <a:rect l="l" t="t" r="r" b="b"/>
            <a:pathLst>
              <a:path w="4310380" h="850900">
                <a:moveTo>
                  <a:pt x="0" y="141731"/>
                </a:moveTo>
                <a:lnTo>
                  <a:pt x="6548" y="99052"/>
                </a:lnTo>
                <a:lnTo>
                  <a:pt x="24852" y="61575"/>
                </a:lnTo>
                <a:lnTo>
                  <a:pt x="52903" y="31312"/>
                </a:lnTo>
                <a:lnTo>
                  <a:pt x="88692" y="10271"/>
                </a:lnTo>
                <a:lnTo>
                  <a:pt x="130208" y="462"/>
                </a:lnTo>
                <a:lnTo>
                  <a:pt x="718312" y="0"/>
                </a:lnTo>
                <a:lnTo>
                  <a:pt x="1795780" y="0"/>
                </a:lnTo>
                <a:lnTo>
                  <a:pt x="4168140" y="0"/>
                </a:lnTo>
                <a:lnTo>
                  <a:pt x="4182820" y="752"/>
                </a:lnTo>
                <a:lnTo>
                  <a:pt x="4223989" y="11442"/>
                </a:lnTo>
                <a:lnTo>
                  <a:pt x="4259284" y="33219"/>
                </a:lnTo>
                <a:lnTo>
                  <a:pt x="4286697" y="64072"/>
                </a:lnTo>
                <a:lnTo>
                  <a:pt x="4304217" y="101994"/>
                </a:lnTo>
                <a:lnTo>
                  <a:pt x="4309871" y="496062"/>
                </a:lnTo>
                <a:lnTo>
                  <a:pt x="4309871" y="708660"/>
                </a:lnTo>
                <a:lnTo>
                  <a:pt x="4309119" y="723340"/>
                </a:lnTo>
                <a:lnTo>
                  <a:pt x="4306912" y="737592"/>
                </a:lnTo>
                <a:lnTo>
                  <a:pt x="4292303" y="777026"/>
                </a:lnTo>
                <a:lnTo>
                  <a:pt x="4267277" y="809917"/>
                </a:lnTo>
                <a:lnTo>
                  <a:pt x="4233844" y="834255"/>
                </a:lnTo>
                <a:lnTo>
                  <a:pt x="4194014" y="848031"/>
                </a:lnTo>
                <a:lnTo>
                  <a:pt x="1795780" y="850391"/>
                </a:lnTo>
                <a:lnTo>
                  <a:pt x="2007362" y="850391"/>
                </a:lnTo>
                <a:lnTo>
                  <a:pt x="718312" y="850391"/>
                </a:lnTo>
                <a:lnTo>
                  <a:pt x="141731" y="850391"/>
                </a:lnTo>
                <a:lnTo>
                  <a:pt x="127051" y="849639"/>
                </a:lnTo>
                <a:lnTo>
                  <a:pt x="85882" y="838949"/>
                </a:lnTo>
                <a:lnTo>
                  <a:pt x="50587" y="817172"/>
                </a:lnTo>
                <a:lnTo>
                  <a:pt x="23174" y="786319"/>
                </a:lnTo>
                <a:lnTo>
                  <a:pt x="5654" y="748397"/>
                </a:lnTo>
                <a:lnTo>
                  <a:pt x="0" y="708660"/>
                </a:lnTo>
                <a:lnTo>
                  <a:pt x="0" y="496062"/>
                </a:lnTo>
                <a:lnTo>
                  <a:pt x="0" y="141731"/>
                </a:lnTo>
                <a:close/>
              </a:path>
            </a:pathLst>
          </a:custGeom>
          <a:ln w="28956">
            <a:solidFill>
              <a:srgbClr val="000000"/>
            </a:solidFill>
          </a:ln>
        </p:spPr>
        <p:txBody>
          <a:bodyPr wrap="square" lIns="0" tIns="0" rIns="0" bIns="0" rtlCol="0"/>
          <a:lstStyle/>
          <a:p>
            <a:endParaRPr/>
          </a:p>
        </p:txBody>
      </p:sp>
      <p:sp>
        <p:nvSpPr>
          <p:cNvPr id="15" name="object 15"/>
          <p:cNvSpPr txBox="1"/>
          <p:nvPr/>
        </p:nvSpPr>
        <p:spPr>
          <a:xfrm>
            <a:off x="5585840" y="897318"/>
            <a:ext cx="3817620" cy="731520"/>
          </a:xfrm>
          <a:prstGeom prst="rect">
            <a:avLst/>
          </a:prstGeom>
        </p:spPr>
        <p:txBody>
          <a:bodyPr vert="horz" wrap="square" lIns="0" tIns="0" rIns="0" bIns="0" rtlCol="0">
            <a:spAutoFit/>
          </a:bodyPr>
          <a:lstStyle/>
          <a:p>
            <a:pPr marL="12700" marR="5080" indent="795020">
              <a:lnSpc>
                <a:spcPct val="100000"/>
              </a:lnSpc>
            </a:pPr>
            <a:r>
              <a:rPr sz="2400" b="1" dirty="0">
                <a:latin typeface="宋体"/>
                <a:cs typeface="宋体"/>
              </a:rPr>
              <a:t>通</a:t>
            </a:r>
            <a:r>
              <a:rPr sz="2400" b="1" spc="0" dirty="0">
                <a:latin typeface="宋体"/>
                <a:cs typeface="宋体"/>
              </a:rPr>
              <a:t>道</a:t>
            </a:r>
            <a:r>
              <a:rPr sz="2400" b="1" spc="-5" dirty="0">
                <a:latin typeface="Consolas"/>
                <a:cs typeface="Consolas"/>
              </a:rPr>
              <a:t>1</a:t>
            </a:r>
            <a:r>
              <a:rPr sz="2400" b="1" dirty="0">
                <a:latin typeface="宋体"/>
                <a:cs typeface="宋体"/>
              </a:rPr>
              <a:t>的</a:t>
            </a:r>
            <a:r>
              <a:rPr sz="2400" b="1" spc="-5" dirty="0">
                <a:latin typeface="Consolas"/>
                <a:cs typeface="Consolas"/>
              </a:rPr>
              <a:t>PWM</a:t>
            </a:r>
            <a:r>
              <a:rPr sz="2400" b="1" dirty="0">
                <a:latin typeface="宋体"/>
                <a:cs typeface="宋体"/>
              </a:rPr>
              <a:t>信号 周期为</a:t>
            </a:r>
            <a:r>
              <a:rPr sz="2400" b="1" spc="-5" dirty="0">
                <a:latin typeface="Consolas"/>
                <a:cs typeface="Consolas"/>
              </a:rPr>
              <a:t>1ms</a:t>
            </a:r>
            <a:r>
              <a:rPr sz="2400" b="1" dirty="0">
                <a:latin typeface="宋体"/>
                <a:cs typeface="宋体"/>
              </a:rPr>
              <a:t>，占空比为</a:t>
            </a:r>
            <a:r>
              <a:rPr sz="2400" b="1" spc="-5" dirty="0">
                <a:latin typeface="Consolas"/>
                <a:cs typeface="Consolas"/>
              </a:rPr>
              <a:t>47.5%</a:t>
            </a:r>
            <a:endParaRPr sz="2400">
              <a:latin typeface="Consolas"/>
              <a:cs typeface="Consolas"/>
            </a:endParaRPr>
          </a:p>
        </p:txBody>
      </p:sp>
      <p:sp>
        <p:nvSpPr>
          <p:cNvPr id="16" name="object 16"/>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17" name="object 17"/>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18" name="object 18"/>
          <p:cNvSpPr/>
          <p:nvPr/>
        </p:nvSpPr>
        <p:spPr>
          <a:xfrm>
            <a:off x="5340858" y="3646170"/>
            <a:ext cx="4197350" cy="850900"/>
          </a:xfrm>
          <a:custGeom>
            <a:avLst/>
            <a:gdLst/>
            <a:ahLst/>
            <a:cxnLst/>
            <a:rect l="l" t="t" r="r" b="b"/>
            <a:pathLst>
              <a:path w="4197350" h="850900">
                <a:moveTo>
                  <a:pt x="4055364" y="0"/>
                </a:moveTo>
                <a:lnTo>
                  <a:pt x="699515" y="0"/>
                </a:lnTo>
                <a:lnTo>
                  <a:pt x="130208" y="462"/>
                </a:lnTo>
                <a:lnTo>
                  <a:pt x="88692" y="10271"/>
                </a:lnTo>
                <a:lnTo>
                  <a:pt x="52903" y="31312"/>
                </a:lnTo>
                <a:lnTo>
                  <a:pt x="24852" y="61575"/>
                </a:lnTo>
                <a:lnTo>
                  <a:pt x="6548" y="99052"/>
                </a:lnTo>
                <a:lnTo>
                  <a:pt x="0" y="141731"/>
                </a:lnTo>
                <a:lnTo>
                  <a:pt x="0" y="708659"/>
                </a:lnTo>
                <a:lnTo>
                  <a:pt x="5654" y="748397"/>
                </a:lnTo>
                <a:lnTo>
                  <a:pt x="23174" y="786319"/>
                </a:lnTo>
                <a:lnTo>
                  <a:pt x="50587" y="817172"/>
                </a:lnTo>
                <a:lnTo>
                  <a:pt x="85882" y="838949"/>
                </a:lnTo>
                <a:lnTo>
                  <a:pt x="127051" y="849639"/>
                </a:lnTo>
                <a:lnTo>
                  <a:pt x="141731" y="850391"/>
                </a:lnTo>
                <a:lnTo>
                  <a:pt x="1748789" y="850391"/>
                </a:lnTo>
                <a:lnTo>
                  <a:pt x="4066887" y="849929"/>
                </a:lnTo>
                <a:lnTo>
                  <a:pt x="4108403" y="840120"/>
                </a:lnTo>
                <a:lnTo>
                  <a:pt x="4144192" y="819079"/>
                </a:lnTo>
                <a:lnTo>
                  <a:pt x="4172243" y="788816"/>
                </a:lnTo>
                <a:lnTo>
                  <a:pt x="4190547" y="751339"/>
                </a:lnTo>
                <a:lnTo>
                  <a:pt x="4197095" y="708659"/>
                </a:lnTo>
                <a:lnTo>
                  <a:pt x="4197095" y="496061"/>
                </a:lnTo>
                <a:lnTo>
                  <a:pt x="4196633" y="130208"/>
                </a:lnTo>
                <a:lnTo>
                  <a:pt x="4186824" y="88692"/>
                </a:lnTo>
                <a:lnTo>
                  <a:pt x="4165783" y="52903"/>
                </a:lnTo>
                <a:lnTo>
                  <a:pt x="4135520" y="24852"/>
                </a:lnTo>
                <a:lnTo>
                  <a:pt x="4098043" y="6548"/>
                </a:lnTo>
                <a:lnTo>
                  <a:pt x="4055364" y="0"/>
                </a:lnTo>
                <a:close/>
              </a:path>
            </a:pathLst>
          </a:custGeom>
          <a:solidFill>
            <a:srgbClr val="FFFFC7"/>
          </a:solidFill>
        </p:spPr>
        <p:txBody>
          <a:bodyPr wrap="square" lIns="0" tIns="0" rIns="0" bIns="0" rtlCol="0"/>
          <a:lstStyle/>
          <a:p>
            <a:endParaRPr/>
          </a:p>
        </p:txBody>
      </p:sp>
      <p:sp>
        <p:nvSpPr>
          <p:cNvPr id="19" name="object 19"/>
          <p:cNvSpPr/>
          <p:nvPr/>
        </p:nvSpPr>
        <p:spPr>
          <a:xfrm>
            <a:off x="5340858" y="3646170"/>
            <a:ext cx="4197350" cy="850900"/>
          </a:xfrm>
          <a:custGeom>
            <a:avLst/>
            <a:gdLst/>
            <a:ahLst/>
            <a:cxnLst/>
            <a:rect l="l" t="t" r="r" b="b"/>
            <a:pathLst>
              <a:path w="4197350" h="850900">
                <a:moveTo>
                  <a:pt x="0" y="141731"/>
                </a:moveTo>
                <a:lnTo>
                  <a:pt x="6548" y="99052"/>
                </a:lnTo>
                <a:lnTo>
                  <a:pt x="24852" y="61575"/>
                </a:lnTo>
                <a:lnTo>
                  <a:pt x="52903" y="31312"/>
                </a:lnTo>
                <a:lnTo>
                  <a:pt x="88692" y="10271"/>
                </a:lnTo>
                <a:lnTo>
                  <a:pt x="130208" y="462"/>
                </a:lnTo>
                <a:lnTo>
                  <a:pt x="699515" y="0"/>
                </a:lnTo>
                <a:lnTo>
                  <a:pt x="1748789" y="0"/>
                </a:lnTo>
                <a:lnTo>
                  <a:pt x="4055364" y="0"/>
                </a:lnTo>
                <a:lnTo>
                  <a:pt x="4070044" y="752"/>
                </a:lnTo>
                <a:lnTo>
                  <a:pt x="4111213" y="11442"/>
                </a:lnTo>
                <a:lnTo>
                  <a:pt x="4146508" y="33219"/>
                </a:lnTo>
                <a:lnTo>
                  <a:pt x="4173921" y="64072"/>
                </a:lnTo>
                <a:lnTo>
                  <a:pt x="4191441" y="101994"/>
                </a:lnTo>
                <a:lnTo>
                  <a:pt x="4197095" y="496061"/>
                </a:lnTo>
                <a:lnTo>
                  <a:pt x="4197095" y="708659"/>
                </a:lnTo>
                <a:lnTo>
                  <a:pt x="4196343" y="723340"/>
                </a:lnTo>
                <a:lnTo>
                  <a:pt x="4194136" y="737592"/>
                </a:lnTo>
                <a:lnTo>
                  <a:pt x="4179527" y="777026"/>
                </a:lnTo>
                <a:lnTo>
                  <a:pt x="4154501" y="809917"/>
                </a:lnTo>
                <a:lnTo>
                  <a:pt x="4121068" y="834255"/>
                </a:lnTo>
                <a:lnTo>
                  <a:pt x="4081238" y="848031"/>
                </a:lnTo>
                <a:lnTo>
                  <a:pt x="1748789" y="850391"/>
                </a:lnTo>
                <a:lnTo>
                  <a:pt x="1954784" y="850391"/>
                </a:lnTo>
                <a:lnTo>
                  <a:pt x="699515" y="850391"/>
                </a:lnTo>
                <a:lnTo>
                  <a:pt x="141731" y="850391"/>
                </a:lnTo>
                <a:lnTo>
                  <a:pt x="127051" y="849639"/>
                </a:lnTo>
                <a:lnTo>
                  <a:pt x="85882" y="838949"/>
                </a:lnTo>
                <a:lnTo>
                  <a:pt x="50587" y="817172"/>
                </a:lnTo>
                <a:lnTo>
                  <a:pt x="23174" y="786319"/>
                </a:lnTo>
                <a:lnTo>
                  <a:pt x="5654" y="748397"/>
                </a:lnTo>
                <a:lnTo>
                  <a:pt x="0" y="708659"/>
                </a:lnTo>
                <a:lnTo>
                  <a:pt x="0" y="496061"/>
                </a:lnTo>
                <a:lnTo>
                  <a:pt x="0" y="141731"/>
                </a:lnTo>
                <a:close/>
              </a:path>
            </a:pathLst>
          </a:custGeom>
          <a:ln w="28955">
            <a:solidFill>
              <a:srgbClr val="000000"/>
            </a:solidFill>
          </a:ln>
        </p:spPr>
        <p:txBody>
          <a:bodyPr wrap="square" lIns="0" tIns="0" rIns="0" bIns="0" rtlCol="0"/>
          <a:lstStyle/>
          <a:p>
            <a:endParaRPr/>
          </a:p>
        </p:txBody>
      </p:sp>
      <p:sp>
        <p:nvSpPr>
          <p:cNvPr id="20" name="object 20"/>
          <p:cNvSpPr txBox="1"/>
          <p:nvPr/>
        </p:nvSpPr>
        <p:spPr>
          <a:xfrm>
            <a:off x="5697473" y="3723449"/>
            <a:ext cx="3482340" cy="731520"/>
          </a:xfrm>
          <a:prstGeom prst="rect">
            <a:avLst/>
          </a:prstGeom>
        </p:spPr>
        <p:txBody>
          <a:bodyPr vert="horz" wrap="square" lIns="0" tIns="0" rIns="0" bIns="0" rtlCol="0">
            <a:spAutoFit/>
          </a:bodyPr>
          <a:lstStyle/>
          <a:p>
            <a:pPr marL="12700" marR="5080" indent="795020">
              <a:lnSpc>
                <a:spcPct val="100000"/>
              </a:lnSpc>
            </a:pPr>
            <a:r>
              <a:rPr sz="2400" b="1" dirty="0">
                <a:latin typeface="宋体"/>
                <a:cs typeface="宋体"/>
              </a:rPr>
              <a:t>通道</a:t>
            </a:r>
            <a:r>
              <a:rPr sz="2400" b="1" spc="-5" dirty="0">
                <a:latin typeface="Consolas"/>
                <a:cs typeface="Consolas"/>
              </a:rPr>
              <a:t>2</a:t>
            </a:r>
            <a:r>
              <a:rPr sz="2400" b="1" dirty="0">
                <a:latin typeface="宋体"/>
                <a:cs typeface="宋体"/>
              </a:rPr>
              <a:t>的</a:t>
            </a:r>
            <a:r>
              <a:rPr sz="2400" b="1" spc="-5" dirty="0">
                <a:latin typeface="Consolas"/>
                <a:cs typeface="Consolas"/>
              </a:rPr>
              <a:t>PW</a:t>
            </a:r>
            <a:r>
              <a:rPr sz="2400" b="1" spc="-10" dirty="0">
                <a:latin typeface="Consolas"/>
                <a:cs typeface="Consolas"/>
              </a:rPr>
              <a:t>M</a:t>
            </a:r>
            <a:r>
              <a:rPr sz="2400" b="1" dirty="0">
                <a:latin typeface="宋体"/>
                <a:cs typeface="宋体"/>
              </a:rPr>
              <a:t>信号 周期为</a:t>
            </a:r>
            <a:r>
              <a:rPr sz="2400" b="1" spc="-5" dirty="0">
                <a:latin typeface="Consolas"/>
                <a:cs typeface="Consolas"/>
              </a:rPr>
              <a:t>1ms</a:t>
            </a:r>
            <a:r>
              <a:rPr sz="2400" b="1" dirty="0">
                <a:latin typeface="宋体"/>
                <a:cs typeface="宋体"/>
              </a:rPr>
              <a:t>，占空比为</a:t>
            </a:r>
            <a:r>
              <a:rPr sz="2400" b="1" spc="-5" dirty="0">
                <a:latin typeface="Consolas"/>
                <a:cs typeface="Consolas"/>
              </a:rPr>
              <a:t>70%</a:t>
            </a:r>
            <a:endParaRPr sz="2400">
              <a:latin typeface="Consolas"/>
              <a:cs typeface="Consolas"/>
            </a:endParaRPr>
          </a:p>
        </p:txBody>
      </p:sp>
    </p:spTree>
    <p:extLst>
      <p:ext uri="{BB962C8B-B14F-4D97-AF65-F5344CB8AC3E}">
        <p14:creationId xmlns:p14="http://schemas.microsoft.com/office/powerpoint/2010/main" val="17504920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597509" y="2772004"/>
            <a:ext cx="10996295" cy="711200"/>
          </a:xfrm>
          <a:prstGeom prst="rect">
            <a:avLst/>
          </a:prstGeom>
        </p:spPr>
        <p:txBody>
          <a:bodyPr vert="horz" wrap="square" lIns="0" tIns="0" rIns="0" bIns="0" rtlCol="0">
            <a:spAutoFit/>
          </a:bodyPr>
          <a:lstStyle/>
          <a:p>
            <a:pPr marL="12700">
              <a:lnSpc>
                <a:spcPct val="100000"/>
              </a:lnSpc>
              <a:tabLst>
                <a:tab pos="843915" algn="l"/>
              </a:tabLst>
            </a:pPr>
            <a:r>
              <a:rPr sz="5400" spc="-5" dirty="0">
                <a:solidFill>
                  <a:srgbClr val="FFFFFF"/>
                </a:solidFill>
                <a:latin typeface="微软雅黑"/>
                <a:cs typeface="微软雅黑"/>
              </a:rPr>
              <a:t>2	</a:t>
            </a:r>
            <a:r>
              <a:rPr sz="5400" spc="114" dirty="0">
                <a:solidFill>
                  <a:srgbClr val="FFFFFF"/>
                </a:solidFill>
                <a:latin typeface="微软雅黑"/>
                <a:cs typeface="微软雅黑"/>
              </a:rPr>
              <a:t>P</a:t>
            </a:r>
            <a:r>
              <a:rPr sz="5400" spc="-5" dirty="0">
                <a:solidFill>
                  <a:srgbClr val="FFFFFF"/>
                </a:solidFill>
                <a:latin typeface="微软雅黑"/>
                <a:cs typeface="微软雅黑"/>
              </a:rPr>
              <a:t>W</a:t>
            </a:r>
            <a:r>
              <a:rPr sz="5400" dirty="0">
                <a:solidFill>
                  <a:srgbClr val="FFFFFF"/>
                </a:solidFill>
                <a:latin typeface="微软雅黑"/>
                <a:cs typeface="微软雅黑"/>
              </a:rPr>
              <a:t>M</a:t>
            </a:r>
            <a:r>
              <a:rPr sz="5400" dirty="0">
                <a:solidFill>
                  <a:srgbClr val="FFFFFF"/>
                </a:solidFill>
              </a:rPr>
              <a:t>功能的数据类型和接口函数</a:t>
            </a:r>
            <a:endParaRPr sz="5400">
              <a:latin typeface="微软雅黑"/>
              <a:cs typeface="微软雅黑"/>
            </a:endParaRPr>
          </a:p>
        </p:txBody>
      </p:sp>
    </p:spTree>
    <p:extLst>
      <p:ext uri="{BB962C8B-B14F-4D97-AF65-F5344CB8AC3E}">
        <p14:creationId xmlns:p14="http://schemas.microsoft.com/office/powerpoint/2010/main" val="24173233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2023" y="1967483"/>
            <a:ext cx="11999976" cy="46101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77545" y="6592061"/>
            <a:ext cx="12014835" cy="0"/>
          </a:xfrm>
          <a:custGeom>
            <a:avLst/>
            <a:gdLst/>
            <a:ahLst/>
            <a:cxnLst/>
            <a:rect l="l" t="t" r="r" b="b"/>
            <a:pathLst>
              <a:path w="12014835">
                <a:moveTo>
                  <a:pt x="0" y="0"/>
                </a:moveTo>
                <a:lnTo>
                  <a:pt x="12014454" y="0"/>
                </a:lnTo>
              </a:path>
            </a:pathLst>
          </a:custGeom>
          <a:ln w="28956">
            <a:solidFill>
              <a:srgbClr val="5B9BD4"/>
            </a:solidFill>
          </a:ln>
        </p:spPr>
        <p:txBody>
          <a:bodyPr wrap="square" lIns="0" tIns="0" rIns="0" bIns="0" rtlCol="0"/>
          <a:lstStyle/>
          <a:p>
            <a:endParaRPr/>
          </a:p>
        </p:txBody>
      </p:sp>
      <p:sp>
        <p:nvSpPr>
          <p:cNvPr id="4" name="object 4"/>
          <p:cNvSpPr/>
          <p:nvPr/>
        </p:nvSpPr>
        <p:spPr>
          <a:xfrm>
            <a:off x="177545" y="1953005"/>
            <a:ext cx="12014835" cy="4639310"/>
          </a:xfrm>
          <a:custGeom>
            <a:avLst/>
            <a:gdLst/>
            <a:ahLst/>
            <a:cxnLst/>
            <a:rect l="l" t="t" r="r" b="b"/>
            <a:pathLst>
              <a:path w="12014835" h="4639309">
                <a:moveTo>
                  <a:pt x="12014454" y="0"/>
                </a:moveTo>
                <a:lnTo>
                  <a:pt x="0" y="0"/>
                </a:lnTo>
                <a:lnTo>
                  <a:pt x="0" y="4639056"/>
                </a:lnTo>
              </a:path>
            </a:pathLst>
          </a:custGeom>
          <a:ln w="28956">
            <a:solidFill>
              <a:srgbClr val="5B9BD4"/>
            </a:solidFill>
          </a:ln>
        </p:spPr>
        <p:txBody>
          <a:bodyPr wrap="square" lIns="0" tIns="0" rIns="0" bIns="0" rtlCol="0"/>
          <a:lstStyle/>
          <a:p>
            <a:endParaRPr/>
          </a:p>
        </p:txBody>
      </p:sp>
      <p:sp>
        <p:nvSpPr>
          <p:cNvPr id="5" name="object 5"/>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6" name="object 6"/>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7" name="object 7"/>
          <p:cNvSpPr/>
          <p:nvPr/>
        </p:nvSpPr>
        <p:spPr>
          <a:xfrm>
            <a:off x="0" y="969276"/>
            <a:ext cx="2164079" cy="75741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53136" y="1146799"/>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输出比较单元</a:t>
            </a:r>
            <a:endParaRPr sz="2400">
              <a:latin typeface="微软雅黑"/>
              <a:cs typeface="微软雅黑"/>
            </a:endParaRPr>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a:spLocks noGrp="1"/>
          </p:cNvSpPr>
          <p:nvPr>
            <p:ph type="title"/>
          </p:nvPr>
        </p:nvSpPr>
        <p:spPr>
          <a:prstGeom prst="rect">
            <a:avLst/>
          </a:prstGeom>
        </p:spPr>
        <p:txBody>
          <a:bodyPr vert="horz" wrap="square" lIns="0" tIns="0" rIns="0" bIns="0" rtlCol="0">
            <a:spAutoFit/>
          </a:bodyPr>
          <a:lstStyle/>
          <a:p>
            <a:pPr marL="4093845">
              <a:lnSpc>
                <a:spcPct val="100000"/>
              </a:lnSpc>
            </a:pPr>
            <a:r>
              <a:rPr spc="-5" dirty="0"/>
              <a:t>输出比较单元初始化类型</a:t>
            </a:r>
          </a:p>
        </p:txBody>
      </p:sp>
      <p:sp>
        <p:nvSpPr>
          <p:cNvPr id="14" name="object 14"/>
          <p:cNvSpPr txBox="1"/>
          <p:nvPr/>
        </p:nvSpPr>
        <p:spPr>
          <a:xfrm>
            <a:off x="3384803" y="2107692"/>
            <a:ext cx="8399145" cy="524510"/>
          </a:xfrm>
          <a:prstGeom prst="rect">
            <a:avLst/>
          </a:prstGeom>
          <a:solidFill>
            <a:srgbClr val="E34A46"/>
          </a:solidFill>
        </p:spPr>
        <p:txBody>
          <a:bodyPr vert="horz" wrap="square" lIns="0" tIns="0" rIns="0" bIns="0" rtlCol="0">
            <a:spAutoFit/>
          </a:bodyPr>
          <a:lstStyle/>
          <a:p>
            <a:pPr marL="91440">
              <a:lnSpc>
                <a:spcPct val="100000"/>
              </a:lnSpc>
            </a:pPr>
            <a:r>
              <a:rPr sz="2800" b="1" spc="-5" dirty="0">
                <a:solidFill>
                  <a:srgbClr val="FFFFFF"/>
                </a:solidFill>
                <a:latin typeface="微软雅黑"/>
                <a:cs typeface="微软雅黑"/>
              </a:rPr>
              <a:t>结构体类型，包括7个成员变量，与</a:t>
            </a:r>
            <a:r>
              <a:rPr sz="2800" b="1" spc="30" dirty="0">
                <a:solidFill>
                  <a:srgbClr val="FFFFFF"/>
                </a:solidFill>
                <a:latin typeface="微软雅黑"/>
                <a:cs typeface="微软雅黑"/>
              </a:rPr>
              <a:t>P</a:t>
            </a:r>
            <a:r>
              <a:rPr sz="2800" b="1" spc="-10" dirty="0">
                <a:solidFill>
                  <a:srgbClr val="FFFFFF"/>
                </a:solidFill>
                <a:latin typeface="微软雅黑"/>
                <a:cs typeface="微软雅黑"/>
              </a:rPr>
              <a:t>W</a:t>
            </a:r>
            <a:r>
              <a:rPr sz="2800" b="1" spc="0" dirty="0">
                <a:solidFill>
                  <a:srgbClr val="FFFFFF"/>
                </a:solidFill>
                <a:latin typeface="微软雅黑"/>
                <a:cs typeface="微软雅黑"/>
              </a:rPr>
              <a:t>M</a:t>
            </a:r>
            <a:r>
              <a:rPr sz="2800" b="1" dirty="0">
                <a:solidFill>
                  <a:srgbClr val="FFFFFF"/>
                </a:solidFill>
                <a:latin typeface="微软雅黑"/>
                <a:cs typeface="微软雅黑"/>
              </a:rPr>
              <a:t>相</a:t>
            </a:r>
            <a:r>
              <a:rPr sz="2800" b="1" spc="-5" dirty="0">
                <a:solidFill>
                  <a:srgbClr val="FFFFFF"/>
                </a:solidFill>
                <a:latin typeface="微软雅黑"/>
                <a:cs typeface="微软雅黑"/>
              </a:rPr>
              <a:t>关的4个</a:t>
            </a:r>
            <a:endParaRPr sz="2800">
              <a:latin typeface="微软雅黑"/>
              <a:cs typeface="微软雅黑"/>
            </a:endParaRPr>
          </a:p>
        </p:txBody>
      </p:sp>
      <p:sp>
        <p:nvSpPr>
          <p:cNvPr id="15" name="object 15"/>
          <p:cNvSpPr/>
          <p:nvPr/>
        </p:nvSpPr>
        <p:spPr>
          <a:xfrm>
            <a:off x="1037082" y="6162294"/>
            <a:ext cx="3243580" cy="401320"/>
          </a:xfrm>
          <a:custGeom>
            <a:avLst/>
            <a:gdLst/>
            <a:ahLst/>
            <a:cxnLst/>
            <a:rect l="l" t="t" r="r" b="b"/>
            <a:pathLst>
              <a:path w="3243579" h="401320">
                <a:moveTo>
                  <a:pt x="0" y="400811"/>
                </a:moveTo>
                <a:lnTo>
                  <a:pt x="3243072" y="400811"/>
                </a:lnTo>
                <a:lnTo>
                  <a:pt x="3243072" y="0"/>
                </a:lnTo>
                <a:lnTo>
                  <a:pt x="0" y="0"/>
                </a:lnTo>
                <a:lnTo>
                  <a:pt x="0" y="400811"/>
                </a:lnTo>
                <a:close/>
              </a:path>
            </a:pathLst>
          </a:custGeom>
          <a:ln w="38100">
            <a:solidFill>
              <a:srgbClr val="FF0000"/>
            </a:solidFill>
          </a:ln>
        </p:spPr>
        <p:txBody>
          <a:bodyPr wrap="square" lIns="0" tIns="0" rIns="0" bIns="0" rtlCol="0"/>
          <a:lstStyle/>
          <a:p>
            <a:endParaRPr/>
          </a:p>
        </p:txBody>
      </p:sp>
      <p:sp>
        <p:nvSpPr>
          <p:cNvPr id="16" name="object 16"/>
          <p:cNvSpPr/>
          <p:nvPr/>
        </p:nvSpPr>
        <p:spPr>
          <a:xfrm>
            <a:off x="1037082" y="2891789"/>
            <a:ext cx="3243580" cy="401320"/>
          </a:xfrm>
          <a:custGeom>
            <a:avLst/>
            <a:gdLst/>
            <a:ahLst/>
            <a:cxnLst/>
            <a:rect l="l" t="t" r="r" b="b"/>
            <a:pathLst>
              <a:path w="3243579" h="401320">
                <a:moveTo>
                  <a:pt x="0" y="400812"/>
                </a:moveTo>
                <a:lnTo>
                  <a:pt x="3243072" y="400812"/>
                </a:lnTo>
                <a:lnTo>
                  <a:pt x="3243072" y="0"/>
                </a:lnTo>
                <a:lnTo>
                  <a:pt x="0" y="0"/>
                </a:lnTo>
                <a:lnTo>
                  <a:pt x="0" y="400812"/>
                </a:lnTo>
                <a:close/>
              </a:path>
            </a:pathLst>
          </a:custGeom>
          <a:ln w="38100">
            <a:solidFill>
              <a:srgbClr val="FF0000"/>
            </a:solidFill>
          </a:ln>
        </p:spPr>
        <p:txBody>
          <a:bodyPr wrap="square" lIns="0" tIns="0" rIns="0" bIns="0" rtlCol="0"/>
          <a:lstStyle/>
          <a:p>
            <a:endParaRPr/>
          </a:p>
        </p:txBody>
      </p:sp>
      <p:sp>
        <p:nvSpPr>
          <p:cNvPr id="17" name="object 17"/>
          <p:cNvSpPr/>
          <p:nvPr/>
        </p:nvSpPr>
        <p:spPr>
          <a:xfrm>
            <a:off x="1037082" y="3371850"/>
            <a:ext cx="3243580" cy="401320"/>
          </a:xfrm>
          <a:custGeom>
            <a:avLst/>
            <a:gdLst/>
            <a:ahLst/>
            <a:cxnLst/>
            <a:rect l="l" t="t" r="r" b="b"/>
            <a:pathLst>
              <a:path w="3243579" h="401320">
                <a:moveTo>
                  <a:pt x="0" y="400812"/>
                </a:moveTo>
                <a:lnTo>
                  <a:pt x="3243072" y="400812"/>
                </a:lnTo>
                <a:lnTo>
                  <a:pt x="3243072" y="0"/>
                </a:lnTo>
                <a:lnTo>
                  <a:pt x="0" y="0"/>
                </a:lnTo>
                <a:lnTo>
                  <a:pt x="0" y="400812"/>
                </a:lnTo>
                <a:close/>
              </a:path>
            </a:pathLst>
          </a:custGeom>
          <a:ln w="38100">
            <a:solidFill>
              <a:srgbClr val="FF0000"/>
            </a:solidFill>
          </a:ln>
        </p:spPr>
        <p:txBody>
          <a:bodyPr wrap="square" lIns="0" tIns="0" rIns="0" bIns="0" rtlCol="0"/>
          <a:lstStyle/>
          <a:p>
            <a:endParaRPr/>
          </a:p>
        </p:txBody>
      </p:sp>
      <p:sp>
        <p:nvSpPr>
          <p:cNvPr id="18" name="object 18"/>
          <p:cNvSpPr/>
          <p:nvPr/>
        </p:nvSpPr>
        <p:spPr>
          <a:xfrm>
            <a:off x="1037082" y="3870197"/>
            <a:ext cx="3243580" cy="401320"/>
          </a:xfrm>
          <a:custGeom>
            <a:avLst/>
            <a:gdLst/>
            <a:ahLst/>
            <a:cxnLst/>
            <a:rect l="l" t="t" r="r" b="b"/>
            <a:pathLst>
              <a:path w="3243579" h="401320">
                <a:moveTo>
                  <a:pt x="0" y="400812"/>
                </a:moveTo>
                <a:lnTo>
                  <a:pt x="3243072" y="400812"/>
                </a:lnTo>
                <a:lnTo>
                  <a:pt x="3243072" y="0"/>
                </a:lnTo>
                <a:lnTo>
                  <a:pt x="0" y="0"/>
                </a:lnTo>
                <a:lnTo>
                  <a:pt x="0" y="400812"/>
                </a:lnTo>
                <a:close/>
              </a:path>
            </a:pathLst>
          </a:custGeom>
          <a:ln w="38100">
            <a:solidFill>
              <a:srgbClr val="FF0000"/>
            </a:solidFill>
          </a:ln>
        </p:spPr>
        <p:txBody>
          <a:bodyPr wrap="square" lIns="0" tIns="0" rIns="0" bIns="0" rtlCol="0"/>
          <a:lstStyle/>
          <a:p>
            <a:endParaRPr/>
          </a:p>
        </p:txBody>
      </p:sp>
      <p:sp>
        <p:nvSpPr>
          <p:cNvPr id="19" name="object 19"/>
          <p:cNvSpPr/>
          <p:nvPr/>
        </p:nvSpPr>
        <p:spPr>
          <a:xfrm>
            <a:off x="1037082" y="4798314"/>
            <a:ext cx="3243580" cy="401320"/>
          </a:xfrm>
          <a:custGeom>
            <a:avLst/>
            <a:gdLst/>
            <a:ahLst/>
            <a:cxnLst/>
            <a:rect l="l" t="t" r="r" b="b"/>
            <a:pathLst>
              <a:path w="3243579" h="401320">
                <a:moveTo>
                  <a:pt x="0" y="400812"/>
                </a:moveTo>
                <a:lnTo>
                  <a:pt x="3243072" y="400812"/>
                </a:lnTo>
                <a:lnTo>
                  <a:pt x="3243072" y="0"/>
                </a:lnTo>
                <a:lnTo>
                  <a:pt x="0" y="0"/>
                </a:lnTo>
                <a:lnTo>
                  <a:pt x="0" y="400812"/>
                </a:lnTo>
                <a:close/>
              </a:path>
            </a:pathLst>
          </a:custGeom>
          <a:ln w="38100">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1491395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txBox="1"/>
          <p:nvPr/>
        </p:nvSpPr>
        <p:spPr>
          <a:xfrm>
            <a:off x="76301" y="1165468"/>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输出比较模式</a:t>
            </a:r>
            <a:endParaRPr sz="2400">
              <a:latin typeface="微软雅黑"/>
              <a:cs typeface="微软雅黑"/>
            </a:endParaRPr>
          </a:p>
        </p:txBody>
      </p:sp>
      <p:sp>
        <p:nvSpPr>
          <p:cNvPr id="9" name="object 9"/>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0" name="object 10"/>
          <p:cNvSpPr txBox="1"/>
          <p:nvPr/>
        </p:nvSpPr>
        <p:spPr>
          <a:xfrm>
            <a:off x="3699764" y="1153724"/>
            <a:ext cx="479488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成员变量</a:t>
            </a:r>
            <a:r>
              <a:rPr sz="2800" b="1" spc="-10" dirty="0">
                <a:latin typeface="微软雅黑"/>
                <a:cs typeface="微软雅黑"/>
              </a:rPr>
              <a:t>OC</a:t>
            </a:r>
            <a:r>
              <a:rPr sz="2800" b="1" spc="0" dirty="0">
                <a:latin typeface="微软雅黑"/>
                <a:cs typeface="微软雅黑"/>
              </a:rPr>
              <a:t>M</a:t>
            </a:r>
            <a:r>
              <a:rPr sz="2800" b="1" spc="-10" dirty="0">
                <a:latin typeface="微软雅黑"/>
                <a:cs typeface="微软雅黑"/>
              </a:rPr>
              <a:t>od</a:t>
            </a:r>
            <a:r>
              <a:rPr sz="2800" b="1" spc="0" dirty="0">
                <a:latin typeface="微软雅黑"/>
                <a:cs typeface="微软雅黑"/>
              </a:rPr>
              <a:t>e</a:t>
            </a:r>
            <a:r>
              <a:rPr sz="2800" b="1" spc="-5" dirty="0">
                <a:latin typeface="微软雅黑"/>
                <a:cs typeface="微软雅黑"/>
              </a:rPr>
              <a:t>的取值范围</a:t>
            </a:r>
            <a:endParaRPr sz="2800">
              <a:latin typeface="微软雅黑"/>
              <a:cs typeface="微软雅黑"/>
            </a:endParaRPr>
          </a:p>
        </p:txBody>
      </p:sp>
      <p:sp>
        <p:nvSpPr>
          <p:cNvPr id="11" name="object 11"/>
          <p:cNvSpPr/>
          <p:nvPr/>
        </p:nvSpPr>
        <p:spPr>
          <a:xfrm>
            <a:off x="6174359" y="6027039"/>
            <a:ext cx="5654040" cy="570865"/>
          </a:xfrm>
          <a:custGeom>
            <a:avLst/>
            <a:gdLst/>
            <a:ahLst/>
            <a:cxnLst/>
            <a:rect l="l" t="t" r="r" b="b"/>
            <a:pathLst>
              <a:path w="5654040" h="570865">
                <a:moveTo>
                  <a:pt x="0" y="570407"/>
                </a:moveTo>
                <a:lnTo>
                  <a:pt x="5653786" y="570407"/>
                </a:lnTo>
                <a:lnTo>
                  <a:pt x="5653786" y="0"/>
                </a:lnTo>
                <a:lnTo>
                  <a:pt x="0" y="0"/>
                </a:lnTo>
                <a:lnTo>
                  <a:pt x="0" y="570407"/>
                </a:lnTo>
                <a:close/>
              </a:path>
            </a:pathLst>
          </a:custGeom>
          <a:solidFill>
            <a:srgbClr val="FFFFFF"/>
          </a:solidFill>
        </p:spPr>
        <p:txBody>
          <a:bodyPr wrap="square" lIns="0" tIns="0" rIns="0" bIns="0" rtlCol="0"/>
          <a:lstStyle/>
          <a:p>
            <a:endParaRPr/>
          </a:p>
        </p:txBody>
      </p:sp>
      <p:sp>
        <p:nvSpPr>
          <p:cNvPr id="13" name="object 13"/>
          <p:cNvSpPr/>
          <p:nvPr/>
        </p:nvSpPr>
        <p:spPr>
          <a:xfrm>
            <a:off x="8638793" y="160781"/>
            <a:ext cx="3281679" cy="1653539"/>
          </a:xfrm>
          <a:custGeom>
            <a:avLst/>
            <a:gdLst/>
            <a:ahLst/>
            <a:cxnLst/>
            <a:rect l="l" t="t" r="r" b="b"/>
            <a:pathLst>
              <a:path w="3281679" h="1653539">
                <a:moveTo>
                  <a:pt x="3005581" y="0"/>
                </a:moveTo>
                <a:lnTo>
                  <a:pt x="275589" y="0"/>
                </a:lnTo>
                <a:lnTo>
                  <a:pt x="252995" y="913"/>
                </a:lnTo>
                <a:lnTo>
                  <a:pt x="209381" y="8012"/>
                </a:lnTo>
                <a:lnTo>
                  <a:pt x="168342" y="21665"/>
                </a:lnTo>
                <a:lnTo>
                  <a:pt x="130446" y="41303"/>
                </a:lnTo>
                <a:lnTo>
                  <a:pt x="96262" y="66358"/>
                </a:lnTo>
                <a:lnTo>
                  <a:pt x="66358" y="96262"/>
                </a:lnTo>
                <a:lnTo>
                  <a:pt x="41303" y="130446"/>
                </a:lnTo>
                <a:lnTo>
                  <a:pt x="21665" y="168342"/>
                </a:lnTo>
                <a:lnTo>
                  <a:pt x="8012" y="209381"/>
                </a:lnTo>
                <a:lnTo>
                  <a:pt x="913" y="252995"/>
                </a:lnTo>
                <a:lnTo>
                  <a:pt x="0" y="275590"/>
                </a:lnTo>
                <a:lnTo>
                  <a:pt x="0" y="1377950"/>
                </a:lnTo>
                <a:lnTo>
                  <a:pt x="3608" y="1422637"/>
                </a:lnTo>
                <a:lnTo>
                  <a:pt x="14055" y="1465035"/>
                </a:lnTo>
                <a:lnTo>
                  <a:pt x="30771" y="1504573"/>
                </a:lnTo>
                <a:lnTo>
                  <a:pt x="53189" y="1540684"/>
                </a:lnTo>
                <a:lnTo>
                  <a:pt x="80740" y="1572799"/>
                </a:lnTo>
                <a:lnTo>
                  <a:pt x="112855" y="1600350"/>
                </a:lnTo>
                <a:lnTo>
                  <a:pt x="148966" y="1622768"/>
                </a:lnTo>
                <a:lnTo>
                  <a:pt x="188504" y="1639484"/>
                </a:lnTo>
                <a:lnTo>
                  <a:pt x="230902" y="1649931"/>
                </a:lnTo>
                <a:lnTo>
                  <a:pt x="275589" y="1653540"/>
                </a:lnTo>
                <a:lnTo>
                  <a:pt x="3005581" y="1653540"/>
                </a:lnTo>
                <a:lnTo>
                  <a:pt x="3050269" y="1649931"/>
                </a:lnTo>
                <a:lnTo>
                  <a:pt x="3092667" y="1639484"/>
                </a:lnTo>
                <a:lnTo>
                  <a:pt x="3132205" y="1622768"/>
                </a:lnTo>
                <a:lnTo>
                  <a:pt x="3168316" y="1600350"/>
                </a:lnTo>
                <a:lnTo>
                  <a:pt x="3200431" y="1572799"/>
                </a:lnTo>
                <a:lnTo>
                  <a:pt x="3227982" y="1540684"/>
                </a:lnTo>
                <a:lnTo>
                  <a:pt x="3250400" y="1504573"/>
                </a:lnTo>
                <a:lnTo>
                  <a:pt x="3267116" y="1465035"/>
                </a:lnTo>
                <a:lnTo>
                  <a:pt x="3277563" y="1422637"/>
                </a:lnTo>
                <a:lnTo>
                  <a:pt x="3281172" y="1377950"/>
                </a:lnTo>
                <a:lnTo>
                  <a:pt x="3281172" y="275590"/>
                </a:lnTo>
                <a:lnTo>
                  <a:pt x="3277563" y="230902"/>
                </a:lnTo>
                <a:lnTo>
                  <a:pt x="3267116" y="188504"/>
                </a:lnTo>
                <a:lnTo>
                  <a:pt x="3250400" y="148966"/>
                </a:lnTo>
                <a:lnTo>
                  <a:pt x="3227982" y="112855"/>
                </a:lnTo>
                <a:lnTo>
                  <a:pt x="3200431" y="80740"/>
                </a:lnTo>
                <a:lnTo>
                  <a:pt x="3168316" y="53189"/>
                </a:lnTo>
                <a:lnTo>
                  <a:pt x="3132205" y="30771"/>
                </a:lnTo>
                <a:lnTo>
                  <a:pt x="3092667" y="14055"/>
                </a:lnTo>
                <a:lnTo>
                  <a:pt x="3050269" y="3608"/>
                </a:lnTo>
                <a:lnTo>
                  <a:pt x="3005581" y="0"/>
                </a:lnTo>
                <a:close/>
              </a:path>
            </a:pathLst>
          </a:custGeom>
          <a:solidFill>
            <a:srgbClr val="FFFFC7"/>
          </a:solidFill>
        </p:spPr>
        <p:txBody>
          <a:bodyPr wrap="square" lIns="0" tIns="0" rIns="0" bIns="0" rtlCol="0"/>
          <a:lstStyle/>
          <a:p>
            <a:endParaRPr/>
          </a:p>
        </p:txBody>
      </p:sp>
      <p:sp>
        <p:nvSpPr>
          <p:cNvPr id="14" name="object 14"/>
          <p:cNvSpPr/>
          <p:nvPr/>
        </p:nvSpPr>
        <p:spPr>
          <a:xfrm>
            <a:off x="8638793" y="160781"/>
            <a:ext cx="3281679" cy="1653539"/>
          </a:xfrm>
          <a:custGeom>
            <a:avLst/>
            <a:gdLst/>
            <a:ahLst/>
            <a:cxnLst/>
            <a:rect l="l" t="t" r="r" b="b"/>
            <a:pathLst>
              <a:path w="3281679" h="1653539">
                <a:moveTo>
                  <a:pt x="0" y="275590"/>
                </a:moveTo>
                <a:lnTo>
                  <a:pt x="3608" y="230902"/>
                </a:lnTo>
                <a:lnTo>
                  <a:pt x="14055" y="188504"/>
                </a:lnTo>
                <a:lnTo>
                  <a:pt x="30771" y="148966"/>
                </a:lnTo>
                <a:lnTo>
                  <a:pt x="53189" y="112855"/>
                </a:lnTo>
                <a:lnTo>
                  <a:pt x="80740" y="80740"/>
                </a:lnTo>
                <a:lnTo>
                  <a:pt x="112855" y="53189"/>
                </a:lnTo>
                <a:lnTo>
                  <a:pt x="148966" y="30771"/>
                </a:lnTo>
                <a:lnTo>
                  <a:pt x="188504" y="14055"/>
                </a:lnTo>
                <a:lnTo>
                  <a:pt x="230902" y="3608"/>
                </a:lnTo>
                <a:lnTo>
                  <a:pt x="275589" y="0"/>
                </a:lnTo>
                <a:lnTo>
                  <a:pt x="546861" y="0"/>
                </a:lnTo>
                <a:lnTo>
                  <a:pt x="1367154" y="0"/>
                </a:lnTo>
                <a:lnTo>
                  <a:pt x="3005581" y="0"/>
                </a:lnTo>
                <a:lnTo>
                  <a:pt x="3028176" y="913"/>
                </a:lnTo>
                <a:lnTo>
                  <a:pt x="3071790" y="8012"/>
                </a:lnTo>
                <a:lnTo>
                  <a:pt x="3112829" y="21665"/>
                </a:lnTo>
                <a:lnTo>
                  <a:pt x="3150725" y="41303"/>
                </a:lnTo>
                <a:lnTo>
                  <a:pt x="3184909" y="66358"/>
                </a:lnTo>
                <a:lnTo>
                  <a:pt x="3214813" y="96262"/>
                </a:lnTo>
                <a:lnTo>
                  <a:pt x="3239868" y="130446"/>
                </a:lnTo>
                <a:lnTo>
                  <a:pt x="3259506" y="168342"/>
                </a:lnTo>
                <a:lnTo>
                  <a:pt x="3273159" y="209381"/>
                </a:lnTo>
                <a:lnTo>
                  <a:pt x="3280258" y="252995"/>
                </a:lnTo>
                <a:lnTo>
                  <a:pt x="3281172" y="275590"/>
                </a:lnTo>
                <a:lnTo>
                  <a:pt x="3281172" y="964565"/>
                </a:lnTo>
                <a:lnTo>
                  <a:pt x="3281172" y="1377950"/>
                </a:lnTo>
                <a:lnTo>
                  <a:pt x="3280258" y="1400544"/>
                </a:lnTo>
                <a:lnTo>
                  <a:pt x="3277563" y="1422637"/>
                </a:lnTo>
                <a:lnTo>
                  <a:pt x="3267116" y="1465035"/>
                </a:lnTo>
                <a:lnTo>
                  <a:pt x="3250400" y="1504573"/>
                </a:lnTo>
                <a:lnTo>
                  <a:pt x="3227982" y="1540684"/>
                </a:lnTo>
                <a:lnTo>
                  <a:pt x="3200431" y="1572799"/>
                </a:lnTo>
                <a:lnTo>
                  <a:pt x="3168316" y="1600350"/>
                </a:lnTo>
                <a:lnTo>
                  <a:pt x="3132205" y="1622768"/>
                </a:lnTo>
                <a:lnTo>
                  <a:pt x="3092667" y="1639484"/>
                </a:lnTo>
                <a:lnTo>
                  <a:pt x="3050269" y="1649931"/>
                </a:lnTo>
                <a:lnTo>
                  <a:pt x="3005581" y="1653540"/>
                </a:lnTo>
                <a:lnTo>
                  <a:pt x="1367154" y="1653540"/>
                </a:lnTo>
                <a:lnTo>
                  <a:pt x="1159382" y="1653540"/>
                </a:lnTo>
                <a:lnTo>
                  <a:pt x="546861" y="1653540"/>
                </a:lnTo>
                <a:lnTo>
                  <a:pt x="275589" y="1653540"/>
                </a:lnTo>
                <a:lnTo>
                  <a:pt x="252995" y="1652626"/>
                </a:lnTo>
                <a:lnTo>
                  <a:pt x="209381" y="1645527"/>
                </a:lnTo>
                <a:lnTo>
                  <a:pt x="168342" y="1631874"/>
                </a:lnTo>
                <a:lnTo>
                  <a:pt x="130446" y="1612236"/>
                </a:lnTo>
                <a:lnTo>
                  <a:pt x="96262" y="1587181"/>
                </a:lnTo>
                <a:lnTo>
                  <a:pt x="66358" y="1557277"/>
                </a:lnTo>
                <a:lnTo>
                  <a:pt x="41303" y="1523093"/>
                </a:lnTo>
                <a:lnTo>
                  <a:pt x="21665" y="1485197"/>
                </a:lnTo>
                <a:lnTo>
                  <a:pt x="8012" y="1444158"/>
                </a:lnTo>
                <a:lnTo>
                  <a:pt x="913" y="1400544"/>
                </a:lnTo>
                <a:lnTo>
                  <a:pt x="0" y="1377950"/>
                </a:lnTo>
                <a:lnTo>
                  <a:pt x="0" y="964565"/>
                </a:lnTo>
                <a:lnTo>
                  <a:pt x="0" y="275590"/>
                </a:lnTo>
                <a:close/>
              </a:path>
            </a:pathLst>
          </a:custGeom>
          <a:ln w="28956">
            <a:solidFill>
              <a:srgbClr val="000000"/>
            </a:solidFill>
          </a:ln>
        </p:spPr>
        <p:txBody>
          <a:bodyPr wrap="square" lIns="0" tIns="0" rIns="0" bIns="0" rtlCol="0"/>
          <a:lstStyle/>
          <a:p>
            <a:endParaRPr/>
          </a:p>
        </p:txBody>
      </p:sp>
      <p:sp>
        <p:nvSpPr>
          <p:cNvPr id="15" name="object 15"/>
          <p:cNvSpPr txBox="1">
            <a:spLocks noGrp="1"/>
          </p:cNvSpPr>
          <p:nvPr>
            <p:ph type="title"/>
          </p:nvPr>
        </p:nvSpPr>
        <p:spPr>
          <a:xfrm>
            <a:off x="9499472" y="273367"/>
            <a:ext cx="1557020" cy="330200"/>
          </a:xfrm>
          <a:prstGeom prst="rect">
            <a:avLst/>
          </a:prstGeom>
        </p:spPr>
        <p:txBody>
          <a:bodyPr vert="horz" wrap="square" lIns="0" tIns="0" rIns="0" bIns="0" rtlCol="0">
            <a:spAutoFit/>
          </a:bodyPr>
          <a:lstStyle/>
          <a:p>
            <a:pPr marL="12700">
              <a:lnSpc>
                <a:spcPts val="2840"/>
              </a:lnSpc>
            </a:pPr>
            <a:r>
              <a:rPr sz="2400" dirty="0">
                <a:latin typeface="宋体"/>
                <a:cs typeface="宋体"/>
              </a:rPr>
              <a:t>匹配的含义</a:t>
            </a:r>
            <a:endParaRPr sz="2400">
              <a:latin typeface="宋体"/>
              <a:cs typeface="宋体"/>
            </a:endParaRPr>
          </a:p>
        </p:txBody>
      </p:sp>
      <p:sp>
        <p:nvSpPr>
          <p:cNvPr id="16" name="object 16"/>
          <p:cNvSpPr txBox="1"/>
          <p:nvPr/>
        </p:nvSpPr>
        <p:spPr>
          <a:xfrm>
            <a:off x="8798432" y="638865"/>
            <a:ext cx="2900045" cy="1098550"/>
          </a:xfrm>
          <a:prstGeom prst="rect">
            <a:avLst/>
          </a:prstGeom>
        </p:spPr>
        <p:txBody>
          <a:bodyPr vert="horz" wrap="square" lIns="0" tIns="0" rIns="0" bIns="0" rtlCol="0">
            <a:spAutoFit/>
          </a:bodyPr>
          <a:lstStyle/>
          <a:p>
            <a:pPr marL="12700">
              <a:lnSpc>
                <a:spcPct val="100000"/>
              </a:lnSpc>
            </a:pPr>
            <a:r>
              <a:rPr sz="2400" b="1" spc="-5" dirty="0">
                <a:latin typeface="Consolas"/>
                <a:cs typeface="Consolas"/>
              </a:rPr>
              <a:t>TIMx_CNT</a:t>
            </a:r>
            <a:r>
              <a:rPr sz="2400" b="1" dirty="0">
                <a:latin typeface="宋体"/>
                <a:cs typeface="宋体"/>
              </a:rPr>
              <a:t>（当前计数</a:t>
            </a:r>
            <a:endParaRPr sz="2400">
              <a:latin typeface="宋体"/>
              <a:cs typeface="宋体"/>
            </a:endParaRPr>
          </a:p>
          <a:p>
            <a:pPr marL="12700">
              <a:lnSpc>
                <a:spcPct val="100000"/>
              </a:lnSpc>
            </a:pPr>
            <a:r>
              <a:rPr sz="2400" b="1" dirty="0">
                <a:latin typeface="宋体"/>
                <a:cs typeface="宋体"/>
              </a:rPr>
              <a:t>值）等于</a:t>
            </a:r>
            <a:r>
              <a:rPr sz="2400" b="1" spc="-5" dirty="0">
                <a:latin typeface="Consolas"/>
                <a:cs typeface="Consolas"/>
              </a:rPr>
              <a:t>TIMx_CCR</a:t>
            </a:r>
            <a:endParaRPr sz="2400">
              <a:latin typeface="Consolas"/>
              <a:cs typeface="Consolas"/>
            </a:endParaRPr>
          </a:p>
          <a:p>
            <a:pPr marL="12700">
              <a:lnSpc>
                <a:spcPct val="100000"/>
              </a:lnSpc>
            </a:pPr>
            <a:r>
              <a:rPr sz="2400" b="1" dirty="0">
                <a:latin typeface="宋体"/>
                <a:cs typeface="宋体"/>
              </a:rPr>
              <a:t>（捕获</a:t>
            </a:r>
            <a:r>
              <a:rPr sz="2400" b="1" spc="-5" dirty="0">
                <a:latin typeface="Consolas"/>
                <a:cs typeface="Consolas"/>
              </a:rPr>
              <a:t>/</a:t>
            </a:r>
            <a:r>
              <a:rPr sz="2400" b="1" dirty="0">
                <a:latin typeface="宋体"/>
                <a:cs typeface="宋体"/>
              </a:rPr>
              <a:t>比较值）</a:t>
            </a:r>
            <a:endParaRPr sz="2400">
              <a:latin typeface="宋体"/>
              <a:cs typeface="宋体"/>
            </a:endParaRPr>
          </a:p>
        </p:txBody>
      </p:sp>
      <p:graphicFrame>
        <p:nvGraphicFramePr>
          <p:cNvPr id="12" name="object 12"/>
          <p:cNvGraphicFramePr>
            <a:graphicFrameLocks noGrp="1"/>
          </p:cNvGraphicFramePr>
          <p:nvPr/>
        </p:nvGraphicFramePr>
        <p:xfrm>
          <a:off x="408495" y="1896427"/>
          <a:ext cx="11405361" cy="4686726"/>
        </p:xfrm>
        <a:graphic>
          <a:graphicData uri="http://schemas.openxmlformats.org/drawingml/2006/table">
            <a:tbl>
              <a:tblPr firstRow="1" bandRow="1">
                <a:tableStyleId>{2D5ABB26-0587-4C30-8999-92F81FD0307C}</a:tableStyleId>
              </a:tblPr>
              <a:tblGrid>
                <a:gridCol w="984631">
                  <a:extLst>
                    <a:ext uri="{9D8B030D-6E8A-4147-A177-3AD203B41FA5}">
                      <a16:colId xmlns:a16="http://schemas.microsoft.com/office/drawing/2014/main" val="20000"/>
                    </a:ext>
                  </a:extLst>
                </a:gridCol>
                <a:gridCol w="4766945">
                  <a:extLst>
                    <a:ext uri="{9D8B030D-6E8A-4147-A177-3AD203B41FA5}">
                      <a16:colId xmlns:a16="http://schemas.microsoft.com/office/drawing/2014/main" val="20001"/>
                    </a:ext>
                  </a:extLst>
                </a:gridCol>
                <a:gridCol w="2650362">
                  <a:extLst>
                    <a:ext uri="{9D8B030D-6E8A-4147-A177-3AD203B41FA5}">
                      <a16:colId xmlns:a16="http://schemas.microsoft.com/office/drawing/2014/main" val="20002"/>
                    </a:ext>
                  </a:extLst>
                </a:gridCol>
                <a:gridCol w="3003423">
                  <a:extLst>
                    <a:ext uri="{9D8B030D-6E8A-4147-A177-3AD203B41FA5}">
                      <a16:colId xmlns:a16="http://schemas.microsoft.com/office/drawing/2014/main" val="20003"/>
                    </a:ext>
                  </a:extLst>
                </a:gridCol>
              </a:tblGrid>
              <a:tr h="493902">
                <a:tc gridSpan="2">
                  <a:txBody>
                    <a:bodyPr/>
                    <a:lstStyle/>
                    <a:p>
                      <a:pPr algn="ctr">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tc gridSpan="2">
                  <a:txBody>
                    <a:bodyPr/>
                    <a:lstStyle/>
                    <a:p>
                      <a:pPr marL="2540"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493903">
                <a:tc gridSpan="2">
                  <a:txBody>
                    <a:bodyPr/>
                    <a:lstStyle/>
                    <a:p>
                      <a:pPr marL="1104900">
                        <a:lnSpc>
                          <a:spcPct val="100000"/>
                        </a:lnSpc>
                      </a:pPr>
                      <a:r>
                        <a:rPr sz="2400" b="1" spc="-5" dirty="0">
                          <a:latin typeface="微软雅黑"/>
                          <a:cs typeface="微软雅黑"/>
                        </a:rPr>
                        <a:t>TIM_O</a:t>
                      </a:r>
                      <a:r>
                        <a:rPr sz="2400" b="1" spc="5" dirty="0">
                          <a:latin typeface="微软雅黑"/>
                          <a:cs typeface="微软雅黑"/>
                        </a:rPr>
                        <a:t>C</a:t>
                      </a:r>
                      <a:r>
                        <a:rPr sz="2400" b="1" spc="-5" dirty="0">
                          <a:latin typeface="微软雅黑"/>
                          <a:cs typeface="微软雅黑"/>
                        </a:rPr>
                        <a:t>MO</a:t>
                      </a:r>
                      <a:r>
                        <a:rPr sz="2400" b="1" spc="-15" dirty="0">
                          <a:latin typeface="微软雅黑"/>
                          <a:cs typeface="微软雅黑"/>
                        </a:rPr>
                        <a:t>D</a:t>
                      </a:r>
                      <a:r>
                        <a:rPr sz="2400" b="1" dirty="0">
                          <a:latin typeface="微软雅黑"/>
                          <a:cs typeface="微软雅黑"/>
                        </a:rPr>
                        <a:t>E_TIM</a:t>
                      </a:r>
                      <a:r>
                        <a:rPr sz="2400" b="1" spc="-25" dirty="0">
                          <a:latin typeface="微软雅黑"/>
                          <a:cs typeface="微软雅黑"/>
                        </a:rPr>
                        <a:t>I</a:t>
                      </a:r>
                      <a:r>
                        <a:rPr sz="2400" b="1" spc="-5" dirty="0">
                          <a:latin typeface="微软雅黑"/>
                          <a:cs typeface="微软雅黑"/>
                        </a:rPr>
                        <a:t>NG</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hMerge="1">
                  <a:txBody>
                    <a:bodyPr/>
                    <a:lstStyle/>
                    <a:p>
                      <a:endParaRPr/>
                    </a:p>
                  </a:txBody>
                  <a:tcPr marL="0" marR="0" marT="0" marB="0"/>
                </a:tc>
                <a:tc gridSpan="2">
                  <a:txBody>
                    <a:bodyPr/>
                    <a:lstStyle/>
                    <a:p>
                      <a:pPr marL="283210">
                        <a:lnSpc>
                          <a:spcPct val="100000"/>
                        </a:lnSpc>
                      </a:pPr>
                      <a:r>
                        <a:rPr sz="2400" b="1" spc="-5" dirty="0">
                          <a:latin typeface="微软雅黑"/>
                          <a:cs typeface="微软雅黑"/>
                        </a:rPr>
                        <a:t>输出比较冻结模式，匹配时无通道输出</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hMerge="1">
                  <a:txBody>
                    <a:bodyPr/>
                    <a:lstStyle/>
                    <a:p>
                      <a:endParaRPr/>
                    </a:p>
                  </a:txBody>
                  <a:tcPr marL="0" marR="0" marT="0" marB="0"/>
                </a:tc>
                <a:extLst>
                  <a:ext uri="{0D108BD9-81ED-4DB2-BD59-A6C34878D82A}">
                    <a16:rowId xmlns:a16="http://schemas.microsoft.com/office/drawing/2014/main" val="10001"/>
                  </a:ext>
                </a:extLst>
              </a:tr>
              <a:tr h="493902">
                <a:tc gridSpan="2">
                  <a:txBody>
                    <a:bodyPr/>
                    <a:lstStyle/>
                    <a:p>
                      <a:pPr marL="1147445">
                        <a:lnSpc>
                          <a:spcPct val="100000"/>
                        </a:lnSpc>
                      </a:pPr>
                      <a:r>
                        <a:rPr sz="2400" b="1" spc="-5" dirty="0">
                          <a:latin typeface="微软雅黑"/>
                          <a:cs typeface="微软雅黑"/>
                        </a:rPr>
                        <a:t>TIM_O</a:t>
                      </a:r>
                      <a:r>
                        <a:rPr sz="2400" b="1" spc="5" dirty="0">
                          <a:latin typeface="微软雅黑"/>
                          <a:cs typeface="微软雅黑"/>
                        </a:rPr>
                        <a:t>C</a:t>
                      </a:r>
                      <a:r>
                        <a:rPr sz="2400" b="1" spc="-5" dirty="0">
                          <a:latin typeface="微软雅黑"/>
                          <a:cs typeface="微软雅黑"/>
                        </a:rPr>
                        <a:t>MO</a:t>
                      </a:r>
                      <a:r>
                        <a:rPr sz="2400" b="1" spc="-15" dirty="0">
                          <a:latin typeface="微软雅黑"/>
                          <a:cs typeface="微软雅黑"/>
                        </a:rPr>
                        <a:t>D</a:t>
                      </a:r>
                      <a:r>
                        <a:rPr sz="2400" b="1" dirty="0">
                          <a:latin typeface="微软雅黑"/>
                          <a:cs typeface="微软雅黑"/>
                        </a:rPr>
                        <a:t>E_</a:t>
                      </a:r>
                      <a:r>
                        <a:rPr sz="2400" b="1" spc="-50" dirty="0">
                          <a:latin typeface="微软雅黑"/>
                          <a:cs typeface="微软雅黑"/>
                        </a:rPr>
                        <a:t>A</a:t>
                      </a:r>
                      <a:r>
                        <a:rPr sz="2400" b="1" spc="-5" dirty="0">
                          <a:latin typeface="微软雅黑"/>
                          <a:cs typeface="微软雅黑"/>
                        </a:rPr>
                        <a:t>CT</a:t>
                      </a:r>
                      <a:r>
                        <a:rPr sz="2400" b="1" spc="-15" dirty="0">
                          <a:latin typeface="微软雅黑"/>
                          <a:cs typeface="微软雅黑"/>
                        </a:rPr>
                        <a:t>I</a:t>
                      </a:r>
                      <a:r>
                        <a:rPr sz="2400" b="1" dirty="0">
                          <a:latin typeface="微软雅黑"/>
                          <a:cs typeface="微软雅黑"/>
                        </a:rPr>
                        <a:t>VE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gridSpan="2">
                  <a:txBody>
                    <a:bodyPr/>
                    <a:lstStyle/>
                    <a:p>
                      <a:pPr marL="283210">
                        <a:lnSpc>
                          <a:spcPct val="100000"/>
                        </a:lnSpc>
                      </a:pPr>
                      <a:r>
                        <a:rPr sz="2400" b="1" spc="-5" dirty="0">
                          <a:latin typeface="微软雅黑"/>
                          <a:cs typeface="微软雅黑"/>
                        </a:rPr>
                        <a:t>匹配时设置通道输出为有效电平</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493902">
                <a:tc gridSpan="2">
                  <a:txBody>
                    <a:bodyPr/>
                    <a:lstStyle/>
                    <a:p>
                      <a:pPr marL="96774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5" dirty="0">
                          <a:latin typeface="微软雅黑"/>
                          <a:cs typeface="微软雅黑"/>
                        </a:rPr>
                        <a:t>MO</a:t>
                      </a:r>
                      <a:r>
                        <a:rPr sz="2400" b="1" spc="-10" dirty="0">
                          <a:latin typeface="微软雅黑"/>
                          <a:cs typeface="微软雅黑"/>
                        </a:rPr>
                        <a:t>D</a:t>
                      </a:r>
                      <a:r>
                        <a:rPr sz="2400" b="1" dirty="0">
                          <a:latin typeface="微软雅黑"/>
                          <a:cs typeface="微软雅黑"/>
                        </a:rPr>
                        <a:t>E_IN</a:t>
                      </a:r>
                      <a:r>
                        <a:rPr sz="2400" b="1" spc="-40" dirty="0">
                          <a:latin typeface="微软雅黑"/>
                          <a:cs typeface="微软雅黑"/>
                        </a:rPr>
                        <a:t>A</a:t>
                      </a:r>
                      <a:r>
                        <a:rPr sz="2400" b="1" spc="-5" dirty="0">
                          <a:latin typeface="微软雅黑"/>
                          <a:cs typeface="微软雅黑"/>
                        </a:rPr>
                        <a:t>CTI</a:t>
                      </a:r>
                      <a:r>
                        <a:rPr sz="2400" b="1" spc="-10" dirty="0">
                          <a:latin typeface="微软雅黑"/>
                          <a:cs typeface="微软雅黑"/>
                        </a:rPr>
                        <a:t>V</a:t>
                      </a:r>
                      <a:r>
                        <a:rPr sz="2400" b="1" dirty="0">
                          <a:latin typeface="微软雅黑"/>
                          <a:cs typeface="微软雅黑"/>
                        </a:rPr>
                        <a:t>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hMerge="1">
                  <a:txBody>
                    <a:bodyPr/>
                    <a:lstStyle/>
                    <a:p>
                      <a:endParaRPr/>
                    </a:p>
                  </a:txBody>
                  <a:tcPr marL="0" marR="0" marT="0" marB="0"/>
                </a:tc>
                <a:tc gridSpan="2">
                  <a:txBody>
                    <a:bodyPr/>
                    <a:lstStyle/>
                    <a:p>
                      <a:pPr marL="283210">
                        <a:lnSpc>
                          <a:spcPct val="100000"/>
                        </a:lnSpc>
                      </a:pPr>
                      <a:r>
                        <a:rPr sz="2400" b="1" dirty="0">
                          <a:latin typeface="微软雅黑"/>
                          <a:cs typeface="微软雅黑"/>
                        </a:rPr>
                        <a:t>匹配时设置通道输出为无效电平</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hMerge="1">
                  <a:txBody>
                    <a:bodyPr/>
                    <a:lstStyle/>
                    <a:p>
                      <a:endParaRPr/>
                    </a:p>
                  </a:txBody>
                  <a:tcPr marL="0" marR="0" marT="0" marB="0"/>
                </a:tc>
                <a:extLst>
                  <a:ext uri="{0D108BD9-81ED-4DB2-BD59-A6C34878D82A}">
                    <a16:rowId xmlns:a16="http://schemas.microsoft.com/office/drawing/2014/main" val="10003"/>
                  </a:ext>
                </a:extLst>
              </a:tr>
              <a:tr h="707786">
                <a:tc gridSpan="2">
                  <a:txBody>
                    <a:bodyPr/>
                    <a:lstStyle/>
                    <a:p>
                      <a:pPr marL="1086485">
                        <a:lnSpc>
                          <a:spcPct val="100000"/>
                        </a:lnSpc>
                      </a:pPr>
                      <a:r>
                        <a:rPr sz="2400" b="1" spc="-5" dirty="0">
                          <a:latin typeface="微软雅黑"/>
                          <a:cs typeface="微软雅黑"/>
                        </a:rPr>
                        <a:t>TI</a:t>
                      </a:r>
                      <a:r>
                        <a:rPr sz="2400" b="1" spc="5" dirty="0">
                          <a:latin typeface="微软雅黑"/>
                          <a:cs typeface="微软雅黑"/>
                        </a:rPr>
                        <a:t>M</a:t>
                      </a:r>
                      <a:r>
                        <a:rPr sz="2400" b="1" spc="-5" dirty="0">
                          <a:latin typeface="微软雅黑"/>
                          <a:cs typeface="微软雅黑"/>
                        </a:rPr>
                        <a:t>_</a:t>
                      </a:r>
                      <a:r>
                        <a:rPr sz="2400" b="1" spc="10" dirty="0">
                          <a:latin typeface="微软雅黑"/>
                          <a:cs typeface="微软雅黑"/>
                        </a:rPr>
                        <a:t>O</a:t>
                      </a:r>
                      <a:r>
                        <a:rPr sz="2400" b="1" spc="-5" dirty="0">
                          <a:latin typeface="微软雅黑"/>
                          <a:cs typeface="微软雅黑"/>
                        </a:rPr>
                        <a:t>C</a:t>
                      </a:r>
                      <a:r>
                        <a:rPr sz="2400" b="1" spc="10" dirty="0">
                          <a:latin typeface="微软雅黑"/>
                          <a:cs typeface="微软雅黑"/>
                        </a:rPr>
                        <a:t>M</a:t>
                      </a:r>
                      <a:r>
                        <a:rPr sz="2400" b="1" spc="-5" dirty="0">
                          <a:latin typeface="微软雅黑"/>
                          <a:cs typeface="微软雅黑"/>
                        </a:rPr>
                        <a:t>O</a:t>
                      </a:r>
                      <a:r>
                        <a:rPr sz="2400" b="1" spc="-10" dirty="0">
                          <a:latin typeface="微软雅黑"/>
                          <a:cs typeface="微软雅黑"/>
                        </a:rPr>
                        <a:t>D</a:t>
                      </a:r>
                      <a:r>
                        <a:rPr sz="2400" b="1" dirty="0">
                          <a:latin typeface="微软雅黑"/>
                          <a:cs typeface="微软雅黑"/>
                        </a:rPr>
                        <a:t>E_</a:t>
                      </a:r>
                      <a:r>
                        <a:rPr sz="2400" b="1" spc="-95" dirty="0">
                          <a:latin typeface="微软雅黑"/>
                          <a:cs typeface="微软雅黑"/>
                        </a:rPr>
                        <a:t>T</a:t>
                      </a:r>
                      <a:r>
                        <a:rPr sz="2400" b="1" dirty="0">
                          <a:latin typeface="微软雅黑"/>
                          <a:cs typeface="微软雅黑"/>
                        </a:rPr>
                        <a:t>O</a:t>
                      </a:r>
                      <a:r>
                        <a:rPr sz="2400" b="1" spc="-5" dirty="0">
                          <a:latin typeface="微软雅黑"/>
                          <a:cs typeface="微软雅黑"/>
                        </a:rPr>
                        <a:t>GGLE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38100">
                      <a:solidFill>
                        <a:srgbClr val="FF0000"/>
                      </a:solidFill>
                      <a:prstDash val="solid"/>
                    </a:lnB>
                  </a:tcPr>
                </a:tc>
                <a:tc hMerge="1">
                  <a:txBody>
                    <a:bodyPr/>
                    <a:lstStyle/>
                    <a:p>
                      <a:endParaRPr/>
                    </a:p>
                  </a:txBody>
                  <a:tcPr marL="0" marR="0" marT="0" marB="0"/>
                </a:tc>
                <a:tc gridSpan="2">
                  <a:txBody>
                    <a:bodyPr/>
                    <a:lstStyle/>
                    <a:p>
                      <a:pPr marL="283210">
                        <a:lnSpc>
                          <a:spcPct val="100000"/>
                        </a:lnSpc>
                      </a:pPr>
                      <a:r>
                        <a:rPr sz="2400" b="1" dirty="0">
                          <a:latin typeface="微软雅黑"/>
                          <a:cs typeface="微软雅黑"/>
                        </a:rPr>
                        <a:t>匹配时设置通道输出电平翻转</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38100">
                      <a:solidFill>
                        <a:srgbClr val="FF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r h="445119">
                <a:tc>
                  <a:txBody>
                    <a:bodyPr/>
                    <a:lstStyle/>
                    <a:p>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lnT w="38100" cap="flat" cmpd="sng" algn="ctr">
                      <a:solidFill>
                        <a:srgbClr val="FF0000"/>
                      </a:solidFill>
                      <a:prstDash val="solid"/>
                      <a:round/>
                      <a:headEnd type="none" w="med" len="med"/>
                      <a:tailEnd type="none" w="med" len="med"/>
                    </a:lnT>
                    <a:lnB w="28575">
                      <a:solidFill>
                        <a:srgbClr val="000000"/>
                      </a:solidFill>
                      <a:prstDash val="solid"/>
                    </a:lnB>
                    <a:solidFill>
                      <a:srgbClr val="EAEEF7"/>
                    </a:solidFill>
                  </a:tcPr>
                </a:tc>
                <a:tc>
                  <a:txBody>
                    <a:bodyPr/>
                    <a:lstStyle/>
                    <a:p>
                      <a:pPr marL="19812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5" dirty="0">
                          <a:latin typeface="微软雅黑"/>
                          <a:cs typeface="微软雅黑"/>
                        </a:rPr>
                        <a:t>MO</a:t>
                      </a:r>
                      <a:r>
                        <a:rPr sz="2400" b="1" spc="-10" dirty="0">
                          <a:latin typeface="微软雅黑"/>
                          <a:cs typeface="微软雅黑"/>
                        </a:rPr>
                        <a:t>D</a:t>
                      </a:r>
                      <a:r>
                        <a:rPr sz="2400" b="1" dirty="0">
                          <a:latin typeface="微软雅黑"/>
                          <a:cs typeface="微软雅黑"/>
                        </a:rPr>
                        <a:t>E_</a:t>
                      </a:r>
                      <a:r>
                        <a:rPr sz="2400" b="1" spc="35" dirty="0">
                          <a:latin typeface="微软雅黑"/>
                          <a:cs typeface="微软雅黑"/>
                        </a:rPr>
                        <a:t>P</a:t>
                      </a:r>
                      <a:r>
                        <a:rPr sz="2400" b="1" spc="-5" dirty="0">
                          <a:latin typeface="微软雅黑"/>
                          <a:cs typeface="微软雅黑"/>
                        </a:rPr>
                        <a:t>WM1</a:t>
                      </a:r>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lnT w="109664">
                      <a:solidFill>
                        <a:srgbClr val="FF0000"/>
                      </a:solidFill>
                      <a:prstDash val="solid"/>
                    </a:lnT>
                    <a:lnB w="28575">
                      <a:solidFill>
                        <a:srgbClr val="000000"/>
                      </a:solidFill>
                      <a:prstDash val="solid"/>
                    </a:lnB>
                    <a:solidFill>
                      <a:srgbClr val="EAEEF7"/>
                    </a:solidFill>
                  </a:tcPr>
                </a:tc>
                <a:tc>
                  <a:txBody>
                    <a:bodyPr/>
                    <a:lstStyle/>
                    <a:p>
                      <a:pPr marL="283210">
                        <a:lnSpc>
                          <a:spcPct val="100000"/>
                        </a:lnSpc>
                      </a:pP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M输</a:t>
                      </a:r>
                      <a:r>
                        <a:rPr sz="2400" b="1" spc="-5" dirty="0">
                          <a:latin typeface="微软雅黑"/>
                          <a:cs typeface="微软雅黑"/>
                        </a:rPr>
                        <a:t>出</a:t>
                      </a:r>
                      <a:r>
                        <a:rPr sz="2400" b="1" dirty="0">
                          <a:latin typeface="微软雅黑"/>
                          <a:cs typeface="微软雅黑"/>
                        </a:rPr>
                        <a:t>模式1</a:t>
                      </a:r>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lnT w="38100" cap="flat" cmpd="sng" algn="ctr">
                      <a:solidFill>
                        <a:srgbClr val="FF0000"/>
                      </a:solidFill>
                      <a:prstDash val="solid"/>
                      <a:round/>
                      <a:headEnd type="none" w="med" len="med"/>
                      <a:tailEnd type="none" w="med" len="med"/>
                    </a:lnT>
                    <a:lnB w="28575">
                      <a:solidFill>
                        <a:srgbClr val="000000"/>
                      </a:solidFill>
                      <a:prstDash val="solid"/>
                    </a:lnB>
                    <a:solidFill>
                      <a:srgbClr val="EAEEF7"/>
                    </a:solidFill>
                  </a:tcPr>
                </a:tc>
                <a:tc>
                  <a:txBody>
                    <a:bodyPr/>
                    <a:lstStyle/>
                    <a:p>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473106">
                <a:tc>
                  <a:txBody>
                    <a:bodyPr/>
                    <a:lstStyle/>
                    <a:p>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lnT w="28575">
                      <a:solidFill>
                        <a:srgbClr val="000000"/>
                      </a:solidFill>
                      <a:prstDash val="solid"/>
                    </a:lnT>
                    <a:lnB w="28575">
                      <a:solidFill>
                        <a:srgbClr val="000000"/>
                      </a:solidFill>
                      <a:prstDash val="solid"/>
                    </a:lnB>
                  </a:tcPr>
                </a:tc>
                <a:tc>
                  <a:txBody>
                    <a:bodyPr/>
                    <a:lstStyle/>
                    <a:p>
                      <a:pPr marL="19812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5" dirty="0">
                          <a:latin typeface="微软雅黑"/>
                          <a:cs typeface="微软雅黑"/>
                        </a:rPr>
                        <a:t>MO</a:t>
                      </a:r>
                      <a:r>
                        <a:rPr sz="2400" b="1" spc="-10" dirty="0">
                          <a:latin typeface="微软雅黑"/>
                          <a:cs typeface="微软雅黑"/>
                        </a:rPr>
                        <a:t>D</a:t>
                      </a:r>
                      <a:r>
                        <a:rPr sz="2400" b="1" dirty="0">
                          <a:latin typeface="微软雅黑"/>
                          <a:cs typeface="微软雅黑"/>
                        </a:rPr>
                        <a:t>E_</a:t>
                      </a:r>
                      <a:r>
                        <a:rPr sz="2400" b="1" spc="35" dirty="0">
                          <a:latin typeface="微软雅黑"/>
                          <a:cs typeface="微软雅黑"/>
                        </a:rPr>
                        <a:t>P</a:t>
                      </a:r>
                      <a:r>
                        <a:rPr sz="2400" b="1" spc="-5" dirty="0">
                          <a:latin typeface="微软雅黑"/>
                          <a:cs typeface="微软雅黑"/>
                        </a:rPr>
                        <a:t>WM2</a:t>
                      </a:r>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lnT w="28575">
                      <a:solidFill>
                        <a:srgbClr val="000000"/>
                      </a:solidFill>
                      <a:prstDash val="solid"/>
                    </a:lnT>
                    <a:lnB w="70167">
                      <a:solidFill>
                        <a:srgbClr val="FF0000"/>
                      </a:solidFill>
                      <a:prstDash val="solid"/>
                    </a:lnB>
                  </a:tcPr>
                </a:tc>
                <a:tc>
                  <a:txBody>
                    <a:bodyPr/>
                    <a:lstStyle/>
                    <a:p>
                      <a:pPr marL="283210">
                        <a:lnSpc>
                          <a:spcPct val="100000"/>
                        </a:lnSpc>
                      </a:pP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M输</a:t>
                      </a:r>
                      <a:r>
                        <a:rPr sz="2400" b="1" spc="-5" dirty="0">
                          <a:latin typeface="微软雅黑"/>
                          <a:cs typeface="微软雅黑"/>
                        </a:rPr>
                        <a:t>出</a:t>
                      </a:r>
                      <a:r>
                        <a:rPr sz="2400" b="1" dirty="0">
                          <a:latin typeface="微软雅黑"/>
                          <a:cs typeface="微软雅黑"/>
                        </a:rPr>
                        <a:t>模式2</a:t>
                      </a:r>
                      <a:endParaRPr sz="2400">
                        <a:latin typeface="微软雅黑"/>
                        <a:cs typeface="微软雅黑"/>
                      </a:endParaRPr>
                    </a:p>
                  </a:txBody>
                  <a:tcPr marL="0" marR="0" marT="0" marB="0">
                    <a:lnL w="28575">
                      <a:solidFill>
                        <a:srgbClr val="000000"/>
                      </a:solidFill>
                      <a:prstDash val="solid"/>
                    </a:lnL>
                    <a:lnR w="38100">
                      <a:solidFill>
                        <a:srgbClr val="FF0000"/>
                      </a:solidFill>
                      <a:prstDash val="solid"/>
                    </a:lnR>
                    <a:lnT w="28575">
                      <a:solidFill>
                        <a:srgbClr val="000000"/>
                      </a:solidFill>
                      <a:prstDash val="solid"/>
                    </a:lnT>
                    <a:lnB w="70167">
                      <a:solidFill>
                        <a:srgbClr val="FF0000"/>
                      </a:solidFill>
                      <a:prstDash val="solid"/>
                    </a:lnB>
                  </a:tcPr>
                </a:tc>
                <a:tc>
                  <a:txBody>
                    <a:bodyPr/>
                    <a:lstStyle/>
                    <a:p>
                      <a:endParaRPr sz="2400">
                        <a:latin typeface="微软雅黑"/>
                        <a:cs typeface="微软雅黑"/>
                      </a:endParaRPr>
                    </a:p>
                  </a:txBody>
                  <a:tcPr marL="0" marR="0" marT="0" marB="0">
                    <a:lnL w="38100">
                      <a:solidFill>
                        <a:srgbClr val="FF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514699">
                <a:tc gridSpan="2">
                  <a:txBody>
                    <a:bodyPr/>
                    <a:lstStyle/>
                    <a:p>
                      <a:pPr marL="45529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5" dirty="0">
                          <a:latin typeface="微软雅黑"/>
                          <a:cs typeface="微软雅黑"/>
                        </a:rPr>
                        <a:t>MO</a:t>
                      </a:r>
                      <a:r>
                        <a:rPr sz="2400" b="1" spc="-10" dirty="0">
                          <a:latin typeface="微软雅黑"/>
                          <a:cs typeface="微软雅黑"/>
                        </a:rPr>
                        <a:t>D</a:t>
                      </a:r>
                      <a:r>
                        <a:rPr sz="2400" b="1" dirty="0">
                          <a:latin typeface="微软雅黑"/>
                          <a:cs typeface="微软雅黑"/>
                        </a:rPr>
                        <a:t>E_FO</a:t>
                      </a:r>
                      <a:r>
                        <a:rPr sz="2400" b="1" spc="-35" dirty="0">
                          <a:latin typeface="微软雅黑"/>
                          <a:cs typeface="微软雅黑"/>
                        </a:rPr>
                        <a:t>R</a:t>
                      </a:r>
                      <a:r>
                        <a:rPr sz="2400" b="1" spc="-5" dirty="0">
                          <a:latin typeface="微软雅黑"/>
                          <a:cs typeface="微软雅黑"/>
                        </a:rPr>
                        <a:t>C</a:t>
                      </a:r>
                      <a:r>
                        <a:rPr sz="2400" b="1" spc="-15" dirty="0">
                          <a:latin typeface="微软雅黑"/>
                          <a:cs typeface="微软雅黑"/>
                        </a:rPr>
                        <a:t>E</a:t>
                      </a:r>
                      <a:r>
                        <a:rPr sz="2400" b="1" dirty="0">
                          <a:latin typeface="微软雅黑"/>
                          <a:cs typeface="微软雅黑"/>
                        </a:rPr>
                        <a:t>D_</a:t>
                      </a:r>
                      <a:r>
                        <a:rPr sz="2400" b="1" spc="-45" dirty="0">
                          <a:latin typeface="微软雅黑"/>
                          <a:cs typeface="微软雅黑"/>
                        </a:rPr>
                        <a:t>A</a:t>
                      </a:r>
                      <a:r>
                        <a:rPr sz="2400" b="1" spc="-5" dirty="0">
                          <a:latin typeface="微软雅黑"/>
                          <a:cs typeface="微软雅黑"/>
                        </a:rPr>
                        <a:t>CTI</a:t>
                      </a:r>
                      <a:r>
                        <a:rPr sz="2400" b="1" spc="-10" dirty="0">
                          <a:latin typeface="微软雅黑"/>
                          <a:cs typeface="微软雅黑"/>
                        </a:rPr>
                        <a:t>V</a:t>
                      </a:r>
                      <a:r>
                        <a:rPr sz="2400" b="1" dirty="0">
                          <a:latin typeface="微软雅黑"/>
                          <a:cs typeface="微软雅黑"/>
                        </a:rPr>
                        <a:t>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cap="flat" cmpd="sng" algn="ctr">
                      <a:solidFill>
                        <a:srgbClr val="000000"/>
                      </a:solidFill>
                      <a:prstDash val="solid"/>
                      <a:round/>
                      <a:headEnd type="none" w="med" len="med"/>
                      <a:tailEnd type="none" w="med" len="med"/>
                    </a:lnT>
                    <a:lnB w="28575">
                      <a:solidFill>
                        <a:srgbClr val="000000"/>
                      </a:solidFill>
                      <a:prstDash val="solid"/>
                    </a:lnB>
                    <a:solidFill>
                      <a:srgbClr val="EAEEF7"/>
                    </a:solidFill>
                  </a:tcPr>
                </a:tc>
                <a:tc hMerge="1">
                  <a:txBody>
                    <a:bodyPr/>
                    <a:lstStyle/>
                    <a:p>
                      <a:endParaRPr/>
                    </a:p>
                  </a:txBody>
                  <a:tcPr marL="0" marR="0" marT="0" marB="0"/>
                </a:tc>
                <a:tc gridSpan="2">
                  <a:txBody>
                    <a:bodyPr/>
                    <a:lstStyle/>
                    <a:p>
                      <a:pPr marL="283210">
                        <a:lnSpc>
                          <a:spcPct val="100000"/>
                        </a:lnSpc>
                      </a:pPr>
                      <a:r>
                        <a:rPr sz="2400" b="1" dirty="0">
                          <a:latin typeface="微软雅黑"/>
                          <a:cs typeface="微软雅黑"/>
                        </a:rPr>
                        <a:t>不进行匹配，强制通道输出为有效电平</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70167" cap="flat" cmpd="sng" algn="ctr">
                      <a:solidFill>
                        <a:srgbClr val="FF0000"/>
                      </a:solidFill>
                      <a:prstDash val="solid"/>
                      <a:round/>
                      <a:headEnd type="none" w="med" len="med"/>
                      <a:tailEnd type="none" w="med" len="med"/>
                    </a:lnT>
                    <a:lnB w="28575">
                      <a:solidFill>
                        <a:srgbClr val="000000"/>
                      </a:solidFill>
                      <a:prstDash val="solid"/>
                    </a:lnB>
                    <a:solidFill>
                      <a:srgbClr val="EAEEF7"/>
                    </a:solidFill>
                  </a:tcPr>
                </a:tc>
                <a:tc hMerge="1">
                  <a:txBody>
                    <a:bodyPr/>
                    <a:lstStyle/>
                    <a:p>
                      <a:endParaRPr/>
                    </a:p>
                  </a:txBody>
                  <a:tcPr marL="0" marR="0" marT="0" marB="0"/>
                </a:tc>
                <a:extLst>
                  <a:ext uri="{0D108BD9-81ED-4DB2-BD59-A6C34878D82A}">
                    <a16:rowId xmlns:a16="http://schemas.microsoft.com/office/drawing/2014/main" val="10007"/>
                  </a:ext>
                </a:extLst>
              </a:tr>
              <a:tr h="570407">
                <a:tc gridSpan="2">
                  <a:txBody>
                    <a:bodyPr/>
                    <a:lstStyle/>
                    <a:p>
                      <a:pPr marL="274320">
                        <a:lnSpc>
                          <a:spcPct val="100000"/>
                        </a:lnSpc>
                      </a:pPr>
                      <a:r>
                        <a:rPr sz="2400" b="1" spc="-5" dirty="0">
                          <a:latin typeface="微软雅黑"/>
                          <a:cs typeface="微软雅黑"/>
                        </a:rPr>
                        <a:t>TIM_O</a:t>
                      </a:r>
                      <a:r>
                        <a:rPr sz="2400" b="1" spc="5" dirty="0">
                          <a:latin typeface="微软雅黑"/>
                          <a:cs typeface="微软雅黑"/>
                        </a:rPr>
                        <a:t>C</a:t>
                      </a:r>
                      <a:r>
                        <a:rPr sz="2400" b="1" spc="-5" dirty="0">
                          <a:latin typeface="微软雅黑"/>
                          <a:cs typeface="微软雅黑"/>
                        </a:rPr>
                        <a:t>MO</a:t>
                      </a:r>
                      <a:r>
                        <a:rPr sz="2400" b="1" spc="-15" dirty="0">
                          <a:latin typeface="微软雅黑"/>
                          <a:cs typeface="微软雅黑"/>
                        </a:rPr>
                        <a:t>D</a:t>
                      </a:r>
                      <a:r>
                        <a:rPr sz="2400" b="1" dirty="0">
                          <a:latin typeface="微软雅黑"/>
                          <a:cs typeface="微软雅黑"/>
                        </a:rPr>
                        <a:t>E_FO</a:t>
                      </a:r>
                      <a:r>
                        <a:rPr sz="2400" b="1" spc="-35" dirty="0">
                          <a:latin typeface="微软雅黑"/>
                          <a:cs typeface="微软雅黑"/>
                        </a:rPr>
                        <a:t>R</a:t>
                      </a:r>
                      <a:r>
                        <a:rPr sz="2400" b="1" spc="-15" dirty="0">
                          <a:latin typeface="微软雅黑"/>
                          <a:cs typeface="微软雅黑"/>
                        </a:rPr>
                        <a:t>C</a:t>
                      </a:r>
                      <a:r>
                        <a:rPr sz="2400" b="1" dirty="0">
                          <a:latin typeface="微软雅黑"/>
                          <a:cs typeface="微软雅黑"/>
                        </a:rPr>
                        <a:t>E</a:t>
                      </a:r>
                      <a:r>
                        <a:rPr sz="2400" b="1" spc="-15" dirty="0">
                          <a:latin typeface="微软雅黑"/>
                          <a:cs typeface="微软雅黑"/>
                        </a:rPr>
                        <a:t>D</a:t>
                      </a:r>
                      <a:r>
                        <a:rPr sz="2400" b="1" spc="-5" dirty="0">
                          <a:latin typeface="微软雅黑"/>
                          <a:cs typeface="微软雅黑"/>
                        </a:rPr>
                        <a:t>_IN</a:t>
                      </a:r>
                      <a:r>
                        <a:rPr sz="2400" b="1" spc="-40" dirty="0">
                          <a:latin typeface="微软雅黑"/>
                          <a:cs typeface="微软雅黑"/>
                        </a:rPr>
                        <a:t>A</a:t>
                      </a:r>
                      <a:r>
                        <a:rPr sz="2400" b="1" spc="-15" dirty="0">
                          <a:latin typeface="微软雅黑"/>
                          <a:cs typeface="微软雅黑"/>
                        </a:rPr>
                        <a:t>C</a:t>
                      </a:r>
                      <a:r>
                        <a:rPr sz="2400" b="1" spc="-5" dirty="0">
                          <a:latin typeface="微软雅黑"/>
                          <a:cs typeface="微软雅黑"/>
                        </a:rPr>
                        <a:t>TIVE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gridSpan="2">
                  <a:txBody>
                    <a:bodyPr/>
                    <a:lstStyle/>
                    <a:p>
                      <a:pPr marL="283210">
                        <a:lnSpc>
                          <a:spcPct val="100000"/>
                        </a:lnSpc>
                      </a:pPr>
                      <a:r>
                        <a:rPr sz="2400" b="1" spc="-5" dirty="0">
                          <a:latin typeface="微软雅黑"/>
                          <a:cs typeface="微软雅黑"/>
                        </a:rPr>
                        <a:t>不进行匹配，强制通道输</a:t>
                      </a:r>
                      <a:r>
                        <a:rPr sz="2400" b="1" dirty="0">
                          <a:latin typeface="微软雅黑"/>
                          <a:cs typeface="微软雅黑"/>
                        </a:rPr>
                        <a:t>出</a:t>
                      </a:r>
                      <a:r>
                        <a:rPr sz="2400" b="1" spc="-5" dirty="0">
                          <a:latin typeface="微软雅黑"/>
                          <a:cs typeface="微软雅黑"/>
                        </a:rPr>
                        <a:t>为无效电平</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458702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93617" y="629411"/>
            <a:ext cx="10515600" cy="1325563"/>
          </a:xfrm>
          <a:prstGeom prst="rect">
            <a:avLst/>
          </a:prstGeom>
        </p:spPr>
        <p:txBody>
          <a:bodyPr vert="horz" wrap="square" lIns="0" tIns="0" rIns="0" bIns="0" rtlCol="0">
            <a:spAutoFit/>
          </a:bodyPr>
          <a:lstStyle/>
          <a:p>
            <a:pPr marL="3175">
              <a:lnSpc>
                <a:spcPct val="100000"/>
              </a:lnSpc>
            </a:pPr>
            <a:r>
              <a:rPr sz="2400" dirty="0">
                <a:solidFill>
                  <a:srgbClr val="FFFFFF"/>
                </a:solidFill>
              </a:rPr>
              <a:t>有效电平极性</a:t>
            </a:r>
            <a:endParaRPr sz="2400" dirty="0"/>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3" name="object 13"/>
          <p:cNvSpPr txBox="1"/>
          <p:nvPr/>
        </p:nvSpPr>
        <p:spPr>
          <a:xfrm>
            <a:off x="3533902" y="1166941"/>
            <a:ext cx="5125720"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成员变</a:t>
            </a:r>
            <a:r>
              <a:rPr sz="2800" b="1" spc="-15" dirty="0">
                <a:latin typeface="微软雅黑"/>
                <a:cs typeface="微软雅黑"/>
              </a:rPr>
              <a:t>量</a:t>
            </a:r>
            <a:r>
              <a:rPr sz="2800" b="1" spc="-10" dirty="0">
                <a:latin typeface="微软雅黑"/>
                <a:cs typeface="微软雅黑"/>
              </a:rPr>
              <a:t>OC</a:t>
            </a:r>
            <a:r>
              <a:rPr sz="2800" b="1" spc="-105" dirty="0">
                <a:latin typeface="微软雅黑"/>
                <a:cs typeface="微软雅黑"/>
              </a:rPr>
              <a:t>P</a:t>
            </a:r>
            <a:r>
              <a:rPr sz="2800" b="1" spc="-10" dirty="0">
                <a:latin typeface="微软雅黑"/>
                <a:cs typeface="微软雅黑"/>
              </a:rPr>
              <a:t>ola</a:t>
            </a:r>
            <a:r>
              <a:rPr sz="2800" b="1" spc="0" dirty="0">
                <a:latin typeface="微软雅黑"/>
                <a:cs typeface="微软雅黑"/>
              </a:rPr>
              <a:t>r</a:t>
            </a:r>
            <a:r>
              <a:rPr sz="2800" b="1" spc="-5" dirty="0">
                <a:latin typeface="微软雅黑"/>
                <a:cs typeface="微软雅黑"/>
              </a:rPr>
              <a:t>it</a:t>
            </a:r>
            <a:r>
              <a:rPr sz="2800" b="1" spc="-10" dirty="0">
                <a:latin typeface="微软雅黑"/>
                <a:cs typeface="微软雅黑"/>
              </a:rPr>
              <a:t>y的取值范围</a:t>
            </a:r>
            <a:endParaRPr sz="2800">
              <a:latin typeface="微软雅黑"/>
              <a:cs typeface="微软雅黑"/>
            </a:endParaRPr>
          </a:p>
        </p:txBody>
      </p:sp>
      <p:graphicFrame>
        <p:nvGraphicFramePr>
          <p:cNvPr id="12" name="object 12"/>
          <p:cNvGraphicFramePr>
            <a:graphicFrameLocks noGrp="1"/>
          </p:cNvGraphicFramePr>
          <p:nvPr/>
        </p:nvGraphicFramePr>
        <p:xfrm>
          <a:off x="1895792" y="2762567"/>
          <a:ext cx="8371840" cy="2614041"/>
        </p:xfrm>
        <a:graphic>
          <a:graphicData uri="http://schemas.openxmlformats.org/drawingml/2006/table">
            <a:tbl>
              <a:tblPr firstRow="1" bandRow="1">
                <a:tableStyleId>{2D5ABB26-0587-4C30-8999-92F81FD0307C}</a:tableStyleId>
              </a:tblPr>
              <a:tblGrid>
                <a:gridCol w="4666869">
                  <a:extLst>
                    <a:ext uri="{9D8B030D-6E8A-4147-A177-3AD203B41FA5}">
                      <a16:colId xmlns:a16="http://schemas.microsoft.com/office/drawing/2014/main" val="20000"/>
                    </a:ext>
                  </a:extLst>
                </a:gridCol>
                <a:gridCol w="3704971">
                  <a:extLst>
                    <a:ext uri="{9D8B030D-6E8A-4147-A177-3AD203B41FA5}">
                      <a16:colId xmlns:a16="http://schemas.microsoft.com/office/drawing/2014/main" val="20001"/>
                    </a:ext>
                  </a:extLst>
                </a:gridCol>
              </a:tblGrid>
              <a:tr h="871347">
                <a:tc>
                  <a:txBody>
                    <a:bodyPr/>
                    <a:lstStyle/>
                    <a:p>
                      <a:pPr marL="635" algn="ctr">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270"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871347">
                <a:tc>
                  <a:txBody>
                    <a:bodyPr/>
                    <a:lstStyle/>
                    <a:p>
                      <a:pPr marL="45275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5" dirty="0">
                          <a:latin typeface="微软雅黑"/>
                          <a:cs typeface="微软雅黑"/>
                        </a:rPr>
                        <a:t>PO</a:t>
                      </a:r>
                      <a:r>
                        <a:rPr sz="2400" b="1" spc="50"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5" dirty="0">
                          <a:latin typeface="微软雅黑"/>
                          <a:cs typeface="微软雅黑"/>
                        </a:rPr>
                        <a:t>HIGH</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428625">
                        <a:lnSpc>
                          <a:spcPct val="100000"/>
                        </a:lnSpc>
                      </a:pPr>
                      <a:r>
                        <a:rPr sz="2400" b="1" dirty="0">
                          <a:latin typeface="微软雅黑"/>
                          <a:cs typeface="微软雅黑"/>
                        </a:rPr>
                        <a:t>输出有效电平为高电平</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71347">
                <a:tc>
                  <a:txBody>
                    <a:bodyPr/>
                    <a:lstStyle/>
                    <a:p>
                      <a:pPr marL="50292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5" dirty="0">
                          <a:latin typeface="微软雅黑"/>
                          <a:cs typeface="微软雅黑"/>
                        </a:rPr>
                        <a:t>PO</a:t>
                      </a:r>
                      <a:r>
                        <a:rPr sz="2400" b="1" spc="50"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80" dirty="0">
                          <a:latin typeface="微软雅黑"/>
                          <a:cs typeface="微软雅黑"/>
                        </a:rPr>
                        <a:t>L</a:t>
                      </a:r>
                      <a:r>
                        <a:rPr sz="2400" b="1" spc="-5" dirty="0">
                          <a:latin typeface="微软雅黑"/>
                          <a:cs typeface="微软雅黑"/>
                        </a:rPr>
                        <a:t>OW</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428625">
                        <a:lnSpc>
                          <a:spcPct val="100000"/>
                        </a:lnSpc>
                      </a:pPr>
                      <a:r>
                        <a:rPr sz="2400" b="1" dirty="0">
                          <a:latin typeface="微软雅黑"/>
                          <a:cs typeface="微软雅黑"/>
                        </a:rPr>
                        <a:t>输出有效电平为低电平</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096647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196697" y="1162674"/>
            <a:ext cx="1482725" cy="330200"/>
          </a:xfrm>
          <a:prstGeom prst="rect">
            <a:avLst/>
          </a:prstGeom>
        </p:spPr>
        <p:txBody>
          <a:bodyPr vert="horz" wrap="square" lIns="0" tIns="0" rIns="0" bIns="0" rtlCol="0">
            <a:spAutoFit/>
          </a:bodyPr>
          <a:lstStyle/>
          <a:p>
            <a:pPr marL="12700">
              <a:lnSpc>
                <a:spcPct val="100000"/>
              </a:lnSpc>
            </a:pPr>
            <a:r>
              <a:rPr sz="2400" b="1" spc="40" dirty="0">
                <a:solidFill>
                  <a:srgbClr val="FFFFFF"/>
                </a:solidFill>
                <a:latin typeface="微软雅黑"/>
                <a:cs typeface="微软雅黑"/>
              </a:rPr>
              <a:t>P</a:t>
            </a:r>
            <a:r>
              <a:rPr sz="2400" b="1" spc="-5" dirty="0">
                <a:solidFill>
                  <a:srgbClr val="FFFFFF"/>
                </a:solidFill>
                <a:latin typeface="微软雅黑"/>
                <a:cs typeface="微软雅黑"/>
              </a:rPr>
              <a:t>W</a:t>
            </a:r>
            <a:r>
              <a:rPr sz="2400" b="1" spc="5" dirty="0">
                <a:solidFill>
                  <a:srgbClr val="FFFFFF"/>
                </a:solidFill>
                <a:latin typeface="微软雅黑"/>
                <a:cs typeface="微软雅黑"/>
              </a:rPr>
              <a:t>M</a:t>
            </a:r>
            <a:r>
              <a:rPr sz="2400" b="1" dirty="0">
                <a:solidFill>
                  <a:srgbClr val="FFFFFF"/>
                </a:solidFill>
                <a:latin typeface="微软雅黑"/>
                <a:cs typeface="微软雅黑"/>
              </a:rPr>
              <a:t>模式</a:t>
            </a:r>
            <a:endParaRPr sz="24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2" name="object 12"/>
          <p:cNvSpPr txBox="1"/>
          <p:nvPr/>
        </p:nvSpPr>
        <p:spPr>
          <a:xfrm>
            <a:off x="4346828" y="1166941"/>
            <a:ext cx="3499485" cy="381000"/>
          </a:xfrm>
          <a:prstGeom prst="rect">
            <a:avLst/>
          </a:prstGeom>
        </p:spPr>
        <p:txBody>
          <a:bodyPr vert="horz" wrap="square" lIns="0" tIns="0" rIns="0" bIns="0" rtlCol="0">
            <a:spAutoFit/>
          </a:bodyPr>
          <a:lstStyle/>
          <a:p>
            <a:pPr marL="12700">
              <a:lnSpc>
                <a:spcPct val="100000"/>
              </a:lnSpc>
            </a:pPr>
            <a:r>
              <a:rPr sz="2800" b="1" spc="30" dirty="0">
                <a:latin typeface="微软雅黑"/>
                <a:cs typeface="微软雅黑"/>
              </a:rPr>
              <a:t>P</a:t>
            </a:r>
            <a:r>
              <a:rPr sz="2800" b="1" spc="-10" dirty="0">
                <a:latin typeface="微软雅黑"/>
                <a:cs typeface="微软雅黑"/>
              </a:rPr>
              <a:t>W</a:t>
            </a:r>
            <a:r>
              <a:rPr sz="2800" b="1" dirty="0">
                <a:latin typeface="微软雅黑"/>
                <a:cs typeface="微软雅黑"/>
              </a:rPr>
              <a:t>M</a:t>
            </a:r>
            <a:r>
              <a:rPr sz="2800" b="1" spc="-10" dirty="0">
                <a:latin typeface="微软雅黑"/>
                <a:cs typeface="微软雅黑"/>
              </a:rPr>
              <a:t>输出的两种模式</a:t>
            </a:r>
            <a:endParaRPr sz="2800">
              <a:latin typeface="微软雅黑"/>
              <a:cs typeface="微软雅黑"/>
            </a:endParaRPr>
          </a:p>
        </p:txBody>
      </p:sp>
      <p:sp>
        <p:nvSpPr>
          <p:cNvPr id="13" name="object 13"/>
          <p:cNvSpPr/>
          <p:nvPr/>
        </p:nvSpPr>
        <p:spPr>
          <a:xfrm>
            <a:off x="878586" y="2077973"/>
            <a:ext cx="10744200" cy="1728470"/>
          </a:xfrm>
          <a:custGeom>
            <a:avLst/>
            <a:gdLst/>
            <a:ahLst/>
            <a:cxnLst/>
            <a:rect l="l" t="t" r="r" b="b"/>
            <a:pathLst>
              <a:path w="10744200" h="1728470">
                <a:moveTo>
                  <a:pt x="0" y="1728215"/>
                </a:moveTo>
                <a:lnTo>
                  <a:pt x="10744200" y="1728215"/>
                </a:lnTo>
                <a:lnTo>
                  <a:pt x="10744200" y="0"/>
                </a:lnTo>
                <a:lnTo>
                  <a:pt x="0" y="0"/>
                </a:lnTo>
                <a:lnTo>
                  <a:pt x="0" y="1728215"/>
                </a:lnTo>
                <a:close/>
              </a:path>
            </a:pathLst>
          </a:custGeom>
          <a:ln w="38100">
            <a:solidFill>
              <a:srgbClr val="E34A46"/>
            </a:solidFill>
          </a:ln>
        </p:spPr>
        <p:txBody>
          <a:bodyPr wrap="square" lIns="0" tIns="0" rIns="0" bIns="0" rtlCol="0"/>
          <a:lstStyle/>
          <a:p>
            <a:endParaRPr/>
          </a:p>
        </p:txBody>
      </p:sp>
      <p:sp>
        <p:nvSpPr>
          <p:cNvPr id="14" name="object 14"/>
          <p:cNvSpPr/>
          <p:nvPr/>
        </p:nvSpPr>
        <p:spPr>
          <a:xfrm>
            <a:off x="4922520" y="1697735"/>
            <a:ext cx="2653665" cy="638810"/>
          </a:xfrm>
          <a:custGeom>
            <a:avLst/>
            <a:gdLst/>
            <a:ahLst/>
            <a:cxnLst/>
            <a:rect l="l" t="t" r="r" b="b"/>
            <a:pathLst>
              <a:path w="2653665" h="638810">
                <a:moveTo>
                  <a:pt x="0" y="638556"/>
                </a:moveTo>
                <a:lnTo>
                  <a:pt x="2653283" y="638556"/>
                </a:lnTo>
                <a:lnTo>
                  <a:pt x="2653283" y="0"/>
                </a:lnTo>
                <a:lnTo>
                  <a:pt x="0" y="0"/>
                </a:lnTo>
                <a:lnTo>
                  <a:pt x="0" y="638556"/>
                </a:lnTo>
                <a:close/>
              </a:path>
            </a:pathLst>
          </a:custGeom>
          <a:solidFill>
            <a:srgbClr val="E34A46"/>
          </a:solidFill>
        </p:spPr>
        <p:txBody>
          <a:bodyPr wrap="square" lIns="0" tIns="0" rIns="0" bIns="0" rtlCol="0"/>
          <a:lstStyle/>
          <a:p>
            <a:endParaRPr/>
          </a:p>
        </p:txBody>
      </p:sp>
      <p:sp>
        <p:nvSpPr>
          <p:cNvPr id="15" name="object 15"/>
          <p:cNvSpPr/>
          <p:nvPr/>
        </p:nvSpPr>
        <p:spPr>
          <a:xfrm>
            <a:off x="4922520" y="1697735"/>
            <a:ext cx="2653665" cy="638810"/>
          </a:xfrm>
          <a:custGeom>
            <a:avLst/>
            <a:gdLst/>
            <a:ahLst/>
            <a:cxnLst/>
            <a:rect l="l" t="t" r="r" b="b"/>
            <a:pathLst>
              <a:path w="2653665" h="638810">
                <a:moveTo>
                  <a:pt x="0" y="638556"/>
                </a:moveTo>
                <a:lnTo>
                  <a:pt x="2653283" y="638556"/>
                </a:lnTo>
                <a:lnTo>
                  <a:pt x="2653283" y="0"/>
                </a:lnTo>
                <a:lnTo>
                  <a:pt x="0" y="0"/>
                </a:lnTo>
                <a:lnTo>
                  <a:pt x="0" y="638556"/>
                </a:lnTo>
                <a:close/>
              </a:path>
            </a:pathLst>
          </a:custGeom>
          <a:ln w="12191">
            <a:solidFill>
              <a:srgbClr val="E34A46"/>
            </a:solidFill>
          </a:ln>
        </p:spPr>
        <p:txBody>
          <a:bodyPr wrap="square" lIns="0" tIns="0" rIns="0" bIns="0" rtlCol="0"/>
          <a:lstStyle/>
          <a:p>
            <a:endParaRPr/>
          </a:p>
        </p:txBody>
      </p:sp>
      <p:sp>
        <p:nvSpPr>
          <p:cNvPr id="16" name="object 16"/>
          <p:cNvSpPr txBox="1"/>
          <p:nvPr/>
        </p:nvSpPr>
        <p:spPr>
          <a:xfrm>
            <a:off x="5355463" y="1847779"/>
            <a:ext cx="1942464" cy="381000"/>
          </a:xfrm>
          <a:prstGeom prst="rect">
            <a:avLst/>
          </a:prstGeom>
        </p:spPr>
        <p:txBody>
          <a:bodyPr vert="horz" wrap="square" lIns="0" tIns="0" rIns="0" bIns="0" rtlCol="0">
            <a:spAutoFit/>
          </a:bodyPr>
          <a:lstStyle/>
          <a:p>
            <a:pPr marL="12700">
              <a:lnSpc>
                <a:spcPct val="100000"/>
              </a:lnSpc>
            </a:pPr>
            <a:r>
              <a:rPr sz="2800" b="1" spc="30" dirty="0">
                <a:solidFill>
                  <a:srgbClr val="FFFFFF"/>
                </a:solidFill>
                <a:latin typeface="微软雅黑"/>
                <a:cs typeface="微软雅黑"/>
              </a:rPr>
              <a:t>P</a:t>
            </a:r>
            <a:r>
              <a:rPr sz="2800" b="1" spc="-10" dirty="0">
                <a:solidFill>
                  <a:srgbClr val="FFFFFF"/>
                </a:solidFill>
                <a:latin typeface="微软雅黑"/>
                <a:cs typeface="微软雅黑"/>
              </a:rPr>
              <a:t>W</a:t>
            </a:r>
            <a:r>
              <a:rPr sz="2800" b="1" spc="0" dirty="0">
                <a:solidFill>
                  <a:srgbClr val="FFFFFF"/>
                </a:solidFill>
                <a:latin typeface="微软雅黑"/>
                <a:cs typeface="微软雅黑"/>
              </a:rPr>
              <a:t>M</a:t>
            </a:r>
            <a:r>
              <a:rPr sz="2800" b="1" spc="-5" dirty="0">
                <a:solidFill>
                  <a:srgbClr val="FFFFFF"/>
                </a:solidFill>
                <a:latin typeface="微软雅黑"/>
                <a:cs typeface="微软雅黑"/>
              </a:rPr>
              <a:t>模式1</a:t>
            </a:r>
            <a:endParaRPr sz="2800">
              <a:latin typeface="微软雅黑"/>
              <a:cs typeface="微软雅黑"/>
            </a:endParaRPr>
          </a:p>
        </p:txBody>
      </p:sp>
      <p:sp>
        <p:nvSpPr>
          <p:cNvPr id="17" name="object 17"/>
          <p:cNvSpPr txBox="1"/>
          <p:nvPr/>
        </p:nvSpPr>
        <p:spPr>
          <a:xfrm>
            <a:off x="1304925" y="2675752"/>
            <a:ext cx="9908540" cy="879475"/>
          </a:xfrm>
          <a:prstGeom prst="rect">
            <a:avLst/>
          </a:prstGeom>
        </p:spPr>
        <p:txBody>
          <a:bodyPr vert="horz" wrap="square" lIns="0" tIns="0" rIns="0" bIns="0" rtlCol="0">
            <a:spAutoFit/>
          </a:bodyPr>
          <a:lstStyle/>
          <a:p>
            <a:pPr marL="12700" marR="5080">
              <a:lnSpc>
                <a:spcPct val="150100"/>
              </a:lnSpc>
            </a:pPr>
            <a:r>
              <a:rPr sz="2400" b="1" dirty="0">
                <a:latin typeface="微软雅黑"/>
                <a:cs typeface="微软雅黑"/>
              </a:rPr>
              <a:t>递增计数时，当</a:t>
            </a:r>
            <a:r>
              <a:rPr sz="2400" b="1" spc="-5" dirty="0">
                <a:latin typeface="微软雅黑"/>
                <a:cs typeface="微软雅黑"/>
              </a:rPr>
              <a:t>TIM</a:t>
            </a:r>
            <a:r>
              <a:rPr sz="2400" b="1" spc="-10" dirty="0">
                <a:latin typeface="微软雅黑"/>
                <a:cs typeface="微软雅黑"/>
              </a:rPr>
              <a:t>x_</a:t>
            </a:r>
            <a:r>
              <a:rPr sz="2400" b="1" spc="-5" dirty="0">
                <a:latin typeface="微软雅黑"/>
                <a:cs typeface="微软雅黑"/>
              </a:rPr>
              <a:t>C</a:t>
            </a:r>
            <a:r>
              <a:rPr sz="2400" b="1" spc="5" dirty="0">
                <a:latin typeface="微软雅黑"/>
                <a:cs typeface="微软雅黑"/>
              </a:rPr>
              <a:t>N</a:t>
            </a:r>
            <a:r>
              <a:rPr sz="2400" b="1" dirty="0">
                <a:latin typeface="微软雅黑"/>
                <a:cs typeface="微软雅黑"/>
              </a:rPr>
              <a:t>T（</a:t>
            </a:r>
            <a:r>
              <a:rPr sz="2400" b="1" spc="-15" dirty="0">
                <a:latin typeface="微软雅黑"/>
                <a:cs typeface="微软雅黑"/>
              </a:rPr>
              <a:t>当</a:t>
            </a:r>
            <a:r>
              <a:rPr sz="2400" b="1" dirty="0">
                <a:latin typeface="微软雅黑"/>
                <a:cs typeface="微软雅黑"/>
              </a:rPr>
              <a:t>前计数值）</a:t>
            </a:r>
            <a:r>
              <a:rPr sz="2400" b="1" spc="-5" dirty="0">
                <a:latin typeface="微软雅黑"/>
                <a:cs typeface="微软雅黑"/>
              </a:rPr>
              <a:t>&lt;TIM</a:t>
            </a:r>
            <a:r>
              <a:rPr sz="2400" b="1" spc="-10" dirty="0">
                <a:latin typeface="微软雅黑"/>
                <a:cs typeface="微软雅黑"/>
              </a:rPr>
              <a:t>x_</a:t>
            </a:r>
            <a:r>
              <a:rPr sz="2400" b="1" spc="-70" dirty="0">
                <a:latin typeface="微软雅黑"/>
                <a:cs typeface="微软雅黑"/>
              </a:rPr>
              <a:t>C</a:t>
            </a:r>
            <a:r>
              <a:rPr sz="2400" b="1" spc="-5" dirty="0">
                <a:latin typeface="微软雅黑"/>
                <a:cs typeface="微软雅黑"/>
              </a:rPr>
              <a:t>C</a:t>
            </a:r>
            <a:r>
              <a:rPr sz="2400" b="1" dirty="0">
                <a:latin typeface="微软雅黑"/>
                <a:cs typeface="微软雅黑"/>
              </a:rPr>
              <a:t>R（捕获</a:t>
            </a:r>
            <a:r>
              <a:rPr sz="2400" b="1" spc="-15" dirty="0">
                <a:latin typeface="微软雅黑"/>
                <a:cs typeface="微软雅黑"/>
              </a:rPr>
              <a:t>/</a:t>
            </a:r>
            <a:r>
              <a:rPr sz="2400" b="1" dirty="0">
                <a:latin typeface="微软雅黑"/>
                <a:cs typeface="微软雅黑"/>
              </a:rPr>
              <a:t>比较值） 时，通道输出为</a:t>
            </a:r>
            <a:r>
              <a:rPr sz="2400" b="1" dirty="0">
                <a:solidFill>
                  <a:srgbClr val="FF0000"/>
                </a:solidFill>
                <a:latin typeface="微软雅黑"/>
                <a:cs typeface="微软雅黑"/>
              </a:rPr>
              <a:t>有效电平</a:t>
            </a:r>
            <a:r>
              <a:rPr sz="2400" b="1" dirty="0">
                <a:latin typeface="微软雅黑"/>
                <a:cs typeface="微软雅黑"/>
              </a:rPr>
              <a:t>，否则为无效电平。递减计数模式则刚好相反。</a:t>
            </a:r>
            <a:endParaRPr sz="2400">
              <a:latin typeface="微软雅黑"/>
              <a:cs typeface="微软雅黑"/>
            </a:endParaRPr>
          </a:p>
        </p:txBody>
      </p:sp>
      <p:sp>
        <p:nvSpPr>
          <p:cNvPr id="19" name="object 19"/>
          <p:cNvSpPr/>
          <p:nvPr/>
        </p:nvSpPr>
        <p:spPr>
          <a:xfrm>
            <a:off x="7949945" y="108965"/>
            <a:ext cx="4046220" cy="2400300"/>
          </a:xfrm>
          <a:custGeom>
            <a:avLst/>
            <a:gdLst/>
            <a:ahLst/>
            <a:cxnLst/>
            <a:rect l="l" t="t" r="r" b="b"/>
            <a:pathLst>
              <a:path w="4046220" h="2400300">
                <a:moveTo>
                  <a:pt x="3646170" y="0"/>
                </a:moveTo>
                <a:lnTo>
                  <a:pt x="400050" y="0"/>
                </a:lnTo>
                <a:lnTo>
                  <a:pt x="367234" y="1325"/>
                </a:lnTo>
                <a:lnTo>
                  <a:pt x="303900" y="11624"/>
                </a:lnTo>
                <a:lnTo>
                  <a:pt x="244316" y="31432"/>
                </a:lnTo>
                <a:lnTo>
                  <a:pt x="189303" y="59927"/>
                </a:lnTo>
                <a:lnTo>
                  <a:pt x="139686" y="96286"/>
                </a:lnTo>
                <a:lnTo>
                  <a:pt x="96286" y="139686"/>
                </a:lnTo>
                <a:lnTo>
                  <a:pt x="59927" y="189303"/>
                </a:lnTo>
                <a:lnTo>
                  <a:pt x="31432" y="244316"/>
                </a:lnTo>
                <a:lnTo>
                  <a:pt x="11624" y="303900"/>
                </a:lnTo>
                <a:lnTo>
                  <a:pt x="1325" y="367234"/>
                </a:lnTo>
                <a:lnTo>
                  <a:pt x="0" y="400049"/>
                </a:lnTo>
                <a:lnTo>
                  <a:pt x="0" y="2000249"/>
                </a:lnTo>
                <a:lnTo>
                  <a:pt x="5234" y="2065149"/>
                </a:lnTo>
                <a:lnTo>
                  <a:pt x="20391" y="2126711"/>
                </a:lnTo>
                <a:lnTo>
                  <a:pt x="44645" y="2184112"/>
                </a:lnTo>
                <a:lnTo>
                  <a:pt x="77175" y="2236530"/>
                </a:lnTo>
                <a:lnTo>
                  <a:pt x="117157" y="2283142"/>
                </a:lnTo>
                <a:lnTo>
                  <a:pt x="163769" y="2323124"/>
                </a:lnTo>
                <a:lnTo>
                  <a:pt x="216187" y="2355654"/>
                </a:lnTo>
                <a:lnTo>
                  <a:pt x="273588" y="2379908"/>
                </a:lnTo>
                <a:lnTo>
                  <a:pt x="335150" y="2395065"/>
                </a:lnTo>
                <a:lnTo>
                  <a:pt x="400050" y="2400299"/>
                </a:lnTo>
                <a:lnTo>
                  <a:pt x="3646170" y="2400299"/>
                </a:lnTo>
                <a:lnTo>
                  <a:pt x="3711069" y="2395065"/>
                </a:lnTo>
                <a:lnTo>
                  <a:pt x="3772631" y="2379908"/>
                </a:lnTo>
                <a:lnTo>
                  <a:pt x="3830032" y="2355654"/>
                </a:lnTo>
                <a:lnTo>
                  <a:pt x="3882450" y="2323124"/>
                </a:lnTo>
                <a:lnTo>
                  <a:pt x="3929062" y="2283142"/>
                </a:lnTo>
                <a:lnTo>
                  <a:pt x="3969044" y="2236530"/>
                </a:lnTo>
                <a:lnTo>
                  <a:pt x="4001574" y="2184112"/>
                </a:lnTo>
                <a:lnTo>
                  <a:pt x="4025828" y="2126711"/>
                </a:lnTo>
                <a:lnTo>
                  <a:pt x="4040985" y="2065149"/>
                </a:lnTo>
                <a:lnTo>
                  <a:pt x="4046220" y="2000249"/>
                </a:lnTo>
                <a:lnTo>
                  <a:pt x="4046220" y="400049"/>
                </a:lnTo>
                <a:lnTo>
                  <a:pt x="4040985" y="335150"/>
                </a:lnTo>
                <a:lnTo>
                  <a:pt x="4025828" y="273588"/>
                </a:lnTo>
                <a:lnTo>
                  <a:pt x="4001574" y="216187"/>
                </a:lnTo>
                <a:lnTo>
                  <a:pt x="3969044" y="163769"/>
                </a:lnTo>
                <a:lnTo>
                  <a:pt x="3929062" y="117157"/>
                </a:lnTo>
                <a:lnTo>
                  <a:pt x="3882450" y="77175"/>
                </a:lnTo>
                <a:lnTo>
                  <a:pt x="3830032" y="44645"/>
                </a:lnTo>
                <a:lnTo>
                  <a:pt x="3772631" y="20391"/>
                </a:lnTo>
                <a:lnTo>
                  <a:pt x="3711069" y="5234"/>
                </a:lnTo>
                <a:lnTo>
                  <a:pt x="3646170" y="0"/>
                </a:lnTo>
                <a:close/>
              </a:path>
            </a:pathLst>
          </a:custGeom>
          <a:solidFill>
            <a:srgbClr val="FFFFC7"/>
          </a:solidFill>
        </p:spPr>
        <p:txBody>
          <a:bodyPr wrap="square" lIns="0" tIns="0" rIns="0" bIns="0" rtlCol="0"/>
          <a:lstStyle/>
          <a:p>
            <a:endParaRPr/>
          </a:p>
        </p:txBody>
      </p:sp>
      <p:sp>
        <p:nvSpPr>
          <p:cNvPr id="20" name="object 20"/>
          <p:cNvSpPr/>
          <p:nvPr/>
        </p:nvSpPr>
        <p:spPr>
          <a:xfrm>
            <a:off x="7949945" y="108965"/>
            <a:ext cx="4046220" cy="2400300"/>
          </a:xfrm>
          <a:custGeom>
            <a:avLst/>
            <a:gdLst/>
            <a:ahLst/>
            <a:cxnLst/>
            <a:rect l="l" t="t" r="r" b="b"/>
            <a:pathLst>
              <a:path w="4046220" h="2400300">
                <a:moveTo>
                  <a:pt x="0" y="400049"/>
                </a:moveTo>
                <a:lnTo>
                  <a:pt x="5234" y="335150"/>
                </a:lnTo>
                <a:lnTo>
                  <a:pt x="20391" y="273588"/>
                </a:lnTo>
                <a:lnTo>
                  <a:pt x="44645" y="216187"/>
                </a:lnTo>
                <a:lnTo>
                  <a:pt x="77175" y="163769"/>
                </a:lnTo>
                <a:lnTo>
                  <a:pt x="117157" y="117157"/>
                </a:lnTo>
                <a:lnTo>
                  <a:pt x="163769" y="77175"/>
                </a:lnTo>
                <a:lnTo>
                  <a:pt x="216187" y="44645"/>
                </a:lnTo>
                <a:lnTo>
                  <a:pt x="273588" y="20391"/>
                </a:lnTo>
                <a:lnTo>
                  <a:pt x="335150" y="5234"/>
                </a:lnTo>
                <a:lnTo>
                  <a:pt x="400050" y="0"/>
                </a:lnTo>
                <a:lnTo>
                  <a:pt x="674370" y="0"/>
                </a:lnTo>
                <a:lnTo>
                  <a:pt x="1685925" y="0"/>
                </a:lnTo>
                <a:lnTo>
                  <a:pt x="3646170" y="0"/>
                </a:lnTo>
                <a:lnTo>
                  <a:pt x="3678985" y="1325"/>
                </a:lnTo>
                <a:lnTo>
                  <a:pt x="3742319" y="11624"/>
                </a:lnTo>
                <a:lnTo>
                  <a:pt x="3801903" y="31432"/>
                </a:lnTo>
                <a:lnTo>
                  <a:pt x="3856916" y="59927"/>
                </a:lnTo>
                <a:lnTo>
                  <a:pt x="3906533" y="96286"/>
                </a:lnTo>
                <a:lnTo>
                  <a:pt x="3949933" y="139686"/>
                </a:lnTo>
                <a:lnTo>
                  <a:pt x="3986292" y="189303"/>
                </a:lnTo>
                <a:lnTo>
                  <a:pt x="4014787" y="244316"/>
                </a:lnTo>
                <a:lnTo>
                  <a:pt x="4034595" y="303900"/>
                </a:lnTo>
                <a:lnTo>
                  <a:pt x="4044894" y="367234"/>
                </a:lnTo>
                <a:lnTo>
                  <a:pt x="4046220" y="400049"/>
                </a:lnTo>
                <a:lnTo>
                  <a:pt x="4046220" y="1400174"/>
                </a:lnTo>
                <a:lnTo>
                  <a:pt x="4046220" y="2000249"/>
                </a:lnTo>
                <a:lnTo>
                  <a:pt x="4044894" y="2033065"/>
                </a:lnTo>
                <a:lnTo>
                  <a:pt x="4040985" y="2065149"/>
                </a:lnTo>
                <a:lnTo>
                  <a:pt x="4025828" y="2126711"/>
                </a:lnTo>
                <a:lnTo>
                  <a:pt x="4001574" y="2184112"/>
                </a:lnTo>
                <a:lnTo>
                  <a:pt x="3969044" y="2236530"/>
                </a:lnTo>
                <a:lnTo>
                  <a:pt x="3929062" y="2283142"/>
                </a:lnTo>
                <a:lnTo>
                  <a:pt x="3882450" y="2323124"/>
                </a:lnTo>
                <a:lnTo>
                  <a:pt x="3830032" y="2355654"/>
                </a:lnTo>
                <a:lnTo>
                  <a:pt x="3772631" y="2379908"/>
                </a:lnTo>
                <a:lnTo>
                  <a:pt x="3711069" y="2395065"/>
                </a:lnTo>
                <a:lnTo>
                  <a:pt x="3646170" y="2400299"/>
                </a:lnTo>
                <a:lnTo>
                  <a:pt x="1685925" y="2400299"/>
                </a:lnTo>
                <a:lnTo>
                  <a:pt x="1884552" y="2400299"/>
                </a:lnTo>
                <a:lnTo>
                  <a:pt x="674370" y="2400299"/>
                </a:lnTo>
                <a:lnTo>
                  <a:pt x="400050" y="2400299"/>
                </a:lnTo>
                <a:lnTo>
                  <a:pt x="367234" y="2398974"/>
                </a:lnTo>
                <a:lnTo>
                  <a:pt x="303900" y="2388675"/>
                </a:lnTo>
                <a:lnTo>
                  <a:pt x="244316" y="2368867"/>
                </a:lnTo>
                <a:lnTo>
                  <a:pt x="189303" y="2340372"/>
                </a:lnTo>
                <a:lnTo>
                  <a:pt x="139686" y="2304013"/>
                </a:lnTo>
                <a:lnTo>
                  <a:pt x="96286" y="2260613"/>
                </a:lnTo>
                <a:lnTo>
                  <a:pt x="59927" y="2210996"/>
                </a:lnTo>
                <a:lnTo>
                  <a:pt x="31432" y="2155983"/>
                </a:lnTo>
                <a:lnTo>
                  <a:pt x="11624" y="2096399"/>
                </a:lnTo>
                <a:lnTo>
                  <a:pt x="1325" y="2033065"/>
                </a:lnTo>
                <a:lnTo>
                  <a:pt x="0" y="2000249"/>
                </a:lnTo>
                <a:lnTo>
                  <a:pt x="0" y="1400174"/>
                </a:lnTo>
                <a:lnTo>
                  <a:pt x="0" y="400049"/>
                </a:lnTo>
                <a:close/>
              </a:path>
            </a:pathLst>
          </a:custGeom>
          <a:ln w="28956">
            <a:solidFill>
              <a:srgbClr val="000000"/>
            </a:solidFill>
          </a:ln>
        </p:spPr>
        <p:txBody>
          <a:bodyPr wrap="square" lIns="0" tIns="0" rIns="0" bIns="0" rtlCol="0"/>
          <a:lstStyle/>
          <a:p>
            <a:endParaRPr/>
          </a:p>
        </p:txBody>
      </p:sp>
      <p:sp>
        <p:nvSpPr>
          <p:cNvPr id="21" name="object 21"/>
          <p:cNvSpPr txBox="1">
            <a:spLocks noGrp="1"/>
          </p:cNvSpPr>
          <p:nvPr>
            <p:ph type="title"/>
          </p:nvPr>
        </p:nvSpPr>
        <p:spPr>
          <a:xfrm>
            <a:off x="8145906" y="229552"/>
            <a:ext cx="3701415" cy="330200"/>
          </a:xfrm>
          <a:prstGeom prst="rect">
            <a:avLst/>
          </a:prstGeom>
        </p:spPr>
        <p:txBody>
          <a:bodyPr vert="horz" wrap="square" lIns="0" tIns="0" rIns="0" bIns="0" rtlCol="0">
            <a:spAutoFit/>
          </a:bodyPr>
          <a:lstStyle/>
          <a:p>
            <a:pPr marL="12700">
              <a:lnSpc>
                <a:spcPts val="2835"/>
              </a:lnSpc>
            </a:pPr>
            <a:r>
              <a:rPr sz="2400" dirty="0">
                <a:latin typeface="宋体"/>
                <a:cs typeface="宋体"/>
              </a:rPr>
              <a:t>递增计数，高电平有效时：</a:t>
            </a:r>
            <a:endParaRPr sz="2400">
              <a:latin typeface="宋体"/>
              <a:cs typeface="宋体"/>
            </a:endParaRPr>
          </a:p>
        </p:txBody>
      </p:sp>
      <p:sp>
        <p:nvSpPr>
          <p:cNvPr id="22" name="object 22"/>
          <p:cNvSpPr txBox="1"/>
          <p:nvPr/>
        </p:nvSpPr>
        <p:spPr>
          <a:xfrm>
            <a:off x="8145906" y="595312"/>
            <a:ext cx="3380740" cy="365760"/>
          </a:xfrm>
          <a:prstGeom prst="rect">
            <a:avLst/>
          </a:prstGeom>
        </p:spPr>
        <p:txBody>
          <a:bodyPr vert="horz" wrap="square" lIns="0" tIns="0" rIns="0" bIns="0" rtlCol="0">
            <a:spAutoFit/>
          </a:bodyPr>
          <a:lstStyle/>
          <a:p>
            <a:pPr marL="12700">
              <a:lnSpc>
                <a:spcPct val="100000"/>
              </a:lnSpc>
            </a:pPr>
            <a:r>
              <a:rPr sz="2400" spc="-235" dirty="0">
                <a:latin typeface="Segoe UI Symbol"/>
                <a:cs typeface="Segoe UI Symbol"/>
              </a:rPr>
              <a:t>⚫</a:t>
            </a:r>
            <a:r>
              <a:rPr sz="2400" spc="245" dirty="0">
                <a:latin typeface="Segoe UI Symbol"/>
                <a:cs typeface="Segoe UI Symbol"/>
              </a:rPr>
              <a:t> </a:t>
            </a:r>
            <a:r>
              <a:rPr sz="2400" b="1" spc="-5" dirty="0">
                <a:latin typeface="Consolas"/>
                <a:cs typeface="Consolas"/>
              </a:rPr>
              <a:t>PWM</a:t>
            </a:r>
            <a:r>
              <a:rPr sz="2400" b="1" spc="-10" dirty="0">
                <a:latin typeface="Consolas"/>
                <a:cs typeface="Consolas"/>
              </a:rPr>
              <a:t>1</a:t>
            </a:r>
            <a:r>
              <a:rPr sz="2400" b="1" dirty="0">
                <a:latin typeface="宋体"/>
                <a:cs typeface="宋体"/>
              </a:rPr>
              <a:t>模式下的</a:t>
            </a:r>
            <a:r>
              <a:rPr sz="2400" b="1" spc="-5" dirty="0">
                <a:latin typeface="Consolas"/>
                <a:cs typeface="Consolas"/>
              </a:rPr>
              <a:t>CCR</a:t>
            </a:r>
            <a:r>
              <a:rPr sz="2400" b="1" dirty="0">
                <a:latin typeface="宋体"/>
                <a:cs typeface="宋体"/>
              </a:rPr>
              <a:t>用于</a:t>
            </a:r>
            <a:endParaRPr sz="2400">
              <a:latin typeface="宋体"/>
              <a:cs typeface="宋体"/>
            </a:endParaRPr>
          </a:p>
        </p:txBody>
      </p:sp>
      <p:sp>
        <p:nvSpPr>
          <p:cNvPr id="23" name="object 23"/>
          <p:cNvSpPr txBox="1"/>
          <p:nvPr/>
        </p:nvSpPr>
        <p:spPr>
          <a:xfrm>
            <a:off x="8145906" y="960810"/>
            <a:ext cx="3429000" cy="732155"/>
          </a:xfrm>
          <a:prstGeom prst="rect">
            <a:avLst/>
          </a:prstGeom>
        </p:spPr>
        <p:txBody>
          <a:bodyPr vert="horz" wrap="square" lIns="0" tIns="0" rIns="0" bIns="0" rtlCol="0">
            <a:spAutoFit/>
          </a:bodyPr>
          <a:lstStyle/>
          <a:p>
            <a:pPr marL="349250">
              <a:lnSpc>
                <a:spcPct val="100000"/>
              </a:lnSpc>
            </a:pPr>
            <a:r>
              <a:rPr sz="2400" b="1" dirty="0">
                <a:latin typeface="宋体"/>
                <a:cs typeface="宋体"/>
              </a:rPr>
              <a:t>控制高电平持续的时间</a:t>
            </a:r>
            <a:endParaRPr sz="2400">
              <a:latin typeface="宋体"/>
              <a:cs typeface="宋体"/>
            </a:endParaRPr>
          </a:p>
          <a:p>
            <a:pPr marL="12700">
              <a:lnSpc>
                <a:spcPct val="100000"/>
              </a:lnSpc>
            </a:pPr>
            <a:r>
              <a:rPr sz="2400" spc="-235" dirty="0">
                <a:latin typeface="Segoe UI Symbol"/>
                <a:cs typeface="Segoe UI Symbol"/>
              </a:rPr>
              <a:t>⚫</a:t>
            </a:r>
            <a:r>
              <a:rPr sz="2400" spc="245" dirty="0">
                <a:latin typeface="Segoe UI Symbol"/>
                <a:cs typeface="Segoe UI Symbol"/>
              </a:rPr>
              <a:t> </a:t>
            </a:r>
            <a:r>
              <a:rPr sz="2400" b="1" spc="-5" dirty="0">
                <a:latin typeface="Consolas"/>
                <a:cs typeface="Consolas"/>
              </a:rPr>
              <a:t>PWM</a:t>
            </a:r>
            <a:r>
              <a:rPr sz="2400" b="1" spc="-10" dirty="0">
                <a:latin typeface="Consolas"/>
                <a:cs typeface="Consolas"/>
              </a:rPr>
              <a:t>2</a:t>
            </a:r>
            <a:r>
              <a:rPr sz="2400" b="1" dirty="0">
                <a:latin typeface="宋体"/>
                <a:cs typeface="宋体"/>
              </a:rPr>
              <a:t>模式下的</a:t>
            </a:r>
            <a:r>
              <a:rPr sz="2400" b="1" spc="-5" dirty="0">
                <a:latin typeface="Consolas"/>
                <a:cs typeface="Consolas"/>
              </a:rPr>
              <a:t>CCR</a:t>
            </a:r>
            <a:r>
              <a:rPr sz="2400" b="1" dirty="0">
                <a:latin typeface="宋体"/>
                <a:cs typeface="宋体"/>
              </a:rPr>
              <a:t>用于</a:t>
            </a:r>
            <a:endParaRPr sz="2400">
              <a:latin typeface="宋体"/>
              <a:cs typeface="宋体"/>
            </a:endParaRPr>
          </a:p>
        </p:txBody>
      </p:sp>
      <p:sp>
        <p:nvSpPr>
          <p:cNvPr id="24" name="object 24"/>
          <p:cNvSpPr txBox="1"/>
          <p:nvPr/>
        </p:nvSpPr>
        <p:spPr>
          <a:xfrm>
            <a:off x="8482710" y="1692846"/>
            <a:ext cx="3091815"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控制低电平持续的时间</a:t>
            </a:r>
            <a:endParaRPr sz="2400">
              <a:latin typeface="宋体"/>
              <a:cs typeface="宋体"/>
            </a:endParaRPr>
          </a:p>
        </p:txBody>
      </p:sp>
      <p:sp>
        <p:nvSpPr>
          <p:cNvPr id="25" name="object 25"/>
          <p:cNvSpPr txBox="1"/>
          <p:nvPr/>
        </p:nvSpPr>
        <p:spPr>
          <a:xfrm>
            <a:off x="8819768" y="2058606"/>
            <a:ext cx="2169795" cy="330200"/>
          </a:xfrm>
          <a:prstGeom prst="rect">
            <a:avLst/>
          </a:prstGeom>
        </p:spPr>
        <p:txBody>
          <a:bodyPr vert="horz" wrap="square" lIns="0" tIns="0" rIns="0" bIns="0" rtlCol="0">
            <a:spAutoFit/>
          </a:bodyPr>
          <a:lstStyle/>
          <a:p>
            <a:pPr marL="12700">
              <a:lnSpc>
                <a:spcPts val="2835"/>
              </a:lnSpc>
            </a:pPr>
            <a:r>
              <a:rPr sz="2400" b="1" dirty="0">
                <a:solidFill>
                  <a:srgbClr val="FF0000"/>
                </a:solidFill>
                <a:latin typeface="宋体"/>
                <a:cs typeface="宋体"/>
              </a:rPr>
              <a:t>总结：互补输出</a:t>
            </a:r>
            <a:endParaRPr sz="2400">
              <a:latin typeface="宋体"/>
              <a:cs typeface="宋体"/>
            </a:endParaRPr>
          </a:p>
        </p:txBody>
      </p:sp>
      <p:graphicFrame>
        <p:nvGraphicFramePr>
          <p:cNvPr id="18" name="object 18"/>
          <p:cNvGraphicFramePr>
            <a:graphicFrameLocks noGrp="1"/>
          </p:cNvGraphicFramePr>
          <p:nvPr/>
        </p:nvGraphicFramePr>
        <p:xfrm>
          <a:off x="859536" y="4140708"/>
          <a:ext cx="10744199" cy="2321814"/>
        </p:xfrm>
        <a:graphic>
          <a:graphicData uri="http://schemas.openxmlformats.org/drawingml/2006/table">
            <a:tbl>
              <a:tblPr firstRow="1" bandRow="1">
                <a:tableStyleId>{2D5ABB26-0587-4C30-8999-92F81FD0307C}</a:tableStyleId>
              </a:tblPr>
              <a:tblGrid>
                <a:gridCol w="4043934">
                  <a:extLst>
                    <a:ext uri="{9D8B030D-6E8A-4147-A177-3AD203B41FA5}">
                      <a16:colId xmlns:a16="http://schemas.microsoft.com/office/drawing/2014/main" val="20000"/>
                    </a:ext>
                  </a:extLst>
                </a:gridCol>
                <a:gridCol w="2653283">
                  <a:extLst>
                    <a:ext uri="{9D8B030D-6E8A-4147-A177-3AD203B41FA5}">
                      <a16:colId xmlns:a16="http://schemas.microsoft.com/office/drawing/2014/main" val="20001"/>
                    </a:ext>
                  </a:extLst>
                </a:gridCol>
                <a:gridCol w="4046982">
                  <a:extLst>
                    <a:ext uri="{9D8B030D-6E8A-4147-A177-3AD203B41FA5}">
                      <a16:colId xmlns:a16="http://schemas.microsoft.com/office/drawing/2014/main" val="20002"/>
                    </a:ext>
                  </a:extLst>
                </a:gridCol>
              </a:tblGrid>
              <a:tr h="381762">
                <a:tc>
                  <a:txBody>
                    <a:bodyPr/>
                    <a:lstStyle/>
                    <a:p>
                      <a:endParaRPr sz="2400">
                        <a:latin typeface="微软雅黑"/>
                        <a:cs typeface="微软雅黑"/>
                      </a:endParaRPr>
                    </a:p>
                  </a:txBody>
                  <a:tcPr marL="0" marR="0" marT="0" marB="0">
                    <a:lnR w="12192">
                      <a:solidFill>
                        <a:srgbClr val="E34A46"/>
                      </a:solidFill>
                      <a:prstDash val="solid"/>
                    </a:lnR>
                    <a:lnB w="38100">
                      <a:solidFill>
                        <a:srgbClr val="E34A46"/>
                      </a:solidFill>
                      <a:prstDash val="solid"/>
                    </a:lnB>
                  </a:tcPr>
                </a:tc>
                <a:tc>
                  <a:txBody>
                    <a:bodyPr/>
                    <a:lstStyle/>
                    <a:p>
                      <a:pPr marL="445134">
                        <a:lnSpc>
                          <a:spcPts val="2270"/>
                        </a:lnSpc>
                      </a:pPr>
                      <a:r>
                        <a:rPr sz="2800" b="1" spc="40" dirty="0">
                          <a:solidFill>
                            <a:srgbClr val="FFFFFF"/>
                          </a:solidFill>
                          <a:latin typeface="微软雅黑"/>
                          <a:cs typeface="微软雅黑"/>
                        </a:rPr>
                        <a:t>P</a:t>
                      </a:r>
                      <a:r>
                        <a:rPr sz="2800" b="1" spc="-5" dirty="0">
                          <a:solidFill>
                            <a:srgbClr val="FFFFFF"/>
                          </a:solidFill>
                          <a:latin typeface="微软雅黑"/>
                          <a:cs typeface="微软雅黑"/>
                        </a:rPr>
                        <a:t>W</a:t>
                      </a:r>
                      <a:r>
                        <a:rPr sz="2800" b="1" spc="5" dirty="0">
                          <a:solidFill>
                            <a:srgbClr val="FFFFFF"/>
                          </a:solidFill>
                          <a:latin typeface="微软雅黑"/>
                          <a:cs typeface="微软雅黑"/>
                        </a:rPr>
                        <a:t>M</a:t>
                      </a:r>
                      <a:r>
                        <a:rPr sz="2800" b="1" spc="-5" dirty="0">
                          <a:solidFill>
                            <a:srgbClr val="FFFFFF"/>
                          </a:solidFill>
                          <a:latin typeface="微软雅黑"/>
                          <a:cs typeface="微软雅黑"/>
                        </a:rPr>
                        <a:t>模式</a:t>
                      </a:r>
                      <a:r>
                        <a:rPr sz="2800" b="1" dirty="0">
                          <a:solidFill>
                            <a:srgbClr val="FFFFFF"/>
                          </a:solidFill>
                          <a:latin typeface="微软雅黑"/>
                          <a:cs typeface="微软雅黑"/>
                        </a:rPr>
                        <a:t>2</a:t>
                      </a:r>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B w="38100">
                      <a:solidFill>
                        <a:srgbClr val="E34A46"/>
                      </a:solidFill>
                      <a:prstDash val="solid"/>
                    </a:lnB>
                  </a:tcPr>
                </a:tc>
                <a:extLst>
                  <a:ext uri="{0D108BD9-81ED-4DB2-BD59-A6C34878D82A}">
                    <a16:rowId xmlns:a16="http://schemas.microsoft.com/office/drawing/2014/main" val="10000"/>
                  </a:ext>
                </a:extLst>
              </a:tr>
              <a:tr h="258318">
                <a:tc>
                  <a:txBody>
                    <a:bodyPr/>
                    <a:lstStyle/>
                    <a:p>
                      <a:endParaRPr sz="2800">
                        <a:latin typeface="微软雅黑"/>
                        <a:cs typeface="微软雅黑"/>
                      </a:endParaRPr>
                    </a:p>
                  </a:txBody>
                  <a:tcPr marL="0" marR="0" marT="0" marB="0">
                    <a:lnL w="38100">
                      <a:solidFill>
                        <a:srgbClr val="E34A46"/>
                      </a:solidFill>
                      <a:prstDash val="solid"/>
                    </a:lnL>
                    <a:lnR w="12192">
                      <a:solidFill>
                        <a:srgbClr val="E34A46"/>
                      </a:solidFill>
                      <a:prstDash val="solid"/>
                    </a:lnR>
                    <a:lnT w="38100">
                      <a:solidFill>
                        <a:srgbClr val="E34A46"/>
                      </a:solidFill>
                      <a:prstDash val="solid"/>
                    </a:lnT>
                  </a:tcPr>
                </a:tc>
                <a:tc>
                  <a:txBody>
                    <a:bodyPr/>
                    <a:lstStyle/>
                    <a:p>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R w="38100">
                      <a:solidFill>
                        <a:srgbClr val="E34A46"/>
                      </a:solidFill>
                      <a:prstDash val="solid"/>
                    </a:lnR>
                    <a:lnT w="38100">
                      <a:solidFill>
                        <a:srgbClr val="E34A46"/>
                      </a:solidFill>
                      <a:prstDash val="solid"/>
                    </a:lnT>
                  </a:tcPr>
                </a:tc>
                <a:extLst>
                  <a:ext uri="{0D108BD9-81ED-4DB2-BD59-A6C34878D82A}">
                    <a16:rowId xmlns:a16="http://schemas.microsoft.com/office/drawing/2014/main" val="10001"/>
                  </a:ext>
                </a:extLst>
              </a:tr>
              <a:tr h="1468374">
                <a:tc gridSpan="3">
                  <a:txBody>
                    <a:bodyPr/>
                    <a:lstStyle/>
                    <a:p>
                      <a:pPr marL="419734" marR="396240">
                        <a:lnSpc>
                          <a:spcPct val="150000"/>
                        </a:lnSpc>
                      </a:pPr>
                      <a:r>
                        <a:rPr sz="2400" b="1" dirty="0">
                          <a:latin typeface="微软雅黑"/>
                          <a:cs typeface="微软雅黑"/>
                        </a:rPr>
                        <a:t>递增计数时，当</a:t>
                      </a:r>
                      <a:r>
                        <a:rPr sz="2400" b="1" spc="-5" dirty="0">
                          <a:latin typeface="微软雅黑"/>
                          <a:cs typeface="微软雅黑"/>
                        </a:rPr>
                        <a:t>TIM</a:t>
                      </a:r>
                      <a:r>
                        <a:rPr sz="2400" b="1" spc="-10" dirty="0">
                          <a:latin typeface="微软雅黑"/>
                          <a:cs typeface="微软雅黑"/>
                        </a:rPr>
                        <a:t>x_</a:t>
                      </a:r>
                      <a:r>
                        <a:rPr sz="2400" b="1" spc="-5" dirty="0">
                          <a:latin typeface="微软雅黑"/>
                          <a:cs typeface="微软雅黑"/>
                        </a:rPr>
                        <a:t>C</a:t>
                      </a:r>
                      <a:r>
                        <a:rPr sz="2400" b="1" spc="5" dirty="0">
                          <a:latin typeface="微软雅黑"/>
                          <a:cs typeface="微软雅黑"/>
                        </a:rPr>
                        <a:t>N</a:t>
                      </a:r>
                      <a:r>
                        <a:rPr sz="2400" b="1" dirty="0">
                          <a:latin typeface="微软雅黑"/>
                          <a:cs typeface="微软雅黑"/>
                        </a:rPr>
                        <a:t>T（</a:t>
                      </a:r>
                      <a:r>
                        <a:rPr sz="2400" b="1" spc="-15" dirty="0">
                          <a:latin typeface="微软雅黑"/>
                          <a:cs typeface="微软雅黑"/>
                        </a:rPr>
                        <a:t>当</a:t>
                      </a:r>
                      <a:r>
                        <a:rPr sz="2400" b="1" dirty="0">
                          <a:latin typeface="微软雅黑"/>
                          <a:cs typeface="微软雅黑"/>
                        </a:rPr>
                        <a:t>前计数值）</a:t>
                      </a:r>
                      <a:r>
                        <a:rPr sz="2400" b="1" spc="-5" dirty="0">
                          <a:latin typeface="微软雅黑"/>
                          <a:cs typeface="微软雅黑"/>
                        </a:rPr>
                        <a:t>&lt;TIM</a:t>
                      </a:r>
                      <a:r>
                        <a:rPr sz="2400" b="1" spc="-10" dirty="0">
                          <a:latin typeface="微软雅黑"/>
                          <a:cs typeface="微软雅黑"/>
                        </a:rPr>
                        <a:t>x_</a:t>
                      </a:r>
                      <a:r>
                        <a:rPr sz="2400" b="1" spc="-70" dirty="0">
                          <a:latin typeface="微软雅黑"/>
                          <a:cs typeface="微软雅黑"/>
                        </a:rPr>
                        <a:t>C</a:t>
                      </a:r>
                      <a:r>
                        <a:rPr sz="2400" b="1" spc="-5" dirty="0">
                          <a:latin typeface="微软雅黑"/>
                          <a:cs typeface="微软雅黑"/>
                        </a:rPr>
                        <a:t>C</a:t>
                      </a:r>
                      <a:r>
                        <a:rPr sz="2400" b="1" dirty="0">
                          <a:latin typeface="微软雅黑"/>
                          <a:cs typeface="微软雅黑"/>
                        </a:rPr>
                        <a:t>R（捕获</a:t>
                      </a:r>
                      <a:r>
                        <a:rPr sz="2400" b="1" spc="-10" dirty="0">
                          <a:latin typeface="微软雅黑"/>
                          <a:cs typeface="微软雅黑"/>
                        </a:rPr>
                        <a:t>/</a:t>
                      </a:r>
                      <a:r>
                        <a:rPr sz="2400" b="1" dirty="0">
                          <a:latin typeface="微软雅黑"/>
                          <a:cs typeface="微软雅黑"/>
                        </a:rPr>
                        <a:t>比较值） 时，通道输出为</a:t>
                      </a:r>
                      <a:r>
                        <a:rPr sz="2400" b="1" dirty="0">
                          <a:solidFill>
                            <a:srgbClr val="FF0000"/>
                          </a:solidFill>
                          <a:latin typeface="微软雅黑"/>
                          <a:cs typeface="微软雅黑"/>
                        </a:rPr>
                        <a:t>无效电平</a:t>
                      </a:r>
                      <a:r>
                        <a:rPr sz="2400" b="1" dirty="0">
                          <a:latin typeface="微软雅黑"/>
                          <a:cs typeface="微软雅黑"/>
                        </a:rPr>
                        <a:t>，否则为有效电平。递减计数模式则刚好相反。</a:t>
                      </a:r>
                      <a:endParaRPr sz="2400">
                        <a:latin typeface="微软雅黑"/>
                        <a:cs typeface="微软雅黑"/>
                      </a:endParaRPr>
                    </a:p>
                  </a:txBody>
                  <a:tcPr marL="0" marR="0" marT="0" marB="0">
                    <a:lnL w="38100">
                      <a:solidFill>
                        <a:srgbClr val="E34A46"/>
                      </a:solidFill>
                      <a:prstDash val="solid"/>
                    </a:lnL>
                    <a:lnR w="38100">
                      <a:solidFill>
                        <a:srgbClr val="E34A46"/>
                      </a:solidFill>
                      <a:prstDash val="solid"/>
                    </a:lnR>
                    <a:lnB w="38100">
                      <a:solidFill>
                        <a:srgbClr val="E34A46"/>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564994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32892" y="689601"/>
            <a:ext cx="10515600" cy="1325563"/>
          </a:xfrm>
          <a:prstGeom prst="rect">
            <a:avLst/>
          </a:prstGeom>
        </p:spPr>
        <p:txBody>
          <a:bodyPr vert="horz" wrap="square" lIns="0" tIns="0" rIns="0" bIns="0" rtlCol="0">
            <a:spAutoFit/>
          </a:bodyPr>
          <a:lstStyle/>
          <a:p>
            <a:pPr marL="6985">
              <a:lnSpc>
                <a:spcPct val="100000"/>
              </a:lnSpc>
            </a:pPr>
            <a:r>
              <a:rPr sz="2400" dirty="0">
                <a:solidFill>
                  <a:srgbClr val="FFFFFF"/>
                </a:solidFill>
              </a:rPr>
              <a:t>快速输出使能</a:t>
            </a:r>
            <a:endParaRPr sz="2400" dirty="0"/>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2" name="object 12"/>
          <p:cNvSpPr txBox="1"/>
          <p:nvPr/>
        </p:nvSpPr>
        <p:spPr>
          <a:xfrm>
            <a:off x="3343147" y="1176965"/>
            <a:ext cx="5507990"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成员变量</a:t>
            </a:r>
            <a:r>
              <a:rPr sz="2800" b="1" spc="-10" dirty="0">
                <a:latin typeface="微软雅黑"/>
                <a:cs typeface="微软雅黑"/>
              </a:rPr>
              <a:t>OC</a:t>
            </a:r>
            <a:r>
              <a:rPr sz="2800" b="1" spc="-95" dirty="0">
                <a:latin typeface="微软雅黑"/>
                <a:cs typeface="微软雅黑"/>
              </a:rPr>
              <a:t>F</a:t>
            </a:r>
            <a:r>
              <a:rPr sz="2800" b="1" spc="-5" dirty="0">
                <a:latin typeface="微软雅黑"/>
                <a:cs typeface="微软雅黑"/>
              </a:rPr>
              <a:t>astMod</a:t>
            </a:r>
            <a:r>
              <a:rPr sz="2800" b="1" dirty="0">
                <a:latin typeface="微软雅黑"/>
                <a:cs typeface="微软雅黑"/>
              </a:rPr>
              <a:t>e</a:t>
            </a:r>
            <a:r>
              <a:rPr sz="2800" b="1" spc="-5" dirty="0">
                <a:latin typeface="微软雅黑"/>
                <a:cs typeface="微软雅黑"/>
              </a:rPr>
              <a:t>的取值范围</a:t>
            </a:r>
            <a:endParaRPr sz="2800">
              <a:latin typeface="微软雅黑"/>
              <a:cs typeface="微软雅黑"/>
            </a:endParaRPr>
          </a:p>
        </p:txBody>
      </p:sp>
      <p:sp>
        <p:nvSpPr>
          <p:cNvPr id="14" name="object 14"/>
          <p:cNvSpPr/>
          <p:nvPr/>
        </p:nvSpPr>
        <p:spPr>
          <a:xfrm>
            <a:off x="1645157" y="5569458"/>
            <a:ext cx="8903335" cy="607060"/>
          </a:xfrm>
          <a:custGeom>
            <a:avLst/>
            <a:gdLst/>
            <a:ahLst/>
            <a:cxnLst/>
            <a:rect l="l" t="t" r="r" b="b"/>
            <a:pathLst>
              <a:path w="8903335" h="607060">
                <a:moveTo>
                  <a:pt x="8802116" y="0"/>
                </a:moveTo>
                <a:lnTo>
                  <a:pt x="97279" y="70"/>
                </a:lnTo>
                <a:lnTo>
                  <a:pt x="56103" y="10527"/>
                </a:lnTo>
                <a:lnTo>
                  <a:pt x="23731" y="35994"/>
                </a:lnTo>
                <a:lnTo>
                  <a:pt x="4087" y="72530"/>
                </a:lnTo>
                <a:lnTo>
                  <a:pt x="0" y="101091"/>
                </a:lnTo>
                <a:lnTo>
                  <a:pt x="70" y="509268"/>
                </a:lnTo>
                <a:lnTo>
                  <a:pt x="10518" y="550426"/>
                </a:lnTo>
                <a:lnTo>
                  <a:pt x="35973" y="582803"/>
                </a:lnTo>
                <a:lnTo>
                  <a:pt x="72512" y="602460"/>
                </a:lnTo>
                <a:lnTo>
                  <a:pt x="101092" y="606551"/>
                </a:lnTo>
                <a:lnTo>
                  <a:pt x="3709670" y="606551"/>
                </a:lnTo>
                <a:lnTo>
                  <a:pt x="8805928" y="606481"/>
                </a:lnTo>
                <a:lnTo>
                  <a:pt x="8847104" y="596024"/>
                </a:lnTo>
                <a:lnTo>
                  <a:pt x="8879476" y="570557"/>
                </a:lnTo>
                <a:lnTo>
                  <a:pt x="8899120" y="534021"/>
                </a:lnTo>
                <a:lnTo>
                  <a:pt x="8903208" y="505459"/>
                </a:lnTo>
                <a:lnTo>
                  <a:pt x="8903137" y="97283"/>
                </a:lnTo>
                <a:lnTo>
                  <a:pt x="8892689" y="56125"/>
                </a:lnTo>
                <a:lnTo>
                  <a:pt x="8867234" y="23748"/>
                </a:lnTo>
                <a:lnTo>
                  <a:pt x="8830695" y="4091"/>
                </a:lnTo>
                <a:lnTo>
                  <a:pt x="8802116" y="0"/>
                </a:lnTo>
                <a:close/>
              </a:path>
            </a:pathLst>
          </a:custGeom>
          <a:solidFill>
            <a:srgbClr val="FFFFC7"/>
          </a:solidFill>
        </p:spPr>
        <p:txBody>
          <a:bodyPr wrap="square" lIns="0" tIns="0" rIns="0" bIns="0" rtlCol="0"/>
          <a:lstStyle/>
          <a:p>
            <a:endParaRPr/>
          </a:p>
        </p:txBody>
      </p:sp>
      <p:sp>
        <p:nvSpPr>
          <p:cNvPr id="15" name="object 15"/>
          <p:cNvSpPr/>
          <p:nvPr/>
        </p:nvSpPr>
        <p:spPr>
          <a:xfrm>
            <a:off x="1645157" y="5569458"/>
            <a:ext cx="8903335" cy="607060"/>
          </a:xfrm>
          <a:custGeom>
            <a:avLst/>
            <a:gdLst/>
            <a:ahLst/>
            <a:cxnLst/>
            <a:rect l="l" t="t" r="r" b="b"/>
            <a:pathLst>
              <a:path w="8903335" h="607060">
                <a:moveTo>
                  <a:pt x="0" y="101091"/>
                </a:moveTo>
                <a:lnTo>
                  <a:pt x="8979" y="59364"/>
                </a:lnTo>
                <a:lnTo>
                  <a:pt x="33301" y="26080"/>
                </a:lnTo>
                <a:lnTo>
                  <a:pt x="69044" y="5179"/>
                </a:lnTo>
                <a:lnTo>
                  <a:pt x="1483868" y="0"/>
                </a:lnTo>
                <a:lnTo>
                  <a:pt x="3709670" y="0"/>
                </a:lnTo>
                <a:lnTo>
                  <a:pt x="8802116" y="0"/>
                </a:lnTo>
                <a:lnTo>
                  <a:pt x="8816731" y="1047"/>
                </a:lnTo>
                <a:lnTo>
                  <a:pt x="8856092" y="15587"/>
                </a:lnTo>
                <a:lnTo>
                  <a:pt x="8885678" y="44162"/>
                </a:lnTo>
                <a:lnTo>
                  <a:pt x="8901564" y="82831"/>
                </a:lnTo>
                <a:lnTo>
                  <a:pt x="8903208" y="353821"/>
                </a:lnTo>
                <a:lnTo>
                  <a:pt x="8903208" y="505459"/>
                </a:lnTo>
                <a:lnTo>
                  <a:pt x="8902161" y="520063"/>
                </a:lnTo>
                <a:lnTo>
                  <a:pt x="8899120" y="534021"/>
                </a:lnTo>
                <a:lnTo>
                  <a:pt x="8879476" y="570557"/>
                </a:lnTo>
                <a:lnTo>
                  <a:pt x="8847104" y="596024"/>
                </a:lnTo>
                <a:lnTo>
                  <a:pt x="8805928" y="606481"/>
                </a:lnTo>
                <a:lnTo>
                  <a:pt x="3709670" y="606551"/>
                </a:lnTo>
                <a:lnTo>
                  <a:pt x="4146677" y="606551"/>
                </a:lnTo>
                <a:lnTo>
                  <a:pt x="1483868" y="606551"/>
                </a:lnTo>
                <a:lnTo>
                  <a:pt x="101092" y="606551"/>
                </a:lnTo>
                <a:lnTo>
                  <a:pt x="86476" y="605504"/>
                </a:lnTo>
                <a:lnTo>
                  <a:pt x="47115" y="590964"/>
                </a:lnTo>
                <a:lnTo>
                  <a:pt x="17529" y="562389"/>
                </a:lnTo>
                <a:lnTo>
                  <a:pt x="1643" y="523720"/>
                </a:lnTo>
                <a:lnTo>
                  <a:pt x="0" y="505459"/>
                </a:lnTo>
                <a:lnTo>
                  <a:pt x="0" y="353821"/>
                </a:lnTo>
                <a:lnTo>
                  <a:pt x="0" y="101091"/>
                </a:lnTo>
                <a:close/>
              </a:path>
            </a:pathLst>
          </a:custGeom>
          <a:ln w="28956">
            <a:solidFill>
              <a:srgbClr val="000000"/>
            </a:solidFill>
          </a:ln>
        </p:spPr>
        <p:txBody>
          <a:bodyPr wrap="square" lIns="0" tIns="0" rIns="0" bIns="0" rtlCol="0"/>
          <a:lstStyle/>
          <a:p>
            <a:endParaRPr/>
          </a:p>
        </p:txBody>
      </p:sp>
      <p:sp>
        <p:nvSpPr>
          <p:cNvPr id="16" name="object 16"/>
          <p:cNvSpPr txBox="1"/>
          <p:nvPr/>
        </p:nvSpPr>
        <p:spPr>
          <a:xfrm>
            <a:off x="1947164" y="5707976"/>
            <a:ext cx="8296275"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可以加快触发输入事件对通道输出的影响，默认配置为不使能</a:t>
            </a:r>
            <a:endParaRPr sz="2400">
              <a:latin typeface="宋体"/>
              <a:cs typeface="宋体"/>
            </a:endParaRPr>
          </a:p>
        </p:txBody>
      </p:sp>
      <p:graphicFrame>
        <p:nvGraphicFramePr>
          <p:cNvPr id="13" name="object 13"/>
          <p:cNvGraphicFramePr>
            <a:graphicFrameLocks noGrp="1"/>
          </p:cNvGraphicFramePr>
          <p:nvPr/>
        </p:nvGraphicFramePr>
        <p:xfrm>
          <a:off x="2343848" y="2526982"/>
          <a:ext cx="7481441" cy="2614040"/>
        </p:xfrm>
        <a:graphic>
          <a:graphicData uri="http://schemas.openxmlformats.org/drawingml/2006/table">
            <a:tbl>
              <a:tblPr firstRow="1" bandRow="1">
                <a:tableStyleId>{2D5ABB26-0587-4C30-8999-92F81FD0307C}</a:tableStyleId>
              </a:tblPr>
              <a:tblGrid>
                <a:gridCol w="4170425">
                  <a:extLst>
                    <a:ext uri="{9D8B030D-6E8A-4147-A177-3AD203B41FA5}">
                      <a16:colId xmlns:a16="http://schemas.microsoft.com/office/drawing/2014/main" val="20000"/>
                    </a:ext>
                  </a:extLst>
                </a:gridCol>
                <a:gridCol w="3311016">
                  <a:extLst>
                    <a:ext uri="{9D8B030D-6E8A-4147-A177-3AD203B41FA5}">
                      <a16:colId xmlns:a16="http://schemas.microsoft.com/office/drawing/2014/main" val="20001"/>
                    </a:ext>
                  </a:extLst>
                </a:gridCol>
              </a:tblGrid>
              <a:tr h="871346">
                <a:tc>
                  <a:txBody>
                    <a:bodyPr/>
                    <a:lstStyle/>
                    <a:p>
                      <a:pPr marL="1309370">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905"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871347">
                <a:tc>
                  <a:txBody>
                    <a:bodyPr/>
                    <a:lstStyle/>
                    <a:p>
                      <a:pPr marL="37338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140" dirty="0">
                          <a:latin typeface="微软雅黑"/>
                          <a:cs typeface="微软雅黑"/>
                        </a:rPr>
                        <a:t>F</a:t>
                      </a:r>
                      <a:r>
                        <a:rPr sz="2400" b="1" dirty="0">
                          <a:latin typeface="微软雅黑"/>
                          <a:cs typeface="微软雅黑"/>
                        </a:rPr>
                        <a:t>A</a:t>
                      </a:r>
                      <a:r>
                        <a:rPr sz="2400" b="1" spc="-10" dirty="0">
                          <a:latin typeface="微软雅黑"/>
                          <a:cs typeface="微软雅黑"/>
                        </a:rPr>
                        <a:t>S</a:t>
                      </a:r>
                      <a:r>
                        <a:rPr sz="2400" b="1" spc="-5" dirty="0">
                          <a:latin typeface="微软雅黑"/>
                          <a:cs typeface="微软雅黑"/>
                        </a:rPr>
                        <a:t>T_DISA</a:t>
                      </a:r>
                      <a:r>
                        <a:rPr sz="2400" b="1" dirty="0">
                          <a:latin typeface="微软雅黑"/>
                          <a:cs typeface="微软雅黑"/>
                        </a:rPr>
                        <a:t>BLE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84175">
                        <a:lnSpc>
                          <a:spcPct val="100000"/>
                        </a:lnSpc>
                      </a:pPr>
                      <a:r>
                        <a:rPr sz="2400" b="1" dirty="0">
                          <a:latin typeface="微软雅黑"/>
                          <a:cs typeface="微软雅黑"/>
                        </a:rPr>
                        <a:t>不使能快速输出模式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71347">
                <a:tc>
                  <a:txBody>
                    <a:bodyPr/>
                    <a:lstStyle/>
                    <a:p>
                      <a:pPr marL="42100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O</a:t>
                      </a:r>
                      <a:r>
                        <a:rPr sz="2400" b="1" spc="5" dirty="0">
                          <a:latin typeface="微软雅黑"/>
                          <a:cs typeface="微软雅黑"/>
                        </a:rPr>
                        <a:t>C</a:t>
                      </a:r>
                      <a:r>
                        <a:rPr sz="2400" b="1" spc="-140" dirty="0">
                          <a:latin typeface="微软雅黑"/>
                          <a:cs typeface="微软雅黑"/>
                        </a:rPr>
                        <a:t>F</a:t>
                      </a:r>
                      <a:r>
                        <a:rPr sz="2400" b="1" dirty="0">
                          <a:latin typeface="微软雅黑"/>
                          <a:cs typeface="微软雅黑"/>
                        </a:rPr>
                        <a:t>A</a:t>
                      </a:r>
                      <a:r>
                        <a:rPr sz="2400" b="1" spc="-10" dirty="0">
                          <a:latin typeface="微软雅黑"/>
                          <a:cs typeface="微软雅黑"/>
                        </a:rPr>
                        <a:t>S</a:t>
                      </a:r>
                      <a:r>
                        <a:rPr sz="2400" b="1" spc="-5" dirty="0">
                          <a:latin typeface="微软雅黑"/>
                          <a:cs typeface="微软雅黑"/>
                        </a:rPr>
                        <a:t>T_ENABLE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6575">
                        <a:lnSpc>
                          <a:spcPct val="100000"/>
                        </a:lnSpc>
                      </a:pPr>
                      <a:r>
                        <a:rPr sz="2400" b="1" dirty="0">
                          <a:latin typeface="微软雅黑"/>
                          <a:cs typeface="微软雅黑"/>
                        </a:rPr>
                        <a:t>使能快速输出模式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204806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0509" y="6610699"/>
            <a:ext cx="284480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txBox="1">
            <a:spLocks noGrp="1"/>
          </p:cNvSpPr>
          <p:nvPr>
            <p:ph type="title"/>
          </p:nvPr>
        </p:nvSpPr>
        <p:spPr>
          <a:xfrm>
            <a:off x="1703577" y="566095"/>
            <a:ext cx="8785860" cy="381000"/>
          </a:xfrm>
          <a:prstGeom prst="rect">
            <a:avLst/>
          </a:prstGeom>
        </p:spPr>
        <p:txBody>
          <a:bodyPr vert="horz" wrap="square" lIns="0" tIns="0" rIns="0" bIns="0" rtlCol="0">
            <a:spAutoFit/>
          </a:bodyPr>
          <a:lstStyle/>
          <a:p>
            <a:pPr marL="12700">
              <a:lnSpc>
                <a:spcPct val="100000"/>
              </a:lnSpc>
              <a:tabLst>
                <a:tab pos="443865" algn="l"/>
              </a:tabLst>
            </a:pPr>
            <a:r>
              <a:rPr spc="-5" dirty="0">
                <a:latin typeface="微软雅黑"/>
                <a:cs typeface="微软雅黑"/>
              </a:rPr>
              <a:t>1	</a:t>
            </a:r>
            <a:r>
              <a:rPr spc="-5" dirty="0"/>
              <a:t>定时</a:t>
            </a:r>
            <a:r>
              <a:rPr spc="-10" dirty="0"/>
              <a:t>器</a:t>
            </a:r>
            <a:r>
              <a:rPr spc="30" dirty="0">
                <a:latin typeface="微软雅黑"/>
                <a:cs typeface="微软雅黑"/>
              </a:rPr>
              <a:t>P</a:t>
            </a:r>
            <a:r>
              <a:rPr spc="-10" dirty="0">
                <a:latin typeface="微软雅黑"/>
                <a:cs typeface="微软雅黑"/>
              </a:rPr>
              <a:t>W</a:t>
            </a:r>
            <a:r>
              <a:rPr spc="0" dirty="0">
                <a:latin typeface="微软雅黑"/>
                <a:cs typeface="微软雅黑"/>
              </a:rPr>
              <a:t>M</a:t>
            </a:r>
            <a:r>
              <a:rPr spc="-5" dirty="0"/>
              <a:t>输出启动函数：</a:t>
            </a:r>
            <a:r>
              <a:rPr spc="-10" dirty="0">
                <a:latin typeface="微软雅黑"/>
                <a:cs typeface="微软雅黑"/>
              </a:rPr>
              <a:t>H</a:t>
            </a:r>
            <a:r>
              <a:rPr dirty="0">
                <a:latin typeface="微软雅黑"/>
                <a:cs typeface="微软雅黑"/>
              </a:rPr>
              <a:t>A</a:t>
            </a:r>
            <a:r>
              <a:rPr spc="-5" dirty="0">
                <a:latin typeface="微软雅黑"/>
                <a:cs typeface="微软雅黑"/>
              </a:rPr>
              <a:t>L</a:t>
            </a:r>
            <a:r>
              <a:rPr spc="-20" dirty="0">
                <a:latin typeface="微软雅黑"/>
                <a:cs typeface="微软雅黑"/>
              </a:rPr>
              <a:t>_</a:t>
            </a:r>
            <a:r>
              <a:rPr spc="-10" dirty="0">
                <a:latin typeface="微软雅黑"/>
                <a:cs typeface="微软雅黑"/>
              </a:rPr>
              <a:t>TI</a:t>
            </a:r>
            <a:r>
              <a:rPr spc="0" dirty="0">
                <a:latin typeface="微软雅黑"/>
                <a:cs typeface="微软雅黑"/>
              </a:rPr>
              <a:t>M</a:t>
            </a:r>
            <a:r>
              <a:rPr spc="-10" dirty="0">
                <a:latin typeface="微软雅黑"/>
                <a:cs typeface="微软雅黑"/>
              </a:rPr>
              <a:t>_</a:t>
            </a:r>
            <a:r>
              <a:rPr spc="30" dirty="0">
                <a:latin typeface="微软雅黑"/>
                <a:cs typeface="微软雅黑"/>
              </a:rPr>
              <a:t>P</a:t>
            </a:r>
            <a:r>
              <a:rPr spc="-10" dirty="0">
                <a:latin typeface="微软雅黑"/>
                <a:cs typeface="微软雅黑"/>
              </a:rPr>
              <a:t>W</a:t>
            </a:r>
            <a:r>
              <a:rPr spc="0" dirty="0">
                <a:latin typeface="微软雅黑"/>
                <a:cs typeface="微软雅黑"/>
              </a:rPr>
              <a:t>M</a:t>
            </a:r>
            <a:r>
              <a:rPr spc="-10" dirty="0">
                <a:latin typeface="微软雅黑"/>
                <a:cs typeface="微软雅黑"/>
              </a:rPr>
              <a:t>_</a:t>
            </a:r>
            <a:r>
              <a:rPr spc="-75" dirty="0">
                <a:latin typeface="微软雅黑"/>
                <a:cs typeface="微软雅黑"/>
              </a:rPr>
              <a:t>S</a:t>
            </a:r>
            <a:r>
              <a:rPr spc="-10" dirty="0">
                <a:latin typeface="微软雅黑"/>
                <a:cs typeface="微软雅黑"/>
              </a:rPr>
              <a:t>ta</a:t>
            </a:r>
            <a:r>
              <a:rPr spc="75" dirty="0">
                <a:latin typeface="微软雅黑"/>
                <a:cs typeface="微软雅黑"/>
              </a:rPr>
              <a:t>r</a:t>
            </a:r>
            <a:r>
              <a:rPr spc="-5" dirty="0">
                <a:latin typeface="微软雅黑"/>
                <a:cs typeface="微软雅黑"/>
              </a:rPr>
              <a:t>t</a:t>
            </a:r>
          </a:p>
        </p:txBody>
      </p:sp>
      <p:sp>
        <p:nvSpPr>
          <p:cNvPr id="4" name="object 4"/>
          <p:cNvSpPr/>
          <p:nvPr/>
        </p:nvSpPr>
        <p:spPr>
          <a:xfrm>
            <a:off x="1778254" y="5496280"/>
            <a:ext cx="10235565" cy="1054100"/>
          </a:xfrm>
          <a:custGeom>
            <a:avLst/>
            <a:gdLst/>
            <a:ahLst/>
            <a:cxnLst/>
            <a:rect l="l" t="t" r="r" b="b"/>
            <a:pathLst>
              <a:path w="10235565" h="1054100">
                <a:moveTo>
                  <a:pt x="0" y="1053744"/>
                </a:moveTo>
                <a:lnTo>
                  <a:pt x="10235565" y="1053744"/>
                </a:lnTo>
                <a:lnTo>
                  <a:pt x="10235565" y="0"/>
                </a:lnTo>
                <a:lnTo>
                  <a:pt x="0" y="0"/>
                </a:lnTo>
                <a:lnTo>
                  <a:pt x="0" y="1053744"/>
                </a:lnTo>
                <a:close/>
              </a:path>
            </a:pathLst>
          </a:custGeom>
          <a:solidFill>
            <a:srgbClr val="FFFFFF"/>
          </a:solidFill>
        </p:spPr>
        <p:txBody>
          <a:bodyPr wrap="square" lIns="0" tIns="0" rIns="0" bIns="0" rtlCol="0"/>
          <a:lstStyle/>
          <a:p>
            <a:endParaRPr/>
          </a:p>
        </p:txBody>
      </p:sp>
      <p:graphicFrame>
        <p:nvGraphicFramePr>
          <p:cNvPr id="5" name="object 5"/>
          <p:cNvGraphicFramePr>
            <a:graphicFrameLocks noGrp="1"/>
          </p:cNvGraphicFramePr>
          <p:nvPr/>
        </p:nvGraphicFramePr>
        <p:xfrm>
          <a:off x="163944" y="1178496"/>
          <a:ext cx="11835587" cy="5357239"/>
        </p:xfrm>
        <a:graphic>
          <a:graphicData uri="http://schemas.openxmlformats.org/drawingml/2006/table">
            <a:tbl>
              <a:tblPr firstRow="1" bandRow="1">
                <a:tableStyleId>{2D5ABB26-0587-4C30-8999-92F81FD0307C}</a:tableStyleId>
              </a:tblPr>
              <a:tblGrid>
                <a:gridCol w="1600022">
                  <a:extLst>
                    <a:ext uri="{9D8B030D-6E8A-4147-A177-3AD203B41FA5}">
                      <a16:colId xmlns:a16="http://schemas.microsoft.com/office/drawing/2014/main" val="20000"/>
                    </a:ext>
                  </a:extLst>
                </a:gridCol>
                <a:gridCol w="10235565">
                  <a:extLst>
                    <a:ext uri="{9D8B030D-6E8A-4147-A177-3AD203B41FA5}">
                      <a16:colId xmlns:a16="http://schemas.microsoft.com/office/drawing/2014/main" val="20001"/>
                    </a:ext>
                  </a:extLst>
                </a:gridCol>
              </a:tblGrid>
              <a:tr h="526795">
                <a:tc gridSpan="2">
                  <a:txBody>
                    <a:bodyPr/>
                    <a:lstStyle/>
                    <a:p>
                      <a:pPr marL="3515995">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40" dirty="0">
                          <a:solidFill>
                            <a:srgbClr val="FFFFFF"/>
                          </a:solidFill>
                          <a:latin typeface="微软雅黑"/>
                          <a:cs typeface="微软雅黑"/>
                        </a:rPr>
                        <a:t>P</a:t>
                      </a:r>
                      <a:r>
                        <a:rPr sz="2400" b="1" spc="-5" dirty="0">
                          <a:solidFill>
                            <a:srgbClr val="FFFFFF"/>
                          </a:solidFill>
                          <a:latin typeface="微软雅黑"/>
                          <a:cs typeface="微软雅黑"/>
                        </a:rPr>
                        <a:t>WM</a:t>
                      </a:r>
                      <a:r>
                        <a:rPr sz="2400" b="1" dirty="0">
                          <a:solidFill>
                            <a:srgbClr val="FFFFFF"/>
                          </a:solidFill>
                          <a:latin typeface="微软雅黑"/>
                          <a:cs typeface="微软雅黑"/>
                        </a:rPr>
                        <a:t>_</a:t>
                      </a:r>
                      <a:r>
                        <a:rPr sz="2400" b="1" spc="-80" dirty="0">
                          <a:solidFill>
                            <a:srgbClr val="FFFFFF"/>
                          </a:solidFill>
                          <a:latin typeface="微软雅黑"/>
                          <a:cs typeface="微软雅黑"/>
                        </a:rPr>
                        <a:t>S</a:t>
                      </a:r>
                      <a:r>
                        <a:rPr sz="2400" b="1" spc="-5" dirty="0">
                          <a:solidFill>
                            <a:srgbClr val="FFFFFF"/>
                          </a:solidFill>
                          <a:latin typeface="微软雅黑"/>
                          <a:cs typeface="微软雅黑"/>
                        </a:rPr>
                        <a:t>t</a:t>
                      </a:r>
                      <a:r>
                        <a:rPr sz="2400" b="1" spc="5" dirty="0">
                          <a:solidFill>
                            <a:srgbClr val="FFFFFF"/>
                          </a:solidFill>
                          <a:latin typeface="微软雅黑"/>
                          <a:cs typeface="微软雅黑"/>
                        </a:rPr>
                        <a:t>a</a:t>
                      </a:r>
                      <a:r>
                        <a:rPr sz="2400" b="1" spc="70" dirty="0">
                          <a:solidFill>
                            <a:srgbClr val="FFFFFF"/>
                          </a:solidFill>
                          <a:latin typeface="微软雅黑"/>
                          <a:cs typeface="微软雅黑"/>
                        </a:rPr>
                        <a:t>r</a:t>
                      </a:r>
                      <a:r>
                        <a:rPr sz="2400" b="1" dirty="0">
                          <a:solidFill>
                            <a:srgbClr val="FFFFFF"/>
                          </a:solidFill>
                          <a:latin typeface="微软雅黑"/>
                          <a:cs typeface="微软雅黑"/>
                        </a:rPr>
                        <a:t>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053846">
                <a:tc>
                  <a:txBody>
                    <a:bodyPr/>
                    <a:lstStyle/>
                    <a:p>
                      <a:pPr marL="17462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20"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4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40" dirty="0">
                          <a:latin typeface="微软雅黑"/>
                          <a:cs typeface="微软雅黑"/>
                        </a:rPr>
                        <a:t>P</a:t>
                      </a:r>
                      <a:r>
                        <a:rPr sz="2400" b="1" spc="-5" dirty="0">
                          <a:latin typeface="微软雅黑"/>
                          <a:cs typeface="微软雅黑"/>
                        </a:rPr>
                        <a:t>WM</a:t>
                      </a:r>
                      <a:r>
                        <a:rPr sz="2400" b="1" dirty="0">
                          <a:latin typeface="微软雅黑"/>
                          <a:cs typeface="微软雅黑"/>
                        </a:rPr>
                        <a:t>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70" dirty="0">
                          <a:latin typeface="微软雅黑"/>
                          <a:cs typeface="微软雅黑"/>
                        </a:rPr>
                        <a:t>r</a:t>
                      </a:r>
                      <a:r>
                        <a:rPr sz="2400" b="1" dirty="0">
                          <a:latin typeface="微软雅黑"/>
                          <a:cs typeface="微软雅黑"/>
                        </a:rPr>
                        <a:t>t</a:t>
                      </a:r>
                      <a:endParaRPr sz="2400">
                        <a:latin typeface="微软雅黑"/>
                        <a:cs typeface="微软雅黑"/>
                      </a:endParaRPr>
                    </a:p>
                    <a:p>
                      <a:pPr marL="53975">
                        <a:lnSpc>
                          <a:spcPct val="100000"/>
                        </a:lnSpc>
                      </a:pPr>
                      <a:r>
                        <a:rPr sz="2400" b="1" dirty="0">
                          <a:latin typeface="微软雅黑"/>
                          <a:cs typeface="微软雅黑"/>
                        </a:rPr>
                        <a:t>(</a:t>
                      </a:r>
                      <a:r>
                        <a:rPr sz="2400" b="1" spc="-5" dirty="0">
                          <a:latin typeface="微软雅黑"/>
                          <a:cs typeface="微软雅黑"/>
                        </a:rPr>
                        <a:t>TIM_Handle</a:t>
                      </a:r>
                      <a:r>
                        <a:rPr sz="2400" b="1" spc="-120"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a:t>
                      </a:r>
                      <a:r>
                        <a:rPr sz="2400" b="1" spc="-15" dirty="0">
                          <a:latin typeface="微软雅黑"/>
                          <a:cs typeface="微软雅黑"/>
                        </a:rPr>
                        <a:t>m</a:t>
                      </a:r>
                      <a:r>
                        <a:rPr sz="2400" b="1" dirty="0">
                          <a:latin typeface="微软雅黑"/>
                          <a:cs typeface="微软雅黑"/>
                        </a:rPr>
                        <a:t>,</a:t>
                      </a:r>
                      <a:r>
                        <a:rPr sz="2400" b="1" spc="25" dirty="0">
                          <a:latin typeface="微软雅黑"/>
                          <a:cs typeface="微软雅黑"/>
                        </a:rPr>
                        <a:t> </a:t>
                      </a:r>
                      <a:r>
                        <a:rPr sz="2400" b="1" dirty="0">
                          <a:latin typeface="微软雅黑"/>
                          <a:cs typeface="微软雅黑"/>
                        </a:rPr>
                        <a:t>uint</a:t>
                      </a:r>
                      <a:r>
                        <a:rPr sz="2400" b="1" spc="-10" dirty="0">
                          <a:latin typeface="微软雅黑"/>
                          <a:cs typeface="微软雅黑"/>
                        </a:rPr>
                        <a:t>32</a:t>
                      </a:r>
                      <a:r>
                        <a:rPr sz="2400" b="1" dirty="0">
                          <a:latin typeface="微软雅黑"/>
                          <a:cs typeface="微软雅黑"/>
                        </a:rPr>
                        <a:t>_t</a:t>
                      </a:r>
                      <a:r>
                        <a:rPr sz="2400" b="1" spc="-20" dirty="0">
                          <a:latin typeface="微软雅黑"/>
                          <a:cs typeface="微软雅黑"/>
                        </a:rPr>
                        <a:t> </a:t>
                      </a:r>
                      <a:r>
                        <a:rPr sz="2400" b="1" spc="-5" dirty="0">
                          <a:latin typeface="微软雅黑"/>
                          <a:cs typeface="微软雅黑"/>
                        </a:rPr>
                        <a:t>Ch</a:t>
                      </a:r>
                      <a:r>
                        <a:rPr sz="2400" b="1" spc="10" dirty="0">
                          <a:latin typeface="微软雅黑"/>
                          <a:cs typeface="微软雅黑"/>
                        </a:rPr>
                        <a:t>a</a:t>
                      </a:r>
                      <a:r>
                        <a:rPr sz="2400" b="1" dirty="0">
                          <a:latin typeface="微软雅黑"/>
                          <a:cs typeface="微软雅黑"/>
                        </a:rPr>
                        <a:t>n</a:t>
                      </a:r>
                      <a:r>
                        <a:rPr sz="2400" b="1" spc="5" dirty="0">
                          <a:latin typeface="微软雅黑"/>
                          <a:cs typeface="微软雅黑"/>
                        </a:rPr>
                        <a:t>n</a:t>
                      </a:r>
                      <a:r>
                        <a:rPr sz="2400" b="1" dirty="0">
                          <a:latin typeface="微软雅黑"/>
                          <a:cs typeface="微软雅黑"/>
                        </a:rPr>
                        <a:t>el)</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26796">
                <a:tc>
                  <a:txBody>
                    <a:bodyPr/>
                    <a:lstStyle/>
                    <a:p>
                      <a:pPr marL="1746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在轮询方式下启动</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M信号输出</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26922">
                <a:tc>
                  <a:txBody>
                    <a:bodyPr/>
                    <a:lstStyle/>
                    <a:p>
                      <a:pPr marL="81915">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903732">
                <a:tc>
                  <a:txBody>
                    <a:bodyPr/>
                    <a:lstStyle/>
                    <a:p>
                      <a:pPr marL="81915">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591945" marR="2025014" indent="-1537970">
                        <a:lnSpc>
                          <a:spcPct val="100000"/>
                        </a:lnSpc>
                      </a:pPr>
                      <a:r>
                        <a:rPr sz="2400" b="1" spc="-5" dirty="0">
                          <a:latin typeface="微软雅黑"/>
                          <a:cs typeface="微软雅黑"/>
                        </a:rPr>
                        <a:t>Cha</a:t>
                      </a:r>
                      <a:r>
                        <a:rPr sz="2400" b="1" spc="10" dirty="0">
                          <a:latin typeface="微软雅黑"/>
                          <a:cs typeface="微软雅黑"/>
                        </a:rPr>
                        <a:t>n</a:t>
                      </a:r>
                      <a:r>
                        <a:rPr sz="2400" b="1" dirty="0">
                          <a:latin typeface="微软雅黑"/>
                          <a:cs typeface="微软雅黑"/>
                        </a:rPr>
                        <a:t>nel：定时器通道号</a:t>
                      </a:r>
                      <a:r>
                        <a:rPr sz="2400" b="1" spc="-15" dirty="0">
                          <a:latin typeface="微软雅黑"/>
                          <a:cs typeface="微软雅黑"/>
                        </a:rPr>
                        <a:t>，</a:t>
                      </a:r>
                      <a:r>
                        <a:rPr sz="2400" b="1" dirty="0">
                          <a:latin typeface="微软雅黑"/>
                          <a:cs typeface="微软雅黑"/>
                        </a:rPr>
                        <a:t>取值范围是</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15" dirty="0">
                          <a:latin typeface="微软雅黑"/>
                          <a:cs typeface="微软雅黑"/>
                        </a:rPr>
                        <a:t>H</a:t>
                      </a:r>
                      <a:r>
                        <a:rPr sz="2400" b="1" dirty="0">
                          <a:latin typeface="微软雅黑"/>
                          <a:cs typeface="微软雅黑"/>
                        </a:rPr>
                        <a:t>ANNEL_</a:t>
                      </a: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CHANNEL_4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765429">
                <a:tc>
                  <a:txBody>
                    <a:bodyPr/>
                    <a:lstStyle/>
                    <a:p>
                      <a:pPr marL="3270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53719">
                <a:tc>
                  <a:txBody>
                    <a:bodyPr/>
                    <a:lstStyle/>
                    <a:p>
                      <a:pPr marL="1746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该函数在定时器初始化完成之后调用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函数需要由用户调用，用于启动定时</a:t>
                      </a:r>
                      <a:r>
                        <a:rPr sz="2400" b="1" spc="5" dirty="0">
                          <a:latin typeface="微软雅黑"/>
                          <a:cs typeface="微软雅黑"/>
                        </a:rPr>
                        <a:t>器</a:t>
                      </a:r>
                      <a:r>
                        <a:rPr sz="2400" b="1" dirty="0">
                          <a:latin typeface="微软雅黑"/>
                          <a:cs typeface="微软雅黑"/>
                        </a:rPr>
                        <a:t>的指定通道输出</a:t>
                      </a:r>
                      <a:r>
                        <a:rPr sz="2400" b="1" spc="40" dirty="0">
                          <a:latin typeface="微软雅黑"/>
                          <a:cs typeface="微软雅黑"/>
                        </a:rPr>
                        <a:t>P</a:t>
                      </a:r>
                      <a:r>
                        <a:rPr sz="2400" b="1" spc="-5" dirty="0">
                          <a:latin typeface="微软雅黑"/>
                          <a:cs typeface="微软雅黑"/>
                        </a:rPr>
                        <a:t>W</a:t>
                      </a:r>
                      <a:r>
                        <a:rPr sz="2400" b="1" spc="5" dirty="0">
                          <a:latin typeface="微软雅黑"/>
                          <a:cs typeface="微软雅黑"/>
                        </a:rPr>
                        <a:t>M</a:t>
                      </a:r>
                      <a:r>
                        <a:rPr sz="2400" b="1" dirty="0">
                          <a:latin typeface="微软雅黑"/>
                          <a:cs typeface="微软雅黑"/>
                        </a:rPr>
                        <a:t>信号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108232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00605" y="5826399"/>
            <a:ext cx="10192385" cy="979805"/>
          </a:xfrm>
          <a:prstGeom prst="rect">
            <a:avLst/>
          </a:prstGeom>
        </p:spPr>
        <p:txBody>
          <a:bodyPr vert="horz" wrap="square" lIns="0" tIns="0" rIns="0" bIns="0" rtlCol="0">
            <a:spAutoFit/>
          </a:bodyPr>
          <a:lstStyle/>
          <a:p>
            <a:pPr algn="r">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txBox="1">
            <a:spLocks noGrp="1"/>
          </p:cNvSpPr>
          <p:nvPr>
            <p:ph type="title"/>
          </p:nvPr>
        </p:nvSpPr>
        <p:spPr>
          <a:xfrm>
            <a:off x="761491" y="580201"/>
            <a:ext cx="10670540" cy="381000"/>
          </a:xfrm>
          <a:prstGeom prst="rect">
            <a:avLst/>
          </a:prstGeom>
        </p:spPr>
        <p:txBody>
          <a:bodyPr vert="horz" wrap="square" lIns="0" tIns="0" rIns="0" bIns="0" rtlCol="0">
            <a:spAutoFit/>
          </a:bodyPr>
          <a:lstStyle/>
          <a:p>
            <a:pPr marL="12700">
              <a:lnSpc>
                <a:spcPct val="100000"/>
              </a:lnSpc>
              <a:tabLst>
                <a:tab pos="443865" algn="l"/>
                <a:tab pos="6258560" algn="l"/>
              </a:tabLst>
            </a:pPr>
            <a:r>
              <a:rPr spc="-5" dirty="0">
                <a:latin typeface="微软雅黑"/>
                <a:cs typeface="微软雅黑"/>
              </a:rPr>
              <a:t>2	</a:t>
            </a:r>
            <a:r>
              <a:rPr spc="-10" dirty="0"/>
              <a:t>定时器比较</a:t>
            </a:r>
            <a:r>
              <a:rPr spc="-10" dirty="0">
                <a:latin typeface="微软雅黑"/>
                <a:cs typeface="微软雅黑"/>
              </a:rPr>
              <a:t>/</a:t>
            </a:r>
            <a:r>
              <a:rPr spc="-10" dirty="0"/>
              <a:t>捕获寄存器设置函</a:t>
            </a:r>
            <a:r>
              <a:rPr dirty="0"/>
              <a:t>数：</a:t>
            </a:r>
            <a:r>
              <a:rPr u="heavy" spc="-5" dirty="0">
                <a:latin typeface="微软雅黑"/>
                <a:cs typeface="微软雅黑"/>
              </a:rPr>
              <a:t> </a:t>
            </a:r>
            <a:r>
              <a:rPr u="heavy" dirty="0">
                <a:latin typeface="微软雅黑"/>
                <a:cs typeface="微软雅黑"/>
              </a:rPr>
              <a:t>	</a:t>
            </a:r>
            <a:r>
              <a:rPr spc="-10" dirty="0">
                <a:latin typeface="微软雅黑"/>
                <a:cs typeface="微软雅黑"/>
              </a:rPr>
              <a:t>HAL</a:t>
            </a:r>
            <a:r>
              <a:rPr spc="-15" dirty="0">
                <a:latin typeface="微软雅黑"/>
                <a:cs typeface="微软雅黑"/>
              </a:rPr>
              <a:t>_</a:t>
            </a:r>
            <a:r>
              <a:rPr spc="-10" dirty="0">
                <a:latin typeface="微软雅黑"/>
                <a:cs typeface="微软雅黑"/>
              </a:rPr>
              <a:t>TIM_S</a:t>
            </a:r>
            <a:r>
              <a:rPr spc="20" dirty="0">
                <a:latin typeface="微软雅黑"/>
                <a:cs typeface="微软雅黑"/>
              </a:rPr>
              <a:t>E</a:t>
            </a:r>
            <a:r>
              <a:rPr spc="-5" dirty="0">
                <a:latin typeface="微软雅黑"/>
                <a:cs typeface="微软雅黑"/>
              </a:rPr>
              <a:t>T_</a:t>
            </a:r>
            <a:r>
              <a:rPr spc="-40" dirty="0">
                <a:latin typeface="微软雅黑"/>
                <a:cs typeface="微软雅黑"/>
              </a:rPr>
              <a:t>C</a:t>
            </a:r>
            <a:r>
              <a:rPr spc="-10" dirty="0">
                <a:latin typeface="微软雅黑"/>
                <a:cs typeface="微软雅黑"/>
              </a:rPr>
              <a:t>OM</a:t>
            </a:r>
            <a:r>
              <a:rPr spc="-180" dirty="0">
                <a:latin typeface="微软雅黑"/>
                <a:cs typeface="微软雅黑"/>
              </a:rPr>
              <a:t>P</a:t>
            </a:r>
            <a:r>
              <a:rPr spc="-5" dirty="0">
                <a:latin typeface="微软雅黑"/>
                <a:cs typeface="微软雅黑"/>
              </a:rPr>
              <a:t>ARE</a:t>
            </a:r>
          </a:p>
        </p:txBody>
      </p:sp>
      <p:sp>
        <p:nvSpPr>
          <p:cNvPr id="5" name="object 5"/>
          <p:cNvSpPr/>
          <p:nvPr/>
        </p:nvSpPr>
        <p:spPr>
          <a:xfrm>
            <a:off x="1869313" y="2042229"/>
            <a:ext cx="273685" cy="0"/>
          </a:xfrm>
          <a:custGeom>
            <a:avLst/>
            <a:gdLst/>
            <a:ahLst/>
            <a:cxnLst/>
            <a:rect l="l" t="t" r="r" b="b"/>
            <a:pathLst>
              <a:path w="273685">
                <a:moveTo>
                  <a:pt x="0" y="0"/>
                </a:moveTo>
                <a:lnTo>
                  <a:pt x="273100" y="0"/>
                </a:lnTo>
              </a:path>
            </a:pathLst>
          </a:custGeom>
          <a:ln w="19197">
            <a:solidFill>
              <a:srgbClr val="000000"/>
            </a:solidFill>
          </a:ln>
        </p:spPr>
        <p:txBody>
          <a:bodyPr wrap="square" lIns="0" tIns="0" rIns="0" bIns="0" rtlCol="0"/>
          <a:lstStyle/>
          <a:p>
            <a:endParaRPr/>
          </a:p>
        </p:txBody>
      </p:sp>
      <p:sp>
        <p:nvSpPr>
          <p:cNvPr id="6" name="object 6"/>
          <p:cNvSpPr/>
          <p:nvPr/>
        </p:nvSpPr>
        <p:spPr>
          <a:xfrm>
            <a:off x="1869313" y="4300543"/>
            <a:ext cx="273685" cy="0"/>
          </a:xfrm>
          <a:custGeom>
            <a:avLst/>
            <a:gdLst/>
            <a:ahLst/>
            <a:cxnLst/>
            <a:rect l="l" t="t" r="r" b="b"/>
            <a:pathLst>
              <a:path w="273685">
                <a:moveTo>
                  <a:pt x="0" y="0"/>
                </a:moveTo>
                <a:lnTo>
                  <a:pt x="273100" y="0"/>
                </a:lnTo>
              </a:path>
            </a:pathLst>
          </a:custGeom>
          <a:ln w="19197">
            <a:solidFill>
              <a:srgbClr val="000000"/>
            </a:solidFill>
          </a:ln>
        </p:spPr>
        <p:txBody>
          <a:bodyPr wrap="square" lIns="0" tIns="0" rIns="0" bIns="0" rtlCol="0"/>
          <a:lstStyle/>
          <a:p>
            <a:endParaRPr/>
          </a:p>
        </p:txBody>
      </p:sp>
      <p:graphicFrame>
        <p:nvGraphicFramePr>
          <p:cNvPr id="4" name="object 4"/>
          <p:cNvGraphicFramePr>
            <a:graphicFrameLocks noGrp="1"/>
          </p:cNvGraphicFramePr>
          <p:nvPr/>
        </p:nvGraphicFramePr>
        <p:xfrm>
          <a:off x="194602" y="1091882"/>
          <a:ext cx="11774195" cy="5699470"/>
        </p:xfrm>
        <a:graphic>
          <a:graphicData uri="http://schemas.openxmlformats.org/drawingml/2006/table">
            <a:tbl>
              <a:tblPr firstRow="1" bandRow="1">
                <a:tableStyleId>{2D5ABB26-0587-4C30-8999-92F81FD0307C}</a:tableStyleId>
              </a:tblPr>
              <a:tblGrid>
                <a:gridCol w="1591716">
                  <a:extLst>
                    <a:ext uri="{9D8B030D-6E8A-4147-A177-3AD203B41FA5}">
                      <a16:colId xmlns:a16="http://schemas.microsoft.com/office/drawing/2014/main" val="20000"/>
                    </a:ext>
                  </a:extLst>
                </a:gridCol>
                <a:gridCol w="10182479">
                  <a:extLst>
                    <a:ext uri="{9D8B030D-6E8A-4147-A177-3AD203B41FA5}">
                      <a16:colId xmlns:a16="http://schemas.microsoft.com/office/drawing/2014/main" val="20001"/>
                    </a:ext>
                  </a:extLst>
                </a:gridCol>
              </a:tblGrid>
              <a:tr h="489584">
                <a:tc gridSpan="2">
                  <a:txBody>
                    <a:bodyPr/>
                    <a:lstStyle/>
                    <a:p>
                      <a:pPr marL="3086100">
                        <a:lnSpc>
                          <a:spcPct val="100000"/>
                        </a:lnSpc>
                        <a:tabLst>
                          <a:tab pos="4884420" algn="l"/>
                        </a:tabLst>
                      </a:pPr>
                      <a:r>
                        <a:rPr sz="2400" b="1" spc="-5" dirty="0">
                          <a:solidFill>
                            <a:srgbClr val="FFFFFF"/>
                          </a:solidFill>
                          <a:latin typeface="微软雅黑"/>
                          <a:cs typeface="微软雅黑"/>
                        </a:rPr>
                        <a:t>接口函数</a:t>
                      </a:r>
                      <a:r>
                        <a:rPr sz="2400" b="1" dirty="0">
                          <a:solidFill>
                            <a:srgbClr val="FFFFFF"/>
                          </a:solidFill>
                          <a:latin typeface="微软雅黑"/>
                          <a:cs typeface="微软雅黑"/>
                        </a:rPr>
                        <a:t>：</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t>
                      </a:r>
                      <a:r>
                        <a:rPr sz="2400" b="1" spc="-15" dirty="0">
                          <a:solidFill>
                            <a:srgbClr val="FFFFFF"/>
                          </a:solidFill>
                          <a:latin typeface="微软雅黑"/>
                          <a:cs typeface="微软雅黑"/>
                        </a:rPr>
                        <a:t>A</a:t>
                      </a:r>
                      <a:r>
                        <a:rPr sz="2400" b="1" dirty="0">
                          <a:solidFill>
                            <a:srgbClr val="FFFFFF"/>
                          </a:solidFill>
                          <a:latin typeface="微软雅黑"/>
                          <a:cs typeface="微软雅黑"/>
                        </a:rPr>
                        <a:t>L_TIM_S</a:t>
                      </a:r>
                      <a:r>
                        <a:rPr sz="2400" b="1" spc="5" dirty="0">
                          <a:solidFill>
                            <a:srgbClr val="FFFFFF"/>
                          </a:solidFill>
                          <a:latin typeface="微软雅黑"/>
                          <a:cs typeface="微软雅黑"/>
                        </a:rPr>
                        <a:t>E</a:t>
                      </a:r>
                      <a:r>
                        <a:rPr sz="2400" b="1" spc="-5" dirty="0">
                          <a:solidFill>
                            <a:srgbClr val="FFFFFF"/>
                          </a:solidFill>
                          <a:latin typeface="微软雅黑"/>
                          <a:cs typeface="微软雅黑"/>
                        </a:rPr>
                        <a:t>T_</a:t>
                      </a:r>
                      <a:r>
                        <a:rPr sz="2400" b="1" spc="-35" dirty="0">
                          <a:solidFill>
                            <a:srgbClr val="FFFFFF"/>
                          </a:solidFill>
                          <a:latin typeface="微软雅黑"/>
                          <a:cs typeface="微软雅黑"/>
                        </a:rPr>
                        <a:t>C</a:t>
                      </a:r>
                      <a:r>
                        <a:rPr sz="2400" b="1" spc="-5" dirty="0">
                          <a:solidFill>
                            <a:srgbClr val="FFFFFF"/>
                          </a:solidFill>
                          <a:latin typeface="微软雅黑"/>
                          <a:cs typeface="微软雅黑"/>
                        </a:rPr>
                        <a:t>OM</a:t>
                      </a:r>
                      <a:r>
                        <a:rPr sz="2400" b="1" spc="-155" dirty="0">
                          <a:solidFill>
                            <a:srgbClr val="FFFFFF"/>
                          </a:solidFill>
                          <a:latin typeface="微软雅黑"/>
                          <a:cs typeface="微软雅黑"/>
                        </a:rPr>
                        <a:t>P</a:t>
                      </a:r>
                      <a:r>
                        <a:rPr sz="2400" b="1" dirty="0">
                          <a:solidFill>
                            <a:srgbClr val="FFFFFF"/>
                          </a:solidFill>
                          <a:latin typeface="微软雅黑"/>
                          <a:cs typeface="微软雅黑"/>
                        </a:rPr>
                        <a:t>ARE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98017">
                <a:tc>
                  <a:txBody>
                    <a:bodyPr/>
                    <a:lstStyle/>
                    <a:p>
                      <a:pPr marL="171450">
                        <a:lnSpc>
                          <a:spcPct val="100000"/>
                        </a:lnSpc>
                      </a:pPr>
                      <a:r>
                        <a:rPr sz="2400" b="1" spc="-5"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28295">
                        <a:lnSpc>
                          <a:spcPct val="100000"/>
                        </a:lnSpc>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L_TIM_S</a:t>
                      </a:r>
                      <a:r>
                        <a:rPr sz="2400" b="1" spc="10" dirty="0">
                          <a:latin typeface="微软雅黑"/>
                          <a:cs typeface="微软雅黑"/>
                        </a:rPr>
                        <a:t>E</a:t>
                      </a:r>
                      <a:r>
                        <a:rPr sz="2400" b="1" spc="-5" dirty="0">
                          <a:latin typeface="微软雅黑"/>
                          <a:cs typeface="微软雅黑"/>
                        </a:rPr>
                        <a:t>T_</a:t>
                      </a:r>
                      <a:r>
                        <a:rPr sz="2400" b="1" spc="-30" dirty="0">
                          <a:latin typeface="微软雅黑"/>
                          <a:cs typeface="微软雅黑"/>
                        </a:rPr>
                        <a:t>C</a:t>
                      </a:r>
                      <a:r>
                        <a:rPr sz="2400" b="1" spc="-5" dirty="0">
                          <a:latin typeface="微软雅黑"/>
                          <a:cs typeface="微软雅黑"/>
                        </a:rPr>
                        <a:t>O</a:t>
                      </a:r>
                      <a:r>
                        <a:rPr sz="2400" b="1" spc="5" dirty="0">
                          <a:latin typeface="微软雅黑"/>
                          <a:cs typeface="微软雅黑"/>
                        </a:rPr>
                        <a:t>M</a:t>
                      </a:r>
                      <a:r>
                        <a:rPr sz="2400" b="1" spc="-165" dirty="0">
                          <a:latin typeface="微软雅黑"/>
                          <a:cs typeface="微软雅黑"/>
                        </a:rPr>
                        <a:t>P</a:t>
                      </a:r>
                      <a:r>
                        <a:rPr sz="2400" b="1" dirty="0">
                          <a:latin typeface="微软雅黑"/>
                          <a:cs typeface="微软雅黑"/>
                        </a:rPr>
                        <a:t>ARE</a:t>
                      </a:r>
                      <a:endParaRPr sz="2400">
                        <a:latin typeface="微软雅黑"/>
                        <a:cs typeface="微软雅黑"/>
                      </a:endParaRPr>
                    </a:p>
                    <a:p>
                      <a:pPr marL="53975">
                        <a:lnSpc>
                          <a:spcPct val="100000"/>
                        </a:lnSpc>
                        <a:tabLst>
                          <a:tab pos="446405" algn="l"/>
                          <a:tab pos="2039620" algn="l"/>
                          <a:tab pos="2492375" algn="l"/>
                          <a:tab pos="4308475" algn="l"/>
                          <a:tab pos="4758690" algn="l"/>
                          <a:tab pos="6593205" algn="l"/>
                        </a:tabLst>
                      </a:pPr>
                      <a:r>
                        <a:rPr sz="2400" b="1" dirty="0">
                          <a:latin typeface="微软雅黑"/>
                          <a:cs typeface="微软雅黑"/>
                        </a:rPr>
                        <a:t>(</a:t>
                      </a:r>
                      <a:r>
                        <a:rPr sz="2400" b="1" u="heavy" dirty="0">
                          <a:latin typeface="微软雅黑"/>
                          <a:cs typeface="微软雅黑"/>
                        </a:rPr>
                        <a:t> 	</a:t>
                      </a:r>
                      <a:r>
                        <a:rPr sz="2400" b="1" dirty="0">
                          <a:latin typeface="微软雅黑"/>
                          <a:cs typeface="微软雅黑"/>
                        </a:rPr>
                        <a:t>HAN</a:t>
                      </a:r>
                      <a:r>
                        <a:rPr sz="2400" b="1" spc="-15" dirty="0">
                          <a:latin typeface="微软雅黑"/>
                          <a:cs typeface="微软雅黑"/>
                        </a:rPr>
                        <a:t>D</a:t>
                      </a:r>
                      <a:r>
                        <a:rPr sz="2400" b="1" dirty="0">
                          <a:latin typeface="微软雅黑"/>
                          <a:cs typeface="微软雅黑"/>
                        </a:rPr>
                        <a:t>L</a:t>
                      </a:r>
                      <a:r>
                        <a:rPr sz="2400" b="1" spc="-15" dirty="0">
                          <a:latin typeface="微软雅黑"/>
                          <a:cs typeface="微软雅黑"/>
                        </a:rPr>
                        <a:t>E</a:t>
                      </a:r>
                      <a:r>
                        <a:rPr sz="2400" b="1" u="heavy" dirty="0">
                          <a:latin typeface="微软雅黑"/>
                          <a:cs typeface="微软雅黑"/>
                        </a:rPr>
                        <a:t> 	</a:t>
                      </a:r>
                      <a:r>
                        <a:rPr sz="2400" b="1" dirty="0">
                          <a:latin typeface="微软雅黑"/>
                          <a:cs typeface="微软雅黑"/>
                        </a:rPr>
                        <a:t>,</a:t>
                      </a:r>
                      <a:r>
                        <a:rPr sz="2400" b="1" spc="5" dirty="0">
                          <a:latin typeface="微软雅黑"/>
                          <a:cs typeface="微软雅黑"/>
                        </a:rPr>
                        <a:t> </a:t>
                      </a:r>
                      <a:r>
                        <a:rPr sz="2400" b="1" u="heavy" dirty="0">
                          <a:latin typeface="微软雅黑"/>
                          <a:cs typeface="微软雅黑"/>
                        </a:rPr>
                        <a:t> 	</a:t>
                      </a:r>
                      <a:r>
                        <a:rPr sz="2400" b="1" spc="-5" dirty="0">
                          <a:latin typeface="微软雅黑"/>
                          <a:cs typeface="微软雅黑"/>
                        </a:rPr>
                        <a:t>CH</a:t>
                      </a:r>
                      <a:r>
                        <a:rPr sz="2400" b="1" spc="-10" dirty="0">
                          <a:latin typeface="微软雅黑"/>
                          <a:cs typeface="微软雅黑"/>
                        </a:rPr>
                        <a:t>A</a:t>
                      </a:r>
                      <a:r>
                        <a:rPr sz="2400" b="1" spc="-5" dirty="0">
                          <a:latin typeface="微软雅黑"/>
                          <a:cs typeface="微软雅黑"/>
                        </a:rPr>
                        <a:t>NNEL</a:t>
                      </a:r>
                      <a:r>
                        <a:rPr sz="2400" b="1" u="heavy" dirty="0">
                          <a:latin typeface="微软雅黑"/>
                          <a:cs typeface="微软雅黑"/>
                        </a:rPr>
                        <a:t> 	</a:t>
                      </a:r>
                      <a:r>
                        <a:rPr sz="2400" b="1" dirty="0">
                          <a:latin typeface="微软雅黑"/>
                          <a:cs typeface="微软雅黑"/>
                        </a:rPr>
                        <a:t>,</a:t>
                      </a:r>
                      <a:r>
                        <a:rPr sz="2400" b="1" spc="-15" dirty="0">
                          <a:latin typeface="微软雅黑"/>
                          <a:cs typeface="微软雅黑"/>
                        </a:rPr>
                        <a:t> </a:t>
                      </a:r>
                      <a:r>
                        <a:rPr sz="2400" b="1" u="heavy" dirty="0">
                          <a:latin typeface="微软雅黑"/>
                          <a:cs typeface="微软雅黑"/>
                        </a:rPr>
                        <a:t> 	</a:t>
                      </a:r>
                      <a:r>
                        <a:rPr sz="2400" b="1" spc="-35" dirty="0">
                          <a:latin typeface="微软雅黑"/>
                          <a:cs typeface="微软雅黑"/>
                        </a:rPr>
                        <a:t>C</a:t>
                      </a:r>
                      <a:r>
                        <a:rPr sz="2400" b="1" spc="-5" dirty="0">
                          <a:latin typeface="微软雅黑"/>
                          <a:cs typeface="微软雅黑"/>
                        </a:rPr>
                        <a:t>OM</a:t>
                      </a:r>
                      <a:r>
                        <a:rPr sz="2400" b="1" spc="-155" dirty="0">
                          <a:latin typeface="微软雅黑"/>
                          <a:cs typeface="微软雅黑"/>
                        </a:rPr>
                        <a:t>P</a:t>
                      </a:r>
                      <a:r>
                        <a:rPr sz="2400" b="1" dirty="0">
                          <a:latin typeface="微软雅黑"/>
                          <a:cs typeface="微软雅黑"/>
                        </a:rPr>
                        <a:t>AR</a:t>
                      </a:r>
                      <a:r>
                        <a:rPr sz="2400" b="1" spc="-10" dirty="0">
                          <a:latin typeface="微软雅黑"/>
                          <a:cs typeface="微软雅黑"/>
                        </a:rPr>
                        <a:t>E</a:t>
                      </a:r>
                      <a:r>
                        <a:rPr sz="2400" b="1" u="heavy" dirty="0">
                          <a:latin typeface="微软雅黑"/>
                          <a:cs typeface="微软雅黑"/>
                        </a:rPr>
                        <a:t> 	</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85113">
                <a:tc>
                  <a:txBody>
                    <a:bodyPr/>
                    <a:lstStyle/>
                    <a:p>
                      <a:pPr marL="17145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marR="314325">
                        <a:lnSpc>
                          <a:spcPct val="100000"/>
                        </a:lnSpc>
                      </a:pPr>
                      <a:r>
                        <a:rPr sz="2400" b="1" dirty="0">
                          <a:latin typeface="微软雅黑"/>
                          <a:cs typeface="微软雅黑"/>
                        </a:rPr>
                        <a:t>设置捕获</a:t>
                      </a:r>
                      <a:r>
                        <a:rPr sz="2400" b="1" spc="5" dirty="0">
                          <a:latin typeface="微软雅黑"/>
                          <a:cs typeface="微软雅黑"/>
                        </a:rPr>
                        <a:t>/</a:t>
                      </a:r>
                      <a:r>
                        <a:rPr sz="2400" b="1" dirty="0">
                          <a:latin typeface="微软雅黑"/>
                          <a:cs typeface="微软雅黑"/>
                        </a:rPr>
                        <a:t>比较寄存器</a:t>
                      </a:r>
                      <a:r>
                        <a:rPr sz="2400" b="1" spc="-5" dirty="0">
                          <a:latin typeface="微软雅黑"/>
                          <a:cs typeface="微软雅黑"/>
                        </a:rPr>
                        <a:t>TIMx</a:t>
                      </a:r>
                      <a:r>
                        <a:rPr sz="2400" b="1" spc="10" dirty="0">
                          <a:latin typeface="微软雅黑"/>
                          <a:cs typeface="微软雅黑"/>
                        </a:rPr>
                        <a:t>_</a:t>
                      </a:r>
                      <a:r>
                        <a:rPr sz="2400" b="1" spc="-70" dirty="0">
                          <a:latin typeface="微软雅黑"/>
                          <a:cs typeface="微软雅黑"/>
                        </a:rPr>
                        <a:t>C</a:t>
                      </a:r>
                      <a:r>
                        <a:rPr sz="2400" b="1" spc="-5" dirty="0">
                          <a:latin typeface="微软雅黑"/>
                          <a:cs typeface="微软雅黑"/>
                        </a:rPr>
                        <a:t>CR</a:t>
                      </a:r>
                      <a:r>
                        <a:rPr sz="2400" b="1" dirty="0">
                          <a:latin typeface="微软雅黑"/>
                          <a:cs typeface="微软雅黑"/>
                        </a:rPr>
                        <a:t>的值。在</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M输出时，用于改变</a:t>
                      </a:r>
                      <a:r>
                        <a:rPr sz="2400" b="1" spc="40" dirty="0">
                          <a:latin typeface="微软雅黑"/>
                          <a:cs typeface="微软雅黑"/>
                        </a:rPr>
                        <a:t>P</a:t>
                      </a:r>
                      <a:r>
                        <a:rPr sz="2400" b="1" spc="-5" dirty="0">
                          <a:latin typeface="微软雅黑"/>
                          <a:cs typeface="微软雅黑"/>
                        </a:rPr>
                        <a:t>WM </a:t>
                      </a:r>
                      <a:r>
                        <a:rPr sz="2400" b="1" dirty="0">
                          <a:latin typeface="微软雅黑"/>
                          <a:cs typeface="微软雅黑"/>
                        </a:rPr>
                        <a:t>信号的占空比</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33907">
                <a:tc>
                  <a:txBody>
                    <a:bodyPr/>
                    <a:lstStyle/>
                    <a:p>
                      <a:pPr marL="381635">
                        <a:lnSpc>
                          <a:spcPct val="100000"/>
                        </a:lnSpc>
                      </a:pPr>
                      <a:r>
                        <a:rPr sz="2400" b="1" dirty="0">
                          <a:latin typeface="微软雅黑"/>
                          <a:cs typeface="微软雅黑"/>
                        </a:rPr>
                        <a:t>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Lst>
                      </a:pPr>
                      <a:r>
                        <a:rPr sz="2400" b="1" u="heavy"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NDL</a:t>
                      </a:r>
                      <a:r>
                        <a:rPr sz="2400" b="1" spc="-10" dirty="0">
                          <a:latin typeface="微软雅黑"/>
                          <a:cs typeface="微软雅黑"/>
                        </a:rPr>
                        <a:t>E</a:t>
                      </a:r>
                      <a:r>
                        <a:rPr sz="2400" b="1" u="heavy" dirty="0">
                          <a:latin typeface="微软雅黑"/>
                          <a:cs typeface="微软雅黑"/>
                        </a:rPr>
                        <a:t> 	</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979169">
                <a:tc>
                  <a:txBody>
                    <a:bodyPr/>
                    <a:lstStyle/>
                    <a:p>
                      <a:pPr marL="381635">
                        <a:lnSpc>
                          <a:spcPct val="100000"/>
                        </a:lnSpc>
                      </a:pPr>
                      <a:r>
                        <a:rPr sz="2400" b="1" dirty="0">
                          <a:latin typeface="微软雅黑"/>
                          <a:cs typeface="微软雅黑"/>
                        </a:rPr>
                        <a:t>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28295">
                        <a:lnSpc>
                          <a:spcPct val="100000"/>
                        </a:lnSpc>
                        <a:tabLst>
                          <a:tab pos="2145030" algn="l"/>
                        </a:tabLst>
                      </a:pPr>
                      <a:r>
                        <a:rPr sz="2400" b="1" spc="-5" dirty="0">
                          <a:latin typeface="微软雅黑"/>
                          <a:cs typeface="微软雅黑"/>
                        </a:rPr>
                        <a:t>CHANNEL</a:t>
                      </a:r>
                      <a:r>
                        <a:rPr sz="2400" b="1" u="heavy" dirty="0">
                          <a:latin typeface="微软雅黑"/>
                          <a:cs typeface="微软雅黑"/>
                        </a:rPr>
                        <a:t> 	</a:t>
                      </a:r>
                      <a:r>
                        <a:rPr sz="2400" b="1" dirty="0">
                          <a:latin typeface="微软雅黑"/>
                          <a:cs typeface="微软雅黑"/>
                        </a:rPr>
                        <a:t>：</a:t>
                      </a:r>
                      <a:r>
                        <a:rPr sz="2400" b="1" spc="-20" dirty="0">
                          <a:latin typeface="微软雅黑"/>
                          <a:cs typeface="微软雅黑"/>
                        </a:rPr>
                        <a:t> </a:t>
                      </a:r>
                      <a:r>
                        <a:rPr sz="2400" b="1" dirty="0">
                          <a:latin typeface="微软雅黑"/>
                          <a:cs typeface="微软雅黑"/>
                        </a:rPr>
                        <a:t>定时器通道</a:t>
                      </a:r>
                      <a:r>
                        <a:rPr sz="2400" b="1" spc="-10" dirty="0">
                          <a:latin typeface="微软雅黑"/>
                          <a:cs typeface="微软雅黑"/>
                        </a:rPr>
                        <a:t>号</a:t>
                      </a:r>
                      <a:r>
                        <a:rPr sz="2400" b="1" dirty="0">
                          <a:latin typeface="微软雅黑"/>
                          <a:cs typeface="微软雅黑"/>
                        </a:rPr>
                        <a:t>，取值范围是</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a:t>
                      </a:r>
                      <a:r>
                        <a:rPr sz="2400" b="1" spc="10" dirty="0">
                          <a:latin typeface="微软雅黑"/>
                          <a:cs typeface="微软雅黑"/>
                        </a:rPr>
                        <a:t>_</a:t>
                      </a:r>
                      <a:r>
                        <a:rPr sz="2400" b="1" spc="-5" dirty="0">
                          <a:latin typeface="微软雅黑"/>
                          <a:cs typeface="微软雅黑"/>
                        </a:rPr>
                        <a:t>1</a:t>
                      </a:r>
                      <a:r>
                        <a:rPr sz="2400" b="1" dirty="0">
                          <a:latin typeface="微软雅黑"/>
                          <a:cs typeface="微软雅黑"/>
                        </a:rPr>
                        <a:t>～</a:t>
                      </a:r>
                      <a:endParaRPr sz="2400">
                        <a:latin typeface="微软雅黑"/>
                        <a:cs typeface="微软雅黑"/>
                      </a:endParaRPr>
                    </a:p>
                    <a:p>
                      <a:pPr marL="249745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a:t>
                      </a:r>
                      <a:r>
                        <a:rPr sz="2400" b="1" spc="10" dirty="0">
                          <a:latin typeface="微软雅黑"/>
                          <a:cs typeface="微软雅黑"/>
                        </a:rPr>
                        <a:t>_</a:t>
                      </a:r>
                      <a:r>
                        <a:rPr sz="2400" b="1" dirty="0">
                          <a:latin typeface="微软雅黑"/>
                          <a:cs typeface="微软雅黑"/>
                        </a:rPr>
                        <a:t>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544830">
                <a:tc>
                  <a:txBody>
                    <a:bodyPr/>
                    <a:lstStyle/>
                    <a:p>
                      <a:pPr marL="381635">
                        <a:lnSpc>
                          <a:spcPct val="100000"/>
                        </a:lnSpc>
                      </a:pPr>
                      <a:r>
                        <a:rPr sz="2400" b="1" spc="-5" dirty="0">
                          <a:latin typeface="微软雅黑"/>
                          <a:cs typeface="微软雅黑"/>
                        </a:rPr>
                        <a:t>参</a:t>
                      </a:r>
                      <a:r>
                        <a:rPr sz="2400" b="1" dirty="0">
                          <a:latin typeface="微软雅黑"/>
                          <a:cs typeface="微软雅黑"/>
                        </a:rPr>
                        <a:t>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2163445" algn="l"/>
                        </a:tabLst>
                      </a:pPr>
                      <a:r>
                        <a:rPr sz="2400" b="1" u="heavy" dirty="0">
                          <a:latin typeface="微软雅黑"/>
                          <a:cs typeface="微软雅黑"/>
                        </a:rPr>
                        <a:t> 	</a:t>
                      </a:r>
                      <a:r>
                        <a:rPr sz="2400" b="1" spc="-35" dirty="0">
                          <a:latin typeface="微软雅黑"/>
                          <a:cs typeface="微软雅黑"/>
                        </a:rPr>
                        <a:t>C</a:t>
                      </a:r>
                      <a:r>
                        <a:rPr sz="2400" b="1" spc="-5" dirty="0">
                          <a:latin typeface="微软雅黑"/>
                          <a:cs typeface="微软雅黑"/>
                        </a:rPr>
                        <a:t>OM</a:t>
                      </a:r>
                      <a:r>
                        <a:rPr sz="2400" b="1" spc="-155" dirty="0">
                          <a:latin typeface="微软雅黑"/>
                          <a:cs typeface="微软雅黑"/>
                        </a:rPr>
                        <a:t>P</a:t>
                      </a:r>
                      <a:r>
                        <a:rPr sz="2400" b="1" dirty="0">
                          <a:latin typeface="微软雅黑"/>
                          <a:cs typeface="微软雅黑"/>
                        </a:rPr>
                        <a:t>AR</a:t>
                      </a:r>
                      <a:r>
                        <a:rPr sz="2400" b="1" spc="-10" dirty="0">
                          <a:latin typeface="微软雅黑"/>
                          <a:cs typeface="微软雅黑"/>
                        </a:rPr>
                        <a:t>E</a:t>
                      </a:r>
                      <a:r>
                        <a:rPr sz="2400" b="1" u="heavy" dirty="0">
                          <a:latin typeface="微软雅黑"/>
                          <a:cs typeface="微软雅黑"/>
                        </a:rPr>
                        <a:t> 	</a:t>
                      </a:r>
                      <a:r>
                        <a:rPr sz="2400" b="1" spc="-5" dirty="0">
                          <a:latin typeface="微软雅黑"/>
                          <a:cs typeface="微软雅黑"/>
                        </a:rPr>
                        <a:t>：写入捕获</a:t>
                      </a:r>
                      <a:r>
                        <a:rPr sz="2400" b="1" dirty="0">
                          <a:latin typeface="微软雅黑"/>
                          <a:cs typeface="微软雅黑"/>
                        </a:rPr>
                        <a:t>/</a:t>
                      </a:r>
                      <a:r>
                        <a:rPr sz="2400" b="1" spc="-5" dirty="0">
                          <a:latin typeface="微软雅黑"/>
                          <a:cs typeface="微软雅黑"/>
                        </a:rPr>
                        <a:t>比较寄存器TI</a:t>
                      </a:r>
                      <a:r>
                        <a:rPr sz="2400" b="1" spc="-15" dirty="0">
                          <a:latin typeface="微软雅黑"/>
                          <a:cs typeface="微软雅黑"/>
                        </a:rPr>
                        <a:t>Mx</a:t>
                      </a:r>
                      <a:r>
                        <a:rPr sz="2400" b="1" spc="-5" dirty="0">
                          <a:latin typeface="微软雅黑"/>
                          <a:cs typeface="微软雅黑"/>
                        </a:rPr>
                        <a:t>_</a:t>
                      </a:r>
                      <a:r>
                        <a:rPr sz="2400" b="1" spc="-80" dirty="0">
                          <a:latin typeface="微软雅黑"/>
                          <a:cs typeface="微软雅黑"/>
                        </a:rPr>
                        <a:t>C</a:t>
                      </a:r>
                      <a:r>
                        <a:rPr sz="2400" b="1" spc="-15" dirty="0">
                          <a:latin typeface="微软雅黑"/>
                          <a:cs typeface="微软雅黑"/>
                        </a:rPr>
                        <a:t>C</a:t>
                      </a:r>
                      <a:r>
                        <a:rPr sz="2400" b="1" dirty="0">
                          <a:latin typeface="微软雅黑"/>
                          <a:cs typeface="微软雅黑"/>
                        </a:rPr>
                        <a:t>R</a:t>
                      </a:r>
                      <a:r>
                        <a:rPr sz="2400" b="1" spc="-5" dirty="0">
                          <a:latin typeface="微软雅黑"/>
                          <a:cs typeface="微软雅黑"/>
                        </a:rPr>
                        <a:t>的值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489597">
                <a:tc>
                  <a:txBody>
                    <a:bodyPr/>
                    <a:lstStyle/>
                    <a:p>
                      <a:pPr marL="323850">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979253">
                <a:tc>
                  <a:txBody>
                    <a:bodyPr/>
                    <a:lstStyle/>
                    <a:p>
                      <a:pPr marL="17145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函数需要由用户调用，用</a:t>
                      </a:r>
                      <a:r>
                        <a:rPr sz="2400" b="1" spc="-25" dirty="0">
                          <a:latin typeface="微软雅黑"/>
                          <a:cs typeface="微软雅黑"/>
                        </a:rPr>
                        <a:t>于</a:t>
                      </a:r>
                      <a:r>
                        <a:rPr sz="2400" b="1" spc="40" dirty="0">
                          <a:latin typeface="微软雅黑"/>
                          <a:cs typeface="微软雅黑"/>
                        </a:rPr>
                        <a:t>P</a:t>
                      </a:r>
                      <a:r>
                        <a:rPr sz="2400" b="1" spc="-5" dirty="0">
                          <a:latin typeface="微软雅黑"/>
                          <a:cs typeface="微软雅黑"/>
                        </a:rPr>
                        <a:t>W</a:t>
                      </a:r>
                      <a:r>
                        <a:rPr sz="2400" b="1" dirty="0">
                          <a:latin typeface="微软雅黑"/>
                          <a:cs typeface="微软雅黑"/>
                        </a:rPr>
                        <a:t>M输出时，改</a:t>
                      </a:r>
                      <a:r>
                        <a:rPr sz="2400" b="1" spc="-10" dirty="0">
                          <a:latin typeface="微软雅黑"/>
                          <a:cs typeface="微软雅黑"/>
                        </a:rPr>
                        <a:t>变</a:t>
                      </a:r>
                      <a:r>
                        <a:rPr sz="2400" b="1" spc="40" dirty="0">
                          <a:latin typeface="微软雅黑"/>
                          <a:cs typeface="微软雅黑"/>
                        </a:rPr>
                        <a:t>P</a:t>
                      </a:r>
                      <a:r>
                        <a:rPr sz="2400" b="1" spc="-5" dirty="0">
                          <a:latin typeface="微软雅黑"/>
                          <a:cs typeface="微软雅黑"/>
                        </a:rPr>
                        <a:t>W</a:t>
                      </a:r>
                      <a:r>
                        <a:rPr sz="2400" b="1" spc="5" dirty="0">
                          <a:latin typeface="微软雅黑"/>
                          <a:cs typeface="微软雅黑"/>
                        </a:rPr>
                        <a:t>M</a:t>
                      </a:r>
                      <a:r>
                        <a:rPr sz="2400" b="1" dirty="0">
                          <a:latin typeface="微软雅黑"/>
                          <a:cs typeface="微软雅黑"/>
                        </a:rPr>
                        <a:t>信号的占空比</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190074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2923413" y="2772004"/>
            <a:ext cx="6344285"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1	</a:t>
            </a:r>
            <a:r>
              <a:rPr sz="5400" spc="-5" dirty="0">
                <a:solidFill>
                  <a:srgbClr val="FFFFFF"/>
                </a:solidFill>
              </a:rPr>
              <a:t>输入捕获功能概述</a:t>
            </a:r>
            <a:endParaRPr sz="5400">
              <a:latin typeface="微软雅黑"/>
              <a:cs typeface="微软雅黑"/>
            </a:endParaRPr>
          </a:p>
        </p:txBody>
      </p:sp>
    </p:spTree>
    <p:extLst>
      <p:ext uri="{BB962C8B-B14F-4D97-AF65-F5344CB8AC3E}">
        <p14:creationId xmlns:p14="http://schemas.microsoft.com/office/powerpoint/2010/main" val="34883737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a:spLocks noGrp="1"/>
          </p:cNvSpPr>
          <p:nvPr>
            <p:ph type="title"/>
          </p:nvPr>
        </p:nvSpPr>
        <p:spPr>
          <a:xfrm>
            <a:off x="224246" y="689601"/>
            <a:ext cx="10515600" cy="1325563"/>
          </a:xfrm>
          <a:prstGeom prst="rect">
            <a:avLst/>
          </a:prstGeom>
        </p:spPr>
        <p:txBody>
          <a:bodyPr vert="horz" wrap="square" lIns="0" tIns="0" rIns="0" bIns="0" rtlCol="0">
            <a:spAutoFit/>
          </a:bodyPr>
          <a:lstStyle/>
          <a:p>
            <a:pPr marL="111125">
              <a:lnSpc>
                <a:spcPct val="100000"/>
              </a:lnSpc>
            </a:pPr>
            <a:r>
              <a:rPr sz="2400" spc="-5" dirty="0">
                <a:solidFill>
                  <a:srgbClr val="FFFFFF"/>
                </a:solidFill>
              </a:rPr>
              <a:t>用途与原理</a:t>
            </a:r>
            <a:endParaRPr sz="2400" dirty="0"/>
          </a:p>
        </p:txBody>
      </p:sp>
      <p:sp>
        <p:nvSpPr>
          <p:cNvPr id="12" name="object 12"/>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5" name="object 15"/>
          <p:cNvSpPr txBox="1"/>
          <p:nvPr/>
        </p:nvSpPr>
        <p:spPr>
          <a:xfrm>
            <a:off x="3578097" y="1151692"/>
            <a:ext cx="5001260"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输入捕获功能的用途和工作原理</a:t>
            </a:r>
            <a:endParaRPr sz="2800">
              <a:latin typeface="微软雅黑"/>
              <a:cs typeface="微软雅黑"/>
            </a:endParaRPr>
          </a:p>
        </p:txBody>
      </p:sp>
      <p:graphicFrame>
        <p:nvGraphicFramePr>
          <p:cNvPr id="13" name="object 13"/>
          <p:cNvGraphicFramePr>
            <a:graphicFrameLocks noGrp="1"/>
          </p:cNvGraphicFramePr>
          <p:nvPr/>
        </p:nvGraphicFramePr>
        <p:xfrm>
          <a:off x="746759" y="1914144"/>
          <a:ext cx="10661903" cy="1600962"/>
        </p:xfrm>
        <a:graphic>
          <a:graphicData uri="http://schemas.openxmlformats.org/drawingml/2006/table">
            <a:tbl>
              <a:tblPr firstRow="1" bandRow="1">
                <a:tableStyleId>{2D5ABB26-0587-4C30-8999-92F81FD0307C}</a:tableStyleId>
              </a:tblPr>
              <a:tblGrid>
                <a:gridCol w="4495038">
                  <a:extLst>
                    <a:ext uri="{9D8B030D-6E8A-4147-A177-3AD203B41FA5}">
                      <a16:colId xmlns:a16="http://schemas.microsoft.com/office/drawing/2014/main" val="20000"/>
                    </a:ext>
                  </a:extLst>
                </a:gridCol>
                <a:gridCol w="1670303">
                  <a:extLst>
                    <a:ext uri="{9D8B030D-6E8A-4147-A177-3AD203B41FA5}">
                      <a16:colId xmlns:a16="http://schemas.microsoft.com/office/drawing/2014/main" val="20001"/>
                    </a:ext>
                  </a:extLst>
                </a:gridCol>
                <a:gridCol w="4496562">
                  <a:extLst>
                    <a:ext uri="{9D8B030D-6E8A-4147-A177-3AD203B41FA5}">
                      <a16:colId xmlns:a16="http://schemas.microsoft.com/office/drawing/2014/main" val="20002"/>
                    </a:ext>
                  </a:extLst>
                </a:gridCol>
              </a:tblGrid>
              <a:tr h="381762">
                <a:tc>
                  <a:txBody>
                    <a:bodyPr/>
                    <a:lstStyle/>
                    <a:p>
                      <a:endParaRPr sz="1800">
                        <a:latin typeface="微软雅黑"/>
                        <a:cs typeface="微软雅黑"/>
                      </a:endParaRPr>
                    </a:p>
                  </a:txBody>
                  <a:tcPr marL="0" marR="0" marT="0" marB="0">
                    <a:lnR w="12191">
                      <a:solidFill>
                        <a:srgbClr val="E34A46"/>
                      </a:solidFill>
                      <a:prstDash val="solid"/>
                    </a:lnR>
                    <a:lnB w="38100">
                      <a:solidFill>
                        <a:srgbClr val="E34A46"/>
                      </a:solidFill>
                      <a:prstDash val="solid"/>
                    </a:lnB>
                  </a:tcPr>
                </a:tc>
                <a:tc>
                  <a:txBody>
                    <a:bodyPr/>
                    <a:lstStyle/>
                    <a:p>
                      <a:pPr marL="518159">
                        <a:lnSpc>
                          <a:spcPts val="2280"/>
                        </a:lnSpc>
                      </a:pPr>
                      <a:r>
                        <a:rPr sz="2800" b="1" spc="-5" dirty="0">
                          <a:solidFill>
                            <a:srgbClr val="FFFFFF"/>
                          </a:solidFill>
                          <a:latin typeface="微软雅黑"/>
                          <a:cs typeface="微软雅黑"/>
                        </a:rPr>
                        <a:t>用途</a:t>
                      </a:r>
                      <a:endParaRPr sz="2800">
                        <a:latin typeface="微软雅黑"/>
                        <a:cs typeface="微软雅黑"/>
                      </a:endParaRPr>
                    </a:p>
                  </a:txBody>
                  <a:tcPr marL="0" marR="0" marT="0" marB="0">
                    <a:lnL w="12191"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B w="38100">
                      <a:solidFill>
                        <a:srgbClr val="E34A46"/>
                      </a:solidFill>
                      <a:prstDash val="solid"/>
                    </a:lnB>
                  </a:tcPr>
                </a:tc>
                <a:extLst>
                  <a:ext uri="{0D108BD9-81ED-4DB2-BD59-A6C34878D82A}">
                    <a16:rowId xmlns:a16="http://schemas.microsoft.com/office/drawing/2014/main" val="10000"/>
                  </a:ext>
                </a:extLst>
              </a:tr>
              <a:tr h="256793">
                <a:tc>
                  <a:txBody>
                    <a:bodyPr/>
                    <a:lstStyle/>
                    <a:p>
                      <a:endParaRPr sz="2800">
                        <a:latin typeface="微软雅黑"/>
                        <a:cs typeface="微软雅黑"/>
                      </a:endParaRPr>
                    </a:p>
                  </a:txBody>
                  <a:tcPr marL="0" marR="0" marT="0" marB="0">
                    <a:lnL w="38100">
                      <a:solidFill>
                        <a:srgbClr val="E34A46"/>
                      </a:solidFill>
                      <a:prstDash val="solid"/>
                    </a:lnL>
                    <a:lnR w="12191">
                      <a:solidFill>
                        <a:srgbClr val="E34A46"/>
                      </a:solidFill>
                      <a:prstDash val="solid"/>
                    </a:lnR>
                    <a:lnT w="38100">
                      <a:solidFill>
                        <a:srgbClr val="E34A46"/>
                      </a:solidFill>
                      <a:prstDash val="solid"/>
                    </a:lnT>
                  </a:tcPr>
                </a:tc>
                <a:tc>
                  <a:txBody>
                    <a:bodyPr/>
                    <a:lstStyle/>
                    <a:p>
                      <a:endParaRPr sz="2800">
                        <a:latin typeface="微软雅黑"/>
                        <a:cs typeface="微软雅黑"/>
                      </a:endParaRPr>
                    </a:p>
                  </a:txBody>
                  <a:tcPr marL="0" marR="0" marT="0" marB="0">
                    <a:lnL w="12191"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R w="38100">
                      <a:solidFill>
                        <a:srgbClr val="E34A46"/>
                      </a:solidFill>
                      <a:prstDash val="solid"/>
                    </a:lnR>
                    <a:lnT w="38100">
                      <a:solidFill>
                        <a:srgbClr val="E34A46"/>
                      </a:solidFill>
                      <a:prstDash val="solid"/>
                    </a:lnT>
                  </a:tcPr>
                </a:tc>
                <a:extLst>
                  <a:ext uri="{0D108BD9-81ED-4DB2-BD59-A6C34878D82A}">
                    <a16:rowId xmlns:a16="http://schemas.microsoft.com/office/drawing/2014/main" val="10001"/>
                  </a:ext>
                </a:extLst>
              </a:tr>
              <a:tr h="747522">
                <a:tc gridSpan="3">
                  <a:txBody>
                    <a:bodyPr/>
                    <a:lstStyle/>
                    <a:p>
                      <a:pPr marL="417830">
                        <a:lnSpc>
                          <a:spcPct val="100000"/>
                        </a:lnSpc>
                      </a:pPr>
                      <a:r>
                        <a:rPr sz="2400" b="1" dirty="0">
                          <a:latin typeface="微软雅黑"/>
                          <a:cs typeface="微软雅黑"/>
                        </a:rPr>
                        <a:t>用于测量信号的参数，比如周期和频率。</a:t>
                      </a:r>
                      <a:endParaRPr sz="2400">
                        <a:latin typeface="微软雅黑"/>
                        <a:cs typeface="微软雅黑"/>
                      </a:endParaRPr>
                    </a:p>
                  </a:txBody>
                  <a:tcPr marL="0" marR="0" marT="0" marB="0">
                    <a:lnL w="38100">
                      <a:solidFill>
                        <a:srgbClr val="E34A46"/>
                      </a:solidFill>
                      <a:prstDash val="solid"/>
                    </a:lnL>
                    <a:lnR w="38100">
                      <a:solidFill>
                        <a:srgbClr val="E34A46"/>
                      </a:solidFill>
                      <a:prstDash val="solid"/>
                    </a:lnR>
                    <a:lnB w="38100">
                      <a:solidFill>
                        <a:srgbClr val="E34A46"/>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aphicFrame>
        <p:nvGraphicFramePr>
          <p:cNvPr id="14" name="object 14"/>
          <p:cNvGraphicFramePr>
            <a:graphicFrameLocks noGrp="1"/>
          </p:cNvGraphicFramePr>
          <p:nvPr/>
        </p:nvGraphicFramePr>
        <p:xfrm>
          <a:off x="746759" y="3689603"/>
          <a:ext cx="10661903" cy="2791206"/>
        </p:xfrm>
        <a:graphic>
          <a:graphicData uri="http://schemas.openxmlformats.org/drawingml/2006/table">
            <a:tbl>
              <a:tblPr firstRow="1" bandRow="1">
                <a:tableStyleId>{2D5ABB26-0587-4C30-8999-92F81FD0307C}</a:tableStyleId>
              </a:tblPr>
              <a:tblGrid>
                <a:gridCol w="4495038">
                  <a:extLst>
                    <a:ext uri="{9D8B030D-6E8A-4147-A177-3AD203B41FA5}">
                      <a16:colId xmlns:a16="http://schemas.microsoft.com/office/drawing/2014/main" val="20000"/>
                    </a:ext>
                  </a:extLst>
                </a:gridCol>
                <a:gridCol w="1670303">
                  <a:extLst>
                    <a:ext uri="{9D8B030D-6E8A-4147-A177-3AD203B41FA5}">
                      <a16:colId xmlns:a16="http://schemas.microsoft.com/office/drawing/2014/main" val="20001"/>
                    </a:ext>
                  </a:extLst>
                </a:gridCol>
                <a:gridCol w="4496562">
                  <a:extLst>
                    <a:ext uri="{9D8B030D-6E8A-4147-A177-3AD203B41FA5}">
                      <a16:colId xmlns:a16="http://schemas.microsoft.com/office/drawing/2014/main" val="20002"/>
                    </a:ext>
                  </a:extLst>
                </a:gridCol>
              </a:tblGrid>
              <a:tr h="381762">
                <a:tc>
                  <a:txBody>
                    <a:bodyPr/>
                    <a:lstStyle/>
                    <a:p>
                      <a:endParaRPr sz="2400">
                        <a:latin typeface="微软雅黑"/>
                        <a:cs typeface="微软雅黑"/>
                      </a:endParaRPr>
                    </a:p>
                  </a:txBody>
                  <a:tcPr marL="0" marR="0" marT="0" marB="0">
                    <a:lnR w="12192">
                      <a:solidFill>
                        <a:srgbClr val="E34A46"/>
                      </a:solidFill>
                      <a:prstDash val="solid"/>
                    </a:lnR>
                    <a:lnB w="38099">
                      <a:solidFill>
                        <a:srgbClr val="E34A46"/>
                      </a:solidFill>
                      <a:prstDash val="solid"/>
                    </a:lnB>
                  </a:tcPr>
                </a:tc>
                <a:tc>
                  <a:txBody>
                    <a:bodyPr/>
                    <a:lstStyle/>
                    <a:p>
                      <a:pPr marL="124460">
                        <a:lnSpc>
                          <a:spcPts val="2270"/>
                        </a:lnSpc>
                      </a:pPr>
                      <a:r>
                        <a:rPr sz="2800" b="1" dirty="0">
                          <a:solidFill>
                            <a:srgbClr val="FFFFFF"/>
                          </a:solidFill>
                          <a:latin typeface="微软雅黑"/>
                          <a:cs typeface="微软雅黑"/>
                        </a:rPr>
                        <a:t>工作原理</a:t>
                      </a:r>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B w="38099">
                      <a:solidFill>
                        <a:srgbClr val="E34A46"/>
                      </a:solidFill>
                      <a:prstDash val="solid"/>
                    </a:lnB>
                  </a:tcPr>
                </a:tc>
                <a:extLst>
                  <a:ext uri="{0D108BD9-81ED-4DB2-BD59-A6C34878D82A}">
                    <a16:rowId xmlns:a16="http://schemas.microsoft.com/office/drawing/2014/main" val="10000"/>
                  </a:ext>
                </a:extLst>
              </a:tr>
              <a:tr h="258317">
                <a:tc>
                  <a:txBody>
                    <a:bodyPr/>
                    <a:lstStyle/>
                    <a:p>
                      <a:endParaRPr sz="2800">
                        <a:latin typeface="微软雅黑"/>
                        <a:cs typeface="微软雅黑"/>
                      </a:endParaRPr>
                    </a:p>
                  </a:txBody>
                  <a:tcPr marL="0" marR="0" marT="0" marB="0">
                    <a:lnL w="38099">
                      <a:solidFill>
                        <a:srgbClr val="E34A46"/>
                      </a:solidFill>
                      <a:prstDash val="solid"/>
                    </a:lnL>
                    <a:lnR w="12192">
                      <a:solidFill>
                        <a:srgbClr val="E34A46"/>
                      </a:solidFill>
                      <a:prstDash val="solid"/>
                    </a:lnR>
                    <a:lnT w="38099">
                      <a:solidFill>
                        <a:srgbClr val="E34A46"/>
                      </a:solidFill>
                      <a:prstDash val="solid"/>
                    </a:lnT>
                  </a:tcPr>
                </a:tc>
                <a:tc>
                  <a:txBody>
                    <a:bodyPr/>
                    <a:lstStyle/>
                    <a:p>
                      <a:endParaRPr sz="2800">
                        <a:latin typeface="微软雅黑"/>
                        <a:cs typeface="微软雅黑"/>
                      </a:endParaRPr>
                    </a:p>
                  </a:txBody>
                  <a:tcPr marL="0" marR="0" marT="0" marB="0">
                    <a:lnL w="12192" cap="flat" cmpd="sng" algn="ctr">
                      <a:solidFill>
                        <a:srgbClr val="E34A46"/>
                      </a:solidFill>
                      <a:prstDash val="solid"/>
                      <a:round/>
                      <a:headEnd type="none" w="med" len="med"/>
                      <a:tailEnd type="none" w="med" len="med"/>
                    </a:lnL>
                    <a:solidFill>
                      <a:srgbClr val="E34A46"/>
                    </a:solidFill>
                  </a:tcPr>
                </a:tc>
                <a:tc>
                  <a:txBody>
                    <a:bodyPr/>
                    <a:lstStyle/>
                    <a:p>
                      <a:endParaRPr sz="2800">
                        <a:latin typeface="微软雅黑"/>
                        <a:cs typeface="微软雅黑"/>
                      </a:endParaRPr>
                    </a:p>
                  </a:txBody>
                  <a:tcPr marL="0" marR="0" marT="0" marB="0">
                    <a:lnR w="38099">
                      <a:solidFill>
                        <a:srgbClr val="E34A46"/>
                      </a:solidFill>
                      <a:prstDash val="solid"/>
                    </a:lnR>
                    <a:lnT w="38099">
                      <a:solidFill>
                        <a:srgbClr val="E34A46"/>
                      </a:solidFill>
                      <a:prstDash val="solid"/>
                    </a:lnT>
                  </a:tcPr>
                </a:tc>
                <a:extLst>
                  <a:ext uri="{0D108BD9-81ED-4DB2-BD59-A6C34878D82A}">
                    <a16:rowId xmlns:a16="http://schemas.microsoft.com/office/drawing/2014/main" val="10001"/>
                  </a:ext>
                </a:extLst>
              </a:tr>
              <a:tr h="1937766">
                <a:tc gridSpan="3">
                  <a:txBody>
                    <a:bodyPr/>
                    <a:lstStyle/>
                    <a:p>
                      <a:pPr marL="417830" marR="297815">
                        <a:lnSpc>
                          <a:spcPct val="150000"/>
                        </a:lnSpc>
                      </a:pPr>
                      <a:r>
                        <a:rPr sz="2400" b="1" dirty="0">
                          <a:latin typeface="微软雅黑"/>
                          <a:cs typeface="微软雅黑"/>
                        </a:rPr>
                        <a:t>在输入捕获模式下，当捕获单元捕捉到外部信号的有效边沿（上升</a:t>
                      </a:r>
                      <a:r>
                        <a:rPr sz="2400" b="1" spc="5" dirty="0">
                          <a:latin typeface="微软雅黑"/>
                          <a:cs typeface="微软雅黑"/>
                        </a:rPr>
                        <a:t>沿/</a:t>
                      </a:r>
                      <a:r>
                        <a:rPr sz="2400" b="1" dirty="0">
                          <a:latin typeface="微软雅黑"/>
                          <a:cs typeface="微软雅黑"/>
                        </a:rPr>
                        <a:t>下降 沿</a:t>
                      </a:r>
                      <a:r>
                        <a:rPr sz="2400" b="1" spc="5" dirty="0">
                          <a:latin typeface="微软雅黑"/>
                          <a:cs typeface="微软雅黑"/>
                        </a:rPr>
                        <a:t>/</a:t>
                      </a:r>
                      <a:r>
                        <a:rPr sz="2400" b="1" dirty="0">
                          <a:latin typeface="微软雅黑"/>
                          <a:cs typeface="微软雅黑"/>
                        </a:rPr>
                        <a:t>双边沿）时，将计数器的当前值锁存到捕</a:t>
                      </a:r>
                      <a:r>
                        <a:rPr sz="2400" b="1" spc="-40" dirty="0">
                          <a:latin typeface="微软雅黑"/>
                          <a:cs typeface="微软雅黑"/>
                        </a:rPr>
                        <a:t>获</a:t>
                      </a:r>
                      <a:r>
                        <a:rPr sz="2400" b="1" spc="5" dirty="0">
                          <a:latin typeface="微软雅黑"/>
                          <a:cs typeface="微软雅黑"/>
                        </a:rPr>
                        <a:t>/</a:t>
                      </a:r>
                      <a:r>
                        <a:rPr sz="2400" b="1" dirty="0">
                          <a:latin typeface="微软雅黑"/>
                          <a:cs typeface="微软雅黑"/>
                        </a:rPr>
                        <a:t>比较寄存器</a:t>
                      </a:r>
                      <a:r>
                        <a:rPr sz="2400" b="1" spc="-5" dirty="0">
                          <a:latin typeface="微软雅黑"/>
                          <a:cs typeface="微软雅黑"/>
                        </a:rPr>
                        <a:t>TIMx</a:t>
                      </a:r>
                      <a:r>
                        <a:rPr sz="2400" b="1" spc="5" dirty="0">
                          <a:latin typeface="微软雅黑"/>
                          <a:cs typeface="微软雅黑"/>
                        </a:rPr>
                        <a:t>_</a:t>
                      </a:r>
                      <a:r>
                        <a:rPr sz="2400" b="1" spc="-70" dirty="0">
                          <a:latin typeface="微软雅黑"/>
                          <a:cs typeface="微软雅黑"/>
                        </a:rPr>
                        <a:t>C</a:t>
                      </a:r>
                      <a:r>
                        <a:rPr sz="2400" b="1" spc="-5" dirty="0">
                          <a:latin typeface="微软雅黑"/>
                          <a:cs typeface="微软雅黑"/>
                        </a:rPr>
                        <a:t>C</a:t>
                      </a:r>
                      <a:r>
                        <a:rPr sz="2400" b="1" dirty="0">
                          <a:latin typeface="微软雅黑"/>
                          <a:cs typeface="微软雅黑"/>
                        </a:rPr>
                        <a:t>R， 供用户读取。</a:t>
                      </a:r>
                      <a:endParaRPr sz="2400">
                        <a:latin typeface="微软雅黑"/>
                        <a:cs typeface="微软雅黑"/>
                      </a:endParaRPr>
                    </a:p>
                  </a:txBody>
                  <a:tcPr marL="0" marR="0" marT="0" marB="0">
                    <a:lnL w="38099">
                      <a:solidFill>
                        <a:srgbClr val="E34A46"/>
                      </a:solidFill>
                      <a:prstDash val="solid"/>
                    </a:lnL>
                    <a:lnR w="38099">
                      <a:solidFill>
                        <a:srgbClr val="E34A46"/>
                      </a:solidFill>
                      <a:prstDash val="solid"/>
                    </a:lnR>
                    <a:lnB w="38099">
                      <a:solidFill>
                        <a:srgbClr val="E34A46"/>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702377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4443095">
              <a:lnSpc>
                <a:spcPct val="100000"/>
              </a:lnSpc>
            </a:pPr>
            <a:r>
              <a:rPr spc="-5" dirty="0"/>
              <a:t>捕获通道的内部结构</a:t>
            </a:r>
          </a:p>
        </p:txBody>
      </p:sp>
      <p:sp>
        <p:nvSpPr>
          <p:cNvPr id="6" name="object 6"/>
          <p:cNvSpPr/>
          <p:nvPr/>
        </p:nvSpPr>
        <p:spPr>
          <a:xfrm>
            <a:off x="0" y="963155"/>
            <a:ext cx="2171699" cy="769632"/>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0" y="995172"/>
            <a:ext cx="2087880" cy="655320"/>
          </a:xfrm>
          <a:custGeom>
            <a:avLst/>
            <a:gdLst/>
            <a:ahLst/>
            <a:cxnLst/>
            <a:rect l="l" t="t" r="r" b="b"/>
            <a:pathLst>
              <a:path w="2087880" h="655319">
                <a:moveTo>
                  <a:pt x="0" y="0"/>
                </a:moveTo>
                <a:lnTo>
                  <a:pt x="1836420" y="0"/>
                </a:lnTo>
                <a:lnTo>
                  <a:pt x="2087880" y="327660"/>
                </a:lnTo>
                <a:lnTo>
                  <a:pt x="1836420" y="655319"/>
                </a:lnTo>
                <a:lnTo>
                  <a:pt x="0" y="655319"/>
                </a:lnTo>
              </a:path>
            </a:pathLst>
          </a:custGeom>
          <a:ln w="12192">
            <a:solidFill>
              <a:srgbClr val="E34A46"/>
            </a:solidFill>
          </a:ln>
        </p:spPr>
        <p:txBody>
          <a:bodyPr wrap="square" lIns="0" tIns="0" rIns="0" bIns="0" rtlCol="0"/>
          <a:lstStyle/>
          <a:p>
            <a:endParaRPr/>
          </a:p>
        </p:txBody>
      </p:sp>
      <p:sp>
        <p:nvSpPr>
          <p:cNvPr id="9" name="object 9"/>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1" name="object 11"/>
          <p:cNvSpPr txBox="1"/>
          <p:nvPr/>
        </p:nvSpPr>
        <p:spPr>
          <a:xfrm>
            <a:off x="77825" y="1179819"/>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捕获通道结构</a:t>
            </a:r>
            <a:endParaRPr sz="2400">
              <a:latin typeface="微软雅黑"/>
              <a:cs typeface="微软雅黑"/>
            </a:endParaRPr>
          </a:p>
        </p:txBody>
      </p:sp>
      <p:sp>
        <p:nvSpPr>
          <p:cNvPr id="12" name="object 12"/>
          <p:cNvSpPr/>
          <p:nvPr/>
        </p:nvSpPr>
        <p:spPr>
          <a:xfrm>
            <a:off x="193547" y="2086355"/>
            <a:ext cx="11804904" cy="3878579"/>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179070" y="2071877"/>
            <a:ext cx="11833860" cy="3907790"/>
          </a:xfrm>
          <a:custGeom>
            <a:avLst/>
            <a:gdLst/>
            <a:ahLst/>
            <a:cxnLst/>
            <a:rect l="l" t="t" r="r" b="b"/>
            <a:pathLst>
              <a:path w="11833860" h="3907790">
                <a:moveTo>
                  <a:pt x="0" y="3907536"/>
                </a:moveTo>
                <a:lnTo>
                  <a:pt x="11833860" y="3907536"/>
                </a:lnTo>
                <a:lnTo>
                  <a:pt x="11833860" y="0"/>
                </a:lnTo>
                <a:lnTo>
                  <a:pt x="0" y="0"/>
                </a:lnTo>
                <a:lnTo>
                  <a:pt x="0" y="3907536"/>
                </a:lnTo>
                <a:close/>
              </a:path>
            </a:pathLst>
          </a:custGeom>
          <a:ln w="28956">
            <a:solidFill>
              <a:srgbClr val="5B9BD4"/>
            </a:solidFill>
          </a:ln>
        </p:spPr>
        <p:txBody>
          <a:bodyPr wrap="square" lIns="0" tIns="0" rIns="0" bIns="0" rtlCol="0"/>
          <a:lstStyle/>
          <a:p>
            <a:endParaRPr/>
          </a:p>
        </p:txBody>
      </p:sp>
      <p:sp>
        <p:nvSpPr>
          <p:cNvPr id="14" name="object 1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15" name="object 1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16" name="object 16"/>
          <p:cNvSpPr/>
          <p:nvPr/>
        </p:nvSpPr>
        <p:spPr>
          <a:xfrm>
            <a:off x="3214877" y="3826002"/>
            <a:ext cx="1987550" cy="982980"/>
          </a:xfrm>
          <a:custGeom>
            <a:avLst/>
            <a:gdLst/>
            <a:ahLst/>
            <a:cxnLst/>
            <a:rect l="l" t="t" r="r" b="b"/>
            <a:pathLst>
              <a:path w="1987550" h="982979">
                <a:moveTo>
                  <a:pt x="0" y="982980"/>
                </a:moveTo>
                <a:lnTo>
                  <a:pt x="1987296" y="982980"/>
                </a:lnTo>
                <a:lnTo>
                  <a:pt x="1987296" y="0"/>
                </a:lnTo>
                <a:lnTo>
                  <a:pt x="0" y="0"/>
                </a:lnTo>
                <a:lnTo>
                  <a:pt x="0" y="982980"/>
                </a:lnTo>
                <a:close/>
              </a:path>
            </a:pathLst>
          </a:custGeom>
          <a:ln w="38099">
            <a:solidFill>
              <a:srgbClr val="FF0000"/>
            </a:solidFill>
          </a:ln>
        </p:spPr>
        <p:txBody>
          <a:bodyPr wrap="square" lIns="0" tIns="0" rIns="0" bIns="0" rtlCol="0"/>
          <a:lstStyle/>
          <a:p>
            <a:endParaRPr/>
          </a:p>
        </p:txBody>
      </p:sp>
      <p:sp>
        <p:nvSpPr>
          <p:cNvPr id="17" name="object 17"/>
          <p:cNvSpPr/>
          <p:nvPr/>
        </p:nvSpPr>
        <p:spPr>
          <a:xfrm>
            <a:off x="6174485" y="3832097"/>
            <a:ext cx="424180" cy="982980"/>
          </a:xfrm>
          <a:custGeom>
            <a:avLst/>
            <a:gdLst/>
            <a:ahLst/>
            <a:cxnLst/>
            <a:rect l="l" t="t" r="r" b="b"/>
            <a:pathLst>
              <a:path w="424179" h="982979">
                <a:moveTo>
                  <a:pt x="0" y="982979"/>
                </a:moveTo>
                <a:lnTo>
                  <a:pt x="423671" y="982979"/>
                </a:lnTo>
                <a:lnTo>
                  <a:pt x="423671" y="0"/>
                </a:lnTo>
                <a:lnTo>
                  <a:pt x="0" y="0"/>
                </a:lnTo>
                <a:lnTo>
                  <a:pt x="0" y="982979"/>
                </a:lnTo>
                <a:close/>
              </a:path>
            </a:pathLst>
          </a:custGeom>
          <a:ln w="38100">
            <a:solidFill>
              <a:srgbClr val="FF0000"/>
            </a:solidFill>
          </a:ln>
        </p:spPr>
        <p:txBody>
          <a:bodyPr wrap="square" lIns="0" tIns="0" rIns="0" bIns="0" rtlCol="0"/>
          <a:lstStyle/>
          <a:p>
            <a:endParaRPr/>
          </a:p>
        </p:txBody>
      </p:sp>
      <p:sp>
        <p:nvSpPr>
          <p:cNvPr id="18" name="object 18"/>
          <p:cNvSpPr/>
          <p:nvPr/>
        </p:nvSpPr>
        <p:spPr>
          <a:xfrm>
            <a:off x="5510021" y="1620774"/>
            <a:ext cx="6489700" cy="2185670"/>
          </a:xfrm>
          <a:custGeom>
            <a:avLst/>
            <a:gdLst/>
            <a:ahLst/>
            <a:cxnLst/>
            <a:rect l="l" t="t" r="r" b="b"/>
            <a:pathLst>
              <a:path w="6489700" h="2185670">
                <a:moveTo>
                  <a:pt x="2703829" y="1693164"/>
                </a:moveTo>
                <a:lnTo>
                  <a:pt x="1081531" y="1693164"/>
                </a:lnTo>
                <a:lnTo>
                  <a:pt x="818514" y="2185543"/>
                </a:lnTo>
                <a:lnTo>
                  <a:pt x="2703829" y="1693164"/>
                </a:lnTo>
                <a:close/>
              </a:path>
              <a:path w="6489700" h="2185670">
                <a:moveTo>
                  <a:pt x="6206998" y="0"/>
                </a:moveTo>
                <a:lnTo>
                  <a:pt x="282193" y="0"/>
                </a:lnTo>
                <a:lnTo>
                  <a:pt x="259052" y="935"/>
                </a:lnTo>
                <a:lnTo>
                  <a:pt x="214386" y="8202"/>
                </a:lnTo>
                <a:lnTo>
                  <a:pt x="172360" y="22179"/>
                </a:lnTo>
                <a:lnTo>
                  <a:pt x="133556" y="42284"/>
                </a:lnTo>
                <a:lnTo>
                  <a:pt x="98554" y="67936"/>
                </a:lnTo>
                <a:lnTo>
                  <a:pt x="67936" y="98554"/>
                </a:lnTo>
                <a:lnTo>
                  <a:pt x="42284" y="133556"/>
                </a:lnTo>
                <a:lnTo>
                  <a:pt x="22179" y="172360"/>
                </a:lnTo>
                <a:lnTo>
                  <a:pt x="8202" y="214386"/>
                </a:lnTo>
                <a:lnTo>
                  <a:pt x="935" y="259052"/>
                </a:lnTo>
                <a:lnTo>
                  <a:pt x="0" y="282193"/>
                </a:lnTo>
                <a:lnTo>
                  <a:pt x="0" y="1410970"/>
                </a:lnTo>
                <a:lnTo>
                  <a:pt x="3694" y="1456737"/>
                </a:lnTo>
                <a:lnTo>
                  <a:pt x="14388" y="1500156"/>
                </a:lnTo>
                <a:lnTo>
                  <a:pt x="31502" y="1540644"/>
                </a:lnTo>
                <a:lnTo>
                  <a:pt x="54453" y="1577620"/>
                </a:lnTo>
                <a:lnTo>
                  <a:pt x="82661" y="1610502"/>
                </a:lnTo>
                <a:lnTo>
                  <a:pt x="115543" y="1638710"/>
                </a:lnTo>
                <a:lnTo>
                  <a:pt x="152519" y="1661661"/>
                </a:lnTo>
                <a:lnTo>
                  <a:pt x="193007" y="1678775"/>
                </a:lnTo>
                <a:lnTo>
                  <a:pt x="236426" y="1689469"/>
                </a:lnTo>
                <a:lnTo>
                  <a:pt x="282193" y="1693164"/>
                </a:lnTo>
                <a:lnTo>
                  <a:pt x="6206998" y="1693164"/>
                </a:lnTo>
                <a:lnTo>
                  <a:pt x="6252765" y="1689469"/>
                </a:lnTo>
                <a:lnTo>
                  <a:pt x="6296184" y="1678775"/>
                </a:lnTo>
                <a:lnTo>
                  <a:pt x="6336672" y="1661661"/>
                </a:lnTo>
                <a:lnTo>
                  <a:pt x="6373648" y="1638710"/>
                </a:lnTo>
                <a:lnTo>
                  <a:pt x="6406530" y="1610502"/>
                </a:lnTo>
                <a:lnTo>
                  <a:pt x="6434738" y="1577620"/>
                </a:lnTo>
                <a:lnTo>
                  <a:pt x="6457689" y="1540644"/>
                </a:lnTo>
                <a:lnTo>
                  <a:pt x="6474803" y="1500156"/>
                </a:lnTo>
                <a:lnTo>
                  <a:pt x="6485497" y="1456737"/>
                </a:lnTo>
                <a:lnTo>
                  <a:pt x="6489192" y="1410970"/>
                </a:lnTo>
                <a:lnTo>
                  <a:pt x="6489192" y="282193"/>
                </a:lnTo>
                <a:lnTo>
                  <a:pt x="6485497" y="236426"/>
                </a:lnTo>
                <a:lnTo>
                  <a:pt x="6474803" y="193007"/>
                </a:lnTo>
                <a:lnTo>
                  <a:pt x="6457689" y="152519"/>
                </a:lnTo>
                <a:lnTo>
                  <a:pt x="6434738" y="115543"/>
                </a:lnTo>
                <a:lnTo>
                  <a:pt x="6406530" y="82661"/>
                </a:lnTo>
                <a:lnTo>
                  <a:pt x="6373648" y="54453"/>
                </a:lnTo>
                <a:lnTo>
                  <a:pt x="6336672" y="31502"/>
                </a:lnTo>
                <a:lnTo>
                  <a:pt x="6296184" y="14388"/>
                </a:lnTo>
                <a:lnTo>
                  <a:pt x="6252765" y="3694"/>
                </a:lnTo>
                <a:lnTo>
                  <a:pt x="6206998" y="0"/>
                </a:lnTo>
                <a:close/>
              </a:path>
            </a:pathLst>
          </a:custGeom>
          <a:solidFill>
            <a:srgbClr val="FFFFC7"/>
          </a:solidFill>
        </p:spPr>
        <p:txBody>
          <a:bodyPr wrap="square" lIns="0" tIns="0" rIns="0" bIns="0" rtlCol="0"/>
          <a:lstStyle/>
          <a:p>
            <a:endParaRPr/>
          </a:p>
        </p:txBody>
      </p:sp>
      <p:sp>
        <p:nvSpPr>
          <p:cNvPr id="19" name="object 19"/>
          <p:cNvSpPr/>
          <p:nvPr/>
        </p:nvSpPr>
        <p:spPr>
          <a:xfrm>
            <a:off x="5510021" y="1620774"/>
            <a:ext cx="6489700" cy="2185670"/>
          </a:xfrm>
          <a:custGeom>
            <a:avLst/>
            <a:gdLst/>
            <a:ahLst/>
            <a:cxnLst/>
            <a:rect l="l" t="t" r="r" b="b"/>
            <a:pathLst>
              <a:path w="6489700" h="2185670">
                <a:moveTo>
                  <a:pt x="0" y="282193"/>
                </a:moveTo>
                <a:lnTo>
                  <a:pt x="3694" y="236426"/>
                </a:lnTo>
                <a:lnTo>
                  <a:pt x="14388" y="193007"/>
                </a:lnTo>
                <a:lnTo>
                  <a:pt x="31502" y="152519"/>
                </a:lnTo>
                <a:lnTo>
                  <a:pt x="54453" y="115543"/>
                </a:lnTo>
                <a:lnTo>
                  <a:pt x="82661" y="82661"/>
                </a:lnTo>
                <a:lnTo>
                  <a:pt x="115543" y="54453"/>
                </a:lnTo>
                <a:lnTo>
                  <a:pt x="152519" y="31502"/>
                </a:lnTo>
                <a:lnTo>
                  <a:pt x="193007" y="14388"/>
                </a:lnTo>
                <a:lnTo>
                  <a:pt x="236426" y="3694"/>
                </a:lnTo>
                <a:lnTo>
                  <a:pt x="282193" y="0"/>
                </a:lnTo>
                <a:lnTo>
                  <a:pt x="1081531" y="0"/>
                </a:lnTo>
                <a:lnTo>
                  <a:pt x="2703829" y="0"/>
                </a:lnTo>
                <a:lnTo>
                  <a:pt x="6206998" y="0"/>
                </a:lnTo>
                <a:lnTo>
                  <a:pt x="6230139" y="935"/>
                </a:lnTo>
                <a:lnTo>
                  <a:pt x="6274805" y="8202"/>
                </a:lnTo>
                <a:lnTo>
                  <a:pt x="6316831" y="22179"/>
                </a:lnTo>
                <a:lnTo>
                  <a:pt x="6355635" y="42284"/>
                </a:lnTo>
                <a:lnTo>
                  <a:pt x="6390637" y="67936"/>
                </a:lnTo>
                <a:lnTo>
                  <a:pt x="6421255" y="98554"/>
                </a:lnTo>
                <a:lnTo>
                  <a:pt x="6446907" y="133556"/>
                </a:lnTo>
                <a:lnTo>
                  <a:pt x="6467012" y="172360"/>
                </a:lnTo>
                <a:lnTo>
                  <a:pt x="6480989" y="214386"/>
                </a:lnTo>
                <a:lnTo>
                  <a:pt x="6488256" y="259052"/>
                </a:lnTo>
                <a:lnTo>
                  <a:pt x="6489192" y="282193"/>
                </a:lnTo>
                <a:lnTo>
                  <a:pt x="6489192" y="987678"/>
                </a:lnTo>
                <a:lnTo>
                  <a:pt x="6489192" y="1410970"/>
                </a:lnTo>
                <a:lnTo>
                  <a:pt x="6488256" y="1434111"/>
                </a:lnTo>
                <a:lnTo>
                  <a:pt x="6485497" y="1456737"/>
                </a:lnTo>
                <a:lnTo>
                  <a:pt x="6474803" y="1500156"/>
                </a:lnTo>
                <a:lnTo>
                  <a:pt x="6457689" y="1540644"/>
                </a:lnTo>
                <a:lnTo>
                  <a:pt x="6434738" y="1577620"/>
                </a:lnTo>
                <a:lnTo>
                  <a:pt x="6406530" y="1610502"/>
                </a:lnTo>
                <a:lnTo>
                  <a:pt x="6373648" y="1638710"/>
                </a:lnTo>
                <a:lnTo>
                  <a:pt x="6336672" y="1661661"/>
                </a:lnTo>
                <a:lnTo>
                  <a:pt x="6296184" y="1678775"/>
                </a:lnTo>
                <a:lnTo>
                  <a:pt x="6252765" y="1689469"/>
                </a:lnTo>
                <a:lnTo>
                  <a:pt x="6206998" y="1693164"/>
                </a:lnTo>
                <a:lnTo>
                  <a:pt x="2703829" y="1693164"/>
                </a:lnTo>
                <a:lnTo>
                  <a:pt x="818514" y="2185543"/>
                </a:lnTo>
                <a:lnTo>
                  <a:pt x="1081531" y="1693164"/>
                </a:lnTo>
                <a:lnTo>
                  <a:pt x="282193" y="1693164"/>
                </a:lnTo>
                <a:lnTo>
                  <a:pt x="259052" y="1692228"/>
                </a:lnTo>
                <a:lnTo>
                  <a:pt x="214386" y="1684961"/>
                </a:lnTo>
                <a:lnTo>
                  <a:pt x="172360" y="1670984"/>
                </a:lnTo>
                <a:lnTo>
                  <a:pt x="133556" y="1650879"/>
                </a:lnTo>
                <a:lnTo>
                  <a:pt x="98554" y="1625227"/>
                </a:lnTo>
                <a:lnTo>
                  <a:pt x="67936" y="1594609"/>
                </a:lnTo>
                <a:lnTo>
                  <a:pt x="42284" y="1559607"/>
                </a:lnTo>
                <a:lnTo>
                  <a:pt x="22179" y="1520803"/>
                </a:lnTo>
                <a:lnTo>
                  <a:pt x="8202" y="1478777"/>
                </a:lnTo>
                <a:lnTo>
                  <a:pt x="935" y="1434111"/>
                </a:lnTo>
                <a:lnTo>
                  <a:pt x="0" y="1410970"/>
                </a:lnTo>
                <a:lnTo>
                  <a:pt x="0" y="987678"/>
                </a:lnTo>
                <a:lnTo>
                  <a:pt x="0" y="282193"/>
                </a:lnTo>
                <a:close/>
              </a:path>
            </a:pathLst>
          </a:custGeom>
          <a:ln w="28955">
            <a:solidFill>
              <a:srgbClr val="000000"/>
            </a:solidFill>
          </a:ln>
        </p:spPr>
        <p:txBody>
          <a:bodyPr wrap="square" lIns="0" tIns="0" rIns="0" bIns="0" rtlCol="0"/>
          <a:lstStyle/>
          <a:p>
            <a:endParaRPr/>
          </a:p>
        </p:txBody>
      </p:sp>
      <p:sp>
        <p:nvSpPr>
          <p:cNvPr id="20" name="object 20"/>
          <p:cNvSpPr txBox="1"/>
          <p:nvPr/>
        </p:nvSpPr>
        <p:spPr>
          <a:xfrm>
            <a:off x="5670930" y="1753171"/>
            <a:ext cx="6254750" cy="1463675"/>
          </a:xfrm>
          <a:prstGeom prst="rect">
            <a:avLst/>
          </a:prstGeom>
        </p:spPr>
        <p:txBody>
          <a:bodyPr vert="horz" wrap="square" lIns="0" tIns="0" rIns="0" bIns="0" rtlCol="0">
            <a:spAutoFit/>
          </a:bodyPr>
          <a:lstStyle/>
          <a:p>
            <a:pPr marL="12700">
              <a:lnSpc>
                <a:spcPct val="100000"/>
              </a:lnSpc>
            </a:pPr>
            <a:r>
              <a:rPr sz="2400" b="1" dirty="0">
                <a:latin typeface="宋体"/>
                <a:cs typeface="宋体"/>
              </a:rPr>
              <a:t>捕获信号</a:t>
            </a:r>
            <a:r>
              <a:rPr sz="2400" b="1" spc="-5" dirty="0">
                <a:latin typeface="Consolas"/>
                <a:cs typeface="Consolas"/>
              </a:rPr>
              <a:t>IC1</a:t>
            </a:r>
            <a:r>
              <a:rPr sz="2400" b="1" dirty="0">
                <a:latin typeface="宋体"/>
                <a:cs typeface="宋体"/>
              </a:rPr>
              <a:t>的选择：</a:t>
            </a:r>
            <a:endParaRPr sz="2400">
              <a:latin typeface="宋体"/>
              <a:cs typeface="宋体"/>
            </a:endParaRPr>
          </a:p>
          <a:p>
            <a:pPr marL="12700">
              <a:lnSpc>
                <a:spcPct val="100000"/>
              </a:lnSpc>
            </a:pPr>
            <a:r>
              <a:rPr sz="2400" b="1" spc="-10" dirty="0">
                <a:latin typeface="宋体"/>
                <a:cs typeface="宋体"/>
              </a:rPr>
              <a:t>①</a:t>
            </a:r>
            <a:r>
              <a:rPr sz="2400" b="1" spc="-15" dirty="0">
                <a:latin typeface="宋体"/>
                <a:cs typeface="宋体"/>
              </a:rPr>
              <a:t> </a:t>
            </a:r>
            <a:r>
              <a:rPr sz="2400" b="1" spc="-5" dirty="0">
                <a:latin typeface="宋体"/>
                <a:cs typeface="宋体"/>
              </a:rPr>
              <a:t>来自捕获通</a:t>
            </a:r>
            <a:r>
              <a:rPr sz="2400" b="1" dirty="0">
                <a:latin typeface="宋体"/>
                <a:cs typeface="宋体"/>
              </a:rPr>
              <a:t>道</a:t>
            </a:r>
            <a:r>
              <a:rPr sz="2400" b="1" spc="-5" dirty="0">
                <a:latin typeface="Consolas"/>
                <a:cs typeface="Consolas"/>
              </a:rPr>
              <a:t>1</a:t>
            </a:r>
            <a:r>
              <a:rPr sz="2400" b="1" spc="-5" dirty="0">
                <a:latin typeface="宋体"/>
                <a:cs typeface="宋体"/>
              </a:rPr>
              <a:t>的</a:t>
            </a:r>
            <a:r>
              <a:rPr sz="2400" b="1" dirty="0">
                <a:latin typeface="Consolas"/>
                <a:cs typeface="Consolas"/>
              </a:rPr>
              <a:t>T</a:t>
            </a:r>
            <a:r>
              <a:rPr sz="2400" b="1" spc="5" dirty="0">
                <a:latin typeface="Consolas"/>
                <a:cs typeface="Consolas"/>
              </a:rPr>
              <a:t>I</a:t>
            </a:r>
            <a:r>
              <a:rPr sz="2400" b="1" dirty="0">
                <a:latin typeface="Consolas"/>
                <a:cs typeface="Consolas"/>
              </a:rPr>
              <a:t>1</a:t>
            </a:r>
            <a:r>
              <a:rPr sz="2400" b="1" spc="5" dirty="0">
                <a:latin typeface="Consolas"/>
                <a:cs typeface="Consolas"/>
              </a:rPr>
              <a:t>F</a:t>
            </a:r>
            <a:r>
              <a:rPr sz="2400" b="1" dirty="0">
                <a:latin typeface="Consolas"/>
                <a:cs typeface="Consolas"/>
              </a:rPr>
              <a:t>P1</a:t>
            </a:r>
            <a:r>
              <a:rPr sz="2400" b="1" spc="-5" dirty="0">
                <a:latin typeface="宋体"/>
                <a:cs typeface="宋体"/>
              </a:rPr>
              <a:t>（直</a:t>
            </a:r>
            <a:r>
              <a:rPr sz="2400" b="1" spc="5" dirty="0">
                <a:latin typeface="宋体"/>
                <a:cs typeface="宋体"/>
              </a:rPr>
              <a:t>接</a:t>
            </a:r>
            <a:r>
              <a:rPr sz="2400" b="1" spc="-5" dirty="0">
                <a:latin typeface="宋体"/>
                <a:cs typeface="宋体"/>
              </a:rPr>
              <a:t>输入方式</a:t>
            </a:r>
            <a:r>
              <a:rPr sz="2400" b="1" spc="-10" dirty="0">
                <a:latin typeface="宋体"/>
                <a:cs typeface="宋体"/>
              </a:rPr>
              <a:t>）</a:t>
            </a:r>
            <a:endParaRPr sz="2400">
              <a:latin typeface="宋体"/>
              <a:cs typeface="宋体"/>
            </a:endParaRPr>
          </a:p>
          <a:p>
            <a:pPr marL="12700">
              <a:lnSpc>
                <a:spcPct val="100000"/>
              </a:lnSpc>
            </a:pPr>
            <a:r>
              <a:rPr sz="2400" b="1" spc="-10" dirty="0">
                <a:latin typeface="宋体"/>
                <a:cs typeface="宋体"/>
              </a:rPr>
              <a:t>② </a:t>
            </a:r>
            <a:r>
              <a:rPr sz="2400" b="1" dirty="0">
                <a:latin typeface="宋体"/>
                <a:cs typeface="宋体"/>
              </a:rPr>
              <a:t>来自捕获通道</a:t>
            </a:r>
            <a:r>
              <a:rPr sz="2400" b="1" spc="-5" dirty="0">
                <a:latin typeface="Consolas"/>
                <a:cs typeface="Consolas"/>
              </a:rPr>
              <a:t>2</a:t>
            </a:r>
            <a:r>
              <a:rPr sz="2400" b="1" dirty="0">
                <a:latin typeface="宋体"/>
                <a:cs typeface="宋体"/>
              </a:rPr>
              <a:t>的</a:t>
            </a:r>
            <a:r>
              <a:rPr sz="2400" b="1" spc="-5" dirty="0">
                <a:latin typeface="Consolas"/>
                <a:cs typeface="Consolas"/>
              </a:rPr>
              <a:t>T</a:t>
            </a:r>
            <a:r>
              <a:rPr sz="2400" b="1" spc="0" dirty="0">
                <a:latin typeface="Consolas"/>
                <a:cs typeface="Consolas"/>
              </a:rPr>
              <a:t>I</a:t>
            </a:r>
            <a:r>
              <a:rPr sz="2400" b="1" spc="-5" dirty="0">
                <a:latin typeface="Consolas"/>
                <a:cs typeface="Consolas"/>
              </a:rPr>
              <a:t>2</a:t>
            </a:r>
            <a:r>
              <a:rPr sz="2400" b="1" spc="0" dirty="0">
                <a:latin typeface="Consolas"/>
                <a:cs typeface="Consolas"/>
              </a:rPr>
              <a:t>F</a:t>
            </a:r>
            <a:r>
              <a:rPr sz="2400" b="1" spc="-5" dirty="0">
                <a:latin typeface="Consolas"/>
                <a:cs typeface="Consolas"/>
              </a:rPr>
              <a:t>P</a:t>
            </a:r>
            <a:r>
              <a:rPr sz="2400" b="1" dirty="0">
                <a:latin typeface="Consolas"/>
                <a:cs typeface="Consolas"/>
              </a:rPr>
              <a:t>1</a:t>
            </a:r>
            <a:r>
              <a:rPr sz="2400" b="1" dirty="0">
                <a:latin typeface="宋体"/>
                <a:cs typeface="宋体"/>
              </a:rPr>
              <a:t>（间</a:t>
            </a:r>
            <a:r>
              <a:rPr sz="2400" b="1" spc="5" dirty="0">
                <a:latin typeface="宋体"/>
                <a:cs typeface="宋体"/>
              </a:rPr>
              <a:t>接</a:t>
            </a:r>
            <a:r>
              <a:rPr sz="2400" b="1" dirty="0">
                <a:latin typeface="宋体"/>
                <a:cs typeface="宋体"/>
              </a:rPr>
              <a:t>输入方式</a:t>
            </a:r>
            <a:r>
              <a:rPr sz="2400" b="1" spc="-10" dirty="0">
                <a:latin typeface="宋体"/>
                <a:cs typeface="宋体"/>
              </a:rPr>
              <a:t>）</a:t>
            </a:r>
            <a:endParaRPr sz="2400">
              <a:latin typeface="宋体"/>
              <a:cs typeface="宋体"/>
            </a:endParaRPr>
          </a:p>
          <a:p>
            <a:pPr marL="12700">
              <a:lnSpc>
                <a:spcPct val="100000"/>
              </a:lnSpc>
            </a:pPr>
            <a:r>
              <a:rPr sz="2400" b="1" spc="-10" dirty="0">
                <a:latin typeface="宋体"/>
                <a:cs typeface="宋体"/>
              </a:rPr>
              <a:t>③ </a:t>
            </a:r>
            <a:r>
              <a:rPr sz="2400" b="1" dirty="0">
                <a:latin typeface="宋体"/>
                <a:cs typeface="宋体"/>
              </a:rPr>
              <a:t>来自从模式管理器的触发信</a:t>
            </a:r>
            <a:r>
              <a:rPr sz="2400" b="1" spc="0" dirty="0">
                <a:latin typeface="宋体"/>
                <a:cs typeface="宋体"/>
              </a:rPr>
              <a:t>号</a:t>
            </a:r>
            <a:r>
              <a:rPr sz="2400" b="1" spc="-5" dirty="0">
                <a:latin typeface="Consolas"/>
                <a:cs typeface="Consolas"/>
              </a:rPr>
              <a:t>TRC</a:t>
            </a:r>
            <a:endParaRPr sz="2400">
              <a:latin typeface="Consolas"/>
              <a:cs typeface="Consolas"/>
            </a:endParaRPr>
          </a:p>
        </p:txBody>
      </p:sp>
      <p:sp>
        <p:nvSpPr>
          <p:cNvPr id="21" name="object 21"/>
          <p:cNvSpPr/>
          <p:nvPr/>
        </p:nvSpPr>
        <p:spPr>
          <a:xfrm>
            <a:off x="5269229" y="3752850"/>
            <a:ext cx="828040" cy="678180"/>
          </a:xfrm>
          <a:custGeom>
            <a:avLst/>
            <a:gdLst/>
            <a:ahLst/>
            <a:cxnLst/>
            <a:rect l="l" t="t" r="r" b="b"/>
            <a:pathLst>
              <a:path w="828039" h="678179">
                <a:moveTo>
                  <a:pt x="0" y="678180"/>
                </a:moveTo>
                <a:lnTo>
                  <a:pt x="827531" y="678180"/>
                </a:lnTo>
                <a:lnTo>
                  <a:pt x="827531" y="0"/>
                </a:lnTo>
                <a:lnTo>
                  <a:pt x="0" y="0"/>
                </a:lnTo>
                <a:lnTo>
                  <a:pt x="0" y="678180"/>
                </a:lnTo>
                <a:close/>
              </a:path>
            </a:pathLst>
          </a:custGeom>
          <a:ln w="38100">
            <a:solidFill>
              <a:srgbClr val="FF0000"/>
            </a:solidFill>
          </a:ln>
        </p:spPr>
        <p:txBody>
          <a:bodyPr wrap="square" lIns="0" tIns="0" rIns="0" bIns="0" rtlCol="0"/>
          <a:lstStyle/>
          <a:p>
            <a:endParaRPr/>
          </a:p>
        </p:txBody>
      </p:sp>
      <p:sp>
        <p:nvSpPr>
          <p:cNvPr id="22" name="object 22"/>
          <p:cNvSpPr/>
          <p:nvPr/>
        </p:nvSpPr>
        <p:spPr>
          <a:xfrm>
            <a:off x="6962393" y="3894582"/>
            <a:ext cx="1091565" cy="707390"/>
          </a:xfrm>
          <a:custGeom>
            <a:avLst/>
            <a:gdLst/>
            <a:ahLst/>
            <a:cxnLst/>
            <a:rect l="l" t="t" r="r" b="b"/>
            <a:pathLst>
              <a:path w="1091565" h="707389">
                <a:moveTo>
                  <a:pt x="0" y="707136"/>
                </a:moveTo>
                <a:lnTo>
                  <a:pt x="1091183" y="707136"/>
                </a:lnTo>
                <a:lnTo>
                  <a:pt x="1091183" y="0"/>
                </a:lnTo>
                <a:lnTo>
                  <a:pt x="0" y="0"/>
                </a:lnTo>
                <a:lnTo>
                  <a:pt x="0" y="707136"/>
                </a:lnTo>
                <a:close/>
              </a:path>
            </a:pathLst>
          </a:custGeom>
          <a:ln w="38100">
            <a:solidFill>
              <a:srgbClr val="FF0000"/>
            </a:solidFill>
          </a:ln>
        </p:spPr>
        <p:txBody>
          <a:bodyPr wrap="square" lIns="0" tIns="0" rIns="0" bIns="0" rtlCol="0"/>
          <a:lstStyle/>
          <a:p>
            <a:endParaRPr/>
          </a:p>
        </p:txBody>
      </p:sp>
      <p:sp>
        <p:nvSpPr>
          <p:cNvPr id="23" name="object 23"/>
          <p:cNvSpPr/>
          <p:nvPr/>
        </p:nvSpPr>
        <p:spPr>
          <a:xfrm>
            <a:off x="8432800" y="4317365"/>
            <a:ext cx="2749550" cy="650240"/>
          </a:xfrm>
          <a:custGeom>
            <a:avLst/>
            <a:gdLst/>
            <a:ahLst/>
            <a:cxnLst/>
            <a:rect l="l" t="t" r="r" b="b"/>
            <a:pathLst>
              <a:path w="2749550" h="650239">
                <a:moveTo>
                  <a:pt x="0" y="0"/>
                </a:moveTo>
                <a:lnTo>
                  <a:pt x="646429" y="359410"/>
                </a:lnTo>
                <a:lnTo>
                  <a:pt x="646510" y="570737"/>
                </a:lnTo>
                <a:lnTo>
                  <a:pt x="648395" y="585085"/>
                </a:lnTo>
                <a:lnTo>
                  <a:pt x="667219" y="622002"/>
                </a:lnTo>
                <a:lnTo>
                  <a:pt x="701246" y="645181"/>
                </a:lnTo>
                <a:lnTo>
                  <a:pt x="729488" y="650113"/>
                </a:lnTo>
                <a:lnTo>
                  <a:pt x="2670174" y="650032"/>
                </a:lnTo>
                <a:lnTo>
                  <a:pt x="2710371" y="637576"/>
                </a:lnTo>
                <a:lnTo>
                  <a:pt x="2738780" y="607966"/>
                </a:lnTo>
                <a:lnTo>
                  <a:pt x="2749550" y="567055"/>
                </a:lnTo>
                <a:lnTo>
                  <a:pt x="2749470" y="234823"/>
                </a:lnTo>
                <a:lnTo>
                  <a:pt x="646429" y="234823"/>
                </a:lnTo>
                <a:lnTo>
                  <a:pt x="0" y="0"/>
                </a:lnTo>
                <a:close/>
              </a:path>
              <a:path w="2749550" h="650239">
                <a:moveTo>
                  <a:pt x="2666492" y="151765"/>
                </a:moveTo>
                <a:lnTo>
                  <a:pt x="725805" y="151845"/>
                </a:lnTo>
                <a:lnTo>
                  <a:pt x="685608" y="164301"/>
                </a:lnTo>
                <a:lnTo>
                  <a:pt x="657199" y="193911"/>
                </a:lnTo>
                <a:lnTo>
                  <a:pt x="646429" y="234823"/>
                </a:lnTo>
                <a:lnTo>
                  <a:pt x="2749470" y="234823"/>
                </a:lnTo>
                <a:lnTo>
                  <a:pt x="2737013" y="190943"/>
                </a:lnTo>
                <a:lnTo>
                  <a:pt x="2707403" y="162534"/>
                </a:lnTo>
                <a:lnTo>
                  <a:pt x="2666492" y="151765"/>
                </a:lnTo>
                <a:close/>
              </a:path>
            </a:pathLst>
          </a:custGeom>
          <a:solidFill>
            <a:srgbClr val="FFFFC7"/>
          </a:solidFill>
        </p:spPr>
        <p:txBody>
          <a:bodyPr wrap="square" lIns="0" tIns="0" rIns="0" bIns="0" rtlCol="0"/>
          <a:lstStyle/>
          <a:p>
            <a:endParaRPr/>
          </a:p>
        </p:txBody>
      </p:sp>
      <p:sp>
        <p:nvSpPr>
          <p:cNvPr id="24" name="object 24"/>
          <p:cNvSpPr/>
          <p:nvPr/>
        </p:nvSpPr>
        <p:spPr>
          <a:xfrm>
            <a:off x="8432800" y="4317365"/>
            <a:ext cx="2749550" cy="650240"/>
          </a:xfrm>
          <a:custGeom>
            <a:avLst/>
            <a:gdLst/>
            <a:ahLst/>
            <a:cxnLst/>
            <a:rect l="l" t="t" r="r" b="b"/>
            <a:pathLst>
              <a:path w="2749550" h="650239">
                <a:moveTo>
                  <a:pt x="646429" y="234823"/>
                </a:moveTo>
                <a:lnTo>
                  <a:pt x="657199" y="193911"/>
                </a:lnTo>
                <a:lnTo>
                  <a:pt x="685608" y="164301"/>
                </a:lnTo>
                <a:lnTo>
                  <a:pt x="725805" y="151845"/>
                </a:lnTo>
                <a:lnTo>
                  <a:pt x="996950" y="151765"/>
                </a:lnTo>
                <a:lnTo>
                  <a:pt x="1522729" y="151765"/>
                </a:lnTo>
                <a:lnTo>
                  <a:pt x="2666492" y="151765"/>
                </a:lnTo>
                <a:lnTo>
                  <a:pt x="2681023" y="153033"/>
                </a:lnTo>
                <a:lnTo>
                  <a:pt x="2718818" y="170333"/>
                </a:lnTo>
                <a:lnTo>
                  <a:pt x="2743360" y="203321"/>
                </a:lnTo>
                <a:lnTo>
                  <a:pt x="2749550" y="234823"/>
                </a:lnTo>
                <a:lnTo>
                  <a:pt x="2749550" y="359410"/>
                </a:lnTo>
                <a:lnTo>
                  <a:pt x="2749550" y="567055"/>
                </a:lnTo>
                <a:lnTo>
                  <a:pt x="2748281" y="581586"/>
                </a:lnTo>
                <a:lnTo>
                  <a:pt x="2730981" y="619381"/>
                </a:lnTo>
                <a:lnTo>
                  <a:pt x="2697993" y="643923"/>
                </a:lnTo>
                <a:lnTo>
                  <a:pt x="1522729" y="650113"/>
                </a:lnTo>
                <a:lnTo>
                  <a:pt x="996950" y="650113"/>
                </a:lnTo>
                <a:lnTo>
                  <a:pt x="729488" y="650113"/>
                </a:lnTo>
                <a:lnTo>
                  <a:pt x="714956" y="648844"/>
                </a:lnTo>
                <a:lnTo>
                  <a:pt x="677161" y="631544"/>
                </a:lnTo>
                <a:lnTo>
                  <a:pt x="652619" y="598556"/>
                </a:lnTo>
                <a:lnTo>
                  <a:pt x="646429" y="359410"/>
                </a:lnTo>
                <a:lnTo>
                  <a:pt x="0" y="0"/>
                </a:lnTo>
                <a:lnTo>
                  <a:pt x="646429" y="234823"/>
                </a:lnTo>
                <a:close/>
              </a:path>
            </a:pathLst>
          </a:custGeom>
          <a:ln w="28956">
            <a:solidFill>
              <a:srgbClr val="000000"/>
            </a:solidFill>
          </a:ln>
        </p:spPr>
        <p:txBody>
          <a:bodyPr wrap="square" lIns="0" tIns="0" rIns="0" bIns="0" rtlCol="0"/>
          <a:lstStyle/>
          <a:p>
            <a:endParaRPr/>
          </a:p>
        </p:txBody>
      </p:sp>
      <p:sp>
        <p:nvSpPr>
          <p:cNvPr id="25" name="object 25"/>
          <p:cNvSpPr txBox="1"/>
          <p:nvPr/>
        </p:nvSpPr>
        <p:spPr>
          <a:xfrm>
            <a:off x="9199626" y="4553394"/>
            <a:ext cx="1863725" cy="330200"/>
          </a:xfrm>
          <a:prstGeom prst="rect">
            <a:avLst/>
          </a:prstGeom>
        </p:spPr>
        <p:txBody>
          <a:bodyPr vert="horz" wrap="square" lIns="0" tIns="0" rIns="0" bIns="0" rtlCol="0">
            <a:spAutoFit/>
          </a:bodyPr>
          <a:lstStyle/>
          <a:p>
            <a:pPr marL="12700">
              <a:lnSpc>
                <a:spcPts val="2835"/>
              </a:lnSpc>
            </a:pPr>
            <a:r>
              <a:rPr sz="2400" b="1" dirty="0">
                <a:latin typeface="宋体"/>
                <a:cs typeface="宋体"/>
              </a:rPr>
              <a:t>最终捕获信号</a:t>
            </a:r>
            <a:endParaRPr sz="2400">
              <a:latin typeface="宋体"/>
              <a:cs typeface="宋体"/>
            </a:endParaRPr>
          </a:p>
        </p:txBody>
      </p:sp>
      <p:sp>
        <p:nvSpPr>
          <p:cNvPr id="26" name="object 26"/>
          <p:cNvSpPr/>
          <p:nvPr/>
        </p:nvSpPr>
        <p:spPr>
          <a:xfrm>
            <a:off x="1910333" y="1607058"/>
            <a:ext cx="3352165" cy="2110105"/>
          </a:xfrm>
          <a:custGeom>
            <a:avLst/>
            <a:gdLst/>
            <a:ahLst/>
            <a:cxnLst/>
            <a:rect l="l" t="t" r="r" b="b"/>
            <a:pathLst>
              <a:path w="3352165" h="2110104">
                <a:moveTo>
                  <a:pt x="2720340" y="1714500"/>
                </a:moveTo>
                <a:lnTo>
                  <a:pt x="1904238" y="1714500"/>
                </a:lnTo>
                <a:lnTo>
                  <a:pt x="3352165" y="2109597"/>
                </a:lnTo>
                <a:lnTo>
                  <a:pt x="2720340" y="1714500"/>
                </a:lnTo>
                <a:close/>
              </a:path>
              <a:path w="3352165" h="2110104">
                <a:moveTo>
                  <a:pt x="2978658" y="0"/>
                </a:moveTo>
                <a:lnTo>
                  <a:pt x="285750" y="0"/>
                </a:lnTo>
                <a:lnTo>
                  <a:pt x="262307" y="946"/>
                </a:lnTo>
                <a:lnTo>
                  <a:pt x="217066" y="8302"/>
                </a:lnTo>
                <a:lnTo>
                  <a:pt x="174503" y="22449"/>
                </a:lnTo>
                <a:lnTo>
                  <a:pt x="135208" y="42801"/>
                </a:lnTo>
                <a:lnTo>
                  <a:pt x="99768" y="68769"/>
                </a:lnTo>
                <a:lnTo>
                  <a:pt x="68769" y="99768"/>
                </a:lnTo>
                <a:lnTo>
                  <a:pt x="42801" y="135208"/>
                </a:lnTo>
                <a:lnTo>
                  <a:pt x="22449" y="174503"/>
                </a:lnTo>
                <a:lnTo>
                  <a:pt x="8302" y="217066"/>
                </a:lnTo>
                <a:lnTo>
                  <a:pt x="946" y="262307"/>
                </a:lnTo>
                <a:lnTo>
                  <a:pt x="0" y="285750"/>
                </a:lnTo>
                <a:lnTo>
                  <a:pt x="0" y="1428750"/>
                </a:lnTo>
                <a:lnTo>
                  <a:pt x="3738" y="1475111"/>
                </a:lnTo>
                <a:lnTo>
                  <a:pt x="14563" y="1519086"/>
                </a:lnTo>
                <a:lnTo>
                  <a:pt x="31886" y="1560088"/>
                </a:lnTo>
                <a:lnTo>
                  <a:pt x="55120" y="1597529"/>
                </a:lnTo>
                <a:lnTo>
                  <a:pt x="83677" y="1630822"/>
                </a:lnTo>
                <a:lnTo>
                  <a:pt x="116970" y="1659379"/>
                </a:lnTo>
                <a:lnTo>
                  <a:pt x="154411" y="1682613"/>
                </a:lnTo>
                <a:lnTo>
                  <a:pt x="195413" y="1699936"/>
                </a:lnTo>
                <a:lnTo>
                  <a:pt x="239388" y="1710761"/>
                </a:lnTo>
                <a:lnTo>
                  <a:pt x="285750" y="1714500"/>
                </a:lnTo>
                <a:lnTo>
                  <a:pt x="2978658" y="1714500"/>
                </a:lnTo>
                <a:lnTo>
                  <a:pt x="3025019" y="1710761"/>
                </a:lnTo>
                <a:lnTo>
                  <a:pt x="3068994" y="1699936"/>
                </a:lnTo>
                <a:lnTo>
                  <a:pt x="3109996" y="1682613"/>
                </a:lnTo>
                <a:lnTo>
                  <a:pt x="3147437" y="1659379"/>
                </a:lnTo>
                <a:lnTo>
                  <a:pt x="3180730" y="1630822"/>
                </a:lnTo>
                <a:lnTo>
                  <a:pt x="3209287" y="1597529"/>
                </a:lnTo>
                <a:lnTo>
                  <a:pt x="3232521" y="1560088"/>
                </a:lnTo>
                <a:lnTo>
                  <a:pt x="3249844" y="1519086"/>
                </a:lnTo>
                <a:lnTo>
                  <a:pt x="3260669" y="1475111"/>
                </a:lnTo>
                <a:lnTo>
                  <a:pt x="3264407" y="1428750"/>
                </a:lnTo>
                <a:lnTo>
                  <a:pt x="3264407" y="285750"/>
                </a:lnTo>
                <a:lnTo>
                  <a:pt x="3260669" y="239388"/>
                </a:lnTo>
                <a:lnTo>
                  <a:pt x="3249844" y="195413"/>
                </a:lnTo>
                <a:lnTo>
                  <a:pt x="3232521" y="154411"/>
                </a:lnTo>
                <a:lnTo>
                  <a:pt x="3209287" y="116970"/>
                </a:lnTo>
                <a:lnTo>
                  <a:pt x="3180730" y="83677"/>
                </a:lnTo>
                <a:lnTo>
                  <a:pt x="3147437" y="55120"/>
                </a:lnTo>
                <a:lnTo>
                  <a:pt x="3109996" y="31886"/>
                </a:lnTo>
                <a:lnTo>
                  <a:pt x="3068994" y="14563"/>
                </a:lnTo>
                <a:lnTo>
                  <a:pt x="3025019" y="3738"/>
                </a:lnTo>
                <a:lnTo>
                  <a:pt x="2978658" y="0"/>
                </a:lnTo>
                <a:close/>
              </a:path>
            </a:pathLst>
          </a:custGeom>
          <a:solidFill>
            <a:srgbClr val="FFFFC7"/>
          </a:solidFill>
        </p:spPr>
        <p:txBody>
          <a:bodyPr wrap="square" lIns="0" tIns="0" rIns="0" bIns="0" rtlCol="0"/>
          <a:lstStyle/>
          <a:p>
            <a:endParaRPr/>
          </a:p>
        </p:txBody>
      </p:sp>
      <p:sp>
        <p:nvSpPr>
          <p:cNvPr id="27" name="object 27"/>
          <p:cNvSpPr/>
          <p:nvPr/>
        </p:nvSpPr>
        <p:spPr>
          <a:xfrm>
            <a:off x="1910333" y="1607058"/>
            <a:ext cx="3352165" cy="2110105"/>
          </a:xfrm>
          <a:custGeom>
            <a:avLst/>
            <a:gdLst/>
            <a:ahLst/>
            <a:cxnLst/>
            <a:rect l="l" t="t" r="r" b="b"/>
            <a:pathLst>
              <a:path w="3352165" h="2110104">
                <a:moveTo>
                  <a:pt x="0" y="285750"/>
                </a:moveTo>
                <a:lnTo>
                  <a:pt x="3738" y="239388"/>
                </a:lnTo>
                <a:lnTo>
                  <a:pt x="14563" y="195413"/>
                </a:lnTo>
                <a:lnTo>
                  <a:pt x="31886" y="154411"/>
                </a:lnTo>
                <a:lnTo>
                  <a:pt x="55120" y="116970"/>
                </a:lnTo>
                <a:lnTo>
                  <a:pt x="83677" y="83677"/>
                </a:lnTo>
                <a:lnTo>
                  <a:pt x="116970" y="55120"/>
                </a:lnTo>
                <a:lnTo>
                  <a:pt x="154411" y="31886"/>
                </a:lnTo>
                <a:lnTo>
                  <a:pt x="195413" y="14563"/>
                </a:lnTo>
                <a:lnTo>
                  <a:pt x="239388" y="3738"/>
                </a:lnTo>
                <a:lnTo>
                  <a:pt x="285750" y="0"/>
                </a:lnTo>
                <a:lnTo>
                  <a:pt x="1904238" y="0"/>
                </a:lnTo>
                <a:lnTo>
                  <a:pt x="2720340" y="0"/>
                </a:lnTo>
                <a:lnTo>
                  <a:pt x="2978658" y="0"/>
                </a:lnTo>
                <a:lnTo>
                  <a:pt x="3002100" y="946"/>
                </a:lnTo>
                <a:lnTo>
                  <a:pt x="3047341" y="8302"/>
                </a:lnTo>
                <a:lnTo>
                  <a:pt x="3089904" y="22449"/>
                </a:lnTo>
                <a:lnTo>
                  <a:pt x="3129199" y="42801"/>
                </a:lnTo>
                <a:lnTo>
                  <a:pt x="3164639" y="68769"/>
                </a:lnTo>
                <a:lnTo>
                  <a:pt x="3195638" y="99768"/>
                </a:lnTo>
                <a:lnTo>
                  <a:pt x="3221606" y="135208"/>
                </a:lnTo>
                <a:lnTo>
                  <a:pt x="3241958" y="174503"/>
                </a:lnTo>
                <a:lnTo>
                  <a:pt x="3256105" y="217066"/>
                </a:lnTo>
                <a:lnTo>
                  <a:pt x="3263461" y="262307"/>
                </a:lnTo>
                <a:lnTo>
                  <a:pt x="3264407" y="285750"/>
                </a:lnTo>
                <a:lnTo>
                  <a:pt x="3264407" y="1000125"/>
                </a:lnTo>
                <a:lnTo>
                  <a:pt x="3264407" y="1428750"/>
                </a:lnTo>
                <a:lnTo>
                  <a:pt x="3263461" y="1452192"/>
                </a:lnTo>
                <a:lnTo>
                  <a:pt x="3260669" y="1475111"/>
                </a:lnTo>
                <a:lnTo>
                  <a:pt x="3249844" y="1519086"/>
                </a:lnTo>
                <a:lnTo>
                  <a:pt x="3232521" y="1560088"/>
                </a:lnTo>
                <a:lnTo>
                  <a:pt x="3209287" y="1597529"/>
                </a:lnTo>
                <a:lnTo>
                  <a:pt x="3180730" y="1630822"/>
                </a:lnTo>
                <a:lnTo>
                  <a:pt x="3147437" y="1659379"/>
                </a:lnTo>
                <a:lnTo>
                  <a:pt x="3109996" y="1682613"/>
                </a:lnTo>
                <a:lnTo>
                  <a:pt x="3068994" y="1699936"/>
                </a:lnTo>
                <a:lnTo>
                  <a:pt x="3025019" y="1710761"/>
                </a:lnTo>
                <a:lnTo>
                  <a:pt x="2978658" y="1714500"/>
                </a:lnTo>
                <a:lnTo>
                  <a:pt x="2720340" y="1714500"/>
                </a:lnTo>
                <a:lnTo>
                  <a:pt x="3352165" y="2109597"/>
                </a:lnTo>
                <a:lnTo>
                  <a:pt x="1904238" y="1714500"/>
                </a:lnTo>
                <a:lnTo>
                  <a:pt x="285750" y="1714500"/>
                </a:lnTo>
                <a:lnTo>
                  <a:pt x="262307" y="1713553"/>
                </a:lnTo>
                <a:lnTo>
                  <a:pt x="217066" y="1706197"/>
                </a:lnTo>
                <a:lnTo>
                  <a:pt x="174503" y="1692050"/>
                </a:lnTo>
                <a:lnTo>
                  <a:pt x="135208" y="1671698"/>
                </a:lnTo>
                <a:lnTo>
                  <a:pt x="99768" y="1645730"/>
                </a:lnTo>
                <a:lnTo>
                  <a:pt x="68769" y="1614731"/>
                </a:lnTo>
                <a:lnTo>
                  <a:pt x="42801" y="1579291"/>
                </a:lnTo>
                <a:lnTo>
                  <a:pt x="22449" y="1539996"/>
                </a:lnTo>
                <a:lnTo>
                  <a:pt x="8302" y="1497433"/>
                </a:lnTo>
                <a:lnTo>
                  <a:pt x="946" y="1452192"/>
                </a:lnTo>
                <a:lnTo>
                  <a:pt x="0" y="1428750"/>
                </a:lnTo>
                <a:lnTo>
                  <a:pt x="0" y="1000125"/>
                </a:lnTo>
                <a:lnTo>
                  <a:pt x="0" y="285750"/>
                </a:lnTo>
                <a:close/>
              </a:path>
            </a:pathLst>
          </a:custGeom>
          <a:ln w="28956">
            <a:solidFill>
              <a:srgbClr val="000000"/>
            </a:solidFill>
          </a:ln>
        </p:spPr>
        <p:txBody>
          <a:bodyPr wrap="square" lIns="0" tIns="0" rIns="0" bIns="0" rtlCol="0"/>
          <a:lstStyle/>
          <a:p>
            <a:endParaRPr/>
          </a:p>
        </p:txBody>
      </p:sp>
      <p:sp>
        <p:nvSpPr>
          <p:cNvPr id="28" name="object 28"/>
          <p:cNvSpPr txBox="1"/>
          <p:nvPr/>
        </p:nvSpPr>
        <p:spPr>
          <a:xfrm>
            <a:off x="2150491" y="1750123"/>
            <a:ext cx="2782570" cy="1428115"/>
          </a:xfrm>
          <a:prstGeom prst="rect">
            <a:avLst/>
          </a:prstGeom>
        </p:spPr>
        <p:txBody>
          <a:bodyPr vert="horz" wrap="square" lIns="0" tIns="0" rIns="0" bIns="0" rtlCol="0">
            <a:spAutoFit/>
          </a:bodyPr>
          <a:lstStyle/>
          <a:p>
            <a:pPr marL="78105">
              <a:lnSpc>
                <a:spcPct val="100000"/>
              </a:lnSpc>
            </a:pPr>
            <a:r>
              <a:rPr sz="2400" b="1" spc="-5" dirty="0">
                <a:latin typeface="Consolas"/>
                <a:cs typeface="Consolas"/>
              </a:rPr>
              <a:t>TI1FP1</a:t>
            </a:r>
            <a:r>
              <a:rPr sz="2400" b="1" dirty="0">
                <a:latin typeface="宋体"/>
                <a:cs typeface="宋体"/>
              </a:rPr>
              <a:t>和</a:t>
            </a:r>
            <a:r>
              <a:rPr sz="2400" b="1" spc="-5" dirty="0">
                <a:latin typeface="Consolas"/>
                <a:cs typeface="Consolas"/>
              </a:rPr>
              <a:t>TI1FP2</a:t>
            </a:r>
            <a:r>
              <a:rPr sz="2400" b="1" spc="-10" dirty="0">
                <a:latin typeface="宋体"/>
                <a:cs typeface="宋体"/>
              </a:rPr>
              <a:t>实</a:t>
            </a:r>
            <a:endParaRPr sz="2400">
              <a:latin typeface="宋体"/>
              <a:cs typeface="宋体"/>
            </a:endParaRPr>
          </a:p>
          <a:p>
            <a:pPr marL="12700" marR="5080" algn="just">
              <a:lnSpc>
                <a:spcPct val="97100"/>
              </a:lnSpc>
              <a:spcBef>
                <a:spcPts val="250"/>
              </a:spcBef>
            </a:pPr>
            <a:r>
              <a:rPr sz="2400" b="1" spc="-5" dirty="0">
                <a:latin typeface="宋体"/>
                <a:cs typeface="宋体"/>
              </a:rPr>
              <a:t>际是同一个信号，由 </a:t>
            </a:r>
            <a:r>
              <a:rPr sz="2400" b="1" dirty="0">
                <a:latin typeface="宋体"/>
                <a:cs typeface="宋体"/>
              </a:rPr>
              <a:t>于输出方向不同，因 此用不同的名称区别</a:t>
            </a:r>
            <a:endParaRPr sz="2400">
              <a:latin typeface="宋体"/>
              <a:cs typeface="宋体"/>
            </a:endParaRPr>
          </a:p>
        </p:txBody>
      </p:sp>
      <p:sp>
        <p:nvSpPr>
          <p:cNvPr id="29" name="object 29"/>
          <p:cNvSpPr/>
          <p:nvPr/>
        </p:nvSpPr>
        <p:spPr>
          <a:xfrm>
            <a:off x="241554" y="4277105"/>
            <a:ext cx="1333500" cy="532130"/>
          </a:xfrm>
          <a:custGeom>
            <a:avLst/>
            <a:gdLst/>
            <a:ahLst/>
            <a:cxnLst/>
            <a:rect l="l" t="t" r="r" b="b"/>
            <a:pathLst>
              <a:path w="1333500" h="532129">
                <a:moveTo>
                  <a:pt x="0" y="531876"/>
                </a:moveTo>
                <a:lnTo>
                  <a:pt x="1333500" y="531876"/>
                </a:lnTo>
                <a:lnTo>
                  <a:pt x="1333500" y="0"/>
                </a:lnTo>
                <a:lnTo>
                  <a:pt x="0" y="0"/>
                </a:lnTo>
                <a:lnTo>
                  <a:pt x="0" y="531876"/>
                </a:lnTo>
                <a:close/>
              </a:path>
            </a:pathLst>
          </a:custGeom>
          <a:ln w="38100">
            <a:solidFill>
              <a:srgbClr val="FF0000"/>
            </a:solidFill>
          </a:ln>
        </p:spPr>
        <p:txBody>
          <a:bodyPr wrap="square" lIns="0" tIns="0" rIns="0" bIns="0" rtlCol="0"/>
          <a:lstStyle/>
          <a:p>
            <a:endParaRPr/>
          </a:p>
        </p:txBody>
      </p:sp>
    </p:spTree>
    <p:extLst>
      <p:ext uri="{BB962C8B-B14F-4D97-AF65-F5344CB8AC3E}">
        <p14:creationId xmlns:p14="http://schemas.microsoft.com/office/powerpoint/2010/main" val="15271327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1459" y="1001267"/>
            <a:ext cx="11689080" cy="540105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36981" y="986789"/>
            <a:ext cx="11718290" cy="5430520"/>
          </a:xfrm>
          <a:custGeom>
            <a:avLst/>
            <a:gdLst/>
            <a:ahLst/>
            <a:cxnLst/>
            <a:rect l="l" t="t" r="r" b="b"/>
            <a:pathLst>
              <a:path w="11718290" h="5430520">
                <a:moveTo>
                  <a:pt x="0" y="5430012"/>
                </a:moveTo>
                <a:lnTo>
                  <a:pt x="11718036" y="5430012"/>
                </a:lnTo>
                <a:lnTo>
                  <a:pt x="11718036" y="0"/>
                </a:lnTo>
                <a:lnTo>
                  <a:pt x="0" y="0"/>
                </a:lnTo>
                <a:lnTo>
                  <a:pt x="0" y="5430012"/>
                </a:lnTo>
                <a:close/>
              </a:path>
            </a:pathLst>
          </a:custGeom>
          <a:ln w="28956">
            <a:solidFill>
              <a:srgbClr val="5B9BD4"/>
            </a:solidFill>
          </a:ln>
        </p:spPr>
        <p:txBody>
          <a:bodyPr wrap="square" lIns="0" tIns="0" rIns="0" bIns="0" rtlCol="0"/>
          <a:lstStyle/>
          <a:p>
            <a:endParaRPr/>
          </a:p>
        </p:txBody>
      </p:sp>
      <p:sp>
        <p:nvSpPr>
          <p:cNvPr id="4" name="object 4"/>
          <p:cNvSpPr txBox="1">
            <a:spLocks noGrp="1"/>
          </p:cNvSpPr>
          <p:nvPr>
            <p:ph type="title"/>
          </p:nvPr>
        </p:nvSpPr>
        <p:spPr>
          <a:xfrm>
            <a:off x="4829302" y="265232"/>
            <a:ext cx="2513330" cy="381000"/>
          </a:xfrm>
          <a:prstGeom prst="rect">
            <a:avLst/>
          </a:prstGeom>
        </p:spPr>
        <p:txBody>
          <a:bodyPr vert="horz" wrap="square" lIns="0" tIns="0" rIns="0" bIns="0" rtlCol="0">
            <a:spAutoFit/>
          </a:bodyPr>
          <a:lstStyle/>
          <a:p>
            <a:pPr marL="12700">
              <a:lnSpc>
                <a:spcPct val="100000"/>
              </a:lnSpc>
            </a:pPr>
            <a:r>
              <a:rPr spc="-5" dirty="0"/>
              <a:t>捕获过程示意图</a:t>
            </a:r>
          </a:p>
        </p:txBody>
      </p:sp>
      <p:sp>
        <p:nvSpPr>
          <p:cNvPr id="5" name="object 5"/>
          <p:cNvSpPr/>
          <p:nvPr/>
        </p:nvSpPr>
        <p:spPr>
          <a:xfrm>
            <a:off x="1043177" y="2216657"/>
            <a:ext cx="2181860" cy="939800"/>
          </a:xfrm>
          <a:custGeom>
            <a:avLst/>
            <a:gdLst/>
            <a:ahLst/>
            <a:cxnLst/>
            <a:rect l="l" t="t" r="r" b="b"/>
            <a:pathLst>
              <a:path w="2181860" h="939800">
                <a:moveTo>
                  <a:pt x="1895094" y="0"/>
                </a:moveTo>
                <a:lnTo>
                  <a:pt x="1157478" y="0"/>
                </a:lnTo>
                <a:lnTo>
                  <a:pt x="75618" y="1019"/>
                </a:lnTo>
                <a:lnTo>
                  <a:pt x="36985" y="16838"/>
                </a:lnTo>
                <a:lnTo>
                  <a:pt x="10090" y="47898"/>
                </a:lnTo>
                <a:lnTo>
                  <a:pt x="0" y="89153"/>
                </a:lnTo>
                <a:lnTo>
                  <a:pt x="0" y="445769"/>
                </a:lnTo>
                <a:lnTo>
                  <a:pt x="9629" y="486131"/>
                </a:lnTo>
                <a:lnTo>
                  <a:pt x="36179" y="517496"/>
                </a:lnTo>
                <a:lnTo>
                  <a:pt x="74590" y="533741"/>
                </a:lnTo>
                <a:lnTo>
                  <a:pt x="89153" y="534924"/>
                </a:lnTo>
                <a:lnTo>
                  <a:pt x="1157478" y="534924"/>
                </a:lnTo>
                <a:lnTo>
                  <a:pt x="2181733" y="939545"/>
                </a:lnTo>
                <a:lnTo>
                  <a:pt x="1653539" y="534924"/>
                </a:lnTo>
                <a:lnTo>
                  <a:pt x="1908637" y="533904"/>
                </a:lnTo>
                <a:lnTo>
                  <a:pt x="1922513" y="530636"/>
                </a:lnTo>
                <a:lnTo>
                  <a:pt x="1957796" y="509176"/>
                </a:lnTo>
                <a:lnTo>
                  <a:pt x="1979641" y="474157"/>
                </a:lnTo>
                <a:lnTo>
                  <a:pt x="1984248" y="445769"/>
                </a:lnTo>
                <a:lnTo>
                  <a:pt x="1984248" y="312038"/>
                </a:lnTo>
                <a:lnTo>
                  <a:pt x="1983228" y="75610"/>
                </a:lnTo>
                <a:lnTo>
                  <a:pt x="1967409" y="36968"/>
                </a:lnTo>
                <a:lnTo>
                  <a:pt x="1936349" y="10083"/>
                </a:lnTo>
                <a:lnTo>
                  <a:pt x="1909667" y="1182"/>
                </a:lnTo>
                <a:lnTo>
                  <a:pt x="1895094" y="0"/>
                </a:lnTo>
                <a:close/>
              </a:path>
            </a:pathLst>
          </a:custGeom>
          <a:solidFill>
            <a:srgbClr val="FFFFC7"/>
          </a:solidFill>
        </p:spPr>
        <p:txBody>
          <a:bodyPr wrap="square" lIns="0" tIns="0" rIns="0" bIns="0" rtlCol="0"/>
          <a:lstStyle/>
          <a:p>
            <a:endParaRPr/>
          </a:p>
        </p:txBody>
      </p:sp>
      <p:sp>
        <p:nvSpPr>
          <p:cNvPr id="6" name="object 6"/>
          <p:cNvSpPr/>
          <p:nvPr/>
        </p:nvSpPr>
        <p:spPr>
          <a:xfrm>
            <a:off x="1043177" y="2216657"/>
            <a:ext cx="2181860" cy="939800"/>
          </a:xfrm>
          <a:custGeom>
            <a:avLst/>
            <a:gdLst/>
            <a:ahLst/>
            <a:cxnLst/>
            <a:rect l="l" t="t" r="r" b="b"/>
            <a:pathLst>
              <a:path w="2181860" h="939800">
                <a:moveTo>
                  <a:pt x="0" y="89153"/>
                </a:moveTo>
                <a:lnTo>
                  <a:pt x="10090" y="47898"/>
                </a:lnTo>
                <a:lnTo>
                  <a:pt x="36985" y="16838"/>
                </a:lnTo>
                <a:lnTo>
                  <a:pt x="75618" y="1019"/>
                </a:lnTo>
                <a:lnTo>
                  <a:pt x="1157478" y="0"/>
                </a:lnTo>
                <a:lnTo>
                  <a:pt x="1653539" y="0"/>
                </a:lnTo>
                <a:lnTo>
                  <a:pt x="1895094" y="0"/>
                </a:lnTo>
                <a:lnTo>
                  <a:pt x="1909667" y="1182"/>
                </a:lnTo>
                <a:lnTo>
                  <a:pt x="1948084" y="17427"/>
                </a:lnTo>
                <a:lnTo>
                  <a:pt x="1974625" y="48792"/>
                </a:lnTo>
                <a:lnTo>
                  <a:pt x="1984248" y="312038"/>
                </a:lnTo>
                <a:lnTo>
                  <a:pt x="1984248" y="445769"/>
                </a:lnTo>
                <a:lnTo>
                  <a:pt x="1983065" y="460343"/>
                </a:lnTo>
                <a:lnTo>
                  <a:pt x="1979641" y="474157"/>
                </a:lnTo>
                <a:lnTo>
                  <a:pt x="1957796" y="509176"/>
                </a:lnTo>
                <a:lnTo>
                  <a:pt x="1922513" y="530636"/>
                </a:lnTo>
                <a:lnTo>
                  <a:pt x="1653539" y="534924"/>
                </a:lnTo>
                <a:lnTo>
                  <a:pt x="2181733" y="939545"/>
                </a:lnTo>
                <a:lnTo>
                  <a:pt x="1157478" y="534924"/>
                </a:lnTo>
                <a:lnTo>
                  <a:pt x="89153" y="534924"/>
                </a:lnTo>
                <a:lnTo>
                  <a:pt x="74590" y="533741"/>
                </a:lnTo>
                <a:lnTo>
                  <a:pt x="36179" y="517496"/>
                </a:lnTo>
                <a:lnTo>
                  <a:pt x="9629" y="486131"/>
                </a:lnTo>
                <a:lnTo>
                  <a:pt x="0" y="445769"/>
                </a:lnTo>
                <a:lnTo>
                  <a:pt x="0" y="312038"/>
                </a:lnTo>
                <a:lnTo>
                  <a:pt x="0" y="89153"/>
                </a:lnTo>
                <a:close/>
              </a:path>
            </a:pathLst>
          </a:custGeom>
          <a:ln w="28956">
            <a:solidFill>
              <a:srgbClr val="000000"/>
            </a:solidFill>
          </a:ln>
        </p:spPr>
        <p:txBody>
          <a:bodyPr wrap="square" lIns="0" tIns="0" rIns="0" bIns="0" rtlCol="0"/>
          <a:lstStyle/>
          <a:p>
            <a:endParaRPr/>
          </a:p>
        </p:txBody>
      </p:sp>
      <p:sp>
        <p:nvSpPr>
          <p:cNvPr id="7" name="object 7"/>
          <p:cNvSpPr txBox="1"/>
          <p:nvPr/>
        </p:nvSpPr>
        <p:spPr>
          <a:xfrm>
            <a:off x="1255572" y="2319210"/>
            <a:ext cx="1557020"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第一次捕获</a:t>
            </a:r>
            <a:endParaRPr sz="2400">
              <a:latin typeface="宋体"/>
              <a:cs typeface="宋体"/>
            </a:endParaRPr>
          </a:p>
        </p:txBody>
      </p:sp>
      <p:sp>
        <p:nvSpPr>
          <p:cNvPr id="8" name="object 8"/>
          <p:cNvSpPr/>
          <p:nvPr/>
        </p:nvSpPr>
        <p:spPr>
          <a:xfrm>
            <a:off x="7276338" y="2216657"/>
            <a:ext cx="2180590" cy="939800"/>
          </a:xfrm>
          <a:custGeom>
            <a:avLst/>
            <a:gdLst/>
            <a:ahLst/>
            <a:cxnLst/>
            <a:rect l="l" t="t" r="r" b="b"/>
            <a:pathLst>
              <a:path w="2180590" h="939800">
                <a:moveTo>
                  <a:pt x="1893569" y="0"/>
                </a:moveTo>
                <a:lnTo>
                  <a:pt x="1156588" y="0"/>
                </a:lnTo>
                <a:lnTo>
                  <a:pt x="75610" y="1019"/>
                </a:lnTo>
                <a:lnTo>
                  <a:pt x="36968" y="16838"/>
                </a:lnTo>
                <a:lnTo>
                  <a:pt x="10083" y="47898"/>
                </a:lnTo>
                <a:lnTo>
                  <a:pt x="0" y="89153"/>
                </a:lnTo>
                <a:lnTo>
                  <a:pt x="0" y="445769"/>
                </a:lnTo>
                <a:lnTo>
                  <a:pt x="9622" y="486131"/>
                </a:lnTo>
                <a:lnTo>
                  <a:pt x="36163" y="517496"/>
                </a:lnTo>
                <a:lnTo>
                  <a:pt x="74580" y="533741"/>
                </a:lnTo>
                <a:lnTo>
                  <a:pt x="89153" y="534924"/>
                </a:lnTo>
                <a:lnTo>
                  <a:pt x="1156588" y="534924"/>
                </a:lnTo>
                <a:lnTo>
                  <a:pt x="2180081" y="939545"/>
                </a:lnTo>
                <a:lnTo>
                  <a:pt x="1652269" y="534924"/>
                </a:lnTo>
                <a:lnTo>
                  <a:pt x="1907113" y="533904"/>
                </a:lnTo>
                <a:lnTo>
                  <a:pt x="1920989" y="530636"/>
                </a:lnTo>
                <a:lnTo>
                  <a:pt x="1956272" y="509176"/>
                </a:lnTo>
                <a:lnTo>
                  <a:pt x="1978117" y="474157"/>
                </a:lnTo>
                <a:lnTo>
                  <a:pt x="1982723" y="445769"/>
                </a:lnTo>
                <a:lnTo>
                  <a:pt x="1982723" y="312038"/>
                </a:lnTo>
                <a:lnTo>
                  <a:pt x="1981704" y="75610"/>
                </a:lnTo>
                <a:lnTo>
                  <a:pt x="1965885" y="36968"/>
                </a:lnTo>
                <a:lnTo>
                  <a:pt x="1934825" y="10083"/>
                </a:lnTo>
                <a:lnTo>
                  <a:pt x="1908143" y="1182"/>
                </a:lnTo>
                <a:lnTo>
                  <a:pt x="1893569" y="0"/>
                </a:lnTo>
                <a:close/>
              </a:path>
            </a:pathLst>
          </a:custGeom>
          <a:solidFill>
            <a:srgbClr val="FFFFC7"/>
          </a:solidFill>
        </p:spPr>
        <p:txBody>
          <a:bodyPr wrap="square" lIns="0" tIns="0" rIns="0" bIns="0" rtlCol="0"/>
          <a:lstStyle/>
          <a:p>
            <a:endParaRPr/>
          </a:p>
        </p:txBody>
      </p:sp>
      <p:sp>
        <p:nvSpPr>
          <p:cNvPr id="9" name="object 9"/>
          <p:cNvSpPr/>
          <p:nvPr/>
        </p:nvSpPr>
        <p:spPr>
          <a:xfrm>
            <a:off x="7276338" y="2216657"/>
            <a:ext cx="2180590" cy="939800"/>
          </a:xfrm>
          <a:custGeom>
            <a:avLst/>
            <a:gdLst/>
            <a:ahLst/>
            <a:cxnLst/>
            <a:rect l="l" t="t" r="r" b="b"/>
            <a:pathLst>
              <a:path w="2180590" h="939800">
                <a:moveTo>
                  <a:pt x="0" y="89153"/>
                </a:moveTo>
                <a:lnTo>
                  <a:pt x="10083" y="47898"/>
                </a:lnTo>
                <a:lnTo>
                  <a:pt x="36968" y="16838"/>
                </a:lnTo>
                <a:lnTo>
                  <a:pt x="75610" y="1019"/>
                </a:lnTo>
                <a:lnTo>
                  <a:pt x="1156588" y="0"/>
                </a:lnTo>
                <a:lnTo>
                  <a:pt x="1652269" y="0"/>
                </a:lnTo>
                <a:lnTo>
                  <a:pt x="1893569" y="0"/>
                </a:lnTo>
                <a:lnTo>
                  <a:pt x="1908143" y="1182"/>
                </a:lnTo>
                <a:lnTo>
                  <a:pt x="1946560" y="17427"/>
                </a:lnTo>
                <a:lnTo>
                  <a:pt x="1973101" y="48792"/>
                </a:lnTo>
                <a:lnTo>
                  <a:pt x="1982723" y="312038"/>
                </a:lnTo>
                <a:lnTo>
                  <a:pt x="1982723" y="445769"/>
                </a:lnTo>
                <a:lnTo>
                  <a:pt x="1981541" y="460343"/>
                </a:lnTo>
                <a:lnTo>
                  <a:pt x="1978117" y="474157"/>
                </a:lnTo>
                <a:lnTo>
                  <a:pt x="1956272" y="509176"/>
                </a:lnTo>
                <a:lnTo>
                  <a:pt x="1920989" y="530636"/>
                </a:lnTo>
                <a:lnTo>
                  <a:pt x="1652269" y="534924"/>
                </a:lnTo>
                <a:lnTo>
                  <a:pt x="2180081" y="939545"/>
                </a:lnTo>
                <a:lnTo>
                  <a:pt x="1156588" y="534924"/>
                </a:lnTo>
                <a:lnTo>
                  <a:pt x="89153" y="534924"/>
                </a:lnTo>
                <a:lnTo>
                  <a:pt x="74580" y="533741"/>
                </a:lnTo>
                <a:lnTo>
                  <a:pt x="36163" y="517496"/>
                </a:lnTo>
                <a:lnTo>
                  <a:pt x="9622" y="486131"/>
                </a:lnTo>
                <a:lnTo>
                  <a:pt x="0" y="445769"/>
                </a:lnTo>
                <a:lnTo>
                  <a:pt x="0" y="312038"/>
                </a:lnTo>
                <a:lnTo>
                  <a:pt x="0" y="89153"/>
                </a:lnTo>
                <a:close/>
              </a:path>
            </a:pathLst>
          </a:custGeom>
          <a:ln w="28956">
            <a:solidFill>
              <a:srgbClr val="000000"/>
            </a:solidFill>
          </a:ln>
        </p:spPr>
        <p:txBody>
          <a:bodyPr wrap="square" lIns="0" tIns="0" rIns="0" bIns="0" rtlCol="0"/>
          <a:lstStyle/>
          <a:p>
            <a:endParaRPr/>
          </a:p>
        </p:txBody>
      </p:sp>
      <p:sp>
        <p:nvSpPr>
          <p:cNvPr id="10" name="object 10"/>
          <p:cNvSpPr txBox="1"/>
          <p:nvPr/>
        </p:nvSpPr>
        <p:spPr>
          <a:xfrm>
            <a:off x="7489063" y="2319210"/>
            <a:ext cx="1558925"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第二次捕获</a:t>
            </a:r>
            <a:endParaRPr sz="2400">
              <a:latin typeface="宋体"/>
              <a:cs typeface="宋体"/>
            </a:endParaRPr>
          </a:p>
        </p:txBody>
      </p:sp>
      <p:sp>
        <p:nvSpPr>
          <p:cNvPr id="11" name="object 11"/>
          <p:cNvSpPr/>
          <p:nvPr/>
        </p:nvSpPr>
        <p:spPr>
          <a:xfrm>
            <a:off x="3976878" y="5859017"/>
            <a:ext cx="4239895" cy="847725"/>
          </a:xfrm>
          <a:custGeom>
            <a:avLst/>
            <a:gdLst/>
            <a:ahLst/>
            <a:cxnLst/>
            <a:rect l="l" t="t" r="r" b="b"/>
            <a:pathLst>
              <a:path w="4239895" h="847725">
                <a:moveTo>
                  <a:pt x="4098544" y="0"/>
                </a:moveTo>
                <a:lnTo>
                  <a:pt x="706627" y="0"/>
                </a:lnTo>
                <a:lnTo>
                  <a:pt x="130522" y="399"/>
                </a:lnTo>
                <a:lnTo>
                  <a:pt x="88923" y="10004"/>
                </a:lnTo>
                <a:lnTo>
                  <a:pt x="53050" y="30908"/>
                </a:lnTo>
                <a:lnTo>
                  <a:pt x="24925" y="61092"/>
                </a:lnTo>
                <a:lnTo>
                  <a:pt x="6568" y="98537"/>
                </a:lnTo>
                <a:lnTo>
                  <a:pt x="0" y="141223"/>
                </a:lnTo>
                <a:lnTo>
                  <a:pt x="0" y="706119"/>
                </a:lnTo>
                <a:lnTo>
                  <a:pt x="5448" y="745095"/>
                </a:lnTo>
                <a:lnTo>
                  <a:pt x="22813" y="783102"/>
                </a:lnTo>
                <a:lnTo>
                  <a:pt x="50130" y="814033"/>
                </a:lnTo>
                <a:lnTo>
                  <a:pt x="85379" y="835868"/>
                </a:lnTo>
                <a:lnTo>
                  <a:pt x="126539" y="846589"/>
                </a:lnTo>
                <a:lnTo>
                  <a:pt x="141224" y="847343"/>
                </a:lnTo>
                <a:lnTo>
                  <a:pt x="1766570" y="847343"/>
                </a:lnTo>
                <a:lnTo>
                  <a:pt x="4109245" y="846944"/>
                </a:lnTo>
                <a:lnTo>
                  <a:pt x="4150844" y="837339"/>
                </a:lnTo>
                <a:lnTo>
                  <a:pt x="4186717" y="816435"/>
                </a:lnTo>
                <a:lnTo>
                  <a:pt x="4214842" y="786251"/>
                </a:lnTo>
                <a:lnTo>
                  <a:pt x="4233199" y="748806"/>
                </a:lnTo>
                <a:lnTo>
                  <a:pt x="4239768" y="706119"/>
                </a:lnTo>
                <a:lnTo>
                  <a:pt x="4239768" y="494283"/>
                </a:lnTo>
                <a:lnTo>
                  <a:pt x="4239368" y="130520"/>
                </a:lnTo>
                <a:lnTo>
                  <a:pt x="4229761" y="88917"/>
                </a:lnTo>
                <a:lnTo>
                  <a:pt x="4208855" y="53045"/>
                </a:lnTo>
                <a:lnTo>
                  <a:pt x="4178669" y="24921"/>
                </a:lnTo>
                <a:lnTo>
                  <a:pt x="4141225" y="6566"/>
                </a:lnTo>
                <a:lnTo>
                  <a:pt x="4098544" y="0"/>
                </a:lnTo>
                <a:close/>
              </a:path>
            </a:pathLst>
          </a:custGeom>
          <a:solidFill>
            <a:srgbClr val="FFFFC7"/>
          </a:solidFill>
        </p:spPr>
        <p:txBody>
          <a:bodyPr wrap="square" lIns="0" tIns="0" rIns="0" bIns="0" rtlCol="0"/>
          <a:lstStyle/>
          <a:p>
            <a:endParaRPr/>
          </a:p>
        </p:txBody>
      </p:sp>
      <p:sp>
        <p:nvSpPr>
          <p:cNvPr id="12" name="object 12"/>
          <p:cNvSpPr/>
          <p:nvPr/>
        </p:nvSpPr>
        <p:spPr>
          <a:xfrm>
            <a:off x="3976878" y="5859017"/>
            <a:ext cx="4239895" cy="847725"/>
          </a:xfrm>
          <a:custGeom>
            <a:avLst/>
            <a:gdLst/>
            <a:ahLst/>
            <a:cxnLst/>
            <a:rect l="l" t="t" r="r" b="b"/>
            <a:pathLst>
              <a:path w="4239895" h="847725">
                <a:moveTo>
                  <a:pt x="0" y="141223"/>
                </a:moveTo>
                <a:lnTo>
                  <a:pt x="6568" y="98537"/>
                </a:lnTo>
                <a:lnTo>
                  <a:pt x="24925" y="61092"/>
                </a:lnTo>
                <a:lnTo>
                  <a:pt x="53050" y="30908"/>
                </a:lnTo>
                <a:lnTo>
                  <a:pt x="88923" y="10004"/>
                </a:lnTo>
                <a:lnTo>
                  <a:pt x="130522" y="399"/>
                </a:lnTo>
                <a:lnTo>
                  <a:pt x="706627" y="0"/>
                </a:lnTo>
                <a:lnTo>
                  <a:pt x="1766570" y="0"/>
                </a:lnTo>
                <a:lnTo>
                  <a:pt x="4098544" y="0"/>
                </a:lnTo>
                <a:lnTo>
                  <a:pt x="4113228" y="754"/>
                </a:lnTo>
                <a:lnTo>
                  <a:pt x="4154388" y="11475"/>
                </a:lnTo>
                <a:lnTo>
                  <a:pt x="4189637" y="33310"/>
                </a:lnTo>
                <a:lnTo>
                  <a:pt x="4216954" y="64241"/>
                </a:lnTo>
                <a:lnTo>
                  <a:pt x="4234319" y="102248"/>
                </a:lnTo>
                <a:lnTo>
                  <a:pt x="4239768" y="494283"/>
                </a:lnTo>
                <a:lnTo>
                  <a:pt x="4239768" y="706119"/>
                </a:lnTo>
                <a:lnTo>
                  <a:pt x="4239013" y="720806"/>
                </a:lnTo>
                <a:lnTo>
                  <a:pt x="4236798" y="735060"/>
                </a:lnTo>
                <a:lnTo>
                  <a:pt x="4222146" y="774476"/>
                </a:lnTo>
                <a:lnTo>
                  <a:pt x="4197053" y="807305"/>
                </a:lnTo>
                <a:lnTo>
                  <a:pt x="4163538" y="831527"/>
                </a:lnTo>
                <a:lnTo>
                  <a:pt x="4123623" y="845122"/>
                </a:lnTo>
                <a:lnTo>
                  <a:pt x="1766570" y="847343"/>
                </a:lnTo>
                <a:lnTo>
                  <a:pt x="1974723" y="847343"/>
                </a:lnTo>
                <a:lnTo>
                  <a:pt x="706627" y="847343"/>
                </a:lnTo>
                <a:lnTo>
                  <a:pt x="141224" y="847343"/>
                </a:lnTo>
                <a:lnTo>
                  <a:pt x="126539" y="846589"/>
                </a:lnTo>
                <a:lnTo>
                  <a:pt x="85379" y="835868"/>
                </a:lnTo>
                <a:lnTo>
                  <a:pt x="50130" y="814033"/>
                </a:lnTo>
                <a:lnTo>
                  <a:pt x="22813" y="783102"/>
                </a:lnTo>
                <a:lnTo>
                  <a:pt x="5448" y="745095"/>
                </a:lnTo>
                <a:lnTo>
                  <a:pt x="0" y="706119"/>
                </a:lnTo>
                <a:lnTo>
                  <a:pt x="0" y="494283"/>
                </a:lnTo>
                <a:lnTo>
                  <a:pt x="0" y="141223"/>
                </a:lnTo>
                <a:close/>
              </a:path>
            </a:pathLst>
          </a:custGeom>
          <a:ln w="28956">
            <a:solidFill>
              <a:srgbClr val="000000"/>
            </a:solidFill>
          </a:ln>
        </p:spPr>
        <p:txBody>
          <a:bodyPr wrap="square" lIns="0" tIns="0" rIns="0" bIns="0" rtlCol="0"/>
          <a:lstStyle/>
          <a:p>
            <a:endParaRPr/>
          </a:p>
        </p:txBody>
      </p:sp>
      <p:sp>
        <p:nvSpPr>
          <p:cNvPr id="13" name="object 13"/>
          <p:cNvSpPr/>
          <p:nvPr/>
        </p:nvSpPr>
        <p:spPr>
          <a:xfrm>
            <a:off x="354329" y="1184910"/>
            <a:ext cx="2673350" cy="847725"/>
          </a:xfrm>
          <a:custGeom>
            <a:avLst/>
            <a:gdLst/>
            <a:ahLst/>
            <a:cxnLst/>
            <a:rect l="l" t="t" r="r" b="b"/>
            <a:pathLst>
              <a:path w="2673350" h="847725">
                <a:moveTo>
                  <a:pt x="2531872" y="0"/>
                </a:moveTo>
                <a:lnTo>
                  <a:pt x="445516" y="0"/>
                </a:lnTo>
                <a:lnTo>
                  <a:pt x="130520" y="399"/>
                </a:lnTo>
                <a:lnTo>
                  <a:pt x="88917" y="10006"/>
                </a:lnTo>
                <a:lnTo>
                  <a:pt x="53045" y="30912"/>
                </a:lnTo>
                <a:lnTo>
                  <a:pt x="24921" y="61098"/>
                </a:lnTo>
                <a:lnTo>
                  <a:pt x="6566" y="98542"/>
                </a:lnTo>
                <a:lnTo>
                  <a:pt x="0" y="141224"/>
                </a:lnTo>
                <a:lnTo>
                  <a:pt x="0" y="706119"/>
                </a:lnTo>
                <a:lnTo>
                  <a:pt x="5447" y="745090"/>
                </a:lnTo>
                <a:lnTo>
                  <a:pt x="22809" y="783096"/>
                </a:lnTo>
                <a:lnTo>
                  <a:pt x="50125" y="814029"/>
                </a:lnTo>
                <a:lnTo>
                  <a:pt x="85374" y="835866"/>
                </a:lnTo>
                <a:lnTo>
                  <a:pt x="126537" y="846589"/>
                </a:lnTo>
                <a:lnTo>
                  <a:pt x="141224" y="847343"/>
                </a:lnTo>
                <a:lnTo>
                  <a:pt x="1113789" y="847343"/>
                </a:lnTo>
                <a:lnTo>
                  <a:pt x="2542573" y="846944"/>
                </a:lnTo>
                <a:lnTo>
                  <a:pt x="2584172" y="837337"/>
                </a:lnTo>
                <a:lnTo>
                  <a:pt x="2620045" y="816431"/>
                </a:lnTo>
                <a:lnTo>
                  <a:pt x="2648170" y="786245"/>
                </a:lnTo>
                <a:lnTo>
                  <a:pt x="2666527" y="748801"/>
                </a:lnTo>
                <a:lnTo>
                  <a:pt x="2673096" y="706119"/>
                </a:lnTo>
                <a:lnTo>
                  <a:pt x="2673096" y="494284"/>
                </a:lnTo>
                <a:lnTo>
                  <a:pt x="2672696" y="130522"/>
                </a:lnTo>
                <a:lnTo>
                  <a:pt x="2663089" y="88923"/>
                </a:lnTo>
                <a:lnTo>
                  <a:pt x="2642183" y="53050"/>
                </a:lnTo>
                <a:lnTo>
                  <a:pt x="2611997" y="24925"/>
                </a:lnTo>
                <a:lnTo>
                  <a:pt x="2574553" y="6568"/>
                </a:lnTo>
                <a:lnTo>
                  <a:pt x="2531872" y="0"/>
                </a:lnTo>
                <a:close/>
              </a:path>
            </a:pathLst>
          </a:custGeom>
          <a:solidFill>
            <a:srgbClr val="FFFFC7"/>
          </a:solidFill>
        </p:spPr>
        <p:txBody>
          <a:bodyPr wrap="square" lIns="0" tIns="0" rIns="0" bIns="0" rtlCol="0"/>
          <a:lstStyle/>
          <a:p>
            <a:endParaRPr/>
          </a:p>
        </p:txBody>
      </p:sp>
      <p:sp>
        <p:nvSpPr>
          <p:cNvPr id="14" name="object 14"/>
          <p:cNvSpPr/>
          <p:nvPr/>
        </p:nvSpPr>
        <p:spPr>
          <a:xfrm>
            <a:off x="354329" y="1184910"/>
            <a:ext cx="2673350" cy="847725"/>
          </a:xfrm>
          <a:custGeom>
            <a:avLst/>
            <a:gdLst/>
            <a:ahLst/>
            <a:cxnLst/>
            <a:rect l="l" t="t" r="r" b="b"/>
            <a:pathLst>
              <a:path w="2673350" h="847725">
                <a:moveTo>
                  <a:pt x="0" y="141224"/>
                </a:moveTo>
                <a:lnTo>
                  <a:pt x="6566" y="98542"/>
                </a:lnTo>
                <a:lnTo>
                  <a:pt x="24921" y="61098"/>
                </a:lnTo>
                <a:lnTo>
                  <a:pt x="53045" y="30912"/>
                </a:lnTo>
                <a:lnTo>
                  <a:pt x="88917" y="10006"/>
                </a:lnTo>
                <a:lnTo>
                  <a:pt x="130520" y="399"/>
                </a:lnTo>
                <a:lnTo>
                  <a:pt x="445516" y="0"/>
                </a:lnTo>
                <a:lnTo>
                  <a:pt x="1113789" y="0"/>
                </a:lnTo>
                <a:lnTo>
                  <a:pt x="2531872" y="0"/>
                </a:lnTo>
                <a:lnTo>
                  <a:pt x="2546556" y="754"/>
                </a:lnTo>
                <a:lnTo>
                  <a:pt x="2587716" y="11477"/>
                </a:lnTo>
                <a:lnTo>
                  <a:pt x="2622965" y="33314"/>
                </a:lnTo>
                <a:lnTo>
                  <a:pt x="2650282" y="64247"/>
                </a:lnTo>
                <a:lnTo>
                  <a:pt x="2667647" y="102253"/>
                </a:lnTo>
                <a:lnTo>
                  <a:pt x="2673096" y="494284"/>
                </a:lnTo>
                <a:lnTo>
                  <a:pt x="2673096" y="706119"/>
                </a:lnTo>
                <a:lnTo>
                  <a:pt x="2672341" y="720804"/>
                </a:lnTo>
                <a:lnTo>
                  <a:pt x="2670126" y="735056"/>
                </a:lnTo>
                <a:lnTo>
                  <a:pt x="2655474" y="774470"/>
                </a:lnTo>
                <a:lnTo>
                  <a:pt x="2630381" y="807300"/>
                </a:lnTo>
                <a:lnTo>
                  <a:pt x="2596866" y="831524"/>
                </a:lnTo>
                <a:lnTo>
                  <a:pt x="2556951" y="845122"/>
                </a:lnTo>
                <a:lnTo>
                  <a:pt x="1113789" y="847343"/>
                </a:lnTo>
                <a:lnTo>
                  <a:pt x="1244981" y="847343"/>
                </a:lnTo>
                <a:lnTo>
                  <a:pt x="445516" y="847343"/>
                </a:lnTo>
                <a:lnTo>
                  <a:pt x="141224" y="847343"/>
                </a:lnTo>
                <a:lnTo>
                  <a:pt x="126537" y="846589"/>
                </a:lnTo>
                <a:lnTo>
                  <a:pt x="85374" y="835866"/>
                </a:lnTo>
                <a:lnTo>
                  <a:pt x="50125" y="814029"/>
                </a:lnTo>
                <a:lnTo>
                  <a:pt x="22809" y="783096"/>
                </a:lnTo>
                <a:lnTo>
                  <a:pt x="5447" y="745090"/>
                </a:lnTo>
                <a:lnTo>
                  <a:pt x="0" y="706119"/>
                </a:lnTo>
                <a:lnTo>
                  <a:pt x="0" y="494284"/>
                </a:lnTo>
                <a:lnTo>
                  <a:pt x="0" y="141224"/>
                </a:lnTo>
                <a:close/>
              </a:path>
            </a:pathLst>
          </a:custGeom>
          <a:ln w="28956">
            <a:solidFill>
              <a:srgbClr val="000000"/>
            </a:solidFill>
          </a:ln>
        </p:spPr>
        <p:txBody>
          <a:bodyPr wrap="square" lIns="0" tIns="0" rIns="0" bIns="0" rtlCol="0"/>
          <a:lstStyle/>
          <a:p>
            <a:endParaRPr/>
          </a:p>
        </p:txBody>
      </p:sp>
      <p:sp>
        <p:nvSpPr>
          <p:cNvPr id="15" name="object 15"/>
          <p:cNvSpPr/>
          <p:nvPr/>
        </p:nvSpPr>
        <p:spPr>
          <a:xfrm>
            <a:off x="3446779" y="1732407"/>
            <a:ext cx="2514600" cy="1516380"/>
          </a:xfrm>
          <a:custGeom>
            <a:avLst/>
            <a:gdLst/>
            <a:ahLst/>
            <a:cxnLst/>
            <a:rect l="l" t="t" r="r" b="b"/>
            <a:pathLst>
              <a:path w="2514600" h="1516380">
                <a:moveTo>
                  <a:pt x="2315464" y="322706"/>
                </a:moveTo>
                <a:lnTo>
                  <a:pt x="570484" y="322706"/>
                </a:lnTo>
                <a:lnTo>
                  <a:pt x="554170" y="323366"/>
                </a:lnTo>
                <a:lnTo>
                  <a:pt x="507615" y="332844"/>
                </a:lnTo>
                <a:lnTo>
                  <a:pt x="465714" y="352500"/>
                </a:lnTo>
                <a:lnTo>
                  <a:pt x="429847" y="380952"/>
                </a:lnTo>
                <a:lnTo>
                  <a:pt x="401395" y="416819"/>
                </a:lnTo>
                <a:lnTo>
                  <a:pt x="381739" y="458720"/>
                </a:lnTo>
                <a:lnTo>
                  <a:pt x="372261" y="505275"/>
                </a:lnTo>
                <a:lnTo>
                  <a:pt x="371602" y="521588"/>
                </a:lnTo>
                <a:lnTo>
                  <a:pt x="371602" y="1317116"/>
                </a:lnTo>
                <a:lnTo>
                  <a:pt x="377381" y="1364915"/>
                </a:lnTo>
                <a:lnTo>
                  <a:pt x="393797" y="1408521"/>
                </a:lnTo>
                <a:lnTo>
                  <a:pt x="419471" y="1446553"/>
                </a:lnTo>
                <a:lnTo>
                  <a:pt x="453020" y="1477630"/>
                </a:lnTo>
                <a:lnTo>
                  <a:pt x="493063" y="1500372"/>
                </a:lnTo>
                <a:lnTo>
                  <a:pt x="538220" y="1513396"/>
                </a:lnTo>
                <a:lnTo>
                  <a:pt x="570484" y="1515998"/>
                </a:lnTo>
                <a:lnTo>
                  <a:pt x="2315464" y="1515998"/>
                </a:lnTo>
                <a:lnTo>
                  <a:pt x="2363262" y="1510219"/>
                </a:lnTo>
                <a:lnTo>
                  <a:pt x="2406868" y="1493803"/>
                </a:lnTo>
                <a:lnTo>
                  <a:pt x="2444900" y="1468129"/>
                </a:lnTo>
                <a:lnTo>
                  <a:pt x="2475977" y="1434580"/>
                </a:lnTo>
                <a:lnTo>
                  <a:pt x="2498719" y="1394537"/>
                </a:lnTo>
                <a:lnTo>
                  <a:pt x="2511743" y="1349380"/>
                </a:lnTo>
                <a:lnTo>
                  <a:pt x="2514346" y="1317116"/>
                </a:lnTo>
                <a:lnTo>
                  <a:pt x="2514346" y="521588"/>
                </a:lnTo>
                <a:lnTo>
                  <a:pt x="2508566" y="473790"/>
                </a:lnTo>
                <a:lnTo>
                  <a:pt x="2492150" y="430184"/>
                </a:lnTo>
                <a:lnTo>
                  <a:pt x="2466476" y="392152"/>
                </a:lnTo>
                <a:lnTo>
                  <a:pt x="2432927" y="361075"/>
                </a:lnTo>
                <a:lnTo>
                  <a:pt x="2392884" y="338333"/>
                </a:lnTo>
                <a:lnTo>
                  <a:pt x="2347727" y="325309"/>
                </a:lnTo>
                <a:lnTo>
                  <a:pt x="2315464" y="322706"/>
                </a:lnTo>
                <a:close/>
              </a:path>
              <a:path w="2514600" h="1516380">
                <a:moveTo>
                  <a:pt x="0" y="0"/>
                </a:moveTo>
                <a:lnTo>
                  <a:pt x="728726" y="322706"/>
                </a:lnTo>
                <a:lnTo>
                  <a:pt x="1264412" y="322706"/>
                </a:lnTo>
                <a:lnTo>
                  <a:pt x="0" y="0"/>
                </a:lnTo>
                <a:close/>
              </a:path>
            </a:pathLst>
          </a:custGeom>
          <a:solidFill>
            <a:srgbClr val="FFFFC7"/>
          </a:solidFill>
        </p:spPr>
        <p:txBody>
          <a:bodyPr wrap="square" lIns="0" tIns="0" rIns="0" bIns="0" rtlCol="0"/>
          <a:lstStyle/>
          <a:p>
            <a:endParaRPr/>
          </a:p>
        </p:txBody>
      </p:sp>
      <p:sp>
        <p:nvSpPr>
          <p:cNvPr id="16" name="object 16"/>
          <p:cNvSpPr/>
          <p:nvPr/>
        </p:nvSpPr>
        <p:spPr>
          <a:xfrm>
            <a:off x="3446779" y="1732407"/>
            <a:ext cx="2514600" cy="1516380"/>
          </a:xfrm>
          <a:custGeom>
            <a:avLst/>
            <a:gdLst/>
            <a:ahLst/>
            <a:cxnLst/>
            <a:rect l="l" t="t" r="r" b="b"/>
            <a:pathLst>
              <a:path w="2514600" h="1516380">
                <a:moveTo>
                  <a:pt x="371602" y="521588"/>
                </a:moveTo>
                <a:lnTo>
                  <a:pt x="377381" y="473790"/>
                </a:lnTo>
                <a:lnTo>
                  <a:pt x="393797" y="430184"/>
                </a:lnTo>
                <a:lnTo>
                  <a:pt x="419471" y="392152"/>
                </a:lnTo>
                <a:lnTo>
                  <a:pt x="453020" y="361075"/>
                </a:lnTo>
                <a:lnTo>
                  <a:pt x="493063" y="338333"/>
                </a:lnTo>
                <a:lnTo>
                  <a:pt x="538220" y="325309"/>
                </a:lnTo>
                <a:lnTo>
                  <a:pt x="570484" y="322706"/>
                </a:lnTo>
                <a:lnTo>
                  <a:pt x="728726" y="322706"/>
                </a:lnTo>
                <a:lnTo>
                  <a:pt x="0" y="0"/>
                </a:lnTo>
                <a:lnTo>
                  <a:pt x="1264412" y="322706"/>
                </a:lnTo>
                <a:lnTo>
                  <a:pt x="2315464" y="322706"/>
                </a:lnTo>
                <a:lnTo>
                  <a:pt x="2331777" y="323366"/>
                </a:lnTo>
                <a:lnTo>
                  <a:pt x="2378332" y="332844"/>
                </a:lnTo>
                <a:lnTo>
                  <a:pt x="2420233" y="352500"/>
                </a:lnTo>
                <a:lnTo>
                  <a:pt x="2456100" y="380952"/>
                </a:lnTo>
                <a:lnTo>
                  <a:pt x="2484552" y="416819"/>
                </a:lnTo>
                <a:lnTo>
                  <a:pt x="2504208" y="458720"/>
                </a:lnTo>
                <a:lnTo>
                  <a:pt x="2513686" y="505275"/>
                </a:lnTo>
                <a:lnTo>
                  <a:pt x="2514346" y="521588"/>
                </a:lnTo>
                <a:lnTo>
                  <a:pt x="2514346" y="819912"/>
                </a:lnTo>
                <a:lnTo>
                  <a:pt x="2514346" y="1317116"/>
                </a:lnTo>
                <a:lnTo>
                  <a:pt x="2513686" y="1333430"/>
                </a:lnTo>
                <a:lnTo>
                  <a:pt x="2504208" y="1379985"/>
                </a:lnTo>
                <a:lnTo>
                  <a:pt x="2484552" y="1421886"/>
                </a:lnTo>
                <a:lnTo>
                  <a:pt x="2456100" y="1457753"/>
                </a:lnTo>
                <a:lnTo>
                  <a:pt x="2420233" y="1486205"/>
                </a:lnTo>
                <a:lnTo>
                  <a:pt x="2378332" y="1505861"/>
                </a:lnTo>
                <a:lnTo>
                  <a:pt x="2331777" y="1515339"/>
                </a:lnTo>
                <a:lnTo>
                  <a:pt x="2315464" y="1515998"/>
                </a:lnTo>
                <a:lnTo>
                  <a:pt x="1264412" y="1515998"/>
                </a:lnTo>
                <a:lnTo>
                  <a:pt x="728726" y="1515998"/>
                </a:lnTo>
                <a:lnTo>
                  <a:pt x="570484" y="1515998"/>
                </a:lnTo>
                <a:lnTo>
                  <a:pt x="554170" y="1515339"/>
                </a:lnTo>
                <a:lnTo>
                  <a:pt x="507615" y="1505861"/>
                </a:lnTo>
                <a:lnTo>
                  <a:pt x="465714" y="1486205"/>
                </a:lnTo>
                <a:lnTo>
                  <a:pt x="429847" y="1457753"/>
                </a:lnTo>
                <a:lnTo>
                  <a:pt x="401395" y="1421886"/>
                </a:lnTo>
                <a:lnTo>
                  <a:pt x="381739" y="1379985"/>
                </a:lnTo>
                <a:lnTo>
                  <a:pt x="372261" y="1333430"/>
                </a:lnTo>
                <a:lnTo>
                  <a:pt x="371602" y="1317116"/>
                </a:lnTo>
                <a:lnTo>
                  <a:pt x="371602" y="819912"/>
                </a:lnTo>
                <a:lnTo>
                  <a:pt x="371602" y="521588"/>
                </a:lnTo>
                <a:close/>
              </a:path>
            </a:pathLst>
          </a:custGeom>
          <a:ln w="28956">
            <a:solidFill>
              <a:srgbClr val="000000"/>
            </a:solidFill>
          </a:ln>
        </p:spPr>
        <p:txBody>
          <a:bodyPr wrap="square" lIns="0" tIns="0" rIns="0" bIns="0" rtlCol="0"/>
          <a:lstStyle/>
          <a:p>
            <a:endParaRPr/>
          </a:p>
        </p:txBody>
      </p:sp>
      <p:sp>
        <p:nvSpPr>
          <p:cNvPr id="17" name="object 17"/>
          <p:cNvSpPr/>
          <p:nvPr/>
        </p:nvSpPr>
        <p:spPr>
          <a:xfrm>
            <a:off x="3410711" y="4072128"/>
            <a:ext cx="173990" cy="1028065"/>
          </a:xfrm>
          <a:custGeom>
            <a:avLst/>
            <a:gdLst/>
            <a:ahLst/>
            <a:cxnLst/>
            <a:rect l="l" t="t" r="r" b="b"/>
            <a:pathLst>
              <a:path w="173989" h="1028064">
                <a:moveTo>
                  <a:pt x="57912" y="853821"/>
                </a:moveTo>
                <a:lnTo>
                  <a:pt x="0" y="853821"/>
                </a:lnTo>
                <a:lnTo>
                  <a:pt x="86867" y="1027557"/>
                </a:lnTo>
                <a:lnTo>
                  <a:pt x="159258" y="882777"/>
                </a:lnTo>
                <a:lnTo>
                  <a:pt x="57912" y="882777"/>
                </a:lnTo>
                <a:lnTo>
                  <a:pt x="57912" y="853821"/>
                </a:lnTo>
                <a:close/>
              </a:path>
              <a:path w="173989" h="1028064">
                <a:moveTo>
                  <a:pt x="115824" y="0"/>
                </a:moveTo>
                <a:lnTo>
                  <a:pt x="57912" y="0"/>
                </a:lnTo>
                <a:lnTo>
                  <a:pt x="57912" y="882777"/>
                </a:lnTo>
                <a:lnTo>
                  <a:pt x="115824" y="882777"/>
                </a:lnTo>
                <a:lnTo>
                  <a:pt x="115824" y="0"/>
                </a:lnTo>
                <a:close/>
              </a:path>
              <a:path w="173989" h="1028064">
                <a:moveTo>
                  <a:pt x="173736" y="853821"/>
                </a:moveTo>
                <a:lnTo>
                  <a:pt x="115824" y="853821"/>
                </a:lnTo>
                <a:lnTo>
                  <a:pt x="115824" y="882777"/>
                </a:lnTo>
                <a:lnTo>
                  <a:pt x="159258" y="882777"/>
                </a:lnTo>
                <a:lnTo>
                  <a:pt x="173736" y="853821"/>
                </a:lnTo>
                <a:close/>
              </a:path>
            </a:pathLst>
          </a:custGeom>
          <a:solidFill>
            <a:srgbClr val="C00000"/>
          </a:solidFill>
        </p:spPr>
        <p:txBody>
          <a:bodyPr wrap="square" lIns="0" tIns="0" rIns="0" bIns="0" rtlCol="0"/>
          <a:lstStyle/>
          <a:p>
            <a:endParaRPr/>
          </a:p>
        </p:txBody>
      </p:sp>
      <p:sp>
        <p:nvSpPr>
          <p:cNvPr id="18" name="object 18"/>
          <p:cNvSpPr/>
          <p:nvPr/>
        </p:nvSpPr>
        <p:spPr>
          <a:xfrm>
            <a:off x="9648443" y="4072128"/>
            <a:ext cx="173990" cy="1768475"/>
          </a:xfrm>
          <a:custGeom>
            <a:avLst/>
            <a:gdLst/>
            <a:ahLst/>
            <a:cxnLst/>
            <a:rect l="l" t="t" r="r" b="b"/>
            <a:pathLst>
              <a:path w="173990" h="1768475">
                <a:moveTo>
                  <a:pt x="57911" y="1594243"/>
                </a:moveTo>
                <a:lnTo>
                  <a:pt x="0" y="1594243"/>
                </a:lnTo>
                <a:lnTo>
                  <a:pt x="86867" y="1767979"/>
                </a:lnTo>
                <a:lnTo>
                  <a:pt x="159257" y="1623199"/>
                </a:lnTo>
                <a:lnTo>
                  <a:pt x="57911" y="1623199"/>
                </a:lnTo>
                <a:lnTo>
                  <a:pt x="57911" y="1594243"/>
                </a:lnTo>
                <a:close/>
              </a:path>
              <a:path w="173990" h="1768475">
                <a:moveTo>
                  <a:pt x="115824" y="0"/>
                </a:moveTo>
                <a:lnTo>
                  <a:pt x="57911" y="0"/>
                </a:lnTo>
                <a:lnTo>
                  <a:pt x="57911" y="1623199"/>
                </a:lnTo>
                <a:lnTo>
                  <a:pt x="115824" y="1623199"/>
                </a:lnTo>
                <a:lnTo>
                  <a:pt x="115824" y="0"/>
                </a:lnTo>
                <a:close/>
              </a:path>
              <a:path w="173990" h="1768475">
                <a:moveTo>
                  <a:pt x="173735" y="1594243"/>
                </a:moveTo>
                <a:lnTo>
                  <a:pt x="115824" y="1594243"/>
                </a:lnTo>
                <a:lnTo>
                  <a:pt x="115824" y="1623199"/>
                </a:lnTo>
                <a:lnTo>
                  <a:pt x="159257" y="1623199"/>
                </a:lnTo>
                <a:lnTo>
                  <a:pt x="173735" y="1594243"/>
                </a:lnTo>
                <a:close/>
              </a:path>
            </a:pathLst>
          </a:custGeom>
          <a:solidFill>
            <a:srgbClr val="C00000"/>
          </a:solidFill>
        </p:spPr>
        <p:txBody>
          <a:bodyPr wrap="square" lIns="0" tIns="0" rIns="0" bIns="0" rtlCol="0"/>
          <a:lstStyle/>
          <a:p>
            <a:endParaRPr/>
          </a:p>
        </p:txBody>
      </p:sp>
      <p:sp>
        <p:nvSpPr>
          <p:cNvPr id="19" name="object 19"/>
          <p:cNvSpPr txBox="1"/>
          <p:nvPr/>
        </p:nvSpPr>
        <p:spPr>
          <a:xfrm>
            <a:off x="4245609" y="4815260"/>
            <a:ext cx="3701415" cy="1817370"/>
          </a:xfrm>
          <a:prstGeom prst="rect">
            <a:avLst/>
          </a:prstGeom>
        </p:spPr>
        <p:txBody>
          <a:bodyPr vert="horz" wrap="square" lIns="0" tIns="0" rIns="0" bIns="0" rtlCol="0">
            <a:spAutoFit/>
          </a:bodyPr>
          <a:lstStyle/>
          <a:p>
            <a:pPr marL="635" algn="ctr">
              <a:lnSpc>
                <a:spcPts val="2795"/>
              </a:lnSpc>
            </a:pPr>
            <a:r>
              <a:rPr sz="2400" b="1" spc="-5" dirty="0">
                <a:latin typeface="宋体"/>
                <a:cs typeface="宋体"/>
              </a:rPr>
              <a:t>在中断处理中，定时器</a:t>
            </a:r>
            <a:endParaRPr sz="2400">
              <a:latin typeface="宋体"/>
              <a:cs typeface="宋体"/>
            </a:endParaRPr>
          </a:p>
          <a:p>
            <a:pPr algn="ctr">
              <a:lnSpc>
                <a:spcPts val="2795"/>
              </a:lnSpc>
            </a:pPr>
            <a:r>
              <a:rPr sz="2400" b="1" dirty="0">
                <a:latin typeface="宋体"/>
                <a:cs typeface="宋体"/>
              </a:rPr>
              <a:t>不会停止，将一直运行</a:t>
            </a:r>
            <a:endParaRPr sz="2400">
              <a:latin typeface="宋体"/>
              <a:cs typeface="宋体"/>
            </a:endParaRPr>
          </a:p>
          <a:p>
            <a:pPr>
              <a:lnSpc>
                <a:spcPct val="100000"/>
              </a:lnSpc>
              <a:spcBef>
                <a:spcPts val="8"/>
              </a:spcBef>
            </a:pPr>
            <a:endParaRPr sz="3150">
              <a:latin typeface="Times New Roman"/>
              <a:cs typeface="Times New Roman"/>
            </a:endParaRPr>
          </a:p>
          <a:p>
            <a:pPr marL="12065" marR="5080" algn="ctr">
              <a:lnSpc>
                <a:spcPts val="2710"/>
              </a:lnSpc>
            </a:pPr>
            <a:r>
              <a:rPr sz="2400" b="1" dirty="0">
                <a:latin typeface="宋体"/>
                <a:cs typeface="宋体"/>
              </a:rPr>
              <a:t>将两次捕获值相减，再乘以 计数时间可计算出信号周期</a:t>
            </a:r>
            <a:endParaRPr sz="2400">
              <a:latin typeface="宋体"/>
              <a:cs typeface="宋体"/>
            </a:endParaRPr>
          </a:p>
        </p:txBody>
      </p:sp>
      <p:sp>
        <p:nvSpPr>
          <p:cNvPr id="20" name="object 20"/>
          <p:cNvSpPr txBox="1"/>
          <p:nvPr/>
        </p:nvSpPr>
        <p:spPr>
          <a:xfrm>
            <a:off x="535330" y="1260657"/>
            <a:ext cx="2474595" cy="696595"/>
          </a:xfrm>
          <a:prstGeom prst="rect">
            <a:avLst/>
          </a:prstGeom>
        </p:spPr>
        <p:txBody>
          <a:bodyPr vert="horz" wrap="square" lIns="0" tIns="0" rIns="0" bIns="0" rtlCol="0">
            <a:spAutoFit/>
          </a:bodyPr>
          <a:lstStyle/>
          <a:p>
            <a:pPr marL="12700">
              <a:lnSpc>
                <a:spcPct val="100000"/>
              </a:lnSpc>
            </a:pPr>
            <a:r>
              <a:rPr sz="2400" b="1" spc="-5" dirty="0">
                <a:latin typeface="宋体"/>
                <a:cs typeface="宋体"/>
              </a:rPr>
              <a:t>假设上</a:t>
            </a:r>
            <a:r>
              <a:rPr sz="2400" b="1" spc="0" dirty="0">
                <a:latin typeface="宋体"/>
                <a:cs typeface="宋体"/>
              </a:rPr>
              <a:t>升</a:t>
            </a:r>
            <a:r>
              <a:rPr sz="2400" b="1" spc="-5" dirty="0">
                <a:latin typeface="宋体"/>
                <a:cs typeface="宋体"/>
              </a:rPr>
              <a:t>沿捕获</a:t>
            </a:r>
            <a:r>
              <a:rPr sz="2400" b="1" spc="-10" dirty="0">
                <a:latin typeface="宋体"/>
                <a:cs typeface="宋体"/>
              </a:rPr>
              <a:t>，</a:t>
            </a:r>
            <a:endParaRPr sz="2400">
              <a:latin typeface="宋体"/>
              <a:cs typeface="宋体"/>
            </a:endParaRPr>
          </a:p>
          <a:p>
            <a:pPr marL="128270">
              <a:lnSpc>
                <a:spcPts val="2840"/>
              </a:lnSpc>
            </a:pPr>
            <a:r>
              <a:rPr sz="2400" b="1" dirty="0">
                <a:latin typeface="宋体"/>
                <a:cs typeface="宋体"/>
              </a:rPr>
              <a:t>递增计数模式</a:t>
            </a:r>
            <a:endParaRPr sz="2400">
              <a:latin typeface="宋体"/>
              <a:cs typeface="宋体"/>
            </a:endParaRPr>
          </a:p>
        </p:txBody>
      </p:sp>
      <p:sp>
        <p:nvSpPr>
          <p:cNvPr id="21" name="object 21"/>
          <p:cNvSpPr txBox="1"/>
          <p:nvPr/>
        </p:nvSpPr>
        <p:spPr>
          <a:xfrm>
            <a:off x="3957065" y="2142172"/>
            <a:ext cx="1863725" cy="1040765"/>
          </a:xfrm>
          <a:prstGeom prst="rect">
            <a:avLst/>
          </a:prstGeom>
        </p:spPr>
        <p:txBody>
          <a:bodyPr vert="horz" wrap="square" lIns="0" tIns="0" rIns="0" bIns="0" rtlCol="0">
            <a:spAutoFit/>
          </a:bodyPr>
          <a:lstStyle/>
          <a:p>
            <a:pPr marL="12700" marR="5080" algn="ctr">
              <a:lnSpc>
                <a:spcPct val="97100"/>
              </a:lnSpc>
            </a:pPr>
            <a:r>
              <a:rPr sz="2400" b="1" dirty="0">
                <a:latin typeface="宋体"/>
                <a:cs typeface="宋体"/>
              </a:rPr>
              <a:t>在中断回调函 数中保</a:t>
            </a:r>
            <a:r>
              <a:rPr sz="2400" b="1" spc="-5" dirty="0">
                <a:latin typeface="宋体"/>
                <a:cs typeface="宋体"/>
              </a:rPr>
              <a:t>存</a:t>
            </a:r>
            <a:r>
              <a:rPr sz="2400" b="1" spc="-5" dirty="0">
                <a:latin typeface="Consolas"/>
                <a:cs typeface="Consolas"/>
              </a:rPr>
              <a:t>Tb </a:t>
            </a:r>
            <a:r>
              <a:rPr sz="2400" b="1" dirty="0">
                <a:latin typeface="宋体"/>
                <a:cs typeface="宋体"/>
              </a:rPr>
              <a:t>时刻的捕获值</a:t>
            </a:r>
            <a:endParaRPr sz="2400">
              <a:latin typeface="宋体"/>
              <a:cs typeface="宋体"/>
            </a:endParaRPr>
          </a:p>
        </p:txBody>
      </p:sp>
      <p:sp>
        <p:nvSpPr>
          <p:cNvPr id="22" name="object 22"/>
          <p:cNvSpPr/>
          <p:nvPr/>
        </p:nvSpPr>
        <p:spPr>
          <a:xfrm>
            <a:off x="9550272" y="253745"/>
            <a:ext cx="2494915" cy="1379220"/>
          </a:xfrm>
          <a:custGeom>
            <a:avLst/>
            <a:gdLst/>
            <a:ahLst/>
            <a:cxnLst/>
            <a:rect l="l" t="t" r="r" b="b"/>
            <a:pathLst>
              <a:path w="2494915" h="1379220">
                <a:moveTo>
                  <a:pt x="2295779" y="0"/>
                </a:moveTo>
                <a:lnTo>
                  <a:pt x="550799" y="0"/>
                </a:lnTo>
                <a:lnTo>
                  <a:pt x="534485" y="659"/>
                </a:lnTo>
                <a:lnTo>
                  <a:pt x="487930" y="10137"/>
                </a:lnTo>
                <a:lnTo>
                  <a:pt x="446029" y="29793"/>
                </a:lnTo>
                <a:lnTo>
                  <a:pt x="410162" y="58245"/>
                </a:lnTo>
                <a:lnTo>
                  <a:pt x="381710" y="94112"/>
                </a:lnTo>
                <a:lnTo>
                  <a:pt x="362054" y="136013"/>
                </a:lnTo>
                <a:lnTo>
                  <a:pt x="352576" y="182568"/>
                </a:lnTo>
                <a:lnTo>
                  <a:pt x="351917" y="198881"/>
                </a:lnTo>
                <a:lnTo>
                  <a:pt x="351917" y="696087"/>
                </a:lnTo>
                <a:lnTo>
                  <a:pt x="0" y="1378839"/>
                </a:lnTo>
                <a:lnTo>
                  <a:pt x="351917" y="994409"/>
                </a:lnTo>
                <a:lnTo>
                  <a:pt x="2494660" y="994409"/>
                </a:lnTo>
                <a:lnTo>
                  <a:pt x="2494660" y="198881"/>
                </a:lnTo>
                <a:lnTo>
                  <a:pt x="2488881" y="151083"/>
                </a:lnTo>
                <a:lnTo>
                  <a:pt x="2472465" y="107477"/>
                </a:lnTo>
                <a:lnTo>
                  <a:pt x="2446791" y="69445"/>
                </a:lnTo>
                <a:lnTo>
                  <a:pt x="2413242" y="38368"/>
                </a:lnTo>
                <a:lnTo>
                  <a:pt x="2373199" y="15626"/>
                </a:lnTo>
                <a:lnTo>
                  <a:pt x="2328042" y="2602"/>
                </a:lnTo>
                <a:lnTo>
                  <a:pt x="2312092" y="659"/>
                </a:lnTo>
                <a:lnTo>
                  <a:pt x="2295779" y="0"/>
                </a:lnTo>
                <a:close/>
              </a:path>
              <a:path w="2494915" h="1379220">
                <a:moveTo>
                  <a:pt x="2494660" y="994409"/>
                </a:moveTo>
                <a:lnTo>
                  <a:pt x="351917" y="994409"/>
                </a:lnTo>
                <a:lnTo>
                  <a:pt x="352576" y="1010723"/>
                </a:lnTo>
                <a:lnTo>
                  <a:pt x="362054" y="1057278"/>
                </a:lnTo>
                <a:lnTo>
                  <a:pt x="381710" y="1099179"/>
                </a:lnTo>
                <a:lnTo>
                  <a:pt x="410162" y="1135046"/>
                </a:lnTo>
                <a:lnTo>
                  <a:pt x="446029" y="1163498"/>
                </a:lnTo>
                <a:lnTo>
                  <a:pt x="487930" y="1183154"/>
                </a:lnTo>
                <a:lnTo>
                  <a:pt x="534485" y="1192632"/>
                </a:lnTo>
                <a:lnTo>
                  <a:pt x="550799" y="1193291"/>
                </a:lnTo>
                <a:lnTo>
                  <a:pt x="2295779" y="1193291"/>
                </a:lnTo>
                <a:lnTo>
                  <a:pt x="2343577" y="1187512"/>
                </a:lnTo>
                <a:lnTo>
                  <a:pt x="2387183" y="1171096"/>
                </a:lnTo>
                <a:lnTo>
                  <a:pt x="2425215" y="1145422"/>
                </a:lnTo>
                <a:lnTo>
                  <a:pt x="2456292" y="1111873"/>
                </a:lnTo>
                <a:lnTo>
                  <a:pt x="2479034" y="1071830"/>
                </a:lnTo>
                <a:lnTo>
                  <a:pt x="2492058" y="1026673"/>
                </a:lnTo>
                <a:lnTo>
                  <a:pt x="2494660" y="994409"/>
                </a:lnTo>
                <a:close/>
              </a:path>
            </a:pathLst>
          </a:custGeom>
          <a:solidFill>
            <a:srgbClr val="FFFFC7"/>
          </a:solidFill>
        </p:spPr>
        <p:txBody>
          <a:bodyPr wrap="square" lIns="0" tIns="0" rIns="0" bIns="0" rtlCol="0"/>
          <a:lstStyle/>
          <a:p>
            <a:endParaRPr/>
          </a:p>
        </p:txBody>
      </p:sp>
      <p:sp>
        <p:nvSpPr>
          <p:cNvPr id="23" name="object 23"/>
          <p:cNvSpPr/>
          <p:nvPr/>
        </p:nvSpPr>
        <p:spPr>
          <a:xfrm>
            <a:off x="9550272" y="253745"/>
            <a:ext cx="2494915" cy="1379220"/>
          </a:xfrm>
          <a:custGeom>
            <a:avLst/>
            <a:gdLst/>
            <a:ahLst/>
            <a:cxnLst/>
            <a:rect l="l" t="t" r="r" b="b"/>
            <a:pathLst>
              <a:path w="2494915" h="1379220">
                <a:moveTo>
                  <a:pt x="351917" y="198881"/>
                </a:moveTo>
                <a:lnTo>
                  <a:pt x="357696" y="151083"/>
                </a:lnTo>
                <a:lnTo>
                  <a:pt x="374112" y="107477"/>
                </a:lnTo>
                <a:lnTo>
                  <a:pt x="399786" y="69445"/>
                </a:lnTo>
                <a:lnTo>
                  <a:pt x="433335" y="38368"/>
                </a:lnTo>
                <a:lnTo>
                  <a:pt x="473378" y="15626"/>
                </a:lnTo>
                <a:lnTo>
                  <a:pt x="518535" y="2602"/>
                </a:lnTo>
                <a:lnTo>
                  <a:pt x="550799" y="0"/>
                </a:lnTo>
                <a:lnTo>
                  <a:pt x="709041" y="0"/>
                </a:lnTo>
                <a:lnTo>
                  <a:pt x="1244727" y="0"/>
                </a:lnTo>
                <a:lnTo>
                  <a:pt x="2295779" y="0"/>
                </a:lnTo>
                <a:lnTo>
                  <a:pt x="2312092" y="659"/>
                </a:lnTo>
                <a:lnTo>
                  <a:pt x="2358647" y="10137"/>
                </a:lnTo>
                <a:lnTo>
                  <a:pt x="2400548" y="29793"/>
                </a:lnTo>
                <a:lnTo>
                  <a:pt x="2436415" y="58245"/>
                </a:lnTo>
                <a:lnTo>
                  <a:pt x="2464867" y="94112"/>
                </a:lnTo>
                <a:lnTo>
                  <a:pt x="2484523" y="136013"/>
                </a:lnTo>
                <a:lnTo>
                  <a:pt x="2494001" y="182568"/>
                </a:lnTo>
                <a:lnTo>
                  <a:pt x="2494660" y="198881"/>
                </a:lnTo>
                <a:lnTo>
                  <a:pt x="2494660" y="696087"/>
                </a:lnTo>
                <a:lnTo>
                  <a:pt x="2494660" y="994409"/>
                </a:lnTo>
                <a:lnTo>
                  <a:pt x="2494001" y="1010723"/>
                </a:lnTo>
                <a:lnTo>
                  <a:pt x="2492058" y="1026673"/>
                </a:lnTo>
                <a:lnTo>
                  <a:pt x="2479034" y="1071830"/>
                </a:lnTo>
                <a:lnTo>
                  <a:pt x="2456292" y="1111873"/>
                </a:lnTo>
                <a:lnTo>
                  <a:pt x="2425215" y="1145422"/>
                </a:lnTo>
                <a:lnTo>
                  <a:pt x="2387183" y="1171096"/>
                </a:lnTo>
                <a:lnTo>
                  <a:pt x="2343577" y="1187512"/>
                </a:lnTo>
                <a:lnTo>
                  <a:pt x="2295779" y="1193291"/>
                </a:lnTo>
                <a:lnTo>
                  <a:pt x="1244727" y="1193291"/>
                </a:lnTo>
                <a:lnTo>
                  <a:pt x="709041" y="1193291"/>
                </a:lnTo>
                <a:lnTo>
                  <a:pt x="550799" y="1193291"/>
                </a:lnTo>
                <a:lnTo>
                  <a:pt x="534485" y="1192632"/>
                </a:lnTo>
                <a:lnTo>
                  <a:pt x="487930" y="1183154"/>
                </a:lnTo>
                <a:lnTo>
                  <a:pt x="446029" y="1163498"/>
                </a:lnTo>
                <a:lnTo>
                  <a:pt x="410162" y="1135046"/>
                </a:lnTo>
                <a:lnTo>
                  <a:pt x="381710" y="1099179"/>
                </a:lnTo>
                <a:lnTo>
                  <a:pt x="362054" y="1057278"/>
                </a:lnTo>
                <a:lnTo>
                  <a:pt x="352576" y="1010723"/>
                </a:lnTo>
                <a:lnTo>
                  <a:pt x="351917" y="994409"/>
                </a:lnTo>
                <a:lnTo>
                  <a:pt x="0" y="1378839"/>
                </a:lnTo>
                <a:lnTo>
                  <a:pt x="351917" y="696087"/>
                </a:lnTo>
                <a:lnTo>
                  <a:pt x="351917" y="198881"/>
                </a:lnTo>
                <a:close/>
              </a:path>
            </a:pathLst>
          </a:custGeom>
          <a:ln w="28956">
            <a:solidFill>
              <a:srgbClr val="000000"/>
            </a:solidFill>
          </a:ln>
        </p:spPr>
        <p:txBody>
          <a:bodyPr wrap="square" lIns="0" tIns="0" rIns="0" bIns="0" rtlCol="0"/>
          <a:lstStyle/>
          <a:p>
            <a:endParaRPr/>
          </a:p>
        </p:txBody>
      </p:sp>
      <p:sp>
        <p:nvSpPr>
          <p:cNvPr id="24" name="object 24"/>
          <p:cNvSpPr txBox="1"/>
          <p:nvPr/>
        </p:nvSpPr>
        <p:spPr>
          <a:xfrm>
            <a:off x="10040873" y="341058"/>
            <a:ext cx="1863725" cy="710565"/>
          </a:xfrm>
          <a:prstGeom prst="rect">
            <a:avLst/>
          </a:prstGeom>
        </p:spPr>
        <p:txBody>
          <a:bodyPr vert="horz" wrap="square" lIns="0" tIns="0" rIns="0" bIns="0" rtlCol="0">
            <a:spAutoFit/>
          </a:bodyPr>
          <a:lstStyle/>
          <a:p>
            <a:pPr marL="151130" marR="5080" indent="-139065">
              <a:lnSpc>
                <a:spcPts val="2710"/>
              </a:lnSpc>
            </a:pPr>
            <a:r>
              <a:rPr sz="2400" b="1" dirty="0">
                <a:latin typeface="宋体"/>
                <a:cs typeface="宋体"/>
              </a:rPr>
              <a:t>在中断回调函 数中保存</a:t>
            </a:r>
            <a:r>
              <a:rPr sz="2400" b="1" spc="-5" dirty="0">
                <a:latin typeface="Consolas"/>
                <a:cs typeface="Consolas"/>
              </a:rPr>
              <a:t>Td</a:t>
            </a:r>
            <a:endParaRPr sz="2400">
              <a:latin typeface="Consolas"/>
              <a:cs typeface="Consolas"/>
            </a:endParaRPr>
          </a:p>
        </p:txBody>
      </p:sp>
      <p:sp>
        <p:nvSpPr>
          <p:cNvPr id="25" name="object 25"/>
          <p:cNvSpPr txBox="1"/>
          <p:nvPr/>
        </p:nvSpPr>
        <p:spPr>
          <a:xfrm>
            <a:off x="10040873" y="1051242"/>
            <a:ext cx="1863725" cy="330200"/>
          </a:xfrm>
          <a:prstGeom prst="rect">
            <a:avLst/>
          </a:prstGeom>
        </p:spPr>
        <p:txBody>
          <a:bodyPr vert="horz" wrap="square" lIns="0" tIns="0" rIns="0" bIns="0" rtlCol="0">
            <a:spAutoFit/>
          </a:bodyPr>
          <a:lstStyle/>
          <a:p>
            <a:pPr marL="12700">
              <a:lnSpc>
                <a:spcPts val="2840"/>
              </a:lnSpc>
            </a:pPr>
            <a:r>
              <a:rPr sz="2400" b="1" dirty="0">
                <a:latin typeface="宋体"/>
                <a:cs typeface="宋体"/>
              </a:rPr>
              <a:t>时刻的捕获值</a:t>
            </a:r>
            <a:endParaRPr sz="2400">
              <a:latin typeface="宋体"/>
              <a:cs typeface="宋体"/>
            </a:endParaRPr>
          </a:p>
        </p:txBody>
      </p:sp>
      <p:sp>
        <p:nvSpPr>
          <p:cNvPr id="26" name="object 26"/>
          <p:cNvSpPr/>
          <p:nvPr/>
        </p:nvSpPr>
        <p:spPr>
          <a:xfrm>
            <a:off x="4342638" y="4717541"/>
            <a:ext cx="3508375" cy="847725"/>
          </a:xfrm>
          <a:custGeom>
            <a:avLst/>
            <a:gdLst/>
            <a:ahLst/>
            <a:cxnLst/>
            <a:rect l="l" t="t" r="r" b="b"/>
            <a:pathLst>
              <a:path w="3508375" h="847725">
                <a:moveTo>
                  <a:pt x="3367023" y="0"/>
                </a:moveTo>
                <a:lnTo>
                  <a:pt x="584708" y="0"/>
                </a:lnTo>
                <a:lnTo>
                  <a:pt x="130522" y="399"/>
                </a:lnTo>
                <a:lnTo>
                  <a:pt x="88923" y="10006"/>
                </a:lnTo>
                <a:lnTo>
                  <a:pt x="53050" y="30912"/>
                </a:lnTo>
                <a:lnTo>
                  <a:pt x="24925" y="61098"/>
                </a:lnTo>
                <a:lnTo>
                  <a:pt x="6568" y="98542"/>
                </a:lnTo>
                <a:lnTo>
                  <a:pt x="0" y="141223"/>
                </a:lnTo>
                <a:lnTo>
                  <a:pt x="0" y="706119"/>
                </a:lnTo>
                <a:lnTo>
                  <a:pt x="5448" y="745090"/>
                </a:lnTo>
                <a:lnTo>
                  <a:pt x="22813" y="783096"/>
                </a:lnTo>
                <a:lnTo>
                  <a:pt x="50130" y="814029"/>
                </a:lnTo>
                <a:lnTo>
                  <a:pt x="85379" y="835866"/>
                </a:lnTo>
                <a:lnTo>
                  <a:pt x="126539" y="846589"/>
                </a:lnTo>
                <a:lnTo>
                  <a:pt x="141224" y="847343"/>
                </a:lnTo>
                <a:lnTo>
                  <a:pt x="1461770" y="847343"/>
                </a:lnTo>
                <a:lnTo>
                  <a:pt x="3377725" y="846944"/>
                </a:lnTo>
                <a:lnTo>
                  <a:pt x="3419324" y="837337"/>
                </a:lnTo>
                <a:lnTo>
                  <a:pt x="3455197" y="816431"/>
                </a:lnTo>
                <a:lnTo>
                  <a:pt x="3483322" y="786245"/>
                </a:lnTo>
                <a:lnTo>
                  <a:pt x="3501679" y="748801"/>
                </a:lnTo>
                <a:lnTo>
                  <a:pt x="3508247" y="706119"/>
                </a:lnTo>
                <a:lnTo>
                  <a:pt x="3508247" y="494283"/>
                </a:lnTo>
                <a:lnTo>
                  <a:pt x="3507848" y="130522"/>
                </a:lnTo>
                <a:lnTo>
                  <a:pt x="3498241" y="88923"/>
                </a:lnTo>
                <a:lnTo>
                  <a:pt x="3477335" y="53050"/>
                </a:lnTo>
                <a:lnTo>
                  <a:pt x="3447149" y="24925"/>
                </a:lnTo>
                <a:lnTo>
                  <a:pt x="3409705" y="6568"/>
                </a:lnTo>
                <a:lnTo>
                  <a:pt x="3367023" y="0"/>
                </a:lnTo>
                <a:close/>
              </a:path>
            </a:pathLst>
          </a:custGeom>
          <a:solidFill>
            <a:srgbClr val="FFFFC7"/>
          </a:solidFill>
        </p:spPr>
        <p:txBody>
          <a:bodyPr wrap="square" lIns="0" tIns="0" rIns="0" bIns="0" rtlCol="0"/>
          <a:lstStyle/>
          <a:p>
            <a:endParaRPr/>
          </a:p>
        </p:txBody>
      </p:sp>
      <p:sp>
        <p:nvSpPr>
          <p:cNvPr id="27" name="object 27"/>
          <p:cNvSpPr/>
          <p:nvPr/>
        </p:nvSpPr>
        <p:spPr>
          <a:xfrm>
            <a:off x="4342638" y="4717541"/>
            <a:ext cx="3508375" cy="847725"/>
          </a:xfrm>
          <a:custGeom>
            <a:avLst/>
            <a:gdLst/>
            <a:ahLst/>
            <a:cxnLst/>
            <a:rect l="l" t="t" r="r" b="b"/>
            <a:pathLst>
              <a:path w="3508375" h="847725">
                <a:moveTo>
                  <a:pt x="0" y="141223"/>
                </a:moveTo>
                <a:lnTo>
                  <a:pt x="6568" y="98542"/>
                </a:lnTo>
                <a:lnTo>
                  <a:pt x="24925" y="61098"/>
                </a:lnTo>
                <a:lnTo>
                  <a:pt x="53050" y="30912"/>
                </a:lnTo>
                <a:lnTo>
                  <a:pt x="88923" y="10006"/>
                </a:lnTo>
                <a:lnTo>
                  <a:pt x="130522" y="399"/>
                </a:lnTo>
                <a:lnTo>
                  <a:pt x="584708" y="0"/>
                </a:lnTo>
                <a:lnTo>
                  <a:pt x="1461770" y="0"/>
                </a:lnTo>
                <a:lnTo>
                  <a:pt x="3367023" y="0"/>
                </a:lnTo>
                <a:lnTo>
                  <a:pt x="3381708" y="754"/>
                </a:lnTo>
                <a:lnTo>
                  <a:pt x="3422868" y="11477"/>
                </a:lnTo>
                <a:lnTo>
                  <a:pt x="3458117" y="33314"/>
                </a:lnTo>
                <a:lnTo>
                  <a:pt x="3485434" y="64247"/>
                </a:lnTo>
                <a:lnTo>
                  <a:pt x="3502799" y="102253"/>
                </a:lnTo>
                <a:lnTo>
                  <a:pt x="3508247" y="494283"/>
                </a:lnTo>
                <a:lnTo>
                  <a:pt x="3508247" y="706119"/>
                </a:lnTo>
                <a:lnTo>
                  <a:pt x="3507493" y="720804"/>
                </a:lnTo>
                <a:lnTo>
                  <a:pt x="3505278" y="735056"/>
                </a:lnTo>
                <a:lnTo>
                  <a:pt x="3490626" y="774470"/>
                </a:lnTo>
                <a:lnTo>
                  <a:pt x="3465533" y="807300"/>
                </a:lnTo>
                <a:lnTo>
                  <a:pt x="3432018" y="831524"/>
                </a:lnTo>
                <a:lnTo>
                  <a:pt x="3392103" y="845122"/>
                </a:lnTo>
                <a:lnTo>
                  <a:pt x="1461770" y="847343"/>
                </a:lnTo>
                <a:lnTo>
                  <a:pt x="1633982" y="847343"/>
                </a:lnTo>
                <a:lnTo>
                  <a:pt x="584708" y="847343"/>
                </a:lnTo>
                <a:lnTo>
                  <a:pt x="141224" y="847343"/>
                </a:lnTo>
                <a:lnTo>
                  <a:pt x="126539" y="846589"/>
                </a:lnTo>
                <a:lnTo>
                  <a:pt x="85379" y="835866"/>
                </a:lnTo>
                <a:lnTo>
                  <a:pt x="50130" y="814029"/>
                </a:lnTo>
                <a:lnTo>
                  <a:pt x="22813" y="783096"/>
                </a:lnTo>
                <a:lnTo>
                  <a:pt x="5448" y="745090"/>
                </a:lnTo>
                <a:lnTo>
                  <a:pt x="0" y="706119"/>
                </a:lnTo>
                <a:lnTo>
                  <a:pt x="0" y="494283"/>
                </a:lnTo>
                <a:lnTo>
                  <a:pt x="0" y="141223"/>
                </a:lnTo>
                <a:close/>
              </a:path>
            </a:pathLst>
          </a:custGeom>
          <a:ln w="28956">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4171783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6" name="object 6"/>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8" name="object 8"/>
          <p:cNvSpPr txBox="1"/>
          <p:nvPr/>
        </p:nvSpPr>
        <p:spPr>
          <a:xfrm>
            <a:off x="331419" y="1168516"/>
            <a:ext cx="12446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计算公式</a:t>
            </a:r>
            <a:endParaRPr sz="2400">
              <a:latin typeface="微软雅黑"/>
              <a:cs typeface="微软雅黑"/>
            </a:endParaRPr>
          </a:p>
        </p:txBody>
      </p:sp>
      <p:sp>
        <p:nvSpPr>
          <p:cNvPr id="9" name="object 9"/>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0" name="object 10"/>
          <p:cNvSpPr txBox="1">
            <a:spLocks noGrp="1"/>
          </p:cNvSpPr>
          <p:nvPr>
            <p:ph type="title"/>
          </p:nvPr>
        </p:nvSpPr>
        <p:spPr>
          <a:prstGeom prst="rect">
            <a:avLst/>
          </a:prstGeom>
        </p:spPr>
        <p:txBody>
          <a:bodyPr vert="horz" wrap="square" lIns="0" tIns="0" rIns="0" bIns="0" rtlCol="0">
            <a:spAutoFit/>
          </a:bodyPr>
          <a:lstStyle/>
          <a:p>
            <a:pPr marL="4424045">
              <a:lnSpc>
                <a:spcPts val="3354"/>
              </a:lnSpc>
            </a:pPr>
            <a:r>
              <a:rPr spc="-5" dirty="0"/>
              <a:t>信号参数计算公式</a:t>
            </a:r>
          </a:p>
        </p:txBody>
      </p:sp>
      <p:sp>
        <p:nvSpPr>
          <p:cNvPr id="11" name="object 11"/>
          <p:cNvSpPr/>
          <p:nvPr/>
        </p:nvSpPr>
        <p:spPr>
          <a:xfrm>
            <a:off x="820674" y="4565141"/>
            <a:ext cx="10552430" cy="1388745"/>
          </a:xfrm>
          <a:custGeom>
            <a:avLst/>
            <a:gdLst/>
            <a:ahLst/>
            <a:cxnLst/>
            <a:rect l="l" t="t" r="r" b="b"/>
            <a:pathLst>
              <a:path w="10552430" h="1388745">
                <a:moveTo>
                  <a:pt x="0" y="1388363"/>
                </a:moveTo>
                <a:lnTo>
                  <a:pt x="10552176" y="1388363"/>
                </a:lnTo>
                <a:lnTo>
                  <a:pt x="10552176" y="0"/>
                </a:lnTo>
                <a:lnTo>
                  <a:pt x="0" y="0"/>
                </a:lnTo>
                <a:lnTo>
                  <a:pt x="0" y="1388363"/>
                </a:lnTo>
                <a:close/>
              </a:path>
            </a:pathLst>
          </a:custGeom>
          <a:ln w="38100">
            <a:solidFill>
              <a:srgbClr val="FF0000"/>
            </a:solidFill>
          </a:ln>
        </p:spPr>
        <p:txBody>
          <a:bodyPr wrap="square" lIns="0" tIns="0" rIns="0" bIns="0" rtlCol="0"/>
          <a:lstStyle/>
          <a:p>
            <a:endParaRPr/>
          </a:p>
        </p:txBody>
      </p:sp>
      <p:sp>
        <p:nvSpPr>
          <p:cNvPr id="12" name="object 12"/>
          <p:cNvSpPr/>
          <p:nvPr/>
        </p:nvSpPr>
        <p:spPr>
          <a:xfrm>
            <a:off x="1546097" y="2102357"/>
            <a:ext cx="9202420" cy="1115695"/>
          </a:xfrm>
          <a:custGeom>
            <a:avLst/>
            <a:gdLst/>
            <a:ahLst/>
            <a:cxnLst/>
            <a:rect l="l" t="t" r="r" b="b"/>
            <a:pathLst>
              <a:path w="9202420" h="1115695">
                <a:moveTo>
                  <a:pt x="0" y="1115568"/>
                </a:moveTo>
                <a:lnTo>
                  <a:pt x="9201912" y="1115568"/>
                </a:lnTo>
                <a:lnTo>
                  <a:pt x="9201912" y="0"/>
                </a:lnTo>
                <a:lnTo>
                  <a:pt x="0" y="0"/>
                </a:lnTo>
                <a:lnTo>
                  <a:pt x="0" y="1115568"/>
                </a:lnTo>
                <a:close/>
              </a:path>
            </a:pathLst>
          </a:custGeom>
          <a:ln w="38100">
            <a:solidFill>
              <a:srgbClr val="E34A46"/>
            </a:solidFill>
          </a:ln>
        </p:spPr>
        <p:txBody>
          <a:bodyPr wrap="square" lIns="0" tIns="0" rIns="0" bIns="0" rtlCol="0"/>
          <a:lstStyle/>
          <a:p>
            <a:endParaRPr/>
          </a:p>
        </p:txBody>
      </p:sp>
      <p:sp>
        <p:nvSpPr>
          <p:cNvPr id="13" name="object 13"/>
          <p:cNvSpPr/>
          <p:nvPr/>
        </p:nvSpPr>
        <p:spPr>
          <a:xfrm>
            <a:off x="4746497" y="1536953"/>
            <a:ext cx="1811020" cy="692785"/>
          </a:xfrm>
          <a:custGeom>
            <a:avLst/>
            <a:gdLst/>
            <a:ahLst/>
            <a:cxnLst/>
            <a:rect l="l" t="t" r="r" b="b"/>
            <a:pathLst>
              <a:path w="1811020" h="692785">
                <a:moveTo>
                  <a:pt x="1732279" y="0"/>
                </a:moveTo>
                <a:lnTo>
                  <a:pt x="1056131" y="0"/>
                </a:lnTo>
                <a:lnTo>
                  <a:pt x="67828" y="686"/>
                </a:lnTo>
                <a:lnTo>
                  <a:pt x="29549" y="17005"/>
                </a:lnTo>
                <a:lnTo>
                  <a:pt x="5216" y="50103"/>
                </a:lnTo>
                <a:lnTo>
                  <a:pt x="0" y="78232"/>
                </a:lnTo>
                <a:lnTo>
                  <a:pt x="0" y="391160"/>
                </a:lnTo>
                <a:lnTo>
                  <a:pt x="9375" y="428306"/>
                </a:lnTo>
                <a:lnTo>
                  <a:pt x="37613" y="458021"/>
                </a:lnTo>
                <a:lnTo>
                  <a:pt x="78231" y="469392"/>
                </a:lnTo>
                <a:lnTo>
                  <a:pt x="1056131" y="469392"/>
                </a:lnTo>
                <a:lnTo>
                  <a:pt x="1696847" y="692658"/>
                </a:lnTo>
                <a:lnTo>
                  <a:pt x="1508760" y="469392"/>
                </a:lnTo>
                <a:lnTo>
                  <a:pt x="1742683" y="468705"/>
                </a:lnTo>
                <a:lnTo>
                  <a:pt x="1756585" y="465537"/>
                </a:lnTo>
                <a:lnTo>
                  <a:pt x="1790948" y="442892"/>
                </a:lnTo>
                <a:lnTo>
                  <a:pt x="1809167" y="405667"/>
                </a:lnTo>
                <a:lnTo>
                  <a:pt x="1810511" y="391160"/>
                </a:lnTo>
                <a:lnTo>
                  <a:pt x="1810511" y="273812"/>
                </a:lnTo>
                <a:lnTo>
                  <a:pt x="1809825" y="67828"/>
                </a:lnTo>
                <a:lnTo>
                  <a:pt x="1793506" y="29549"/>
                </a:lnTo>
                <a:lnTo>
                  <a:pt x="1760408" y="5216"/>
                </a:lnTo>
                <a:lnTo>
                  <a:pt x="1746787" y="1344"/>
                </a:lnTo>
                <a:lnTo>
                  <a:pt x="1732279" y="0"/>
                </a:lnTo>
                <a:close/>
              </a:path>
            </a:pathLst>
          </a:custGeom>
          <a:solidFill>
            <a:srgbClr val="FFFFC7"/>
          </a:solidFill>
        </p:spPr>
        <p:txBody>
          <a:bodyPr wrap="square" lIns="0" tIns="0" rIns="0" bIns="0" rtlCol="0"/>
          <a:lstStyle/>
          <a:p>
            <a:endParaRPr/>
          </a:p>
        </p:txBody>
      </p:sp>
      <p:sp>
        <p:nvSpPr>
          <p:cNvPr id="14" name="object 14"/>
          <p:cNvSpPr/>
          <p:nvPr/>
        </p:nvSpPr>
        <p:spPr>
          <a:xfrm>
            <a:off x="4746497" y="1536953"/>
            <a:ext cx="1811020" cy="692785"/>
          </a:xfrm>
          <a:custGeom>
            <a:avLst/>
            <a:gdLst/>
            <a:ahLst/>
            <a:cxnLst/>
            <a:rect l="l" t="t" r="r" b="b"/>
            <a:pathLst>
              <a:path w="1811020" h="692785">
                <a:moveTo>
                  <a:pt x="0" y="78232"/>
                </a:moveTo>
                <a:lnTo>
                  <a:pt x="11370" y="37613"/>
                </a:lnTo>
                <a:lnTo>
                  <a:pt x="41085" y="9375"/>
                </a:lnTo>
                <a:lnTo>
                  <a:pt x="1056131" y="0"/>
                </a:lnTo>
                <a:lnTo>
                  <a:pt x="1508760" y="0"/>
                </a:lnTo>
                <a:lnTo>
                  <a:pt x="1732279" y="0"/>
                </a:lnTo>
                <a:lnTo>
                  <a:pt x="1746787" y="1344"/>
                </a:lnTo>
                <a:lnTo>
                  <a:pt x="1784012" y="19563"/>
                </a:lnTo>
                <a:lnTo>
                  <a:pt x="1806657" y="53926"/>
                </a:lnTo>
                <a:lnTo>
                  <a:pt x="1810511" y="273812"/>
                </a:lnTo>
                <a:lnTo>
                  <a:pt x="1810511" y="391160"/>
                </a:lnTo>
                <a:lnTo>
                  <a:pt x="1809167" y="405667"/>
                </a:lnTo>
                <a:lnTo>
                  <a:pt x="1805295" y="419288"/>
                </a:lnTo>
                <a:lnTo>
                  <a:pt x="1780962" y="452386"/>
                </a:lnTo>
                <a:lnTo>
                  <a:pt x="1742683" y="468705"/>
                </a:lnTo>
                <a:lnTo>
                  <a:pt x="1508760" y="469392"/>
                </a:lnTo>
                <a:lnTo>
                  <a:pt x="1696847" y="692658"/>
                </a:lnTo>
                <a:lnTo>
                  <a:pt x="1056131" y="469392"/>
                </a:lnTo>
                <a:lnTo>
                  <a:pt x="78231" y="469392"/>
                </a:lnTo>
                <a:lnTo>
                  <a:pt x="63724" y="468047"/>
                </a:lnTo>
                <a:lnTo>
                  <a:pt x="26499" y="449828"/>
                </a:lnTo>
                <a:lnTo>
                  <a:pt x="3854" y="415465"/>
                </a:lnTo>
                <a:lnTo>
                  <a:pt x="0" y="391160"/>
                </a:lnTo>
                <a:lnTo>
                  <a:pt x="0" y="273812"/>
                </a:lnTo>
                <a:lnTo>
                  <a:pt x="0" y="78232"/>
                </a:lnTo>
                <a:close/>
              </a:path>
            </a:pathLst>
          </a:custGeom>
          <a:ln w="28956">
            <a:solidFill>
              <a:srgbClr val="000000"/>
            </a:solidFill>
          </a:ln>
        </p:spPr>
        <p:txBody>
          <a:bodyPr wrap="square" lIns="0" tIns="0" rIns="0" bIns="0" rtlCol="0"/>
          <a:lstStyle/>
          <a:p>
            <a:endParaRPr/>
          </a:p>
        </p:txBody>
      </p:sp>
      <p:sp>
        <p:nvSpPr>
          <p:cNvPr id="15" name="object 15"/>
          <p:cNvSpPr/>
          <p:nvPr/>
        </p:nvSpPr>
        <p:spPr>
          <a:xfrm>
            <a:off x="2684526" y="1536953"/>
            <a:ext cx="1811020" cy="692785"/>
          </a:xfrm>
          <a:custGeom>
            <a:avLst/>
            <a:gdLst/>
            <a:ahLst/>
            <a:cxnLst/>
            <a:rect l="l" t="t" r="r" b="b"/>
            <a:pathLst>
              <a:path w="1811020" h="692785">
                <a:moveTo>
                  <a:pt x="1732279" y="0"/>
                </a:moveTo>
                <a:lnTo>
                  <a:pt x="1056132" y="0"/>
                </a:lnTo>
                <a:lnTo>
                  <a:pt x="67828" y="686"/>
                </a:lnTo>
                <a:lnTo>
                  <a:pt x="29549" y="17005"/>
                </a:lnTo>
                <a:lnTo>
                  <a:pt x="5216" y="50103"/>
                </a:lnTo>
                <a:lnTo>
                  <a:pt x="0" y="78232"/>
                </a:lnTo>
                <a:lnTo>
                  <a:pt x="0" y="391160"/>
                </a:lnTo>
                <a:lnTo>
                  <a:pt x="9375" y="428306"/>
                </a:lnTo>
                <a:lnTo>
                  <a:pt x="37613" y="458021"/>
                </a:lnTo>
                <a:lnTo>
                  <a:pt x="78231" y="469392"/>
                </a:lnTo>
                <a:lnTo>
                  <a:pt x="1056132" y="469392"/>
                </a:lnTo>
                <a:lnTo>
                  <a:pt x="1696847" y="692658"/>
                </a:lnTo>
                <a:lnTo>
                  <a:pt x="1508760" y="469392"/>
                </a:lnTo>
                <a:lnTo>
                  <a:pt x="1742683" y="468705"/>
                </a:lnTo>
                <a:lnTo>
                  <a:pt x="1756585" y="465537"/>
                </a:lnTo>
                <a:lnTo>
                  <a:pt x="1790948" y="442892"/>
                </a:lnTo>
                <a:lnTo>
                  <a:pt x="1809167" y="405667"/>
                </a:lnTo>
                <a:lnTo>
                  <a:pt x="1810512" y="391160"/>
                </a:lnTo>
                <a:lnTo>
                  <a:pt x="1810512" y="273812"/>
                </a:lnTo>
                <a:lnTo>
                  <a:pt x="1809825" y="67828"/>
                </a:lnTo>
                <a:lnTo>
                  <a:pt x="1793506" y="29549"/>
                </a:lnTo>
                <a:lnTo>
                  <a:pt x="1760408" y="5216"/>
                </a:lnTo>
                <a:lnTo>
                  <a:pt x="1746787" y="1344"/>
                </a:lnTo>
                <a:lnTo>
                  <a:pt x="1732279" y="0"/>
                </a:lnTo>
                <a:close/>
              </a:path>
            </a:pathLst>
          </a:custGeom>
          <a:solidFill>
            <a:srgbClr val="FFFFC7"/>
          </a:solidFill>
        </p:spPr>
        <p:txBody>
          <a:bodyPr wrap="square" lIns="0" tIns="0" rIns="0" bIns="0" rtlCol="0"/>
          <a:lstStyle/>
          <a:p>
            <a:endParaRPr/>
          </a:p>
        </p:txBody>
      </p:sp>
      <p:sp>
        <p:nvSpPr>
          <p:cNvPr id="16" name="object 16"/>
          <p:cNvSpPr/>
          <p:nvPr/>
        </p:nvSpPr>
        <p:spPr>
          <a:xfrm>
            <a:off x="2684526" y="1536953"/>
            <a:ext cx="1811020" cy="692785"/>
          </a:xfrm>
          <a:custGeom>
            <a:avLst/>
            <a:gdLst/>
            <a:ahLst/>
            <a:cxnLst/>
            <a:rect l="l" t="t" r="r" b="b"/>
            <a:pathLst>
              <a:path w="1811020" h="692785">
                <a:moveTo>
                  <a:pt x="0" y="78232"/>
                </a:moveTo>
                <a:lnTo>
                  <a:pt x="11370" y="37613"/>
                </a:lnTo>
                <a:lnTo>
                  <a:pt x="41085" y="9375"/>
                </a:lnTo>
                <a:lnTo>
                  <a:pt x="1056132" y="0"/>
                </a:lnTo>
                <a:lnTo>
                  <a:pt x="1508760" y="0"/>
                </a:lnTo>
                <a:lnTo>
                  <a:pt x="1732279" y="0"/>
                </a:lnTo>
                <a:lnTo>
                  <a:pt x="1746787" y="1344"/>
                </a:lnTo>
                <a:lnTo>
                  <a:pt x="1784012" y="19563"/>
                </a:lnTo>
                <a:lnTo>
                  <a:pt x="1806657" y="53926"/>
                </a:lnTo>
                <a:lnTo>
                  <a:pt x="1810512" y="273812"/>
                </a:lnTo>
                <a:lnTo>
                  <a:pt x="1810512" y="391160"/>
                </a:lnTo>
                <a:lnTo>
                  <a:pt x="1809167" y="405667"/>
                </a:lnTo>
                <a:lnTo>
                  <a:pt x="1805295" y="419288"/>
                </a:lnTo>
                <a:lnTo>
                  <a:pt x="1780962" y="452386"/>
                </a:lnTo>
                <a:lnTo>
                  <a:pt x="1742683" y="468705"/>
                </a:lnTo>
                <a:lnTo>
                  <a:pt x="1508760" y="469392"/>
                </a:lnTo>
                <a:lnTo>
                  <a:pt x="1696847" y="692658"/>
                </a:lnTo>
                <a:lnTo>
                  <a:pt x="1056132" y="469392"/>
                </a:lnTo>
                <a:lnTo>
                  <a:pt x="78231" y="469392"/>
                </a:lnTo>
                <a:lnTo>
                  <a:pt x="63724" y="468047"/>
                </a:lnTo>
                <a:lnTo>
                  <a:pt x="26499" y="449828"/>
                </a:lnTo>
                <a:lnTo>
                  <a:pt x="3854" y="415465"/>
                </a:lnTo>
                <a:lnTo>
                  <a:pt x="0" y="391160"/>
                </a:lnTo>
                <a:lnTo>
                  <a:pt x="0" y="273812"/>
                </a:lnTo>
                <a:lnTo>
                  <a:pt x="0" y="78232"/>
                </a:lnTo>
                <a:close/>
              </a:path>
            </a:pathLst>
          </a:custGeom>
          <a:ln w="28956">
            <a:solidFill>
              <a:srgbClr val="000000"/>
            </a:solidFill>
          </a:ln>
        </p:spPr>
        <p:txBody>
          <a:bodyPr wrap="square" lIns="0" tIns="0" rIns="0" bIns="0" rtlCol="0"/>
          <a:lstStyle/>
          <a:p>
            <a:endParaRPr/>
          </a:p>
        </p:txBody>
      </p:sp>
      <p:sp>
        <p:nvSpPr>
          <p:cNvPr id="17" name="object 17"/>
          <p:cNvSpPr/>
          <p:nvPr/>
        </p:nvSpPr>
        <p:spPr>
          <a:xfrm>
            <a:off x="6808469" y="1536953"/>
            <a:ext cx="1811020" cy="692785"/>
          </a:xfrm>
          <a:custGeom>
            <a:avLst/>
            <a:gdLst/>
            <a:ahLst/>
            <a:cxnLst/>
            <a:rect l="l" t="t" r="r" b="b"/>
            <a:pathLst>
              <a:path w="1811020" h="692785">
                <a:moveTo>
                  <a:pt x="1732279" y="0"/>
                </a:moveTo>
                <a:lnTo>
                  <a:pt x="1056131" y="0"/>
                </a:lnTo>
                <a:lnTo>
                  <a:pt x="67828" y="686"/>
                </a:lnTo>
                <a:lnTo>
                  <a:pt x="29549" y="17005"/>
                </a:lnTo>
                <a:lnTo>
                  <a:pt x="5216" y="50103"/>
                </a:lnTo>
                <a:lnTo>
                  <a:pt x="0" y="78232"/>
                </a:lnTo>
                <a:lnTo>
                  <a:pt x="0" y="391160"/>
                </a:lnTo>
                <a:lnTo>
                  <a:pt x="9375" y="428306"/>
                </a:lnTo>
                <a:lnTo>
                  <a:pt x="37613" y="458021"/>
                </a:lnTo>
                <a:lnTo>
                  <a:pt x="78231" y="469392"/>
                </a:lnTo>
                <a:lnTo>
                  <a:pt x="1056131" y="469392"/>
                </a:lnTo>
                <a:lnTo>
                  <a:pt x="1696847" y="692658"/>
                </a:lnTo>
                <a:lnTo>
                  <a:pt x="1508759" y="469392"/>
                </a:lnTo>
                <a:lnTo>
                  <a:pt x="1742683" y="468705"/>
                </a:lnTo>
                <a:lnTo>
                  <a:pt x="1756585" y="465537"/>
                </a:lnTo>
                <a:lnTo>
                  <a:pt x="1790948" y="442892"/>
                </a:lnTo>
                <a:lnTo>
                  <a:pt x="1809167" y="405667"/>
                </a:lnTo>
                <a:lnTo>
                  <a:pt x="1810511" y="391160"/>
                </a:lnTo>
                <a:lnTo>
                  <a:pt x="1810511" y="273812"/>
                </a:lnTo>
                <a:lnTo>
                  <a:pt x="1809825" y="67828"/>
                </a:lnTo>
                <a:lnTo>
                  <a:pt x="1793506" y="29549"/>
                </a:lnTo>
                <a:lnTo>
                  <a:pt x="1760408" y="5216"/>
                </a:lnTo>
                <a:lnTo>
                  <a:pt x="1746787" y="1344"/>
                </a:lnTo>
                <a:lnTo>
                  <a:pt x="1732279" y="0"/>
                </a:lnTo>
                <a:close/>
              </a:path>
            </a:pathLst>
          </a:custGeom>
          <a:solidFill>
            <a:srgbClr val="FFFFC7"/>
          </a:solidFill>
        </p:spPr>
        <p:txBody>
          <a:bodyPr wrap="square" lIns="0" tIns="0" rIns="0" bIns="0" rtlCol="0"/>
          <a:lstStyle/>
          <a:p>
            <a:endParaRPr/>
          </a:p>
        </p:txBody>
      </p:sp>
      <p:sp>
        <p:nvSpPr>
          <p:cNvPr id="18" name="object 18"/>
          <p:cNvSpPr/>
          <p:nvPr/>
        </p:nvSpPr>
        <p:spPr>
          <a:xfrm>
            <a:off x="6808469" y="1536953"/>
            <a:ext cx="1811020" cy="692785"/>
          </a:xfrm>
          <a:custGeom>
            <a:avLst/>
            <a:gdLst/>
            <a:ahLst/>
            <a:cxnLst/>
            <a:rect l="l" t="t" r="r" b="b"/>
            <a:pathLst>
              <a:path w="1811020" h="692785">
                <a:moveTo>
                  <a:pt x="0" y="78232"/>
                </a:moveTo>
                <a:lnTo>
                  <a:pt x="11370" y="37613"/>
                </a:lnTo>
                <a:lnTo>
                  <a:pt x="41085" y="9375"/>
                </a:lnTo>
                <a:lnTo>
                  <a:pt x="1056131" y="0"/>
                </a:lnTo>
                <a:lnTo>
                  <a:pt x="1508759" y="0"/>
                </a:lnTo>
                <a:lnTo>
                  <a:pt x="1732279" y="0"/>
                </a:lnTo>
                <a:lnTo>
                  <a:pt x="1746787" y="1344"/>
                </a:lnTo>
                <a:lnTo>
                  <a:pt x="1784012" y="19563"/>
                </a:lnTo>
                <a:lnTo>
                  <a:pt x="1806657" y="53926"/>
                </a:lnTo>
                <a:lnTo>
                  <a:pt x="1810511" y="273812"/>
                </a:lnTo>
                <a:lnTo>
                  <a:pt x="1810511" y="391160"/>
                </a:lnTo>
                <a:lnTo>
                  <a:pt x="1809167" y="405667"/>
                </a:lnTo>
                <a:lnTo>
                  <a:pt x="1805295" y="419288"/>
                </a:lnTo>
                <a:lnTo>
                  <a:pt x="1780962" y="452386"/>
                </a:lnTo>
                <a:lnTo>
                  <a:pt x="1742683" y="468705"/>
                </a:lnTo>
                <a:lnTo>
                  <a:pt x="1508759" y="469392"/>
                </a:lnTo>
                <a:lnTo>
                  <a:pt x="1696847" y="692658"/>
                </a:lnTo>
                <a:lnTo>
                  <a:pt x="1056131" y="469392"/>
                </a:lnTo>
                <a:lnTo>
                  <a:pt x="78231" y="469392"/>
                </a:lnTo>
                <a:lnTo>
                  <a:pt x="63724" y="468047"/>
                </a:lnTo>
                <a:lnTo>
                  <a:pt x="26499" y="449828"/>
                </a:lnTo>
                <a:lnTo>
                  <a:pt x="3854" y="415465"/>
                </a:lnTo>
                <a:lnTo>
                  <a:pt x="0" y="391160"/>
                </a:lnTo>
                <a:lnTo>
                  <a:pt x="0" y="273812"/>
                </a:lnTo>
                <a:lnTo>
                  <a:pt x="0" y="78232"/>
                </a:lnTo>
                <a:close/>
              </a:path>
            </a:pathLst>
          </a:custGeom>
          <a:ln w="28956">
            <a:solidFill>
              <a:srgbClr val="000000"/>
            </a:solidFill>
          </a:ln>
        </p:spPr>
        <p:txBody>
          <a:bodyPr wrap="square" lIns="0" tIns="0" rIns="0" bIns="0" rtlCol="0"/>
          <a:lstStyle/>
          <a:p>
            <a:endParaRPr/>
          </a:p>
        </p:txBody>
      </p:sp>
      <p:sp>
        <p:nvSpPr>
          <p:cNvPr id="19" name="object 19"/>
          <p:cNvSpPr/>
          <p:nvPr/>
        </p:nvSpPr>
        <p:spPr>
          <a:xfrm>
            <a:off x="1972817" y="5845302"/>
            <a:ext cx="8321040" cy="847725"/>
          </a:xfrm>
          <a:custGeom>
            <a:avLst/>
            <a:gdLst/>
            <a:ahLst/>
            <a:cxnLst/>
            <a:rect l="l" t="t" r="r" b="b"/>
            <a:pathLst>
              <a:path w="8321040" h="847725">
                <a:moveTo>
                  <a:pt x="8179815" y="0"/>
                </a:moveTo>
                <a:lnTo>
                  <a:pt x="1386840" y="0"/>
                </a:lnTo>
                <a:lnTo>
                  <a:pt x="130522" y="399"/>
                </a:lnTo>
                <a:lnTo>
                  <a:pt x="88923" y="10004"/>
                </a:lnTo>
                <a:lnTo>
                  <a:pt x="53050" y="30908"/>
                </a:lnTo>
                <a:lnTo>
                  <a:pt x="24925" y="61092"/>
                </a:lnTo>
                <a:lnTo>
                  <a:pt x="6568" y="98537"/>
                </a:lnTo>
                <a:lnTo>
                  <a:pt x="0" y="141224"/>
                </a:lnTo>
                <a:lnTo>
                  <a:pt x="0" y="706120"/>
                </a:lnTo>
                <a:lnTo>
                  <a:pt x="5448" y="745095"/>
                </a:lnTo>
                <a:lnTo>
                  <a:pt x="22813" y="783102"/>
                </a:lnTo>
                <a:lnTo>
                  <a:pt x="50130" y="814033"/>
                </a:lnTo>
                <a:lnTo>
                  <a:pt x="85379" y="835868"/>
                </a:lnTo>
                <a:lnTo>
                  <a:pt x="126539" y="846589"/>
                </a:lnTo>
                <a:lnTo>
                  <a:pt x="141224" y="847344"/>
                </a:lnTo>
                <a:lnTo>
                  <a:pt x="3467100" y="847344"/>
                </a:lnTo>
                <a:lnTo>
                  <a:pt x="8190517" y="846944"/>
                </a:lnTo>
                <a:lnTo>
                  <a:pt x="8232116" y="837339"/>
                </a:lnTo>
                <a:lnTo>
                  <a:pt x="8267989" y="816435"/>
                </a:lnTo>
                <a:lnTo>
                  <a:pt x="8296114" y="786251"/>
                </a:lnTo>
                <a:lnTo>
                  <a:pt x="8314471" y="748806"/>
                </a:lnTo>
                <a:lnTo>
                  <a:pt x="8321039" y="706120"/>
                </a:lnTo>
                <a:lnTo>
                  <a:pt x="8321039" y="494284"/>
                </a:lnTo>
                <a:lnTo>
                  <a:pt x="8320640" y="130520"/>
                </a:lnTo>
                <a:lnTo>
                  <a:pt x="8311033" y="88917"/>
                </a:lnTo>
                <a:lnTo>
                  <a:pt x="8290127" y="53045"/>
                </a:lnTo>
                <a:lnTo>
                  <a:pt x="8259941" y="24921"/>
                </a:lnTo>
                <a:lnTo>
                  <a:pt x="8222497" y="6566"/>
                </a:lnTo>
                <a:lnTo>
                  <a:pt x="8179815" y="0"/>
                </a:lnTo>
                <a:close/>
              </a:path>
            </a:pathLst>
          </a:custGeom>
          <a:solidFill>
            <a:srgbClr val="FFFFC7"/>
          </a:solidFill>
        </p:spPr>
        <p:txBody>
          <a:bodyPr wrap="square" lIns="0" tIns="0" rIns="0" bIns="0" rtlCol="0"/>
          <a:lstStyle/>
          <a:p>
            <a:endParaRPr/>
          </a:p>
        </p:txBody>
      </p:sp>
      <p:sp>
        <p:nvSpPr>
          <p:cNvPr id="20" name="object 20"/>
          <p:cNvSpPr/>
          <p:nvPr/>
        </p:nvSpPr>
        <p:spPr>
          <a:xfrm>
            <a:off x="1972817" y="5845302"/>
            <a:ext cx="8321040" cy="847725"/>
          </a:xfrm>
          <a:custGeom>
            <a:avLst/>
            <a:gdLst/>
            <a:ahLst/>
            <a:cxnLst/>
            <a:rect l="l" t="t" r="r" b="b"/>
            <a:pathLst>
              <a:path w="8321040" h="847725">
                <a:moveTo>
                  <a:pt x="0" y="141224"/>
                </a:moveTo>
                <a:lnTo>
                  <a:pt x="6568" y="98537"/>
                </a:lnTo>
                <a:lnTo>
                  <a:pt x="24925" y="61092"/>
                </a:lnTo>
                <a:lnTo>
                  <a:pt x="53050" y="30908"/>
                </a:lnTo>
                <a:lnTo>
                  <a:pt x="88923" y="10004"/>
                </a:lnTo>
                <a:lnTo>
                  <a:pt x="130522" y="399"/>
                </a:lnTo>
                <a:lnTo>
                  <a:pt x="1386840" y="0"/>
                </a:lnTo>
                <a:lnTo>
                  <a:pt x="3467100" y="0"/>
                </a:lnTo>
                <a:lnTo>
                  <a:pt x="8179815" y="0"/>
                </a:lnTo>
                <a:lnTo>
                  <a:pt x="8194500" y="754"/>
                </a:lnTo>
                <a:lnTo>
                  <a:pt x="8235660" y="11475"/>
                </a:lnTo>
                <a:lnTo>
                  <a:pt x="8270909" y="33310"/>
                </a:lnTo>
                <a:lnTo>
                  <a:pt x="8298226" y="64241"/>
                </a:lnTo>
                <a:lnTo>
                  <a:pt x="8315591" y="102248"/>
                </a:lnTo>
                <a:lnTo>
                  <a:pt x="8321039" y="494284"/>
                </a:lnTo>
                <a:lnTo>
                  <a:pt x="8321039" y="706120"/>
                </a:lnTo>
                <a:lnTo>
                  <a:pt x="8320285" y="720806"/>
                </a:lnTo>
                <a:lnTo>
                  <a:pt x="8318070" y="735060"/>
                </a:lnTo>
                <a:lnTo>
                  <a:pt x="8303418" y="774476"/>
                </a:lnTo>
                <a:lnTo>
                  <a:pt x="8278325" y="807305"/>
                </a:lnTo>
                <a:lnTo>
                  <a:pt x="8244810" y="831527"/>
                </a:lnTo>
                <a:lnTo>
                  <a:pt x="8204895" y="845122"/>
                </a:lnTo>
                <a:lnTo>
                  <a:pt x="3467100" y="847344"/>
                </a:lnTo>
                <a:lnTo>
                  <a:pt x="3875531" y="847344"/>
                </a:lnTo>
                <a:lnTo>
                  <a:pt x="1386840" y="847344"/>
                </a:lnTo>
                <a:lnTo>
                  <a:pt x="141224" y="847344"/>
                </a:lnTo>
                <a:lnTo>
                  <a:pt x="126539" y="846589"/>
                </a:lnTo>
                <a:lnTo>
                  <a:pt x="85379" y="835868"/>
                </a:lnTo>
                <a:lnTo>
                  <a:pt x="50130" y="814033"/>
                </a:lnTo>
                <a:lnTo>
                  <a:pt x="22813" y="783102"/>
                </a:lnTo>
                <a:lnTo>
                  <a:pt x="5448" y="745095"/>
                </a:lnTo>
                <a:lnTo>
                  <a:pt x="0" y="706120"/>
                </a:lnTo>
                <a:lnTo>
                  <a:pt x="0" y="494284"/>
                </a:lnTo>
                <a:lnTo>
                  <a:pt x="0" y="141224"/>
                </a:lnTo>
                <a:close/>
              </a:path>
            </a:pathLst>
          </a:custGeom>
          <a:ln w="28956">
            <a:solidFill>
              <a:srgbClr val="000000"/>
            </a:solidFill>
          </a:ln>
        </p:spPr>
        <p:txBody>
          <a:bodyPr wrap="square" lIns="0" tIns="0" rIns="0" bIns="0" rtlCol="0"/>
          <a:lstStyle/>
          <a:p>
            <a:endParaRPr/>
          </a:p>
        </p:txBody>
      </p:sp>
      <p:sp>
        <p:nvSpPr>
          <p:cNvPr id="21" name="object 21"/>
          <p:cNvSpPr txBox="1"/>
          <p:nvPr/>
        </p:nvSpPr>
        <p:spPr>
          <a:xfrm>
            <a:off x="832815" y="1619051"/>
            <a:ext cx="10365105" cy="4998720"/>
          </a:xfrm>
          <a:prstGeom prst="rect">
            <a:avLst/>
          </a:prstGeom>
        </p:spPr>
        <p:txBody>
          <a:bodyPr vert="horz" wrap="square" lIns="0" tIns="0" rIns="0" bIns="0" rtlCol="0">
            <a:spAutoFit/>
          </a:bodyPr>
          <a:lstStyle/>
          <a:p>
            <a:pPr marL="2143760">
              <a:lnSpc>
                <a:spcPct val="100000"/>
              </a:lnSpc>
              <a:tabLst>
                <a:tab pos="4051935" algn="l"/>
                <a:tab pos="6113780" algn="l"/>
              </a:tabLst>
            </a:pPr>
            <a:r>
              <a:rPr sz="2400" b="1" spc="-5" dirty="0">
                <a:latin typeface="宋体"/>
                <a:cs typeface="宋体"/>
              </a:rPr>
              <a:t>捕获差</a:t>
            </a:r>
            <a:r>
              <a:rPr sz="2400" b="1" spc="-10" dirty="0">
                <a:latin typeface="宋体"/>
                <a:cs typeface="宋体"/>
              </a:rPr>
              <a:t>值</a:t>
            </a:r>
            <a:r>
              <a:rPr sz="2400" b="1" dirty="0">
                <a:latin typeface="宋体"/>
                <a:cs typeface="宋体"/>
              </a:rPr>
              <a:t>	</a:t>
            </a:r>
            <a:r>
              <a:rPr sz="2400" b="1" spc="-5" dirty="0">
                <a:latin typeface="宋体"/>
                <a:cs typeface="宋体"/>
              </a:rPr>
              <a:t>定时器时</a:t>
            </a:r>
            <a:r>
              <a:rPr sz="2400" b="1" spc="-10" dirty="0">
                <a:latin typeface="宋体"/>
                <a:cs typeface="宋体"/>
              </a:rPr>
              <a:t>钟</a:t>
            </a:r>
            <a:r>
              <a:rPr sz="2400" b="1" dirty="0">
                <a:latin typeface="宋体"/>
                <a:cs typeface="宋体"/>
              </a:rPr>
              <a:t>	</a:t>
            </a:r>
            <a:r>
              <a:rPr sz="2400" b="1" spc="-5" dirty="0">
                <a:latin typeface="宋体"/>
                <a:cs typeface="宋体"/>
              </a:rPr>
              <a:t>预分频系数</a:t>
            </a:r>
            <a:endParaRPr sz="2400">
              <a:latin typeface="宋体"/>
              <a:cs typeface="宋体"/>
            </a:endParaRPr>
          </a:p>
          <a:p>
            <a:pPr marL="970915" marR="792480">
              <a:lnSpc>
                <a:spcPct val="112900"/>
              </a:lnSpc>
              <a:spcBef>
                <a:spcPts val="1520"/>
              </a:spcBef>
              <a:tabLst>
                <a:tab pos="2923540" algn="l"/>
              </a:tabLst>
            </a:pPr>
            <a:r>
              <a:rPr sz="2800" b="1" spc="-5" dirty="0">
                <a:latin typeface="Consolas"/>
                <a:cs typeface="Consolas"/>
              </a:rPr>
              <a:t>Peri</a:t>
            </a:r>
            <a:r>
              <a:rPr sz="2800" b="1" spc="-15" dirty="0">
                <a:latin typeface="Consolas"/>
                <a:cs typeface="Consolas"/>
              </a:rPr>
              <a:t>o</a:t>
            </a:r>
            <a:r>
              <a:rPr sz="2800" b="1" spc="-5" dirty="0">
                <a:latin typeface="Consolas"/>
                <a:cs typeface="Consolas"/>
              </a:rPr>
              <a:t>d</a:t>
            </a:r>
            <a:r>
              <a:rPr sz="2800" b="1" dirty="0">
                <a:latin typeface="Consolas"/>
                <a:cs typeface="Consolas"/>
              </a:rPr>
              <a:t>(</a:t>
            </a:r>
            <a:r>
              <a:rPr sz="2800" b="1" spc="-5" dirty="0">
                <a:latin typeface="Consolas"/>
                <a:cs typeface="Consolas"/>
              </a:rPr>
              <a:t>s) =</a:t>
            </a:r>
            <a:r>
              <a:rPr sz="2800" b="1" spc="-10" dirty="0">
                <a:latin typeface="Consolas"/>
                <a:cs typeface="Consolas"/>
              </a:rPr>
              <a:t> </a:t>
            </a:r>
            <a:r>
              <a:rPr sz="2800" b="1" spc="-5" dirty="0">
                <a:latin typeface="Consolas"/>
                <a:cs typeface="Consolas"/>
              </a:rPr>
              <a:t>D</a:t>
            </a:r>
            <a:r>
              <a:rPr sz="2800" b="1" dirty="0">
                <a:latin typeface="Consolas"/>
                <a:cs typeface="Consolas"/>
              </a:rPr>
              <a:t>i</a:t>
            </a:r>
            <a:r>
              <a:rPr sz="2800" b="1" spc="-5" dirty="0">
                <a:latin typeface="Consolas"/>
                <a:cs typeface="Consolas"/>
              </a:rPr>
              <a:t>ff /</a:t>
            </a:r>
            <a:r>
              <a:rPr sz="2800" b="1" spc="-10" dirty="0">
                <a:latin typeface="Consolas"/>
                <a:cs typeface="Consolas"/>
              </a:rPr>
              <a:t> </a:t>
            </a:r>
            <a:r>
              <a:rPr sz="2800" b="1" spc="-5" dirty="0">
                <a:latin typeface="Consolas"/>
                <a:cs typeface="Consolas"/>
              </a:rPr>
              <a:t>T</a:t>
            </a:r>
            <a:r>
              <a:rPr sz="2800" b="1" spc="0" dirty="0">
                <a:latin typeface="Consolas"/>
                <a:cs typeface="Consolas"/>
              </a:rPr>
              <a:t>I</a:t>
            </a:r>
            <a:r>
              <a:rPr sz="2800" b="1" spc="-5" dirty="0">
                <a:latin typeface="Consolas"/>
                <a:cs typeface="Consolas"/>
              </a:rPr>
              <a:t>Mx_CLK x</a:t>
            </a:r>
            <a:r>
              <a:rPr sz="2800" b="1" spc="-10" dirty="0">
                <a:latin typeface="Consolas"/>
                <a:cs typeface="Consolas"/>
              </a:rPr>
              <a:t> </a:t>
            </a:r>
            <a:r>
              <a:rPr sz="2800" b="1" spc="-5" dirty="0">
                <a:latin typeface="Consolas"/>
                <a:cs typeface="Consolas"/>
              </a:rPr>
              <a:t>( </a:t>
            </a:r>
            <a:r>
              <a:rPr sz="2800" b="1" spc="-10" dirty="0">
                <a:latin typeface="Consolas"/>
                <a:cs typeface="Consolas"/>
              </a:rPr>
              <a:t>PS</a:t>
            </a:r>
            <a:r>
              <a:rPr sz="2800" b="1" spc="-5" dirty="0">
                <a:latin typeface="Consolas"/>
                <a:cs typeface="Consolas"/>
              </a:rPr>
              <a:t>C</a:t>
            </a:r>
            <a:r>
              <a:rPr sz="2800" b="1" spc="5"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1</a:t>
            </a:r>
            <a:r>
              <a:rPr sz="2800" b="1" spc="-10" dirty="0">
                <a:latin typeface="Consolas"/>
                <a:cs typeface="Consolas"/>
              </a:rPr>
              <a:t> </a:t>
            </a:r>
            <a:r>
              <a:rPr sz="2800" b="1" spc="-5" dirty="0">
                <a:latin typeface="Consolas"/>
                <a:cs typeface="Consolas"/>
              </a:rPr>
              <a:t>) Freq</a:t>
            </a:r>
            <a:r>
              <a:rPr sz="2800" b="1" spc="-15" dirty="0">
                <a:latin typeface="Consolas"/>
                <a:cs typeface="Consolas"/>
              </a:rPr>
              <a:t>(</a:t>
            </a:r>
            <a:r>
              <a:rPr sz="2800" b="1" spc="-5" dirty="0">
                <a:latin typeface="Consolas"/>
                <a:cs typeface="Consolas"/>
              </a:rPr>
              <a:t>H</a:t>
            </a:r>
            <a:r>
              <a:rPr sz="2800" b="1" dirty="0">
                <a:latin typeface="Consolas"/>
                <a:cs typeface="Consolas"/>
              </a:rPr>
              <a:t>z</a:t>
            </a:r>
            <a:r>
              <a:rPr sz="2800" b="1" spc="-5" dirty="0">
                <a:latin typeface="Consolas"/>
                <a:cs typeface="Consolas"/>
              </a:rPr>
              <a:t>)</a:t>
            </a:r>
            <a:r>
              <a:rPr sz="2800" b="1"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T</a:t>
            </a:r>
            <a:r>
              <a:rPr sz="2800" b="1" dirty="0">
                <a:latin typeface="Consolas"/>
                <a:cs typeface="Consolas"/>
              </a:rPr>
              <a:t>I</a:t>
            </a:r>
            <a:r>
              <a:rPr sz="2800" b="1" spc="-5" dirty="0">
                <a:latin typeface="Consolas"/>
                <a:cs typeface="Consolas"/>
              </a:rPr>
              <a:t>Mx_C</a:t>
            </a:r>
            <a:r>
              <a:rPr sz="2800" b="1" spc="-15" dirty="0">
                <a:latin typeface="Consolas"/>
                <a:cs typeface="Consolas"/>
              </a:rPr>
              <a:t>L</a:t>
            </a:r>
            <a:r>
              <a:rPr sz="2800" b="1" spc="-5" dirty="0">
                <a:latin typeface="Consolas"/>
                <a:cs typeface="Consolas"/>
              </a:rPr>
              <a:t>K</a:t>
            </a:r>
            <a:r>
              <a:rPr sz="2800" b="1" spc="10"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Diff</a:t>
            </a:r>
            <a:r>
              <a:rPr sz="2800" b="1" dirty="0">
                <a:latin typeface="Consolas"/>
                <a:cs typeface="Consolas"/>
              </a:rPr>
              <a:t> </a:t>
            </a:r>
            <a:r>
              <a:rPr sz="2800" b="1" spc="-5" dirty="0">
                <a:latin typeface="Consolas"/>
                <a:cs typeface="Consolas"/>
              </a:rPr>
              <a:t>x (</a:t>
            </a:r>
            <a:r>
              <a:rPr sz="2800" b="1" spc="-10" dirty="0">
                <a:latin typeface="Consolas"/>
                <a:cs typeface="Consolas"/>
              </a:rPr>
              <a:t> </a:t>
            </a:r>
            <a:r>
              <a:rPr sz="2800" b="1" dirty="0">
                <a:latin typeface="Consolas"/>
                <a:cs typeface="Consolas"/>
              </a:rPr>
              <a:t>P</a:t>
            </a:r>
            <a:r>
              <a:rPr sz="2800" b="1" spc="-5" dirty="0">
                <a:latin typeface="Consolas"/>
                <a:cs typeface="Consolas"/>
              </a:rPr>
              <a:t>SC</a:t>
            </a:r>
            <a:r>
              <a:rPr sz="2800" b="1" spc="-10" dirty="0">
                <a:latin typeface="Consolas"/>
                <a:cs typeface="Consolas"/>
              </a:rPr>
              <a:t> </a:t>
            </a:r>
            <a:r>
              <a:rPr sz="2800" b="1" spc="-5" dirty="0">
                <a:latin typeface="Consolas"/>
                <a:cs typeface="Consolas"/>
              </a:rPr>
              <a:t>+</a:t>
            </a:r>
            <a:r>
              <a:rPr sz="2800" b="1" spc="-10" dirty="0">
                <a:latin typeface="Consolas"/>
                <a:cs typeface="Consolas"/>
              </a:rPr>
              <a:t> </a:t>
            </a:r>
            <a:r>
              <a:rPr sz="2800" b="1" spc="-5" dirty="0">
                <a:latin typeface="Consolas"/>
                <a:cs typeface="Consolas"/>
              </a:rPr>
              <a:t>1</a:t>
            </a:r>
            <a:r>
              <a:rPr sz="2800" b="1" spc="5" dirty="0">
                <a:latin typeface="Consolas"/>
                <a:cs typeface="Consolas"/>
              </a:rPr>
              <a:t> </a:t>
            </a:r>
            <a:r>
              <a:rPr sz="2800" b="1" spc="-10" dirty="0">
                <a:latin typeface="Consolas"/>
                <a:cs typeface="Consolas"/>
              </a:rPr>
              <a:t>))</a:t>
            </a:r>
            <a:endParaRPr sz="2800">
              <a:latin typeface="Consolas"/>
              <a:cs typeface="Consolas"/>
            </a:endParaRPr>
          </a:p>
          <a:p>
            <a:pPr marL="12700" marR="5080" indent="-46990" algn="ctr">
              <a:lnSpc>
                <a:spcPct val="150000"/>
              </a:lnSpc>
              <a:spcBef>
                <a:spcPts val="1000"/>
              </a:spcBef>
            </a:pPr>
            <a:r>
              <a:rPr sz="2400" b="1" dirty="0">
                <a:latin typeface="微软雅黑"/>
                <a:cs typeface="微软雅黑"/>
              </a:rPr>
              <a:t>当待测信号不大于定时器的一个完整计数周期（</a:t>
            </a:r>
            <a:r>
              <a:rPr sz="2400" b="1" spc="5" dirty="0">
                <a:latin typeface="微软雅黑"/>
                <a:cs typeface="微软雅黑"/>
              </a:rPr>
              <a:t>从</a:t>
            </a:r>
            <a:r>
              <a:rPr sz="2400" b="1" spc="-10" dirty="0">
                <a:latin typeface="微软雅黑"/>
                <a:cs typeface="微软雅黑"/>
              </a:rPr>
              <a:t>0</a:t>
            </a:r>
            <a:r>
              <a:rPr sz="2400" b="1" dirty="0">
                <a:latin typeface="微软雅黑"/>
                <a:cs typeface="微软雅黑"/>
              </a:rPr>
              <a:t>到AR</a:t>
            </a:r>
            <a:r>
              <a:rPr sz="2400" b="1" spc="5" dirty="0">
                <a:latin typeface="微软雅黑"/>
                <a:cs typeface="微软雅黑"/>
              </a:rPr>
              <a:t>R</a:t>
            </a:r>
            <a:r>
              <a:rPr sz="2400" b="1" dirty="0">
                <a:latin typeface="微软雅黑"/>
                <a:cs typeface="微软雅黑"/>
              </a:rPr>
              <a:t>）时。假设两次连 续的捕获值分别为</a:t>
            </a:r>
            <a:r>
              <a:rPr sz="2400" b="1" spc="-70" dirty="0">
                <a:latin typeface="微软雅黑"/>
                <a:cs typeface="微软雅黑"/>
              </a:rPr>
              <a:t>C</a:t>
            </a:r>
            <a:r>
              <a:rPr sz="2400" b="1" spc="-5" dirty="0">
                <a:latin typeface="微软雅黑"/>
                <a:cs typeface="微软雅黑"/>
              </a:rPr>
              <a:t>C</a:t>
            </a:r>
            <a:r>
              <a:rPr sz="2400" b="1" spc="5" dirty="0">
                <a:latin typeface="微软雅黑"/>
                <a:cs typeface="微软雅黑"/>
              </a:rPr>
              <a:t>R</a:t>
            </a:r>
            <a:r>
              <a:rPr sz="2400" b="1" dirty="0">
                <a:latin typeface="微软雅黑"/>
                <a:cs typeface="微软雅黑"/>
              </a:rPr>
              <a:t>x_1</a:t>
            </a:r>
            <a:r>
              <a:rPr sz="2400" b="1" spc="-30" dirty="0">
                <a:latin typeface="微软雅黑"/>
                <a:cs typeface="微软雅黑"/>
              </a:rPr>
              <a:t> </a:t>
            </a:r>
            <a:r>
              <a:rPr sz="2400" b="1" spc="-5" dirty="0">
                <a:latin typeface="微软雅黑"/>
                <a:cs typeface="微软雅黑"/>
              </a:rPr>
              <a:t>和</a:t>
            </a:r>
            <a:r>
              <a:rPr sz="2400" b="1" spc="-10" dirty="0">
                <a:latin typeface="微软雅黑"/>
                <a:cs typeface="微软雅黑"/>
              </a:rPr>
              <a:t> </a:t>
            </a:r>
            <a:r>
              <a:rPr sz="2400" b="1" spc="-70" dirty="0">
                <a:latin typeface="微软雅黑"/>
                <a:cs typeface="微软雅黑"/>
              </a:rPr>
              <a:t>C</a:t>
            </a:r>
            <a:r>
              <a:rPr sz="2400" b="1" spc="-5" dirty="0">
                <a:latin typeface="微软雅黑"/>
                <a:cs typeface="微软雅黑"/>
              </a:rPr>
              <a:t>C</a:t>
            </a:r>
            <a:r>
              <a:rPr sz="2400" b="1" spc="5" dirty="0">
                <a:latin typeface="微软雅黑"/>
                <a:cs typeface="微软雅黑"/>
              </a:rPr>
              <a:t>R</a:t>
            </a:r>
            <a:r>
              <a:rPr sz="2400" b="1" dirty="0">
                <a:latin typeface="微软雅黑"/>
                <a:cs typeface="微软雅黑"/>
              </a:rPr>
              <a:t>x_2</a:t>
            </a:r>
            <a:r>
              <a:rPr sz="2400" b="1" spc="-5" dirty="0">
                <a:latin typeface="微软雅黑"/>
                <a:cs typeface="微软雅黑"/>
              </a:rPr>
              <a:t>，则捕获差值可以按照如下方法计算：</a:t>
            </a:r>
            <a:endParaRPr sz="2400">
              <a:latin typeface="微软雅黑"/>
              <a:cs typeface="微软雅黑"/>
            </a:endParaRPr>
          </a:p>
          <a:p>
            <a:pPr>
              <a:lnSpc>
                <a:spcPct val="100000"/>
              </a:lnSpc>
              <a:spcBef>
                <a:spcPts val="21"/>
              </a:spcBef>
            </a:pPr>
            <a:endParaRPr sz="3150">
              <a:latin typeface="Times New Roman"/>
              <a:cs typeface="Times New Roman"/>
            </a:endParaRPr>
          </a:p>
          <a:p>
            <a:pPr marL="168910">
              <a:lnSpc>
                <a:spcPct val="100000"/>
              </a:lnSpc>
            </a:pPr>
            <a:r>
              <a:rPr sz="2400" spc="-235" dirty="0">
                <a:latin typeface="Segoe UI Symbol"/>
                <a:cs typeface="Segoe UI Symbol"/>
              </a:rPr>
              <a:t>⚫</a:t>
            </a:r>
            <a:r>
              <a:rPr sz="2400" spc="245" dirty="0">
                <a:latin typeface="Segoe UI Symbol"/>
                <a:cs typeface="Segoe UI Symbol"/>
              </a:rPr>
              <a:t> </a:t>
            </a:r>
            <a:r>
              <a:rPr sz="2400" b="1" dirty="0">
                <a:latin typeface="微软雅黑"/>
                <a:cs typeface="微软雅黑"/>
              </a:rPr>
              <a:t>如果</a:t>
            </a:r>
            <a:r>
              <a:rPr sz="2400" b="1" spc="-10" dirty="0">
                <a:latin typeface="微软雅黑"/>
                <a:cs typeface="微软雅黑"/>
              </a:rPr>
              <a:t> </a:t>
            </a:r>
            <a:r>
              <a:rPr sz="2400" b="1" spc="-70" dirty="0">
                <a:latin typeface="微软雅黑"/>
                <a:cs typeface="微软雅黑"/>
              </a:rPr>
              <a:t>C</a:t>
            </a:r>
            <a:r>
              <a:rPr sz="2400" b="1" spc="-5" dirty="0">
                <a:latin typeface="微软雅黑"/>
                <a:cs typeface="微软雅黑"/>
              </a:rPr>
              <a:t>C</a:t>
            </a:r>
            <a:r>
              <a:rPr sz="2400" b="1" spc="5" dirty="0">
                <a:latin typeface="微软雅黑"/>
                <a:cs typeface="微软雅黑"/>
              </a:rPr>
              <a:t>R</a:t>
            </a:r>
            <a:r>
              <a:rPr sz="2400" b="1" dirty="0">
                <a:latin typeface="微软雅黑"/>
                <a:cs typeface="微软雅黑"/>
              </a:rPr>
              <a:t>x_1</a:t>
            </a:r>
            <a:r>
              <a:rPr sz="2400" b="1" spc="-35" dirty="0">
                <a:latin typeface="微软雅黑"/>
                <a:cs typeface="微软雅黑"/>
              </a:rPr>
              <a:t> </a:t>
            </a:r>
            <a:r>
              <a:rPr sz="2400" b="1" dirty="0">
                <a:latin typeface="微软雅黑"/>
                <a:cs typeface="微软雅黑"/>
              </a:rPr>
              <a:t>&lt;</a:t>
            </a:r>
            <a:r>
              <a:rPr sz="2400" b="1" spc="-15" dirty="0">
                <a:latin typeface="微软雅黑"/>
                <a:cs typeface="微软雅黑"/>
              </a:rPr>
              <a:t> </a:t>
            </a:r>
            <a:r>
              <a:rPr sz="2400" b="1" spc="-70" dirty="0">
                <a:latin typeface="微软雅黑"/>
                <a:cs typeface="微软雅黑"/>
              </a:rPr>
              <a:t>C</a:t>
            </a:r>
            <a:r>
              <a:rPr sz="2400" b="1" spc="-5" dirty="0">
                <a:latin typeface="微软雅黑"/>
                <a:cs typeface="微软雅黑"/>
              </a:rPr>
              <a:t>C</a:t>
            </a:r>
            <a:r>
              <a:rPr sz="2400" b="1" spc="5" dirty="0">
                <a:latin typeface="微软雅黑"/>
                <a:cs typeface="微软雅黑"/>
              </a:rPr>
              <a:t>R</a:t>
            </a:r>
            <a:r>
              <a:rPr sz="2400" b="1" dirty="0">
                <a:latin typeface="微软雅黑"/>
                <a:cs typeface="微软雅黑"/>
              </a:rPr>
              <a:t>x_2</a:t>
            </a:r>
            <a:r>
              <a:rPr sz="2400" b="1" spc="-5" dirty="0">
                <a:latin typeface="微软雅黑"/>
                <a:cs typeface="微软雅黑"/>
              </a:rPr>
              <a:t>：捕获差值</a:t>
            </a:r>
            <a:r>
              <a:rPr sz="2400" b="1" spc="-35" dirty="0">
                <a:latin typeface="微软雅黑"/>
                <a:cs typeface="微软雅黑"/>
              </a:rPr>
              <a:t> </a:t>
            </a:r>
            <a:r>
              <a:rPr sz="2400" b="1" dirty="0">
                <a:latin typeface="微软雅黑"/>
                <a:cs typeface="微软雅黑"/>
              </a:rPr>
              <a:t>=</a:t>
            </a:r>
            <a:r>
              <a:rPr sz="2400" b="1" spc="-15" dirty="0">
                <a:latin typeface="微软雅黑"/>
                <a:cs typeface="微软雅黑"/>
              </a:rPr>
              <a:t> </a:t>
            </a:r>
            <a:r>
              <a:rPr sz="2400" b="1" spc="-70" dirty="0">
                <a:latin typeface="微软雅黑"/>
                <a:cs typeface="微软雅黑"/>
              </a:rPr>
              <a:t>C</a:t>
            </a:r>
            <a:r>
              <a:rPr sz="2400" b="1" spc="-5" dirty="0">
                <a:latin typeface="微软雅黑"/>
                <a:cs typeface="微软雅黑"/>
              </a:rPr>
              <a:t>C</a:t>
            </a:r>
            <a:r>
              <a:rPr sz="2400" b="1" spc="5" dirty="0">
                <a:latin typeface="微软雅黑"/>
                <a:cs typeface="微软雅黑"/>
              </a:rPr>
              <a:t>R</a:t>
            </a:r>
            <a:r>
              <a:rPr sz="2400" b="1" dirty="0">
                <a:latin typeface="微软雅黑"/>
                <a:cs typeface="微软雅黑"/>
              </a:rPr>
              <a:t>x_2</a:t>
            </a:r>
            <a:r>
              <a:rPr sz="2400" b="1" spc="-30" dirty="0">
                <a:latin typeface="微软雅黑"/>
                <a:cs typeface="微软雅黑"/>
              </a:rPr>
              <a:t> </a:t>
            </a:r>
            <a:r>
              <a:rPr sz="2400" b="1" spc="-5" dirty="0">
                <a:latin typeface="微软雅黑"/>
                <a:cs typeface="微软雅黑"/>
              </a:rPr>
              <a:t>-</a:t>
            </a:r>
            <a:r>
              <a:rPr sz="2400" b="1" dirty="0">
                <a:latin typeface="微软雅黑"/>
                <a:cs typeface="微软雅黑"/>
              </a:rPr>
              <a:t> </a:t>
            </a:r>
            <a:r>
              <a:rPr sz="2400" b="1" spc="-70" dirty="0">
                <a:latin typeface="微软雅黑"/>
                <a:cs typeface="微软雅黑"/>
              </a:rPr>
              <a:t>C</a:t>
            </a:r>
            <a:r>
              <a:rPr sz="2400" b="1" spc="-5" dirty="0">
                <a:latin typeface="微软雅黑"/>
                <a:cs typeface="微软雅黑"/>
              </a:rPr>
              <a:t>C</a:t>
            </a:r>
            <a:r>
              <a:rPr sz="2400" b="1" spc="5" dirty="0">
                <a:latin typeface="微软雅黑"/>
                <a:cs typeface="微软雅黑"/>
              </a:rPr>
              <a:t>R</a:t>
            </a:r>
            <a:r>
              <a:rPr sz="2400" b="1" dirty="0">
                <a:latin typeface="微软雅黑"/>
                <a:cs typeface="微软雅黑"/>
              </a:rPr>
              <a:t>x_1</a:t>
            </a:r>
            <a:endParaRPr sz="2400">
              <a:latin typeface="微软雅黑"/>
              <a:cs typeface="微软雅黑"/>
            </a:endParaRPr>
          </a:p>
          <a:p>
            <a:pPr marL="168910">
              <a:lnSpc>
                <a:spcPct val="100000"/>
              </a:lnSpc>
              <a:spcBef>
                <a:spcPts val="1305"/>
              </a:spcBef>
            </a:pPr>
            <a:r>
              <a:rPr sz="2400" spc="-229" dirty="0">
                <a:latin typeface="Segoe UI Symbol"/>
                <a:cs typeface="Segoe UI Symbol"/>
              </a:rPr>
              <a:t>⚫</a:t>
            </a:r>
            <a:r>
              <a:rPr sz="2400" spc="245" dirty="0">
                <a:latin typeface="Segoe UI Symbol"/>
                <a:cs typeface="Segoe UI Symbol"/>
              </a:rPr>
              <a:t> </a:t>
            </a:r>
            <a:r>
              <a:rPr sz="2400" b="1" spc="-5" dirty="0">
                <a:latin typeface="微软雅黑"/>
                <a:cs typeface="微软雅黑"/>
              </a:rPr>
              <a:t>如</a:t>
            </a:r>
            <a:r>
              <a:rPr sz="2400" b="1" dirty="0">
                <a:latin typeface="微软雅黑"/>
                <a:cs typeface="微软雅黑"/>
              </a:rPr>
              <a:t>果</a:t>
            </a:r>
            <a:r>
              <a:rPr sz="2400" b="1" spc="-10" dirty="0">
                <a:latin typeface="微软雅黑"/>
                <a:cs typeface="微软雅黑"/>
              </a:rPr>
              <a:t> </a:t>
            </a:r>
            <a:r>
              <a:rPr sz="2400" b="1" spc="-75" dirty="0">
                <a:latin typeface="微软雅黑"/>
                <a:cs typeface="微软雅黑"/>
              </a:rPr>
              <a:t>C</a:t>
            </a:r>
            <a:r>
              <a:rPr sz="2400" b="1" spc="-5" dirty="0">
                <a:latin typeface="微软雅黑"/>
                <a:cs typeface="微软雅黑"/>
              </a:rPr>
              <a:t>CRx</a:t>
            </a:r>
            <a:r>
              <a:rPr sz="2400" b="1" spc="5" dirty="0">
                <a:latin typeface="微软雅黑"/>
                <a:cs typeface="微软雅黑"/>
              </a:rPr>
              <a:t>_</a:t>
            </a:r>
            <a:r>
              <a:rPr sz="2400" b="1" dirty="0">
                <a:latin typeface="微软雅黑"/>
                <a:cs typeface="微软雅黑"/>
              </a:rPr>
              <a:t>1</a:t>
            </a:r>
            <a:r>
              <a:rPr sz="2400" b="1" spc="-40" dirty="0">
                <a:latin typeface="微软雅黑"/>
                <a:cs typeface="微软雅黑"/>
              </a:rPr>
              <a:t> </a:t>
            </a:r>
            <a:r>
              <a:rPr sz="2400" b="1" dirty="0">
                <a:latin typeface="微软雅黑"/>
                <a:cs typeface="微软雅黑"/>
              </a:rPr>
              <a:t>&gt;</a:t>
            </a:r>
            <a:r>
              <a:rPr sz="2400" b="1" spc="-15" dirty="0">
                <a:latin typeface="微软雅黑"/>
                <a:cs typeface="微软雅黑"/>
              </a:rPr>
              <a:t> </a:t>
            </a:r>
            <a:r>
              <a:rPr sz="2400" b="1" spc="-75" dirty="0">
                <a:latin typeface="微软雅黑"/>
                <a:cs typeface="微软雅黑"/>
              </a:rPr>
              <a:t>C</a:t>
            </a:r>
            <a:r>
              <a:rPr sz="2400" b="1" spc="-5" dirty="0">
                <a:latin typeface="微软雅黑"/>
                <a:cs typeface="微软雅黑"/>
              </a:rPr>
              <a:t>CRx</a:t>
            </a:r>
            <a:r>
              <a:rPr sz="2400" b="1" spc="5" dirty="0">
                <a:latin typeface="微软雅黑"/>
                <a:cs typeface="微软雅黑"/>
              </a:rPr>
              <a:t>_</a:t>
            </a:r>
            <a:r>
              <a:rPr sz="2400" b="1" dirty="0">
                <a:latin typeface="微软雅黑"/>
                <a:cs typeface="微软雅黑"/>
              </a:rPr>
              <a:t>2</a:t>
            </a:r>
            <a:r>
              <a:rPr sz="2400" b="1" spc="-5" dirty="0">
                <a:latin typeface="微软雅黑"/>
                <a:cs typeface="微软雅黑"/>
              </a:rPr>
              <a:t>：捕获差</a:t>
            </a:r>
            <a:r>
              <a:rPr sz="2400" b="1" dirty="0">
                <a:latin typeface="微软雅黑"/>
                <a:cs typeface="微软雅黑"/>
              </a:rPr>
              <a:t>值</a:t>
            </a:r>
            <a:r>
              <a:rPr sz="2400" b="1" spc="-35" dirty="0">
                <a:latin typeface="微软雅黑"/>
                <a:cs typeface="微软雅黑"/>
              </a:rPr>
              <a:t> </a:t>
            </a:r>
            <a:r>
              <a:rPr sz="2400" b="1" dirty="0">
                <a:latin typeface="微软雅黑"/>
                <a:cs typeface="微软雅黑"/>
              </a:rPr>
              <a:t>=</a:t>
            </a:r>
            <a:r>
              <a:rPr sz="2400" b="1" spc="-15" dirty="0">
                <a:latin typeface="微软雅黑"/>
                <a:cs typeface="微软雅黑"/>
              </a:rPr>
              <a:t> </a:t>
            </a:r>
            <a:r>
              <a:rPr sz="2400" b="1" spc="-5" dirty="0">
                <a:latin typeface="微软雅黑"/>
                <a:cs typeface="微软雅黑"/>
              </a:rPr>
              <a:t>(</a:t>
            </a:r>
            <a:r>
              <a:rPr sz="2400" b="1" dirty="0">
                <a:latin typeface="微软雅黑"/>
                <a:cs typeface="微软雅黑"/>
              </a:rPr>
              <a:t>ARR</a:t>
            </a:r>
            <a:r>
              <a:rPr sz="2400" b="1" spc="-10" dirty="0">
                <a:latin typeface="微软雅黑"/>
                <a:cs typeface="微软雅黑"/>
              </a:rPr>
              <a:t> </a:t>
            </a:r>
            <a:r>
              <a:rPr sz="2400" b="1" dirty="0">
                <a:latin typeface="微软雅黑"/>
                <a:cs typeface="微软雅黑"/>
              </a:rPr>
              <a:t>+ 1</a:t>
            </a:r>
            <a:r>
              <a:rPr sz="2400" b="1" spc="-15" dirty="0">
                <a:latin typeface="微软雅黑"/>
                <a:cs typeface="微软雅黑"/>
              </a:rPr>
              <a:t> </a:t>
            </a:r>
            <a:r>
              <a:rPr sz="2400" b="1" dirty="0">
                <a:latin typeface="微软雅黑"/>
                <a:cs typeface="微软雅黑"/>
              </a:rPr>
              <a:t>- </a:t>
            </a:r>
            <a:r>
              <a:rPr sz="2400" b="1" spc="-75" dirty="0">
                <a:latin typeface="微软雅黑"/>
                <a:cs typeface="微软雅黑"/>
              </a:rPr>
              <a:t>C</a:t>
            </a:r>
            <a:r>
              <a:rPr sz="2400" b="1" spc="-5" dirty="0">
                <a:latin typeface="微软雅黑"/>
                <a:cs typeface="微软雅黑"/>
              </a:rPr>
              <a:t>CRx</a:t>
            </a:r>
            <a:r>
              <a:rPr sz="2400" b="1" spc="5" dirty="0">
                <a:latin typeface="微软雅黑"/>
                <a:cs typeface="微软雅黑"/>
              </a:rPr>
              <a:t>_</a:t>
            </a:r>
            <a:r>
              <a:rPr sz="2400" b="1" dirty="0">
                <a:latin typeface="微软雅黑"/>
                <a:cs typeface="微软雅黑"/>
              </a:rPr>
              <a:t>1)</a:t>
            </a:r>
            <a:r>
              <a:rPr sz="2400" b="1" spc="-50" dirty="0">
                <a:latin typeface="微软雅黑"/>
                <a:cs typeface="微软雅黑"/>
              </a:rPr>
              <a:t> </a:t>
            </a:r>
            <a:r>
              <a:rPr sz="2400" b="1" dirty="0">
                <a:latin typeface="微软雅黑"/>
                <a:cs typeface="微软雅黑"/>
              </a:rPr>
              <a:t>+ </a:t>
            </a:r>
            <a:r>
              <a:rPr sz="2400" b="1" spc="-75" dirty="0">
                <a:latin typeface="微软雅黑"/>
                <a:cs typeface="微软雅黑"/>
              </a:rPr>
              <a:t>C</a:t>
            </a:r>
            <a:r>
              <a:rPr sz="2400" b="1" spc="-5" dirty="0">
                <a:latin typeface="微软雅黑"/>
                <a:cs typeface="微软雅黑"/>
              </a:rPr>
              <a:t>CRx</a:t>
            </a:r>
            <a:r>
              <a:rPr sz="2400" b="1" spc="5" dirty="0">
                <a:latin typeface="微软雅黑"/>
                <a:cs typeface="微软雅黑"/>
              </a:rPr>
              <a:t>_</a:t>
            </a:r>
            <a:r>
              <a:rPr sz="2400" b="1" dirty="0">
                <a:latin typeface="微软雅黑"/>
                <a:cs typeface="微软雅黑"/>
              </a:rPr>
              <a:t>2</a:t>
            </a:r>
            <a:endParaRPr sz="2400">
              <a:latin typeface="微软雅黑"/>
              <a:cs typeface="微软雅黑"/>
            </a:endParaRPr>
          </a:p>
          <a:p>
            <a:pPr marR="460375" algn="ctr">
              <a:lnSpc>
                <a:spcPct val="100000"/>
              </a:lnSpc>
              <a:spcBef>
                <a:spcPts val="1630"/>
              </a:spcBef>
            </a:pPr>
            <a:r>
              <a:rPr sz="2400" b="1" dirty="0">
                <a:latin typeface="宋体"/>
                <a:cs typeface="宋体"/>
              </a:rPr>
              <a:t>注意：如果待测信号大于定时器的一个完整计数周期，</a:t>
            </a:r>
            <a:endParaRPr sz="2400">
              <a:latin typeface="宋体"/>
              <a:cs typeface="宋体"/>
            </a:endParaRPr>
          </a:p>
          <a:p>
            <a:pPr marL="2195830">
              <a:lnSpc>
                <a:spcPts val="2840"/>
              </a:lnSpc>
            </a:pPr>
            <a:r>
              <a:rPr sz="2400" b="1" spc="-5" dirty="0">
                <a:latin typeface="宋体"/>
                <a:cs typeface="宋体"/>
              </a:rPr>
              <a:t>则需要结合定时器的更新中断次数来计算捕获差值。</a:t>
            </a:r>
            <a:endParaRPr sz="2400">
              <a:latin typeface="宋体"/>
              <a:cs typeface="宋体"/>
            </a:endParaRPr>
          </a:p>
        </p:txBody>
      </p:sp>
    </p:spTree>
    <p:extLst>
      <p:ext uri="{BB962C8B-B14F-4D97-AF65-F5344CB8AC3E}">
        <p14:creationId xmlns:p14="http://schemas.microsoft.com/office/powerpoint/2010/main" val="11304464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179320"/>
            <a:ext cx="12192000" cy="1914525"/>
          </a:xfrm>
          <a:custGeom>
            <a:avLst/>
            <a:gdLst/>
            <a:ahLst/>
            <a:cxnLst/>
            <a:rect l="l" t="t" r="r" b="b"/>
            <a:pathLst>
              <a:path w="12192000" h="1914525">
                <a:moveTo>
                  <a:pt x="0" y="1914143"/>
                </a:moveTo>
                <a:lnTo>
                  <a:pt x="12192000" y="1914143"/>
                </a:lnTo>
                <a:lnTo>
                  <a:pt x="12192000" y="0"/>
                </a:lnTo>
                <a:lnTo>
                  <a:pt x="0" y="0"/>
                </a:lnTo>
                <a:lnTo>
                  <a:pt x="0" y="1914143"/>
                </a:lnTo>
                <a:close/>
              </a:path>
            </a:pathLst>
          </a:custGeom>
          <a:solidFill>
            <a:srgbClr val="E34A46"/>
          </a:solidFill>
        </p:spPr>
        <p:txBody>
          <a:bodyPr wrap="square" lIns="0" tIns="0" rIns="0" bIns="0" rtlCol="0"/>
          <a:lstStyle/>
          <a:p>
            <a:endParaRPr/>
          </a:p>
        </p:txBody>
      </p:sp>
      <p:sp>
        <p:nvSpPr>
          <p:cNvPr id="3" name="object 3"/>
          <p:cNvSpPr txBox="1">
            <a:spLocks noGrp="1"/>
          </p:cNvSpPr>
          <p:nvPr>
            <p:ph type="title"/>
          </p:nvPr>
        </p:nvSpPr>
        <p:spPr>
          <a:xfrm>
            <a:off x="179933" y="2772004"/>
            <a:ext cx="11830685" cy="711200"/>
          </a:xfrm>
          <a:prstGeom prst="rect">
            <a:avLst/>
          </a:prstGeom>
        </p:spPr>
        <p:txBody>
          <a:bodyPr vert="horz" wrap="square" lIns="0" tIns="0" rIns="0" bIns="0" rtlCol="0">
            <a:spAutoFit/>
          </a:bodyPr>
          <a:lstStyle/>
          <a:p>
            <a:pPr marL="12700">
              <a:lnSpc>
                <a:spcPct val="100000"/>
              </a:lnSpc>
              <a:tabLst>
                <a:tab pos="844550" algn="l"/>
              </a:tabLst>
            </a:pPr>
            <a:r>
              <a:rPr sz="5400" spc="-5" dirty="0">
                <a:solidFill>
                  <a:srgbClr val="FFFFFF"/>
                </a:solidFill>
                <a:latin typeface="微软雅黑"/>
                <a:cs typeface="微软雅黑"/>
              </a:rPr>
              <a:t>2	</a:t>
            </a:r>
            <a:r>
              <a:rPr sz="5400" spc="-5" dirty="0">
                <a:solidFill>
                  <a:srgbClr val="FFFFFF"/>
                </a:solidFill>
              </a:rPr>
              <a:t>输入捕获功能的数据类型和接口函数</a:t>
            </a:r>
            <a:endParaRPr sz="5400">
              <a:latin typeface="微软雅黑"/>
              <a:cs typeface="微软雅黑"/>
            </a:endParaRPr>
          </a:p>
        </p:txBody>
      </p:sp>
    </p:spTree>
    <p:extLst>
      <p:ext uri="{BB962C8B-B14F-4D97-AF65-F5344CB8AC3E}">
        <p14:creationId xmlns:p14="http://schemas.microsoft.com/office/powerpoint/2010/main" val="31925116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4300" y="2132076"/>
            <a:ext cx="11963400" cy="355396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99822" y="2117598"/>
            <a:ext cx="11992610" cy="3583304"/>
          </a:xfrm>
          <a:custGeom>
            <a:avLst/>
            <a:gdLst/>
            <a:ahLst/>
            <a:cxnLst/>
            <a:rect l="l" t="t" r="r" b="b"/>
            <a:pathLst>
              <a:path w="11992610" h="3583304">
                <a:moveTo>
                  <a:pt x="0" y="3582924"/>
                </a:moveTo>
                <a:lnTo>
                  <a:pt x="11992356" y="3582924"/>
                </a:lnTo>
                <a:lnTo>
                  <a:pt x="11992356" y="0"/>
                </a:lnTo>
                <a:lnTo>
                  <a:pt x="0" y="0"/>
                </a:lnTo>
                <a:lnTo>
                  <a:pt x="0" y="3582924"/>
                </a:lnTo>
                <a:close/>
              </a:path>
            </a:pathLst>
          </a:custGeom>
          <a:ln w="28956">
            <a:solidFill>
              <a:srgbClr val="5B9BD4"/>
            </a:solidFill>
          </a:ln>
        </p:spPr>
        <p:txBody>
          <a:bodyPr wrap="square" lIns="0" tIns="0" rIns="0" bIns="0" rtlCol="0"/>
          <a:lstStyle/>
          <a:p>
            <a:endParaRPr/>
          </a:p>
        </p:txBody>
      </p:sp>
      <p:sp>
        <p:nvSpPr>
          <p:cNvPr id="4" name="object 4"/>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5" name="object 5"/>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p:nvPr/>
        </p:nvSpPr>
        <p:spPr>
          <a:xfrm>
            <a:off x="53136" y="1146799"/>
            <a:ext cx="1854200" cy="330200"/>
          </a:xfrm>
          <a:prstGeom prst="rect">
            <a:avLst/>
          </a:prstGeom>
        </p:spPr>
        <p:txBody>
          <a:bodyPr vert="horz" wrap="square" lIns="0" tIns="0" rIns="0" bIns="0" rtlCol="0">
            <a:spAutoFit/>
          </a:bodyPr>
          <a:lstStyle/>
          <a:p>
            <a:pPr marL="12700">
              <a:lnSpc>
                <a:spcPct val="100000"/>
              </a:lnSpc>
            </a:pPr>
            <a:r>
              <a:rPr sz="2400" b="1" dirty="0">
                <a:solidFill>
                  <a:srgbClr val="FFFFFF"/>
                </a:solidFill>
                <a:latin typeface="微软雅黑"/>
                <a:cs typeface="微软雅黑"/>
              </a:rPr>
              <a:t>输入捕获单元</a:t>
            </a:r>
            <a:endParaRPr sz="2400">
              <a:latin typeface="微软雅黑"/>
              <a:cs typeface="微软雅黑"/>
            </a:endParaRPr>
          </a:p>
        </p:txBody>
      </p:sp>
      <p:sp>
        <p:nvSpPr>
          <p:cNvPr id="11" name="object 11"/>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sp>
        <p:nvSpPr>
          <p:cNvPr id="12" name="object 12"/>
          <p:cNvSpPr txBox="1">
            <a:spLocks noGrp="1"/>
          </p:cNvSpPr>
          <p:nvPr>
            <p:ph type="title"/>
          </p:nvPr>
        </p:nvSpPr>
        <p:spPr>
          <a:prstGeom prst="rect">
            <a:avLst/>
          </a:prstGeom>
        </p:spPr>
        <p:txBody>
          <a:bodyPr vert="horz" wrap="square" lIns="0" tIns="0" rIns="0" bIns="0" rtlCol="0">
            <a:spAutoFit/>
          </a:bodyPr>
          <a:lstStyle/>
          <a:p>
            <a:pPr marL="4093845">
              <a:lnSpc>
                <a:spcPct val="100000"/>
              </a:lnSpc>
            </a:pPr>
            <a:r>
              <a:rPr spc="-5" dirty="0"/>
              <a:t>输入捕获单元初始化类型</a:t>
            </a:r>
          </a:p>
        </p:txBody>
      </p:sp>
      <p:sp>
        <p:nvSpPr>
          <p:cNvPr id="13" name="object 13"/>
          <p:cNvSpPr txBox="1"/>
          <p:nvPr/>
        </p:nvSpPr>
        <p:spPr>
          <a:xfrm>
            <a:off x="4969764" y="2235707"/>
            <a:ext cx="5044440" cy="524510"/>
          </a:xfrm>
          <a:prstGeom prst="rect">
            <a:avLst/>
          </a:prstGeom>
          <a:solidFill>
            <a:srgbClr val="E34A46"/>
          </a:solidFill>
        </p:spPr>
        <p:txBody>
          <a:bodyPr vert="horz" wrap="square" lIns="0" tIns="0" rIns="0" bIns="0" rtlCol="0">
            <a:spAutoFit/>
          </a:bodyPr>
          <a:lstStyle/>
          <a:p>
            <a:pPr marL="92710">
              <a:lnSpc>
                <a:spcPct val="100000"/>
              </a:lnSpc>
            </a:pPr>
            <a:r>
              <a:rPr sz="2800" b="1" spc="-5" dirty="0">
                <a:solidFill>
                  <a:srgbClr val="FFFFFF"/>
                </a:solidFill>
                <a:latin typeface="微软雅黑"/>
                <a:cs typeface="微软雅黑"/>
              </a:rPr>
              <a:t>结构体类型，包括4个成员变量</a:t>
            </a:r>
            <a:endParaRPr sz="2800">
              <a:latin typeface="微软雅黑"/>
              <a:cs typeface="微软雅黑"/>
            </a:endParaRPr>
          </a:p>
        </p:txBody>
      </p:sp>
      <p:sp>
        <p:nvSpPr>
          <p:cNvPr id="14" name="object 14"/>
          <p:cNvSpPr/>
          <p:nvPr/>
        </p:nvSpPr>
        <p:spPr>
          <a:xfrm>
            <a:off x="1189482" y="5214365"/>
            <a:ext cx="3781425" cy="401320"/>
          </a:xfrm>
          <a:custGeom>
            <a:avLst/>
            <a:gdLst/>
            <a:ahLst/>
            <a:cxnLst/>
            <a:rect l="l" t="t" r="r" b="b"/>
            <a:pathLst>
              <a:path w="3781425" h="401320">
                <a:moveTo>
                  <a:pt x="0" y="400811"/>
                </a:moveTo>
                <a:lnTo>
                  <a:pt x="3781044" y="400811"/>
                </a:lnTo>
                <a:lnTo>
                  <a:pt x="3781044" y="0"/>
                </a:lnTo>
                <a:lnTo>
                  <a:pt x="0" y="0"/>
                </a:lnTo>
                <a:lnTo>
                  <a:pt x="0" y="400811"/>
                </a:lnTo>
                <a:close/>
              </a:path>
            </a:pathLst>
          </a:custGeom>
          <a:ln w="38100">
            <a:solidFill>
              <a:srgbClr val="FF0000"/>
            </a:solidFill>
          </a:ln>
        </p:spPr>
        <p:txBody>
          <a:bodyPr wrap="square" lIns="0" tIns="0" rIns="0" bIns="0" rtlCol="0"/>
          <a:lstStyle/>
          <a:p>
            <a:endParaRPr/>
          </a:p>
        </p:txBody>
      </p:sp>
      <p:sp>
        <p:nvSpPr>
          <p:cNvPr id="15" name="object 15"/>
          <p:cNvSpPr/>
          <p:nvPr/>
        </p:nvSpPr>
        <p:spPr>
          <a:xfrm>
            <a:off x="1189482" y="3192017"/>
            <a:ext cx="3781425" cy="401320"/>
          </a:xfrm>
          <a:custGeom>
            <a:avLst/>
            <a:gdLst/>
            <a:ahLst/>
            <a:cxnLst/>
            <a:rect l="l" t="t" r="r" b="b"/>
            <a:pathLst>
              <a:path w="3781425" h="401320">
                <a:moveTo>
                  <a:pt x="0" y="400812"/>
                </a:moveTo>
                <a:lnTo>
                  <a:pt x="3781044" y="400812"/>
                </a:lnTo>
                <a:lnTo>
                  <a:pt x="3781044" y="0"/>
                </a:lnTo>
                <a:lnTo>
                  <a:pt x="0" y="0"/>
                </a:lnTo>
                <a:lnTo>
                  <a:pt x="0" y="400812"/>
                </a:lnTo>
                <a:close/>
              </a:path>
            </a:pathLst>
          </a:custGeom>
          <a:ln w="38100">
            <a:solidFill>
              <a:srgbClr val="FF0000"/>
            </a:solidFill>
          </a:ln>
        </p:spPr>
        <p:txBody>
          <a:bodyPr wrap="square" lIns="0" tIns="0" rIns="0" bIns="0" rtlCol="0"/>
          <a:lstStyle/>
          <a:p>
            <a:endParaRPr/>
          </a:p>
        </p:txBody>
      </p:sp>
      <p:sp>
        <p:nvSpPr>
          <p:cNvPr id="16" name="object 16"/>
          <p:cNvSpPr/>
          <p:nvPr/>
        </p:nvSpPr>
        <p:spPr>
          <a:xfrm>
            <a:off x="1189482" y="3707129"/>
            <a:ext cx="3781425" cy="401320"/>
          </a:xfrm>
          <a:custGeom>
            <a:avLst/>
            <a:gdLst/>
            <a:ahLst/>
            <a:cxnLst/>
            <a:rect l="l" t="t" r="r" b="b"/>
            <a:pathLst>
              <a:path w="3781425" h="401320">
                <a:moveTo>
                  <a:pt x="0" y="400812"/>
                </a:moveTo>
                <a:lnTo>
                  <a:pt x="3781044" y="400812"/>
                </a:lnTo>
                <a:lnTo>
                  <a:pt x="3781044" y="0"/>
                </a:lnTo>
                <a:lnTo>
                  <a:pt x="0" y="0"/>
                </a:lnTo>
                <a:lnTo>
                  <a:pt x="0" y="400812"/>
                </a:lnTo>
                <a:close/>
              </a:path>
            </a:pathLst>
          </a:custGeom>
          <a:ln w="38100">
            <a:solidFill>
              <a:srgbClr val="FF0000"/>
            </a:solidFill>
          </a:ln>
        </p:spPr>
        <p:txBody>
          <a:bodyPr wrap="square" lIns="0" tIns="0" rIns="0" bIns="0" rtlCol="0"/>
          <a:lstStyle/>
          <a:p>
            <a:endParaRPr/>
          </a:p>
        </p:txBody>
      </p:sp>
      <p:sp>
        <p:nvSpPr>
          <p:cNvPr id="17" name="object 17"/>
          <p:cNvSpPr/>
          <p:nvPr/>
        </p:nvSpPr>
        <p:spPr>
          <a:xfrm>
            <a:off x="1189482" y="4222241"/>
            <a:ext cx="3781425" cy="399415"/>
          </a:xfrm>
          <a:custGeom>
            <a:avLst/>
            <a:gdLst/>
            <a:ahLst/>
            <a:cxnLst/>
            <a:rect l="l" t="t" r="r" b="b"/>
            <a:pathLst>
              <a:path w="3781425" h="399414">
                <a:moveTo>
                  <a:pt x="0" y="399287"/>
                </a:moveTo>
                <a:lnTo>
                  <a:pt x="3781044" y="399287"/>
                </a:lnTo>
                <a:lnTo>
                  <a:pt x="3781044" y="0"/>
                </a:lnTo>
                <a:lnTo>
                  <a:pt x="0" y="0"/>
                </a:lnTo>
                <a:lnTo>
                  <a:pt x="0" y="399287"/>
                </a:lnTo>
                <a:close/>
              </a:path>
            </a:pathLst>
          </a:custGeom>
          <a:ln w="38100">
            <a:solidFill>
              <a:srgbClr val="FF0000"/>
            </a:solidFill>
          </a:ln>
        </p:spPr>
        <p:txBody>
          <a:bodyPr wrap="square" lIns="0" tIns="0" rIns="0" bIns="0" rtlCol="0"/>
          <a:lstStyle/>
          <a:p>
            <a:endParaRPr/>
          </a:p>
        </p:txBody>
      </p:sp>
      <p:sp>
        <p:nvSpPr>
          <p:cNvPr id="18" name="object 18"/>
          <p:cNvSpPr/>
          <p:nvPr/>
        </p:nvSpPr>
        <p:spPr>
          <a:xfrm>
            <a:off x="1189482" y="4722114"/>
            <a:ext cx="3781425" cy="399415"/>
          </a:xfrm>
          <a:custGeom>
            <a:avLst/>
            <a:gdLst/>
            <a:ahLst/>
            <a:cxnLst/>
            <a:rect l="l" t="t" r="r" b="b"/>
            <a:pathLst>
              <a:path w="3781425" h="399414">
                <a:moveTo>
                  <a:pt x="0" y="399288"/>
                </a:moveTo>
                <a:lnTo>
                  <a:pt x="3781044" y="399288"/>
                </a:lnTo>
                <a:lnTo>
                  <a:pt x="3781044" y="0"/>
                </a:lnTo>
                <a:lnTo>
                  <a:pt x="0" y="0"/>
                </a:lnTo>
                <a:lnTo>
                  <a:pt x="0" y="399288"/>
                </a:lnTo>
                <a:close/>
              </a:path>
            </a:pathLst>
          </a:custGeom>
          <a:ln w="38100">
            <a:solidFill>
              <a:srgbClr val="FF0000"/>
            </a:solidFill>
          </a:ln>
        </p:spPr>
        <p:txBody>
          <a:bodyPr wrap="square" lIns="0" tIns="0" rIns="0" bIns="0" rtlCol="0"/>
          <a:lstStyle/>
          <a:p>
            <a:endParaRPr/>
          </a:p>
        </p:txBody>
      </p:sp>
      <p:sp>
        <p:nvSpPr>
          <p:cNvPr id="19" name="object 19"/>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20" name="object 20"/>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Tree>
    <p:extLst>
      <p:ext uri="{BB962C8B-B14F-4D97-AF65-F5344CB8AC3E}">
        <p14:creationId xmlns:p14="http://schemas.microsoft.com/office/powerpoint/2010/main" val="4262061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0" y="741025"/>
            <a:ext cx="10515600" cy="1325563"/>
          </a:xfrm>
          <a:prstGeom prst="rect">
            <a:avLst/>
          </a:prstGeom>
        </p:spPr>
        <p:txBody>
          <a:bodyPr vert="horz" wrap="square" lIns="0" tIns="0" rIns="0" bIns="0" rtlCol="0">
            <a:spAutoFit/>
          </a:bodyPr>
          <a:lstStyle/>
          <a:p>
            <a:pPr marL="363220">
              <a:lnSpc>
                <a:spcPct val="100000"/>
              </a:lnSpc>
            </a:pPr>
            <a:r>
              <a:rPr sz="2400" dirty="0">
                <a:solidFill>
                  <a:srgbClr val="FFFFFF"/>
                </a:solidFill>
              </a:rPr>
              <a:t>捕获边沿</a:t>
            </a:r>
            <a:endParaRPr sz="2400" dirty="0"/>
          </a:p>
        </p:txBody>
      </p:sp>
      <p:sp>
        <p:nvSpPr>
          <p:cNvPr id="12" name="object 12"/>
          <p:cNvSpPr txBox="1"/>
          <p:nvPr/>
        </p:nvSpPr>
        <p:spPr>
          <a:xfrm>
            <a:off x="3619880" y="1180267"/>
            <a:ext cx="495363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成员变</a:t>
            </a:r>
            <a:r>
              <a:rPr sz="2800" b="1" spc="-10" dirty="0">
                <a:latin typeface="微软雅黑"/>
                <a:cs typeface="微软雅黑"/>
              </a:rPr>
              <a:t>量IC</a:t>
            </a:r>
            <a:r>
              <a:rPr sz="2800" b="1" spc="-105" dirty="0">
                <a:latin typeface="微软雅黑"/>
                <a:cs typeface="微软雅黑"/>
              </a:rPr>
              <a:t>P</a:t>
            </a:r>
            <a:r>
              <a:rPr sz="2800" b="1" spc="-10" dirty="0">
                <a:latin typeface="微软雅黑"/>
                <a:cs typeface="微软雅黑"/>
              </a:rPr>
              <a:t>ola</a:t>
            </a:r>
            <a:r>
              <a:rPr sz="2800" b="1" spc="5" dirty="0">
                <a:latin typeface="微软雅黑"/>
                <a:cs typeface="微软雅黑"/>
              </a:rPr>
              <a:t>r</a:t>
            </a:r>
            <a:r>
              <a:rPr sz="2800" b="1" spc="-5" dirty="0">
                <a:latin typeface="微软雅黑"/>
                <a:cs typeface="微软雅黑"/>
              </a:rPr>
              <a:t>ity的取值范围</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1" name="object 11"/>
          <p:cNvGraphicFramePr>
            <a:graphicFrameLocks noGrp="1"/>
          </p:cNvGraphicFramePr>
          <p:nvPr/>
        </p:nvGraphicFramePr>
        <p:xfrm>
          <a:off x="878166" y="2436304"/>
          <a:ext cx="10309580" cy="3534128"/>
        </p:xfrm>
        <a:graphic>
          <a:graphicData uri="http://schemas.openxmlformats.org/drawingml/2006/table">
            <a:tbl>
              <a:tblPr firstRow="1" bandRow="1">
                <a:tableStyleId>{2D5ABB26-0587-4C30-8999-92F81FD0307C}</a:tableStyleId>
              </a:tblPr>
              <a:tblGrid>
                <a:gridCol w="5267807">
                  <a:extLst>
                    <a:ext uri="{9D8B030D-6E8A-4147-A177-3AD203B41FA5}">
                      <a16:colId xmlns:a16="http://schemas.microsoft.com/office/drawing/2014/main" val="20000"/>
                    </a:ext>
                  </a:extLst>
                </a:gridCol>
                <a:gridCol w="5041773">
                  <a:extLst>
                    <a:ext uri="{9D8B030D-6E8A-4147-A177-3AD203B41FA5}">
                      <a16:colId xmlns:a16="http://schemas.microsoft.com/office/drawing/2014/main" val="20001"/>
                    </a:ext>
                  </a:extLst>
                </a:gridCol>
              </a:tblGrid>
              <a:tr h="883538">
                <a:tc>
                  <a:txBody>
                    <a:bodyPr/>
                    <a:lstStyle/>
                    <a:p>
                      <a:pPr marL="1270" algn="ctr">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2540"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883539">
                <a:tc>
                  <a:txBody>
                    <a:bodyPr/>
                    <a:lstStyle/>
                    <a:p>
                      <a:pPr marL="69786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ICPO</a:t>
                      </a:r>
                      <a:r>
                        <a:rPr sz="2400" b="1" spc="55"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10" dirty="0">
                          <a:latin typeface="微软雅黑"/>
                          <a:cs typeface="微软雅黑"/>
                        </a:rPr>
                        <a:t>R</a:t>
                      </a:r>
                      <a:r>
                        <a:rPr sz="2400" b="1" spc="-5" dirty="0">
                          <a:latin typeface="微软雅黑"/>
                          <a:cs typeface="微软雅黑"/>
                        </a:rPr>
                        <a:t>ISING</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175" algn="ctr">
                        <a:lnSpc>
                          <a:spcPct val="100000"/>
                        </a:lnSpc>
                      </a:pPr>
                      <a:r>
                        <a:rPr sz="2400" b="1" dirty="0">
                          <a:latin typeface="微软雅黑"/>
                          <a:cs typeface="微软雅黑"/>
                        </a:rPr>
                        <a:t>上升沿捕获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83538">
                <a:tc>
                  <a:txBody>
                    <a:bodyPr/>
                    <a:lstStyle/>
                    <a:p>
                      <a:pPr marL="591185">
                        <a:lnSpc>
                          <a:spcPct val="100000"/>
                        </a:lnSpc>
                      </a:pPr>
                      <a:r>
                        <a:rPr sz="2400" b="1" spc="-5" dirty="0">
                          <a:latin typeface="微软雅黑"/>
                          <a:cs typeface="微软雅黑"/>
                        </a:rPr>
                        <a:t>TIM_ICPO</a:t>
                      </a:r>
                      <a:r>
                        <a:rPr sz="2400" b="1" spc="55" dirty="0">
                          <a:latin typeface="微软雅黑"/>
                          <a:cs typeface="微软雅黑"/>
                        </a:rPr>
                        <a:t>L</a:t>
                      </a:r>
                      <a:r>
                        <a:rPr sz="2400" b="1" dirty="0">
                          <a:latin typeface="微软雅黑"/>
                          <a:cs typeface="微软雅黑"/>
                        </a:rPr>
                        <a:t>ARI</a:t>
                      </a:r>
                      <a:r>
                        <a:rPr sz="2400" b="1" spc="35" dirty="0">
                          <a:latin typeface="微软雅黑"/>
                          <a:cs typeface="微软雅黑"/>
                        </a:rPr>
                        <a:t>T</a:t>
                      </a:r>
                      <a:r>
                        <a:rPr sz="2400" b="1" spc="-5" dirty="0">
                          <a:latin typeface="微软雅黑"/>
                          <a:cs typeface="微软雅黑"/>
                        </a:rPr>
                        <a:t>Y_</a:t>
                      </a:r>
                      <a:r>
                        <a:rPr sz="2400" b="1" spc="-145" dirty="0">
                          <a:latin typeface="微软雅黑"/>
                          <a:cs typeface="微软雅黑"/>
                        </a:rPr>
                        <a:t>F</a:t>
                      </a:r>
                      <a:r>
                        <a:rPr sz="2400" b="1" dirty="0">
                          <a:latin typeface="微软雅黑"/>
                          <a:cs typeface="微软雅黑"/>
                        </a:rPr>
                        <a:t>A</a:t>
                      </a:r>
                      <a:r>
                        <a:rPr sz="2400" b="1" spc="-15" dirty="0">
                          <a:latin typeface="微软雅黑"/>
                          <a:cs typeface="微软雅黑"/>
                        </a:rPr>
                        <a:t>L</a:t>
                      </a:r>
                      <a:r>
                        <a:rPr sz="2400" b="1" dirty="0">
                          <a:latin typeface="微软雅黑"/>
                          <a:cs typeface="微软雅黑"/>
                        </a:rPr>
                        <a:t>LING</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pPr>
                      <a:r>
                        <a:rPr sz="2400" b="1" spc="-5" dirty="0">
                          <a:latin typeface="微软雅黑"/>
                          <a:cs typeface="微软雅黑"/>
                        </a:rPr>
                        <a:t>下降沿</a:t>
                      </a:r>
                      <a:r>
                        <a:rPr sz="2400" b="1" dirty="0">
                          <a:latin typeface="微软雅黑"/>
                          <a:cs typeface="微软雅黑"/>
                        </a:rPr>
                        <a:t>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883513">
                <a:tc>
                  <a:txBody>
                    <a:bodyPr/>
                    <a:lstStyle/>
                    <a:p>
                      <a:pPr marL="39179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ICPO</a:t>
                      </a:r>
                      <a:r>
                        <a:rPr sz="2400" b="1" spc="55"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10" dirty="0">
                          <a:latin typeface="微软雅黑"/>
                          <a:cs typeface="微软雅黑"/>
                        </a:rPr>
                        <a:t>B</a:t>
                      </a:r>
                      <a:r>
                        <a:rPr sz="2400" b="1" spc="-105" dirty="0">
                          <a:latin typeface="微软雅黑"/>
                          <a:cs typeface="微软雅黑"/>
                        </a:rPr>
                        <a:t>O</a:t>
                      </a:r>
                      <a:r>
                        <a:rPr sz="2400" b="1" spc="-5" dirty="0">
                          <a:latin typeface="微软雅黑"/>
                          <a:cs typeface="微软雅黑"/>
                        </a:rPr>
                        <a:t>TH</a:t>
                      </a:r>
                      <a:r>
                        <a:rPr sz="2400" b="1" spc="-10" dirty="0">
                          <a:latin typeface="微软雅黑"/>
                          <a:cs typeface="微软雅黑"/>
                        </a:rPr>
                        <a:t>E</a:t>
                      </a:r>
                      <a:r>
                        <a:rPr sz="2400" b="1" dirty="0">
                          <a:latin typeface="微软雅黑"/>
                          <a:cs typeface="微软雅黑"/>
                        </a:rPr>
                        <a:t>DGE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175" algn="ctr">
                        <a:lnSpc>
                          <a:spcPct val="100000"/>
                        </a:lnSpc>
                      </a:pPr>
                      <a:r>
                        <a:rPr sz="2400" b="1" dirty="0">
                          <a:latin typeface="微软雅黑"/>
                          <a:cs typeface="微软雅黑"/>
                        </a:rPr>
                        <a:t>双边沿捕获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499528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82732" y="651247"/>
            <a:ext cx="10515600" cy="1325563"/>
          </a:xfrm>
          <a:prstGeom prst="rect">
            <a:avLst/>
          </a:prstGeom>
        </p:spPr>
        <p:txBody>
          <a:bodyPr vert="horz" wrap="square" lIns="0" tIns="0" rIns="0" bIns="0" rtlCol="0">
            <a:spAutoFit/>
          </a:bodyPr>
          <a:lstStyle/>
          <a:p>
            <a:pPr marL="363220">
              <a:lnSpc>
                <a:spcPct val="100000"/>
              </a:lnSpc>
            </a:pPr>
            <a:r>
              <a:rPr sz="2400" dirty="0">
                <a:solidFill>
                  <a:srgbClr val="FFFFFF"/>
                </a:solidFill>
              </a:rPr>
              <a:t>捕获通道</a:t>
            </a:r>
            <a:endParaRPr sz="2400" dirty="0"/>
          </a:p>
        </p:txBody>
      </p:sp>
      <p:sp>
        <p:nvSpPr>
          <p:cNvPr id="12" name="object 12"/>
          <p:cNvSpPr txBox="1"/>
          <p:nvPr/>
        </p:nvSpPr>
        <p:spPr>
          <a:xfrm>
            <a:off x="3491229" y="1180267"/>
            <a:ext cx="5210810"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成员变量</a:t>
            </a:r>
            <a:r>
              <a:rPr sz="2800" b="1" spc="-10" dirty="0">
                <a:latin typeface="微软雅黑"/>
                <a:cs typeface="微软雅黑"/>
              </a:rPr>
              <a:t>ICSelectio</a:t>
            </a:r>
            <a:r>
              <a:rPr sz="2800" b="1" spc="0" dirty="0">
                <a:latin typeface="微软雅黑"/>
                <a:cs typeface="微软雅黑"/>
              </a:rPr>
              <a:t>n</a:t>
            </a:r>
            <a:r>
              <a:rPr sz="2800" b="1" spc="-5" dirty="0">
                <a:latin typeface="微软雅黑"/>
                <a:cs typeface="微软雅黑"/>
              </a:rPr>
              <a:t>的取值范围</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1" name="object 11"/>
          <p:cNvGraphicFramePr>
            <a:graphicFrameLocks noGrp="1"/>
          </p:cNvGraphicFramePr>
          <p:nvPr/>
        </p:nvGraphicFramePr>
        <p:xfrm>
          <a:off x="519391" y="1962340"/>
          <a:ext cx="10947628" cy="4286098"/>
        </p:xfrm>
        <a:graphic>
          <a:graphicData uri="http://schemas.openxmlformats.org/drawingml/2006/table">
            <a:tbl>
              <a:tblPr firstRow="1" bandRow="1">
                <a:tableStyleId>{2D5ABB26-0587-4C30-8999-92F81FD0307C}</a:tableStyleId>
              </a:tblPr>
              <a:tblGrid>
                <a:gridCol w="4966055">
                  <a:extLst>
                    <a:ext uri="{9D8B030D-6E8A-4147-A177-3AD203B41FA5}">
                      <a16:colId xmlns:a16="http://schemas.microsoft.com/office/drawing/2014/main" val="20000"/>
                    </a:ext>
                  </a:extLst>
                </a:gridCol>
                <a:gridCol w="5981573">
                  <a:extLst>
                    <a:ext uri="{9D8B030D-6E8A-4147-A177-3AD203B41FA5}">
                      <a16:colId xmlns:a16="http://schemas.microsoft.com/office/drawing/2014/main" val="20001"/>
                    </a:ext>
                  </a:extLst>
                </a:gridCol>
              </a:tblGrid>
              <a:tr h="624205">
                <a:tc>
                  <a:txBody>
                    <a:bodyPr/>
                    <a:lstStyle/>
                    <a:p>
                      <a:pPr marL="635" algn="ctr">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marL="1905"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1294891">
                <a:tc>
                  <a:txBody>
                    <a:bodyPr/>
                    <a:lstStyle/>
                    <a:p>
                      <a:pPr marL="30924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ICSE</a:t>
                      </a:r>
                      <a:r>
                        <a:rPr sz="2400" b="1" spc="-10" dirty="0">
                          <a:latin typeface="微软雅黑"/>
                          <a:cs typeface="微软雅黑"/>
                        </a:rPr>
                        <a:t>L</a:t>
                      </a:r>
                      <a:r>
                        <a:rPr sz="2400" b="1" dirty="0">
                          <a:latin typeface="微软雅黑"/>
                          <a:cs typeface="微软雅黑"/>
                        </a:rPr>
                        <a:t>ECTION</a:t>
                      </a:r>
                      <a:r>
                        <a:rPr sz="2400" b="1" spc="-5" dirty="0">
                          <a:latin typeface="微软雅黑"/>
                          <a:cs typeface="微软雅黑"/>
                        </a:rPr>
                        <a:t>_DIREC</a:t>
                      </a:r>
                      <a:r>
                        <a:rPr sz="2400" b="1" spc="50" dirty="0">
                          <a:latin typeface="微软雅黑"/>
                          <a:cs typeface="微软雅黑"/>
                        </a:rPr>
                        <a:t>T</a:t>
                      </a:r>
                      <a:r>
                        <a:rPr sz="2400" b="1" spc="-5" dirty="0">
                          <a:latin typeface="微软雅黑"/>
                          <a:cs typeface="微软雅黑"/>
                        </a:rPr>
                        <a:t>TI</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144780" marR="169545">
                        <a:lnSpc>
                          <a:spcPct val="121500"/>
                        </a:lnSpc>
                      </a:pPr>
                      <a:r>
                        <a:rPr sz="2400" b="1" spc="-5" dirty="0">
                          <a:latin typeface="微软雅黑"/>
                          <a:cs typeface="微软雅黑"/>
                        </a:rPr>
                        <a:t>直接输入模式： </a:t>
                      </a:r>
                      <a:r>
                        <a:rPr sz="2400" b="1" dirty="0">
                          <a:latin typeface="微软雅黑"/>
                          <a:cs typeface="微软雅黑"/>
                        </a:rPr>
                        <a:t>捕获通道</a:t>
                      </a:r>
                      <a:r>
                        <a:rPr sz="2400" b="1" spc="-5" dirty="0">
                          <a:latin typeface="微软雅黑"/>
                          <a:cs typeface="微软雅黑"/>
                        </a:rPr>
                        <a:t>CH1</a:t>
                      </a:r>
                      <a:r>
                        <a:rPr sz="2400" b="1" dirty="0">
                          <a:latin typeface="微软雅黑"/>
                          <a:cs typeface="微软雅黑"/>
                        </a:rPr>
                        <a:t>和</a:t>
                      </a:r>
                      <a:r>
                        <a:rPr sz="2400" b="1" spc="-5" dirty="0">
                          <a:latin typeface="微软雅黑"/>
                          <a:cs typeface="微软雅黑"/>
                        </a:rPr>
                        <a:t>CH</a:t>
                      </a:r>
                      <a:r>
                        <a:rPr sz="2400" b="1" dirty="0">
                          <a:latin typeface="微软雅黑"/>
                          <a:cs typeface="微软雅黑"/>
                        </a:rPr>
                        <a:t>2分别与</a:t>
                      </a:r>
                      <a:r>
                        <a:rPr sz="2400" b="1" spc="-5" dirty="0">
                          <a:latin typeface="微软雅黑"/>
                          <a:cs typeface="微软雅黑"/>
                        </a:rPr>
                        <a:t>IC</a:t>
                      </a:r>
                      <a:r>
                        <a:rPr sz="2400" b="1" dirty="0">
                          <a:latin typeface="微软雅黑"/>
                          <a:cs typeface="微软雅黑"/>
                        </a:rPr>
                        <a:t>1和</a:t>
                      </a:r>
                      <a:r>
                        <a:rPr sz="2400" b="1" spc="-5" dirty="0">
                          <a:latin typeface="微软雅黑"/>
                          <a:cs typeface="微软雅黑"/>
                        </a:rPr>
                        <a:t>IC</a:t>
                      </a:r>
                      <a:r>
                        <a:rPr sz="2400" b="1" dirty="0">
                          <a:latin typeface="微软雅黑"/>
                          <a:cs typeface="微软雅黑"/>
                        </a:rPr>
                        <a:t>2连接 捕获通道</a:t>
                      </a:r>
                      <a:r>
                        <a:rPr sz="2400" b="1" spc="-5" dirty="0">
                          <a:latin typeface="微软雅黑"/>
                          <a:cs typeface="微软雅黑"/>
                        </a:rPr>
                        <a:t>CH3</a:t>
                      </a:r>
                      <a:r>
                        <a:rPr sz="2400" b="1" dirty="0">
                          <a:latin typeface="微软雅黑"/>
                          <a:cs typeface="微软雅黑"/>
                        </a:rPr>
                        <a:t>和</a:t>
                      </a:r>
                      <a:r>
                        <a:rPr sz="2400" b="1" spc="-5" dirty="0">
                          <a:latin typeface="微软雅黑"/>
                          <a:cs typeface="微软雅黑"/>
                        </a:rPr>
                        <a:t>CH</a:t>
                      </a:r>
                      <a:r>
                        <a:rPr sz="2400" b="1" dirty="0">
                          <a:latin typeface="微软雅黑"/>
                          <a:cs typeface="微软雅黑"/>
                        </a:rPr>
                        <a:t>4分别与</a:t>
                      </a:r>
                      <a:r>
                        <a:rPr sz="2400" b="1" spc="-5" dirty="0">
                          <a:latin typeface="微软雅黑"/>
                          <a:cs typeface="微软雅黑"/>
                        </a:rPr>
                        <a:t>IC</a:t>
                      </a:r>
                      <a:r>
                        <a:rPr sz="2400" b="1" dirty="0">
                          <a:latin typeface="微软雅黑"/>
                          <a:cs typeface="微软雅黑"/>
                        </a:rPr>
                        <a:t>3和</a:t>
                      </a:r>
                      <a:r>
                        <a:rPr sz="2400" b="1" spc="-5" dirty="0">
                          <a:latin typeface="微软雅黑"/>
                          <a:cs typeface="微软雅黑"/>
                        </a:rPr>
                        <a:t>IC</a:t>
                      </a:r>
                      <a:r>
                        <a:rPr sz="2400" b="1" dirty="0">
                          <a:latin typeface="微软雅黑"/>
                          <a:cs typeface="微软雅黑"/>
                        </a:rPr>
                        <a:t>4连接</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1294892">
                <a:tc>
                  <a:txBody>
                    <a:bodyPr/>
                    <a:lstStyle/>
                    <a:p>
                      <a:pPr marL="266700">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ICSE</a:t>
                      </a:r>
                      <a:r>
                        <a:rPr sz="2400" b="1" spc="-10" dirty="0">
                          <a:latin typeface="微软雅黑"/>
                          <a:cs typeface="微软雅黑"/>
                        </a:rPr>
                        <a:t>L</a:t>
                      </a:r>
                      <a:r>
                        <a:rPr sz="2400" b="1" dirty="0">
                          <a:latin typeface="微软雅黑"/>
                          <a:cs typeface="微软雅黑"/>
                        </a:rPr>
                        <a:t>ECTION</a:t>
                      </a:r>
                      <a:r>
                        <a:rPr sz="2400" b="1" spc="-5" dirty="0">
                          <a:latin typeface="微软雅黑"/>
                          <a:cs typeface="微软雅黑"/>
                        </a:rPr>
                        <a:t>_DIREC</a:t>
                      </a:r>
                      <a:r>
                        <a:rPr sz="2400" b="1" spc="50" dirty="0">
                          <a:latin typeface="微软雅黑"/>
                          <a:cs typeface="微软雅黑"/>
                        </a:rPr>
                        <a:t>T</a:t>
                      </a:r>
                      <a:r>
                        <a:rPr sz="2400" b="1" spc="-5" dirty="0">
                          <a:latin typeface="微软雅黑"/>
                          <a:cs typeface="微软雅黑"/>
                        </a:rPr>
                        <a:t>T2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44780" marR="169545">
                        <a:lnSpc>
                          <a:spcPct val="121500"/>
                        </a:lnSpc>
                      </a:pPr>
                      <a:r>
                        <a:rPr sz="2400" b="1" dirty="0">
                          <a:latin typeface="微软雅黑"/>
                          <a:cs typeface="微软雅黑"/>
                        </a:rPr>
                        <a:t>间接输入模式： 捕获通道</a:t>
                      </a:r>
                      <a:r>
                        <a:rPr sz="2400" b="1" spc="-5" dirty="0">
                          <a:latin typeface="微软雅黑"/>
                          <a:cs typeface="微软雅黑"/>
                        </a:rPr>
                        <a:t>CH1</a:t>
                      </a:r>
                      <a:r>
                        <a:rPr sz="2400" b="1" dirty="0">
                          <a:latin typeface="微软雅黑"/>
                          <a:cs typeface="微软雅黑"/>
                        </a:rPr>
                        <a:t>和</a:t>
                      </a:r>
                      <a:r>
                        <a:rPr sz="2400" b="1" spc="-5" dirty="0">
                          <a:latin typeface="微软雅黑"/>
                          <a:cs typeface="微软雅黑"/>
                        </a:rPr>
                        <a:t>CH</a:t>
                      </a:r>
                      <a:r>
                        <a:rPr sz="2400" b="1" dirty="0">
                          <a:latin typeface="微软雅黑"/>
                          <a:cs typeface="微软雅黑"/>
                        </a:rPr>
                        <a:t>2分别与</a:t>
                      </a:r>
                      <a:r>
                        <a:rPr sz="2400" b="1" spc="-5" dirty="0">
                          <a:latin typeface="微软雅黑"/>
                          <a:cs typeface="微软雅黑"/>
                        </a:rPr>
                        <a:t>IC</a:t>
                      </a:r>
                      <a:r>
                        <a:rPr sz="2400" b="1" dirty="0">
                          <a:latin typeface="微软雅黑"/>
                          <a:cs typeface="微软雅黑"/>
                        </a:rPr>
                        <a:t>2和</a:t>
                      </a:r>
                      <a:r>
                        <a:rPr sz="2400" b="1" spc="-5" dirty="0">
                          <a:latin typeface="微软雅黑"/>
                          <a:cs typeface="微软雅黑"/>
                        </a:rPr>
                        <a:t>IC</a:t>
                      </a:r>
                      <a:r>
                        <a:rPr sz="2400" b="1" dirty="0">
                          <a:latin typeface="微软雅黑"/>
                          <a:cs typeface="微软雅黑"/>
                        </a:rPr>
                        <a:t>1连接 捕获通道</a:t>
                      </a:r>
                      <a:r>
                        <a:rPr sz="2400" b="1" spc="-5" dirty="0">
                          <a:latin typeface="微软雅黑"/>
                          <a:cs typeface="微软雅黑"/>
                        </a:rPr>
                        <a:t>CH3</a:t>
                      </a:r>
                      <a:r>
                        <a:rPr sz="2400" b="1" dirty="0">
                          <a:latin typeface="微软雅黑"/>
                          <a:cs typeface="微软雅黑"/>
                        </a:rPr>
                        <a:t>和</a:t>
                      </a:r>
                      <a:r>
                        <a:rPr sz="2400" b="1" spc="-5" dirty="0">
                          <a:latin typeface="微软雅黑"/>
                          <a:cs typeface="微软雅黑"/>
                        </a:rPr>
                        <a:t>CH</a:t>
                      </a:r>
                      <a:r>
                        <a:rPr sz="2400" b="1" dirty="0">
                          <a:latin typeface="微软雅黑"/>
                          <a:cs typeface="微软雅黑"/>
                        </a:rPr>
                        <a:t>4分别与</a:t>
                      </a:r>
                      <a:r>
                        <a:rPr sz="2400" b="1" spc="-5" dirty="0">
                          <a:latin typeface="微软雅黑"/>
                          <a:cs typeface="微软雅黑"/>
                        </a:rPr>
                        <a:t>IC</a:t>
                      </a:r>
                      <a:r>
                        <a:rPr sz="2400" b="1" dirty="0">
                          <a:latin typeface="微软雅黑"/>
                          <a:cs typeface="微软雅黑"/>
                        </a:rPr>
                        <a:t>4和</a:t>
                      </a:r>
                      <a:r>
                        <a:rPr sz="2400" b="1" spc="-5" dirty="0">
                          <a:latin typeface="微软雅黑"/>
                          <a:cs typeface="微软雅黑"/>
                        </a:rPr>
                        <a:t>IC</a:t>
                      </a:r>
                      <a:r>
                        <a:rPr sz="2400" b="1" dirty="0">
                          <a:latin typeface="微软雅黑"/>
                          <a:cs typeface="微软雅黑"/>
                        </a:rPr>
                        <a:t>3连接</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984605">
                <a:tc>
                  <a:txBody>
                    <a:bodyPr/>
                    <a:lstStyle/>
                    <a:p>
                      <a:pPr marL="71945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ICSE</a:t>
                      </a:r>
                      <a:r>
                        <a:rPr sz="2400" b="1" spc="-10" dirty="0">
                          <a:latin typeface="微软雅黑"/>
                          <a:cs typeface="微软雅黑"/>
                        </a:rPr>
                        <a:t>L</a:t>
                      </a:r>
                      <a:r>
                        <a:rPr sz="2400" b="1" dirty="0">
                          <a:latin typeface="微软雅黑"/>
                          <a:cs typeface="微软雅黑"/>
                        </a:rPr>
                        <a:t>ECTION</a:t>
                      </a:r>
                      <a:r>
                        <a:rPr sz="2400" b="1" spc="-5" dirty="0">
                          <a:latin typeface="微软雅黑"/>
                          <a:cs typeface="微软雅黑"/>
                        </a:rPr>
                        <a:t>_T</a:t>
                      </a:r>
                      <a:r>
                        <a:rPr sz="2400" b="1" spc="-20" dirty="0">
                          <a:latin typeface="微软雅黑"/>
                          <a:cs typeface="微软雅黑"/>
                        </a:rPr>
                        <a:t>R</a:t>
                      </a:r>
                      <a:r>
                        <a:rPr sz="2400" b="1" dirty="0">
                          <a:latin typeface="微软雅黑"/>
                          <a:cs typeface="微软雅黑"/>
                        </a:rPr>
                        <a:t>C</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144780">
                        <a:lnSpc>
                          <a:spcPct val="100000"/>
                        </a:lnSpc>
                      </a:pPr>
                      <a:r>
                        <a:rPr sz="2400" b="1" dirty="0">
                          <a:latin typeface="微软雅黑"/>
                          <a:cs typeface="微软雅黑"/>
                        </a:rPr>
                        <a:t>选择从模式管理器的触发信</a:t>
                      </a:r>
                      <a:r>
                        <a:rPr sz="2400" b="1" spc="5" dirty="0">
                          <a:latin typeface="微软雅黑"/>
                          <a:cs typeface="微软雅黑"/>
                        </a:rPr>
                        <a:t>号</a:t>
                      </a:r>
                      <a:r>
                        <a:rPr sz="2400" b="1" spc="-5" dirty="0">
                          <a:latin typeface="微软雅黑"/>
                          <a:cs typeface="微软雅黑"/>
                        </a:rPr>
                        <a:t>T</a:t>
                      </a:r>
                      <a:r>
                        <a:rPr sz="2400" b="1" spc="-20" dirty="0">
                          <a:latin typeface="微软雅黑"/>
                          <a:cs typeface="微软雅黑"/>
                        </a:rPr>
                        <a:t>R</a:t>
                      </a:r>
                      <a:r>
                        <a:rPr sz="2400" b="1" dirty="0">
                          <a:latin typeface="微软雅黑"/>
                          <a:cs typeface="微软雅黑"/>
                        </a:rPr>
                        <a:t>C</a:t>
                      </a:r>
                      <a:r>
                        <a:rPr sz="2400" b="1" spc="-20" dirty="0">
                          <a:latin typeface="微软雅黑"/>
                          <a:cs typeface="微软雅黑"/>
                        </a:rPr>
                        <a:t> </a:t>
                      </a:r>
                      <a:r>
                        <a:rPr sz="2400" b="1" dirty="0">
                          <a:latin typeface="微软雅黑"/>
                          <a:cs typeface="微软雅黑"/>
                        </a:rPr>
                        <a:t>作为捕</a:t>
                      </a:r>
                      <a:endParaRPr sz="2400">
                        <a:latin typeface="微软雅黑"/>
                        <a:cs typeface="微软雅黑"/>
                      </a:endParaRPr>
                    </a:p>
                    <a:p>
                      <a:pPr marL="144780">
                        <a:lnSpc>
                          <a:spcPct val="100000"/>
                        </a:lnSpc>
                      </a:pPr>
                      <a:r>
                        <a:rPr sz="2400" b="1" spc="-5" dirty="0">
                          <a:latin typeface="微软雅黑"/>
                          <a:cs typeface="微软雅黑"/>
                        </a:rPr>
                        <a:t>获信号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878199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24611"/>
            <a:ext cx="1310640" cy="304800"/>
          </a:xfrm>
          <a:custGeom>
            <a:avLst/>
            <a:gdLst/>
            <a:ahLst/>
            <a:cxnLst/>
            <a:rect l="l" t="t" r="r" b="b"/>
            <a:pathLst>
              <a:path w="1310640" h="304800">
                <a:moveTo>
                  <a:pt x="0" y="304800"/>
                </a:moveTo>
                <a:lnTo>
                  <a:pt x="1310640" y="304800"/>
                </a:lnTo>
                <a:lnTo>
                  <a:pt x="1310640" y="0"/>
                </a:lnTo>
                <a:lnTo>
                  <a:pt x="0" y="0"/>
                </a:lnTo>
                <a:lnTo>
                  <a:pt x="0" y="304800"/>
                </a:lnTo>
                <a:close/>
              </a:path>
            </a:pathLst>
          </a:custGeom>
          <a:solidFill>
            <a:srgbClr val="EC7C30"/>
          </a:solidFill>
        </p:spPr>
        <p:txBody>
          <a:bodyPr wrap="square" lIns="0" tIns="0" rIns="0" bIns="0" rtlCol="0"/>
          <a:lstStyle/>
          <a:p>
            <a:endParaRPr/>
          </a:p>
        </p:txBody>
      </p:sp>
      <p:sp>
        <p:nvSpPr>
          <p:cNvPr id="3" name="object 3"/>
          <p:cNvSpPr/>
          <p:nvPr/>
        </p:nvSpPr>
        <p:spPr>
          <a:xfrm>
            <a:off x="4128515" y="324611"/>
            <a:ext cx="8063865" cy="304800"/>
          </a:xfrm>
          <a:custGeom>
            <a:avLst/>
            <a:gdLst/>
            <a:ahLst/>
            <a:cxnLst/>
            <a:rect l="l" t="t" r="r" b="b"/>
            <a:pathLst>
              <a:path w="8063865" h="304800">
                <a:moveTo>
                  <a:pt x="0" y="304800"/>
                </a:moveTo>
                <a:lnTo>
                  <a:pt x="8063484" y="304800"/>
                </a:lnTo>
                <a:lnTo>
                  <a:pt x="8063484" y="0"/>
                </a:lnTo>
                <a:lnTo>
                  <a:pt x="0" y="0"/>
                </a:lnTo>
                <a:lnTo>
                  <a:pt x="0" y="304800"/>
                </a:lnTo>
                <a:close/>
              </a:path>
            </a:pathLst>
          </a:custGeom>
          <a:solidFill>
            <a:srgbClr val="D0CECE"/>
          </a:solidFill>
        </p:spPr>
        <p:txBody>
          <a:bodyPr wrap="square" lIns="0" tIns="0" rIns="0" bIns="0" rtlCol="0"/>
          <a:lstStyle/>
          <a:p>
            <a:endParaRPr/>
          </a:p>
        </p:txBody>
      </p:sp>
      <p:sp>
        <p:nvSpPr>
          <p:cNvPr id="4" name="object 4"/>
          <p:cNvSpPr/>
          <p:nvPr/>
        </p:nvSpPr>
        <p:spPr>
          <a:xfrm>
            <a:off x="1523" y="6470903"/>
            <a:ext cx="12190730" cy="45720"/>
          </a:xfrm>
          <a:custGeom>
            <a:avLst/>
            <a:gdLst/>
            <a:ahLst/>
            <a:cxnLst/>
            <a:rect l="l" t="t" r="r" b="b"/>
            <a:pathLst>
              <a:path w="12190730" h="45720">
                <a:moveTo>
                  <a:pt x="0" y="45719"/>
                </a:moveTo>
                <a:lnTo>
                  <a:pt x="12190476" y="45719"/>
                </a:lnTo>
                <a:lnTo>
                  <a:pt x="12190476" y="0"/>
                </a:lnTo>
                <a:lnTo>
                  <a:pt x="0" y="0"/>
                </a:lnTo>
                <a:lnTo>
                  <a:pt x="0" y="45719"/>
                </a:lnTo>
              </a:path>
            </a:pathLst>
          </a:custGeom>
          <a:solidFill>
            <a:srgbClr val="FFE699"/>
          </a:solidFill>
        </p:spPr>
        <p:txBody>
          <a:bodyPr wrap="square" lIns="0" tIns="0" rIns="0" bIns="0" rtlCol="0"/>
          <a:lstStyle/>
          <a:p>
            <a:endParaRPr/>
          </a:p>
        </p:txBody>
      </p:sp>
      <p:sp>
        <p:nvSpPr>
          <p:cNvPr id="5" name="object 5"/>
          <p:cNvSpPr/>
          <p:nvPr/>
        </p:nvSpPr>
        <p:spPr>
          <a:xfrm>
            <a:off x="1523" y="6516623"/>
            <a:ext cx="12190730" cy="341630"/>
          </a:xfrm>
          <a:custGeom>
            <a:avLst/>
            <a:gdLst/>
            <a:ahLst/>
            <a:cxnLst/>
            <a:rect l="l" t="t" r="r" b="b"/>
            <a:pathLst>
              <a:path w="12190730" h="341629">
                <a:moveTo>
                  <a:pt x="0" y="341376"/>
                </a:moveTo>
                <a:lnTo>
                  <a:pt x="12190476" y="341376"/>
                </a:lnTo>
                <a:lnTo>
                  <a:pt x="12190476" y="0"/>
                </a:lnTo>
                <a:lnTo>
                  <a:pt x="0" y="0"/>
                </a:lnTo>
                <a:lnTo>
                  <a:pt x="0" y="341376"/>
                </a:lnTo>
              </a:path>
            </a:pathLst>
          </a:custGeom>
          <a:solidFill>
            <a:srgbClr val="E34A46"/>
          </a:solidFill>
        </p:spPr>
        <p:txBody>
          <a:bodyPr wrap="square" lIns="0" tIns="0" rIns="0" bIns="0" rtlCol="0"/>
          <a:lstStyle/>
          <a:p>
            <a:endParaRPr/>
          </a:p>
        </p:txBody>
      </p:sp>
      <p:sp>
        <p:nvSpPr>
          <p:cNvPr id="6" name="object 6"/>
          <p:cNvSpPr/>
          <p:nvPr/>
        </p:nvSpPr>
        <p:spPr>
          <a:xfrm>
            <a:off x="0" y="969276"/>
            <a:ext cx="2164079" cy="75741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0" y="995172"/>
            <a:ext cx="2087880" cy="655320"/>
          </a:xfrm>
          <a:custGeom>
            <a:avLst/>
            <a:gdLst/>
            <a:ahLst/>
            <a:cxnLst/>
            <a:rect l="l" t="t" r="r" b="b"/>
            <a:pathLst>
              <a:path w="2087880" h="655319">
                <a:moveTo>
                  <a:pt x="1836420" y="0"/>
                </a:moveTo>
                <a:lnTo>
                  <a:pt x="0" y="0"/>
                </a:lnTo>
                <a:lnTo>
                  <a:pt x="0" y="655319"/>
                </a:lnTo>
                <a:lnTo>
                  <a:pt x="1836420" y="655319"/>
                </a:lnTo>
                <a:lnTo>
                  <a:pt x="2087880" y="327660"/>
                </a:lnTo>
                <a:lnTo>
                  <a:pt x="1836420" y="0"/>
                </a:lnTo>
                <a:close/>
              </a:path>
            </a:pathLst>
          </a:custGeom>
          <a:solidFill>
            <a:srgbClr val="E34A46"/>
          </a:solidFill>
        </p:spPr>
        <p:txBody>
          <a:bodyPr wrap="square" lIns="0" tIns="0" rIns="0" bIns="0" rtlCol="0"/>
          <a:lstStyle/>
          <a:p>
            <a:endParaRPr/>
          </a:p>
        </p:txBody>
      </p:sp>
      <p:sp>
        <p:nvSpPr>
          <p:cNvPr id="8" name="object 8"/>
          <p:cNvSpPr/>
          <p:nvPr/>
        </p:nvSpPr>
        <p:spPr>
          <a:xfrm>
            <a:off x="2037588" y="969276"/>
            <a:ext cx="611098" cy="75741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2063495" y="995172"/>
            <a:ext cx="509270" cy="655320"/>
          </a:xfrm>
          <a:custGeom>
            <a:avLst/>
            <a:gdLst/>
            <a:ahLst/>
            <a:cxnLst/>
            <a:rect l="l" t="t" r="r" b="b"/>
            <a:pathLst>
              <a:path w="509269" h="655319">
                <a:moveTo>
                  <a:pt x="254508" y="0"/>
                </a:moveTo>
                <a:lnTo>
                  <a:pt x="0" y="0"/>
                </a:lnTo>
                <a:lnTo>
                  <a:pt x="254508" y="327660"/>
                </a:lnTo>
                <a:lnTo>
                  <a:pt x="0" y="655319"/>
                </a:lnTo>
                <a:lnTo>
                  <a:pt x="254508" y="655319"/>
                </a:lnTo>
                <a:lnTo>
                  <a:pt x="509016" y="327660"/>
                </a:lnTo>
                <a:lnTo>
                  <a:pt x="254508" y="0"/>
                </a:lnTo>
                <a:close/>
              </a:path>
            </a:pathLst>
          </a:custGeom>
          <a:solidFill>
            <a:srgbClr val="E34A46"/>
          </a:solidFill>
        </p:spPr>
        <p:txBody>
          <a:bodyPr wrap="square" lIns="0" tIns="0" rIns="0" bIns="0" rtlCol="0"/>
          <a:lstStyle/>
          <a:p>
            <a:endParaRPr/>
          </a:p>
        </p:txBody>
      </p:sp>
      <p:sp>
        <p:nvSpPr>
          <p:cNvPr id="10" name="object 10"/>
          <p:cNvSpPr txBox="1">
            <a:spLocks noGrp="1"/>
          </p:cNvSpPr>
          <p:nvPr>
            <p:ph type="title"/>
          </p:nvPr>
        </p:nvSpPr>
        <p:spPr>
          <a:xfrm>
            <a:off x="132806" y="541002"/>
            <a:ext cx="10515600" cy="1325563"/>
          </a:xfrm>
          <a:prstGeom prst="rect">
            <a:avLst/>
          </a:prstGeom>
        </p:spPr>
        <p:txBody>
          <a:bodyPr vert="horz" wrap="square" lIns="0" tIns="0" rIns="0" bIns="0" rtlCol="0">
            <a:spAutoFit/>
          </a:bodyPr>
          <a:lstStyle/>
          <a:p>
            <a:pPr marL="184785">
              <a:lnSpc>
                <a:spcPct val="100000"/>
              </a:lnSpc>
            </a:pPr>
            <a:r>
              <a:rPr sz="2400" dirty="0">
                <a:solidFill>
                  <a:srgbClr val="FFFFFF"/>
                </a:solidFill>
              </a:rPr>
              <a:t>预分频系数</a:t>
            </a:r>
            <a:endParaRPr sz="2400" dirty="0"/>
          </a:p>
        </p:txBody>
      </p:sp>
      <p:sp>
        <p:nvSpPr>
          <p:cNvPr id="12" name="object 12"/>
          <p:cNvSpPr txBox="1"/>
          <p:nvPr/>
        </p:nvSpPr>
        <p:spPr>
          <a:xfrm>
            <a:off x="3497326" y="1180267"/>
            <a:ext cx="5197475" cy="381000"/>
          </a:xfrm>
          <a:prstGeom prst="rect">
            <a:avLst/>
          </a:prstGeom>
        </p:spPr>
        <p:txBody>
          <a:bodyPr vert="horz" wrap="square" lIns="0" tIns="0" rIns="0" bIns="0" rtlCol="0">
            <a:spAutoFit/>
          </a:bodyPr>
          <a:lstStyle/>
          <a:p>
            <a:pPr marL="12700">
              <a:lnSpc>
                <a:spcPct val="100000"/>
              </a:lnSpc>
            </a:pPr>
            <a:r>
              <a:rPr sz="2800" b="1" spc="-5" dirty="0">
                <a:latin typeface="微软雅黑"/>
                <a:cs typeface="微软雅黑"/>
              </a:rPr>
              <a:t>成员变量</a:t>
            </a:r>
            <a:r>
              <a:rPr sz="2800" b="1" spc="-10" dirty="0">
                <a:latin typeface="微软雅黑"/>
                <a:cs typeface="微软雅黑"/>
              </a:rPr>
              <a:t>ICP</a:t>
            </a:r>
            <a:r>
              <a:rPr sz="2800" b="1" spc="-15" dirty="0">
                <a:latin typeface="微软雅黑"/>
                <a:cs typeface="微软雅黑"/>
              </a:rPr>
              <a:t>r</a:t>
            </a:r>
            <a:r>
              <a:rPr sz="2800" b="1" spc="-5" dirty="0">
                <a:latin typeface="微软雅黑"/>
                <a:cs typeface="微软雅黑"/>
              </a:rPr>
              <a:t>escale</a:t>
            </a:r>
            <a:r>
              <a:rPr sz="2800" b="1" spc="5" dirty="0">
                <a:latin typeface="微软雅黑"/>
                <a:cs typeface="微软雅黑"/>
              </a:rPr>
              <a:t>r</a:t>
            </a:r>
            <a:r>
              <a:rPr sz="2800" b="1" spc="-5" dirty="0">
                <a:latin typeface="微软雅黑"/>
                <a:cs typeface="微软雅黑"/>
              </a:rPr>
              <a:t>的取值范围</a:t>
            </a:r>
            <a:endParaRPr sz="2800">
              <a:latin typeface="微软雅黑"/>
              <a:cs typeface="微软雅黑"/>
            </a:endParaRPr>
          </a:p>
        </p:txBody>
      </p:sp>
      <p:sp>
        <p:nvSpPr>
          <p:cNvPr id="13" name="object 13"/>
          <p:cNvSpPr txBox="1"/>
          <p:nvPr/>
        </p:nvSpPr>
        <p:spPr>
          <a:xfrm>
            <a:off x="2374773" y="389881"/>
            <a:ext cx="690245" cy="254000"/>
          </a:xfrm>
          <a:prstGeom prst="rect">
            <a:avLst/>
          </a:prstGeom>
        </p:spPr>
        <p:txBody>
          <a:bodyPr vert="horz" wrap="square" lIns="0" tIns="0" rIns="0" bIns="0" rtlCol="0">
            <a:spAutoFit/>
          </a:bodyPr>
          <a:lstStyle/>
          <a:p>
            <a:pPr marL="12700">
              <a:lnSpc>
                <a:spcPct val="100000"/>
              </a:lnSpc>
            </a:pPr>
            <a:r>
              <a:rPr sz="1800" b="1" spc="-5" dirty="0">
                <a:solidFill>
                  <a:srgbClr val="252525"/>
                </a:solidFill>
                <a:latin typeface="微软雅黑"/>
                <a:cs typeface="微软雅黑"/>
              </a:rPr>
              <a:t>Timer</a:t>
            </a:r>
            <a:endParaRPr sz="1800">
              <a:latin typeface="微软雅黑"/>
              <a:cs typeface="微软雅黑"/>
            </a:endParaRPr>
          </a:p>
        </p:txBody>
      </p:sp>
      <p:graphicFrame>
        <p:nvGraphicFramePr>
          <p:cNvPr id="11" name="object 11"/>
          <p:cNvGraphicFramePr>
            <a:graphicFrameLocks noGrp="1"/>
          </p:cNvGraphicFramePr>
          <p:nvPr/>
        </p:nvGraphicFramePr>
        <p:xfrm>
          <a:off x="556056" y="1995741"/>
          <a:ext cx="11051298" cy="4066310"/>
        </p:xfrm>
        <a:graphic>
          <a:graphicData uri="http://schemas.openxmlformats.org/drawingml/2006/table">
            <a:tbl>
              <a:tblPr firstRow="1" bandRow="1">
                <a:tableStyleId>{2D5ABB26-0587-4C30-8999-92F81FD0307C}</a:tableStyleId>
              </a:tblPr>
              <a:tblGrid>
                <a:gridCol w="4001528">
                  <a:extLst>
                    <a:ext uri="{9D8B030D-6E8A-4147-A177-3AD203B41FA5}">
                      <a16:colId xmlns:a16="http://schemas.microsoft.com/office/drawing/2014/main" val="20000"/>
                    </a:ext>
                  </a:extLst>
                </a:gridCol>
                <a:gridCol w="7049770">
                  <a:extLst>
                    <a:ext uri="{9D8B030D-6E8A-4147-A177-3AD203B41FA5}">
                      <a16:colId xmlns:a16="http://schemas.microsoft.com/office/drawing/2014/main" val="20001"/>
                    </a:ext>
                  </a:extLst>
                </a:gridCol>
              </a:tblGrid>
              <a:tr h="813308">
                <a:tc>
                  <a:txBody>
                    <a:bodyPr/>
                    <a:lstStyle/>
                    <a:p>
                      <a:pPr marL="1223645">
                        <a:lnSpc>
                          <a:spcPct val="100000"/>
                        </a:lnSpc>
                      </a:pPr>
                      <a:r>
                        <a:rPr sz="2400" b="1" dirty="0">
                          <a:solidFill>
                            <a:srgbClr val="FFFFFF"/>
                          </a:solidFill>
                          <a:latin typeface="微软雅黑"/>
                          <a:cs typeface="微软雅黑"/>
                        </a:rPr>
                        <a:t>宏常量定义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a:txBody>
                    <a:bodyPr/>
                    <a:lstStyle/>
                    <a:p>
                      <a:pPr algn="ctr">
                        <a:lnSpc>
                          <a:spcPct val="100000"/>
                        </a:lnSpc>
                      </a:pPr>
                      <a:r>
                        <a:rPr sz="2400" b="1" dirty="0">
                          <a:solidFill>
                            <a:srgbClr val="FFFFFF"/>
                          </a:solidFill>
                          <a:latin typeface="微软雅黑"/>
                          <a:cs typeface="微软雅黑"/>
                        </a:rPr>
                        <a:t>含义</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extLst>
                  <a:ext uri="{0D108BD9-81ED-4DB2-BD59-A6C34878D82A}">
                    <a16:rowId xmlns:a16="http://schemas.microsoft.com/office/drawing/2014/main" val="10000"/>
                  </a:ext>
                </a:extLst>
              </a:tr>
              <a:tr h="813181">
                <a:tc>
                  <a:txBody>
                    <a:bodyPr/>
                    <a:lstStyle/>
                    <a:p>
                      <a:pPr marL="723265">
                        <a:lnSpc>
                          <a:spcPct val="100000"/>
                        </a:lnSpc>
                      </a:pPr>
                      <a:r>
                        <a:rPr sz="2400" b="1" spc="-5" dirty="0">
                          <a:latin typeface="微软雅黑"/>
                          <a:cs typeface="微软雅黑"/>
                        </a:rPr>
                        <a:t>TIM_ICPSC_DIV</a:t>
                      </a:r>
                      <a:r>
                        <a:rPr sz="2400" b="1" dirty="0">
                          <a:latin typeface="微软雅黑"/>
                          <a:cs typeface="微软雅黑"/>
                        </a:rPr>
                        <a:t>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426720">
                        <a:lnSpc>
                          <a:spcPct val="100000"/>
                        </a:lnSpc>
                      </a:pPr>
                      <a:r>
                        <a:rPr sz="2400" b="1" dirty="0">
                          <a:latin typeface="微软雅黑"/>
                          <a:cs typeface="微软雅黑"/>
                        </a:rPr>
                        <a:t>检测到输入信号的每</a:t>
                      </a:r>
                      <a:r>
                        <a:rPr sz="2400" b="1" spc="-5" dirty="0">
                          <a:latin typeface="微软雅黑"/>
                          <a:cs typeface="微软雅黑"/>
                        </a:rPr>
                        <a:t>1</a:t>
                      </a:r>
                      <a:r>
                        <a:rPr sz="2400" b="1" dirty="0">
                          <a:latin typeface="微软雅黑"/>
                          <a:cs typeface="微软雅黑"/>
                        </a:rPr>
                        <a:t>个有效边沿触发</a:t>
                      </a:r>
                      <a:r>
                        <a:rPr sz="2400" b="1" spc="-5" dirty="0">
                          <a:latin typeface="微软雅黑"/>
                          <a:cs typeface="微软雅黑"/>
                        </a:rPr>
                        <a:t>1</a:t>
                      </a:r>
                      <a:r>
                        <a:rPr sz="2400" b="1" dirty="0">
                          <a:latin typeface="微软雅黑"/>
                          <a:cs typeface="微软雅黑"/>
                        </a:rPr>
                        <a:t>次捕获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813307">
                <a:tc>
                  <a:txBody>
                    <a:bodyPr/>
                    <a:lstStyle/>
                    <a:p>
                      <a:pPr marL="72326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ICPSC_DIV2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426720">
                        <a:lnSpc>
                          <a:spcPct val="100000"/>
                        </a:lnSpc>
                      </a:pPr>
                      <a:r>
                        <a:rPr sz="2400" b="1" spc="-5" dirty="0">
                          <a:latin typeface="微软雅黑"/>
                          <a:cs typeface="微软雅黑"/>
                        </a:rPr>
                        <a:t>检测到输入信号的</a:t>
                      </a:r>
                      <a:r>
                        <a:rPr sz="2400" b="1" dirty="0">
                          <a:latin typeface="微软雅黑"/>
                          <a:cs typeface="微软雅黑"/>
                        </a:rPr>
                        <a:t>每</a:t>
                      </a:r>
                      <a:r>
                        <a:rPr sz="2400" b="1" spc="-10" dirty="0">
                          <a:latin typeface="微软雅黑"/>
                          <a:cs typeface="微软雅黑"/>
                        </a:rPr>
                        <a:t>2</a:t>
                      </a:r>
                      <a:r>
                        <a:rPr sz="2400" b="1" spc="-5" dirty="0">
                          <a:latin typeface="微软雅黑"/>
                          <a:cs typeface="微软雅黑"/>
                        </a:rPr>
                        <a:t>个有效边沿触发</a:t>
                      </a:r>
                      <a:r>
                        <a:rPr sz="2400" b="1" spc="-10" dirty="0">
                          <a:latin typeface="微软雅黑"/>
                          <a:cs typeface="微软雅黑"/>
                        </a:rPr>
                        <a:t>1</a:t>
                      </a:r>
                      <a:r>
                        <a:rPr sz="2400" b="1" dirty="0">
                          <a:latin typeface="微软雅黑"/>
                          <a:cs typeface="微软雅黑"/>
                        </a:rPr>
                        <a:t>次捕获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813308">
                <a:tc>
                  <a:txBody>
                    <a:bodyPr/>
                    <a:lstStyle/>
                    <a:p>
                      <a:pPr marL="72326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ICPSC_DIV3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426720">
                        <a:lnSpc>
                          <a:spcPct val="100000"/>
                        </a:lnSpc>
                      </a:pPr>
                      <a:r>
                        <a:rPr sz="2400" b="1" dirty="0">
                          <a:latin typeface="微软雅黑"/>
                          <a:cs typeface="微软雅黑"/>
                        </a:rPr>
                        <a:t>检测到输入信号的每</a:t>
                      </a:r>
                      <a:r>
                        <a:rPr sz="2400" b="1" spc="-5" dirty="0">
                          <a:latin typeface="微软雅黑"/>
                          <a:cs typeface="微软雅黑"/>
                        </a:rPr>
                        <a:t>4</a:t>
                      </a:r>
                      <a:r>
                        <a:rPr sz="2400" b="1" dirty="0">
                          <a:latin typeface="微软雅黑"/>
                          <a:cs typeface="微软雅黑"/>
                        </a:rPr>
                        <a:t>个有效边沿触发</a:t>
                      </a:r>
                      <a:r>
                        <a:rPr sz="2400" b="1" spc="-5" dirty="0">
                          <a:latin typeface="微软雅黑"/>
                          <a:cs typeface="微软雅黑"/>
                        </a:rPr>
                        <a:t>1</a:t>
                      </a:r>
                      <a:r>
                        <a:rPr sz="2400" b="1" dirty="0">
                          <a:latin typeface="微软雅黑"/>
                          <a:cs typeface="微软雅黑"/>
                        </a:rPr>
                        <a:t>次捕获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813206">
                <a:tc>
                  <a:txBody>
                    <a:bodyPr/>
                    <a:lstStyle/>
                    <a:p>
                      <a:pPr marL="723265">
                        <a:lnSpc>
                          <a:spcPct val="100000"/>
                        </a:lnSpc>
                      </a:pP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ICPSC_DIV4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426720">
                        <a:lnSpc>
                          <a:spcPct val="100000"/>
                        </a:lnSpc>
                      </a:pPr>
                      <a:r>
                        <a:rPr sz="2400" b="1" dirty="0">
                          <a:latin typeface="微软雅黑"/>
                          <a:cs typeface="微软雅黑"/>
                        </a:rPr>
                        <a:t>检测到输入信号的每</a:t>
                      </a:r>
                      <a:r>
                        <a:rPr sz="2400" b="1" spc="-5" dirty="0">
                          <a:latin typeface="微软雅黑"/>
                          <a:cs typeface="微软雅黑"/>
                        </a:rPr>
                        <a:t>8</a:t>
                      </a:r>
                      <a:r>
                        <a:rPr sz="2400" b="1" dirty="0">
                          <a:latin typeface="微软雅黑"/>
                          <a:cs typeface="微软雅黑"/>
                        </a:rPr>
                        <a:t>个有效边沿触发</a:t>
                      </a:r>
                      <a:r>
                        <a:rPr sz="2400" b="1" spc="-5" dirty="0">
                          <a:latin typeface="微软雅黑"/>
                          <a:cs typeface="微软雅黑"/>
                        </a:rPr>
                        <a:t>1</a:t>
                      </a:r>
                      <a:r>
                        <a:rPr sz="2400" b="1" dirty="0">
                          <a:latin typeface="微软雅黑"/>
                          <a:cs typeface="微软雅黑"/>
                        </a:rPr>
                        <a:t>次捕获</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12117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0509" y="6610699"/>
            <a:ext cx="284480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1778254" y="5496280"/>
            <a:ext cx="10235565" cy="1054100"/>
          </a:xfrm>
          <a:custGeom>
            <a:avLst/>
            <a:gdLst/>
            <a:ahLst/>
            <a:cxnLst/>
            <a:rect l="l" t="t" r="r" b="b"/>
            <a:pathLst>
              <a:path w="10235565" h="1054100">
                <a:moveTo>
                  <a:pt x="0" y="1053744"/>
                </a:moveTo>
                <a:lnTo>
                  <a:pt x="10235565" y="1053744"/>
                </a:lnTo>
                <a:lnTo>
                  <a:pt x="10235565" y="0"/>
                </a:lnTo>
                <a:lnTo>
                  <a:pt x="0" y="0"/>
                </a:lnTo>
                <a:lnTo>
                  <a:pt x="0" y="1053744"/>
                </a:lnTo>
                <a:close/>
              </a:path>
            </a:pathLst>
          </a:custGeom>
          <a:solidFill>
            <a:srgbClr val="FFFFFF"/>
          </a:solidFill>
        </p:spPr>
        <p:txBody>
          <a:bodyPr wrap="square" lIns="0" tIns="0" rIns="0" bIns="0" rtlCol="0"/>
          <a:lstStyle/>
          <a:p>
            <a:endParaRPr/>
          </a:p>
        </p:txBody>
      </p:sp>
      <p:sp>
        <p:nvSpPr>
          <p:cNvPr id="5" name="object 5"/>
          <p:cNvSpPr txBox="1">
            <a:spLocks noGrp="1"/>
          </p:cNvSpPr>
          <p:nvPr>
            <p:ph type="title"/>
          </p:nvPr>
        </p:nvSpPr>
        <p:spPr>
          <a:xfrm>
            <a:off x="2440051" y="564707"/>
            <a:ext cx="7311390" cy="381000"/>
          </a:xfrm>
          <a:prstGeom prst="rect">
            <a:avLst/>
          </a:prstGeom>
        </p:spPr>
        <p:txBody>
          <a:bodyPr vert="horz" wrap="square" lIns="0" tIns="0" rIns="0" bIns="0" rtlCol="0">
            <a:spAutoFit/>
          </a:bodyPr>
          <a:lstStyle/>
          <a:p>
            <a:pPr marL="12700">
              <a:lnSpc>
                <a:spcPct val="100000"/>
              </a:lnSpc>
              <a:tabLst>
                <a:tab pos="443865" algn="l"/>
              </a:tabLst>
            </a:pPr>
            <a:r>
              <a:rPr spc="-5" dirty="0">
                <a:latin typeface="微软雅黑"/>
                <a:cs typeface="微软雅黑"/>
              </a:rPr>
              <a:t>1	</a:t>
            </a:r>
            <a:r>
              <a:rPr spc="-10" dirty="0"/>
              <a:t>输入捕获启动函数：</a:t>
            </a:r>
            <a:r>
              <a:rPr spc="-10" dirty="0">
                <a:latin typeface="微软雅黑"/>
                <a:cs typeface="微软雅黑"/>
              </a:rPr>
              <a:t>H</a:t>
            </a:r>
            <a:r>
              <a:rPr spc="-20" dirty="0">
                <a:latin typeface="微软雅黑"/>
                <a:cs typeface="微软雅黑"/>
              </a:rPr>
              <a:t>A</a:t>
            </a:r>
            <a:r>
              <a:rPr spc="-5" dirty="0">
                <a:latin typeface="微软雅黑"/>
                <a:cs typeface="微软雅黑"/>
              </a:rPr>
              <a:t>L</a:t>
            </a:r>
            <a:r>
              <a:rPr spc="-20" dirty="0">
                <a:latin typeface="微软雅黑"/>
                <a:cs typeface="微软雅黑"/>
              </a:rPr>
              <a:t>_</a:t>
            </a:r>
            <a:r>
              <a:rPr spc="-5" dirty="0">
                <a:latin typeface="微软雅黑"/>
                <a:cs typeface="微软雅黑"/>
              </a:rPr>
              <a:t>TIM_I</a:t>
            </a:r>
            <a:r>
              <a:rPr spc="5" dirty="0">
                <a:latin typeface="微软雅黑"/>
                <a:cs typeface="微软雅黑"/>
              </a:rPr>
              <a:t>C</a:t>
            </a:r>
            <a:r>
              <a:rPr spc="-10" dirty="0">
                <a:latin typeface="微软雅黑"/>
                <a:cs typeface="微软雅黑"/>
              </a:rPr>
              <a:t>_</a:t>
            </a:r>
            <a:r>
              <a:rPr spc="-75" dirty="0">
                <a:latin typeface="微软雅黑"/>
                <a:cs typeface="微软雅黑"/>
              </a:rPr>
              <a:t>S</a:t>
            </a:r>
            <a:r>
              <a:rPr spc="-10" dirty="0">
                <a:latin typeface="微软雅黑"/>
                <a:cs typeface="微软雅黑"/>
              </a:rPr>
              <a:t>ta</a:t>
            </a:r>
            <a:r>
              <a:rPr spc="75" dirty="0">
                <a:latin typeface="微软雅黑"/>
                <a:cs typeface="微软雅黑"/>
              </a:rPr>
              <a:t>r</a:t>
            </a:r>
            <a:r>
              <a:rPr spc="-10" dirty="0">
                <a:latin typeface="微软雅黑"/>
                <a:cs typeface="微软雅黑"/>
              </a:rPr>
              <a:t>t</a:t>
            </a:r>
            <a:r>
              <a:rPr spc="-20" dirty="0">
                <a:latin typeface="微软雅黑"/>
                <a:cs typeface="微软雅黑"/>
              </a:rPr>
              <a:t>_</a:t>
            </a:r>
            <a:r>
              <a:rPr spc="-5" dirty="0">
                <a:latin typeface="微软雅黑"/>
                <a:cs typeface="微软雅黑"/>
              </a:rPr>
              <a:t>IT</a:t>
            </a:r>
          </a:p>
        </p:txBody>
      </p:sp>
      <p:graphicFrame>
        <p:nvGraphicFramePr>
          <p:cNvPr id="4" name="object 4"/>
          <p:cNvGraphicFramePr>
            <a:graphicFrameLocks noGrp="1"/>
          </p:cNvGraphicFramePr>
          <p:nvPr/>
        </p:nvGraphicFramePr>
        <p:xfrm>
          <a:off x="163944" y="1178496"/>
          <a:ext cx="11835587" cy="5357239"/>
        </p:xfrm>
        <a:graphic>
          <a:graphicData uri="http://schemas.openxmlformats.org/drawingml/2006/table">
            <a:tbl>
              <a:tblPr firstRow="1" bandRow="1">
                <a:tableStyleId>{2D5ABB26-0587-4C30-8999-92F81FD0307C}</a:tableStyleId>
              </a:tblPr>
              <a:tblGrid>
                <a:gridCol w="1600022">
                  <a:extLst>
                    <a:ext uri="{9D8B030D-6E8A-4147-A177-3AD203B41FA5}">
                      <a16:colId xmlns:a16="http://schemas.microsoft.com/office/drawing/2014/main" val="20000"/>
                    </a:ext>
                  </a:extLst>
                </a:gridCol>
                <a:gridCol w="10235565">
                  <a:extLst>
                    <a:ext uri="{9D8B030D-6E8A-4147-A177-3AD203B41FA5}">
                      <a16:colId xmlns:a16="http://schemas.microsoft.com/office/drawing/2014/main" val="20001"/>
                    </a:ext>
                  </a:extLst>
                </a:gridCol>
              </a:tblGrid>
              <a:tr h="526795">
                <a:tc gridSpan="2">
                  <a:txBody>
                    <a:bodyPr/>
                    <a:lstStyle/>
                    <a:p>
                      <a:pPr marL="3570604">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5" dirty="0">
                          <a:solidFill>
                            <a:srgbClr val="FFFFFF"/>
                          </a:solidFill>
                          <a:latin typeface="微软雅黑"/>
                          <a:cs typeface="微软雅黑"/>
                        </a:rPr>
                        <a:t>IC</a:t>
                      </a:r>
                      <a:r>
                        <a:rPr sz="2400" b="1" spc="5" dirty="0">
                          <a:solidFill>
                            <a:srgbClr val="FFFFFF"/>
                          </a:solidFill>
                          <a:latin typeface="微软雅黑"/>
                          <a:cs typeface="微软雅黑"/>
                        </a:rPr>
                        <a:t>_</a:t>
                      </a:r>
                      <a:r>
                        <a:rPr sz="2400" b="1" spc="-80" dirty="0">
                          <a:solidFill>
                            <a:srgbClr val="FFFFFF"/>
                          </a:solidFill>
                          <a:latin typeface="微软雅黑"/>
                          <a:cs typeface="微软雅黑"/>
                        </a:rPr>
                        <a:t>S</a:t>
                      </a:r>
                      <a:r>
                        <a:rPr sz="2400" b="1" spc="-5" dirty="0">
                          <a:solidFill>
                            <a:srgbClr val="FFFFFF"/>
                          </a:solidFill>
                          <a:latin typeface="微软雅黑"/>
                          <a:cs typeface="微软雅黑"/>
                        </a:rPr>
                        <a:t>t</a:t>
                      </a:r>
                      <a:r>
                        <a:rPr sz="2400" b="1" spc="5" dirty="0">
                          <a:solidFill>
                            <a:srgbClr val="FFFFFF"/>
                          </a:solidFill>
                          <a:latin typeface="微软雅黑"/>
                          <a:cs typeface="微软雅黑"/>
                        </a:rPr>
                        <a:t>a</a:t>
                      </a:r>
                      <a:r>
                        <a:rPr sz="2400" b="1" spc="70" dirty="0">
                          <a:solidFill>
                            <a:srgbClr val="FFFFFF"/>
                          </a:solidFill>
                          <a:latin typeface="微软雅黑"/>
                          <a:cs typeface="微软雅黑"/>
                        </a:rPr>
                        <a:t>r</a:t>
                      </a:r>
                      <a:r>
                        <a:rPr sz="2400" b="1" spc="-5" dirty="0">
                          <a:solidFill>
                            <a:srgbClr val="FFFFFF"/>
                          </a:solidFill>
                          <a:latin typeface="微软雅黑"/>
                          <a:cs typeface="微软雅黑"/>
                        </a:rPr>
                        <a:t>t</a:t>
                      </a:r>
                      <a:r>
                        <a:rPr sz="2400" b="1" dirty="0">
                          <a:solidFill>
                            <a:srgbClr val="FFFFFF"/>
                          </a:solidFill>
                          <a:latin typeface="微软雅黑"/>
                          <a:cs typeface="微软雅黑"/>
                        </a:rPr>
                        <a:t>_</a:t>
                      </a:r>
                      <a:r>
                        <a:rPr sz="2400" b="1" spc="-5" dirty="0">
                          <a:solidFill>
                            <a:srgbClr val="FFFFFF"/>
                          </a:solidFill>
                          <a:latin typeface="微软雅黑"/>
                          <a:cs typeface="微软雅黑"/>
                        </a:rPr>
                        <a:t>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053846">
                <a:tc>
                  <a:txBody>
                    <a:bodyPr/>
                    <a:lstStyle/>
                    <a:p>
                      <a:pPr marL="17462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1485265" algn="l"/>
                        </a:tabLst>
                      </a:pPr>
                      <a:r>
                        <a:rPr sz="2400" b="1" dirty="0">
                          <a:latin typeface="微软雅黑"/>
                          <a:cs typeface="微软雅黑"/>
                        </a:rPr>
                        <a:t>ui</a:t>
                      </a:r>
                      <a:r>
                        <a:rPr sz="2400" b="1" spc="5" dirty="0">
                          <a:latin typeface="微软雅黑"/>
                          <a:cs typeface="微软雅黑"/>
                        </a:rPr>
                        <a:t>n</a:t>
                      </a:r>
                      <a:r>
                        <a:rPr sz="2400" b="1" dirty="0">
                          <a:latin typeface="微软雅黑"/>
                          <a:cs typeface="微软雅黑"/>
                        </a:rPr>
                        <a:t>t</a:t>
                      </a:r>
                      <a:r>
                        <a:rPr sz="2400" b="1" spc="-5" dirty="0">
                          <a:latin typeface="微软雅黑"/>
                          <a:cs typeface="微软雅黑"/>
                        </a:rPr>
                        <a:t>32</a:t>
                      </a:r>
                      <a:r>
                        <a:rPr sz="2400" b="1" dirty="0">
                          <a:latin typeface="微软雅黑"/>
                          <a:cs typeface="微软雅黑"/>
                        </a:rPr>
                        <a:t>_t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IC</a:t>
                      </a:r>
                      <a:r>
                        <a:rPr sz="2400" b="1" spc="5" dirty="0">
                          <a:latin typeface="微软雅黑"/>
                          <a:cs typeface="微软雅黑"/>
                        </a:rPr>
                        <a:t>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_</a:t>
                      </a:r>
                      <a:r>
                        <a:rPr sz="2400" b="1" spc="-5" dirty="0">
                          <a:latin typeface="微软雅黑"/>
                          <a:cs typeface="微软雅黑"/>
                        </a:rPr>
                        <a:t>IT</a:t>
                      </a:r>
                      <a:endParaRPr sz="2400">
                        <a:latin typeface="微软雅黑"/>
                        <a:cs typeface="微软雅黑"/>
                      </a:endParaRPr>
                    </a:p>
                    <a:p>
                      <a:pPr marL="53975">
                        <a:lnSpc>
                          <a:spcPct val="100000"/>
                        </a:lnSpc>
                      </a:pPr>
                      <a:r>
                        <a:rPr sz="2400" b="1" dirty="0">
                          <a:latin typeface="微软雅黑"/>
                          <a:cs typeface="微软雅黑"/>
                        </a:rPr>
                        <a:t>(</a:t>
                      </a:r>
                      <a:r>
                        <a:rPr sz="2400" b="1" spc="-5" dirty="0">
                          <a:latin typeface="微软雅黑"/>
                          <a:cs typeface="微软雅黑"/>
                        </a:rPr>
                        <a:t>TIM_Handle</a:t>
                      </a:r>
                      <a:r>
                        <a:rPr sz="2400" b="1" spc="-120"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a:t>
                      </a:r>
                      <a:r>
                        <a:rPr sz="2400" b="1" spc="-15" dirty="0">
                          <a:latin typeface="微软雅黑"/>
                          <a:cs typeface="微软雅黑"/>
                        </a:rPr>
                        <a:t>m</a:t>
                      </a:r>
                      <a:r>
                        <a:rPr sz="2400" b="1" dirty="0">
                          <a:latin typeface="微软雅黑"/>
                          <a:cs typeface="微软雅黑"/>
                        </a:rPr>
                        <a:t>,</a:t>
                      </a:r>
                      <a:r>
                        <a:rPr sz="2400" b="1" spc="25" dirty="0">
                          <a:latin typeface="微软雅黑"/>
                          <a:cs typeface="微软雅黑"/>
                        </a:rPr>
                        <a:t> </a:t>
                      </a:r>
                      <a:r>
                        <a:rPr sz="2400" b="1" dirty="0">
                          <a:latin typeface="微软雅黑"/>
                          <a:cs typeface="微软雅黑"/>
                        </a:rPr>
                        <a:t>uint</a:t>
                      </a:r>
                      <a:r>
                        <a:rPr sz="2400" b="1" spc="-10" dirty="0">
                          <a:latin typeface="微软雅黑"/>
                          <a:cs typeface="微软雅黑"/>
                        </a:rPr>
                        <a:t>32</a:t>
                      </a:r>
                      <a:r>
                        <a:rPr sz="2400" b="1" dirty="0">
                          <a:latin typeface="微软雅黑"/>
                          <a:cs typeface="微软雅黑"/>
                        </a:rPr>
                        <a:t>_t</a:t>
                      </a:r>
                      <a:r>
                        <a:rPr sz="2400" b="1" spc="-20" dirty="0">
                          <a:latin typeface="微软雅黑"/>
                          <a:cs typeface="微软雅黑"/>
                        </a:rPr>
                        <a:t> </a:t>
                      </a:r>
                      <a:r>
                        <a:rPr sz="2400" b="1" spc="-5" dirty="0">
                          <a:latin typeface="微软雅黑"/>
                          <a:cs typeface="微软雅黑"/>
                        </a:rPr>
                        <a:t>Ch</a:t>
                      </a:r>
                      <a:r>
                        <a:rPr sz="2400" b="1" spc="10" dirty="0">
                          <a:latin typeface="微软雅黑"/>
                          <a:cs typeface="微软雅黑"/>
                        </a:rPr>
                        <a:t>a</a:t>
                      </a:r>
                      <a:r>
                        <a:rPr sz="2400" b="1" dirty="0">
                          <a:latin typeface="微软雅黑"/>
                          <a:cs typeface="微软雅黑"/>
                        </a:rPr>
                        <a:t>n</a:t>
                      </a:r>
                      <a:r>
                        <a:rPr sz="2400" b="1" spc="5" dirty="0">
                          <a:latin typeface="微软雅黑"/>
                          <a:cs typeface="微软雅黑"/>
                        </a:rPr>
                        <a:t>n</a:t>
                      </a:r>
                      <a:r>
                        <a:rPr sz="2400" b="1" dirty="0">
                          <a:latin typeface="微软雅黑"/>
                          <a:cs typeface="微软雅黑"/>
                        </a:rPr>
                        <a:t>el)</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26796">
                <a:tc>
                  <a:txBody>
                    <a:bodyPr/>
                    <a:lstStyle/>
                    <a:p>
                      <a:pPr marL="1746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用于在中断方式下启动定时器的输入捕获功能</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26922">
                <a:tc>
                  <a:txBody>
                    <a:bodyPr/>
                    <a:lstStyle/>
                    <a:p>
                      <a:pPr marL="81915">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903732">
                <a:tc>
                  <a:txBody>
                    <a:bodyPr/>
                    <a:lstStyle/>
                    <a:p>
                      <a:pPr marL="81915">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591945" marR="2025014" indent="-1537970">
                        <a:lnSpc>
                          <a:spcPct val="100000"/>
                        </a:lnSpc>
                      </a:pPr>
                      <a:r>
                        <a:rPr sz="2400" b="1" spc="-5" dirty="0">
                          <a:latin typeface="微软雅黑"/>
                          <a:cs typeface="微软雅黑"/>
                        </a:rPr>
                        <a:t>Cha</a:t>
                      </a:r>
                      <a:r>
                        <a:rPr sz="2400" b="1" spc="10" dirty="0">
                          <a:latin typeface="微软雅黑"/>
                          <a:cs typeface="微软雅黑"/>
                        </a:rPr>
                        <a:t>n</a:t>
                      </a:r>
                      <a:r>
                        <a:rPr sz="2400" b="1" dirty="0">
                          <a:latin typeface="微软雅黑"/>
                          <a:cs typeface="微软雅黑"/>
                        </a:rPr>
                        <a:t>nel：定时器通道号</a:t>
                      </a:r>
                      <a:r>
                        <a:rPr sz="2400" b="1" spc="-15" dirty="0">
                          <a:latin typeface="微软雅黑"/>
                          <a:cs typeface="微软雅黑"/>
                        </a:rPr>
                        <a:t>，</a:t>
                      </a:r>
                      <a:r>
                        <a:rPr sz="2400" b="1" dirty="0">
                          <a:latin typeface="微软雅黑"/>
                          <a:cs typeface="微软雅黑"/>
                        </a:rPr>
                        <a:t>取值范围是</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15" dirty="0">
                          <a:latin typeface="微软雅黑"/>
                          <a:cs typeface="微软雅黑"/>
                        </a:rPr>
                        <a:t>H</a:t>
                      </a:r>
                      <a:r>
                        <a:rPr sz="2400" b="1" dirty="0">
                          <a:latin typeface="微软雅黑"/>
                          <a:cs typeface="微软雅黑"/>
                        </a:rPr>
                        <a:t>ANNEL_</a:t>
                      </a: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CHANNEL_4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765429">
                <a:tc>
                  <a:txBody>
                    <a:bodyPr/>
                    <a:lstStyle/>
                    <a:p>
                      <a:pPr marL="3270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53719">
                <a:tc>
                  <a:txBody>
                    <a:bodyPr/>
                    <a:lstStyle/>
                    <a:p>
                      <a:pPr marL="1746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该函数在定时器初始化完成之后调用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函数需要由用户调用，用于使能定时器的捕获中断，并启动定时器运行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319361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0509" y="6610699"/>
            <a:ext cx="284480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1778254" y="5496280"/>
            <a:ext cx="10235565" cy="1054100"/>
          </a:xfrm>
          <a:custGeom>
            <a:avLst/>
            <a:gdLst/>
            <a:ahLst/>
            <a:cxnLst/>
            <a:rect l="l" t="t" r="r" b="b"/>
            <a:pathLst>
              <a:path w="10235565" h="1054100">
                <a:moveTo>
                  <a:pt x="0" y="1053744"/>
                </a:moveTo>
                <a:lnTo>
                  <a:pt x="10235565" y="1053744"/>
                </a:lnTo>
                <a:lnTo>
                  <a:pt x="10235565" y="0"/>
                </a:lnTo>
                <a:lnTo>
                  <a:pt x="0" y="0"/>
                </a:lnTo>
                <a:lnTo>
                  <a:pt x="0" y="1053744"/>
                </a:lnTo>
                <a:close/>
              </a:path>
            </a:pathLst>
          </a:custGeom>
          <a:solidFill>
            <a:srgbClr val="FFFFFF"/>
          </a:solidFill>
        </p:spPr>
        <p:txBody>
          <a:bodyPr wrap="square" lIns="0" tIns="0" rIns="0" bIns="0" rtlCol="0"/>
          <a:lstStyle/>
          <a:p>
            <a:endParaRPr/>
          </a:p>
        </p:txBody>
      </p:sp>
      <p:sp>
        <p:nvSpPr>
          <p:cNvPr id="5" name="object 5"/>
          <p:cNvSpPr txBox="1">
            <a:spLocks noGrp="1"/>
          </p:cNvSpPr>
          <p:nvPr>
            <p:ph type="title"/>
          </p:nvPr>
        </p:nvSpPr>
        <p:spPr>
          <a:xfrm>
            <a:off x="2462910" y="564707"/>
            <a:ext cx="7266305" cy="381000"/>
          </a:xfrm>
          <a:prstGeom prst="rect">
            <a:avLst/>
          </a:prstGeom>
        </p:spPr>
        <p:txBody>
          <a:bodyPr vert="horz" wrap="square" lIns="0" tIns="0" rIns="0" bIns="0" rtlCol="0">
            <a:spAutoFit/>
          </a:bodyPr>
          <a:lstStyle/>
          <a:p>
            <a:pPr marL="12700">
              <a:lnSpc>
                <a:spcPct val="100000"/>
              </a:lnSpc>
              <a:tabLst>
                <a:tab pos="443865" algn="l"/>
              </a:tabLst>
            </a:pPr>
            <a:r>
              <a:rPr spc="-5" dirty="0">
                <a:latin typeface="微软雅黑"/>
                <a:cs typeface="微软雅黑"/>
              </a:rPr>
              <a:t>2	</a:t>
            </a:r>
            <a:r>
              <a:rPr spc="-10" dirty="0"/>
              <a:t>输入捕获停止函数：</a:t>
            </a:r>
            <a:r>
              <a:rPr spc="-10" dirty="0">
                <a:latin typeface="微软雅黑"/>
                <a:cs typeface="微软雅黑"/>
              </a:rPr>
              <a:t>H</a:t>
            </a:r>
            <a:r>
              <a:rPr spc="-20" dirty="0">
                <a:latin typeface="微软雅黑"/>
                <a:cs typeface="微软雅黑"/>
              </a:rPr>
              <a:t>A</a:t>
            </a:r>
            <a:r>
              <a:rPr spc="-5" dirty="0">
                <a:latin typeface="微软雅黑"/>
                <a:cs typeface="微软雅黑"/>
              </a:rPr>
              <a:t>L</a:t>
            </a:r>
            <a:r>
              <a:rPr spc="-20" dirty="0">
                <a:latin typeface="微软雅黑"/>
                <a:cs typeface="微软雅黑"/>
              </a:rPr>
              <a:t>_</a:t>
            </a:r>
            <a:r>
              <a:rPr spc="-5" dirty="0">
                <a:latin typeface="微软雅黑"/>
                <a:cs typeface="微软雅黑"/>
              </a:rPr>
              <a:t>TIM_I</a:t>
            </a:r>
            <a:r>
              <a:rPr spc="5" dirty="0">
                <a:latin typeface="微软雅黑"/>
                <a:cs typeface="微软雅黑"/>
              </a:rPr>
              <a:t>C</a:t>
            </a:r>
            <a:r>
              <a:rPr spc="-10" dirty="0">
                <a:latin typeface="微软雅黑"/>
                <a:cs typeface="微软雅黑"/>
              </a:rPr>
              <a:t>_</a:t>
            </a:r>
            <a:r>
              <a:rPr spc="-75" dirty="0">
                <a:latin typeface="微软雅黑"/>
                <a:cs typeface="微软雅黑"/>
              </a:rPr>
              <a:t>S</a:t>
            </a:r>
            <a:r>
              <a:rPr spc="-25" dirty="0">
                <a:latin typeface="微软雅黑"/>
                <a:cs typeface="微软雅黑"/>
              </a:rPr>
              <a:t>t</a:t>
            </a:r>
            <a:r>
              <a:rPr spc="-10" dirty="0">
                <a:latin typeface="微软雅黑"/>
                <a:cs typeface="微软雅黑"/>
              </a:rPr>
              <a:t>op</a:t>
            </a:r>
            <a:r>
              <a:rPr spc="-20" dirty="0">
                <a:latin typeface="微软雅黑"/>
                <a:cs typeface="微软雅黑"/>
              </a:rPr>
              <a:t>_</a:t>
            </a:r>
            <a:r>
              <a:rPr spc="-5" dirty="0">
                <a:latin typeface="微软雅黑"/>
                <a:cs typeface="微软雅黑"/>
              </a:rPr>
              <a:t>IT</a:t>
            </a:r>
          </a:p>
        </p:txBody>
      </p:sp>
      <p:graphicFrame>
        <p:nvGraphicFramePr>
          <p:cNvPr id="4" name="object 4"/>
          <p:cNvGraphicFramePr>
            <a:graphicFrameLocks noGrp="1"/>
          </p:cNvGraphicFramePr>
          <p:nvPr/>
        </p:nvGraphicFramePr>
        <p:xfrm>
          <a:off x="163944" y="1178496"/>
          <a:ext cx="11835587" cy="5357239"/>
        </p:xfrm>
        <a:graphic>
          <a:graphicData uri="http://schemas.openxmlformats.org/drawingml/2006/table">
            <a:tbl>
              <a:tblPr firstRow="1" bandRow="1">
                <a:tableStyleId>{2D5ABB26-0587-4C30-8999-92F81FD0307C}</a:tableStyleId>
              </a:tblPr>
              <a:tblGrid>
                <a:gridCol w="1600022">
                  <a:extLst>
                    <a:ext uri="{9D8B030D-6E8A-4147-A177-3AD203B41FA5}">
                      <a16:colId xmlns:a16="http://schemas.microsoft.com/office/drawing/2014/main" val="20000"/>
                    </a:ext>
                  </a:extLst>
                </a:gridCol>
                <a:gridCol w="10235565">
                  <a:extLst>
                    <a:ext uri="{9D8B030D-6E8A-4147-A177-3AD203B41FA5}">
                      <a16:colId xmlns:a16="http://schemas.microsoft.com/office/drawing/2014/main" val="20001"/>
                    </a:ext>
                  </a:extLst>
                </a:gridCol>
              </a:tblGrid>
              <a:tr h="526795">
                <a:tc gridSpan="2">
                  <a:txBody>
                    <a:bodyPr/>
                    <a:lstStyle/>
                    <a:p>
                      <a:pPr marL="3590290">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HAL_T</a:t>
                      </a:r>
                      <a:r>
                        <a:rPr sz="2400" b="1" spc="5" dirty="0">
                          <a:solidFill>
                            <a:srgbClr val="FFFFFF"/>
                          </a:solidFill>
                          <a:latin typeface="微软雅黑"/>
                          <a:cs typeface="微软雅黑"/>
                        </a:rPr>
                        <a:t>I</a:t>
                      </a:r>
                      <a:r>
                        <a:rPr sz="2400" b="1" dirty="0">
                          <a:solidFill>
                            <a:srgbClr val="FFFFFF"/>
                          </a:solidFill>
                          <a:latin typeface="微软雅黑"/>
                          <a:cs typeface="微软雅黑"/>
                        </a:rPr>
                        <a:t>M</a:t>
                      </a:r>
                      <a:r>
                        <a:rPr sz="2400" b="1" spc="-5" dirty="0">
                          <a:solidFill>
                            <a:srgbClr val="FFFFFF"/>
                          </a:solidFill>
                          <a:latin typeface="微软雅黑"/>
                          <a:cs typeface="微软雅黑"/>
                        </a:rPr>
                        <a:t>_</a:t>
                      </a:r>
                      <a:r>
                        <a:rPr sz="2400" b="1" spc="5" dirty="0">
                          <a:solidFill>
                            <a:srgbClr val="FFFFFF"/>
                          </a:solidFill>
                          <a:latin typeface="微软雅黑"/>
                          <a:cs typeface="微软雅黑"/>
                        </a:rPr>
                        <a:t>I</a:t>
                      </a:r>
                      <a:r>
                        <a:rPr sz="2400" b="1" spc="-5" dirty="0">
                          <a:solidFill>
                            <a:srgbClr val="FFFFFF"/>
                          </a:solidFill>
                          <a:latin typeface="微软雅黑"/>
                          <a:cs typeface="微软雅黑"/>
                        </a:rPr>
                        <a:t>C</a:t>
                      </a:r>
                      <a:r>
                        <a:rPr sz="2400" b="1" spc="10" dirty="0">
                          <a:solidFill>
                            <a:srgbClr val="FFFFFF"/>
                          </a:solidFill>
                          <a:latin typeface="微软雅黑"/>
                          <a:cs typeface="微软雅黑"/>
                        </a:rPr>
                        <a:t>_</a:t>
                      </a:r>
                      <a:r>
                        <a:rPr sz="2400" b="1" spc="-75" dirty="0">
                          <a:solidFill>
                            <a:srgbClr val="FFFFFF"/>
                          </a:solidFill>
                          <a:latin typeface="微软雅黑"/>
                          <a:cs typeface="微软雅黑"/>
                        </a:rPr>
                        <a:t>S</a:t>
                      </a:r>
                      <a:r>
                        <a:rPr sz="2400" b="1" spc="-10" dirty="0">
                          <a:solidFill>
                            <a:srgbClr val="FFFFFF"/>
                          </a:solidFill>
                          <a:latin typeface="微软雅黑"/>
                          <a:cs typeface="微软雅黑"/>
                        </a:rPr>
                        <a:t>t</a:t>
                      </a:r>
                      <a:r>
                        <a:rPr sz="2400" b="1" spc="-5" dirty="0">
                          <a:solidFill>
                            <a:srgbClr val="FFFFFF"/>
                          </a:solidFill>
                          <a:latin typeface="微软雅黑"/>
                          <a:cs typeface="微软雅黑"/>
                        </a:rPr>
                        <a:t>op_</a:t>
                      </a:r>
                      <a:r>
                        <a:rPr sz="2400" b="1" dirty="0">
                          <a:solidFill>
                            <a:srgbClr val="FFFFFF"/>
                          </a:solidFill>
                          <a:latin typeface="微软雅黑"/>
                          <a:cs typeface="微软雅黑"/>
                        </a:rPr>
                        <a:t>IT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053846">
                <a:tc>
                  <a:txBody>
                    <a:bodyPr/>
                    <a:lstStyle/>
                    <a:p>
                      <a:pPr marL="17462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45485" algn="l"/>
                        </a:tabLst>
                      </a:pP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5" dirty="0">
                          <a:latin typeface="微软雅黑"/>
                          <a:cs typeface="微软雅黑"/>
                        </a:rPr>
                        <a:t>t</a:t>
                      </a:r>
                      <a:r>
                        <a:rPr sz="2400" b="1" spc="5" dirty="0">
                          <a:latin typeface="微软雅黑"/>
                          <a:cs typeface="微软雅黑"/>
                        </a:rPr>
                        <a:t>u</a:t>
                      </a:r>
                      <a:r>
                        <a:rPr sz="2400" b="1" dirty="0">
                          <a:latin typeface="微软雅黑"/>
                          <a:cs typeface="微软雅黑"/>
                        </a:rPr>
                        <a:t>s</a:t>
                      </a:r>
                      <a:r>
                        <a:rPr sz="2400" b="1" spc="-120"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IC</a:t>
                      </a:r>
                      <a:r>
                        <a:rPr sz="2400" b="1" spc="5" dirty="0">
                          <a:latin typeface="微软雅黑"/>
                          <a:cs typeface="微软雅黑"/>
                        </a:rPr>
                        <a:t>_</a:t>
                      </a:r>
                      <a:r>
                        <a:rPr sz="2400" b="1" spc="-80" dirty="0">
                          <a:latin typeface="微软雅黑"/>
                          <a:cs typeface="微软雅黑"/>
                        </a:rPr>
                        <a:t>S</a:t>
                      </a:r>
                      <a:r>
                        <a:rPr sz="2400" b="1" spc="-10" dirty="0">
                          <a:latin typeface="微软雅黑"/>
                          <a:cs typeface="微软雅黑"/>
                        </a:rPr>
                        <a:t>t</a:t>
                      </a:r>
                      <a:r>
                        <a:rPr sz="2400" b="1" spc="-5" dirty="0">
                          <a:latin typeface="微软雅黑"/>
                          <a:cs typeface="微软雅黑"/>
                        </a:rPr>
                        <a:t>op_IT</a:t>
                      </a:r>
                      <a:endParaRPr sz="2400">
                        <a:latin typeface="微软雅黑"/>
                        <a:cs typeface="微软雅黑"/>
                      </a:endParaRPr>
                    </a:p>
                    <a:p>
                      <a:pPr marL="53975">
                        <a:lnSpc>
                          <a:spcPct val="100000"/>
                        </a:lnSpc>
                      </a:pPr>
                      <a:r>
                        <a:rPr sz="2400" b="1" dirty="0">
                          <a:latin typeface="微软雅黑"/>
                          <a:cs typeface="微软雅黑"/>
                        </a:rPr>
                        <a:t>(</a:t>
                      </a:r>
                      <a:r>
                        <a:rPr sz="2400" b="1" spc="-5" dirty="0">
                          <a:latin typeface="微软雅黑"/>
                          <a:cs typeface="微软雅黑"/>
                        </a:rPr>
                        <a:t>TIM_Handle</a:t>
                      </a:r>
                      <a:r>
                        <a:rPr sz="2400" b="1" spc="-120"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a:t>
                      </a:r>
                      <a:r>
                        <a:rPr sz="2400" b="1" spc="-15" dirty="0">
                          <a:latin typeface="微软雅黑"/>
                          <a:cs typeface="微软雅黑"/>
                        </a:rPr>
                        <a:t>m</a:t>
                      </a:r>
                      <a:r>
                        <a:rPr sz="2400" b="1" dirty="0">
                          <a:latin typeface="微软雅黑"/>
                          <a:cs typeface="微软雅黑"/>
                        </a:rPr>
                        <a:t>,</a:t>
                      </a:r>
                      <a:r>
                        <a:rPr sz="2400" b="1" spc="25" dirty="0">
                          <a:latin typeface="微软雅黑"/>
                          <a:cs typeface="微软雅黑"/>
                        </a:rPr>
                        <a:t> </a:t>
                      </a:r>
                      <a:r>
                        <a:rPr sz="2400" b="1" dirty="0">
                          <a:latin typeface="微软雅黑"/>
                          <a:cs typeface="微软雅黑"/>
                        </a:rPr>
                        <a:t>uint</a:t>
                      </a:r>
                      <a:r>
                        <a:rPr sz="2400" b="1" spc="-10" dirty="0">
                          <a:latin typeface="微软雅黑"/>
                          <a:cs typeface="微软雅黑"/>
                        </a:rPr>
                        <a:t>32</a:t>
                      </a:r>
                      <a:r>
                        <a:rPr sz="2400" b="1" dirty="0">
                          <a:latin typeface="微软雅黑"/>
                          <a:cs typeface="微软雅黑"/>
                        </a:rPr>
                        <a:t>_t</a:t>
                      </a:r>
                      <a:r>
                        <a:rPr sz="2400" b="1" spc="-20" dirty="0">
                          <a:latin typeface="微软雅黑"/>
                          <a:cs typeface="微软雅黑"/>
                        </a:rPr>
                        <a:t> </a:t>
                      </a:r>
                      <a:r>
                        <a:rPr sz="2400" b="1" spc="-5" dirty="0">
                          <a:latin typeface="微软雅黑"/>
                          <a:cs typeface="微软雅黑"/>
                        </a:rPr>
                        <a:t>Ch</a:t>
                      </a:r>
                      <a:r>
                        <a:rPr sz="2400" b="1" spc="10" dirty="0">
                          <a:latin typeface="微软雅黑"/>
                          <a:cs typeface="微软雅黑"/>
                        </a:rPr>
                        <a:t>a</a:t>
                      </a:r>
                      <a:r>
                        <a:rPr sz="2400" b="1" dirty="0">
                          <a:latin typeface="微软雅黑"/>
                          <a:cs typeface="微软雅黑"/>
                        </a:rPr>
                        <a:t>n</a:t>
                      </a:r>
                      <a:r>
                        <a:rPr sz="2400" b="1" spc="5" dirty="0">
                          <a:latin typeface="微软雅黑"/>
                          <a:cs typeface="微软雅黑"/>
                        </a:rPr>
                        <a:t>n</a:t>
                      </a:r>
                      <a:r>
                        <a:rPr sz="2400" b="1" dirty="0">
                          <a:latin typeface="微软雅黑"/>
                          <a:cs typeface="微软雅黑"/>
                        </a:rPr>
                        <a:t>el)</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26796">
                <a:tc>
                  <a:txBody>
                    <a:bodyPr/>
                    <a:lstStyle/>
                    <a:p>
                      <a:pPr marL="1746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用于停止中断模式下的定时器输入捕获功能</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26922">
                <a:tc>
                  <a:txBody>
                    <a:bodyPr/>
                    <a:lstStyle/>
                    <a:p>
                      <a:pPr marL="81915">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903732">
                <a:tc>
                  <a:txBody>
                    <a:bodyPr/>
                    <a:lstStyle/>
                    <a:p>
                      <a:pPr marL="81915">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591945" marR="2025014" indent="-1537970">
                        <a:lnSpc>
                          <a:spcPct val="100000"/>
                        </a:lnSpc>
                      </a:pPr>
                      <a:r>
                        <a:rPr sz="2400" b="1" spc="-5" dirty="0">
                          <a:latin typeface="微软雅黑"/>
                          <a:cs typeface="微软雅黑"/>
                        </a:rPr>
                        <a:t>Cha</a:t>
                      </a:r>
                      <a:r>
                        <a:rPr sz="2400" b="1" spc="10" dirty="0">
                          <a:latin typeface="微软雅黑"/>
                          <a:cs typeface="微软雅黑"/>
                        </a:rPr>
                        <a:t>n</a:t>
                      </a:r>
                      <a:r>
                        <a:rPr sz="2400" b="1" dirty="0">
                          <a:latin typeface="微软雅黑"/>
                          <a:cs typeface="微软雅黑"/>
                        </a:rPr>
                        <a:t>nel：定时器通道号</a:t>
                      </a:r>
                      <a:r>
                        <a:rPr sz="2400" b="1" spc="-15" dirty="0">
                          <a:latin typeface="微软雅黑"/>
                          <a:cs typeface="微软雅黑"/>
                        </a:rPr>
                        <a:t>，</a:t>
                      </a:r>
                      <a:r>
                        <a:rPr sz="2400" b="1" dirty="0">
                          <a:latin typeface="微软雅黑"/>
                          <a:cs typeface="微软雅黑"/>
                        </a:rPr>
                        <a:t>取值范围是</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15" dirty="0">
                          <a:latin typeface="微软雅黑"/>
                          <a:cs typeface="微软雅黑"/>
                        </a:rPr>
                        <a:t>H</a:t>
                      </a:r>
                      <a:r>
                        <a:rPr sz="2400" b="1" dirty="0">
                          <a:latin typeface="微软雅黑"/>
                          <a:cs typeface="微软雅黑"/>
                        </a:rPr>
                        <a:t>ANNEL_</a:t>
                      </a: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CHANNEL_4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765429">
                <a:tc>
                  <a:txBody>
                    <a:bodyPr/>
                    <a:lstStyle/>
                    <a:p>
                      <a:pPr marL="3270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5" dirty="0">
                          <a:latin typeface="微软雅黑"/>
                          <a:cs typeface="微软雅黑"/>
                        </a:rPr>
                        <a:t>H</a:t>
                      </a:r>
                      <a:r>
                        <a:rPr sz="2400" b="1" spc="-10" dirty="0">
                          <a:latin typeface="微软雅黑"/>
                          <a:cs typeface="微软雅黑"/>
                        </a:rPr>
                        <a:t>A</a:t>
                      </a:r>
                      <a:r>
                        <a:rPr sz="2400" b="1" spc="-5" dirty="0">
                          <a:latin typeface="微软雅黑"/>
                          <a:cs typeface="微软雅黑"/>
                        </a:rPr>
                        <a:t>L</a:t>
                      </a:r>
                      <a:r>
                        <a:rPr sz="2400" b="1" dirty="0">
                          <a:latin typeface="微软雅黑"/>
                          <a:cs typeface="微软雅黑"/>
                        </a:rPr>
                        <a:t>状态值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53719">
                <a:tc>
                  <a:txBody>
                    <a:bodyPr/>
                    <a:lstStyle/>
                    <a:p>
                      <a:pPr marL="1746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marR="330200">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该函数需要由用户调用，用于禁止捕获中断，关闭输入捕获通道，停止 定时器运行</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387253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4282" y="642431"/>
            <a:ext cx="9206230" cy="381000"/>
          </a:xfrm>
          <a:prstGeom prst="rect">
            <a:avLst/>
          </a:prstGeom>
        </p:spPr>
        <p:txBody>
          <a:bodyPr vert="horz" wrap="square" lIns="0" tIns="0" rIns="0" bIns="0" rtlCol="0">
            <a:spAutoFit/>
          </a:bodyPr>
          <a:lstStyle/>
          <a:p>
            <a:pPr marL="12700">
              <a:lnSpc>
                <a:spcPct val="100000"/>
              </a:lnSpc>
              <a:tabLst>
                <a:tab pos="443865" algn="l"/>
              </a:tabLst>
            </a:pPr>
            <a:r>
              <a:rPr spc="-5" dirty="0">
                <a:latin typeface="微软雅黑"/>
                <a:cs typeface="微软雅黑"/>
              </a:rPr>
              <a:t>3	</a:t>
            </a:r>
            <a:r>
              <a:rPr spc="-10" dirty="0"/>
              <a:t>输入捕获中断回调函数</a:t>
            </a:r>
            <a:r>
              <a:rPr spc="-10" dirty="0">
                <a:latin typeface="微软雅黑"/>
                <a:cs typeface="微软雅黑"/>
              </a:rPr>
              <a:t>H</a:t>
            </a:r>
            <a:r>
              <a:rPr spc="-20" dirty="0">
                <a:latin typeface="微软雅黑"/>
                <a:cs typeface="微软雅黑"/>
              </a:rPr>
              <a:t>A</a:t>
            </a:r>
            <a:r>
              <a:rPr spc="-5" dirty="0">
                <a:latin typeface="微软雅黑"/>
                <a:cs typeface="微软雅黑"/>
              </a:rPr>
              <a:t>L_TIM_IC_Captu</a:t>
            </a:r>
            <a:r>
              <a:rPr spc="-35" dirty="0">
                <a:latin typeface="微软雅黑"/>
                <a:cs typeface="微软雅黑"/>
              </a:rPr>
              <a:t>r</a:t>
            </a:r>
            <a:r>
              <a:rPr spc="-5" dirty="0">
                <a:latin typeface="微软雅黑"/>
                <a:cs typeface="微软雅黑"/>
              </a:rPr>
              <a:t>eCall</a:t>
            </a:r>
            <a:r>
              <a:rPr spc="-40" dirty="0">
                <a:latin typeface="微软雅黑"/>
                <a:cs typeface="微软雅黑"/>
              </a:rPr>
              <a:t>b</a:t>
            </a:r>
            <a:r>
              <a:rPr spc="-5" dirty="0">
                <a:latin typeface="微软雅黑"/>
                <a:cs typeface="微软雅黑"/>
              </a:rPr>
              <a:t>ack</a:t>
            </a:r>
          </a:p>
        </p:txBody>
      </p:sp>
      <p:graphicFrame>
        <p:nvGraphicFramePr>
          <p:cNvPr id="3" name="object 3"/>
          <p:cNvGraphicFramePr>
            <a:graphicFrameLocks noGrp="1"/>
          </p:cNvGraphicFramePr>
          <p:nvPr/>
        </p:nvGraphicFramePr>
        <p:xfrm>
          <a:off x="169938" y="1315910"/>
          <a:ext cx="11770918" cy="5258686"/>
        </p:xfrm>
        <a:graphic>
          <a:graphicData uri="http://schemas.openxmlformats.org/drawingml/2006/table">
            <a:tbl>
              <a:tblPr firstRow="1" bandRow="1">
                <a:tableStyleId>{2D5ABB26-0587-4C30-8999-92F81FD0307C}</a:tableStyleId>
              </a:tblPr>
              <a:tblGrid>
                <a:gridCol w="1390573">
                  <a:extLst>
                    <a:ext uri="{9D8B030D-6E8A-4147-A177-3AD203B41FA5}">
                      <a16:colId xmlns:a16="http://schemas.microsoft.com/office/drawing/2014/main" val="20000"/>
                    </a:ext>
                  </a:extLst>
                </a:gridCol>
                <a:gridCol w="10380345">
                  <a:extLst>
                    <a:ext uri="{9D8B030D-6E8A-4147-A177-3AD203B41FA5}">
                      <a16:colId xmlns:a16="http://schemas.microsoft.com/office/drawing/2014/main" val="20001"/>
                    </a:ext>
                  </a:extLst>
                </a:gridCol>
              </a:tblGrid>
              <a:tr h="536828">
                <a:tc gridSpan="2">
                  <a:txBody>
                    <a:bodyPr/>
                    <a:lstStyle/>
                    <a:p>
                      <a:pPr marL="2878455">
                        <a:lnSpc>
                          <a:spcPct val="100000"/>
                        </a:lnSpc>
                      </a:pPr>
                      <a:r>
                        <a:rPr sz="2400" b="1" dirty="0">
                          <a:solidFill>
                            <a:srgbClr val="FFFFFF"/>
                          </a:solidFill>
                          <a:latin typeface="微软雅黑"/>
                          <a:cs typeface="微软雅黑"/>
                        </a:rPr>
                        <a:t>接口函数：</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5" dirty="0">
                          <a:solidFill>
                            <a:srgbClr val="FFFFFF"/>
                          </a:solidFill>
                          <a:latin typeface="微软雅黑"/>
                          <a:cs typeface="微软雅黑"/>
                        </a:rPr>
                        <a:t>IC</a:t>
                      </a:r>
                      <a:r>
                        <a:rPr sz="2400" b="1" spc="5" dirty="0">
                          <a:solidFill>
                            <a:srgbClr val="FFFFFF"/>
                          </a:solidFill>
                          <a:latin typeface="微软雅黑"/>
                          <a:cs typeface="微软雅黑"/>
                        </a:rPr>
                        <a:t>_</a:t>
                      </a:r>
                      <a:r>
                        <a:rPr sz="2400" b="1" spc="-5" dirty="0">
                          <a:solidFill>
                            <a:srgbClr val="FFFFFF"/>
                          </a:solidFill>
                          <a:latin typeface="微软雅黑"/>
                          <a:cs typeface="微软雅黑"/>
                        </a:rPr>
                        <a:t>C</a:t>
                      </a:r>
                      <a:r>
                        <a:rPr sz="2400" b="1" spc="5" dirty="0">
                          <a:solidFill>
                            <a:srgbClr val="FFFFFF"/>
                          </a:solidFill>
                          <a:latin typeface="微软雅黑"/>
                          <a:cs typeface="微软雅黑"/>
                        </a:rPr>
                        <a:t>a</a:t>
                      </a:r>
                      <a:r>
                        <a:rPr sz="2400" b="1" dirty="0">
                          <a:solidFill>
                            <a:srgbClr val="FFFFFF"/>
                          </a:solidFill>
                          <a:latin typeface="微软雅黑"/>
                          <a:cs typeface="微软雅黑"/>
                        </a:rPr>
                        <a:t>ptu</a:t>
                      </a:r>
                      <a:r>
                        <a:rPr sz="2400" b="1" spc="-20" dirty="0">
                          <a:solidFill>
                            <a:srgbClr val="FFFFFF"/>
                          </a:solidFill>
                          <a:latin typeface="微软雅黑"/>
                          <a:cs typeface="微软雅黑"/>
                        </a:rPr>
                        <a:t>r</a:t>
                      </a:r>
                      <a:r>
                        <a:rPr sz="2400" b="1" dirty="0">
                          <a:solidFill>
                            <a:srgbClr val="FFFFFF"/>
                          </a:solidFill>
                          <a:latin typeface="微软雅黑"/>
                          <a:cs typeface="微软雅黑"/>
                        </a:rPr>
                        <a:t>eCall</a:t>
                      </a:r>
                      <a:r>
                        <a:rPr sz="2400" b="1" spc="-30" dirty="0">
                          <a:solidFill>
                            <a:srgbClr val="FFFFFF"/>
                          </a:solidFill>
                          <a:latin typeface="微软雅黑"/>
                          <a:cs typeface="微软雅黑"/>
                        </a:rPr>
                        <a:t>b</a:t>
                      </a:r>
                      <a:r>
                        <a:rPr sz="2400" b="1" dirty="0">
                          <a:solidFill>
                            <a:srgbClr val="FFFFFF"/>
                          </a:solidFill>
                          <a:latin typeface="微软雅黑"/>
                          <a:cs typeface="微软雅黑"/>
                        </a:rPr>
                        <a:t>ack</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82903">
                <a:tc>
                  <a:txBody>
                    <a:bodyPr/>
                    <a:lstStyle/>
                    <a:p>
                      <a:pPr marL="7112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spc="-30" dirty="0">
                          <a:latin typeface="微软雅黑"/>
                          <a:cs typeface="微软雅黑"/>
                        </a:rPr>
                        <a:t>v</a:t>
                      </a:r>
                      <a:r>
                        <a:rPr sz="2400" b="1" spc="-5" dirty="0">
                          <a:latin typeface="微软雅黑"/>
                          <a:cs typeface="微软雅黑"/>
                        </a:rPr>
                        <a:t>oi</a:t>
                      </a:r>
                      <a:r>
                        <a:rPr sz="2400" b="1" dirty="0">
                          <a:latin typeface="微软雅黑"/>
                          <a:cs typeface="微软雅黑"/>
                        </a:rPr>
                        <a:t>d</a:t>
                      </a:r>
                      <a:r>
                        <a:rPr sz="2400" b="1" spc="10" dirty="0">
                          <a:latin typeface="微软雅黑"/>
                          <a:cs typeface="微软雅黑"/>
                        </a:rPr>
                        <a: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IC</a:t>
                      </a:r>
                      <a:r>
                        <a:rPr sz="2400" b="1" spc="5" dirty="0">
                          <a:latin typeface="微软雅黑"/>
                          <a:cs typeface="微软雅黑"/>
                        </a:rPr>
                        <a:t>_</a:t>
                      </a:r>
                      <a:r>
                        <a:rPr sz="2400" b="1" spc="-5" dirty="0">
                          <a:latin typeface="微软雅黑"/>
                          <a:cs typeface="微软雅黑"/>
                        </a:rPr>
                        <a:t>Captur</a:t>
                      </a:r>
                      <a:r>
                        <a:rPr sz="2400" b="1" spc="-10" dirty="0">
                          <a:latin typeface="微软雅黑"/>
                          <a:cs typeface="微软雅黑"/>
                        </a:rPr>
                        <a:t>e</a:t>
                      </a:r>
                      <a:r>
                        <a:rPr sz="2400" b="1" spc="-5" dirty="0">
                          <a:latin typeface="微软雅黑"/>
                          <a:cs typeface="微软雅黑"/>
                        </a:rPr>
                        <a:t>Call</a:t>
                      </a:r>
                      <a:r>
                        <a:rPr sz="2400" b="1" spc="-30" dirty="0">
                          <a:latin typeface="微软雅黑"/>
                          <a:cs typeface="微软雅黑"/>
                        </a:rPr>
                        <a:t>b</a:t>
                      </a:r>
                      <a:r>
                        <a:rPr sz="2400" b="1" dirty="0">
                          <a:latin typeface="微软雅黑"/>
                          <a:cs typeface="微软雅黑"/>
                        </a:rPr>
                        <a:t>ack</a:t>
                      </a:r>
                      <a:r>
                        <a:rPr sz="2400" b="1" spc="-25" dirty="0">
                          <a:latin typeface="微软雅黑"/>
                          <a:cs typeface="微软雅黑"/>
                        </a:rPr>
                        <a:t> </a:t>
                      </a:r>
                      <a:r>
                        <a:rPr sz="2400" b="1" dirty="0">
                          <a:latin typeface="微软雅黑"/>
                          <a:cs typeface="微软雅黑"/>
                        </a:rPr>
                        <a:t>(</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Ha</a:t>
                      </a:r>
                      <a:r>
                        <a:rPr sz="2400" b="1" spc="5" dirty="0">
                          <a:latin typeface="微软雅黑"/>
                          <a:cs typeface="微软雅黑"/>
                        </a:rPr>
                        <a:t>n</a:t>
                      </a:r>
                      <a:r>
                        <a:rPr sz="2400" b="1" dirty="0">
                          <a:latin typeface="微软雅黑"/>
                          <a:cs typeface="微软雅黑"/>
                        </a:rPr>
                        <a:t>dl</a:t>
                      </a:r>
                      <a:r>
                        <a:rPr sz="2400" b="1" spc="-10" dirty="0">
                          <a:latin typeface="微软雅黑"/>
                          <a:cs typeface="微软雅黑"/>
                        </a:rPr>
                        <a:t>e</a:t>
                      </a:r>
                      <a:r>
                        <a:rPr sz="2400" b="1" spc="-125" dirty="0">
                          <a:latin typeface="微软雅黑"/>
                          <a:cs typeface="微软雅黑"/>
                        </a:rPr>
                        <a:t>T</a:t>
                      </a:r>
                      <a:r>
                        <a:rPr sz="2400" b="1" spc="-5" dirty="0">
                          <a:latin typeface="微软雅黑"/>
                          <a:cs typeface="微软雅黑"/>
                        </a:rPr>
                        <a:t>ype</a:t>
                      </a:r>
                      <a:r>
                        <a:rPr sz="2400" b="1" spc="-10" dirty="0">
                          <a:latin typeface="微软雅黑"/>
                          <a:cs typeface="微软雅黑"/>
                        </a:rPr>
                        <a:t>D</a:t>
                      </a:r>
                      <a:r>
                        <a:rPr sz="2400" b="1" dirty="0">
                          <a:latin typeface="微软雅黑"/>
                          <a:cs typeface="微软雅黑"/>
                        </a:rPr>
                        <a:t>ef</a:t>
                      </a:r>
                      <a:r>
                        <a:rPr sz="2400" b="1" spc="15" dirty="0">
                          <a:latin typeface="微软雅黑"/>
                          <a:cs typeface="微软雅黑"/>
                        </a:rPr>
                        <a:t> </a:t>
                      </a:r>
                      <a:r>
                        <a:rPr sz="2400" b="1" spc="-5"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731520">
                <a:tc>
                  <a:txBody>
                    <a:bodyPr/>
                    <a:lstStyle/>
                    <a:p>
                      <a:pPr marL="7112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spc="-5" dirty="0">
                          <a:latin typeface="微软雅黑"/>
                          <a:cs typeface="微软雅黑"/>
                        </a:rPr>
                        <a:t>用于处理所有定时器</a:t>
                      </a:r>
                      <a:r>
                        <a:rPr sz="2400" b="1" dirty="0">
                          <a:latin typeface="微软雅黑"/>
                          <a:cs typeface="微软雅黑"/>
                        </a:rPr>
                        <a:t>的</a:t>
                      </a:r>
                      <a:r>
                        <a:rPr sz="2400" b="1" spc="-5" dirty="0">
                          <a:latin typeface="微软雅黑"/>
                          <a:cs typeface="微软雅黑"/>
                        </a:rPr>
                        <a:t>输入捕获</a:t>
                      </a:r>
                      <a:r>
                        <a:rPr sz="2400" b="1" dirty="0">
                          <a:latin typeface="微软雅黑"/>
                          <a:cs typeface="微软雅黑"/>
                        </a:rPr>
                        <a:t>中断，用户在该函数内编写实际的任务处理</a:t>
                      </a:r>
                      <a:endParaRPr sz="2400">
                        <a:latin typeface="微软雅黑"/>
                        <a:cs typeface="微软雅黑"/>
                      </a:endParaRPr>
                    </a:p>
                    <a:p>
                      <a:pPr marL="54610">
                        <a:lnSpc>
                          <a:spcPts val="2855"/>
                        </a:lnSpc>
                      </a:pPr>
                      <a:r>
                        <a:rPr sz="2400" b="1" dirty="0">
                          <a:latin typeface="微软雅黑"/>
                          <a:cs typeface="微软雅黑"/>
                        </a:rPr>
                        <a:t>程序</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36829">
                <a:tc>
                  <a:txBody>
                    <a:bodyPr/>
                    <a:lstStyle/>
                    <a:p>
                      <a:pPr marL="71120">
                        <a:lnSpc>
                          <a:spcPct val="100000"/>
                        </a:lnSpc>
                      </a:pPr>
                      <a:r>
                        <a:rPr sz="2400" b="1" dirty="0">
                          <a:latin typeface="微软雅黑"/>
                          <a:cs typeface="微软雅黑"/>
                        </a:rPr>
                        <a:t>入口参数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4610">
                        <a:lnSpc>
                          <a:spcPct val="100000"/>
                        </a:lnSpc>
                      </a:pP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536828">
                <a:tc>
                  <a:txBody>
                    <a:bodyPr/>
                    <a:lstStyle/>
                    <a:p>
                      <a:pPr marL="223520">
                        <a:lnSpc>
                          <a:spcPct val="100000"/>
                        </a:lnSpc>
                      </a:pPr>
                      <a:r>
                        <a:rPr sz="2400" b="1" spc="-5"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4610">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2002904">
                <a:tc>
                  <a:txBody>
                    <a:bodyPr/>
                    <a:lstStyle/>
                    <a:p>
                      <a:pPr marL="71120">
                        <a:lnSpc>
                          <a:spcPct val="100000"/>
                        </a:lnSpc>
                      </a:pPr>
                      <a:r>
                        <a:rPr sz="2400" b="1" spc="-5"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06730" marR="118745" indent="-452755">
                        <a:lnSpc>
                          <a:spcPct val="111400"/>
                        </a:lnSpc>
                        <a:tabLst>
                          <a:tab pos="511809" algn="l"/>
                        </a:tabLst>
                      </a:pPr>
                      <a:r>
                        <a:rPr sz="2400" b="1" spc="-5" dirty="0">
                          <a:latin typeface="微软雅黑"/>
                          <a:cs typeface="微软雅黑"/>
                        </a:rPr>
                        <a:t>1</a:t>
                      </a:r>
                      <a:r>
                        <a:rPr sz="2400" b="1" dirty="0">
                          <a:latin typeface="微软雅黑"/>
                          <a:cs typeface="微软雅黑"/>
                        </a:rPr>
                        <a:t>.		该函数由定时器中断通用处理函</a:t>
                      </a:r>
                      <a:r>
                        <a:rPr sz="2400" b="1" spc="5" dirty="0">
                          <a:latin typeface="微软雅黑"/>
                          <a:cs typeface="微软雅黑"/>
                        </a:rPr>
                        <a:t>数</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a:t>
                      </a:r>
                      <a:r>
                        <a:rPr sz="2400" b="1" spc="-20" dirty="0">
                          <a:latin typeface="微软雅黑"/>
                          <a:cs typeface="微软雅黑"/>
                        </a:rPr>
                        <a:t>R</a:t>
                      </a:r>
                      <a:r>
                        <a:rPr sz="2400" b="1" spc="-5" dirty="0">
                          <a:latin typeface="微软雅黑"/>
                          <a:cs typeface="微软雅黑"/>
                        </a:rPr>
                        <a:t>QH</a:t>
                      </a:r>
                      <a:r>
                        <a:rPr sz="2400" b="1" spc="5" dirty="0">
                          <a:latin typeface="微软雅黑"/>
                          <a:cs typeface="微软雅黑"/>
                        </a:rPr>
                        <a:t>a</a:t>
                      </a:r>
                      <a:r>
                        <a:rPr sz="2400" b="1" dirty="0">
                          <a:latin typeface="微软雅黑"/>
                          <a:cs typeface="微软雅黑"/>
                        </a:rPr>
                        <a:t>ndle</a:t>
                      </a:r>
                      <a:r>
                        <a:rPr sz="2400" b="1" spc="5" dirty="0">
                          <a:latin typeface="微软雅黑"/>
                          <a:cs typeface="微软雅黑"/>
                        </a:rPr>
                        <a:t>r</a:t>
                      </a:r>
                      <a:r>
                        <a:rPr sz="2400" b="1" dirty="0">
                          <a:latin typeface="微软雅黑"/>
                          <a:cs typeface="微软雅黑"/>
                        </a:rPr>
                        <a:t>调用，完成所 有定时器输入捕获中断的任务处理</a:t>
                      </a:r>
                      <a:endParaRPr sz="2400">
                        <a:latin typeface="微软雅黑"/>
                        <a:cs typeface="微软雅黑"/>
                      </a:endParaRPr>
                    </a:p>
                    <a:p>
                      <a:pPr marL="511809" marR="47625" indent="-457200">
                        <a:lnSpc>
                          <a:spcPts val="3200"/>
                        </a:lnSpc>
                        <a:spcBef>
                          <a:spcPts val="150"/>
                        </a:spcBef>
                        <a:tabLst>
                          <a:tab pos="511809" algn="l"/>
                        </a:tabLst>
                      </a:pPr>
                      <a:r>
                        <a:rPr sz="2400" b="1" spc="-5" dirty="0">
                          <a:latin typeface="微软雅黑"/>
                          <a:cs typeface="微软雅黑"/>
                        </a:rPr>
                        <a:t>2</a:t>
                      </a:r>
                      <a:r>
                        <a:rPr sz="2400" b="1" dirty="0">
                          <a:latin typeface="微软雅黑"/>
                          <a:cs typeface="微软雅黑"/>
                        </a:rPr>
                        <a:t>.	</a:t>
                      </a:r>
                      <a:r>
                        <a:rPr sz="2400" b="1" spc="5" dirty="0">
                          <a:latin typeface="微软雅黑"/>
                          <a:cs typeface="微软雅黑"/>
                        </a:rPr>
                        <a:t>函数内</a:t>
                      </a:r>
                      <a:r>
                        <a:rPr sz="2400" b="1" dirty="0">
                          <a:latin typeface="微软雅黑"/>
                          <a:cs typeface="微软雅黑"/>
                        </a:rPr>
                        <a:t>部需</a:t>
                      </a:r>
                      <a:r>
                        <a:rPr sz="2400" b="1" spc="5" dirty="0">
                          <a:latin typeface="微软雅黑"/>
                          <a:cs typeface="微软雅黑"/>
                        </a:rPr>
                        <a:t>要根据</a:t>
                      </a:r>
                      <a:r>
                        <a:rPr sz="2400" b="1" dirty="0">
                          <a:latin typeface="微软雅黑"/>
                          <a:cs typeface="微软雅黑"/>
                        </a:rPr>
                        <a:t>定时</a:t>
                      </a:r>
                      <a:r>
                        <a:rPr sz="2400" b="1" spc="5" dirty="0">
                          <a:latin typeface="微软雅黑"/>
                          <a:cs typeface="微软雅黑"/>
                        </a:rPr>
                        <a:t>器句柄</a:t>
                      </a:r>
                      <a:r>
                        <a:rPr sz="2400" b="1" dirty="0">
                          <a:latin typeface="微软雅黑"/>
                          <a:cs typeface="微软雅黑"/>
                        </a:rPr>
                        <a:t>的实</a:t>
                      </a:r>
                      <a:r>
                        <a:rPr sz="2400" b="1" spc="5" dirty="0">
                          <a:latin typeface="微软雅黑"/>
                          <a:cs typeface="微软雅黑"/>
                        </a:rPr>
                        <a:t>例来判</a:t>
                      </a:r>
                      <a:r>
                        <a:rPr sz="2400" b="1" dirty="0">
                          <a:latin typeface="微软雅黑"/>
                          <a:cs typeface="微软雅黑"/>
                        </a:rPr>
                        <a:t>断是</a:t>
                      </a:r>
                      <a:r>
                        <a:rPr sz="2400" b="1" spc="5" dirty="0">
                          <a:latin typeface="微软雅黑"/>
                          <a:cs typeface="微软雅黑"/>
                        </a:rPr>
                        <a:t>哪一个</a:t>
                      </a:r>
                      <a:r>
                        <a:rPr sz="2400" b="1" dirty="0">
                          <a:latin typeface="微软雅黑"/>
                          <a:cs typeface="微软雅黑"/>
                        </a:rPr>
                        <a:t>定时</a:t>
                      </a:r>
                      <a:r>
                        <a:rPr sz="2400" b="1" spc="55" dirty="0">
                          <a:latin typeface="微软雅黑"/>
                          <a:cs typeface="微软雅黑"/>
                        </a:rPr>
                        <a:t>器</a:t>
                      </a:r>
                      <a:r>
                        <a:rPr sz="2400" b="1" spc="5" dirty="0">
                          <a:latin typeface="微软雅黑"/>
                          <a:cs typeface="微软雅黑"/>
                        </a:rPr>
                        <a:t>的哪</a:t>
                      </a:r>
                      <a:r>
                        <a:rPr sz="2400" b="1" dirty="0">
                          <a:latin typeface="微软雅黑"/>
                          <a:cs typeface="微软雅黑"/>
                        </a:rPr>
                        <a:t>一个</a:t>
                      </a:r>
                      <a:r>
                        <a:rPr sz="2400" b="1" spc="20" dirty="0">
                          <a:latin typeface="微软雅黑"/>
                          <a:cs typeface="微软雅黑"/>
                        </a:rPr>
                        <a:t>通</a:t>
                      </a:r>
                      <a:r>
                        <a:rPr sz="2400" b="1" dirty="0">
                          <a:latin typeface="微软雅黑"/>
                          <a:cs typeface="微软雅黑"/>
                        </a:rPr>
                        <a:t>道 产生的本次输入捕获中断</a:t>
                      </a:r>
                      <a:endParaRPr sz="2400">
                        <a:latin typeface="微软雅黑"/>
                        <a:cs typeface="微软雅黑"/>
                      </a:endParaRPr>
                    </a:p>
                    <a:p>
                      <a:pPr marL="54610">
                        <a:lnSpc>
                          <a:spcPts val="2845"/>
                        </a:lnSpc>
                        <a:spcBef>
                          <a:spcPts val="160"/>
                        </a:spcBef>
                        <a:tabLst>
                          <a:tab pos="509905" algn="l"/>
                        </a:tabLst>
                      </a:pPr>
                      <a:r>
                        <a:rPr sz="2400" b="1" spc="-10" dirty="0">
                          <a:latin typeface="微软雅黑"/>
                          <a:cs typeface="微软雅黑"/>
                        </a:rPr>
                        <a:t>3</a:t>
                      </a:r>
                      <a:r>
                        <a:rPr sz="2400" b="1" dirty="0">
                          <a:latin typeface="微软雅黑"/>
                          <a:cs typeface="微软雅黑"/>
                        </a:rPr>
                        <a:t>.	</a:t>
                      </a:r>
                      <a:r>
                        <a:rPr sz="2400" b="1" spc="-5" dirty="0">
                          <a:latin typeface="微软雅黑"/>
                          <a:cs typeface="微软雅黑"/>
                        </a:rPr>
                        <a:t>函数由用户根据具体的处理任务编写</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440475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0509" y="6610699"/>
            <a:ext cx="284480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p:nvPr/>
        </p:nvSpPr>
        <p:spPr>
          <a:xfrm>
            <a:off x="1778254" y="5496280"/>
            <a:ext cx="10235565" cy="1054100"/>
          </a:xfrm>
          <a:custGeom>
            <a:avLst/>
            <a:gdLst/>
            <a:ahLst/>
            <a:cxnLst/>
            <a:rect l="l" t="t" r="r" b="b"/>
            <a:pathLst>
              <a:path w="10235565" h="1054100">
                <a:moveTo>
                  <a:pt x="0" y="1053744"/>
                </a:moveTo>
                <a:lnTo>
                  <a:pt x="10235565" y="1053744"/>
                </a:lnTo>
                <a:lnTo>
                  <a:pt x="10235565" y="0"/>
                </a:lnTo>
                <a:lnTo>
                  <a:pt x="0" y="0"/>
                </a:lnTo>
                <a:lnTo>
                  <a:pt x="0" y="1053744"/>
                </a:lnTo>
                <a:close/>
              </a:path>
            </a:pathLst>
          </a:custGeom>
          <a:solidFill>
            <a:srgbClr val="FFFFFF"/>
          </a:solidFill>
        </p:spPr>
        <p:txBody>
          <a:bodyPr wrap="square" lIns="0" tIns="0" rIns="0" bIns="0" rtlCol="0"/>
          <a:lstStyle/>
          <a:p>
            <a:endParaRPr/>
          </a:p>
        </p:txBody>
      </p:sp>
      <p:sp>
        <p:nvSpPr>
          <p:cNvPr id="5" name="object 5"/>
          <p:cNvSpPr txBox="1">
            <a:spLocks noGrp="1"/>
          </p:cNvSpPr>
          <p:nvPr>
            <p:ph type="title"/>
          </p:nvPr>
        </p:nvSpPr>
        <p:spPr>
          <a:xfrm>
            <a:off x="1803654" y="564707"/>
            <a:ext cx="8586470" cy="381000"/>
          </a:xfrm>
          <a:prstGeom prst="rect">
            <a:avLst/>
          </a:prstGeom>
        </p:spPr>
        <p:txBody>
          <a:bodyPr vert="horz" wrap="square" lIns="0" tIns="0" rIns="0" bIns="0" rtlCol="0">
            <a:spAutoFit/>
          </a:bodyPr>
          <a:lstStyle/>
          <a:p>
            <a:pPr marL="12700">
              <a:lnSpc>
                <a:spcPct val="100000"/>
              </a:lnSpc>
              <a:tabLst>
                <a:tab pos="443865" algn="l"/>
              </a:tabLst>
            </a:pPr>
            <a:r>
              <a:rPr spc="-5" dirty="0">
                <a:latin typeface="微软雅黑"/>
                <a:cs typeface="微软雅黑"/>
              </a:rPr>
              <a:t>4	</a:t>
            </a:r>
            <a:r>
              <a:rPr spc="-5" dirty="0"/>
              <a:t>捕获值读取函数</a:t>
            </a:r>
            <a:r>
              <a:rPr spc="-25" dirty="0"/>
              <a:t>：</a:t>
            </a:r>
            <a:r>
              <a:rPr spc="-10" dirty="0">
                <a:latin typeface="微软雅黑"/>
                <a:cs typeface="微软雅黑"/>
              </a:rPr>
              <a:t>H</a:t>
            </a:r>
            <a:r>
              <a:rPr spc="-20" dirty="0">
                <a:latin typeface="微软雅黑"/>
                <a:cs typeface="微软雅黑"/>
              </a:rPr>
              <a:t>A</a:t>
            </a:r>
            <a:r>
              <a:rPr spc="-5" dirty="0">
                <a:latin typeface="微软雅黑"/>
                <a:cs typeface="微软雅黑"/>
              </a:rPr>
              <a:t>L</a:t>
            </a:r>
            <a:r>
              <a:rPr spc="-20" dirty="0">
                <a:latin typeface="微软雅黑"/>
                <a:cs typeface="微软雅黑"/>
              </a:rPr>
              <a:t>_</a:t>
            </a:r>
            <a:r>
              <a:rPr spc="-5" dirty="0">
                <a:latin typeface="微软雅黑"/>
                <a:cs typeface="微软雅黑"/>
              </a:rPr>
              <a:t>TIM_</a:t>
            </a:r>
            <a:r>
              <a:rPr spc="-70" dirty="0">
                <a:latin typeface="微软雅黑"/>
                <a:cs typeface="微软雅黑"/>
              </a:rPr>
              <a:t>R</a:t>
            </a:r>
            <a:r>
              <a:rPr spc="-5" dirty="0">
                <a:latin typeface="微软雅黑"/>
                <a:cs typeface="微软雅黑"/>
              </a:rPr>
              <a:t>eadCaptu</a:t>
            </a:r>
            <a:r>
              <a:rPr spc="-20" dirty="0">
                <a:latin typeface="微软雅黑"/>
                <a:cs typeface="微软雅黑"/>
              </a:rPr>
              <a:t>r</a:t>
            </a:r>
            <a:r>
              <a:rPr spc="-5" dirty="0">
                <a:latin typeface="微软雅黑"/>
                <a:cs typeface="微软雅黑"/>
              </a:rPr>
              <a:t>ed</a:t>
            </a:r>
            <a:r>
              <a:rPr spc="-229" dirty="0">
                <a:latin typeface="微软雅黑"/>
                <a:cs typeface="微软雅黑"/>
              </a:rPr>
              <a:t>V</a:t>
            </a:r>
            <a:r>
              <a:rPr spc="-5" dirty="0">
                <a:latin typeface="微软雅黑"/>
                <a:cs typeface="微软雅黑"/>
              </a:rPr>
              <a:t>alue</a:t>
            </a:r>
          </a:p>
        </p:txBody>
      </p:sp>
      <p:graphicFrame>
        <p:nvGraphicFramePr>
          <p:cNvPr id="4" name="object 4"/>
          <p:cNvGraphicFramePr>
            <a:graphicFrameLocks noGrp="1"/>
          </p:cNvGraphicFramePr>
          <p:nvPr/>
        </p:nvGraphicFramePr>
        <p:xfrm>
          <a:off x="163944" y="1178496"/>
          <a:ext cx="11835587" cy="5357239"/>
        </p:xfrm>
        <a:graphic>
          <a:graphicData uri="http://schemas.openxmlformats.org/drawingml/2006/table">
            <a:tbl>
              <a:tblPr firstRow="1" bandRow="1">
                <a:tableStyleId>{2D5ABB26-0587-4C30-8999-92F81FD0307C}</a:tableStyleId>
              </a:tblPr>
              <a:tblGrid>
                <a:gridCol w="1600022">
                  <a:extLst>
                    <a:ext uri="{9D8B030D-6E8A-4147-A177-3AD203B41FA5}">
                      <a16:colId xmlns:a16="http://schemas.microsoft.com/office/drawing/2014/main" val="20000"/>
                    </a:ext>
                  </a:extLst>
                </a:gridCol>
                <a:gridCol w="10235565">
                  <a:extLst>
                    <a:ext uri="{9D8B030D-6E8A-4147-A177-3AD203B41FA5}">
                      <a16:colId xmlns:a16="http://schemas.microsoft.com/office/drawing/2014/main" val="20001"/>
                    </a:ext>
                  </a:extLst>
                </a:gridCol>
              </a:tblGrid>
              <a:tr h="526795">
                <a:tc gridSpan="2">
                  <a:txBody>
                    <a:bodyPr/>
                    <a:lstStyle/>
                    <a:p>
                      <a:pPr marL="2870835">
                        <a:lnSpc>
                          <a:spcPct val="100000"/>
                        </a:lnSpc>
                      </a:pPr>
                      <a:r>
                        <a:rPr sz="2400" b="1" dirty="0">
                          <a:solidFill>
                            <a:srgbClr val="FFFFFF"/>
                          </a:solidFill>
                          <a:latin typeface="微软雅黑"/>
                          <a:cs typeface="微软雅黑"/>
                        </a:rPr>
                        <a:t>接口函数</a:t>
                      </a:r>
                      <a:r>
                        <a:rPr sz="2400" b="1" spc="-10" dirty="0">
                          <a:solidFill>
                            <a:srgbClr val="FFFFFF"/>
                          </a:solidFill>
                          <a:latin typeface="微软雅黑"/>
                          <a:cs typeface="微软雅黑"/>
                        </a:rPr>
                        <a:t>：</a:t>
                      </a:r>
                      <a:r>
                        <a:rPr sz="2400" b="1" spc="-5" dirty="0">
                          <a:solidFill>
                            <a:srgbClr val="FFFFFF"/>
                          </a:solidFill>
                          <a:latin typeface="微软雅黑"/>
                          <a:cs typeface="微软雅黑"/>
                        </a:rPr>
                        <a:t>H</a:t>
                      </a:r>
                      <a:r>
                        <a:rPr sz="2400" b="1" spc="-10" dirty="0">
                          <a:solidFill>
                            <a:srgbClr val="FFFFFF"/>
                          </a:solidFill>
                          <a:latin typeface="微软雅黑"/>
                          <a:cs typeface="微软雅黑"/>
                        </a:rPr>
                        <a:t>A</a:t>
                      </a:r>
                      <a:r>
                        <a:rPr sz="2400" b="1" dirty="0">
                          <a:solidFill>
                            <a:srgbClr val="FFFFFF"/>
                          </a:solidFill>
                          <a:latin typeface="微软雅黑"/>
                          <a:cs typeface="微软雅黑"/>
                        </a:rPr>
                        <a:t>L_TIM_</a:t>
                      </a:r>
                      <a:r>
                        <a:rPr sz="2400" b="1" spc="-60" dirty="0">
                          <a:solidFill>
                            <a:srgbClr val="FFFFFF"/>
                          </a:solidFill>
                          <a:latin typeface="微软雅黑"/>
                          <a:cs typeface="微软雅黑"/>
                        </a:rPr>
                        <a:t>R</a:t>
                      </a:r>
                      <a:r>
                        <a:rPr sz="2400" b="1" dirty="0">
                          <a:solidFill>
                            <a:srgbClr val="FFFFFF"/>
                          </a:solidFill>
                          <a:latin typeface="微软雅黑"/>
                          <a:cs typeface="微软雅黑"/>
                        </a:rPr>
                        <a:t>eadC</a:t>
                      </a:r>
                      <a:r>
                        <a:rPr sz="2400" b="1" spc="5" dirty="0">
                          <a:solidFill>
                            <a:srgbClr val="FFFFFF"/>
                          </a:solidFill>
                          <a:latin typeface="微软雅黑"/>
                          <a:cs typeface="微软雅黑"/>
                        </a:rPr>
                        <a:t>a</a:t>
                      </a:r>
                      <a:r>
                        <a:rPr sz="2400" b="1" dirty="0">
                          <a:solidFill>
                            <a:srgbClr val="FFFFFF"/>
                          </a:solidFill>
                          <a:latin typeface="微软雅黑"/>
                          <a:cs typeface="微软雅黑"/>
                        </a:rPr>
                        <a:t>ptur</a:t>
                      </a:r>
                      <a:r>
                        <a:rPr sz="2400" b="1" spc="-10" dirty="0">
                          <a:solidFill>
                            <a:srgbClr val="FFFFFF"/>
                          </a:solidFill>
                          <a:latin typeface="微软雅黑"/>
                          <a:cs typeface="微软雅黑"/>
                        </a:rPr>
                        <a:t>e</a:t>
                      </a:r>
                      <a:r>
                        <a:rPr sz="2400" b="1" dirty="0">
                          <a:solidFill>
                            <a:srgbClr val="FFFFFF"/>
                          </a:solidFill>
                          <a:latin typeface="微软雅黑"/>
                          <a:cs typeface="微软雅黑"/>
                        </a:rPr>
                        <a:t>d</a:t>
                      </a:r>
                      <a:r>
                        <a:rPr sz="2400" b="1" spc="-195" dirty="0">
                          <a:solidFill>
                            <a:srgbClr val="FFFFFF"/>
                          </a:solidFill>
                          <a:latin typeface="微软雅黑"/>
                          <a:cs typeface="微软雅黑"/>
                        </a:rPr>
                        <a:t>V</a:t>
                      </a:r>
                      <a:r>
                        <a:rPr sz="2400" b="1" dirty="0">
                          <a:solidFill>
                            <a:srgbClr val="FFFFFF"/>
                          </a:solidFill>
                          <a:latin typeface="微软雅黑"/>
                          <a:cs typeface="微软雅黑"/>
                        </a:rPr>
                        <a:t>alue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1053846">
                <a:tc>
                  <a:txBody>
                    <a:bodyPr/>
                    <a:lstStyle/>
                    <a:p>
                      <a:pPr marL="174625">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1485265" algn="l"/>
                        </a:tabLst>
                      </a:pPr>
                      <a:r>
                        <a:rPr sz="2400" b="1" dirty="0">
                          <a:latin typeface="微软雅黑"/>
                          <a:cs typeface="微软雅黑"/>
                        </a:rPr>
                        <a:t>ui</a:t>
                      </a:r>
                      <a:r>
                        <a:rPr sz="2400" b="1" spc="5" dirty="0">
                          <a:latin typeface="微软雅黑"/>
                          <a:cs typeface="微软雅黑"/>
                        </a:rPr>
                        <a:t>n</a:t>
                      </a:r>
                      <a:r>
                        <a:rPr sz="2400" b="1" dirty="0">
                          <a:latin typeface="微软雅黑"/>
                          <a:cs typeface="微软雅黑"/>
                        </a:rPr>
                        <a:t>t</a:t>
                      </a:r>
                      <a:r>
                        <a:rPr sz="2400" b="1" spc="-5" dirty="0">
                          <a:latin typeface="微软雅黑"/>
                          <a:cs typeface="微软雅黑"/>
                        </a:rPr>
                        <a:t>32</a:t>
                      </a:r>
                      <a:r>
                        <a:rPr sz="2400" b="1" dirty="0">
                          <a:latin typeface="微软雅黑"/>
                          <a:cs typeface="微软雅黑"/>
                        </a:rPr>
                        <a:t>_t	</a:t>
                      </a:r>
                      <a:r>
                        <a:rPr sz="2400" b="1" spc="-5" dirty="0">
                          <a:latin typeface="微软雅黑"/>
                          <a:cs typeface="微软雅黑"/>
                        </a:rPr>
                        <a:t>H</a:t>
                      </a:r>
                      <a:r>
                        <a:rPr sz="2400" b="1" spc="-10" dirty="0">
                          <a:latin typeface="微软雅黑"/>
                          <a:cs typeface="微软雅黑"/>
                        </a:rPr>
                        <a:t>A</a:t>
                      </a:r>
                      <a:r>
                        <a:rPr sz="2400" b="1" dirty="0">
                          <a:latin typeface="微软雅黑"/>
                          <a:cs typeface="微软雅黑"/>
                        </a:rPr>
                        <a:t>L_TIM_</a:t>
                      </a:r>
                      <a:r>
                        <a:rPr sz="2400" b="1" spc="-5" dirty="0">
                          <a:latin typeface="微软雅黑"/>
                          <a:cs typeface="微软雅黑"/>
                        </a:rPr>
                        <a:t>IC</a:t>
                      </a:r>
                      <a:r>
                        <a:rPr sz="2400" b="1" spc="5" dirty="0">
                          <a:latin typeface="微软雅黑"/>
                          <a:cs typeface="微软雅黑"/>
                        </a:rPr>
                        <a:t>_</a:t>
                      </a:r>
                      <a:r>
                        <a:rPr sz="2400" b="1" spc="-80" dirty="0">
                          <a:latin typeface="微软雅黑"/>
                          <a:cs typeface="微软雅黑"/>
                        </a:rPr>
                        <a:t>S</a:t>
                      </a:r>
                      <a:r>
                        <a:rPr sz="2400" b="1" spc="-5" dirty="0">
                          <a:latin typeface="微软雅黑"/>
                          <a:cs typeface="微软雅黑"/>
                        </a:rPr>
                        <a:t>t</a:t>
                      </a:r>
                      <a:r>
                        <a:rPr sz="2400" b="1" spc="5" dirty="0">
                          <a:latin typeface="微软雅黑"/>
                          <a:cs typeface="微软雅黑"/>
                        </a:rPr>
                        <a:t>a</a:t>
                      </a:r>
                      <a:r>
                        <a:rPr sz="2400" b="1" spc="70" dirty="0">
                          <a:latin typeface="微软雅黑"/>
                          <a:cs typeface="微软雅黑"/>
                        </a:rPr>
                        <a:t>r</a:t>
                      </a:r>
                      <a:r>
                        <a:rPr sz="2400" b="1" spc="-5" dirty="0">
                          <a:latin typeface="微软雅黑"/>
                          <a:cs typeface="微软雅黑"/>
                        </a:rPr>
                        <a:t>t</a:t>
                      </a:r>
                      <a:r>
                        <a:rPr sz="2400" b="1" dirty="0">
                          <a:latin typeface="微软雅黑"/>
                          <a:cs typeface="微软雅黑"/>
                        </a:rPr>
                        <a:t>_</a:t>
                      </a:r>
                      <a:r>
                        <a:rPr sz="2400" b="1" spc="-5" dirty="0">
                          <a:latin typeface="微软雅黑"/>
                          <a:cs typeface="微软雅黑"/>
                        </a:rPr>
                        <a:t>IT</a:t>
                      </a:r>
                      <a:endParaRPr sz="2400">
                        <a:latin typeface="微软雅黑"/>
                        <a:cs typeface="微软雅黑"/>
                      </a:endParaRPr>
                    </a:p>
                    <a:p>
                      <a:pPr marL="53975">
                        <a:lnSpc>
                          <a:spcPct val="100000"/>
                        </a:lnSpc>
                      </a:pPr>
                      <a:r>
                        <a:rPr sz="2400" b="1" dirty="0">
                          <a:latin typeface="微软雅黑"/>
                          <a:cs typeface="微软雅黑"/>
                        </a:rPr>
                        <a:t>(</a:t>
                      </a:r>
                      <a:r>
                        <a:rPr sz="2400" b="1" spc="-5" dirty="0">
                          <a:latin typeface="微软雅黑"/>
                          <a:cs typeface="微软雅黑"/>
                        </a:rPr>
                        <a:t>TIM_Handle</a:t>
                      </a:r>
                      <a:r>
                        <a:rPr sz="2400" b="1" spc="-120" dirty="0">
                          <a:latin typeface="微软雅黑"/>
                          <a:cs typeface="微软雅黑"/>
                        </a:rPr>
                        <a:t>T</a:t>
                      </a:r>
                      <a:r>
                        <a:rPr sz="2400" b="1" spc="-5" dirty="0">
                          <a:latin typeface="微软雅黑"/>
                          <a:cs typeface="微软雅黑"/>
                        </a:rPr>
                        <a:t>yp</a:t>
                      </a:r>
                      <a:r>
                        <a:rPr sz="2400" b="1" spc="-10" dirty="0">
                          <a:latin typeface="微软雅黑"/>
                          <a:cs typeface="微软雅黑"/>
                        </a:rPr>
                        <a:t>e</a:t>
                      </a:r>
                      <a:r>
                        <a:rPr sz="2400" b="1" dirty="0">
                          <a:latin typeface="微软雅黑"/>
                          <a:cs typeface="微软雅黑"/>
                        </a:rPr>
                        <a:t>D</a:t>
                      </a:r>
                      <a:r>
                        <a:rPr sz="2400" b="1" spc="-15" dirty="0">
                          <a:latin typeface="微软雅黑"/>
                          <a:cs typeface="微软雅黑"/>
                        </a:rPr>
                        <a:t>e</a:t>
                      </a:r>
                      <a:r>
                        <a:rPr sz="2400" b="1" dirty="0">
                          <a:latin typeface="微软雅黑"/>
                          <a:cs typeface="微软雅黑"/>
                        </a:rPr>
                        <a:t>f</a:t>
                      </a:r>
                      <a:r>
                        <a:rPr sz="2400" b="1" spc="15" dirty="0">
                          <a:latin typeface="微软雅黑"/>
                          <a:cs typeface="微软雅黑"/>
                        </a:rPr>
                        <a:t> </a:t>
                      </a:r>
                      <a:r>
                        <a:rPr sz="2400" b="1" spc="-10" dirty="0">
                          <a:latin typeface="微软雅黑"/>
                          <a:cs typeface="微软雅黑"/>
                        </a:rPr>
                        <a:t>*</a:t>
                      </a:r>
                      <a:r>
                        <a:rPr sz="2400" b="1" dirty="0">
                          <a:latin typeface="微软雅黑"/>
                          <a:cs typeface="微软雅黑"/>
                        </a:rPr>
                        <a:t>hti</a:t>
                      </a:r>
                      <a:r>
                        <a:rPr sz="2400" b="1" spc="-15" dirty="0">
                          <a:latin typeface="微软雅黑"/>
                          <a:cs typeface="微软雅黑"/>
                        </a:rPr>
                        <a:t>m</a:t>
                      </a:r>
                      <a:r>
                        <a:rPr sz="2400" b="1" dirty="0">
                          <a:latin typeface="微软雅黑"/>
                          <a:cs typeface="微软雅黑"/>
                        </a:rPr>
                        <a:t>,</a:t>
                      </a:r>
                      <a:r>
                        <a:rPr sz="2400" b="1" spc="25" dirty="0">
                          <a:latin typeface="微软雅黑"/>
                          <a:cs typeface="微软雅黑"/>
                        </a:rPr>
                        <a:t> </a:t>
                      </a:r>
                      <a:r>
                        <a:rPr sz="2400" b="1" dirty="0">
                          <a:latin typeface="微软雅黑"/>
                          <a:cs typeface="微软雅黑"/>
                        </a:rPr>
                        <a:t>uint</a:t>
                      </a:r>
                      <a:r>
                        <a:rPr sz="2400" b="1" spc="-10" dirty="0">
                          <a:latin typeface="微软雅黑"/>
                          <a:cs typeface="微软雅黑"/>
                        </a:rPr>
                        <a:t>32</a:t>
                      </a:r>
                      <a:r>
                        <a:rPr sz="2400" b="1" dirty="0">
                          <a:latin typeface="微软雅黑"/>
                          <a:cs typeface="微软雅黑"/>
                        </a:rPr>
                        <a:t>_t</a:t>
                      </a:r>
                      <a:r>
                        <a:rPr sz="2400" b="1" spc="-20" dirty="0">
                          <a:latin typeface="微软雅黑"/>
                          <a:cs typeface="微软雅黑"/>
                        </a:rPr>
                        <a:t> </a:t>
                      </a:r>
                      <a:r>
                        <a:rPr sz="2400" b="1" spc="-5" dirty="0">
                          <a:latin typeface="微软雅黑"/>
                          <a:cs typeface="微软雅黑"/>
                        </a:rPr>
                        <a:t>Ch</a:t>
                      </a:r>
                      <a:r>
                        <a:rPr sz="2400" b="1" spc="10" dirty="0">
                          <a:latin typeface="微软雅黑"/>
                          <a:cs typeface="微软雅黑"/>
                        </a:rPr>
                        <a:t>a</a:t>
                      </a:r>
                      <a:r>
                        <a:rPr sz="2400" b="1" dirty="0">
                          <a:latin typeface="微软雅黑"/>
                          <a:cs typeface="微软雅黑"/>
                        </a:rPr>
                        <a:t>n</a:t>
                      </a:r>
                      <a:r>
                        <a:rPr sz="2400" b="1" spc="5" dirty="0">
                          <a:latin typeface="微软雅黑"/>
                          <a:cs typeface="微软雅黑"/>
                        </a:rPr>
                        <a:t>n</a:t>
                      </a:r>
                      <a:r>
                        <a:rPr sz="2400" b="1" dirty="0">
                          <a:latin typeface="微软雅黑"/>
                          <a:cs typeface="微软雅黑"/>
                        </a:rPr>
                        <a:t>el)</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26796">
                <a:tc>
                  <a:txBody>
                    <a:bodyPr/>
                    <a:lstStyle/>
                    <a:p>
                      <a:pPr marL="174625">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用于读取捕</a:t>
                      </a:r>
                      <a:r>
                        <a:rPr sz="2400" b="1" spc="-5" dirty="0">
                          <a:latin typeface="微软雅黑"/>
                          <a:cs typeface="微软雅黑"/>
                        </a:rPr>
                        <a:t>获</a:t>
                      </a:r>
                      <a:r>
                        <a:rPr sz="2400" b="1" spc="5" dirty="0">
                          <a:latin typeface="微软雅黑"/>
                          <a:cs typeface="微软雅黑"/>
                        </a:rPr>
                        <a:t>/</a:t>
                      </a:r>
                      <a:r>
                        <a:rPr sz="2400" b="1" dirty="0">
                          <a:latin typeface="微软雅黑"/>
                          <a:cs typeface="微软雅黑"/>
                        </a:rPr>
                        <a:t>比较寄存器</a:t>
                      </a:r>
                      <a:r>
                        <a:rPr sz="2400" b="1" spc="-5" dirty="0">
                          <a:latin typeface="微软雅黑"/>
                          <a:cs typeface="微软雅黑"/>
                        </a:rPr>
                        <a:t>TI</a:t>
                      </a:r>
                      <a:r>
                        <a:rPr sz="2400" b="1" spc="5" dirty="0">
                          <a:latin typeface="微软雅黑"/>
                          <a:cs typeface="微软雅黑"/>
                        </a:rPr>
                        <a:t>M</a:t>
                      </a:r>
                      <a:r>
                        <a:rPr sz="2400" b="1" dirty="0">
                          <a:latin typeface="微软雅黑"/>
                          <a:cs typeface="微软雅黑"/>
                        </a:rPr>
                        <a:t>x</a:t>
                      </a:r>
                      <a:r>
                        <a:rPr sz="2400" b="1" spc="5" dirty="0">
                          <a:latin typeface="微软雅黑"/>
                          <a:cs typeface="微软雅黑"/>
                        </a:rPr>
                        <a:t>_</a:t>
                      </a:r>
                      <a:r>
                        <a:rPr sz="2400" b="1" spc="-70" dirty="0">
                          <a:latin typeface="微软雅黑"/>
                          <a:cs typeface="微软雅黑"/>
                        </a:rPr>
                        <a:t>C</a:t>
                      </a:r>
                      <a:r>
                        <a:rPr sz="2400" b="1" spc="-5" dirty="0">
                          <a:latin typeface="微软雅黑"/>
                          <a:cs typeface="微软雅黑"/>
                        </a:rPr>
                        <a:t>C</a:t>
                      </a:r>
                      <a:r>
                        <a:rPr sz="2400" b="1" spc="-10" dirty="0">
                          <a:latin typeface="微软雅黑"/>
                          <a:cs typeface="微软雅黑"/>
                        </a:rPr>
                        <a:t>R</a:t>
                      </a:r>
                      <a:r>
                        <a:rPr sz="2400" b="1" dirty="0">
                          <a:latin typeface="微软雅黑"/>
                          <a:cs typeface="微软雅黑"/>
                        </a:rPr>
                        <a:t>的值，即捕获值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26922">
                <a:tc>
                  <a:txBody>
                    <a:bodyPr/>
                    <a:lstStyle/>
                    <a:p>
                      <a:pPr marL="81915">
                        <a:lnSpc>
                          <a:spcPct val="100000"/>
                        </a:lnSpc>
                      </a:pPr>
                      <a:r>
                        <a:rPr sz="2400" b="1" dirty="0">
                          <a:latin typeface="微软雅黑"/>
                          <a:cs typeface="微软雅黑"/>
                        </a:rPr>
                        <a:t>入口参数1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spc="-10" dirty="0">
                          <a:latin typeface="微软雅黑"/>
                          <a:cs typeface="微软雅黑"/>
                        </a:rPr>
                        <a:t>*</a:t>
                      </a:r>
                      <a:r>
                        <a:rPr sz="2400" b="1" dirty="0">
                          <a:latin typeface="微软雅黑"/>
                          <a:cs typeface="微软雅黑"/>
                        </a:rPr>
                        <a:t>hti</a:t>
                      </a:r>
                      <a:r>
                        <a:rPr sz="2400" b="1" spc="-10" dirty="0">
                          <a:latin typeface="微软雅黑"/>
                          <a:cs typeface="微软雅黑"/>
                        </a:rPr>
                        <a:t>m</a:t>
                      </a:r>
                      <a:r>
                        <a:rPr sz="2400" b="1"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903732">
                <a:tc>
                  <a:txBody>
                    <a:bodyPr/>
                    <a:lstStyle/>
                    <a:p>
                      <a:pPr marL="81915">
                        <a:lnSpc>
                          <a:spcPct val="100000"/>
                        </a:lnSpc>
                      </a:pPr>
                      <a:r>
                        <a:rPr sz="2400" b="1" dirty="0">
                          <a:latin typeface="微软雅黑"/>
                          <a:cs typeface="微软雅黑"/>
                        </a:rPr>
                        <a:t>入口参数2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591945" marR="2025014" indent="-1537970">
                        <a:lnSpc>
                          <a:spcPct val="100000"/>
                        </a:lnSpc>
                      </a:pPr>
                      <a:r>
                        <a:rPr sz="2400" b="1" spc="-5" dirty="0">
                          <a:latin typeface="微软雅黑"/>
                          <a:cs typeface="微软雅黑"/>
                        </a:rPr>
                        <a:t>Cha</a:t>
                      </a:r>
                      <a:r>
                        <a:rPr sz="2400" b="1" spc="10" dirty="0">
                          <a:latin typeface="微软雅黑"/>
                          <a:cs typeface="微软雅黑"/>
                        </a:rPr>
                        <a:t>n</a:t>
                      </a:r>
                      <a:r>
                        <a:rPr sz="2400" b="1" dirty="0">
                          <a:latin typeface="微软雅黑"/>
                          <a:cs typeface="微软雅黑"/>
                        </a:rPr>
                        <a:t>nel：定时器通道号</a:t>
                      </a:r>
                      <a:r>
                        <a:rPr sz="2400" b="1" spc="-15" dirty="0">
                          <a:latin typeface="微软雅黑"/>
                          <a:cs typeface="微软雅黑"/>
                        </a:rPr>
                        <a:t>，</a:t>
                      </a:r>
                      <a:r>
                        <a:rPr sz="2400" b="1" dirty="0">
                          <a:latin typeface="微软雅黑"/>
                          <a:cs typeface="微软雅黑"/>
                        </a:rPr>
                        <a:t>取值范围是</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a:t>
                      </a:r>
                      <a:r>
                        <a:rPr sz="2400" b="1" spc="-15" dirty="0">
                          <a:latin typeface="微软雅黑"/>
                          <a:cs typeface="微软雅黑"/>
                        </a:rPr>
                        <a:t>H</a:t>
                      </a:r>
                      <a:r>
                        <a:rPr sz="2400" b="1" dirty="0">
                          <a:latin typeface="微软雅黑"/>
                          <a:cs typeface="微软雅黑"/>
                        </a:rPr>
                        <a:t>ANNEL_</a:t>
                      </a:r>
                      <a:r>
                        <a:rPr sz="2400" b="1" spc="-5" dirty="0">
                          <a:latin typeface="微软雅黑"/>
                          <a:cs typeface="微软雅黑"/>
                        </a:rPr>
                        <a:t>1</a:t>
                      </a:r>
                      <a:r>
                        <a:rPr sz="2400" b="1" dirty="0">
                          <a:latin typeface="微软雅黑"/>
                          <a:cs typeface="微软雅黑"/>
                        </a:rPr>
                        <a:t>～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CHANNEL_4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765429">
                <a:tc>
                  <a:txBody>
                    <a:bodyPr/>
                    <a:lstStyle/>
                    <a:p>
                      <a:pPr marL="327025">
                        <a:lnSpc>
                          <a:spcPct val="100000"/>
                        </a:lnSpc>
                      </a:pPr>
                      <a:r>
                        <a:rPr sz="2400" b="1"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捕获值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1053719">
                <a:tc>
                  <a:txBody>
                    <a:bodyPr/>
                    <a:lstStyle/>
                    <a:p>
                      <a:pPr marL="174625">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函数需要由用户调用，用于读取发生捕获时的捕获值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510340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0509" y="6610699"/>
            <a:ext cx="2844800" cy="177800"/>
          </a:xfrm>
          <a:prstGeom prst="rect">
            <a:avLst/>
          </a:prstGeom>
        </p:spPr>
        <p:txBody>
          <a:bodyPr vert="horz" wrap="square" lIns="0" tIns="0" rIns="0" bIns="0" rtlCol="0">
            <a:spAutoFit/>
          </a:bodyPr>
          <a:lstStyle/>
          <a:p>
            <a:pPr marL="12700">
              <a:lnSpc>
                <a:spcPct val="100000"/>
              </a:lnSpc>
            </a:pPr>
            <a:r>
              <a:rPr sz="1200" b="1" spc="-5" dirty="0">
                <a:solidFill>
                  <a:srgbClr val="FFFFFF"/>
                </a:solidFill>
                <a:latin typeface="黑体"/>
                <a:cs typeface="黑体"/>
              </a:rPr>
              <a:t>-- 南昌大学“卓越”辅导员培养工程建设</a:t>
            </a:r>
            <a:endParaRPr sz="1200">
              <a:latin typeface="黑体"/>
              <a:cs typeface="黑体"/>
            </a:endParaRPr>
          </a:p>
        </p:txBody>
      </p:sp>
      <p:sp>
        <p:nvSpPr>
          <p:cNvPr id="3" name="object 3"/>
          <p:cNvSpPr txBox="1">
            <a:spLocks noGrp="1"/>
          </p:cNvSpPr>
          <p:nvPr>
            <p:ph type="title"/>
          </p:nvPr>
        </p:nvSpPr>
        <p:spPr>
          <a:xfrm>
            <a:off x="1066291" y="400369"/>
            <a:ext cx="10057765" cy="381000"/>
          </a:xfrm>
          <a:prstGeom prst="rect">
            <a:avLst/>
          </a:prstGeom>
        </p:spPr>
        <p:txBody>
          <a:bodyPr vert="horz" wrap="square" lIns="0" tIns="0" rIns="0" bIns="0" rtlCol="0">
            <a:spAutoFit/>
          </a:bodyPr>
          <a:lstStyle/>
          <a:p>
            <a:pPr marL="12700">
              <a:lnSpc>
                <a:spcPct val="100000"/>
              </a:lnSpc>
              <a:tabLst>
                <a:tab pos="443865" algn="l"/>
                <a:tab pos="3957320" algn="l"/>
              </a:tabLst>
            </a:pPr>
            <a:r>
              <a:rPr spc="-5" dirty="0">
                <a:latin typeface="微软雅黑"/>
                <a:cs typeface="微软雅黑"/>
              </a:rPr>
              <a:t>5	</a:t>
            </a:r>
            <a:r>
              <a:rPr spc="-10" dirty="0"/>
              <a:t>捕获边沿设置函数</a:t>
            </a:r>
            <a:r>
              <a:rPr spc="-5" dirty="0"/>
              <a:t>：</a:t>
            </a:r>
            <a:r>
              <a:rPr u="heavy" spc="-5" dirty="0">
                <a:latin typeface="微软雅黑"/>
                <a:cs typeface="微软雅黑"/>
              </a:rPr>
              <a:t> </a:t>
            </a:r>
            <a:r>
              <a:rPr u="heavy" dirty="0">
                <a:latin typeface="微软雅黑"/>
                <a:cs typeface="微软雅黑"/>
              </a:rPr>
              <a:t>	</a:t>
            </a:r>
            <a:r>
              <a:rPr spc="-10" dirty="0">
                <a:latin typeface="微软雅黑"/>
                <a:cs typeface="微软雅黑"/>
              </a:rPr>
              <a:t>H</a:t>
            </a:r>
            <a:r>
              <a:rPr spc="-20" dirty="0">
                <a:latin typeface="微软雅黑"/>
                <a:cs typeface="微软雅黑"/>
              </a:rPr>
              <a:t>A</a:t>
            </a:r>
            <a:r>
              <a:rPr spc="-5" dirty="0">
                <a:latin typeface="微软雅黑"/>
                <a:cs typeface="微软雅黑"/>
              </a:rPr>
              <a:t>L_TIM_S</a:t>
            </a:r>
            <a:r>
              <a:rPr dirty="0">
                <a:latin typeface="微软雅黑"/>
                <a:cs typeface="微软雅黑"/>
              </a:rPr>
              <a:t>E</a:t>
            </a:r>
            <a:r>
              <a:rPr spc="-10" dirty="0">
                <a:latin typeface="微软雅黑"/>
                <a:cs typeface="微软雅黑"/>
              </a:rPr>
              <a:t>T_CAPTU</a:t>
            </a:r>
            <a:r>
              <a:rPr dirty="0">
                <a:latin typeface="微软雅黑"/>
                <a:cs typeface="微软雅黑"/>
              </a:rPr>
              <a:t>R</a:t>
            </a:r>
            <a:r>
              <a:rPr spc="-5" dirty="0">
                <a:latin typeface="微软雅黑"/>
                <a:cs typeface="微软雅黑"/>
              </a:rPr>
              <a:t>EPO</a:t>
            </a:r>
            <a:r>
              <a:rPr spc="50" dirty="0">
                <a:latin typeface="微软雅黑"/>
                <a:cs typeface="微软雅黑"/>
              </a:rPr>
              <a:t>L</a:t>
            </a:r>
            <a:r>
              <a:rPr spc="-5" dirty="0">
                <a:latin typeface="微软雅黑"/>
                <a:cs typeface="微软雅黑"/>
              </a:rPr>
              <a:t>ARI</a:t>
            </a:r>
            <a:r>
              <a:rPr spc="45" dirty="0">
                <a:latin typeface="微软雅黑"/>
                <a:cs typeface="微软雅黑"/>
              </a:rPr>
              <a:t>T</a:t>
            </a:r>
            <a:r>
              <a:rPr dirty="0">
                <a:latin typeface="微软雅黑"/>
                <a:cs typeface="微软雅黑"/>
              </a:rPr>
              <a:t>Y</a:t>
            </a:r>
          </a:p>
        </p:txBody>
      </p:sp>
      <p:sp>
        <p:nvSpPr>
          <p:cNvPr id="5" name="object 5"/>
          <p:cNvSpPr/>
          <p:nvPr/>
        </p:nvSpPr>
        <p:spPr>
          <a:xfrm>
            <a:off x="1869313" y="1847227"/>
            <a:ext cx="273685" cy="0"/>
          </a:xfrm>
          <a:custGeom>
            <a:avLst/>
            <a:gdLst/>
            <a:ahLst/>
            <a:cxnLst/>
            <a:rect l="l" t="t" r="r" b="b"/>
            <a:pathLst>
              <a:path w="273685">
                <a:moveTo>
                  <a:pt x="0" y="0"/>
                </a:moveTo>
                <a:lnTo>
                  <a:pt x="273373" y="0"/>
                </a:lnTo>
              </a:path>
            </a:pathLst>
          </a:custGeom>
          <a:ln w="19216">
            <a:solidFill>
              <a:srgbClr val="000000"/>
            </a:solidFill>
          </a:ln>
        </p:spPr>
        <p:txBody>
          <a:bodyPr wrap="square" lIns="0" tIns="0" rIns="0" bIns="0" rtlCol="0"/>
          <a:lstStyle/>
          <a:p>
            <a:endParaRPr/>
          </a:p>
        </p:txBody>
      </p:sp>
      <p:sp>
        <p:nvSpPr>
          <p:cNvPr id="6" name="object 6"/>
          <p:cNvSpPr/>
          <p:nvPr/>
        </p:nvSpPr>
        <p:spPr>
          <a:xfrm>
            <a:off x="1869313" y="3846899"/>
            <a:ext cx="273685" cy="0"/>
          </a:xfrm>
          <a:custGeom>
            <a:avLst/>
            <a:gdLst/>
            <a:ahLst/>
            <a:cxnLst/>
            <a:rect l="l" t="t" r="r" b="b"/>
            <a:pathLst>
              <a:path w="273685">
                <a:moveTo>
                  <a:pt x="0" y="0"/>
                </a:moveTo>
                <a:lnTo>
                  <a:pt x="273100" y="0"/>
                </a:lnTo>
              </a:path>
            </a:pathLst>
          </a:custGeom>
          <a:ln w="19197">
            <a:solidFill>
              <a:srgbClr val="000000"/>
            </a:solidFill>
          </a:ln>
        </p:spPr>
        <p:txBody>
          <a:bodyPr wrap="square" lIns="0" tIns="0" rIns="0" bIns="0" rtlCol="0"/>
          <a:lstStyle/>
          <a:p>
            <a:endParaRPr/>
          </a:p>
        </p:txBody>
      </p:sp>
      <p:sp>
        <p:nvSpPr>
          <p:cNvPr id="7" name="object 7"/>
          <p:cNvSpPr/>
          <p:nvPr/>
        </p:nvSpPr>
        <p:spPr>
          <a:xfrm>
            <a:off x="1869313" y="4763458"/>
            <a:ext cx="273685" cy="0"/>
          </a:xfrm>
          <a:custGeom>
            <a:avLst/>
            <a:gdLst/>
            <a:ahLst/>
            <a:cxnLst/>
            <a:rect l="l" t="t" r="r" b="b"/>
            <a:pathLst>
              <a:path w="273685">
                <a:moveTo>
                  <a:pt x="0" y="0"/>
                </a:moveTo>
                <a:lnTo>
                  <a:pt x="273100" y="0"/>
                </a:lnTo>
              </a:path>
            </a:pathLst>
          </a:custGeom>
          <a:ln w="19197">
            <a:solidFill>
              <a:srgbClr val="000000"/>
            </a:solidFill>
          </a:ln>
        </p:spPr>
        <p:txBody>
          <a:bodyPr wrap="square" lIns="0" tIns="0" rIns="0" bIns="0" rtlCol="0"/>
          <a:lstStyle/>
          <a:p>
            <a:endParaRPr/>
          </a:p>
        </p:txBody>
      </p:sp>
      <p:graphicFrame>
        <p:nvGraphicFramePr>
          <p:cNvPr id="4" name="object 4"/>
          <p:cNvGraphicFramePr>
            <a:graphicFrameLocks noGrp="1"/>
          </p:cNvGraphicFramePr>
          <p:nvPr/>
        </p:nvGraphicFramePr>
        <p:xfrm>
          <a:off x="194602" y="896937"/>
          <a:ext cx="11774195" cy="5780097"/>
        </p:xfrm>
        <a:graphic>
          <a:graphicData uri="http://schemas.openxmlformats.org/drawingml/2006/table">
            <a:tbl>
              <a:tblPr firstRow="1" bandRow="1">
                <a:tableStyleId>{2D5ABB26-0587-4C30-8999-92F81FD0307C}</a:tableStyleId>
              </a:tblPr>
              <a:tblGrid>
                <a:gridCol w="1591716">
                  <a:extLst>
                    <a:ext uri="{9D8B030D-6E8A-4147-A177-3AD203B41FA5}">
                      <a16:colId xmlns:a16="http://schemas.microsoft.com/office/drawing/2014/main" val="20000"/>
                    </a:ext>
                  </a:extLst>
                </a:gridCol>
                <a:gridCol w="10182479">
                  <a:extLst>
                    <a:ext uri="{9D8B030D-6E8A-4147-A177-3AD203B41FA5}">
                      <a16:colId xmlns:a16="http://schemas.microsoft.com/office/drawing/2014/main" val="20001"/>
                    </a:ext>
                  </a:extLst>
                </a:gridCol>
              </a:tblGrid>
              <a:tr h="489585">
                <a:tc gridSpan="2">
                  <a:txBody>
                    <a:bodyPr/>
                    <a:lstStyle/>
                    <a:p>
                      <a:pPr marL="2362200">
                        <a:lnSpc>
                          <a:spcPct val="100000"/>
                        </a:lnSpc>
                        <a:tabLst>
                          <a:tab pos="4160520" algn="l"/>
                        </a:tabLst>
                      </a:pPr>
                      <a:r>
                        <a:rPr sz="2400" b="1" dirty="0">
                          <a:solidFill>
                            <a:srgbClr val="FFFFFF"/>
                          </a:solidFill>
                          <a:latin typeface="微软雅黑"/>
                          <a:cs typeface="微软雅黑"/>
                        </a:rPr>
                        <a:t>接口函数：</a:t>
                      </a:r>
                      <a:r>
                        <a:rPr sz="2400" u="heavy" dirty="0">
                          <a:solidFill>
                            <a:srgbClr val="FFFFFF"/>
                          </a:solidFill>
                          <a:latin typeface="Times New Roman"/>
                          <a:cs typeface="Times New Roman"/>
                        </a:rPr>
                        <a:t> 	</a:t>
                      </a:r>
                      <a:r>
                        <a:rPr sz="2400" b="1" spc="-5" dirty="0">
                          <a:solidFill>
                            <a:srgbClr val="FFFFFF"/>
                          </a:solidFill>
                          <a:latin typeface="微软雅黑"/>
                          <a:cs typeface="微软雅黑"/>
                        </a:rPr>
                        <a:t>HAL_T</a:t>
                      </a:r>
                      <a:r>
                        <a:rPr sz="2400" b="1" spc="5" dirty="0">
                          <a:solidFill>
                            <a:srgbClr val="FFFFFF"/>
                          </a:solidFill>
                          <a:latin typeface="微软雅黑"/>
                          <a:cs typeface="微软雅黑"/>
                        </a:rPr>
                        <a:t>I</a:t>
                      </a:r>
                      <a:r>
                        <a:rPr sz="2400" b="1" dirty="0">
                          <a:solidFill>
                            <a:srgbClr val="FFFFFF"/>
                          </a:solidFill>
                          <a:latin typeface="微软雅黑"/>
                          <a:cs typeface="微软雅黑"/>
                        </a:rPr>
                        <a:t>M</a:t>
                      </a:r>
                      <a:r>
                        <a:rPr sz="2400" b="1" spc="-5" dirty="0">
                          <a:solidFill>
                            <a:srgbClr val="FFFFFF"/>
                          </a:solidFill>
                          <a:latin typeface="微软雅黑"/>
                          <a:cs typeface="微软雅黑"/>
                        </a:rPr>
                        <a:t>_S</a:t>
                      </a:r>
                      <a:r>
                        <a:rPr sz="2400" b="1" spc="25" dirty="0">
                          <a:solidFill>
                            <a:srgbClr val="FFFFFF"/>
                          </a:solidFill>
                          <a:latin typeface="微软雅黑"/>
                          <a:cs typeface="微软雅黑"/>
                        </a:rPr>
                        <a:t>E</a:t>
                      </a:r>
                      <a:r>
                        <a:rPr sz="2400" b="1" spc="-5" dirty="0">
                          <a:solidFill>
                            <a:srgbClr val="FFFFFF"/>
                          </a:solidFill>
                          <a:latin typeface="微软雅黑"/>
                          <a:cs typeface="微软雅黑"/>
                        </a:rPr>
                        <a:t>T</a:t>
                      </a:r>
                      <a:r>
                        <a:rPr sz="2400" b="1" spc="5" dirty="0">
                          <a:solidFill>
                            <a:srgbClr val="FFFFFF"/>
                          </a:solidFill>
                          <a:latin typeface="微软雅黑"/>
                          <a:cs typeface="微软雅黑"/>
                        </a:rPr>
                        <a:t>_</a:t>
                      </a:r>
                      <a:r>
                        <a:rPr sz="2400" b="1" spc="-5" dirty="0">
                          <a:solidFill>
                            <a:srgbClr val="FFFFFF"/>
                          </a:solidFill>
                          <a:latin typeface="微软雅黑"/>
                          <a:cs typeface="微软雅黑"/>
                        </a:rPr>
                        <a:t>CAPTU</a:t>
                      </a:r>
                      <a:r>
                        <a:rPr sz="2400" b="1" spc="5" dirty="0">
                          <a:solidFill>
                            <a:srgbClr val="FFFFFF"/>
                          </a:solidFill>
                          <a:latin typeface="微软雅黑"/>
                          <a:cs typeface="微软雅黑"/>
                        </a:rPr>
                        <a:t>R</a:t>
                      </a:r>
                      <a:r>
                        <a:rPr sz="2400" b="1" dirty="0">
                          <a:solidFill>
                            <a:srgbClr val="FFFFFF"/>
                          </a:solidFill>
                          <a:latin typeface="微软雅黑"/>
                          <a:cs typeface="微软雅黑"/>
                        </a:rPr>
                        <a:t>EPO</a:t>
                      </a:r>
                      <a:r>
                        <a:rPr sz="2400" b="1" spc="55" dirty="0">
                          <a:solidFill>
                            <a:srgbClr val="FFFFFF"/>
                          </a:solidFill>
                          <a:latin typeface="微软雅黑"/>
                          <a:cs typeface="微软雅黑"/>
                        </a:rPr>
                        <a:t>L</a:t>
                      </a:r>
                      <a:r>
                        <a:rPr sz="2400" b="1" dirty="0">
                          <a:solidFill>
                            <a:srgbClr val="FFFFFF"/>
                          </a:solidFill>
                          <a:latin typeface="微软雅黑"/>
                          <a:cs typeface="微软雅黑"/>
                        </a:rPr>
                        <a:t>ARI</a:t>
                      </a:r>
                      <a:r>
                        <a:rPr sz="2400" b="1" spc="50" dirty="0">
                          <a:solidFill>
                            <a:srgbClr val="FFFFFF"/>
                          </a:solidFill>
                          <a:latin typeface="微软雅黑"/>
                          <a:cs typeface="微软雅黑"/>
                        </a:rPr>
                        <a:t>T</a:t>
                      </a:r>
                      <a:r>
                        <a:rPr sz="2400" b="1" dirty="0">
                          <a:solidFill>
                            <a:srgbClr val="FFFFFF"/>
                          </a:solidFill>
                          <a:latin typeface="微软雅黑"/>
                          <a:cs typeface="微软雅黑"/>
                        </a:rPr>
                        <a:t>Y</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5B9BD4"/>
                    </a:solidFill>
                  </a:tcPr>
                </a:tc>
                <a:tc hMerge="1">
                  <a:txBody>
                    <a:bodyPr/>
                    <a:lstStyle/>
                    <a:p>
                      <a:endParaRPr/>
                    </a:p>
                  </a:txBody>
                  <a:tcPr marL="0" marR="0" marT="0" marB="0"/>
                </a:tc>
                <a:extLst>
                  <a:ext uri="{0D108BD9-81ED-4DB2-BD59-A6C34878D82A}">
                    <a16:rowId xmlns:a16="http://schemas.microsoft.com/office/drawing/2014/main" val="10000"/>
                  </a:ext>
                </a:extLst>
              </a:tr>
              <a:tr h="898016">
                <a:tc>
                  <a:txBody>
                    <a:bodyPr/>
                    <a:lstStyle/>
                    <a:p>
                      <a:pPr marL="171450">
                        <a:lnSpc>
                          <a:spcPct val="100000"/>
                        </a:lnSpc>
                      </a:pPr>
                      <a:r>
                        <a:rPr sz="2400" b="1" dirty="0">
                          <a:latin typeface="微软雅黑"/>
                          <a:cs typeface="微软雅黑"/>
                        </a:rPr>
                        <a:t>函数原型</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328295">
                        <a:lnSpc>
                          <a:spcPct val="100000"/>
                        </a:lnSpc>
                        <a:tabLst>
                          <a:tab pos="5941060" algn="l"/>
                          <a:tab pos="7533640" algn="l"/>
                          <a:tab pos="7923530" algn="l"/>
                          <a:tab pos="8197215" algn="l"/>
                        </a:tabLst>
                      </a:pPr>
                      <a:r>
                        <a:rPr sz="2400" b="1" spc="-5" dirty="0">
                          <a:latin typeface="微软雅黑"/>
                          <a:cs typeface="微软雅黑"/>
                        </a:rPr>
                        <a:t>H</a:t>
                      </a:r>
                      <a:r>
                        <a:rPr sz="2400" b="1" spc="-15" dirty="0">
                          <a:latin typeface="微软雅黑"/>
                          <a:cs typeface="微软雅黑"/>
                        </a:rPr>
                        <a:t>A</a:t>
                      </a:r>
                      <a:r>
                        <a:rPr sz="2400" b="1" dirty="0">
                          <a:latin typeface="微软雅黑"/>
                          <a:cs typeface="微软雅黑"/>
                        </a:rPr>
                        <a:t>L_T</a:t>
                      </a:r>
                      <a:r>
                        <a:rPr sz="2400" b="1" spc="-25" dirty="0">
                          <a:latin typeface="微软雅黑"/>
                          <a:cs typeface="微软雅黑"/>
                        </a:rPr>
                        <a:t>I</a:t>
                      </a:r>
                      <a:r>
                        <a:rPr sz="2400" b="1" spc="-5" dirty="0">
                          <a:latin typeface="微软雅黑"/>
                          <a:cs typeface="微软雅黑"/>
                        </a:rPr>
                        <a:t>M_S</a:t>
                      </a:r>
                      <a:r>
                        <a:rPr sz="2400" b="1" spc="15" dirty="0">
                          <a:latin typeface="微软雅黑"/>
                          <a:cs typeface="微软雅黑"/>
                        </a:rPr>
                        <a:t>E</a:t>
                      </a:r>
                      <a:r>
                        <a:rPr sz="2400" b="1" spc="-5" dirty="0">
                          <a:latin typeface="微软雅黑"/>
                          <a:cs typeface="微软雅黑"/>
                        </a:rPr>
                        <a:t>T_C</a:t>
                      </a:r>
                      <a:r>
                        <a:rPr sz="2400" b="1" spc="-15" dirty="0">
                          <a:latin typeface="微软雅黑"/>
                          <a:cs typeface="微软雅黑"/>
                        </a:rPr>
                        <a:t>A</a:t>
                      </a:r>
                      <a:r>
                        <a:rPr sz="2400" b="1" spc="-5" dirty="0">
                          <a:latin typeface="微软雅黑"/>
                          <a:cs typeface="微软雅黑"/>
                        </a:rPr>
                        <a:t>P</a:t>
                      </a:r>
                      <a:r>
                        <a:rPr sz="2400" b="1" spc="-10" dirty="0">
                          <a:latin typeface="微软雅黑"/>
                          <a:cs typeface="微软雅黑"/>
                        </a:rPr>
                        <a:t>T</a:t>
                      </a:r>
                      <a:r>
                        <a:rPr sz="2400" b="1" spc="-5" dirty="0">
                          <a:latin typeface="微软雅黑"/>
                          <a:cs typeface="微软雅黑"/>
                        </a:rPr>
                        <a:t>UR</a:t>
                      </a:r>
                      <a:r>
                        <a:rPr sz="2400" b="1" spc="-10" dirty="0">
                          <a:latin typeface="微软雅黑"/>
                          <a:cs typeface="微软雅黑"/>
                        </a:rPr>
                        <a:t>E</a:t>
                      </a:r>
                      <a:r>
                        <a:rPr sz="2400" b="1" spc="-5" dirty="0">
                          <a:latin typeface="微软雅黑"/>
                          <a:cs typeface="微软雅黑"/>
                        </a:rPr>
                        <a:t>P</a:t>
                      </a:r>
                      <a:r>
                        <a:rPr sz="2400" b="1" spc="5" dirty="0">
                          <a:latin typeface="微软雅黑"/>
                          <a:cs typeface="微软雅黑"/>
                        </a:rPr>
                        <a:t>O</a:t>
                      </a:r>
                      <a:r>
                        <a:rPr sz="2400" b="1" spc="50" dirty="0">
                          <a:latin typeface="微软雅黑"/>
                          <a:cs typeface="微软雅黑"/>
                        </a:rPr>
                        <a:t>L</a:t>
                      </a:r>
                      <a:r>
                        <a:rPr sz="2400" b="1" dirty="0">
                          <a:latin typeface="微软雅黑"/>
                          <a:cs typeface="微软雅黑"/>
                        </a:rPr>
                        <a:t>ARI</a:t>
                      </a:r>
                      <a:r>
                        <a:rPr sz="2400" b="1" spc="35" dirty="0">
                          <a:latin typeface="微软雅黑"/>
                          <a:cs typeface="微软雅黑"/>
                        </a:rPr>
                        <a:t>T</a:t>
                      </a:r>
                      <a:r>
                        <a:rPr sz="2400" b="1" spc="-5" dirty="0">
                          <a:latin typeface="微软雅黑"/>
                          <a:cs typeface="微软雅黑"/>
                        </a:rPr>
                        <a:t>Y(</a:t>
                      </a:r>
                      <a:r>
                        <a:rPr sz="2400" b="1" u="heavy" dirty="0">
                          <a:latin typeface="微软雅黑"/>
                          <a:cs typeface="微软雅黑"/>
                        </a:rPr>
                        <a:t> 	</a:t>
                      </a:r>
                      <a:r>
                        <a:rPr sz="2400" b="1" spc="-5" dirty="0">
                          <a:latin typeface="微软雅黑"/>
                          <a:cs typeface="微软雅黑"/>
                        </a:rPr>
                        <a:t>H</a:t>
                      </a:r>
                      <a:r>
                        <a:rPr sz="2400" b="1" spc="-15" dirty="0">
                          <a:latin typeface="微软雅黑"/>
                          <a:cs typeface="微软雅黑"/>
                        </a:rPr>
                        <a:t>A</a:t>
                      </a:r>
                      <a:r>
                        <a:rPr sz="2400" b="1" spc="-5" dirty="0">
                          <a:latin typeface="微软雅黑"/>
                          <a:cs typeface="微软雅黑"/>
                        </a:rPr>
                        <a:t>ND</a:t>
                      </a:r>
                      <a:r>
                        <a:rPr sz="2400" b="1" spc="-10" dirty="0">
                          <a:latin typeface="微软雅黑"/>
                          <a:cs typeface="微软雅黑"/>
                        </a:rPr>
                        <a:t>L</a:t>
                      </a:r>
                      <a:r>
                        <a:rPr sz="2400" b="1" dirty="0">
                          <a:latin typeface="微软雅黑"/>
                          <a:cs typeface="微软雅黑"/>
                        </a:rPr>
                        <a:t>E</a:t>
                      </a:r>
                      <a:r>
                        <a:rPr sz="2400" b="1" u="heavy" dirty="0">
                          <a:latin typeface="微软雅黑"/>
                          <a:cs typeface="微软雅黑"/>
                        </a:rPr>
                        <a:t> 	</a:t>
                      </a:r>
                      <a:r>
                        <a:rPr sz="2400" b="1" dirty="0">
                          <a:latin typeface="微软雅黑"/>
                          <a:cs typeface="微软雅黑"/>
                        </a:rPr>
                        <a:t>,	</a:t>
                      </a:r>
                      <a:r>
                        <a:rPr sz="2400" b="1" u="heavy" dirty="0">
                          <a:latin typeface="微软雅黑"/>
                          <a:cs typeface="微软雅黑"/>
                        </a:rPr>
                        <a:t> 	</a:t>
                      </a:r>
                      <a:r>
                        <a:rPr sz="2400" b="1" spc="-15" dirty="0">
                          <a:latin typeface="微软雅黑"/>
                          <a:cs typeface="微软雅黑"/>
                        </a:rPr>
                        <a:t>C</a:t>
                      </a:r>
                      <a:r>
                        <a:rPr sz="2400" b="1" spc="-5" dirty="0">
                          <a:latin typeface="微软雅黑"/>
                          <a:cs typeface="微软雅黑"/>
                        </a:rPr>
                        <a:t>H</a:t>
                      </a:r>
                      <a:r>
                        <a:rPr sz="2400" b="1" spc="-15" dirty="0">
                          <a:latin typeface="微软雅黑"/>
                          <a:cs typeface="微软雅黑"/>
                        </a:rPr>
                        <a:t>A</a:t>
                      </a:r>
                      <a:r>
                        <a:rPr sz="2400" b="1" spc="-5" dirty="0">
                          <a:latin typeface="微软雅黑"/>
                          <a:cs typeface="微软雅黑"/>
                        </a:rPr>
                        <a:t>NNEL</a:t>
                      </a:r>
                      <a:r>
                        <a:rPr sz="2400" b="1" spc="5" dirty="0">
                          <a:latin typeface="微软雅黑"/>
                          <a:cs typeface="微软雅黑"/>
                        </a:rPr>
                        <a:t>_</a:t>
                      </a:r>
                      <a:r>
                        <a:rPr sz="2400" b="1" spc="-5" dirty="0">
                          <a:latin typeface="微软雅黑"/>
                          <a:cs typeface="微软雅黑"/>
                        </a:rPr>
                        <a:t>_,</a:t>
                      </a:r>
                      <a:endParaRPr sz="2400">
                        <a:latin typeface="微软雅黑"/>
                        <a:cs typeface="微软雅黑"/>
                      </a:endParaRPr>
                    </a:p>
                    <a:p>
                      <a:pPr marL="2340610">
                        <a:lnSpc>
                          <a:spcPct val="100000"/>
                        </a:lnSpc>
                        <a:tabLst>
                          <a:tab pos="2614295" algn="l"/>
                        </a:tabLst>
                      </a:pPr>
                      <a:r>
                        <a:rPr sz="2400" b="1" u="heavy" dirty="0">
                          <a:latin typeface="微软雅黑"/>
                          <a:cs typeface="微软雅黑"/>
                        </a:rPr>
                        <a:t> 	</a:t>
                      </a:r>
                      <a:r>
                        <a:rPr sz="2400" b="1" spc="-5" dirty="0">
                          <a:latin typeface="微软雅黑"/>
                          <a:cs typeface="微软雅黑"/>
                        </a:rPr>
                        <a:t>PO</a:t>
                      </a:r>
                      <a:r>
                        <a:rPr sz="2400" b="1" spc="50"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dirty="0">
                          <a:latin typeface="微软雅黑"/>
                          <a:cs typeface="微软雅黑"/>
                        </a:rPr>
                        <a:t>_</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1"/>
                  </a:ext>
                </a:extLst>
              </a:tr>
              <a:tr h="557530">
                <a:tc>
                  <a:txBody>
                    <a:bodyPr/>
                    <a:lstStyle/>
                    <a:p>
                      <a:pPr marL="171450">
                        <a:lnSpc>
                          <a:spcPct val="100000"/>
                        </a:lnSpc>
                      </a:pPr>
                      <a:r>
                        <a:rPr sz="2400" b="1" dirty="0">
                          <a:latin typeface="微软雅黑"/>
                          <a:cs typeface="微软雅黑"/>
                        </a:rPr>
                        <a:t>功能描述</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用于设置输入信号的捕获边沿</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533780">
                <a:tc>
                  <a:txBody>
                    <a:bodyPr/>
                    <a:lstStyle/>
                    <a:p>
                      <a:pPr marL="381635">
                        <a:lnSpc>
                          <a:spcPct val="100000"/>
                        </a:lnSpc>
                      </a:pPr>
                      <a:r>
                        <a:rPr sz="2400" b="1" spc="-5" dirty="0">
                          <a:latin typeface="微软雅黑"/>
                          <a:cs typeface="微软雅黑"/>
                        </a:rPr>
                        <a:t>参</a:t>
                      </a:r>
                      <a:r>
                        <a:rPr sz="2400" b="1" dirty="0">
                          <a:latin typeface="微软雅黑"/>
                          <a:cs typeface="微软雅黑"/>
                        </a:rPr>
                        <a:t>数1</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tabLst>
                          <a:tab pos="328295" algn="l"/>
                          <a:tab pos="1921510" algn="l"/>
                          <a:tab pos="2497455" algn="l"/>
                        </a:tabLst>
                      </a:pPr>
                      <a:r>
                        <a:rPr sz="2400" b="1" u="heavy" dirty="0">
                          <a:latin typeface="微软雅黑"/>
                          <a:cs typeface="微软雅黑"/>
                        </a:rPr>
                        <a:t> 	</a:t>
                      </a:r>
                      <a:r>
                        <a:rPr sz="2400" b="1" spc="-5" dirty="0">
                          <a:latin typeface="微软雅黑"/>
                          <a:cs typeface="微软雅黑"/>
                        </a:rPr>
                        <a:t>H</a:t>
                      </a:r>
                      <a:r>
                        <a:rPr sz="2400" b="1" spc="-15" dirty="0">
                          <a:latin typeface="微软雅黑"/>
                          <a:cs typeface="微软雅黑"/>
                        </a:rPr>
                        <a:t>A</a:t>
                      </a:r>
                      <a:r>
                        <a:rPr sz="2400" b="1" spc="-5" dirty="0">
                          <a:latin typeface="微软雅黑"/>
                          <a:cs typeface="微软雅黑"/>
                        </a:rPr>
                        <a:t>ND</a:t>
                      </a:r>
                      <a:r>
                        <a:rPr sz="2400" b="1" spc="-10" dirty="0">
                          <a:latin typeface="微软雅黑"/>
                          <a:cs typeface="微软雅黑"/>
                        </a:rPr>
                        <a:t>L</a:t>
                      </a:r>
                      <a:r>
                        <a:rPr sz="2400" b="1" dirty="0">
                          <a:latin typeface="微软雅黑"/>
                          <a:cs typeface="微软雅黑"/>
                        </a:rPr>
                        <a:t>E</a:t>
                      </a:r>
                      <a:r>
                        <a:rPr sz="2400" b="1" u="heavy" dirty="0">
                          <a:latin typeface="微软雅黑"/>
                          <a:cs typeface="微软雅黑"/>
                        </a:rPr>
                        <a:t> 	</a:t>
                      </a:r>
                      <a:r>
                        <a:rPr sz="2400" b="1" dirty="0">
                          <a:latin typeface="微软雅黑"/>
                          <a:cs typeface="微软雅黑"/>
                        </a:rPr>
                        <a:t>：	</a:t>
                      </a:r>
                      <a:r>
                        <a:rPr sz="2400" b="1" spc="-5" dirty="0">
                          <a:latin typeface="微软雅黑"/>
                          <a:cs typeface="微软雅黑"/>
                        </a:rPr>
                        <a:t>定时器句柄的地址</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3"/>
                  </a:ext>
                </a:extLst>
              </a:tr>
              <a:tr h="917956">
                <a:tc>
                  <a:txBody>
                    <a:bodyPr/>
                    <a:lstStyle/>
                    <a:p>
                      <a:pPr marL="381635">
                        <a:lnSpc>
                          <a:spcPct val="100000"/>
                        </a:lnSpc>
                      </a:pPr>
                      <a:r>
                        <a:rPr sz="2400" b="1" spc="-5" dirty="0">
                          <a:latin typeface="微软雅黑"/>
                          <a:cs typeface="微软雅黑"/>
                        </a:rPr>
                        <a:t>参</a:t>
                      </a:r>
                      <a:r>
                        <a:rPr sz="2400" b="1" dirty="0">
                          <a:latin typeface="微软雅黑"/>
                          <a:cs typeface="微软雅黑"/>
                        </a:rPr>
                        <a:t>数2</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28295">
                        <a:lnSpc>
                          <a:spcPct val="100000"/>
                        </a:lnSpc>
                        <a:tabLst>
                          <a:tab pos="2145030" algn="l"/>
                        </a:tabLst>
                      </a:pPr>
                      <a:r>
                        <a:rPr sz="2400" b="1" spc="-5" dirty="0">
                          <a:latin typeface="微软雅黑"/>
                          <a:cs typeface="微软雅黑"/>
                        </a:rPr>
                        <a:t>CHANNEL</a:t>
                      </a:r>
                      <a:r>
                        <a:rPr sz="2400" b="1" u="heavy" dirty="0">
                          <a:latin typeface="微软雅黑"/>
                          <a:cs typeface="微软雅黑"/>
                        </a:rPr>
                        <a:t> 	</a:t>
                      </a:r>
                      <a:r>
                        <a:rPr sz="2400" b="1" dirty="0">
                          <a:latin typeface="微软雅黑"/>
                          <a:cs typeface="微软雅黑"/>
                        </a:rPr>
                        <a:t>：</a:t>
                      </a:r>
                      <a:r>
                        <a:rPr sz="2400" b="1" spc="-20" dirty="0">
                          <a:latin typeface="微软雅黑"/>
                          <a:cs typeface="微软雅黑"/>
                        </a:rPr>
                        <a:t> </a:t>
                      </a:r>
                      <a:r>
                        <a:rPr sz="2400" b="1" dirty="0">
                          <a:latin typeface="微软雅黑"/>
                          <a:cs typeface="微软雅黑"/>
                        </a:rPr>
                        <a:t>定时器通道</a:t>
                      </a:r>
                      <a:r>
                        <a:rPr sz="2400" b="1" spc="-10" dirty="0">
                          <a:latin typeface="微软雅黑"/>
                          <a:cs typeface="微软雅黑"/>
                        </a:rPr>
                        <a:t>号</a:t>
                      </a:r>
                      <a:r>
                        <a:rPr sz="2400" b="1" dirty="0">
                          <a:latin typeface="微软雅黑"/>
                          <a:cs typeface="微软雅黑"/>
                        </a:rPr>
                        <a:t>，取值范围是</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CHANNEL</a:t>
                      </a:r>
                      <a:r>
                        <a:rPr sz="2400" b="1" spc="10" dirty="0">
                          <a:latin typeface="微软雅黑"/>
                          <a:cs typeface="微软雅黑"/>
                        </a:rPr>
                        <a:t>_</a:t>
                      </a:r>
                      <a:r>
                        <a:rPr sz="2400" b="1" spc="-5" dirty="0">
                          <a:latin typeface="微软雅黑"/>
                          <a:cs typeface="微软雅黑"/>
                        </a:rPr>
                        <a:t>1</a:t>
                      </a:r>
                      <a:r>
                        <a:rPr sz="2400" b="1" dirty="0">
                          <a:latin typeface="微软雅黑"/>
                          <a:cs typeface="微软雅黑"/>
                        </a:rPr>
                        <a:t>～</a:t>
                      </a:r>
                      <a:endParaRPr sz="2400">
                        <a:latin typeface="微软雅黑"/>
                        <a:cs typeface="微软雅黑"/>
                      </a:endParaRPr>
                    </a:p>
                    <a:p>
                      <a:pPr marL="2588895">
                        <a:lnSpc>
                          <a:spcPct val="100000"/>
                        </a:lnSpc>
                      </a:pPr>
                      <a:r>
                        <a:rPr sz="2400" b="1" spc="-5" dirty="0">
                          <a:latin typeface="微软雅黑"/>
                          <a:cs typeface="微软雅黑"/>
                        </a:rPr>
                        <a:t>TIM_</a:t>
                      </a:r>
                      <a:r>
                        <a:rPr sz="2400" b="1" spc="5" dirty="0">
                          <a:latin typeface="微软雅黑"/>
                          <a:cs typeface="微软雅黑"/>
                        </a:rPr>
                        <a:t>C</a:t>
                      </a:r>
                      <a:r>
                        <a:rPr sz="2400" b="1" spc="-5" dirty="0">
                          <a:latin typeface="微软雅黑"/>
                          <a:cs typeface="微软雅黑"/>
                        </a:rPr>
                        <a:t>HANNEL_</a:t>
                      </a:r>
                      <a:r>
                        <a:rPr sz="2400" b="1" dirty="0">
                          <a:latin typeface="微软雅黑"/>
                          <a:cs typeface="微软雅黑"/>
                        </a:rPr>
                        <a:t>4</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914400">
                <a:tc>
                  <a:txBody>
                    <a:bodyPr/>
                    <a:lstStyle/>
                    <a:p>
                      <a:pPr marL="381635">
                        <a:lnSpc>
                          <a:spcPct val="100000"/>
                        </a:lnSpc>
                      </a:pPr>
                      <a:r>
                        <a:rPr sz="2400" b="1" dirty="0">
                          <a:latin typeface="微软雅黑"/>
                          <a:cs typeface="微软雅黑"/>
                        </a:rPr>
                        <a:t>参数3</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marR="734695" indent="273685">
                        <a:lnSpc>
                          <a:spcPct val="100000"/>
                        </a:lnSpc>
                      </a:pPr>
                      <a:r>
                        <a:rPr sz="2400" b="1" spc="-5" dirty="0">
                          <a:latin typeface="微软雅黑"/>
                          <a:cs typeface="微软雅黑"/>
                        </a:rPr>
                        <a:t>PO</a:t>
                      </a:r>
                      <a:r>
                        <a:rPr sz="2400" b="1" spc="50"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15" dirty="0">
                          <a:latin typeface="微软雅黑"/>
                          <a:cs typeface="微软雅黑"/>
                        </a:rPr>
                        <a:t>_</a:t>
                      </a:r>
                      <a:r>
                        <a:rPr sz="2400" b="1" dirty="0">
                          <a:latin typeface="微软雅黑"/>
                          <a:cs typeface="微软雅黑"/>
                        </a:rPr>
                        <a:t>：捕获边沿，取值范围是 </a:t>
                      </a:r>
                      <a:r>
                        <a:rPr sz="2400" b="1" spc="-5" dirty="0">
                          <a:latin typeface="微软雅黑"/>
                          <a:cs typeface="微软雅黑"/>
                        </a:rPr>
                        <a:t>TIM</a:t>
                      </a:r>
                      <a:r>
                        <a:rPr sz="2400" b="1" spc="5" dirty="0">
                          <a:latin typeface="微软雅黑"/>
                          <a:cs typeface="微软雅黑"/>
                        </a:rPr>
                        <a:t>_</a:t>
                      </a:r>
                      <a:r>
                        <a:rPr sz="2400" b="1" spc="-5" dirty="0">
                          <a:latin typeface="微软雅黑"/>
                          <a:cs typeface="微软雅黑"/>
                        </a:rPr>
                        <a:t>INPU</a:t>
                      </a:r>
                      <a:r>
                        <a:rPr sz="2400" b="1" spc="-100" dirty="0">
                          <a:latin typeface="微软雅黑"/>
                          <a:cs typeface="微软雅黑"/>
                        </a:rPr>
                        <a:t>T</a:t>
                      </a:r>
                      <a:r>
                        <a:rPr sz="2400" b="1" spc="-5" dirty="0">
                          <a:latin typeface="微软雅黑"/>
                          <a:cs typeface="微软雅黑"/>
                        </a:rPr>
                        <a:t>CHANNELPO</a:t>
                      </a:r>
                      <a:r>
                        <a:rPr sz="2400" b="1" spc="55" dirty="0">
                          <a:latin typeface="微软雅黑"/>
                          <a:cs typeface="微软雅黑"/>
                        </a:rPr>
                        <a:t>L</a:t>
                      </a:r>
                      <a:r>
                        <a:rPr sz="2400" b="1" dirty="0">
                          <a:latin typeface="微软雅黑"/>
                          <a:cs typeface="微软雅黑"/>
                        </a:rPr>
                        <a:t>ARI</a:t>
                      </a:r>
                      <a:r>
                        <a:rPr sz="2400" b="1" spc="40" dirty="0">
                          <a:latin typeface="微软雅黑"/>
                          <a:cs typeface="微软雅黑"/>
                        </a:rPr>
                        <a:t>T</a:t>
                      </a:r>
                      <a:r>
                        <a:rPr sz="2400" b="1" spc="-5" dirty="0">
                          <a:latin typeface="微软雅黑"/>
                          <a:cs typeface="微软雅黑"/>
                        </a:rPr>
                        <a:t>Y</a:t>
                      </a:r>
                      <a:r>
                        <a:rPr sz="2400" b="1" spc="5" dirty="0">
                          <a:latin typeface="微软雅黑"/>
                          <a:cs typeface="微软雅黑"/>
                        </a:rPr>
                        <a:t>_</a:t>
                      </a:r>
                      <a:r>
                        <a:rPr sz="2400" b="1" spc="-5" dirty="0">
                          <a:latin typeface="微软雅黑"/>
                          <a:cs typeface="微软雅黑"/>
                        </a:rPr>
                        <a:t>RISING</a:t>
                      </a:r>
                      <a:r>
                        <a:rPr sz="2400" b="1" spc="5" dirty="0">
                          <a:latin typeface="微软雅黑"/>
                          <a:cs typeface="微软雅黑"/>
                        </a:rPr>
                        <a:t>/</a:t>
                      </a:r>
                      <a:r>
                        <a:rPr sz="2400" b="1" spc="-140" dirty="0">
                          <a:latin typeface="微软雅黑"/>
                          <a:cs typeface="微软雅黑"/>
                        </a:rPr>
                        <a:t>F</a:t>
                      </a:r>
                      <a:r>
                        <a:rPr sz="2400" b="1" dirty="0">
                          <a:latin typeface="微软雅黑"/>
                          <a:cs typeface="微软雅黑"/>
                        </a:rPr>
                        <a:t>A</a:t>
                      </a:r>
                      <a:r>
                        <a:rPr sz="2400" b="1" spc="-10" dirty="0">
                          <a:latin typeface="微软雅黑"/>
                          <a:cs typeface="微软雅黑"/>
                        </a:rPr>
                        <a:t>L</a:t>
                      </a:r>
                      <a:r>
                        <a:rPr sz="2400" b="1" dirty="0">
                          <a:latin typeface="微软雅黑"/>
                          <a:cs typeface="微软雅黑"/>
                        </a:rPr>
                        <a:t>LING/B</a:t>
                      </a:r>
                      <a:r>
                        <a:rPr sz="2400" b="1" spc="-105" dirty="0">
                          <a:latin typeface="微软雅黑"/>
                          <a:cs typeface="微软雅黑"/>
                        </a:rPr>
                        <a:t>O</a:t>
                      </a:r>
                      <a:r>
                        <a:rPr sz="2400" b="1" spc="-5" dirty="0">
                          <a:latin typeface="微软雅黑"/>
                          <a:cs typeface="微软雅黑"/>
                        </a:rPr>
                        <a:t>TH</a:t>
                      </a:r>
                      <a:r>
                        <a:rPr sz="2400" b="1" spc="-10" dirty="0">
                          <a:latin typeface="微软雅黑"/>
                          <a:cs typeface="微软雅黑"/>
                        </a:rPr>
                        <a:t>E</a:t>
                      </a:r>
                      <a:r>
                        <a:rPr sz="2400" b="1" dirty="0">
                          <a:latin typeface="微软雅黑"/>
                          <a:cs typeface="微软雅黑"/>
                        </a:rPr>
                        <a:t>DGE</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5"/>
                  </a:ext>
                </a:extLst>
              </a:tr>
              <a:tr h="489584">
                <a:tc>
                  <a:txBody>
                    <a:bodyPr/>
                    <a:lstStyle/>
                    <a:p>
                      <a:pPr marL="323850">
                        <a:lnSpc>
                          <a:spcPct val="100000"/>
                        </a:lnSpc>
                      </a:pPr>
                      <a:r>
                        <a:rPr sz="2400" b="1" spc="-5" dirty="0">
                          <a:latin typeface="微软雅黑"/>
                          <a:cs typeface="微软雅黑"/>
                        </a:rPr>
                        <a:t>返回值</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3975">
                        <a:lnSpc>
                          <a:spcPct val="100000"/>
                        </a:lnSpc>
                      </a:pPr>
                      <a:r>
                        <a:rPr sz="2400" b="1" dirty="0">
                          <a:latin typeface="微软雅黑"/>
                          <a:cs typeface="微软雅黑"/>
                        </a:rPr>
                        <a:t>无</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979246">
                <a:tc>
                  <a:txBody>
                    <a:bodyPr/>
                    <a:lstStyle/>
                    <a:p>
                      <a:pPr marL="171450">
                        <a:lnSpc>
                          <a:spcPct val="100000"/>
                        </a:lnSpc>
                      </a:pPr>
                      <a:r>
                        <a:rPr sz="2400" b="1" dirty="0">
                          <a:latin typeface="微软雅黑"/>
                          <a:cs typeface="微软雅黑"/>
                        </a:rPr>
                        <a:t>注意事项</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tc>
                  <a:txBody>
                    <a:bodyPr/>
                    <a:lstStyle/>
                    <a:p>
                      <a:pPr marL="53975">
                        <a:lnSpc>
                          <a:spcPct val="100000"/>
                        </a:lnSpc>
                      </a:pPr>
                      <a:r>
                        <a:rPr sz="2400" b="1" dirty="0">
                          <a:latin typeface="微软雅黑"/>
                          <a:cs typeface="微软雅黑"/>
                        </a:rPr>
                        <a:t>1.</a:t>
                      </a:r>
                      <a:r>
                        <a:rPr sz="2400" b="1" spc="-5" dirty="0">
                          <a:latin typeface="微软雅黑"/>
                          <a:cs typeface="微软雅黑"/>
                        </a:rPr>
                        <a:t> </a:t>
                      </a:r>
                      <a:r>
                        <a:rPr sz="2400" b="1" dirty="0">
                          <a:latin typeface="微软雅黑"/>
                          <a:cs typeface="微软雅黑"/>
                        </a:rPr>
                        <a:t>该函数是宏函数，进行宏替换，不发生函数调用</a:t>
                      </a:r>
                      <a:endParaRPr sz="2400">
                        <a:latin typeface="微软雅黑"/>
                        <a:cs typeface="微软雅黑"/>
                      </a:endParaRPr>
                    </a:p>
                    <a:p>
                      <a:pPr marL="53975">
                        <a:lnSpc>
                          <a:spcPct val="100000"/>
                        </a:lnSpc>
                      </a:pPr>
                      <a:r>
                        <a:rPr sz="2400" b="1" dirty="0">
                          <a:latin typeface="微软雅黑"/>
                          <a:cs typeface="微软雅黑"/>
                        </a:rPr>
                        <a:t>2.</a:t>
                      </a:r>
                      <a:r>
                        <a:rPr sz="2400" b="1" spc="-5" dirty="0">
                          <a:latin typeface="微软雅黑"/>
                          <a:cs typeface="微软雅黑"/>
                        </a:rPr>
                        <a:t> </a:t>
                      </a:r>
                      <a:r>
                        <a:rPr sz="2400" b="1" dirty="0">
                          <a:latin typeface="微软雅黑"/>
                          <a:cs typeface="微软雅黑"/>
                        </a:rPr>
                        <a:t>函数需要由用户调用，用</a:t>
                      </a:r>
                      <a:r>
                        <a:rPr sz="2400" b="1" spc="-25" dirty="0">
                          <a:latin typeface="微软雅黑"/>
                          <a:cs typeface="微软雅黑"/>
                        </a:rPr>
                        <a:t>于</a:t>
                      </a:r>
                      <a:r>
                        <a:rPr sz="2400" b="1" dirty="0">
                          <a:latin typeface="微软雅黑"/>
                          <a:cs typeface="微软雅黑"/>
                        </a:rPr>
                        <a:t>设置输入信号的有效捕获边沿</a:t>
                      </a:r>
                      <a:endParaRPr sz="2400">
                        <a:latin typeface="微软雅黑"/>
                        <a:cs typeface="微软雅黑"/>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AEE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870411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OC_GUID" val="{0c78e80a-2d6b-4de1-a306-8b402359c32a}"/>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99eeb586-1fbd-4d0d-9308-4405a52d038d}"/>
  <p:tag name="TABLE_ENDDRAG_ORIGIN_RECT" val="824*307"/>
  <p:tag name="TABLE_ENDDRAG_RECT" val="42*214*824*307"/>
</p:tagLst>
</file>

<file path=ppt/theme/theme1.xml><?xml version="1.0" encoding="utf-8"?>
<a:theme xmlns:a="http://schemas.openxmlformats.org/drawingml/2006/main" name="Office 主题">
  <a:themeElements>
    <a:clrScheme name="碧海蓝天">
      <a:dk1>
        <a:srgbClr val="000000"/>
      </a:dk1>
      <a:lt1>
        <a:srgbClr val="FFFFFF"/>
      </a:lt1>
      <a:dk2>
        <a:srgbClr val="17406D"/>
      </a:dk2>
      <a:lt2>
        <a:srgbClr val="DBEFF9"/>
      </a:lt2>
      <a:accent1>
        <a:srgbClr val="0080CB"/>
      </a:accent1>
      <a:accent2>
        <a:srgbClr val="0080CB"/>
      </a:accent2>
      <a:accent3>
        <a:srgbClr val="0BD0D9"/>
      </a:accent3>
      <a:accent4>
        <a:srgbClr val="C9C9C9"/>
      </a:accent4>
      <a:accent5>
        <a:srgbClr val="7CCA62"/>
      </a:accent5>
      <a:accent6>
        <a:srgbClr val="F49100"/>
      </a:accent6>
      <a:hlink>
        <a:srgbClr val="F49100"/>
      </a:hlink>
      <a:folHlink>
        <a:srgbClr val="85DFD0"/>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3815</Words>
  <Application>Microsoft Office PowerPoint</Application>
  <PresentationFormat>宽屏</PresentationFormat>
  <Paragraphs>1174</Paragraphs>
  <Slides>98</Slides>
  <Notes>14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98</vt:i4>
      </vt:variant>
    </vt:vector>
  </HeadingPairs>
  <TitlesOfParts>
    <vt:vector size="112" baseType="lpstr">
      <vt:lpstr>黑体</vt:lpstr>
      <vt:lpstr>宋体</vt:lpstr>
      <vt:lpstr>微软雅黑</vt:lpstr>
      <vt:lpstr>微软雅黑 Light</vt:lpstr>
      <vt:lpstr>Arial</vt:lpstr>
      <vt:lpstr>Arial Rounded MT Bold</vt:lpstr>
      <vt:lpstr>Calibri</vt:lpstr>
      <vt:lpstr>Cambria Math</vt:lpstr>
      <vt:lpstr>Consolas</vt:lpstr>
      <vt:lpstr>Segoe UI Symbol</vt:lpstr>
      <vt:lpstr>Times New Roman</vt:lpstr>
      <vt:lpstr>Wingdings</vt:lpstr>
      <vt:lpstr>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基本概念</vt:lpstr>
      <vt:lpstr>PowerPoint 演示文稿</vt:lpstr>
      <vt:lpstr>滴水实例</vt:lpstr>
      <vt:lpstr>PowerPoint 演示文稿</vt:lpstr>
      <vt:lpstr>定时器模式的两个概念</vt:lpstr>
      <vt:lpstr>2 STM32微控制器的定时器概述</vt:lpstr>
      <vt:lpstr>STM32定时器家族</vt:lpstr>
      <vt:lpstr>常规定时器分类</vt:lpstr>
      <vt:lpstr>PowerPoint 演示文稿</vt:lpstr>
      <vt:lpstr>计数内部时钟，即定时器模式</vt:lpstr>
      <vt:lpstr>PowerPoint 演示文稿</vt:lpstr>
      <vt:lpstr>简单外设的设计方法</vt:lpstr>
      <vt:lpstr>三种基本设计方法</vt:lpstr>
      <vt:lpstr>外设句柄数据类型的组成</vt:lpstr>
      <vt:lpstr>定时器句柄结构的组成</vt:lpstr>
      <vt:lpstr>定时器句柄结构的组成</vt:lpstr>
      <vt:lpstr>定时器句柄结构的组成</vt:lpstr>
      <vt:lpstr>定时器句柄结构的组成</vt:lpstr>
      <vt:lpstr>特点1：以后缀区分编程模型 特点2：入口参数均为外设句柄的指针</vt:lpstr>
      <vt:lpstr>通用接口函数</vt:lpstr>
      <vt:lpstr>PowerPoint 演示文稿</vt:lpstr>
      <vt:lpstr>1 时基单元</vt:lpstr>
      <vt:lpstr>Timer</vt:lpstr>
      <vt:lpstr>时基单元功能框架</vt:lpstr>
      <vt:lpstr>x表示定时器的编号 如TIM1或TIM2</vt:lpstr>
      <vt:lpstr>预分频模块工作原理</vt:lpstr>
      <vt:lpstr>预分频时序图</vt:lpstr>
      <vt:lpstr>计数模块</vt:lpstr>
      <vt:lpstr>自动重载模块</vt:lpstr>
      <vt:lpstr>定时器的三种计数模式</vt:lpstr>
      <vt:lpstr>计数模式</vt:lpstr>
      <vt:lpstr>定时器时序图</vt:lpstr>
      <vt:lpstr>定时器的定时时间公式</vt:lpstr>
      <vt:lpstr>相关寄存器</vt:lpstr>
      <vt:lpstr>2 外部脉冲计数</vt:lpstr>
      <vt:lpstr>时基单元的四种时钟源</vt:lpstr>
      <vt:lpstr>外部触发引脚ETR的内部结构</vt:lpstr>
      <vt:lpstr>3 定时/计数功能的数据类型和接口函数</vt:lpstr>
      <vt:lpstr>时基单元初始化类型</vt:lpstr>
      <vt:lpstr>成员变量ClockDivision的取值范围</vt:lpstr>
      <vt:lpstr>成员变量CounterMode的取值范围</vt:lpstr>
      <vt:lpstr>成员变量AutoReloadPreload的取值范围</vt:lpstr>
      <vt:lpstr>时基初始化</vt:lpstr>
      <vt:lpstr>轮询模式启动</vt:lpstr>
      <vt:lpstr>中断模式启动</vt:lpstr>
      <vt:lpstr>通用处理函数</vt:lpstr>
      <vt:lpstr>5 定时器更新中断回调函数HAL_TIM_PeriodElapsedCallback</vt:lpstr>
      <vt:lpstr>计数值读取</vt:lpstr>
      <vt:lpstr>7 定时器中断标志清除函数  HAL_TIM_CLEAR_IT</vt:lpstr>
      <vt:lpstr>Timer</vt:lpstr>
      <vt:lpstr>定时器初始化函数</vt:lpstr>
      <vt:lpstr>1 PWM工作原理</vt:lpstr>
      <vt:lpstr>PowerPoint 演示文稿</vt:lpstr>
      <vt:lpstr>PWM信号的两个基本参数</vt:lpstr>
      <vt:lpstr>PWM信号的电压调节原理</vt:lpstr>
      <vt:lpstr>每个定时器具备1~4个独</vt:lpstr>
      <vt:lpstr>功能单元作用</vt:lpstr>
      <vt:lpstr>工作原理</vt:lpstr>
      <vt:lpstr>Timer</vt:lpstr>
      <vt:lpstr>Timer</vt:lpstr>
      <vt:lpstr>2 PWM功能的数据类型和接口函数</vt:lpstr>
      <vt:lpstr>输出比较单元初始化类型</vt:lpstr>
      <vt:lpstr>匹配的含义</vt:lpstr>
      <vt:lpstr>有效电平极性</vt:lpstr>
      <vt:lpstr>递增计数，高电平有效时：</vt:lpstr>
      <vt:lpstr>快速输出使能</vt:lpstr>
      <vt:lpstr>1 定时器PWM输出启动函数：HAL_TIM_PWM_Start</vt:lpstr>
      <vt:lpstr>2 定时器比较/捕获寄存器设置函数：  HAL_TIM_SET_COMPARE</vt:lpstr>
      <vt:lpstr>1 输入捕获功能概述</vt:lpstr>
      <vt:lpstr>用途与原理</vt:lpstr>
      <vt:lpstr>捕获通道的内部结构</vt:lpstr>
      <vt:lpstr>捕获过程示意图</vt:lpstr>
      <vt:lpstr>信号参数计算公式</vt:lpstr>
      <vt:lpstr>2 输入捕获功能的数据类型和接口函数</vt:lpstr>
      <vt:lpstr>输入捕获单元初始化类型</vt:lpstr>
      <vt:lpstr>捕获边沿</vt:lpstr>
      <vt:lpstr>捕获通道</vt:lpstr>
      <vt:lpstr>预分频系数</vt:lpstr>
      <vt:lpstr>1 输入捕获启动函数：HAL_TIM_IC_Start_IT</vt:lpstr>
      <vt:lpstr>2 输入捕获停止函数：HAL_TIM_IC_Stop_IT</vt:lpstr>
      <vt:lpstr>3 输入捕获中断回调函数HAL_TIM_IC_CaptureCallback</vt:lpstr>
      <vt:lpstr>4 捕获值读取函数：HAL_TIM_ReadCapturedValue</vt:lpstr>
      <vt:lpstr>5 捕获边沿设置函数：  HAL_TIM_SET_CAPTUREPOLARITY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亮亮图文旗舰店</dc:subject>
  <dc:creator/>
  <cp:keywords>更多模版：亮亮图文旗舰店https:/liangliangtuwen.tmall.com</cp:keywords>
  <dc:description>更多模版：亮亮图文旗舰店https://liangliangtuwen.tmall.com</dc:description>
  <cp:lastModifiedBy>bfchen</cp:lastModifiedBy>
  <cp:revision>129</cp:revision>
  <dcterms:created xsi:type="dcterms:W3CDTF">2015-10-07T04:43:00Z</dcterms:created>
  <dcterms:modified xsi:type="dcterms:W3CDTF">2021-12-08T14:04:29Z</dcterms:modified>
  <cp:category>亮亮图文旗舰店</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2052-11.1.0.10578</vt:lpwstr>
  </property>
  <property fmtid="{D5CDD505-2E9C-101B-9397-08002B2CF9AE}" pid="3" name="ICV">
    <vt:lpwstr>DE3C7C4F0F69436B874E5CCC48947775</vt:lpwstr>
  </property>
</Properties>
</file>